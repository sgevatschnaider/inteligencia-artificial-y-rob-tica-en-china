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8dbc408f5e843d3" /><Relationship Type="http://schemas.openxmlformats.org/officeDocument/2006/relationships/extended-properties" Target="/docProps/app.xml" Id="Rfe48d70b8a264b2c" /><Relationship Type="http://schemas.openxmlformats.org/officeDocument/2006/relationships/officeDocument" Target="/ppt/presentation.xml" Id="Rd1f5738530774e5f" /></Relationships>
</file>

<file path=ppt/presentation.xml><?xml version="1.0" encoding="utf-8"?>
<p:presentation xmlns:p="http://schemas.openxmlformats.org/presentationml/2006/main">
  <p:sldMasterIdLst>
    <p:sldMasterId xmlns:r="http://schemas.openxmlformats.org/officeDocument/2006/relationships" id="2147483648" r:id="Re4d0d38e113f4afc"/>
  </p:sldMasterIdLst>
  <p:notesMasterIdLst>
    <p:notesMasterId xmlns:r="http://schemas.openxmlformats.org/officeDocument/2006/relationships" r:id="R08efac481a844016"/>
  </p:notesMasterIdLst>
  <p:sldIdLst>
    <p:sldId xmlns:r="http://schemas.openxmlformats.org/officeDocument/2006/relationships" id="256" r:id="R19b3c63ed5014916"/>
    <p:sldId xmlns:r="http://schemas.openxmlformats.org/officeDocument/2006/relationships" id="257" r:id="R36281ccdb51249fd"/>
    <p:sldId xmlns:r="http://schemas.openxmlformats.org/officeDocument/2006/relationships" id="258" r:id="R40e572a69a864e70"/>
    <p:sldId xmlns:r="http://schemas.openxmlformats.org/officeDocument/2006/relationships" id="259" r:id="R2ce1a7d053a540a2"/>
    <p:sldId xmlns:r="http://schemas.openxmlformats.org/officeDocument/2006/relationships" id="260" r:id="Ra27c8b481cfa4e9e"/>
    <p:sldId xmlns:r="http://schemas.openxmlformats.org/officeDocument/2006/relationships" id="261" r:id="R2c076dea4dbb484e"/>
    <p:sldId xmlns:r="http://schemas.openxmlformats.org/officeDocument/2006/relationships" id="262" r:id="Reb0a6614967c40ef"/>
    <p:sldId xmlns:r="http://schemas.openxmlformats.org/officeDocument/2006/relationships" id="263" r:id="Ra5f4fe26422e464e"/>
    <p:sldId xmlns:r="http://schemas.openxmlformats.org/officeDocument/2006/relationships" id="264" r:id="R327a97db5bbe45f2"/>
    <p:sldId xmlns:r="http://schemas.openxmlformats.org/officeDocument/2006/relationships" id="265" r:id="R0b683eff83804ede"/>
    <p:sldId xmlns:r="http://schemas.openxmlformats.org/officeDocument/2006/relationships" id="266" r:id="Re4003aa504e143d9"/>
    <p:sldId xmlns:r="http://schemas.openxmlformats.org/officeDocument/2006/relationships" id="267" r:id="R69670476fb6c4833"/>
    <p:sldId xmlns:r="http://schemas.openxmlformats.org/officeDocument/2006/relationships" id="268" r:id="R8376adec7ee84c3a"/>
    <p:sldId xmlns:r="http://schemas.openxmlformats.org/officeDocument/2006/relationships" id="269" r:id="Rca738d2ad35742e3"/>
    <p:sldId xmlns:r="http://schemas.openxmlformats.org/officeDocument/2006/relationships" id="270" r:id="Rea420a8ca4e44c26"/>
    <p:sldId xmlns:r="http://schemas.openxmlformats.org/officeDocument/2006/relationships" id="271" r:id="R54cf2b8313f7474f"/>
    <p:sldId xmlns:r="http://schemas.openxmlformats.org/officeDocument/2006/relationships" id="272" r:id="R8a20e154727f484f"/>
    <p:sldId xmlns:r="http://schemas.openxmlformats.org/officeDocument/2006/relationships" id="273" r:id="R88d18f6a6eeb4633"/>
    <p:sldId xmlns:r="http://schemas.openxmlformats.org/officeDocument/2006/relationships" id="274" r:id="R0bb04b67d6d94c61"/>
    <p:sldId xmlns:r="http://schemas.openxmlformats.org/officeDocument/2006/relationships" id="275" r:id="R8ad641287dc8477f"/>
    <p:sldId xmlns:r="http://schemas.openxmlformats.org/officeDocument/2006/relationships" id="276" r:id="R3a9e449a49fc4b92"/>
    <p:sldId xmlns:r="http://schemas.openxmlformats.org/officeDocument/2006/relationships" id="277" r:id="R6adf6385819b4ddd"/>
    <p:sldId xmlns:r="http://schemas.openxmlformats.org/officeDocument/2006/relationships" id="278" r:id="Rd95d081d07c9478c"/>
    <p:sldId xmlns:r="http://schemas.openxmlformats.org/officeDocument/2006/relationships" id="279" r:id="R64a4216d3acb4b8e"/>
    <p:sldId xmlns:r="http://schemas.openxmlformats.org/officeDocument/2006/relationships" id="280" r:id="R2e0dade14da240b3"/>
    <p:sldId xmlns:r="http://schemas.openxmlformats.org/officeDocument/2006/relationships" id="281" r:id="R390d422d113f4582"/>
    <p:sldId xmlns:r="http://schemas.openxmlformats.org/officeDocument/2006/relationships" id="282" r:id="Rd49920cca65c4eab"/>
    <p:sldId xmlns:r="http://schemas.openxmlformats.org/officeDocument/2006/relationships" id="283" r:id="Rcbe89226b505490d"/>
    <p:sldId xmlns:r="http://schemas.openxmlformats.org/officeDocument/2006/relationships" id="284" r:id="Ra639952814ce49e5"/>
    <p:sldId xmlns:r="http://schemas.openxmlformats.org/officeDocument/2006/relationships" id="285" r:id="Rbaf10b9da78f4e16"/>
    <p:sldId xmlns:r="http://schemas.openxmlformats.org/officeDocument/2006/relationships" id="286" r:id="R34365dfbd7954449"/>
    <p:sldId xmlns:r="http://schemas.openxmlformats.org/officeDocument/2006/relationships" id="287" r:id="R275e9f3e3eef4feb"/>
    <p:sldId xmlns:r="http://schemas.openxmlformats.org/officeDocument/2006/relationships" id="288" r:id="Rd7446a22be4e4a42"/>
    <p:sldId xmlns:r="http://schemas.openxmlformats.org/officeDocument/2006/relationships" id="289" r:id="Re21ebeb7c5934446"/>
    <p:sldId xmlns:r="http://schemas.openxmlformats.org/officeDocument/2006/relationships" id="290" r:id="R433f99cd2ac04dcf"/>
    <p:sldId xmlns:r="http://schemas.openxmlformats.org/officeDocument/2006/relationships" id="291" r:id="R742c3f82fe5e402d"/>
    <p:sldId xmlns:r="http://schemas.openxmlformats.org/officeDocument/2006/relationships" id="292" r:id="R9f53908b68c745ca"/>
    <p:sldId xmlns:r="http://schemas.openxmlformats.org/officeDocument/2006/relationships" id="293" r:id="Raa5262e2530e4090"/>
    <p:sldId xmlns:r="http://schemas.openxmlformats.org/officeDocument/2006/relationships" id="294" r:id="R6eb925448f5e4409"/>
    <p:sldId xmlns:r="http://schemas.openxmlformats.org/officeDocument/2006/relationships" id="295" r:id="R8db97b8202a1473a"/>
    <p:sldId xmlns:r="http://schemas.openxmlformats.org/officeDocument/2006/relationships" id="296" r:id="Rbd4df332b8994037"/>
    <p:sldId xmlns:r="http://schemas.openxmlformats.org/officeDocument/2006/relationships" id="297" r:id="Rf5f5b6634f6f4c99"/>
    <p:sldId xmlns:r="http://schemas.openxmlformats.org/officeDocument/2006/relationships" id="298" r:id="Ra569dfa956b34f89"/>
    <p:sldId xmlns:r="http://schemas.openxmlformats.org/officeDocument/2006/relationships" id="299" r:id="Rc43662495b3e4661"/>
    <p:sldId xmlns:r="http://schemas.openxmlformats.org/officeDocument/2006/relationships" id="300" r:id="Ra80e50afa55f4e1b"/>
    <p:sldId xmlns:r="http://schemas.openxmlformats.org/officeDocument/2006/relationships" id="301" r:id="Rce9cd485df6243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30e641336c4d97" /><Relationship Type="http://schemas.openxmlformats.org/officeDocument/2006/relationships/slideMaster" Target="/ppt/slideMasters/slideMaster1.xml" Id="Re4d0d38e113f4afc" /><Relationship Type="http://schemas.openxmlformats.org/officeDocument/2006/relationships/notesMaster" Target="/ppt/notesMasters/notesMaster1.xml" Id="R08efac481a844016" /><Relationship Type="http://schemas.openxmlformats.org/officeDocument/2006/relationships/presProps" Target="/ppt/presProps.xml" Id="Rbe9118b4ad284308" /><Relationship Type="http://schemas.openxmlformats.org/officeDocument/2006/relationships/tableStyles" Target="/ppt/tableStyles.xml" Id="R263db7b4a7c44ca1" /><Relationship Type="http://schemas.openxmlformats.org/officeDocument/2006/relationships/slide" Target="/ppt/slides/slide1.xml" Id="R19b3c63ed5014916" /><Relationship Type="http://schemas.openxmlformats.org/officeDocument/2006/relationships/slide" Target="/ppt/slides/slide2.xml" Id="R36281ccdb51249fd" /><Relationship Type="http://schemas.openxmlformats.org/officeDocument/2006/relationships/slide" Target="/ppt/slides/slide3.xml" Id="R40e572a69a864e70" /><Relationship Type="http://schemas.openxmlformats.org/officeDocument/2006/relationships/slide" Target="/ppt/slides/slide4.xml" Id="R2ce1a7d053a540a2" /><Relationship Type="http://schemas.openxmlformats.org/officeDocument/2006/relationships/slide" Target="/ppt/slides/slide5.xml" Id="Ra27c8b481cfa4e9e" /><Relationship Type="http://schemas.openxmlformats.org/officeDocument/2006/relationships/slide" Target="/ppt/slides/slide6.xml" Id="R2c076dea4dbb484e" /><Relationship Type="http://schemas.openxmlformats.org/officeDocument/2006/relationships/slide" Target="/ppt/slides/slide7.xml" Id="Reb0a6614967c40ef" /><Relationship Type="http://schemas.openxmlformats.org/officeDocument/2006/relationships/slide" Target="/ppt/slides/slide8.xml" Id="Ra5f4fe26422e464e" /><Relationship Type="http://schemas.openxmlformats.org/officeDocument/2006/relationships/slide" Target="/ppt/slides/slide9.xml" Id="R327a97db5bbe45f2" /><Relationship Type="http://schemas.openxmlformats.org/officeDocument/2006/relationships/slide" Target="/ppt/slides/slide10.xml" Id="R0b683eff83804ede" /><Relationship Type="http://schemas.openxmlformats.org/officeDocument/2006/relationships/slide" Target="/ppt/slides/slide11.xml" Id="Re4003aa504e143d9" /><Relationship Type="http://schemas.openxmlformats.org/officeDocument/2006/relationships/slide" Target="/ppt/slides/slide12.xml" Id="R69670476fb6c4833" /><Relationship Type="http://schemas.openxmlformats.org/officeDocument/2006/relationships/slide" Target="/ppt/slides/slide13.xml" Id="R8376adec7ee84c3a" /><Relationship Type="http://schemas.openxmlformats.org/officeDocument/2006/relationships/slide" Target="/ppt/slides/slide14.xml" Id="Rca738d2ad35742e3" /><Relationship Type="http://schemas.openxmlformats.org/officeDocument/2006/relationships/slide" Target="/ppt/slides/slide15.xml" Id="Rea420a8ca4e44c26" /><Relationship Type="http://schemas.openxmlformats.org/officeDocument/2006/relationships/slide" Target="/ppt/slides/slide16.xml" Id="R54cf2b8313f7474f" /><Relationship Type="http://schemas.openxmlformats.org/officeDocument/2006/relationships/slide" Target="/ppt/slides/slide17.xml" Id="R8a20e154727f484f" /><Relationship Type="http://schemas.openxmlformats.org/officeDocument/2006/relationships/slide" Target="/ppt/slides/slide18.xml" Id="R88d18f6a6eeb4633" /><Relationship Type="http://schemas.openxmlformats.org/officeDocument/2006/relationships/slide" Target="/ppt/slides/slide19.xml" Id="R0bb04b67d6d94c61" /><Relationship Type="http://schemas.openxmlformats.org/officeDocument/2006/relationships/slide" Target="/ppt/slides/slide20.xml" Id="R8ad641287dc8477f" /><Relationship Type="http://schemas.openxmlformats.org/officeDocument/2006/relationships/slide" Target="/ppt/slides/slide21.xml" Id="R3a9e449a49fc4b92" /><Relationship Type="http://schemas.openxmlformats.org/officeDocument/2006/relationships/slide" Target="/ppt/slides/slide22.xml" Id="R6adf6385819b4ddd" /><Relationship Type="http://schemas.openxmlformats.org/officeDocument/2006/relationships/slide" Target="/ppt/slides/slide23.xml" Id="Rd95d081d07c9478c" /><Relationship Type="http://schemas.openxmlformats.org/officeDocument/2006/relationships/slide" Target="/ppt/slides/slide24.xml" Id="R64a4216d3acb4b8e" /><Relationship Type="http://schemas.openxmlformats.org/officeDocument/2006/relationships/slide" Target="/ppt/slides/slide25.xml" Id="R2e0dade14da240b3" /><Relationship Type="http://schemas.openxmlformats.org/officeDocument/2006/relationships/slide" Target="/ppt/slides/slide26.xml" Id="R390d422d113f4582" /><Relationship Type="http://schemas.openxmlformats.org/officeDocument/2006/relationships/slide" Target="/ppt/slides/slide27.xml" Id="Rd49920cca65c4eab" /><Relationship Type="http://schemas.openxmlformats.org/officeDocument/2006/relationships/slide" Target="/ppt/slides/slide28.xml" Id="Rcbe89226b505490d" /><Relationship Type="http://schemas.openxmlformats.org/officeDocument/2006/relationships/slide" Target="/ppt/slides/slide29.xml" Id="Ra639952814ce49e5" /><Relationship Type="http://schemas.openxmlformats.org/officeDocument/2006/relationships/slide" Target="/ppt/slides/slide30.xml" Id="Rbaf10b9da78f4e16" /><Relationship Type="http://schemas.openxmlformats.org/officeDocument/2006/relationships/slide" Target="/ppt/slides/slide31.xml" Id="R34365dfbd7954449" /><Relationship Type="http://schemas.openxmlformats.org/officeDocument/2006/relationships/slide" Target="/ppt/slides/slide32.xml" Id="R275e9f3e3eef4feb" /><Relationship Type="http://schemas.openxmlformats.org/officeDocument/2006/relationships/slide" Target="/ppt/slides/slide33.xml" Id="Rd7446a22be4e4a42" /><Relationship Type="http://schemas.openxmlformats.org/officeDocument/2006/relationships/slide" Target="/ppt/slides/slide34.xml" Id="Re21ebeb7c5934446" /><Relationship Type="http://schemas.openxmlformats.org/officeDocument/2006/relationships/slide" Target="/ppt/slides/slide35.xml" Id="R433f99cd2ac04dcf" /><Relationship Type="http://schemas.openxmlformats.org/officeDocument/2006/relationships/slide" Target="/ppt/slides/slide36.xml" Id="R742c3f82fe5e402d" /><Relationship Type="http://schemas.openxmlformats.org/officeDocument/2006/relationships/slide" Target="/ppt/slides/slide37.xml" Id="R9f53908b68c745ca" /><Relationship Type="http://schemas.openxmlformats.org/officeDocument/2006/relationships/slide" Target="/ppt/slides/slide38.xml" Id="Raa5262e2530e4090" /><Relationship Type="http://schemas.openxmlformats.org/officeDocument/2006/relationships/slide" Target="/ppt/slides/slide39.xml" Id="R6eb925448f5e4409" /><Relationship Type="http://schemas.openxmlformats.org/officeDocument/2006/relationships/slide" Target="/ppt/slides/slide40.xml" Id="R8db97b8202a1473a" /><Relationship Type="http://schemas.openxmlformats.org/officeDocument/2006/relationships/slide" Target="/ppt/slides/slide41.xml" Id="Rbd4df332b8994037" /><Relationship Type="http://schemas.openxmlformats.org/officeDocument/2006/relationships/slide" Target="/ppt/slides/slide42.xml" Id="Rf5f5b6634f6f4c99" /><Relationship Type="http://schemas.openxmlformats.org/officeDocument/2006/relationships/slide" Target="/ppt/slides/slide43.xml" Id="Ra569dfa956b34f89" /><Relationship Type="http://schemas.openxmlformats.org/officeDocument/2006/relationships/slide" Target="/ppt/slides/slide44.xml" Id="Rc43662495b3e4661" /><Relationship Type="http://schemas.openxmlformats.org/officeDocument/2006/relationships/slide" Target="/ppt/slides/slide45.xml" Id="Ra80e50afa55f4e1b" /><Relationship Type="http://schemas.openxmlformats.org/officeDocument/2006/relationships/slide" Target="/ppt/slides/slide46.xml" Id="Rce9cd485df6243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1ef89a008d45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13febf7ba468c" /><Relationship Type="http://schemas.openxmlformats.org/officeDocument/2006/relationships/notesMaster" Target="/ppt/notesMasters/notesMaster1.xml" Id="Rff81bf4f819b49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4e2fd6af7c4c00" /><Relationship Type="http://schemas.openxmlformats.org/officeDocument/2006/relationships/notesMaster" Target="/ppt/notesMasters/notesMaster1.xml" Id="R785badf1e58b46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ea5472b1eb4433" /><Relationship Type="http://schemas.openxmlformats.org/officeDocument/2006/relationships/notesMaster" Target="/ppt/notesMasters/notesMaster1.xml" Id="Rbabc60b1aaa746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a26a538bc14596" /><Relationship Type="http://schemas.openxmlformats.org/officeDocument/2006/relationships/notesMaster" Target="/ppt/notesMasters/notesMaster1.xml" Id="R809e85aeaf4241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6b9c3ec7e34a66" /><Relationship Type="http://schemas.openxmlformats.org/officeDocument/2006/relationships/notesMaster" Target="/ppt/notesMasters/notesMaster1.xml" Id="Re39834450cba4d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d0b6d01ac2455c" /><Relationship Type="http://schemas.openxmlformats.org/officeDocument/2006/relationships/notesMaster" Target="/ppt/notesMasters/notesMaster1.xml" Id="Ra516cdbb77e649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b61921d2c84e10" /><Relationship Type="http://schemas.openxmlformats.org/officeDocument/2006/relationships/notesMaster" Target="/ppt/notesMasters/notesMaster1.xml" Id="R7b4800c086494a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d129d40f6a4b94" /><Relationship Type="http://schemas.openxmlformats.org/officeDocument/2006/relationships/notesMaster" Target="/ppt/notesMasters/notesMaster1.xml" Id="R98644586ea7a46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85b18205ec4a1f" /><Relationship Type="http://schemas.openxmlformats.org/officeDocument/2006/relationships/notesMaster" Target="/ppt/notesMasters/notesMaster1.xml" Id="Ra4bd45bfa3844e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9fc7b7f59a4c01" /><Relationship Type="http://schemas.openxmlformats.org/officeDocument/2006/relationships/notesMaster" Target="/ppt/notesMasters/notesMaster1.xml" Id="Rc98dbe6ae15543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5f8c465c314140" /><Relationship Type="http://schemas.openxmlformats.org/officeDocument/2006/relationships/notesMaster" Target="/ppt/notesMasters/notesMaster1.xml" Id="Red38f91066fa41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281e312b784e40" /><Relationship Type="http://schemas.openxmlformats.org/officeDocument/2006/relationships/notesMaster" Target="/ppt/notesMasters/notesMaster1.xml" Id="R74e0c827f1b149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ec44d3c8c64a4d" /><Relationship Type="http://schemas.openxmlformats.org/officeDocument/2006/relationships/notesMaster" Target="/ppt/notesMasters/notesMaster1.xml" Id="Rba215ab6c5564c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a3ff63e3b5400b" /><Relationship Type="http://schemas.openxmlformats.org/officeDocument/2006/relationships/notesMaster" Target="/ppt/notesMasters/notesMaster1.xml" Id="R7bde71bfc09342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7c7b355cd14f62" /><Relationship Type="http://schemas.openxmlformats.org/officeDocument/2006/relationships/notesMaster" Target="/ppt/notesMasters/notesMaster1.xml" Id="Ra7f37f0e16e14d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e062b1e0a74383" /><Relationship Type="http://schemas.openxmlformats.org/officeDocument/2006/relationships/notesMaster" Target="/ppt/notesMasters/notesMaster1.xml" Id="Rc50bdd93ee9641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fc0ffdd4224dcd" /><Relationship Type="http://schemas.openxmlformats.org/officeDocument/2006/relationships/notesMaster" Target="/ppt/notesMasters/notesMaster1.xml" Id="R05f03b6500f448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1f4b5b371054574" /><Relationship Type="http://schemas.openxmlformats.org/officeDocument/2006/relationships/notesMaster" Target="/ppt/notesMasters/notesMaster1.xml" Id="Re01d7c10dd0d45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c15b6a7e084211" /><Relationship Type="http://schemas.openxmlformats.org/officeDocument/2006/relationships/notesMaster" Target="/ppt/notesMasters/notesMaster1.xml" Id="R5e3f9b47b0a442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b11da85b3d43e1" /><Relationship Type="http://schemas.openxmlformats.org/officeDocument/2006/relationships/notesMaster" Target="/ppt/notesMasters/notesMaster1.xml" Id="R763e58610da541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1c9e1cb6024dda" /><Relationship Type="http://schemas.openxmlformats.org/officeDocument/2006/relationships/notesMaster" Target="/ppt/notesMasters/notesMaster1.xml" Id="R6acb54974879437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9eb6875b5ea4334" /><Relationship Type="http://schemas.openxmlformats.org/officeDocument/2006/relationships/notesMaster" Target="/ppt/notesMasters/notesMaster1.xml" Id="Rf615e3a71b064fb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a083348a524610" /><Relationship Type="http://schemas.openxmlformats.org/officeDocument/2006/relationships/notesMaster" Target="/ppt/notesMasters/notesMaster1.xml" Id="R744de638c45a45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b4e8bb54a64821" /><Relationship Type="http://schemas.openxmlformats.org/officeDocument/2006/relationships/notesMaster" Target="/ppt/notesMasters/notesMaster1.xml" Id="Rd7ee81313e3a476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97500abbed4b93" /><Relationship Type="http://schemas.openxmlformats.org/officeDocument/2006/relationships/notesMaster" Target="/ppt/notesMasters/notesMaster1.xml" Id="Ra8aa4a2364b24f5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6b6f60900834c90" /><Relationship Type="http://schemas.openxmlformats.org/officeDocument/2006/relationships/notesMaster" Target="/ppt/notesMasters/notesMaster1.xml" Id="R9f1139924a77473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d7a8f4636b4e35" /><Relationship Type="http://schemas.openxmlformats.org/officeDocument/2006/relationships/notesMaster" Target="/ppt/notesMasters/notesMaster1.xml" Id="R847125e034654e8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7a90b5b1c764723" /><Relationship Type="http://schemas.openxmlformats.org/officeDocument/2006/relationships/notesMaster" Target="/ppt/notesMasters/notesMaster1.xml" Id="R90cea42e880f463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4977d740fcc4106" /><Relationship Type="http://schemas.openxmlformats.org/officeDocument/2006/relationships/notesMaster" Target="/ppt/notesMasters/notesMaster1.xml" Id="Rfd72cb12315440b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508d0aa0bd947b3" /><Relationship Type="http://schemas.openxmlformats.org/officeDocument/2006/relationships/notesMaster" Target="/ppt/notesMasters/notesMaster1.xml" Id="R74c4087d92624bf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4166d0d7fbe49d4" /><Relationship Type="http://schemas.openxmlformats.org/officeDocument/2006/relationships/notesMaster" Target="/ppt/notesMasters/notesMaster1.xml" Id="R9903305dfc5448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3e47e3e3985465d" /><Relationship Type="http://schemas.openxmlformats.org/officeDocument/2006/relationships/notesMaster" Target="/ppt/notesMasters/notesMaster1.xml" Id="R29736b1804db476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8a201bd001042da" /><Relationship Type="http://schemas.openxmlformats.org/officeDocument/2006/relationships/notesMaster" Target="/ppt/notesMasters/notesMaster1.xml" Id="Racf98e726dca469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9fd21134ac945a0" /><Relationship Type="http://schemas.openxmlformats.org/officeDocument/2006/relationships/notesMaster" Target="/ppt/notesMasters/notesMaster1.xml" Id="Rd32b8c2fc70c409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18261f112d3415f" /><Relationship Type="http://schemas.openxmlformats.org/officeDocument/2006/relationships/notesMaster" Target="/ppt/notesMasters/notesMaster1.xml" Id="R4d80c05851a849e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0ad82f1c6cc482f" /><Relationship Type="http://schemas.openxmlformats.org/officeDocument/2006/relationships/notesMaster" Target="/ppt/notesMasters/notesMaster1.xml" Id="R52e716aa1fe144b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c46f2b0c30e4118" /><Relationship Type="http://schemas.openxmlformats.org/officeDocument/2006/relationships/notesMaster" Target="/ppt/notesMasters/notesMaster1.xml" Id="R8838baf419e84c1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393e75e68e445b8" /><Relationship Type="http://schemas.openxmlformats.org/officeDocument/2006/relationships/notesMaster" Target="/ppt/notesMasters/notesMaster1.xml" Id="R34bf1fc75a0d425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eabb771a60147b1" /><Relationship Type="http://schemas.openxmlformats.org/officeDocument/2006/relationships/notesMaster" Target="/ppt/notesMasters/notesMaster1.xml" Id="R7f452a2fbbda4cc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0b133a7b5704ee4" /><Relationship Type="http://schemas.openxmlformats.org/officeDocument/2006/relationships/notesMaster" Target="/ppt/notesMasters/notesMaster1.xml" Id="R8874305c6911466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7c1ea37a11a41d6" /><Relationship Type="http://schemas.openxmlformats.org/officeDocument/2006/relationships/notesMaster" Target="/ppt/notesMasters/notesMaster1.xml" Id="R6cd9033b3365446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9e6e0fe783448e2" /><Relationship Type="http://schemas.openxmlformats.org/officeDocument/2006/relationships/notesMaster" Target="/ppt/notesMasters/notesMaster1.xml" Id="Ra94b4c5f716e414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3450d7643864f6a" /><Relationship Type="http://schemas.openxmlformats.org/officeDocument/2006/relationships/notesMaster" Target="/ppt/notesMasters/notesMaster1.xml" Id="Rabc791e5a57a4f7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59553120f734888" /><Relationship Type="http://schemas.openxmlformats.org/officeDocument/2006/relationships/notesMaster" Target="/ppt/notesMasters/notesMaster1.xml" Id="Rb4e8f2dda0ad4a5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96f1fa73ac84c24" /><Relationship Type="http://schemas.openxmlformats.org/officeDocument/2006/relationships/notesMaster" Target="/ppt/notesMasters/notesMaster1.xml" Id="R02ee22a4a5ea4dc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ecc6d570513434c" /><Relationship Type="http://schemas.openxmlformats.org/officeDocument/2006/relationships/notesMaster" Target="/ppt/notesMasters/notesMaster1.xml" Id="R907e0c7fdca046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Conectar con la primera clase: China combina capacidad industrial, investigación y coordinación. Hoy se estudia cómo esas capas construyen sistemas que ejecutan tareas. La portada utiliza la ilustración conceptual suministrada. No representa un despliegue industrial real identificado.</a:t>
            </a:r>
          </a:p>
          <a:p xmlns:a="http://schemas.openxmlformats.org/drawingml/2006/main">
            <a:r>
              <a:t/>
            </a:r>
          </a:p>
          <a:p xmlns:a="http://schemas.openxmlformats.org/drawingml/2006/main">
            <a:r>
              <a:t>Fuentes y alcance:</a:t>
            </a:r>
          </a:p>
          <a:p xmlns:a="http://schemas.openxmlformats.org/drawingml/2006/main">
            <a:r>
              <a:t>Sergio Gevatschnaider · AI and Robotics in China</a:t>
            </a:r>
          </a:p>
          <a:p xmlns:a="http://schemas.openxmlformats.org/drawingml/2006/main">
            <a:r>
              <a:t>https://github.com/sgevatschnaider/Inteligencia-Artificial-y-Rob-tica-en-China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El kit contiene más material que una clase. Usar la ruta de la guía docente y dejar las diapositivas de ampliación para consulta. Reservar las demostraciones para las preguntas: cada video debe responder una cuestión concreta.</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Ejemplo: un modelo que clasifica una factura con gran precisión todavía necesita conexión al sistema contable y un circuito de excepciones. En robótica se agregan calibración, seguridad y soporte. Distinguir éxito técnico de ahorro efectivo.</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Un robot industrial puede funcionar sin LLM y un chatbot puede usar herramientas. Evitar una pirámide de inteligencia: se trata de funciones y arquitecturas. La presentación de fundamentos desarrolla estas diferencias.</a:t>
            </a:r>
          </a:p>
          <a:p xmlns:a="http://schemas.openxmlformats.org/drawingml/2006/main">
            <a:r>
              <a:t/>
            </a:r>
          </a:p>
          <a:p xmlns:a="http://schemas.openxmlformats.org/drawingml/2006/main">
            <a:r>
              <a:t>Fuentes y alcance: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Las capas no forman una cadena unidireccional: los datos y las restricciones vuelven desde el uso hacia el diseño. Una empresa puede competir en modelos y cooperar con rivales en infraestructura. El mapa es funcional, no un ranking.</a:t>
            </a:r>
          </a:p>
          <a:p xmlns:a="http://schemas.openxmlformats.org/drawingml/2006/main">
            <a:r>
              <a:t/>
            </a:r>
          </a:p>
          <a:p xmlns:a="http://schemas.openxmlformats.org/drawingml/2006/main">
            <a:r>
              <a:t>Fuentes y alcance:</a:t>
            </a:r>
          </a:p>
          <a:p xmlns:a="http://schemas.openxmlformats.org/drawingml/2006/main">
            <a:r>
              <a:t>Sergio Gevatschnaider · AI and Robotics in China</a:t>
            </a:r>
          </a:p>
          <a:p xmlns:a="http://schemas.openxmlformats.org/drawingml/2006/main">
            <a:r>
              <a:t>https://github.com/sgevatschnaider/Inteligencia-Artificial-y-Rob-tica-en-China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No interpretar las columnas como categorías excluyentes ni como una afirmación de autosuficiencia. La infraestructura, la comunidad y la distribución pueden ser complementos estratégicos. Las integraciones específicas deben comprobarse por producto.</a:t>
            </a:r>
          </a:p>
          <a:p xmlns:a="http://schemas.openxmlformats.org/drawingml/2006/main">
            <a:r>
              <a:t/>
            </a:r>
          </a:p>
          <a:p xmlns:a="http://schemas.openxmlformats.org/drawingml/2006/main">
            <a:r>
              <a:t>Fuentes y alcance:</a:t>
            </a:r>
          </a:p>
          <a:p xmlns:a="http://schemas.openxmlformats.org/drawingml/2006/main">
            <a:r>
              <a:t>Sergio Gevatschnaider · AI and Robotics in China</a:t>
            </a:r>
          </a:p>
          <a:p xmlns:a="http://schemas.openxmlformats.org/drawingml/2006/main">
            <a:r>
              <a:t>https://github.com/sgevatschnaider/Inteligencia-Artificial-y-Rob-tica-en-China</a:t>
            </a:r>
          </a:p>
          <a:p xmlns:a="http://schemas.openxmlformats.org/drawingml/2006/main">
            <a:r>
              <a:t>Qwen-Agent · official code and documentation</a:t>
            </a:r>
          </a:p>
          <a:p xmlns:a="http://schemas.openxmlformats.org/drawingml/2006/main">
            <a:r>
              <a:t>https://github.com/QwenLM/Qwen-Agent</a:t>
            </a:r>
          </a:p>
          <a:p xmlns:a="http://schemas.openxmlformats.org/drawingml/2006/main">
            <a:r>
              <a:t>DeepSeek-V3 · technical report, Table 1 (2024–2025)</a:t>
            </a:r>
          </a:p>
          <a:p xmlns:a="http://schemas.openxmlformats.org/drawingml/2006/main">
            <a:r>
              <a:t>https://arxiv.org/abs/2412.19437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Es un estudio de caso fechado, no una descripción de la última versión disponible. El total de parámetros no equivale al trabajo por token. El enrutamiento y la distribución entre aceleradores importan para el rendimiento del sistema.</a:t>
            </a:r>
          </a:p>
          <a:p xmlns:a="http://schemas.openxmlformats.org/drawingml/2006/main">
            <a:r>
              <a:t/>
            </a:r>
          </a:p>
          <a:p xmlns:a="http://schemas.openxmlformats.org/drawingml/2006/main">
            <a:r>
              <a:t>Fuentes y alcance:</a:t>
            </a:r>
          </a:p>
          <a:p xmlns:a="http://schemas.openxmlformats.org/drawingml/2006/main">
            <a:r>
              <a:t>DeepSeek-V3 · technical report, Table 1 (2024–2025)</a:t>
            </a:r>
          </a:p>
          <a:p xmlns:a="http://schemas.openxmlformats.org/drawingml/2006/main">
            <a:r>
              <a:t>https://arxiv.org/abs/2412.19437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R1-Zero no significa entrenamiento desde cero. Separar el experimento que explora refuerzo del pipeline más elaborado de R1. El artículo reporta resultados propios: no transforma a un modelo de razonamiento en un sistema agente completo.</a:t>
            </a:r>
          </a:p>
          <a:p xmlns:a="http://schemas.openxmlformats.org/drawingml/2006/main">
            <a:r>
              <a:t/>
            </a:r>
          </a:p>
          <a:p xmlns:a="http://schemas.openxmlformats.org/drawingml/2006/main">
            <a:r>
              <a:t>Fuentes y alcance:</a:t>
            </a:r>
          </a:p>
          <a:p xmlns:a="http://schemas.openxmlformats.org/drawingml/2006/main">
            <a:r>
              <a:t>DeepSeek-R1 · technical report (2025)</a:t>
            </a:r>
          </a:p>
          <a:p xmlns:a="http://schemas.openxmlformats.org/drawingml/2006/main">
            <a:r>
              <a:t>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 tabla 1 suma preentrenamiento, extensión de contexto y postentrenamiento del V3 reportado. La cifra utiliza un precio supuesto de alquiler, no estados contables auditados. Distinguir costos de entrenamiento, inferencia, investigación y precio comercial.</a:t>
            </a:r>
          </a:p>
          <a:p xmlns:a="http://schemas.openxmlformats.org/drawingml/2006/main">
            <a:r>
              <a:t/>
            </a:r>
          </a:p>
          <a:p xmlns:a="http://schemas.openxmlformats.org/drawingml/2006/main">
            <a:r>
              <a:t>Fuentes y alcance:</a:t>
            </a:r>
          </a:p>
          <a:p xmlns:a="http://schemas.openxmlformats.org/drawingml/2006/main">
            <a:r>
              <a:t>DeepSeek-V3 · technical report, Table 1 (2024–2025)</a:t>
            </a:r>
          </a:p>
          <a:p xmlns:a="http://schemas.openxmlformats.org/drawingml/2006/main">
            <a:r>
              <a:t>https://arxiv.org/abs/2412.19437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Pesos abiertos, código abierto y API son modalidades diferentes. No asumir que todas las variantes de una familia comparten licencia. Para comparar modelos usar la misma batería de tareas y declarar fecha, configuración y presupuesto.</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Qwen-Agent documenta uso de herramientas y recuperación. No atribuir a cualquier instalación acceso automático a pagos o comercio electrónico. Las integraciones comerciales de aplicaciones tienen alcance, región y condiciones propios.</a:t>
            </a:r>
          </a:p>
          <a:p xmlns:a="http://schemas.openxmlformats.org/drawingml/2006/main">
            <a:r>
              <a:t/>
            </a:r>
          </a:p>
          <a:p xmlns:a="http://schemas.openxmlformats.org/drawingml/2006/main">
            <a:r>
              <a:t>Fuentes y alcance: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Esta es una interpretación económica, no una identidad contable ni una garantía de poder de mercado. Integración también puede elevar dependencia y costos de salida. Preguntar si el cliente puede exportar sus datos y reproducir el proceso con otro proveedor.</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Un agente editor necesita abrir el archivo final. Un agente de datos necesita reproducir cálculos. La herramienta devuelve observaciones y también puede fallar. La arquitectura debe dar un tratamiento explícito a errores y datos ausentes.</a:t>
            </a:r>
          </a:p>
          <a:p xmlns:a="http://schemas.openxmlformats.org/drawingml/2006/main">
            <a:r>
              <a:t/>
            </a:r>
          </a:p>
          <a:p xmlns:a="http://schemas.openxmlformats.org/drawingml/2006/main">
            <a:r>
              <a:t>Fuentes y alcance:</a:t>
            </a:r>
          </a:p>
          <a:p xmlns:a="http://schemas.openxmlformats.org/drawingml/2006/main">
            <a:r>
              <a:t>Qwen · Function Calling documentation</a:t>
            </a:r>
          </a:p>
          <a:p xmlns:a="http://schemas.openxmlformats.org/drawingml/2006/main">
            <a:r>
              <a:t>https://qwen.readthedocs.io/en/stable/framework/function_call.html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Usar el simulador agente para provocar un error de unidades y una ficha sin datos. La actividad no busca coronar un proveedor. Su objetivo es enseñar que una recomendación útil debe conservar trazabilidad y admitir que falta evidencia.</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Pedir evidencia de ejecución antes de valorar la redacción. Una fuente primaria documenta una especificación declarada, pero no necesariamente prueba rendimiento independiente. Separar lo observado, lo declarado y la inferencia del analista.</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 expresión remite a inteligencia que opera mediante un cuerpo en un entorno. No significa que el sistema tenga comprensión humana ni que toda su arquitectura sea un LLM. El acoplamiento sensorimotor y las condiciones de prueba son centrales.</a:t>
            </a:r>
          </a:p>
          <a:p xmlns:a="http://schemas.openxmlformats.org/drawingml/2006/main">
            <a:r>
              <a:t/>
            </a:r>
          </a:p>
          <a:p xmlns:a="http://schemas.openxmlformats.org/drawingml/2006/main">
            <a:r>
              <a:t>Fuentes y alcance:</a:t>
            </a:r>
          </a:p>
          <a:p xmlns:a="http://schemas.openxmlformats.org/drawingml/2006/main">
            <a:r>
              <a:t>OpenVLA · research paper (2024)</a:t>
            </a:r>
          </a:p>
          <a:p xmlns:a="http://schemas.openxmlformats.org/drawingml/2006/main">
            <a:r>
              <a:t>https://arxiv.org/abs/2406.09246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El lazo de control se actualiza con observaciones. Puede existir un LLM en una capa de alto nivel sin que controle directamente cada motor. La protección operacional debe intervenir aunque el planificador proponga una acción inapropiada.</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OpenVLA es una referencia de investigación para explicar la arquitectura, no un producto chino ni un estándar universal. La generalización se prueba sobre tareas y condiciones definidas. End-to-end describe integración de etapas y no elimina evaluación ni seguridad.</a:t>
            </a:r>
          </a:p>
          <a:p xmlns:a="http://schemas.openxmlformats.org/drawingml/2006/main">
            <a:r>
              <a:t/>
            </a:r>
          </a:p>
          <a:p xmlns:a="http://schemas.openxmlformats.org/drawingml/2006/main">
            <a:r>
              <a:t>Fuentes y alcance:</a:t>
            </a:r>
          </a:p>
          <a:p xmlns:a="http://schemas.openxmlformats.org/drawingml/2006/main">
            <a:r>
              <a:t>OpenVLA · research paper (2024)</a:t>
            </a:r>
          </a:p>
          <a:p xmlns:a="http://schemas.openxmlformats.org/drawingml/2006/main">
            <a:r>
              <a:t>https://arxiv.org/abs/2406.09246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Simulación e imitación se pueden combinar. La diversidad del conjunto y el procedimiento de evaluación importan tanto como su tamaño. Un robot entrenado con una pinza no transfiere automáticamente su destreza a otra mano.</a:t>
            </a:r>
          </a:p>
          <a:p xmlns:a="http://schemas.openxmlformats.org/drawingml/2006/main">
            <a:r>
              <a:t/>
            </a:r>
          </a:p>
          <a:p xmlns:a="http://schemas.openxmlformats.org/drawingml/2006/main">
            <a:r>
              <a:t>Fuentes y alcance:</a:t>
            </a:r>
          </a:p>
          <a:p xmlns:a="http://schemas.openxmlformats.org/drawingml/2006/main">
            <a:r>
              <a:t>OpenVLA · research paper (2024)</a:t>
            </a:r>
          </a:p>
          <a:p xmlns:a="http://schemas.openxmlformats.org/drawingml/2006/main">
            <a:r>
              <a:t>https://arxiv.org/abs/2406.09246</a:t>
            </a:r>
          </a:p>
          <a:p xmlns:a="http://schemas.openxmlformats.org/drawingml/2006/main">
            <a:r>
              <a:t>Sutton &amp; Barto · Reinforcement Learning, second edition</a:t>
            </a:r>
          </a:p>
          <a:p xmlns:a="http://schemas.openxmlformats.org/drawingml/2006/main">
            <a:r>
              <a:t>http://incompleteideas.net/book/the-book-2nd.html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No afirmar que más datos sintéticos siempre mejoran resultados. Su utilidad depende de cubrir variaciones relevantes y de no introducir sesgos. La prueba final debe declarar hardware, tarea y condiciones de operación.</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El PPT original contenía metas numéricas de despliegue sin fecha suficientemente visible. En esta versión se reemplazan por un marco de evaluación para no convertir anuncios en logros. Toda cifra futura debe conservar documento, fecha, alcance y plazo.</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Las fortalezas son interpretaciones del posicionamiento empresarial y deben evaluarse por tarea. No ordenar robots de distintas configuraciones por una única cifra de grados de libertad. Importan disponibilidad, manipulación, integración y soporte.</a:t>
            </a:r>
          </a:p>
          <a:p xmlns:a="http://schemas.openxmlformats.org/drawingml/2006/main">
            <a:r>
              <a:t/>
            </a:r>
          </a:p>
          <a:p xmlns:a="http://schemas.openxmlformats.org/drawingml/2006/main">
            <a:r>
              <a:t>Fuentes y alcance:</a:t>
            </a:r>
          </a:p>
          <a:p xmlns:a="http://schemas.openxmlformats.org/drawingml/2006/main">
            <a:r>
              <a:t>Unitree · G1 product specifications</a:t>
            </a:r>
          </a:p>
          <a:p xmlns:a="http://schemas.openxmlformats.org/drawingml/2006/main">
            <a:r>
              <a:t>https://www.unitree.com/g1/</a:t>
            </a:r>
          </a:p>
          <a:p xmlns:a="http://schemas.openxmlformats.org/drawingml/2006/main">
            <a:r>
              <a:t>UBTECH · Walker S2 manufacturer page</a:t>
            </a:r>
          </a:p>
          <a:p xmlns:a="http://schemas.openxmlformats.org/drawingml/2006/main">
            <a:r>
              <a:t>https://www.ubtrobot.com/en/humanoid/products/walker-s2</a:t>
            </a:r>
          </a:p>
          <a:p xmlns:a="http://schemas.openxmlformats.org/drawingml/2006/main">
            <a:r>
              <a:t>XPENG · IRON production line announcement, 08/09/2026</a:t>
            </a:r>
          </a:p>
          <a:p xmlns:a="http://schemas.openxmlformats.org/drawingml/2006/main">
            <a:r>
              <a:t>https://www.xpeng.com/news/01a080371029a057bc8e8a02a2c6012b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Las cifras son declaraciones comerciales, no resultados medidos por esta clase. Registrar variante y accesorios. Ver el salto lateral en la página de videos: demuestra una ejecución de control dinámico y deja abierta la productividad de una tarea industrial.</a:t>
            </a:r>
          </a:p>
          <a:p xmlns:a="http://schemas.openxmlformats.org/drawingml/2006/main">
            <a:r>
              <a:t/>
            </a:r>
          </a:p>
          <a:p xmlns:a="http://schemas.openxmlformats.org/drawingml/2006/main">
            <a:r>
              <a:t>Fuentes y alcance:</a:t>
            </a:r>
          </a:p>
          <a:p xmlns:a="http://schemas.openxmlformats.org/drawingml/2006/main">
            <a:r>
              <a:t>Unitree · G1 product specifications</a:t>
            </a:r>
          </a:p>
          <a:p xmlns:a="http://schemas.openxmlformats.org/drawingml/2006/main">
            <a:r>
              <a:t>https://www.unitree.com/g1/</a:t>
            </a:r>
          </a:p>
          <a:p xmlns:a="http://schemas.openxmlformats.org/drawingml/2006/main">
            <a:r>
              <a:t>Unitree · G1 side flip, original video</a:t>
            </a:r>
          </a:p>
          <a:p xmlns:a="http://schemas.openxmlformats.org/drawingml/2006/main">
            <a:r>
              <a:t>https://www.youtube.com/watch?v=29xLWhqME2Q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 ficha respalda una capacidad declarada. No demuestra por sí sola operación productiva continua. Para evaluar el sistema incluir estación, baterías, mantenimiento y tiempo de recuperación. La disponibilidad no equivale a tasa de éxito de la tarea.</a:t>
            </a:r>
          </a:p>
          <a:p xmlns:a="http://schemas.openxmlformats.org/drawingml/2006/main">
            <a:r>
              <a:t/>
            </a:r>
          </a:p>
          <a:p xmlns:a="http://schemas.openxmlformats.org/drawingml/2006/main">
            <a:r>
              <a:t>Fuentes y alcance:</a:t>
            </a:r>
          </a:p>
          <a:p xmlns:a="http://schemas.openxmlformats.org/drawingml/2006/main">
            <a:r>
              <a:t>UBTECH · Walker S2 manufacturer page</a:t>
            </a:r>
          </a:p>
          <a:p xmlns:a="http://schemas.openxmlformats.org/drawingml/2006/main">
            <a:r>
              <a:t>https://www.ubtrobot.com/en/humanoid/products/walker-s2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Usar el comunicado como declaración de XPENG. No adoptar expresiones promocionales de liderazgo. El hecho anunciado y los planes futuros tienen distinto estatus. Verificar entregas, clientes y horas de uso para evaluar comercialización efectiva.</a:t>
            </a:r>
          </a:p>
          <a:p xmlns:a="http://schemas.openxmlformats.org/drawingml/2006/main">
            <a:r>
              <a:t/>
            </a:r>
          </a:p>
          <a:p xmlns:a="http://schemas.openxmlformats.org/drawingml/2006/main">
            <a:r>
              <a:t>Fuentes y alcance:</a:t>
            </a:r>
          </a:p>
          <a:p xmlns:a="http://schemas.openxmlformats.org/drawingml/2006/main">
            <a:r>
              <a:t>XPENG · IRON production line announcement, 08/09/2026</a:t>
            </a:r>
          </a:p>
          <a:p xmlns:a="http://schemas.openxmlformats.org/drawingml/2006/main">
            <a:r>
              <a:t>https://www.xpeng.com/news/01a080371029a057bc8e8a02a2c6012b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La tabla es una plantilla de evaluación, no una comparación empírica ya realizada. No completar campos con inferencias tomadas de un video. Requiere pruebas comparables o datos expresamente identificados.</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Abrir videos.html desde el portal. Proyectar fragmentos breves elegidos por el docente, sin prometer duraciones no comprobadas. Si el proveedor bloquea el embebido, abrir el enlace original. Los enlaces se recuperaron; la reproducción audiovisual no se validó dentro de este entorno.</a:t>
            </a:r>
          </a:p>
          <a:p xmlns:a="http://schemas.openxmlformats.org/drawingml/2006/main">
            <a:r>
              <a:t/>
            </a:r>
          </a:p>
          <a:p xmlns:a="http://schemas.openxmlformats.org/drawingml/2006/main">
            <a:r>
              <a:t>Fuentes y alcance:</a:t>
            </a:r>
          </a:p>
          <a:p xmlns:a="http://schemas.openxmlformats.org/drawingml/2006/main">
            <a:r>
              <a:t>VideoLab · existing teaching catalog</a:t>
            </a:r>
          </a:p>
          <a:p xmlns:a="http://schemas.openxmlformats.org/drawingml/2006/main">
            <a:r>
              <a:t>https://sgevatschnaider.github.io/Inteligencia-Artificial-y-Rob-tica-en-China/videolab/</a:t>
            </a:r>
          </a:p>
          <a:p xmlns:a="http://schemas.openxmlformats.org/drawingml/2006/main">
            <a:r>
              <a:t>Unitree · G1 side flip, original video</a:t>
            </a:r>
          </a:p>
          <a:p xmlns:a="http://schemas.openxmlformats.org/drawingml/2006/main">
            <a:r>
              <a:t>https://www.youtube.com/watch?v=29xLWhqME2Q</a:t>
            </a:r>
          </a:p>
          <a:p xmlns:a="http://schemas.openxmlformats.org/drawingml/2006/main">
            <a:r>
              <a:t>XPENG · Why is IRON so human-like?, original video</a:t>
            </a:r>
          </a:p>
          <a:p xmlns:a="http://schemas.openxmlformats.org/drawingml/2006/main">
            <a:r>
              <a:t>https://www.youtube.com/watch?v=ssxdSVQN14I</a:t>
            </a:r>
          </a:p>
          <a:p xmlns:a="http://schemas.openxmlformats.org/drawingml/2006/main">
            <a:r>
              <a:t>UBTECH · Walker S2 manufacturer page</a:t>
            </a:r>
          </a:p>
          <a:p xmlns:a="http://schemas.openxmlformats.org/drawingml/2006/main">
            <a:r>
              <a:t>https://www.ubtrobot.com/en/humanoid/products/walker-s2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 flecha de mejora vuelve a la operación. El círculo representa una hipótesis causal que debe probarse, no un resultado automático. Una flota puede generar datos redundantes y consolidar sesgos si no cubre casos difíciles.</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La ventaja de una fábrica depende de la posibilidad de registrar, curar y reutilizar experiencia. No toda información es transferible ni puede compartirse. Preguntar qué capacidades institucionales y de ingeniería complementan una flota grande.</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Eje horizontal: autonomía observada bajo condiciones declaradas. Eje vertical: evidencia económica con comparación de costos. Una celda automatizada puede tener alta rentabilidad y autonomía limitada. Un humanoide autónomo puede carecer de un caso económico probado.</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Separar cuidadosamente denominadores. La disponibilidad se aplica al tiempo planificado y la tasa de éxito a los intentos durante operación. La fórmula no incorpora retrabajo de forma explícita. El laboratorio deja los parámetros libres para evitar fingir estimaciones de fabricantes.</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s, w y e son multiplicadores sin unidad. En este modelo w eleva productividad y potencia: interpretarlo como intensidad de lote o tarea, no como una ley física sobre kilogramos. La batería base es de 1.000 Wh. No usar estas ecuaciones para dimensionar una compra.</a:t>
            </a:r>
          </a:p>
          <a:p xmlns:a="http://schemas.openxmlformats.org/drawingml/2006/main">
            <a:r>
              <a:t/>
            </a:r>
          </a:p>
          <a:p xmlns:a="http://schemas.openxmlformats.org/drawingml/2006/main">
            <a:r>
              <a:t>Fuentes y alcance:</a:t>
            </a:r>
          </a:p>
          <a:p xmlns:a="http://schemas.openxmlformats.org/drawingml/2006/main">
            <a:r>
              <a:t>RobotLab · original educational model</a:t>
            </a:r>
          </a:p>
          <a:p xmlns:a="http://schemas.openxmlformats.org/drawingml/2006/main">
            <a:r>
              <a:t>https://sgevatschnaider.github.io/Inteligencia-Artificial-y-Rob-tica-en-China/robotlab/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Escribir E(s) como [(150+80w)/s + 100s]/(30we). Su derivada se anula en s*=sqrt((150+80w)/100). Para w=1 resulta 1,5166. e cambia la altura de la curva pero no ese mínimo. Si varían éxito, costo o seguridad, cambia el objetivo relevante.</a:t>
            </a:r>
          </a:p>
          <a:p xmlns:a="http://schemas.openxmlformats.org/drawingml/2006/main">
            <a:r>
              <a:t/>
            </a:r>
          </a:p>
          <a:p xmlns:a="http://schemas.openxmlformats.org/drawingml/2006/main">
            <a:r>
              <a:t>Fuentes y alcance:</a:t>
            </a:r>
          </a:p>
          <a:p xmlns:a="http://schemas.openxmlformats.org/drawingml/2006/main">
            <a:r>
              <a:t>RobotLab · original educational model</a:t>
            </a:r>
          </a:p>
          <a:p xmlns:a="http://schemas.openxmlformats.org/drawingml/2006/main">
            <a:r>
              <a:t>https://sgevatschnaider.github.io/Inteligencia-Artificial-y-Rob-tica-en-China/robotlab/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El paso final debe truncarse al tiempo posible antes de agotar la batería. Contar una hora completa cuando quedan pocos Wh sobreestima tareas. En el modelo docente la potencia es constante por escenario; no se modela degradación ni variación térmica.</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El modelo supone energía solo durante horas operativas y no añade consumo de espera. Por eso A reduce volumen y gasto de energía, pero no aparece en Eᵥ operacional. Los costos fijos anuales se distribuyen sobre menos tareas cuando baja A. Esta distinción evita contar disponibilidad dos veces.</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El laboratorio usa anualización lineal (inversión menos residual dividido por años) para mantener transparencia. No incorpora descuento, impuestos ni financiamiento. El costo por tarea no es una evaluación financiera completa y el valor residual no debe confundirse con ingreso anual.</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Las divisiones son 80.000/40.000 y 56.000/70.000. No son precios ni resultados de ninguna empresa. La conclusión solo vale si ambas alternativas cumplen requisitos comparables. Adaptabilidad puede tener valor cuando cambia el mix de tareas, pero debe cuantificarse.</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La fórmula requiere costos lineales y denominador distinto de cero. El cruce solo interesa si Q* es positivo y factible para ambas alternativas. Igualar tareas válidas, calidad y disponibilidad. No confundir este umbral con plazo de recuperación de la inversión.</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No deducir un efecto neto sobre empleo solo a partir de la capacidad técnica. Demanda, precios y nuevas tareas también cambian. El envejecimiento puede incentivar automatización, pero no la vuelve rentable en toda actividad. Se omitieron cifras demográficas sin fecha visible del original.</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Usar el concepto como vocabulario de política económica y discutir su contenido analítico. No convertir una expresión política en una medición estadística. El puente con economía es la combinación de innovación, capital humano y cambio organizacional.</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Conectar con la clase 3 sobre semiconductores sin anticipar reglas comerciales específicas no verificadas. La dependencia puede estar en software o servicios además de hardware. La disponibilidad comercial de un sistema importa tanto como sus especificaciones.</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Esta es una propuesta de discusión aplicada a servicios basados en conocimiento. El mercado debe validarse mediante clientes, acceso a infraestructura y capacidades técnicas. No prometer una demanda concreta sin investigación comercial.</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具身智能: inteligencia encarnada. 数据飞轮: data flywheel. 端到端: end-to-end. 新质生产力: nuevas fuerzas productivas de calidad. 机器人红利: dividendo robótico, aquí como metáfora analítica y no como indicador oficial.</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 respuesta puede refutar la hipótesis. Si el éxito se mantiene constante, aumentar velocidad reduce la asignación de costos fijos por tarea y puede compensar más energía. Si el éxito cae, la conclusión puede invertirse. No buscar una respuesta única: buscar un razonamiento reproducible.</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Abrir el archivo index.html del módulo. Para uso local basta un navegador moderno, sin instalación. Los videos y fuentes enlazados requieren conexión. Las presentaciones y las simulaciones no llaman modelos externos.</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Cerrar pidiendo una prueba concreta que harían antes de invertir. Una buena respuesta define tarea, alternativa, muestra, métricas y condiciones. Vincular con la clase 3: la capacidad también depende de chips, energía y cadenas de suministro.</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0e7566e0e242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cf9d81d65547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6d8e04b44440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0b923faa7743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55719631ff4c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a400c464bc4d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0C18B2-25CA-43AB-86A1-117BA71FDD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0AB1BC-3B8E-4593-AC57-DB19418EBD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68761C-7003-4CF9-B798-6DBE8B0424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BBDE8C-FB6D-4967-9C9A-8A63109AE0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992740-EA3C-4702-B331-869BE52097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A63BB7-3782-4765-85D2-2F0A9416C3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6462CA-71A0-4FFF-82B1-558FC8E7C9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206E9FE-7257-4CEF-99E6-087CA5F51A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DB7D49-B054-4860-AC06-E203142FCE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DA4326-2F4E-42EE-BE25-274D55D93C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d3645fd1af4e28" /><Relationship Type="http://schemas.openxmlformats.org/officeDocument/2006/relationships/slideLayout" Target="/ppt/slideLayouts/slideLayout1.xml" Id="R828a7c40ddba4e87" /><Relationship Type="http://schemas.openxmlformats.org/officeDocument/2006/relationships/slideLayout" Target="/ppt/slideLayouts/slideLayout2.xml" Id="Rac865019e8164557" /><Relationship Type="http://schemas.openxmlformats.org/officeDocument/2006/relationships/slideLayout" Target="/ppt/slideLayouts/slideLayout3.xml" Id="R643014af82534018" /><Relationship Type="http://schemas.openxmlformats.org/officeDocument/2006/relationships/slideLayout" Target="/ppt/slideLayouts/slideLayout4.xml" Id="R2b4098e41c334707" /><Relationship Type="http://schemas.openxmlformats.org/officeDocument/2006/relationships/slideLayout" Target="/ppt/slideLayouts/slideLayout5.xml" Id="Rf4027632f226409e" /><Relationship Type="http://schemas.openxmlformats.org/officeDocument/2006/relationships/slideLayout" Target="/ppt/slideLayouts/slideLayout6.xml" Id="R7353b844ecb843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8a7c40ddba4e87"/>
    <p:sldLayoutId xmlns:r="http://schemas.openxmlformats.org/officeDocument/2006/relationships" id="2147483650" r:id="Rac865019e8164557"/>
    <p:sldLayoutId xmlns:r="http://schemas.openxmlformats.org/officeDocument/2006/relationships" id="2147483651" r:id="R643014af82534018"/>
    <p:sldLayoutId xmlns:r="http://schemas.openxmlformats.org/officeDocument/2006/relationships" id="2147483652" r:id="R2b4098e41c334707"/>
    <p:sldLayoutId xmlns:r="http://schemas.openxmlformats.org/officeDocument/2006/relationships" id="2147483653" r:id="Rf4027632f226409e"/>
    <p:sldLayoutId xmlns:r="http://schemas.openxmlformats.org/officeDocument/2006/relationships" id="2147483654" r:id="R7353b844ecb843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e0d72283c74fbc" /><Relationship Type="http://schemas.openxmlformats.org/officeDocument/2006/relationships/image" Target="/ppt/media/image.png" Id="R726999d18f3c4bd1" /><Relationship Type="http://schemas.openxmlformats.org/officeDocument/2006/relationships/notesSlide" Target="/ppt/notesSlides/notesSlide1.xml" Id="Rc6b2e83cdfaf4c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da602ffdf8425a" /><Relationship Type="http://schemas.openxmlformats.org/officeDocument/2006/relationships/notesSlide" Target="/ppt/notesSlides/notesSlide2.xml" Id="Rb349124e618546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ad7b8faaa14062" /><Relationship Type="http://schemas.openxmlformats.org/officeDocument/2006/relationships/notesSlide" Target="/ppt/notesSlides/notesSlide3.xml" Id="R6e9dc4d92a224b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a66aff53814332" /><Relationship Type="http://schemas.openxmlformats.org/officeDocument/2006/relationships/notesSlide" Target="/ppt/notesSlides/notesSlide4.xml" Id="R2b733332f25540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faa32a5b4049b9" /><Relationship Type="http://schemas.openxmlformats.org/officeDocument/2006/relationships/notesSlide" Target="/ppt/notesSlides/notesSlide5.xml" Id="R2c03f70779f347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33cd49748e4ce1" /><Relationship Type="http://schemas.openxmlformats.org/officeDocument/2006/relationships/notesSlide" Target="/ppt/notesSlides/notesSlide6.xml" Id="R3f6c92b17df24a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ae62f98a8748eb" /><Relationship Type="http://schemas.openxmlformats.org/officeDocument/2006/relationships/notesSlide" Target="/ppt/notesSlides/notesSlide7.xml" Id="R24c1b41371004f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e14e286f6d84a3c" /><Relationship Type="http://schemas.openxmlformats.org/officeDocument/2006/relationships/notesSlide" Target="/ppt/notesSlides/notesSlide8.xml" Id="R989a215d45cc4a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fa391368b04b12" /><Relationship Type="http://schemas.openxmlformats.org/officeDocument/2006/relationships/notesSlide" Target="/ppt/notesSlides/notesSlide9.xml" Id="Rf275c11d210b4a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84d232773c4d5b" /><Relationship Type="http://schemas.openxmlformats.org/officeDocument/2006/relationships/notesSlide" Target="/ppt/notesSlides/notesSlide10.xml" Id="R62c22cd35ecd4f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d334f43ead94f10" /><Relationship Type="http://schemas.openxmlformats.org/officeDocument/2006/relationships/notesSlide" Target="/ppt/notesSlides/notesSlide11.xml" Id="Rac24fe0cdb8f43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5bfe88b50a41fb" /><Relationship Type="http://schemas.openxmlformats.org/officeDocument/2006/relationships/notesSlide" Target="/ppt/notesSlides/notesSlide12.xml" Id="Rd4e73824854241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fe4006b81a34e58" /><Relationship Type="http://schemas.openxmlformats.org/officeDocument/2006/relationships/notesSlide" Target="/ppt/notesSlides/notesSlide13.xml" Id="Reac70e9d0ff74d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fc22da2a3b143fe" /><Relationship Type="http://schemas.openxmlformats.org/officeDocument/2006/relationships/notesSlide" Target="/ppt/notesSlides/notesSlide14.xml" Id="R18e8f4460c7643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c9d925d99f4c68" /><Relationship Type="http://schemas.openxmlformats.org/officeDocument/2006/relationships/notesSlide" Target="/ppt/notesSlides/notesSlide15.xml" Id="R6780c1fa813542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f54c85f37f34d91" /><Relationship Type="http://schemas.openxmlformats.org/officeDocument/2006/relationships/notesSlide" Target="/ppt/notesSlides/notesSlide16.xml" Id="Rd032909a00834e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0a5c7715eff4d53" /><Relationship Type="http://schemas.openxmlformats.org/officeDocument/2006/relationships/notesSlide" Target="/ppt/notesSlides/notesSlide17.xml" Id="R60632262e7704b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3aa899ef95143f9" /><Relationship Type="http://schemas.openxmlformats.org/officeDocument/2006/relationships/notesSlide" Target="/ppt/notesSlides/notesSlide18.xml" Id="R8e32648ea44441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955ba753cd842be" /><Relationship Type="http://schemas.openxmlformats.org/officeDocument/2006/relationships/notesSlide" Target="/ppt/notesSlides/notesSlide19.xml" Id="R30dc0e5b506d4e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631ec85c8fd4afb" /><Relationship Type="http://schemas.openxmlformats.org/officeDocument/2006/relationships/notesSlide" Target="/ppt/notesSlides/notesSlide20.xml" Id="Raeafbe7462714b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b90094dcae84bbe" /><Relationship Type="http://schemas.openxmlformats.org/officeDocument/2006/relationships/notesSlide" Target="/ppt/notesSlides/notesSlide21.xml" Id="R509d8cfad3e542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e4a5793cad14093" /><Relationship Type="http://schemas.openxmlformats.org/officeDocument/2006/relationships/notesSlide" Target="/ppt/notesSlides/notesSlide22.xml" Id="Rc22d246d13f84a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2035ef9aa784117" /><Relationship Type="http://schemas.openxmlformats.org/officeDocument/2006/relationships/notesSlide" Target="/ppt/notesSlides/notesSlide23.xml" Id="R11fd059f26bf44c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ebee23aaa5d4761" /><Relationship Type="http://schemas.openxmlformats.org/officeDocument/2006/relationships/notesSlide" Target="/ppt/notesSlides/notesSlide24.xml" Id="Rca172e84f941418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c39fb8259d64b40" /><Relationship Type="http://schemas.openxmlformats.org/officeDocument/2006/relationships/notesSlide" Target="/ppt/notesSlides/notesSlide25.xml" Id="R0bd98dc816774fb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2dfd216baad481d" /><Relationship Type="http://schemas.openxmlformats.org/officeDocument/2006/relationships/notesSlide" Target="/ppt/notesSlides/notesSlide26.xml" Id="R06213b4c1f79435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6208de2cfb54407" /><Relationship Type="http://schemas.openxmlformats.org/officeDocument/2006/relationships/notesSlide" Target="/ppt/notesSlides/notesSlide27.xml" Id="R7c68e22da1c3416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e044f0e339b402a" /><Relationship Type="http://schemas.openxmlformats.org/officeDocument/2006/relationships/notesSlide" Target="/ppt/notesSlides/notesSlide28.xml" Id="R7ddff14d54d649a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afe3551dde94a2c" /><Relationship Type="http://schemas.openxmlformats.org/officeDocument/2006/relationships/notesSlide" Target="/ppt/notesSlides/notesSlide29.xml" Id="R35408dbd9b6d4c2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798397edc7d45b4" /><Relationship Type="http://schemas.openxmlformats.org/officeDocument/2006/relationships/notesSlide" Target="/ppt/notesSlides/notesSlide30.xml" Id="R292b66040e7346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5b3663675684244" /><Relationship Type="http://schemas.openxmlformats.org/officeDocument/2006/relationships/notesSlide" Target="/ppt/notesSlides/notesSlide31.xml" Id="R94a2379bc78c457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444abde23ef41e9" /><Relationship Type="http://schemas.openxmlformats.org/officeDocument/2006/relationships/notesSlide" Target="/ppt/notesSlides/notesSlide32.xml" Id="R66afe18dc59546e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3b8c387a4574002" /><Relationship Type="http://schemas.openxmlformats.org/officeDocument/2006/relationships/chart" Target="/ppt/slides/charts/chart1.xml" Id="R79f83a018b194221" /><Relationship Type="http://schemas.openxmlformats.org/officeDocument/2006/relationships/notesSlide" Target="/ppt/notesSlides/notesSlide33.xml" Id="Rfcd3b75fc9c74c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8b878b184e64c53" /><Relationship Type="http://schemas.openxmlformats.org/officeDocument/2006/relationships/notesSlide" Target="/ppt/notesSlides/notesSlide34.xml" Id="R1323c61ea4f54cc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9fef557a53341bf" /><Relationship Type="http://schemas.openxmlformats.org/officeDocument/2006/relationships/notesSlide" Target="/ppt/notesSlides/notesSlide35.xml" Id="R586c61e996654c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a5e47b482e34cbc" /><Relationship Type="http://schemas.openxmlformats.org/officeDocument/2006/relationships/notesSlide" Target="/ppt/notesSlides/notesSlide36.xml" Id="R8bee7d930525411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555507e90a4461e" /><Relationship Type="http://schemas.openxmlformats.org/officeDocument/2006/relationships/notesSlide" Target="/ppt/notesSlides/notesSlide37.xml" Id="R82bedc0e5e9649d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b0fa839f6a349fd" /><Relationship Type="http://schemas.openxmlformats.org/officeDocument/2006/relationships/notesSlide" Target="/ppt/notesSlides/notesSlide38.xml" Id="Raa4ce224761a470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61bd9bee2664e43" /><Relationship Type="http://schemas.openxmlformats.org/officeDocument/2006/relationships/notesSlide" Target="/ppt/notesSlides/notesSlide39.xml" Id="R120179c3833f461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3aa0d4476654f40" /><Relationship Type="http://schemas.openxmlformats.org/officeDocument/2006/relationships/notesSlide" Target="/ppt/notesSlides/notesSlide40.xml" Id="R317f04ec44b9415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fad39b575de4932" /><Relationship Type="http://schemas.openxmlformats.org/officeDocument/2006/relationships/notesSlide" Target="/ppt/notesSlides/notesSlide41.xml" Id="R44015f2aba2e486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d9ea7d36bf241cb" /><Relationship Type="http://schemas.openxmlformats.org/officeDocument/2006/relationships/notesSlide" Target="/ppt/notesSlides/notesSlide42.xml" Id="R48b33de57e774ec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72e3cffe1f664cb1" /><Relationship Type="http://schemas.openxmlformats.org/officeDocument/2006/relationships/notesSlide" Target="/ppt/notesSlides/notesSlide43.xml" Id="R7e82146cb8984d1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401ea704507415f" /><Relationship Type="http://schemas.openxmlformats.org/officeDocument/2006/relationships/notesSlide" Target="/ppt/notesSlides/notesSlide44.xml" Id="R4c8262da00c248a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fa3120775324a35" /><Relationship Type="http://schemas.openxmlformats.org/officeDocument/2006/relationships/notesSlide" Target="/ppt/notesSlides/notesSlide45.xml" Id="R32c1856606cf43a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f9d379f3325465f" /><Relationship Type="http://schemas.openxmlformats.org/officeDocument/2006/relationships/notesSlide" Target="/ppt/notesSlides/notesSlide46.xml" Id="R6d26547b7354413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a:solidFill>
                  <a:srgbClr val="FFFDFA"/>
                </a:solidFill>
                <a:latin typeface="DejaVu Sans"/>
                <a:ea typeface="DejaVu Sans"/>
                <a:cs typeface="DejaVu Sans"/>
              </a:rPr>
              <a:t>Energía por intento · w = e = 1</a:t>
            </a:r>
          </a:p>
        </c:rich>
      </c:tx>
      <c:overlay val="0"/>
      <c:txPr>
        <a:bodyPr xmlns:a="http://schemas.openxmlformats.org/drawingml/2006/main" anchorCtr="1"/>
        <a:lstStyle xmlns:a="http://schemas.openxmlformats.org/drawingml/2006/main"/>
        <a:p xmlns:a="http://schemas.openxmlformats.org/drawingml/2006/main">
          <a:pPr>
            <a:defRPr sz="1575">
              <a:solidFill>
                <a:srgbClr val="FFFDFA"/>
              </a:solidFill>
              <a:latin typeface="DejaVu Sans"/>
              <a:ea typeface="DejaVu Sans"/>
              <a:cs typeface="DejaVu Sans"/>
            </a:defRPr>
          </a:pPr>
        </a:p>
      </c:txPr>
    </c:title>
    <c:plotArea>
      <c:scatterChart>
        <c:scatterStyle val="line"/>
        <c:varyColors val="0"/>
        <c:ser>
          <c:idx val="0"/>
          <c:order val="0"/>
          <c:tx>
            <c:v>Wh / intento</c:v>
          </c:tx>
          <c:spPr>
            <a:ln xmlns:a="http://schemas.openxmlformats.org/drawingml/2006/main" w="28575">
              <a:solidFill>
                <a:srgbClr val="62D6C9"/>
              </a:solidFill>
              <a:prstDash val="solid"/>
            </a:ln>
          </c:spPr>
          <c:marker>
            <c:symbol val="none"/>
          </c:marker>
          <c:xVal>
            <c:numRef>
              <c:f>'Chart Data'!$A$2:$A$30</c:f>
              <c:numCache>
                <c:formatCode>General</c:formatCode>
                <c:ptCount val="29"/>
                <c:pt idx="0">
                  <c:v>0.3</c:v>
                </c:pt>
                <c:pt idx="1">
                  <c:v>0.45</c:v>
                </c:pt>
                <c:pt idx="2">
                  <c:v>0.6</c:v>
                </c:pt>
                <c:pt idx="3">
                  <c:v>0.75</c:v>
                </c:pt>
                <c:pt idx="4">
                  <c:v>0.9</c:v>
                </c:pt>
                <c:pt idx="5">
                  <c:v>1.05</c:v>
                </c:pt>
                <c:pt idx="6">
                  <c:v>1.2</c:v>
                </c:pt>
                <c:pt idx="7">
                  <c:v>1.35</c:v>
                </c:pt>
                <c:pt idx="8">
                  <c:v>1.5</c:v>
                </c:pt>
                <c:pt idx="9">
                  <c:v>1.65</c:v>
                </c:pt>
                <c:pt idx="10">
                  <c:v>1.8</c:v>
                </c:pt>
                <c:pt idx="11">
                  <c:v>1.95</c:v>
                </c:pt>
                <c:pt idx="12">
                  <c:v>2.1</c:v>
                </c:pt>
                <c:pt idx="13">
                  <c:v>2.25</c:v>
                </c:pt>
                <c:pt idx="14">
                  <c:v>2.4</c:v>
                </c:pt>
                <c:pt idx="15">
                  <c:v>2.55</c:v>
                </c:pt>
                <c:pt idx="16">
                  <c:v>2.7</c:v>
                </c:pt>
                <c:pt idx="17">
                  <c:v>2.85</c:v>
                </c:pt>
                <c:pt idx="18">
                  <c:v>3</c:v>
                </c:pt>
                <c:pt idx="19">
                  <c:v>3.15</c:v>
                </c:pt>
                <c:pt idx="20">
                  <c:v>3.3</c:v>
                </c:pt>
                <c:pt idx="21">
                  <c:v>3.45</c:v>
                </c:pt>
                <c:pt idx="22">
                  <c:v>3.6</c:v>
                </c:pt>
                <c:pt idx="23">
                  <c:v>3.75</c:v>
                </c:pt>
                <c:pt idx="24">
                  <c:v>3.9</c:v>
                </c:pt>
                <c:pt idx="25">
                  <c:v>4.05</c:v>
                </c:pt>
                <c:pt idx="26">
                  <c:v>4.2</c:v>
                </c:pt>
                <c:pt idx="27">
                  <c:v>4.35</c:v>
                </c:pt>
                <c:pt idx="28">
                  <c:v>4.5</c:v>
                </c:pt>
              </c:numCache>
            </c:numRef>
          </c:xVal>
          <c:yVal>
            <c:numRef>
              <c:f>'Chart Data'!$B$2:$B$30</c:f>
              <c:numCache>
                <c:formatCode>General</c:formatCode>
                <c:ptCount val="29"/>
                <c:pt idx="0">
                  <c:v>26.55555556</c:v>
                </c:pt>
                <c:pt idx="1">
                  <c:v>18.53703704</c:v>
                </c:pt>
                <c:pt idx="2">
                  <c:v>14.77777778</c:v>
                </c:pt>
                <c:pt idx="3">
                  <c:v>12.72222222</c:v>
                </c:pt>
                <c:pt idx="4">
                  <c:v>11.51851852</c:v>
                </c:pt>
                <c:pt idx="5">
                  <c:v>10.8015873</c:v>
                </c:pt>
                <c:pt idx="6">
                  <c:v>10.38888889</c:v>
                </c:pt>
                <c:pt idx="7">
                  <c:v>10.17901235</c:v>
                </c:pt>
                <c:pt idx="8">
                  <c:v>10.11111111</c:v>
                </c:pt>
                <c:pt idx="9">
                  <c:v>10.14646465</c:v>
                </c:pt>
                <c:pt idx="10">
                  <c:v>10.25925926</c:v>
                </c:pt>
                <c:pt idx="11">
                  <c:v>10.43162393</c:v>
                </c:pt>
                <c:pt idx="12">
                  <c:v>10.65079365</c:v>
                </c:pt>
                <c:pt idx="13">
                  <c:v>10.90740741</c:v>
                </c:pt>
                <c:pt idx="14">
                  <c:v>11.19444444</c:v>
                </c:pt>
                <c:pt idx="15">
                  <c:v>11.50653595</c:v>
                </c:pt>
                <c:pt idx="16">
                  <c:v>11.83950617</c:v>
                </c:pt>
                <c:pt idx="17">
                  <c:v>12.19005848</c:v>
                </c:pt>
                <c:pt idx="18">
                  <c:v>12.55555556</c:v>
                </c:pt>
                <c:pt idx="19">
                  <c:v>12.93386243</c:v>
                </c:pt>
                <c:pt idx="20">
                  <c:v>13.32323232</c:v>
                </c:pt>
                <c:pt idx="21">
                  <c:v>13.72222222</c:v>
                </c:pt>
                <c:pt idx="22">
                  <c:v>14.12962963</c:v>
                </c:pt>
                <c:pt idx="23">
                  <c:v>14.54444444</c:v>
                </c:pt>
                <c:pt idx="24">
                  <c:v>14.96581197</c:v>
                </c:pt>
                <c:pt idx="25">
                  <c:v>15.39300412</c:v>
                </c:pt>
                <c:pt idx="26">
                  <c:v>15.82539683</c:v>
                </c:pt>
                <c:pt idx="27">
                  <c:v>16.26245211</c:v>
                </c:pt>
                <c:pt idx="28">
                  <c:v>16.7037037</c:v>
                </c:pt>
              </c:numCache>
            </c:numRef>
          </c:yVal>
        </c:ser>
        <c:axId val="48650112"/>
        <c:axId val="48672768"/>
      </c:scatterChart>
      <c:valAx>
        <c:axId val="48672768"/>
        <c:scaling>
          <c:orientation val="minMax"/>
          <c:max val="30"/>
          <c:min val="0"/>
        </c:scaling>
        <c:delete val="0"/>
        <c:axPos val="l"/>
        <c:majorGridlines>
          <c:spPr>
            <a:ln xmlns:a="http://schemas.openxmlformats.org/drawingml/2006/main" w="9525">
              <a:solidFill>
                <a:srgbClr val="CCD8D6"/>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FFFDFA"/>
                    </a:solidFill>
                    <a:latin typeface="DejaVu Sans"/>
                    <a:ea typeface="DejaVu Sans"/>
                    <a:cs typeface="DejaVu Sans"/>
                  </a:rPr>
                  <a:t>Wh</a:t>
                </a:r>
              </a:p>
            </c:rich>
          </c:tx>
          <c:overlay val="0"/>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crossAx val="48650112"/>
      </c:valAx>
      <c:valAx>
        <c:axId val="48650112"/>
        <c:scaling>
          <c:orientation val="minMax"/>
          <c:max val="4.5"/>
          <c:min val="0"/>
        </c:scaling>
        <c:delete val="0"/>
        <c:axPos val="b"/>
        <c:title>
          <c:tx>
            <c:rich>
              <a:bodyPr xmlns:a="http://schemas.openxmlformats.org/drawingml/2006/main"/>
              <a:lstStyle xmlns:a="http://schemas.openxmlformats.org/drawingml/2006/main"/>
              <a:p xmlns:a="http://schemas.openxmlformats.org/drawingml/2006/main">
                <a:r>
                  <a:rPr sz="1200">
                    <a:solidFill>
                      <a:srgbClr val="FFFDFA"/>
                    </a:solidFill>
                    <a:latin typeface="DejaVu Sans"/>
                    <a:ea typeface="DejaVu Sans"/>
                    <a:cs typeface="DejaVu Sans"/>
                  </a:rPr>
                  <a:t>Velocidad s</a:t>
                </a:r>
              </a:p>
            </c:rich>
          </c:tx>
          <c:overlay val="0"/>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crossAx val="48672768"/>
      </c:valAx>
      <c:spPr>
        <a:solidFill xmlns:a="http://schemas.openxmlformats.org/drawingml/2006/main">
          <a:srgbClr val="071923"/>
        </a:solidFill>
      </c:spPr>
    </c:plotArea>
    <c:plotVisOnly val="1"/>
  </c:chart>
  <c:spPr>
    <a:solidFill xmlns:a="http://schemas.openxmlformats.org/drawingml/2006/main">
      <a:srgbClr val="071923"/>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30B198-252F-4B58-BEB4-E871117CA49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lsm24gnq5m">
            <a:extLst xmlns:a="http://schemas.openxmlformats.org/drawingml/2006/main">
              <a:ext uri="{FF2B5EF4-FFF2-40B4-BE49-F238E27FC236}">
                <a16:creationId xmlns:a16="http://schemas.microsoft.com/office/drawing/2014/main" id="{E95609E2-B444-4E0E-BBCE-4729CE31FD3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
            <a:extLst xmlns:a="http://schemas.openxmlformats.org/drawingml/2006/main">
              <a:ext uri="{FF2B5EF4-FFF2-40B4-BE49-F238E27FC236}">
                <a16:creationId xmlns:a16="http://schemas.microsoft.com/office/drawing/2014/main" id="{2C95CC20-0B5B-42E6-BB33-86BB8D77448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4" name="text-uk8bdqzois9">
            <a:extLst xmlns:a="http://schemas.openxmlformats.org/drawingml/2006/main">
              <a:ext uri="{FF2B5EF4-FFF2-40B4-BE49-F238E27FC236}">
                <a16:creationId xmlns:a16="http://schemas.microsoft.com/office/drawing/2014/main" id="{0E69FC0A-9AB8-45CD-84F7-422EE4F714D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Sergio Gevatschnaider</a:t>
            </a:r>
          </a:p>
        </p:txBody>
      </p:sp>
      <p:sp>
        <p:nvSpPr>
          <p:cNvPr id="5" name="text-wmp9mnesedn">
            <a:extLst xmlns:a="http://schemas.openxmlformats.org/drawingml/2006/main">
              <a:ext uri="{FF2B5EF4-FFF2-40B4-BE49-F238E27FC236}">
                <a16:creationId xmlns:a16="http://schemas.microsoft.com/office/drawing/2014/main" id="{89C80FA7-497B-48DA-85BB-D134F26D69E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01</a:t>
            </a:r>
          </a:p>
        </p:txBody>
      </p:sp>
      <p:pic>
        <p:nvPicPr>
          <p:cNvPr id="6" name="">
            <a:extLst xmlns:a="http://schemas.openxmlformats.org/drawingml/2006/main">
              <a:ext uri="{FF2B5EF4-FFF2-40B4-BE49-F238E27FC236}">
                <a16:creationId xmlns:a16="http://schemas.microsoft.com/office/drawing/2014/main" id="{5C4612EB-0869-402A-B86A-0D99CA961D56}"/>
              </a:ext>
            </a:extLst>
          </p:cNvPr>
          <p:cNvPicPr>
            <a:picLocks xmlns:a="http://schemas.openxmlformats.org/drawingml/2006/main" noChangeAspect="1"/>
          </p:cNvPicPr>
          <p:nvPr/>
        </p:nvPicPr>
        <p:blipFill>
          <a:blip xmlns:r="http://schemas.openxmlformats.org/officeDocument/2006/relationships" xmlns:a="http://schemas.openxmlformats.org/drawingml/2006/main" r:embed="R726999d18f3c4bd1"/>
          <a:srcRect xmlns:a="http://schemas.openxmlformats.org/drawingml/2006/main" l="46500" t="0" r="0" b="0"/>
          <a:stretch xmlns:a="http://schemas.openxmlformats.org/drawingml/2006/main"/>
        </p:blipFill>
        <p:spPr>
          <a:xfrm xmlns:a="http://schemas.openxmlformats.org/drawingml/2006/main">
            <a:off x="6334125" y="0"/>
            <a:ext cx="5857875" cy="6191250"/>
          </a:xfrm>
          <a:prstGeom xmlns:a="http://schemas.openxmlformats.org/drawingml/2006/main" prst="rect">
            <a:avLst/>
          </a:prstGeom>
        </p:spPr>
      </p:pic>
      <p:sp>
        <p:nvSpPr>
          <p:cNvPr id="7" name="text-9916w3w4lj8">
            <a:extLst xmlns:a="http://schemas.openxmlformats.org/drawingml/2006/main">
              <a:ext uri="{FF2B5EF4-FFF2-40B4-BE49-F238E27FC236}">
                <a16:creationId xmlns:a16="http://schemas.microsoft.com/office/drawing/2014/main" id="{4133FCB3-64A2-47C6-9C95-AEEE39D630A8}"/>
              </a:ext>
            </a:extLst>
          </p:cNvPr>
          <p:cNvSpPr>
            <a:spLocks xmlns:a="http://schemas.openxmlformats.org/drawingml/2006/main" noGrp="1"/>
          </p:cNvSpPr>
          <p:nvPr/>
        </p:nvSpPr>
        <p:spPr>
          <a:xfrm xmlns:a="http://schemas.openxmlformats.org/drawingml/2006/main">
            <a:off x="609600" y="1181100"/>
            <a:ext cx="542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FFFDFA"/>
                </a:solidFill>
                <a:latin typeface="DejaVu Sans"/>
                <a:ea typeface="DejaVu Sans"/>
                <a:cs typeface="DejaVu Sans"/>
              </a:defRPr>
            </a:defPPr>
            <a:lvl1pPr algn="l">
              <a:defRPr sz="3675" b="1">
                <a:solidFill>
                  <a:srgbClr val="FFFDFA"/>
                </a:solidFill>
                <a:latin typeface="DejaVu Sans"/>
                <a:ea typeface="DejaVu Sans"/>
                <a:cs typeface="DejaVu Sans"/>
              </a:defRPr>
            </a:lvl1pPr>
            <a:lvl2pPr algn="l">
              <a:defRPr sz="3675" b="1">
                <a:solidFill>
                  <a:srgbClr val="FFFDFA"/>
                </a:solidFill>
                <a:latin typeface="DejaVu Sans"/>
                <a:ea typeface="DejaVu Sans"/>
                <a:cs typeface="DejaVu Sans"/>
              </a:defRPr>
            </a:lvl2pPr>
            <a:lvl3pPr algn="l">
              <a:defRPr sz="3675" b="1">
                <a:solidFill>
                  <a:srgbClr val="FFFDFA"/>
                </a:solidFill>
                <a:latin typeface="DejaVu Sans"/>
                <a:ea typeface="DejaVu Sans"/>
                <a:cs typeface="DejaVu Sans"/>
              </a:defRPr>
            </a:lvl3pPr>
            <a:lvl4pPr algn="l">
              <a:defRPr sz="3675" b="1">
                <a:solidFill>
                  <a:srgbClr val="FFFDFA"/>
                </a:solidFill>
                <a:latin typeface="DejaVu Sans"/>
                <a:ea typeface="DejaVu Sans"/>
                <a:cs typeface="DejaVu Sans"/>
              </a:defRPr>
            </a:lvl4pPr>
            <a:lvl5pPr algn="l">
              <a:defRPr sz="3675" b="1">
                <a:solidFill>
                  <a:srgbClr val="FFFDFA"/>
                </a:solidFill>
                <a:latin typeface="DejaVu Sans"/>
                <a:ea typeface="DejaVu Sans"/>
                <a:cs typeface="DejaVu Sans"/>
              </a:defRPr>
            </a:lvl5pPr>
            <a:lvl6pPr algn="l">
              <a:defRPr sz="3675" b="1">
                <a:solidFill>
                  <a:srgbClr val="FFFDFA"/>
                </a:solidFill>
                <a:latin typeface="DejaVu Sans"/>
                <a:ea typeface="DejaVu Sans"/>
                <a:cs typeface="DejaVu Sans"/>
              </a:defRPr>
            </a:lvl6pPr>
            <a:lvl7pPr algn="l">
              <a:defRPr sz="3675" b="1">
                <a:solidFill>
                  <a:srgbClr val="FFFDFA"/>
                </a:solidFill>
                <a:latin typeface="DejaVu Sans"/>
                <a:ea typeface="DejaVu Sans"/>
                <a:cs typeface="DejaVu Sans"/>
              </a:defRPr>
            </a:lvl7pPr>
            <a:lvl8pPr algn="l">
              <a:defRPr sz="3675" b="1">
                <a:solidFill>
                  <a:srgbClr val="FFFDFA"/>
                </a:solidFill>
                <a:latin typeface="DejaVu Sans"/>
                <a:ea typeface="DejaVu Sans"/>
                <a:cs typeface="DejaVu Sans"/>
              </a:defRPr>
            </a:lvl8pPr>
            <a:lvl9pPr algn="l">
              <a:defRPr sz="3675" b="1">
                <a:solidFill>
                  <a:srgbClr val="FFFDFA"/>
                </a:solidFill>
                <a:latin typeface="DejaVu Sans"/>
                <a:ea typeface="DejaVu Sans"/>
                <a:cs typeface="DejaVu Sans"/>
              </a:defRPr>
            </a:lvl9pPr>
          </a:lstStyle>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De los modelos</a:t>
            </a:r>
          </a:p>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a los agentes y robots</a:t>
            </a:r>
          </a:p>
        </p:txBody>
      </p:sp>
      <p:sp>
        <p:nvSpPr>
          <p:cNvPr id="8" name="text-jpor0003ogn">
            <a:extLst xmlns:a="http://schemas.openxmlformats.org/drawingml/2006/main">
              <a:ext uri="{FF2B5EF4-FFF2-40B4-BE49-F238E27FC236}">
                <a16:creationId xmlns:a16="http://schemas.microsoft.com/office/drawing/2014/main" id="{AEC9F98B-37A1-4161-90A0-8E017E6F353A}"/>
              </a:ext>
            </a:extLst>
          </p:cNvPr>
          <p:cNvSpPr>
            <a:spLocks xmlns:a="http://schemas.openxmlformats.org/drawingml/2006/main" noGrp="1"/>
          </p:cNvSpPr>
          <p:nvPr/>
        </p:nvSpPr>
        <p:spPr>
          <a:xfrm xmlns:a="http://schemas.openxmlformats.org/drawingml/2006/main">
            <a:off x="609600" y="321945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BED0D5"/>
                </a:solidFill>
                <a:latin typeface="DejaVu Sans"/>
                <a:ea typeface="DejaVu Sans"/>
                <a:cs typeface="DejaVu Sans"/>
              </a:defRPr>
            </a:defPPr>
            <a:lvl1pPr algn="l">
              <a:defRPr sz="1800" b="0">
                <a:solidFill>
                  <a:srgbClr val="BED0D5"/>
                </a:solidFill>
                <a:latin typeface="DejaVu Sans"/>
                <a:ea typeface="DejaVu Sans"/>
                <a:cs typeface="DejaVu Sans"/>
              </a:defRPr>
            </a:lvl1pPr>
            <a:lvl2pPr algn="l">
              <a:defRPr sz="1800" b="0">
                <a:solidFill>
                  <a:srgbClr val="BED0D5"/>
                </a:solidFill>
                <a:latin typeface="DejaVu Sans"/>
                <a:ea typeface="DejaVu Sans"/>
                <a:cs typeface="DejaVu Sans"/>
              </a:defRPr>
            </a:lvl2pPr>
            <a:lvl3pPr algn="l">
              <a:defRPr sz="1800" b="0">
                <a:solidFill>
                  <a:srgbClr val="BED0D5"/>
                </a:solidFill>
                <a:latin typeface="DejaVu Sans"/>
                <a:ea typeface="DejaVu Sans"/>
                <a:cs typeface="DejaVu Sans"/>
              </a:defRPr>
            </a:lvl3pPr>
            <a:lvl4pPr algn="l">
              <a:defRPr sz="1800" b="0">
                <a:solidFill>
                  <a:srgbClr val="BED0D5"/>
                </a:solidFill>
                <a:latin typeface="DejaVu Sans"/>
                <a:ea typeface="DejaVu Sans"/>
                <a:cs typeface="DejaVu Sans"/>
              </a:defRPr>
            </a:lvl4pPr>
            <a:lvl5pPr algn="l">
              <a:defRPr sz="1800" b="0">
                <a:solidFill>
                  <a:srgbClr val="BED0D5"/>
                </a:solidFill>
                <a:latin typeface="DejaVu Sans"/>
                <a:ea typeface="DejaVu Sans"/>
                <a:cs typeface="DejaVu Sans"/>
              </a:defRPr>
            </a:lvl5pPr>
            <a:lvl6pPr algn="l">
              <a:defRPr sz="1800" b="0">
                <a:solidFill>
                  <a:srgbClr val="BED0D5"/>
                </a:solidFill>
                <a:latin typeface="DejaVu Sans"/>
                <a:ea typeface="DejaVu Sans"/>
                <a:cs typeface="DejaVu Sans"/>
              </a:defRPr>
            </a:lvl6pPr>
            <a:lvl7pPr algn="l">
              <a:defRPr sz="1800" b="0">
                <a:solidFill>
                  <a:srgbClr val="BED0D5"/>
                </a:solidFill>
                <a:latin typeface="DejaVu Sans"/>
                <a:ea typeface="DejaVu Sans"/>
                <a:cs typeface="DejaVu Sans"/>
              </a:defRPr>
            </a:lvl7pPr>
            <a:lvl8pPr algn="l">
              <a:defRPr sz="1800" b="0">
                <a:solidFill>
                  <a:srgbClr val="BED0D5"/>
                </a:solidFill>
                <a:latin typeface="DejaVu Sans"/>
                <a:ea typeface="DejaVu Sans"/>
                <a:cs typeface="DejaVu Sans"/>
              </a:defRPr>
            </a:lvl8pPr>
            <a:lvl9pPr algn="l">
              <a:defRPr sz="1800" b="0">
                <a:solidFill>
                  <a:srgbClr val="BED0D5"/>
                </a:solidFill>
                <a:latin typeface="DejaVu Sans"/>
                <a:ea typeface="DejaVu Sans"/>
                <a:cs typeface="DejaVu Sans"/>
              </a:defRPr>
            </a:lvl9pPr>
          </a:lstStyle>
          <a:p xmlns:a="http://schemas.openxmlformats.org/drawingml/2006/main">
            <a:pPr algn="l">
              <a:lnSpc>
                <a:spcPct val="112000"/>
              </a:lnSpc>
              <a:buNone/>
              <a:defRPr sz="1800" b="0">
                <a:solidFill>
                  <a:srgbClr val="BED0D5"/>
                </a:solidFill>
                <a:latin typeface="DejaVu Sans"/>
                <a:ea typeface="DejaVu Sans"/>
                <a:cs typeface="DejaVu Sans"/>
              </a:defRPr>
            </a:pPr>
            <a:r>
              <a:rPr sz="1800" b="0">
                <a:solidFill>
                  <a:srgbClr val="BED0D5"/>
                </a:solidFill>
                <a:latin typeface="DejaVu Sans"/>
                <a:ea typeface="DejaVu Sans"/>
                <a:cs typeface="DejaVu Sans"/>
              </a:rPr>
              <a:t>China tecnológica · Clase 2 · Sistemas inteligentes y organización productiva.</a:t>
            </a:r>
          </a:p>
        </p:txBody>
      </p:sp>
      <p:sp>
        <p:nvSpPr>
          <p:cNvPr id="9" name="">
            <a:extLst xmlns:a="http://schemas.openxmlformats.org/drawingml/2006/main">
              <a:ext uri="{FF2B5EF4-FFF2-40B4-BE49-F238E27FC236}">
                <a16:creationId xmlns:a16="http://schemas.microsoft.com/office/drawing/2014/main" id="{12700980-A7B0-4973-9FFB-6B3E95790B18}"/>
              </a:ext>
            </a:extLst>
          </p:cNvPr>
          <p:cNvSpPr>
            <a:spLocks xmlns:a="http://schemas.openxmlformats.org/drawingml/2006/main" noGrp="1"/>
          </p:cNvSpPr>
          <p:nvPr/>
        </p:nvSpPr>
        <p:spPr>
          <a:xfrm xmlns:a="http://schemas.openxmlformats.org/drawingml/2006/main">
            <a:off x="609600" y="4572000"/>
            <a:ext cx="762000" cy="3810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ladqig3ge9">
            <a:extLst xmlns:a="http://schemas.openxmlformats.org/drawingml/2006/main">
              <a:ext uri="{FF2B5EF4-FFF2-40B4-BE49-F238E27FC236}">
                <a16:creationId xmlns:a16="http://schemas.microsoft.com/office/drawing/2014/main" id="{23339392-378A-4E07-BFCC-FAA367C68009}"/>
              </a:ext>
            </a:extLst>
          </p:cNvPr>
          <p:cNvSpPr>
            <a:spLocks xmlns:a="http://schemas.openxmlformats.org/drawingml/2006/main" noGrp="1"/>
          </p:cNvSpPr>
          <p:nvPr/>
        </p:nvSpPr>
        <p:spPr>
          <a:xfrm xmlns:a="http://schemas.openxmlformats.org/drawingml/2006/main">
            <a:off x="609600" y="4867275"/>
            <a:ext cx="5429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BED0D5"/>
                </a:solidFill>
                <a:latin typeface="DejaVu Sans"/>
                <a:ea typeface="DejaVu Sans"/>
                <a:cs typeface="DejaVu Sans"/>
              </a:defRPr>
            </a:defPPr>
            <a:lvl1pPr algn="l">
              <a:defRPr sz="1500" b="0">
                <a:solidFill>
                  <a:srgbClr val="BED0D5"/>
                </a:solidFill>
                <a:latin typeface="DejaVu Sans"/>
                <a:ea typeface="DejaVu Sans"/>
                <a:cs typeface="DejaVu Sans"/>
              </a:defRPr>
            </a:lvl1pPr>
            <a:lvl2pPr algn="l">
              <a:defRPr sz="1500" b="0">
                <a:solidFill>
                  <a:srgbClr val="BED0D5"/>
                </a:solidFill>
                <a:latin typeface="DejaVu Sans"/>
                <a:ea typeface="DejaVu Sans"/>
                <a:cs typeface="DejaVu Sans"/>
              </a:defRPr>
            </a:lvl2pPr>
            <a:lvl3pPr algn="l">
              <a:defRPr sz="1500" b="0">
                <a:solidFill>
                  <a:srgbClr val="BED0D5"/>
                </a:solidFill>
                <a:latin typeface="DejaVu Sans"/>
                <a:ea typeface="DejaVu Sans"/>
                <a:cs typeface="DejaVu Sans"/>
              </a:defRPr>
            </a:lvl3pPr>
            <a:lvl4pPr algn="l">
              <a:defRPr sz="1500" b="0">
                <a:solidFill>
                  <a:srgbClr val="BED0D5"/>
                </a:solidFill>
                <a:latin typeface="DejaVu Sans"/>
                <a:ea typeface="DejaVu Sans"/>
                <a:cs typeface="DejaVu Sans"/>
              </a:defRPr>
            </a:lvl4pPr>
            <a:lvl5pPr algn="l">
              <a:defRPr sz="1500" b="0">
                <a:solidFill>
                  <a:srgbClr val="BED0D5"/>
                </a:solidFill>
                <a:latin typeface="DejaVu Sans"/>
                <a:ea typeface="DejaVu Sans"/>
                <a:cs typeface="DejaVu Sans"/>
              </a:defRPr>
            </a:lvl5pPr>
            <a:lvl6pPr algn="l">
              <a:defRPr sz="1500" b="0">
                <a:solidFill>
                  <a:srgbClr val="BED0D5"/>
                </a:solidFill>
                <a:latin typeface="DejaVu Sans"/>
                <a:ea typeface="DejaVu Sans"/>
                <a:cs typeface="DejaVu Sans"/>
              </a:defRPr>
            </a:lvl6pPr>
            <a:lvl7pPr algn="l">
              <a:defRPr sz="1500" b="0">
                <a:solidFill>
                  <a:srgbClr val="BED0D5"/>
                </a:solidFill>
                <a:latin typeface="DejaVu Sans"/>
                <a:ea typeface="DejaVu Sans"/>
                <a:cs typeface="DejaVu Sans"/>
              </a:defRPr>
            </a:lvl7pPr>
            <a:lvl8pPr algn="l">
              <a:defRPr sz="1500" b="0">
                <a:solidFill>
                  <a:srgbClr val="BED0D5"/>
                </a:solidFill>
                <a:latin typeface="DejaVu Sans"/>
                <a:ea typeface="DejaVu Sans"/>
                <a:cs typeface="DejaVu Sans"/>
              </a:defRPr>
            </a:lvl8pPr>
            <a:lvl9pPr algn="l">
              <a:defRPr sz="1500" b="0">
                <a:solidFill>
                  <a:srgbClr val="BED0D5"/>
                </a:solidFill>
                <a:latin typeface="DejaVu Sans"/>
                <a:ea typeface="DejaVu Sans"/>
                <a:cs typeface="DejaVu Sans"/>
              </a:defRPr>
            </a:lvl9pPr>
          </a:lstStyle>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Sergio Gevatschnaider</a:t>
            </a:r>
          </a:p>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Instituto Confucio UBA · 27 octubre 2026</a:t>
            </a:r>
          </a:p>
        </p:txBody>
      </p:sp>
      <p:sp>
        <p:nvSpPr>
          <p:cNvPr id="11" name="text-4102rcueskc">
            <a:extLst xmlns:a="http://schemas.openxmlformats.org/drawingml/2006/main">
              <a:ext uri="{FF2B5EF4-FFF2-40B4-BE49-F238E27FC236}">
                <a16:creationId xmlns:a16="http://schemas.microsoft.com/office/drawing/2014/main" id="{9DE25B0C-6E00-4567-A952-B0121D87D6E9}"/>
              </a:ext>
            </a:extLst>
          </p:cNvPr>
          <p:cNvSpPr>
            <a:spLocks xmlns:a="http://schemas.openxmlformats.org/drawingml/2006/main" noGrp="1"/>
          </p:cNvSpPr>
          <p:nvPr/>
        </p:nvSpPr>
        <p:spPr>
          <a:xfrm xmlns:a="http://schemas.openxmlformats.org/drawingml/2006/main">
            <a:off x="6524625" y="58578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BED0D5"/>
                </a:solidFill>
                <a:latin typeface="DejaVu Sans"/>
                <a:ea typeface="DejaVu Sans"/>
                <a:cs typeface="DejaVu Sans"/>
              </a:defRPr>
            </a:defPPr>
            <a:lvl1pPr algn="l">
              <a:defRPr sz="900" b="0">
                <a:solidFill>
                  <a:srgbClr val="BED0D5"/>
                </a:solidFill>
                <a:latin typeface="DejaVu Sans"/>
                <a:ea typeface="DejaVu Sans"/>
                <a:cs typeface="DejaVu Sans"/>
              </a:defRPr>
            </a:lvl1pPr>
            <a:lvl2pPr algn="l">
              <a:defRPr sz="900" b="0">
                <a:solidFill>
                  <a:srgbClr val="BED0D5"/>
                </a:solidFill>
                <a:latin typeface="DejaVu Sans"/>
                <a:ea typeface="DejaVu Sans"/>
                <a:cs typeface="DejaVu Sans"/>
              </a:defRPr>
            </a:lvl2pPr>
            <a:lvl3pPr algn="l">
              <a:defRPr sz="900" b="0">
                <a:solidFill>
                  <a:srgbClr val="BED0D5"/>
                </a:solidFill>
                <a:latin typeface="DejaVu Sans"/>
                <a:ea typeface="DejaVu Sans"/>
                <a:cs typeface="DejaVu Sans"/>
              </a:defRPr>
            </a:lvl3pPr>
            <a:lvl4pPr algn="l">
              <a:defRPr sz="900" b="0">
                <a:solidFill>
                  <a:srgbClr val="BED0D5"/>
                </a:solidFill>
                <a:latin typeface="DejaVu Sans"/>
                <a:ea typeface="DejaVu Sans"/>
                <a:cs typeface="DejaVu Sans"/>
              </a:defRPr>
            </a:lvl4pPr>
            <a:lvl5pPr algn="l">
              <a:defRPr sz="900" b="0">
                <a:solidFill>
                  <a:srgbClr val="BED0D5"/>
                </a:solidFill>
                <a:latin typeface="DejaVu Sans"/>
                <a:ea typeface="DejaVu Sans"/>
                <a:cs typeface="DejaVu Sans"/>
              </a:defRPr>
            </a:lvl5pPr>
            <a:lvl6pPr algn="l">
              <a:defRPr sz="900" b="0">
                <a:solidFill>
                  <a:srgbClr val="BED0D5"/>
                </a:solidFill>
                <a:latin typeface="DejaVu Sans"/>
                <a:ea typeface="DejaVu Sans"/>
                <a:cs typeface="DejaVu Sans"/>
              </a:defRPr>
            </a:lvl6pPr>
            <a:lvl7pPr algn="l">
              <a:defRPr sz="900" b="0">
                <a:solidFill>
                  <a:srgbClr val="BED0D5"/>
                </a:solidFill>
                <a:latin typeface="DejaVu Sans"/>
                <a:ea typeface="DejaVu Sans"/>
                <a:cs typeface="DejaVu Sans"/>
              </a:defRPr>
            </a:lvl7pPr>
            <a:lvl8pPr algn="l">
              <a:defRPr sz="900" b="0">
                <a:solidFill>
                  <a:srgbClr val="BED0D5"/>
                </a:solidFill>
                <a:latin typeface="DejaVu Sans"/>
                <a:ea typeface="DejaVu Sans"/>
                <a:cs typeface="DejaVu Sans"/>
              </a:defRPr>
            </a:lvl8pPr>
            <a:lvl9pPr algn="l">
              <a:defRPr sz="900" b="0">
                <a:solidFill>
                  <a:srgbClr val="BED0D5"/>
                </a:solidFill>
                <a:latin typeface="DejaVu Sans"/>
                <a:ea typeface="DejaVu Sans"/>
                <a:cs typeface="DejaVu Sans"/>
              </a:defRPr>
            </a:lvl9pPr>
          </a:lstStyle>
          <a:p xmlns:a="http://schemas.openxmlformats.org/drawingml/2006/main">
            <a:pPr algn="l">
              <a:lnSpc>
                <a:spcPct val="112000"/>
              </a:lnSpc>
              <a:buNone/>
              <a:defRPr sz="900" b="0">
                <a:solidFill>
                  <a:srgbClr val="BED0D5"/>
                </a:solidFill>
                <a:latin typeface="DejaVu Sans"/>
                <a:ea typeface="DejaVu Sans"/>
                <a:cs typeface="DejaVu Sans"/>
              </a:defRPr>
            </a:pPr>
            <a:r>
              <a:rPr sz="900" b="0">
                <a:solidFill>
                  <a:srgbClr val="BED0D5"/>
                </a:solidFill>
                <a:latin typeface="DejaVu Sans"/>
                <a:ea typeface="DejaVu Sans"/>
                <a:cs typeface="DejaVu Sans"/>
              </a:rPr>
              <a:t>ILUSTRACIÓN CONCEPTUAL</a:t>
            </a:r>
          </a:p>
        </p:txBody>
      </p:sp>
    </p:spTree>
    <p:extLst>
      <p:ext uri="{BB962C8B-B14F-4D97-AF65-F5344CB8AC3E}">
        <p14:creationId xmlns:p14="http://schemas.microsoft.com/office/powerpoint/2010/main" val="2053052960"/>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F78DB24-9C97-4C81-84AE-7217AFEBAB4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5f7eenr4an2">
            <a:extLst xmlns:a="http://schemas.openxmlformats.org/drawingml/2006/main">
              <a:ext uri="{FF2B5EF4-FFF2-40B4-BE49-F238E27FC236}">
                <a16:creationId xmlns:a16="http://schemas.microsoft.com/office/drawing/2014/main" id="{A24DCA54-2C53-4D9D-BC6F-39D34A13EE76}"/>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7ek0bjk15ip">
            <a:extLst xmlns:a="http://schemas.openxmlformats.org/drawingml/2006/main">
              <a:ext uri="{FF2B5EF4-FFF2-40B4-BE49-F238E27FC236}">
                <a16:creationId xmlns:a16="http://schemas.microsoft.com/office/drawing/2014/main" id="{3EE45D5F-E997-4CEE-83FF-52A096DA621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clase conecta capacidad técnica con resultados</a:t>
            </a:r>
          </a:p>
        </p:txBody>
      </p:sp>
      <p:sp>
        <p:nvSpPr>
          <p:cNvPr id="4" name="text-sdtztbjmp7">
            <a:extLst xmlns:a="http://schemas.openxmlformats.org/drawingml/2006/main">
              <a:ext uri="{FF2B5EF4-FFF2-40B4-BE49-F238E27FC236}">
                <a16:creationId xmlns:a16="http://schemas.microsoft.com/office/drawing/2014/main" id="{217E74E3-C500-43AA-8BFE-F36003A695F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Ruta central de 60 minutos y ampliaciones para lectura posterior.</a:t>
            </a:r>
          </a:p>
        </p:txBody>
      </p:sp>
      <p:sp>
        <p:nvSpPr>
          <p:cNvPr id="5" name="">
            <a:extLst xmlns:a="http://schemas.openxmlformats.org/drawingml/2006/main">
              <a:ext uri="{FF2B5EF4-FFF2-40B4-BE49-F238E27FC236}">
                <a16:creationId xmlns:a16="http://schemas.microsoft.com/office/drawing/2014/main" id="{1D097AB5-BAF4-4FE6-B8CA-4703AE194D1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dioxqh4zt7j">
            <a:extLst xmlns:a="http://schemas.openxmlformats.org/drawingml/2006/main">
              <a:ext uri="{FF2B5EF4-FFF2-40B4-BE49-F238E27FC236}">
                <a16:creationId xmlns:a16="http://schemas.microsoft.com/office/drawing/2014/main" id="{21DF4BF5-A3F7-4986-AF2D-C8A0F294CC78}"/>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01rrbkj7uf95">
            <a:extLst xmlns:a="http://schemas.openxmlformats.org/drawingml/2006/main">
              <a:ext uri="{FF2B5EF4-FFF2-40B4-BE49-F238E27FC236}">
                <a16:creationId xmlns:a16="http://schemas.microsoft.com/office/drawing/2014/main" id="{3CBCE104-DFB5-45EE-BCCE-2DB7D402A97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02</a:t>
            </a:r>
          </a:p>
        </p:txBody>
      </p:sp>
      <p:sp>
        <p:nvSpPr>
          <p:cNvPr id="8" name="text-rr0pfa04sq">
            <a:extLst xmlns:a="http://schemas.openxmlformats.org/drawingml/2006/main">
              <a:ext uri="{FF2B5EF4-FFF2-40B4-BE49-F238E27FC236}">
                <a16:creationId xmlns:a16="http://schemas.microsoft.com/office/drawing/2014/main" id="{C107FEE0-E896-422E-B273-10089BA1311B}"/>
              </a:ext>
            </a:extLst>
          </p:cNvPr>
          <p:cNvSpPr>
            <a:spLocks xmlns:a="http://schemas.openxmlformats.org/drawingml/2006/main" noGrp="1"/>
          </p:cNvSpPr>
          <p:nvPr/>
        </p:nvSpPr>
        <p:spPr>
          <a:xfrm xmlns:a="http://schemas.openxmlformats.org/drawingml/2006/main">
            <a:off x="628650" y="262890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9uykyi3lzom">
            <a:extLst xmlns:a="http://schemas.openxmlformats.org/drawingml/2006/main">
              <a:ext uri="{FF2B5EF4-FFF2-40B4-BE49-F238E27FC236}">
                <a16:creationId xmlns:a16="http://schemas.microsoft.com/office/drawing/2014/main" id="{8928915B-C6FE-47BA-BA4C-1B3F2036AC0C}"/>
              </a:ext>
            </a:extLst>
          </p:cNvPr>
          <p:cNvSpPr>
            <a:spLocks xmlns:a="http://schemas.openxmlformats.org/drawingml/2006/main" noGrp="1"/>
          </p:cNvSpPr>
          <p:nvPr/>
        </p:nvSpPr>
        <p:spPr>
          <a:xfrm xmlns:a="http://schemas.openxmlformats.org/drawingml/2006/main">
            <a:off x="1238250" y="261937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Fundamentos · 8 min</a:t>
            </a:r>
          </a:p>
        </p:txBody>
      </p:sp>
      <p:sp>
        <p:nvSpPr>
          <p:cNvPr id="10" name="text-y7agwf7uc3">
            <a:extLst xmlns:a="http://schemas.openxmlformats.org/drawingml/2006/main">
              <a:ext uri="{FF2B5EF4-FFF2-40B4-BE49-F238E27FC236}">
                <a16:creationId xmlns:a16="http://schemas.microsoft.com/office/drawing/2014/main" id="{B269E441-78CD-4447-8E96-492A3FE780ED}"/>
              </a:ext>
            </a:extLst>
          </p:cNvPr>
          <p:cNvSpPr>
            <a:spLocks xmlns:a="http://schemas.openxmlformats.org/drawingml/2006/main" noGrp="1"/>
          </p:cNvSpPr>
          <p:nvPr/>
        </p:nvSpPr>
        <p:spPr>
          <a:xfrm xmlns:a="http://schemas.openxmlformats.org/drawingml/2006/main">
            <a:off x="4095750" y="261937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Agente, entorno y uso de herramientas.</a:t>
            </a:r>
          </a:p>
        </p:txBody>
      </p:sp>
      <p:sp>
        <p:nvSpPr>
          <p:cNvPr id="11" name="">
            <a:extLst xmlns:a="http://schemas.openxmlformats.org/drawingml/2006/main">
              <a:ext uri="{FF2B5EF4-FFF2-40B4-BE49-F238E27FC236}">
                <a16:creationId xmlns:a16="http://schemas.microsoft.com/office/drawing/2014/main" id="{A8086537-E4CF-4FA4-85E5-93051D333FEE}"/>
              </a:ext>
            </a:extLst>
          </p:cNvPr>
          <p:cNvSpPr>
            <a:spLocks xmlns:a="http://schemas.openxmlformats.org/drawingml/2006/main" noGrp="1"/>
          </p:cNvSpPr>
          <p:nvPr/>
        </p:nvSpPr>
        <p:spPr>
          <a:xfrm xmlns:a="http://schemas.openxmlformats.org/drawingml/2006/main">
            <a:off x="1238250" y="3204210"/>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0yzdobryx2pr">
            <a:extLst xmlns:a="http://schemas.openxmlformats.org/drawingml/2006/main">
              <a:ext uri="{FF2B5EF4-FFF2-40B4-BE49-F238E27FC236}">
                <a16:creationId xmlns:a16="http://schemas.microsoft.com/office/drawing/2014/main" id="{41AF163F-D6AC-4D52-9E22-BBCA1BBF89D5}"/>
              </a:ext>
            </a:extLst>
          </p:cNvPr>
          <p:cNvSpPr>
            <a:spLocks xmlns:a="http://schemas.openxmlformats.org/drawingml/2006/main" noGrp="1"/>
          </p:cNvSpPr>
          <p:nvPr/>
        </p:nvSpPr>
        <p:spPr>
          <a:xfrm xmlns:a="http://schemas.openxmlformats.org/drawingml/2006/main">
            <a:off x="628650" y="334708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zjtnrfk1cfs">
            <a:extLst xmlns:a="http://schemas.openxmlformats.org/drawingml/2006/main">
              <a:ext uri="{FF2B5EF4-FFF2-40B4-BE49-F238E27FC236}">
                <a16:creationId xmlns:a16="http://schemas.microsoft.com/office/drawing/2014/main" id="{A01A3A7C-F680-418E-AF59-F341B61C6DA2}"/>
              </a:ext>
            </a:extLst>
          </p:cNvPr>
          <p:cNvSpPr>
            <a:spLocks xmlns:a="http://schemas.openxmlformats.org/drawingml/2006/main" noGrp="1"/>
          </p:cNvSpPr>
          <p:nvPr/>
        </p:nvSpPr>
        <p:spPr>
          <a:xfrm xmlns:a="http://schemas.openxmlformats.org/drawingml/2006/main">
            <a:off x="1238250" y="333756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Modelos y plataformas · 12 min</a:t>
            </a:r>
          </a:p>
        </p:txBody>
      </p:sp>
      <p:sp>
        <p:nvSpPr>
          <p:cNvPr id="14" name="text-hd5g3otoo6n">
            <a:extLst xmlns:a="http://schemas.openxmlformats.org/drawingml/2006/main">
              <a:ext uri="{FF2B5EF4-FFF2-40B4-BE49-F238E27FC236}">
                <a16:creationId xmlns:a16="http://schemas.microsoft.com/office/drawing/2014/main" id="{69056A60-45A3-4FCE-A2C7-7A7EC0B6CFFB}"/>
              </a:ext>
            </a:extLst>
          </p:cNvPr>
          <p:cNvSpPr>
            <a:spLocks xmlns:a="http://schemas.openxmlformats.org/drawingml/2006/main" noGrp="1"/>
          </p:cNvSpPr>
          <p:nvPr/>
        </p:nvSpPr>
        <p:spPr>
          <a:xfrm xmlns:a="http://schemas.openxmlformats.org/drawingml/2006/main">
            <a:off x="4095750" y="333756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DeepSeek, Qwen y distribución.</a:t>
            </a:r>
          </a:p>
        </p:txBody>
      </p:sp>
      <p:sp>
        <p:nvSpPr>
          <p:cNvPr id="15" name="">
            <a:extLst xmlns:a="http://schemas.openxmlformats.org/drawingml/2006/main">
              <a:ext uri="{FF2B5EF4-FFF2-40B4-BE49-F238E27FC236}">
                <a16:creationId xmlns:a16="http://schemas.microsoft.com/office/drawing/2014/main" id="{F754D15E-2EB7-4921-8E78-F324EBC9F7AD}"/>
              </a:ext>
            </a:extLst>
          </p:cNvPr>
          <p:cNvSpPr>
            <a:spLocks xmlns:a="http://schemas.openxmlformats.org/drawingml/2006/main" noGrp="1"/>
          </p:cNvSpPr>
          <p:nvPr/>
        </p:nvSpPr>
        <p:spPr>
          <a:xfrm xmlns:a="http://schemas.openxmlformats.org/drawingml/2006/main">
            <a:off x="1238250" y="392239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enwo1m0nw1a">
            <a:extLst xmlns:a="http://schemas.openxmlformats.org/drawingml/2006/main">
              <a:ext uri="{FF2B5EF4-FFF2-40B4-BE49-F238E27FC236}">
                <a16:creationId xmlns:a16="http://schemas.microsoft.com/office/drawing/2014/main" id="{DC62BC17-7DCF-493A-B7AB-D7F097084624}"/>
              </a:ext>
            </a:extLst>
          </p:cNvPr>
          <p:cNvSpPr>
            <a:spLocks xmlns:a="http://schemas.openxmlformats.org/drawingml/2006/main" noGrp="1"/>
          </p:cNvSpPr>
          <p:nvPr/>
        </p:nvSpPr>
        <p:spPr>
          <a:xfrm xmlns:a="http://schemas.openxmlformats.org/drawingml/2006/main">
            <a:off x="628650" y="406527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gzkj17z8p8">
            <a:extLst xmlns:a="http://schemas.openxmlformats.org/drawingml/2006/main">
              <a:ext uri="{FF2B5EF4-FFF2-40B4-BE49-F238E27FC236}">
                <a16:creationId xmlns:a16="http://schemas.microsoft.com/office/drawing/2014/main" id="{E66B7D55-13EF-43B4-84E0-4AB95C5D9987}"/>
              </a:ext>
            </a:extLst>
          </p:cNvPr>
          <p:cNvSpPr>
            <a:spLocks xmlns:a="http://schemas.openxmlformats.org/drawingml/2006/main" noGrp="1"/>
          </p:cNvSpPr>
          <p:nvPr/>
        </p:nvSpPr>
        <p:spPr>
          <a:xfrm xmlns:a="http://schemas.openxmlformats.org/drawingml/2006/main">
            <a:off x="1238250" y="405574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Robótica y videos · 17 min</a:t>
            </a:r>
          </a:p>
        </p:txBody>
      </p:sp>
      <p:sp>
        <p:nvSpPr>
          <p:cNvPr id="18" name="text-qvdfdgdaq38">
            <a:extLst xmlns:a="http://schemas.openxmlformats.org/drawingml/2006/main">
              <a:ext uri="{FF2B5EF4-FFF2-40B4-BE49-F238E27FC236}">
                <a16:creationId xmlns:a16="http://schemas.microsoft.com/office/drawing/2014/main" id="{99BA4669-A541-48FA-A7BB-84DA6C35679F}"/>
              </a:ext>
            </a:extLst>
          </p:cNvPr>
          <p:cNvSpPr>
            <a:spLocks xmlns:a="http://schemas.openxmlformats.org/drawingml/2006/main" noGrp="1"/>
          </p:cNvSpPr>
          <p:nvPr/>
        </p:nvSpPr>
        <p:spPr>
          <a:xfrm xmlns:a="http://schemas.openxmlformats.org/drawingml/2006/main">
            <a:off x="4095750" y="405574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Arquitectura física y evidencia observada.</a:t>
            </a:r>
          </a:p>
        </p:txBody>
      </p:sp>
      <p:sp>
        <p:nvSpPr>
          <p:cNvPr id="19" name="">
            <a:extLst xmlns:a="http://schemas.openxmlformats.org/drawingml/2006/main">
              <a:ext uri="{FF2B5EF4-FFF2-40B4-BE49-F238E27FC236}">
                <a16:creationId xmlns:a16="http://schemas.microsoft.com/office/drawing/2014/main" id="{68727E04-9147-4DA3-8B1A-855D1DB135A9}"/>
              </a:ext>
            </a:extLst>
          </p:cNvPr>
          <p:cNvSpPr>
            <a:spLocks xmlns:a="http://schemas.openxmlformats.org/drawingml/2006/main" noGrp="1"/>
          </p:cNvSpPr>
          <p:nvPr/>
        </p:nvSpPr>
        <p:spPr>
          <a:xfrm xmlns:a="http://schemas.openxmlformats.org/drawingml/2006/main">
            <a:off x="1238250" y="4640580"/>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6jxgnan0pqs">
            <a:extLst xmlns:a="http://schemas.openxmlformats.org/drawingml/2006/main">
              <a:ext uri="{FF2B5EF4-FFF2-40B4-BE49-F238E27FC236}">
                <a16:creationId xmlns:a16="http://schemas.microsoft.com/office/drawing/2014/main" id="{FEEF3429-F726-45F9-A5A9-EE54F975F7B3}"/>
              </a:ext>
            </a:extLst>
          </p:cNvPr>
          <p:cNvSpPr>
            <a:spLocks xmlns:a="http://schemas.openxmlformats.org/drawingml/2006/main" noGrp="1"/>
          </p:cNvSpPr>
          <p:nvPr/>
        </p:nvSpPr>
        <p:spPr>
          <a:xfrm xmlns:a="http://schemas.openxmlformats.org/drawingml/2006/main">
            <a:off x="628650" y="478345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5fjtdun01b5">
            <a:extLst xmlns:a="http://schemas.openxmlformats.org/drawingml/2006/main">
              <a:ext uri="{FF2B5EF4-FFF2-40B4-BE49-F238E27FC236}">
                <a16:creationId xmlns:a16="http://schemas.microsoft.com/office/drawing/2014/main" id="{0477967D-9359-4BB8-815B-CA861989A9EA}"/>
              </a:ext>
            </a:extLst>
          </p:cNvPr>
          <p:cNvSpPr>
            <a:spLocks xmlns:a="http://schemas.openxmlformats.org/drawingml/2006/main" noGrp="1"/>
          </p:cNvSpPr>
          <p:nvPr/>
        </p:nvSpPr>
        <p:spPr>
          <a:xfrm xmlns:a="http://schemas.openxmlformats.org/drawingml/2006/main">
            <a:off x="1238250" y="477393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Laboratorio · 15 min</a:t>
            </a:r>
          </a:p>
        </p:txBody>
      </p:sp>
      <p:sp>
        <p:nvSpPr>
          <p:cNvPr id="22" name="text-6z9w523h8g9">
            <a:extLst xmlns:a="http://schemas.openxmlformats.org/drawingml/2006/main">
              <a:ext uri="{FF2B5EF4-FFF2-40B4-BE49-F238E27FC236}">
                <a16:creationId xmlns:a16="http://schemas.microsoft.com/office/drawing/2014/main" id="{47FD605A-F66B-464B-BC7D-E353E5E2D46A}"/>
              </a:ext>
            </a:extLst>
          </p:cNvPr>
          <p:cNvSpPr>
            <a:spLocks xmlns:a="http://schemas.openxmlformats.org/drawingml/2006/main" noGrp="1"/>
          </p:cNvSpPr>
          <p:nvPr/>
        </p:nvSpPr>
        <p:spPr>
          <a:xfrm xmlns:a="http://schemas.openxmlformats.org/drawingml/2006/main">
            <a:off x="4095750" y="477393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Energía, éxito operativo y costo.</a:t>
            </a:r>
          </a:p>
        </p:txBody>
      </p:sp>
      <p:sp>
        <p:nvSpPr>
          <p:cNvPr id="23" name="">
            <a:extLst xmlns:a="http://schemas.openxmlformats.org/drawingml/2006/main">
              <a:ext uri="{FF2B5EF4-FFF2-40B4-BE49-F238E27FC236}">
                <a16:creationId xmlns:a16="http://schemas.microsoft.com/office/drawing/2014/main" id="{35264C0E-BCDA-4E5E-A8C1-A9A451266E49}"/>
              </a:ext>
            </a:extLst>
          </p:cNvPr>
          <p:cNvSpPr>
            <a:spLocks xmlns:a="http://schemas.openxmlformats.org/drawingml/2006/main" noGrp="1"/>
          </p:cNvSpPr>
          <p:nvPr/>
        </p:nvSpPr>
        <p:spPr>
          <a:xfrm xmlns:a="http://schemas.openxmlformats.org/drawingml/2006/main">
            <a:off x="1238250" y="535876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4" name="text-o7lll6x3lz8">
            <a:extLst xmlns:a="http://schemas.openxmlformats.org/drawingml/2006/main">
              <a:ext uri="{FF2B5EF4-FFF2-40B4-BE49-F238E27FC236}">
                <a16:creationId xmlns:a16="http://schemas.microsoft.com/office/drawing/2014/main" id="{9D92D384-5910-4873-805D-05BD028B8F54}"/>
              </a:ext>
            </a:extLst>
          </p:cNvPr>
          <p:cNvSpPr>
            <a:spLocks xmlns:a="http://schemas.openxmlformats.org/drawingml/2006/main" noGrp="1"/>
          </p:cNvSpPr>
          <p:nvPr/>
        </p:nvSpPr>
        <p:spPr>
          <a:xfrm xmlns:a="http://schemas.openxmlformats.org/drawingml/2006/main">
            <a:off x="628650" y="550164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05</a:t>
            </a:r>
          </a:p>
        </p:txBody>
      </p:sp>
      <p:sp>
        <p:nvSpPr>
          <p:cNvPr id="25" name="text-01hnwh93cupi">
            <a:extLst xmlns:a="http://schemas.openxmlformats.org/drawingml/2006/main">
              <a:ext uri="{FF2B5EF4-FFF2-40B4-BE49-F238E27FC236}">
                <a16:creationId xmlns:a16="http://schemas.microsoft.com/office/drawing/2014/main" id="{44C680E3-773B-4FB9-B499-CA2E5B7403C1}"/>
              </a:ext>
            </a:extLst>
          </p:cNvPr>
          <p:cNvSpPr>
            <a:spLocks xmlns:a="http://schemas.openxmlformats.org/drawingml/2006/main" noGrp="1"/>
          </p:cNvSpPr>
          <p:nvPr/>
        </p:nvSpPr>
        <p:spPr>
          <a:xfrm xmlns:a="http://schemas.openxmlformats.org/drawingml/2006/main">
            <a:off x="1238250" y="549211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Debate · 8 min</a:t>
            </a:r>
          </a:p>
        </p:txBody>
      </p:sp>
      <p:sp>
        <p:nvSpPr>
          <p:cNvPr id="26" name="text-qujj8jizsdr">
            <a:extLst xmlns:a="http://schemas.openxmlformats.org/drawingml/2006/main">
              <a:ext uri="{FF2B5EF4-FFF2-40B4-BE49-F238E27FC236}">
                <a16:creationId xmlns:a16="http://schemas.microsoft.com/office/drawing/2014/main" id="{9B7EDCD7-8F6A-4574-896D-285B21A80CAF}"/>
              </a:ext>
            </a:extLst>
          </p:cNvPr>
          <p:cNvSpPr>
            <a:spLocks xmlns:a="http://schemas.openxmlformats.org/drawingml/2006/main" noGrp="1"/>
          </p:cNvSpPr>
          <p:nvPr/>
        </p:nvSpPr>
        <p:spPr>
          <a:xfrm xmlns:a="http://schemas.openxmlformats.org/drawingml/2006/main">
            <a:off x="4095750" y="549211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Competitividad, empleo y oportunidades.</a:t>
            </a:r>
          </a:p>
        </p:txBody>
      </p:sp>
    </p:spTree>
    <p:extLst>
      <p:ext uri="{BB962C8B-B14F-4D97-AF65-F5344CB8AC3E}">
        <p14:creationId xmlns:p14="http://schemas.microsoft.com/office/powerpoint/2010/main" val="831076584"/>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EDE76F83-44F9-4C24-B1B0-6E318428BAB8}"/>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1FF370D-4C79-4271-B8D3-9A704F038E46}"/>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6397C906-6BFC-4015-BD1F-530513AEFAC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0ijyndsbc62h">
            <a:extLst xmlns:a="http://schemas.openxmlformats.org/drawingml/2006/main">
              <a:ext uri="{FF2B5EF4-FFF2-40B4-BE49-F238E27FC236}">
                <a16:creationId xmlns:a16="http://schemas.microsoft.com/office/drawing/2014/main" id="{6C7E68BB-48E7-488D-A852-98223AD2417A}"/>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dqn5bxex0nf">
            <a:extLst xmlns:a="http://schemas.openxmlformats.org/drawingml/2006/main">
              <a:ext uri="{FF2B5EF4-FFF2-40B4-BE49-F238E27FC236}">
                <a16:creationId xmlns:a16="http://schemas.microsoft.com/office/drawing/2014/main" id="{06395D21-87FD-45C8-ACCE-0E901B139C8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 valor económico aparece en tareas correctas y repetibles</a:t>
            </a:r>
          </a:p>
        </p:txBody>
      </p:sp>
      <p:sp>
        <p:nvSpPr>
          <p:cNvPr id="4" name="text-sbao9nx6gu">
            <a:extLst xmlns:a="http://schemas.openxmlformats.org/drawingml/2006/main">
              <a:ext uri="{FF2B5EF4-FFF2-40B4-BE49-F238E27FC236}">
                <a16:creationId xmlns:a16="http://schemas.microsoft.com/office/drawing/2014/main" id="{1647BF6E-6205-440E-81DF-30D47BDBA30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Una capacidad del modelo necesita integración y condiciones de operación.</a:t>
            </a:r>
          </a:p>
        </p:txBody>
      </p:sp>
      <p:sp>
        <p:nvSpPr>
          <p:cNvPr id="5" name="">
            <a:extLst xmlns:a="http://schemas.openxmlformats.org/drawingml/2006/main">
              <a:ext uri="{FF2B5EF4-FFF2-40B4-BE49-F238E27FC236}">
                <a16:creationId xmlns:a16="http://schemas.microsoft.com/office/drawing/2014/main" id="{6DE2AF89-8A10-4BDF-87AF-22AA7A61ECB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xzgsug579o">
            <a:extLst xmlns:a="http://schemas.openxmlformats.org/drawingml/2006/main">
              <a:ext uri="{FF2B5EF4-FFF2-40B4-BE49-F238E27FC236}">
                <a16:creationId xmlns:a16="http://schemas.microsoft.com/office/drawing/2014/main" id="{6D1C4B9B-ACD0-4206-8EE1-F8E3C661BF1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9kcd18a0qu">
            <a:extLst xmlns:a="http://schemas.openxmlformats.org/drawingml/2006/main">
              <a:ext uri="{FF2B5EF4-FFF2-40B4-BE49-F238E27FC236}">
                <a16:creationId xmlns:a16="http://schemas.microsoft.com/office/drawing/2014/main" id="{59552DE0-736D-439A-B0CC-67498A34DC0A}"/>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4942F808-F2D0-4FC5-8047-F76C30B65042}"/>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9BEFAE2-17C5-4742-AB6C-52FC8474DC69}"/>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qhbgasp5lpa">
            <a:extLst xmlns:a="http://schemas.openxmlformats.org/drawingml/2006/main">
              <a:ext uri="{FF2B5EF4-FFF2-40B4-BE49-F238E27FC236}">
                <a16:creationId xmlns:a16="http://schemas.microsoft.com/office/drawing/2014/main" id="{C3A6827D-59B4-4165-AA4D-B255A6F79AA7}"/>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Capacidad</a:t>
            </a:r>
          </a:p>
        </p:txBody>
      </p:sp>
      <p:sp>
        <p:nvSpPr>
          <p:cNvPr id="11" name="text-pgrsj5mvg0q">
            <a:extLst xmlns:a="http://schemas.openxmlformats.org/drawingml/2006/main">
              <a:ext uri="{FF2B5EF4-FFF2-40B4-BE49-F238E27FC236}">
                <a16:creationId xmlns:a16="http://schemas.microsoft.com/office/drawing/2014/main" id="{259C3634-99BF-4F70-9253-E2C25F1C8C5B}"/>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Resolver una tarea en condiciones definidas.</a:t>
            </a:r>
          </a:p>
        </p:txBody>
      </p:sp>
      <p:sp>
        <p:nvSpPr>
          <p:cNvPr id="12" name="">
            <a:extLst xmlns:a="http://schemas.openxmlformats.org/drawingml/2006/main">
              <a:ext uri="{FF2B5EF4-FFF2-40B4-BE49-F238E27FC236}">
                <a16:creationId xmlns:a16="http://schemas.microsoft.com/office/drawing/2014/main" id="{21354FD3-A873-4BAC-942E-FD14F0B8C462}"/>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36488F8-D4A4-4995-8B67-674B81045B21}"/>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plk7tll4c4">
            <a:extLst xmlns:a="http://schemas.openxmlformats.org/drawingml/2006/main">
              <a:ext uri="{FF2B5EF4-FFF2-40B4-BE49-F238E27FC236}">
                <a16:creationId xmlns:a16="http://schemas.microsoft.com/office/drawing/2014/main" id="{DC195C24-1358-42A3-BFA7-5C6E2FF5BA6D}"/>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Confiabilidad</a:t>
            </a:r>
          </a:p>
        </p:txBody>
      </p:sp>
      <p:sp>
        <p:nvSpPr>
          <p:cNvPr id="15" name="text-j3llzl9nk0n">
            <a:extLst xmlns:a="http://schemas.openxmlformats.org/drawingml/2006/main">
              <a:ext uri="{FF2B5EF4-FFF2-40B4-BE49-F238E27FC236}">
                <a16:creationId xmlns:a16="http://schemas.microsoft.com/office/drawing/2014/main" id="{97FFB563-A400-4694-B405-266C2A930CA5}"/>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Repetirla con errores y límites medidos.</a:t>
            </a:r>
          </a:p>
        </p:txBody>
      </p:sp>
      <p:sp>
        <p:nvSpPr>
          <p:cNvPr id="16" name="">
            <a:extLst xmlns:a="http://schemas.openxmlformats.org/drawingml/2006/main">
              <a:ext uri="{FF2B5EF4-FFF2-40B4-BE49-F238E27FC236}">
                <a16:creationId xmlns:a16="http://schemas.microsoft.com/office/drawing/2014/main" id="{008DBC59-8E2C-4609-8873-14759B11EE6F}"/>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F0B02D3-3F77-44C3-B9FA-3668F4680D03}"/>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0xbecclzqgfm">
            <a:extLst xmlns:a="http://schemas.openxmlformats.org/drawingml/2006/main">
              <a:ext uri="{FF2B5EF4-FFF2-40B4-BE49-F238E27FC236}">
                <a16:creationId xmlns:a16="http://schemas.microsoft.com/office/drawing/2014/main" id="{764BD34C-EFFB-4C07-BC60-F934F589F5E3}"/>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Economía</a:t>
            </a:r>
          </a:p>
        </p:txBody>
      </p:sp>
      <p:sp>
        <p:nvSpPr>
          <p:cNvPr id="19" name="text-407bb42sykw">
            <a:extLst xmlns:a="http://schemas.openxmlformats.org/drawingml/2006/main">
              <a:ext uri="{FF2B5EF4-FFF2-40B4-BE49-F238E27FC236}">
                <a16:creationId xmlns:a16="http://schemas.microsoft.com/office/drawing/2014/main" id="{58F5349C-FEC8-4D8A-8FE1-095B853D685F}"/>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Crear valor neto después de integración y operación.</a:t>
            </a:r>
          </a:p>
        </p:txBody>
      </p:sp>
    </p:spTree>
    <p:extLst>
      <p:ext uri="{BB962C8B-B14F-4D97-AF65-F5344CB8AC3E}">
        <p14:creationId xmlns:p14="http://schemas.microsoft.com/office/powerpoint/2010/main" val="259442592"/>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DB31154-56C4-4A8A-BEB4-D7F9239FAF4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aiwbxhljbge">
            <a:extLst xmlns:a="http://schemas.openxmlformats.org/drawingml/2006/main">
              <a:ext uri="{FF2B5EF4-FFF2-40B4-BE49-F238E27FC236}">
                <a16:creationId xmlns:a16="http://schemas.microsoft.com/office/drawing/2014/main" id="{8C803AFF-5D2A-4ADE-8D61-14B98601566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j6jjl3b1eno">
            <a:extLst xmlns:a="http://schemas.openxmlformats.org/drawingml/2006/main">
              <a:ext uri="{FF2B5EF4-FFF2-40B4-BE49-F238E27FC236}">
                <a16:creationId xmlns:a16="http://schemas.microsoft.com/office/drawing/2014/main" id="{7C81743F-8AA4-4450-A67F-F2010939818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Modelo, chatbot, agente y robot describen funciones distintas</a:t>
            </a:r>
          </a:p>
        </p:txBody>
      </p:sp>
      <p:sp>
        <p:nvSpPr>
          <p:cNvPr id="4" name="text-9n4w4fpd54n">
            <a:extLst xmlns:a="http://schemas.openxmlformats.org/drawingml/2006/main">
              <a:ext uri="{FF2B5EF4-FFF2-40B4-BE49-F238E27FC236}">
                <a16:creationId xmlns:a16="http://schemas.microsoft.com/office/drawing/2014/main" id="{0997CC88-05BF-4FAA-959D-DB082391BC1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Pueden combinarse dentro de un mismo producto.</a:t>
            </a:r>
          </a:p>
        </p:txBody>
      </p:sp>
      <p:sp>
        <p:nvSpPr>
          <p:cNvPr id="5" name="">
            <a:extLst xmlns:a="http://schemas.openxmlformats.org/drawingml/2006/main">
              <a:ext uri="{FF2B5EF4-FFF2-40B4-BE49-F238E27FC236}">
                <a16:creationId xmlns:a16="http://schemas.microsoft.com/office/drawing/2014/main" id="{92580854-13FE-491D-B50B-96E463A0D08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qi8rqduur5">
            <a:extLst xmlns:a="http://schemas.openxmlformats.org/drawingml/2006/main">
              <a:ext uri="{FF2B5EF4-FFF2-40B4-BE49-F238E27FC236}">
                <a16:creationId xmlns:a16="http://schemas.microsoft.com/office/drawing/2014/main" id="{562F322D-2258-4AA6-83FC-1E8D6E44FCB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jzmv04vqer">
            <a:extLst xmlns:a="http://schemas.openxmlformats.org/drawingml/2006/main">
              <a:ext uri="{FF2B5EF4-FFF2-40B4-BE49-F238E27FC236}">
                <a16:creationId xmlns:a16="http://schemas.microsoft.com/office/drawing/2014/main" id="{00C0D548-F7CE-49EB-AFF2-23FC47A86F7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04</a:t>
            </a:r>
          </a:p>
        </p:txBody>
      </p:sp>
      <p:sp>
        <p:nvSpPr>
          <p:cNvPr id="8" name="">
            <a:extLst xmlns:a="http://schemas.openxmlformats.org/drawingml/2006/main">
              <a:ext uri="{FF2B5EF4-FFF2-40B4-BE49-F238E27FC236}">
                <a16:creationId xmlns:a16="http://schemas.microsoft.com/office/drawing/2014/main" id="{C63A0FE5-C3BF-4084-8959-881CDD2D881A}"/>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6AB916-D4D8-4B63-889A-2A85369095A5}"/>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o0dazqypn3">
            <a:extLst xmlns:a="http://schemas.openxmlformats.org/drawingml/2006/main">
              <a:ext uri="{FF2B5EF4-FFF2-40B4-BE49-F238E27FC236}">
                <a16:creationId xmlns:a16="http://schemas.microsoft.com/office/drawing/2014/main" id="{FFED566D-AEFA-4FDC-8391-9F2212C8CC07}"/>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Modelo</a:t>
            </a:r>
          </a:p>
        </p:txBody>
      </p:sp>
      <p:sp>
        <p:nvSpPr>
          <p:cNvPr id="11" name="text-kstawm4lgfc">
            <a:extLst xmlns:a="http://schemas.openxmlformats.org/drawingml/2006/main">
              <a:ext uri="{FF2B5EF4-FFF2-40B4-BE49-F238E27FC236}">
                <a16:creationId xmlns:a16="http://schemas.microsoft.com/office/drawing/2014/main" id="{80D88341-1FCB-48E8-98F0-CFFF71BD6D51}"/>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Componente que predice o genera salidas.</a:t>
            </a:r>
          </a:p>
        </p:txBody>
      </p:sp>
      <p:sp>
        <p:nvSpPr>
          <p:cNvPr id="12" name="">
            <a:extLst xmlns:a="http://schemas.openxmlformats.org/drawingml/2006/main">
              <a:ext uri="{FF2B5EF4-FFF2-40B4-BE49-F238E27FC236}">
                <a16:creationId xmlns:a16="http://schemas.microsoft.com/office/drawing/2014/main" id="{2083C4E1-21F1-403B-A4FB-7DF28640094A}"/>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8AE35A-C490-450A-A98A-9B81F1821425}"/>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58ikzc8da3">
            <a:extLst xmlns:a="http://schemas.openxmlformats.org/drawingml/2006/main">
              <a:ext uri="{FF2B5EF4-FFF2-40B4-BE49-F238E27FC236}">
                <a16:creationId xmlns:a16="http://schemas.microsoft.com/office/drawing/2014/main" id="{18EEC9B4-7518-48D8-9683-54FC5C0E9ECB}"/>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Chatbot</a:t>
            </a:r>
          </a:p>
        </p:txBody>
      </p:sp>
      <p:sp>
        <p:nvSpPr>
          <p:cNvPr id="15" name="text-wwkg6vnpqf9">
            <a:extLst xmlns:a="http://schemas.openxmlformats.org/drawingml/2006/main">
              <a:ext uri="{FF2B5EF4-FFF2-40B4-BE49-F238E27FC236}">
                <a16:creationId xmlns:a16="http://schemas.microsoft.com/office/drawing/2014/main" id="{5B9D1FE5-5B98-476C-969F-B07F06CBE675}"/>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Interfaz de conversación con un usuario.</a:t>
            </a:r>
          </a:p>
        </p:txBody>
      </p:sp>
      <p:sp>
        <p:nvSpPr>
          <p:cNvPr id="16" name="">
            <a:extLst xmlns:a="http://schemas.openxmlformats.org/drawingml/2006/main">
              <a:ext uri="{FF2B5EF4-FFF2-40B4-BE49-F238E27FC236}">
                <a16:creationId xmlns:a16="http://schemas.microsoft.com/office/drawing/2014/main" id="{F9BA98D3-C1DC-4944-B7EB-E4FE640741B2}"/>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6531F5A-2A71-4585-B61A-DFDB645ACBB9}"/>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zoxn2abudor">
            <a:extLst xmlns:a="http://schemas.openxmlformats.org/drawingml/2006/main">
              <a:ext uri="{FF2B5EF4-FFF2-40B4-BE49-F238E27FC236}">
                <a16:creationId xmlns:a16="http://schemas.microsoft.com/office/drawing/2014/main" id="{577DA923-82E2-480B-BB89-836B0DBE0D9E}"/>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Agente</a:t>
            </a:r>
          </a:p>
        </p:txBody>
      </p:sp>
      <p:sp>
        <p:nvSpPr>
          <p:cNvPr id="19" name="text-rnx6bvdh15h">
            <a:extLst xmlns:a="http://schemas.openxmlformats.org/drawingml/2006/main">
              <a:ext uri="{FF2B5EF4-FFF2-40B4-BE49-F238E27FC236}">
                <a16:creationId xmlns:a16="http://schemas.microsoft.com/office/drawing/2014/main" id="{3B33ED24-AC13-4D74-BF0A-05FF0C6D948B}"/>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Sistema que observa, decide y actúa.</a:t>
            </a:r>
          </a:p>
        </p:txBody>
      </p:sp>
      <p:sp>
        <p:nvSpPr>
          <p:cNvPr id="20" name="">
            <a:extLst xmlns:a="http://schemas.openxmlformats.org/drawingml/2006/main">
              <a:ext uri="{FF2B5EF4-FFF2-40B4-BE49-F238E27FC236}">
                <a16:creationId xmlns:a16="http://schemas.microsoft.com/office/drawing/2014/main" id="{47D05E00-76D4-4A9B-9CAF-DCE2F80CA45C}"/>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399C289-6EDE-491B-9A71-6B96805EC0FE}"/>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6emoj949u82">
            <a:extLst xmlns:a="http://schemas.openxmlformats.org/drawingml/2006/main">
              <a:ext uri="{FF2B5EF4-FFF2-40B4-BE49-F238E27FC236}">
                <a16:creationId xmlns:a16="http://schemas.microsoft.com/office/drawing/2014/main" id="{7AD274B4-96BA-4684-85B6-7E9EB1015FA2}"/>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Robot</a:t>
            </a:r>
          </a:p>
        </p:txBody>
      </p:sp>
      <p:sp>
        <p:nvSpPr>
          <p:cNvPr id="23" name="text-tbxmc0c8p7">
            <a:extLst xmlns:a="http://schemas.openxmlformats.org/drawingml/2006/main">
              <a:ext uri="{FF2B5EF4-FFF2-40B4-BE49-F238E27FC236}">
                <a16:creationId xmlns:a16="http://schemas.microsoft.com/office/drawing/2014/main" id="{4C5FB07E-1E99-47CC-9F0B-38E77782D7D0}"/>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Máquina que percibe y actúa físicamente.</a:t>
            </a:r>
          </a:p>
        </p:txBody>
      </p:sp>
    </p:spTree>
    <p:extLst>
      <p:ext uri="{BB962C8B-B14F-4D97-AF65-F5344CB8AC3E}">
        <p14:creationId xmlns:p14="http://schemas.microsoft.com/office/powerpoint/2010/main" val="512481575"/>
      </p:ext>
    </p:extLst>
  </p:cSld>
</p:sld>
</file>

<file path=ppt/slides/slide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582CB3D-A3E0-48B9-B889-321B5D85C7F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lscsekh30vi">
            <a:extLst xmlns:a="http://schemas.openxmlformats.org/drawingml/2006/main">
              <a:ext uri="{FF2B5EF4-FFF2-40B4-BE49-F238E27FC236}">
                <a16:creationId xmlns:a16="http://schemas.microsoft.com/office/drawing/2014/main" id="{8E7DA29A-E447-43C3-B44E-67763D05308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inrz6pu3nx">
            <a:extLst xmlns:a="http://schemas.openxmlformats.org/drawingml/2006/main">
              <a:ext uri="{FF2B5EF4-FFF2-40B4-BE49-F238E27FC236}">
                <a16:creationId xmlns:a16="http://schemas.microsoft.com/office/drawing/2014/main" id="{42D302B2-15AE-490B-BF7D-99AD43480A5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Cinco capas conectan investigación y producción</a:t>
            </a:r>
          </a:p>
        </p:txBody>
      </p:sp>
      <p:sp>
        <p:nvSpPr>
          <p:cNvPr id="4" name="text-ell05l5v1nf">
            <a:extLst xmlns:a="http://schemas.openxmlformats.org/drawingml/2006/main">
              <a:ext uri="{FF2B5EF4-FFF2-40B4-BE49-F238E27FC236}">
                <a16:creationId xmlns:a16="http://schemas.microsoft.com/office/drawing/2014/main" id="{217FCD31-8121-419D-AE96-E61687FE755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La ventaja de una empresa depende también de sus proveedores y canales.</a:t>
            </a:r>
          </a:p>
        </p:txBody>
      </p:sp>
      <p:sp>
        <p:nvSpPr>
          <p:cNvPr id="5" name="">
            <a:extLst xmlns:a="http://schemas.openxmlformats.org/drawingml/2006/main">
              <a:ext uri="{FF2B5EF4-FFF2-40B4-BE49-F238E27FC236}">
                <a16:creationId xmlns:a16="http://schemas.microsoft.com/office/drawing/2014/main" id="{84F9BB32-8A13-48DE-8D70-D9A62976602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ech08vly6kn">
            <a:extLst xmlns:a="http://schemas.openxmlformats.org/drawingml/2006/main">
              <a:ext uri="{FF2B5EF4-FFF2-40B4-BE49-F238E27FC236}">
                <a16:creationId xmlns:a16="http://schemas.microsoft.com/office/drawing/2014/main" id="{224ACF01-D0AC-4601-8257-74008C0DDCCE}"/>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Sergio Gevatschnaider</a:t>
            </a:r>
          </a:p>
        </p:txBody>
      </p:sp>
      <p:sp>
        <p:nvSpPr>
          <p:cNvPr id="7" name="text-oo1d08keh5">
            <a:extLst xmlns:a="http://schemas.openxmlformats.org/drawingml/2006/main">
              <a:ext uri="{FF2B5EF4-FFF2-40B4-BE49-F238E27FC236}">
                <a16:creationId xmlns:a16="http://schemas.microsoft.com/office/drawing/2014/main" id="{825C8125-C8CD-4188-AABD-10D4C40FD08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05</a:t>
            </a:r>
          </a:p>
        </p:txBody>
      </p:sp>
      <p:sp>
        <p:nvSpPr>
          <p:cNvPr id="8" name="text-qaztxtclx5">
            <a:extLst xmlns:a="http://schemas.openxmlformats.org/drawingml/2006/main">
              <a:ext uri="{FF2B5EF4-FFF2-40B4-BE49-F238E27FC236}">
                <a16:creationId xmlns:a16="http://schemas.microsoft.com/office/drawing/2014/main" id="{83E54518-04FE-464D-8577-54ADE3374A69}"/>
              </a:ext>
            </a:extLst>
          </p:cNvPr>
          <p:cNvSpPr>
            <a:spLocks xmlns:a="http://schemas.openxmlformats.org/drawingml/2006/main" noGrp="1"/>
          </p:cNvSpPr>
          <p:nvPr/>
        </p:nvSpPr>
        <p:spPr>
          <a:xfrm xmlns:a="http://schemas.openxmlformats.org/drawingml/2006/main">
            <a:off x="628650" y="262890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9981ck4zy47">
            <a:extLst xmlns:a="http://schemas.openxmlformats.org/drawingml/2006/main">
              <a:ext uri="{FF2B5EF4-FFF2-40B4-BE49-F238E27FC236}">
                <a16:creationId xmlns:a16="http://schemas.microsoft.com/office/drawing/2014/main" id="{594DA82B-1421-4995-9D25-53517B944F35}"/>
              </a:ext>
            </a:extLst>
          </p:cNvPr>
          <p:cNvSpPr>
            <a:spLocks xmlns:a="http://schemas.openxmlformats.org/drawingml/2006/main" noGrp="1"/>
          </p:cNvSpPr>
          <p:nvPr/>
        </p:nvSpPr>
        <p:spPr>
          <a:xfrm xmlns:a="http://schemas.openxmlformats.org/drawingml/2006/main">
            <a:off x="1238250" y="261937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Modelos</a:t>
            </a:r>
          </a:p>
        </p:txBody>
      </p:sp>
      <p:sp>
        <p:nvSpPr>
          <p:cNvPr id="10" name="text-7ftkjblwrrx">
            <a:extLst xmlns:a="http://schemas.openxmlformats.org/drawingml/2006/main">
              <a:ext uri="{FF2B5EF4-FFF2-40B4-BE49-F238E27FC236}">
                <a16:creationId xmlns:a16="http://schemas.microsoft.com/office/drawing/2014/main" id="{F5FE2C00-019D-4AFB-ADEA-810AD7ECD9B7}"/>
              </a:ext>
            </a:extLst>
          </p:cNvPr>
          <p:cNvSpPr>
            <a:spLocks xmlns:a="http://schemas.openxmlformats.org/drawingml/2006/main" noGrp="1"/>
          </p:cNvSpPr>
          <p:nvPr/>
        </p:nvSpPr>
        <p:spPr>
          <a:xfrm xmlns:a="http://schemas.openxmlformats.org/drawingml/2006/main">
            <a:off x="4095750" y="261937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DeepSeek, Qwen y otras familias.</a:t>
            </a:r>
          </a:p>
        </p:txBody>
      </p:sp>
      <p:sp>
        <p:nvSpPr>
          <p:cNvPr id="11" name="">
            <a:extLst xmlns:a="http://schemas.openxmlformats.org/drawingml/2006/main">
              <a:ext uri="{FF2B5EF4-FFF2-40B4-BE49-F238E27FC236}">
                <a16:creationId xmlns:a16="http://schemas.microsoft.com/office/drawing/2014/main" id="{809193F4-68B6-4FAF-8A6F-A01B270247B5}"/>
              </a:ext>
            </a:extLst>
          </p:cNvPr>
          <p:cNvSpPr>
            <a:spLocks xmlns:a="http://schemas.openxmlformats.org/drawingml/2006/main" noGrp="1"/>
          </p:cNvSpPr>
          <p:nvPr/>
        </p:nvSpPr>
        <p:spPr>
          <a:xfrm xmlns:a="http://schemas.openxmlformats.org/drawingml/2006/main">
            <a:off x="1238250" y="320421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38tbmsysizq">
            <a:extLst xmlns:a="http://schemas.openxmlformats.org/drawingml/2006/main">
              <a:ext uri="{FF2B5EF4-FFF2-40B4-BE49-F238E27FC236}">
                <a16:creationId xmlns:a16="http://schemas.microsoft.com/office/drawing/2014/main" id="{4489AA86-8592-4274-AF6F-153BCA4D2633}"/>
              </a:ext>
            </a:extLst>
          </p:cNvPr>
          <p:cNvSpPr>
            <a:spLocks xmlns:a="http://schemas.openxmlformats.org/drawingml/2006/main" noGrp="1"/>
          </p:cNvSpPr>
          <p:nvPr/>
        </p:nvSpPr>
        <p:spPr>
          <a:xfrm xmlns:a="http://schemas.openxmlformats.org/drawingml/2006/main">
            <a:off x="628650" y="334708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rskec4706xa">
            <a:extLst xmlns:a="http://schemas.openxmlformats.org/drawingml/2006/main">
              <a:ext uri="{FF2B5EF4-FFF2-40B4-BE49-F238E27FC236}">
                <a16:creationId xmlns:a16="http://schemas.microsoft.com/office/drawing/2014/main" id="{BCB5C5EE-5C23-4936-9677-C623DBC4EEF7}"/>
              </a:ext>
            </a:extLst>
          </p:cNvPr>
          <p:cNvSpPr>
            <a:spLocks xmlns:a="http://schemas.openxmlformats.org/drawingml/2006/main" noGrp="1"/>
          </p:cNvSpPr>
          <p:nvPr/>
        </p:nvSpPr>
        <p:spPr>
          <a:xfrm xmlns:a="http://schemas.openxmlformats.org/drawingml/2006/main">
            <a:off x="1238250" y="333756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Sistemas agente</a:t>
            </a:r>
          </a:p>
        </p:txBody>
      </p:sp>
      <p:sp>
        <p:nvSpPr>
          <p:cNvPr id="14" name="text-7vg3whf0yg3">
            <a:extLst xmlns:a="http://schemas.openxmlformats.org/drawingml/2006/main">
              <a:ext uri="{FF2B5EF4-FFF2-40B4-BE49-F238E27FC236}">
                <a16:creationId xmlns:a16="http://schemas.microsoft.com/office/drawing/2014/main" id="{E9BD1598-86E6-4F67-A1BF-5823EBA6087A}"/>
              </a:ext>
            </a:extLst>
          </p:cNvPr>
          <p:cNvSpPr>
            <a:spLocks xmlns:a="http://schemas.openxmlformats.org/drawingml/2006/main" noGrp="1"/>
          </p:cNvSpPr>
          <p:nvPr/>
        </p:nvSpPr>
        <p:spPr>
          <a:xfrm xmlns:a="http://schemas.openxmlformats.org/drawingml/2006/main">
            <a:off x="4095750" y="333756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Orquestación, herramientas y evaluación.</a:t>
            </a:r>
          </a:p>
        </p:txBody>
      </p:sp>
      <p:sp>
        <p:nvSpPr>
          <p:cNvPr id="15" name="">
            <a:extLst xmlns:a="http://schemas.openxmlformats.org/drawingml/2006/main">
              <a:ext uri="{FF2B5EF4-FFF2-40B4-BE49-F238E27FC236}">
                <a16:creationId xmlns:a16="http://schemas.microsoft.com/office/drawing/2014/main" id="{684B93C3-D20D-4044-8C4B-6E2DD35DC6B7}"/>
              </a:ext>
            </a:extLst>
          </p:cNvPr>
          <p:cNvSpPr>
            <a:spLocks xmlns:a="http://schemas.openxmlformats.org/drawingml/2006/main" noGrp="1"/>
          </p:cNvSpPr>
          <p:nvPr/>
        </p:nvSpPr>
        <p:spPr>
          <a:xfrm xmlns:a="http://schemas.openxmlformats.org/drawingml/2006/main">
            <a:off x="1238250" y="392239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2tkrggxzon">
            <a:extLst xmlns:a="http://schemas.openxmlformats.org/drawingml/2006/main">
              <a:ext uri="{FF2B5EF4-FFF2-40B4-BE49-F238E27FC236}">
                <a16:creationId xmlns:a16="http://schemas.microsoft.com/office/drawing/2014/main" id="{990F1642-1864-49C9-B042-DCB4377E6D82}"/>
              </a:ext>
            </a:extLst>
          </p:cNvPr>
          <p:cNvSpPr>
            <a:spLocks xmlns:a="http://schemas.openxmlformats.org/drawingml/2006/main" noGrp="1"/>
          </p:cNvSpPr>
          <p:nvPr/>
        </p:nvSpPr>
        <p:spPr>
          <a:xfrm xmlns:a="http://schemas.openxmlformats.org/drawingml/2006/main">
            <a:off x="628650" y="406527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kqokl27hn2r">
            <a:extLst xmlns:a="http://schemas.openxmlformats.org/drawingml/2006/main">
              <a:ext uri="{FF2B5EF4-FFF2-40B4-BE49-F238E27FC236}">
                <a16:creationId xmlns:a16="http://schemas.microsoft.com/office/drawing/2014/main" id="{53F420C9-1567-4BA6-84A4-9EACB69F27A6}"/>
              </a:ext>
            </a:extLst>
          </p:cNvPr>
          <p:cNvSpPr>
            <a:spLocks xmlns:a="http://schemas.openxmlformats.org/drawingml/2006/main" noGrp="1"/>
          </p:cNvSpPr>
          <p:nvPr/>
        </p:nvSpPr>
        <p:spPr>
          <a:xfrm xmlns:a="http://schemas.openxmlformats.org/drawingml/2006/main">
            <a:off x="1238250" y="405574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Nube y distribución</a:t>
            </a:r>
          </a:p>
        </p:txBody>
      </p:sp>
      <p:sp>
        <p:nvSpPr>
          <p:cNvPr id="18" name="text-bkhqkd8ty7b">
            <a:extLst xmlns:a="http://schemas.openxmlformats.org/drawingml/2006/main">
              <a:ext uri="{FF2B5EF4-FFF2-40B4-BE49-F238E27FC236}">
                <a16:creationId xmlns:a16="http://schemas.microsoft.com/office/drawing/2014/main" id="{6B5B47E5-4E69-4008-9469-6B7C8565ABBA}"/>
              </a:ext>
            </a:extLst>
          </p:cNvPr>
          <p:cNvSpPr>
            <a:spLocks xmlns:a="http://schemas.openxmlformats.org/drawingml/2006/main" noGrp="1"/>
          </p:cNvSpPr>
          <p:nvPr/>
        </p:nvSpPr>
        <p:spPr>
          <a:xfrm xmlns:a="http://schemas.openxmlformats.org/drawingml/2006/main">
            <a:off x="4095750" y="405574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Acceso a cómputo, usuarios y servicios.</a:t>
            </a:r>
          </a:p>
        </p:txBody>
      </p:sp>
      <p:sp>
        <p:nvSpPr>
          <p:cNvPr id="19" name="">
            <a:extLst xmlns:a="http://schemas.openxmlformats.org/drawingml/2006/main">
              <a:ext uri="{FF2B5EF4-FFF2-40B4-BE49-F238E27FC236}">
                <a16:creationId xmlns:a16="http://schemas.microsoft.com/office/drawing/2014/main" id="{D93E0520-4C95-4106-A509-88A433D8497C}"/>
              </a:ext>
            </a:extLst>
          </p:cNvPr>
          <p:cNvSpPr>
            <a:spLocks xmlns:a="http://schemas.openxmlformats.org/drawingml/2006/main" noGrp="1"/>
          </p:cNvSpPr>
          <p:nvPr/>
        </p:nvSpPr>
        <p:spPr>
          <a:xfrm xmlns:a="http://schemas.openxmlformats.org/drawingml/2006/main">
            <a:off x="1238250" y="464058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0" name="text-6vw6qql4m2i">
            <a:extLst xmlns:a="http://schemas.openxmlformats.org/drawingml/2006/main">
              <a:ext uri="{FF2B5EF4-FFF2-40B4-BE49-F238E27FC236}">
                <a16:creationId xmlns:a16="http://schemas.microsoft.com/office/drawing/2014/main" id="{CC806FCD-BFD2-449E-BDA2-08C37CE61147}"/>
              </a:ext>
            </a:extLst>
          </p:cNvPr>
          <p:cNvSpPr>
            <a:spLocks xmlns:a="http://schemas.openxmlformats.org/drawingml/2006/main" noGrp="1"/>
          </p:cNvSpPr>
          <p:nvPr/>
        </p:nvSpPr>
        <p:spPr>
          <a:xfrm xmlns:a="http://schemas.openxmlformats.org/drawingml/2006/main">
            <a:off x="628650" y="478345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04</a:t>
            </a:r>
          </a:p>
        </p:txBody>
      </p:sp>
      <p:sp>
        <p:nvSpPr>
          <p:cNvPr id="21" name="text-baptjsog1z4">
            <a:extLst xmlns:a="http://schemas.openxmlformats.org/drawingml/2006/main">
              <a:ext uri="{FF2B5EF4-FFF2-40B4-BE49-F238E27FC236}">
                <a16:creationId xmlns:a16="http://schemas.microsoft.com/office/drawing/2014/main" id="{1E40F326-3941-4ECB-9392-BA3AF9700C26}"/>
              </a:ext>
            </a:extLst>
          </p:cNvPr>
          <p:cNvSpPr>
            <a:spLocks xmlns:a="http://schemas.openxmlformats.org/drawingml/2006/main" noGrp="1"/>
          </p:cNvSpPr>
          <p:nvPr/>
        </p:nvSpPr>
        <p:spPr>
          <a:xfrm xmlns:a="http://schemas.openxmlformats.org/drawingml/2006/main">
            <a:off x="1238250" y="477393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Infraestructura</a:t>
            </a:r>
          </a:p>
        </p:txBody>
      </p:sp>
      <p:sp>
        <p:nvSpPr>
          <p:cNvPr id="22" name="text-uqnbkays24q">
            <a:extLst xmlns:a="http://schemas.openxmlformats.org/drawingml/2006/main">
              <a:ext uri="{FF2B5EF4-FFF2-40B4-BE49-F238E27FC236}">
                <a16:creationId xmlns:a16="http://schemas.microsoft.com/office/drawing/2014/main" id="{4D258D30-AF7F-4437-9177-A210F2B4081B}"/>
              </a:ext>
            </a:extLst>
          </p:cNvPr>
          <p:cNvSpPr>
            <a:spLocks xmlns:a="http://schemas.openxmlformats.org/drawingml/2006/main" noGrp="1"/>
          </p:cNvSpPr>
          <p:nvPr/>
        </p:nvSpPr>
        <p:spPr>
          <a:xfrm xmlns:a="http://schemas.openxmlformats.org/drawingml/2006/main">
            <a:off x="4095750" y="477393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Chips, memoria, interconexión y energía.</a:t>
            </a:r>
          </a:p>
        </p:txBody>
      </p:sp>
      <p:sp>
        <p:nvSpPr>
          <p:cNvPr id="23" name="">
            <a:extLst xmlns:a="http://schemas.openxmlformats.org/drawingml/2006/main">
              <a:ext uri="{FF2B5EF4-FFF2-40B4-BE49-F238E27FC236}">
                <a16:creationId xmlns:a16="http://schemas.microsoft.com/office/drawing/2014/main" id="{671DADF0-0CAA-435E-AD7A-1E54EA3016B9}"/>
              </a:ext>
            </a:extLst>
          </p:cNvPr>
          <p:cNvSpPr>
            <a:spLocks xmlns:a="http://schemas.openxmlformats.org/drawingml/2006/main" noGrp="1"/>
          </p:cNvSpPr>
          <p:nvPr/>
        </p:nvSpPr>
        <p:spPr>
          <a:xfrm xmlns:a="http://schemas.openxmlformats.org/drawingml/2006/main">
            <a:off x="1238250" y="535876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4" name="text-zmg4a7q4bd">
            <a:extLst xmlns:a="http://schemas.openxmlformats.org/drawingml/2006/main">
              <a:ext uri="{FF2B5EF4-FFF2-40B4-BE49-F238E27FC236}">
                <a16:creationId xmlns:a16="http://schemas.microsoft.com/office/drawing/2014/main" id="{38C359CD-D78C-44C7-A8BE-D34ED87C1E98}"/>
              </a:ext>
            </a:extLst>
          </p:cNvPr>
          <p:cNvSpPr>
            <a:spLocks xmlns:a="http://schemas.openxmlformats.org/drawingml/2006/main" noGrp="1"/>
          </p:cNvSpPr>
          <p:nvPr/>
        </p:nvSpPr>
        <p:spPr>
          <a:xfrm xmlns:a="http://schemas.openxmlformats.org/drawingml/2006/main">
            <a:off x="628650" y="550164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05</a:t>
            </a:r>
          </a:p>
        </p:txBody>
      </p:sp>
      <p:sp>
        <p:nvSpPr>
          <p:cNvPr id="25" name="text-4nwbtrcyxu9">
            <a:extLst xmlns:a="http://schemas.openxmlformats.org/drawingml/2006/main">
              <a:ext uri="{FF2B5EF4-FFF2-40B4-BE49-F238E27FC236}">
                <a16:creationId xmlns:a16="http://schemas.microsoft.com/office/drawing/2014/main" id="{536C265E-8BAD-468B-BDF5-F3A2E02D6295}"/>
              </a:ext>
            </a:extLst>
          </p:cNvPr>
          <p:cNvSpPr>
            <a:spLocks xmlns:a="http://schemas.openxmlformats.org/drawingml/2006/main" noGrp="1"/>
          </p:cNvSpPr>
          <p:nvPr/>
        </p:nvSpPr>
        <p:spPr>
          <a:xfrm xmlns:a="http://schemas.openxmlformats.org/drawingml/2006/main">
            <a:off x="1238250" y="549211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Mundo físico</a:t>
            </a:r>
          </a:p>
        </p:txBody>
      </p:sp>
      <p:sp>
        <p:nvSpPr>
          <p:cNvPr id="26" name="text-3lt3p66qnv7">
            <a:extLst xmlns:a="http://schemas.openxmlformats.org/drawingml/2006/main">
              <a:ext uri="{FF2B5EF4-FFF2-40B4-BE49-F238E27FC236}">
                <a16:creationId xmlns:a16="http://schemas.microsoft.com/office/drawing/2014/main" id="{A6B72A7E-3E5B-4782-AB8A-26D487C81150}"/>
              </a:ext>
            </a:extLst>
          </p:cNvPr>
          <p:cNvSpPr>
            <a:spLocks xmlns:a="http://schemas.openxmlformats.org/drawingml/2006/main" noGrp="1"/>
          </p:cNvSpPr>
          <p:nvPr/>
        </p:nvSpPr>
        <p:spPr>
          <a:xfrm xmlns:a="http://schemas.openxmlformats.org/drawingml/2006/main">
            <a:off x="4095750" y="549211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Fábricas, sensores, robots y soporte.</a:t>
            </a:r>
          </a:p>
        </p:txBody>
      </p:sp>
    </p:spTree>
    <p:extLst>
      <p:ext uri="{BB962C8B-B14F-4D97-AF65-F5344CB8AC3E}">
        <p14:creationId xmlns:p14="http://schemas.microsoft.com/office/powerpoint/2010/main" val="485472196"/>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EE2F998-1DC9-4886-8C8D-CCBE0FBAE52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4z6jgeqazdp">
            <a:extLst xmlns:a="http://schemas.openxmlformats.org/drawingml/2006/main">
              <a:ext uri="{FF2B5EF4-FFF2-40B4-BE49-F238E27FC236}">
                <a16:creationId xmlns:a16="http://schemas.microsoft.com/office/drawing/2014/main" id="{1DDA738A-BD29-42D2-A1F0-E7739AB1358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z9v59kxbsw">
            <a:extLst xmlns:a="http://schemas.openxmlformats.org/drawingml/2006/main">
              <a:ext uri="{FF2B5EF4-FFF2-40B4-BE49-F238E27FC236}">
                <a16:creationId xmlns:a16="http://schemas.microsoft.com/office/drawing/2014/main" id="{33C6300A-D035-4BF1-A6D8-44A7904DE12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Las estrategias combinan modelo, plataforma e infraestructura</a:t>
            </a:r>
          </a:p>
        </p:txBody>
      </p:sp>
      <p:sp>
        <p:nvSpPr>
          <p:cNvPr id="4" name="text-y987h6lpdy">
            <a:extLst xmlns:a="http://schemas.openxmlformats.org/drawingml/2006/main">
              <a:ext uri="{FF2B5EF4-FFF2-40B4-BE49-F238E27FC236}">
                <a16:creationId xmlns:a16="http://schemas.microsoft.com/office/drawing/2014/main" id="{5BD335B1-81C6-446D-8875-00B718924FD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Los ejemplos muestran posiciones distintas dentro del ecosistema.</a:t>
            </a:r>
          </a:p>
        </p:txBody>
      </p:sp>
      <p:sp>
        <p:nvSpPr>
          <p:cNvPr id="5" name="">
            <a:extLst xmlns:a="http://schemas.openxmlformats.org/drawingml/2006/main">
              <a:ext uri="{FF2B5EF4-FFF2-40B4-BE49-F238E27FC236}">
                <a16:creationId xmlns:a16="http://schemas.microsoft.com/office/drawing/2014/main" id="{3C7561C7-AF35-4083-B654-34E25D0ACAD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k0nqihu8id8">
            <a:extLst xmlns:a="http://schemas.openxmlformats.org/drawingml/2006/main">
              <a:ext uri="{FF2B5EF4-FFF2-40B4-BE49-F238E27FC236}">
                <a16:creationId xmlns:a16="http://schemas.microsoft.com/office/drawing/2014/main" id="{C071FA3C-FD03-425D-8586-7A80D0BE0AB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Sergio Gevatschnaider / Qwen-Agent / DeepSeek-V3</a:t>
            </a:r>
          </a:p>
        </p:txBody>
      </p:sp>
      <p:sp>
        <p:nvSpPr>
          <p:cNvPr id="7" name="text-1ui2w9q2kqu">
            <a:extLst xmlns:a="http://schemas.openxmlformats.org/drawingml/2006/main">
              <a:ext uri="{FF2B5EF4-FFF2-40B4-BE49-F238E27FC236}">
                <a16:creationId xmlns:a16="http://schemas.microsoft.com/office/drawing/2014/main" id="{B43D7782-AB2F-4555-A531-0080A0EE2FC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06</a:t>
            </a:r>
          </a:p>
        </p:txBody>
      </p:sp>
      <p:sp>
        <p:nvSpPr>
          <p:cNvPr id="8" name="">
            <a:extLst xmlns:a="http://schemas.openxmlformats.org/drawingml/2006/main">
              <a:ext uri="{FF2B5EF4-FFF2-40B4-BE49-F238E27FC236}">
                <a16:creationId xmlns:a16="http://schemas.microsoft.com/office/drawing/2014/main" id="{5B467C72-5594-44CF-AEDC-13405B6A43D7}"/>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D3F3B5D-E360-4FB0-8085-887FF1A7744A}"/>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pay8lmv8em">
            <a:extLst xmlns:a="http://schemas.openxmlformats.org/drawingml/2006/main">
              <a:ext uri="{FF2B5EF4-FFF2-40B4-BE49-F238E27FC236}">
                <a16:creationId xmlns:a16="http://schemas.microsoft.com/office/drawing/2014/main" id="{49844143-2B35-4EFC-A2DF-57C9CD663E38}"/>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DeepSeek</a:t>
            </a:r>
          </a:p>
        </p:txBody>
      </p:sp>
      <p:sp>
        <p:nvSpPr>
          <p:cNvPr id="11" name="text-hrjylsjdys8">
            <a:extLst xmlns:a="http://schemas.openxmlformats.org/drawingml/2006/main">
              <a:ext uri="{FF2B5EF4-FFF2-40B4-BE49-F238E27FC236}">
                <a16:creationId xmlns:a16="http://schemas.microsoft.com/office/drawing/2014/main" id="{94FB738D-3886-4710-A406-8A0C06990C43}"/>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Investigación en modelos y eficiencia de cómputo.</a:t>
            </a:r>
          </a:p>
        </p:txBody>
      </p:sp>
      <p:sp>
        <p:nvSpPr>
          <p:cNvPr id="12" name="">
            <a:extLst xmlns:a="http://schemas.openxmlformats.org/drawingml/2006/main">
              <a:ext uri="{FF2B5EF4-FFF2-40B4-BE49-F238E27FC236}">
                <a16:creationId xmlns:a16="http://schemas.microsoft.com/office/drawing/2014/main" id="{CA868E6B-DE18-45D1-9D61-D9C67B77ABBC}"/>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8C43BE1-03FD-4AC5-BE9F-01CA56ADB9B1}"/>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1zaykwidvyh">
            <a:extLst xmlns:a="http://schemas.openxmlformats.org/drawingml/2006/main">
              <a:ext uri="{FF2B5EF4-FFF2-40B4-BE49-F238E27FC236}">
                <a16:creationId xmlns:a16="http://schemas.microsoft.com/office/drawing/2014/main" id="{718FEDFD-021C-45C0-8C35-106E33A829F4}"/>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Alibaba / Qwen</a:t>
            </a:r>
          </a:p>
        </p:txBody>
      </p:sp>
      <p:sp>
        <p:nvSpPr>
          <p:cNvPr id="15" name="text-rxoj6c5dne">
            <a:extLst xmlns:a="http://schemas.openxmlformats.org/drawingml/2006/main">
              <a:ext uri="{FF2B5EF4-FFF2-40B4-BE49-F238E27FC236}">
                <a16:creationId xmlns:a16="http://schemas.microsoft.com/office/drawing/2014/main" id="{C12E4901-9B38-491F-B149-D0961386C904}"/>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Modelos y herramientas conectados con nube y distribución.</a:t>
            </a:r>
          </a:p>
        </p:txBody>
      </p:sp>
      <p:sp>
        <p:nvSpPr>
          <p:cNvPr id="16" name="">
            <a:extLst xmlns:a="http://schemas.openxmlformats.org/drawingml/2006/main">
              <a:ext uri="{FF2B5EF4-FFF2-40B4-BE49-F238E27FC236}">
                <a16:creationId xmlns:a16="http://schemas.microsoft.com/office/drawing/2014/main" id="{F2A11F88-8B7A-4EC5-952A-B8FFD4B09106}"/>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45068E7-28E2-4505-A265-8A8A4A66C3F3}"/>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038ow74tnpti">
            <a:extLst xmlns:a="http://schemas.openxmlformats.org/drawingml/2006/main">
              <a:ext uri="{FF2B5EF4-FFF2-40B4-BE49-F238E27FC236}">
                <a16:creationId xmlns:a16="http://schemas.microsoft.com/office/drawing/2014/main" id="{7D75F49D-A3C1-40C4-B74E-B1783ABC5C41}"/>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Huawei</a:t>
            </a:r>
          </a:p>
        </p:txBody>
      </p:sp>
      <p:sp>
        <p:nvSpPr>
          <p:cNvPr id="19" name="text-huv016mbsc9">
            <a:extLst xmlns:a="http://schemas.openxmlformats.org/drawingml/2006/main">
              <a:ext uri="{FF2B5EF4-FFF2-40B4-BE49-F238E27FC236}">
                <a16:creationId xmlns:a16="http://schemas.microsoft.com/office/drawing/2014/main" id="{EC0FE287-06D8-4A99-97C4-2E12B0A88E5B}"/>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Modelos sectoriales e infraestructura de cómputo.</a:t>
            </a:r>
          </a:p>
        </p:txBody>
      </p:sp>
    </p:spTree>
    <p:extLst>
      <p:ext uri="{BB962C8B-B14F-4D97-AF65-F5344CB8AC3E}">
        <p14:creationId xmlns:p14="http://schemas.microsoft.com/office/powerpoint/2010/main" val="1195812789"/>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5228FB-87E8-4FD8-932F-EA2489AF1B7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nu5uiau2exo">
            <a:extLst xmlns:a="http://schemas.openxmlformats.org/drawingml/2006/main">
              <a:ext uri="{FF2B5EF4-FFF2-40B4-BE49-F238E27FC236}">
                <a16:creationId xmlns:a16="http://schemas.microsoft.com/office/drawing/2014/main" id="{0A666A8D-1773-41B7-8F2B-3615F163340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6jwm014yp3b">
            <a:extLst xmlns:a="http://schemas.openxmlformats.org/drawingml/2006/main">
              <a:ext uri="{FF2B5EF4-FFF2-40B4-BE49-F238E27FC236}">
                <a16:creationId xmlns:a16="http://schemas.microsoft.com/office/drawing/2014/main" id="{12730139-8837-4F1C-9441-559D22A4F94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DeepSeek-V3 activa una fracción de sus parámetros por token</a:t>
            </a:r>
          </a:p>
        </p:txBody>
      </p:sp>
      <p:sp>
        <p:nvSpPr>
          <p:cNvPr id="4" name="text-9xf0ebg4jee">
            <a:extLst xmlns:a="http://schemas.openxmlformats.org/drawingml/2006/main">
              <a:ext uri="{FF2B5EF4-FFF2-40B4-BE49-F238E27FC236}">
                <a16:creationId xmlns:a16="http://schemas.microsoft.com/office/drawing/2014/main" id="{EF879209-C6FD-4B11-BA0F-39ADE71FB29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MoE distribuye el procesamiento entre expertos seleccionados.</a:t>
            </a:r>
          </a:p>
        </p:txBody>
      </p:sp>
      <p:sp>
        <p:nvSpPr>
          <p:cNvPr id="5" name="">
            <a:extLst xmlns:a="http://schemas.openxmlformats.org/drawingml/2006/main">
              <a:ext uri="{FF2B5EF4-FFF2-40B4-BE49-F238E27FC236}">
                <a16:creationId xmlns:a16="http://schemas.microsoft.com/office/drawing/2014/main" id="{1BD3F1EF-8019-43D4-B322-0E952700AA7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k7txvftl9p">
            <a:extLst xmlns:a="http://schemas.openxmlformats.org/drawingml/2006/main">
              <a:ext uri="{FF2B5EF4-FFF2-40B4-BE49-F238E27FC236}">
                <a16:creationId xmlns:a16="http://schemas.microsoft.com/office/drawing/2014/main" id="{33895F75-E68A-4808-BE2A-DF2CD5FF56A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DeepSeek-V3</a:t>
            </a:r>
          </a:p>
        </p:txBody>
      </p:sp>
      <p:sp>
        <p:nvSpPr>
          <p:cNvPr id="7" name="text-ja6djqzzu4m">
            <a:extLst xmlns:a="http://schemas.openxmlformats.org/drawingml/2006/main">
              <a:ext uri="{FF2B5EF4-FFF2-40B4-BE49-F238E27FC236}">
                <a16:creationId xmlns:a16="http://schemas.microsoft.com/office/drawing/2014/main" id="{76DABF13-AA57-4175-87B6-F301519C94E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07</a:t>
            </a:r>
          </a:p>
        </p:txBody>
      </p:sp>
      <p:sp>
        <p:nvSpPr>
          <p:cNvPr id="8" name="text-jqzozgar39">
            <a:extLst xmlns:a="http://schemas.openxmlformats.org/drawingml/2006/main">
              <a:ext uri="{FF2B5EF4-FFF2-40B4-BE49-F238E27FC236}">
                <a16:creationId xmlns:a16="http://schemas.microsoft.com/office/drawing/2014/main" id="{2CBCF25B-5886-4869-86B4-90DE322B3FE1}"/>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MoE</a:t>
            </a:r>
          </a:p>
        </p:txBody>
      </p:sp>
      <p:sp>
        <p:nvSpPr>
          <p:cNvPr id="9" name="text-ijey325feyh">
            <a:extLst xmlns:a="http://schemas.openxmlformats.org/drawingml/2006/main">
              <a:ext uri="{FF2B5EF4-FFF2-40B4-BE49-F238E27FC236}">
                <a16:creationId xmlns:a16="http://schemas.microsoft.com/office/drawing/2014/main" id="{3C397571-35DA-466E-95CA-70E240D125A6}"/>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671 mil millones</a:t>
            </a:r>
          </a:p>
        </p:txBody>
      </p:sp>
      <p:sp>
        <p:nvSpPr>
          <p:cNvPr id="10" name="text-pgusxu1wdtg">
            <a:extLst xmlns:a="http://schemas.openxmlformats.org/drawingml/2006/main">
              <a:ext uri="{FF2B5EF4-FFF2-40B4-BE49-F238E27FC236}">
                <a16:creationId xmlns:a16="http://schemas.microsoft.com/office/drawing/2014/main" id="{1F4EBBE3-2813-4C35-A412-7D2334E243F2}"/>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Parámetros totales del V3 descrito en el informe.</a:t>
            </a:r>
          </a:p>
        </p:txBody>
      </p:sp>
      <p:sp>
        <p:nvSpPr>
          <p:cNvPr id="11" name="text-tmsaqa11v9">
            <a:extLst xmlns:a="http://schemas.openxmlformats.org/drawingml/2006/main">
              <a:ext uri="{FF2B5EF4-FFF2-40B4-BE49-F238E27FC236}">
                <a16:creationId xmlns:a16="http://schemas.microsoft.com/office/drawing/2014/main" id="{6777577F-80E5-413D-8C81-5D7BBB720B13}"/>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37 mil millones</a:t>
            </a:r>
          </a:p>
        </p:txBody>
      </p:sp>
      <p:sp>
        <p:nvSpPr>
          <p:cNvPr id="12" name="text-w3131ju16vq">
            <a:extLst xmlns:a="http://schemas.openxmlformats.org/drawingml/2006/main">
              <a:ext uri="{FF2B5EF4-FFF2-40B4-BE49-F238E27FC236}">
                <a16:creationId xmlns:a16="http://schemas.microsoft.com/office/drawing/2014/main" id="{BC89D1D2-846E-4D9E-8348-C771CD1238B7}"/>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Parámetros activados por token, según el informe.</a:t>
            </a:r>
          </a:p>
        </p:txBody>
      </p:sp>
      <p:sp>
        <p:nvSpPr>
          <p:cNvPr id="13" name="text-p0wdz5g8ap">
            <a:extLst xmlns:a="http://schemas.openxmlformats.org/drawingml/2006/main">
              <a:ext uri="{FF2B5EF4-FFF2-40B4-BE49-F238E27FC236}">
                <a16:creationId xmlns:a16="http://schemas.microsoft.com/office/drawing/2014/main" id="{91E4081F-07F6-405A-90F2-678D29986867}"/>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Implicación</a:t>
            </a:r>
          </a:p>
        </p:txBody>
      </p:sp>
      <p:sp>
        <p:nvSpPr>
          <p:cNvPr id="14" name="text-hx2dy0vs05">
            <a:extLst xmlns:a="http://schemas.openxmlformats.org/drawingml/2006/main">
              <a:ext uri="{FF2B5EF4-FFF2-40B4-BE49-F238E27FC236}">
                <a16:creationId xmlns:a16="http://schemas.microsoft.com/office/drawing/2014/main" id="{1F0B06EA-4B0F-40CB-92AA-63D3E7171C1F}"/>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Menos activación no elimina memoria, comunicación ni complejidad.</a:t>
            </a:r>
          </a:p>
        </p:txBody>
      </p:sp>
    </p:spTree>
    <p:extLst>
      <p:ext uri="{BB962C8B-B14F-4D97-AF65-F5344CB8AC3E}">
        <p14:creationId xmlns:p14="http://schemas.microsoft.com/office/powerpoint/2010/main" val="782658338"/>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3B56478-585D-4302-A286-F259912C893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gc8nejjfrcb">
            <a:extLst xmlns:a="http://schemas.openxmlformats.org/drawingml/2006/main">
              <a:ext uri="{FF2B5EF4-FFF2-40B4-BE49-F238E27FC236}">
                <a16:creationId xmlns:a16="http://schemas.microsoft.com/office/drawing/2014/main" id="{787B6F07-BE7D-44B0-9215-766FFBE322A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zmrbpbg3z69">
            <a:extLst xmlns:a="http://schemas.openxmlformats.org/drawingml/2006/main">
              <a:ext uri="{FF2B5EF4-FFF2-40B4-BE49-F238E27FC236}">
                <a16:creationId xmlns:a16="http://schemas.microsoft.com/office/drawing/2014/main" id="{548EDEDB-D816-45FD-982E-EC670A8A3E7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R1 y R1-Zero usan recorridos de entrenamiento diferentes</a:t>
            </a:r>
          </a:p>
        </p:txBody>
      </p:sp>
      <p:sp>
        <p:nvSpPr>
          <p:cNvPr id="4" name="text-dypalihg3hs">
            <a:extLst xmlns:a="http://schemas.openxmlformats.org/drawingml/2006/main">
              <a:ext uri="{FF2B5EF4-FFF2-40B4-BE49-F238E27FC236}">
                <a16:creationId xmlns:a16="http://schemas.microsoft.com/office/drawing/2014/main" id="{7DCF8461-20D5-4F0A-BDD7-C7D8C049D16F}"/>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Ambos parten de una base previamente entrenada.</a:t>
            </a:r>
          </a:p>
        </p:txBody>
      </p:sp>
      <p:sp>
        <p:nvSpPr>
          <p:cNvPr id="5" name="">
            <a:extLst xmlns:a="http://schemas.openxmlformats.org/drawingml/2006/main">
              <a:ext uri="{FF2B5EF4-FFF2-40B4-BE49-F238E27FC236}">
                <a16:creationId xmlns:a16="http://schemas.microsoft.com/office/drawing/2014/main" id="{A594E697-7F47-421F-934C-6E68836F677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wo4h9m3gy9">
            <a:extLst xmlns:a="http://schemas.openxmlformats.org/drawingml/2006/main">
              <a:ext uri="{FF2B5EF4-FFF2-40B4-BE49-F238E27FC236}">
                <a16:creationId xmlns:a16="http://schemas.microsoft.com/office/drawing/2014/main" id="{A63A70D9-8D7A-4443-87E8-058702B060F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DeepSeek-R1</a:t>
            </a:r>
          </a:p>
        </p:txBody>
      </p:sp>
      <p:sp>
        <p:nvSpPr>
          <p:cNvPr id="7" name="text-9mkkyeot6uw">
            <a:extLst xmlns:a="http://schemas.openxmlformats.org/drawingml/2006/main">
              <a:ext uri="{FF2B5EF4-FFF2-40B4-BE49-F238E27FC236}">
                <a16:creationId xmlns:a16="http://schemas.microsoft.com/office/drawing/2014/main" id="{46CC8F12-2940-471C-B59F-A0ECF3F6E0A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08</a:t>
            </a:r>
          </a:p>
        </p:txBody>
      </p:sp>
      <p:sp>
        <p:nvSpPr>
          <p:cNvPr id="8" name="">
            <a:extLst xmlns:a="http://schemas.openxmlformats.org/drawingml/2006/main">
              <a:ext uri="{FF2B5EF4-FFF2-40B4-BE49-F238E27FC236}">
                <a16:creationId xmlns:a16="http://schemas.microsoft.com/office/drawing/2014/main" id="{207E74DD-7536-4F2F-BF72-43C99C904226}"/>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6DB3DB0-0FA1-4307-BF8F-A07E962271AB}"/>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muqr8l7q78o">
            <a:extLst xmlns:a="http://schemas.openxmlformats.org/drawingml/2006/main">
              <a:ext uri="{FF2B5EF4-FFF2-40B4-BE49-F238E27FC236}">
                <a16:creationId xmlns:a16="http://schemas.microsoft.com/office/drawing/2014/main" id="{0CC1C485-37DA-45EB-B597-F32FE248B904}"/>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Base preentrenada</a:t>
            </a:r>
          </a:p>
        </p:txBody>
      </p:sp>
      <p:sp>
        <p:nvSpPr>
          <p:cNvPr id="11" name="text-mkxtcnijbc">
            <a:extLst xmlns:a="http://schemas.openxmlformats.org/drawingml/2006/main">
              <a:ext uri="{FF2B5EF4-FFF2-40B4-BE49-F238E27FC236}">
                <a16:creationId xmlns:a16="http://schemas.microsoft.com/office/drawing/2014/main" id="{11EB39C4-E75A-4A18-BFC8-193E81909114}"/>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Capacidades adquiridas con grandes corpus.</a:t>
            </a:r>
          </a:p>
        </p:txBody>
      </p:sp>
      <p:sp>
        <p:nvSpPr>
          <p:cNvPr id="12" name="">
            <a:extLst xmlns:a="http://schemas.openxmlformats.org/drawingml/2006/main">
              <a:ext uri="{FF2B5EF4-FFF2-40B4-BE49-F238E27FC236}">
                <a16:creationId xmlns:a16="http://schemas.microsoft.com/office/drawing/2014/main" id="{EB04588A-8740-4985-88D7-1E93C1A6B1F8}"/>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4704FC7-FF80-4DE6-843B-2E6E2D93CDC2}"/>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bk3naffxums">
            <a:extLst xmlns:a="http://schemas.openxmlformats.org/drawingml/2006/main">
              <a:ext uri="{FF2B5EF4-FFF2-40B4-BE49-F238E27FC236}">
                <a16:creationId xmlns:a16="http://schemas.microsoft.com/office/drawing/2014/main" id="{923D2B09-707B-4EEE-8631-6CCEE0CA2525}"/>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R1-Zero</a:t>
            </a:r>
          </a:p>
        </p:txBody>
      </p:sp>
      <p:sp>
        <p:nvSpPr>
          <p:cNvPr id="15" name="text-bl7yl84hujb">
            <a:extLst xmlns:a="http://schemas.openxmlformats.org/drawingml/2006/main">
              <a:ext uri="{FF2B5EF4-FFF2-40B4-BE49-F238E27FC236}">
                <a16:creationId xmlns:a16="http://schemas.microsoft.com/office/drawing/2014/main" id="{51C1D1E8-EAB0-4A5F-8770-7649CB0BE9AE}"/>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Refuerzo sin SFT preliminar en ese experimento.</a:t>
            </a:r>
          </a:p>
        </p:txBody>
      </p:sp>
      <p:sp>
        <p:nvSpPr>
          <p:cNvPr id="16" name="">
            <a:extLst xmlns:a="http://schemas.openxmlformats.org/drawingml/2006/main">
              <a:ext uri="{FF2B5EF4-FFF2-40B4-BE49-F238E27FC236}">
                <a16:creationId xmlns:a16="http://schemas.microsoft.com/office/drawing/2014/main" id="{75276C1D-E9B6-46B0-8D44-E9234A8C0234}"/>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550C8C-1068-4859-9F08-E20910950D5C}"/>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nk4lgokpm6b">
            <a:extLst xmlns:a="http://schemas.openxmlformats.org/drawingml/2006/main">
              <a:ext uri="{FF2B5EF4-FFF2-40B4-BE49-F238E27FC236}">
                <a16:creationId xmlns:a16="http://schemas.microsoft.com/office/drawing/2014/main" id="{C1C51DA3-C90D-414D-A575-23760740580C}"/>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R1</a:t>
            </a:r>
          </a:p>
        </p:txBody>
      </p:sp>
      <p:sp>
        <p:nvSpPr>
          <p:cNvPr id="19" name="text-pus4sup1jx">
            <a:extLst xmlns:a="http://schemas.openxmlformats.org/drawingml/2006/main">
              <a:ext uri="{FF2B5EF4-FFF2-40B4-BE49-F238E27FC236}">
                <a16:creationId xmlns:a16="http://schemas.microsoft.com/office/drawing/2014/main" id="{C074500E-FA34-4FE4-8A08-DD8861A15A5C}"/>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Datos de arranque, etapas de refuerzo y otros ajustes.</a:t>
            </a:r>
          </a:p>
        </p:txBody>
      </p:sp>
    </p:spTree>
    <p:extLst>
      <p:ext uri="{BB962C8B-B14F-4D97-AF65-F5344CB8AC3E}">
        <p14:creationId xmlns:p14="http://schemas.microsoft.com/office/powerpoint/2010/main" val="1639132429"/>
      </p:ext>
    </p:extLst>
  </p:cSld>
</p:sld>
</file>

<file path=ppt/slides/slide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953A514-C6AB-4784-85E9-5528309465F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0jih7st9wgl">
            <a:extLst xmlns:a="http://schemas.openxmlformats.org/drawingml/2006/main">
              <a:ext uri="{FF2B5EF4-FFF2-40B4-BE49-F238E27FC236}">
                <a16:creationId xmlns:a16="http://schemas.microsoft.com/office/drawing/2014/main" id="{7E1A4D4C-7FE6-402D-BBB9-F747B1ECBDF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yhl5wm4gq0r">
            <a:extLst xmlns:a="http://schemas.openxmlformats.org/drawingml/2006/main">
              <a:ext uri="{FF2B5EF4-FFF2-40B4-BE49-F238E27FC236}">
                <a16:creationId xmlns:a16="http://schemas.microsoft.com/office/drawing/2014/main" id="{2AFECE62-1332-4013-9EF6-8E79E32095F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El costo comunicado de V3 tiene un perímetro concreto</a:t>
            </a:r>
          </a:p>
        </p:txBody>
      </p:sp>
      <p:sp>
        <p:nvSpPr>
          <p:cNvPr id="4" name="text-4vz5zv54uwt">
            <a:extLst xmlns:a="http://schemas.openxmlformats.org/drawingml/2006/main">
              <a:ext uri="{FF2B5EF4-FFF2-40B4-BE49-F238E27FC236}">
                <a16:creationId xmlns:a16="http://schemas.microsoft.com/office/drawing/2014/main" id="{593CD77B-EABD-432C-8B8D-DAB45A7CF7C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La cifra corresponde al cómputo del entrenamiento oficial bajo un supuesto de alquiler.</a:t>
            </a:r>
          </a:p>
        </p:txBody>
      </p:sp>
      <p:sp>
        <p:nvSpPr>
          <p:cNvPr id="5" name="">
            <a:extLst xmlns:a="http://schemas.openxmlformats.org/drawingml/2006/main">
              <a:ext uri="{FF2B5EF4-FFF2-40B4-BE49-F238E27FC236}">
                <a16:creationId xmlns:a16="http://schemas.microsoft.com/office/drawing/2014/main" id="{8EA36EA2-A5FA-4138-AC3D-6986416E163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eyoc59ra7jf">
            <a:extLst xmlns:a="http://schemas.openxmlformats.org/drawingml/2006/main">
              <a:ext uri="{FF2B5EF4-FFF2-40B4-BE49-F238E27FC236}">
                <a16:creationId xmlns:a16="http://schemas.microsoft.com/office/drawing/2014/main" id="{50882E32-3654-4382-BFB8-91A7CB0B24B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DeepSeek-V3</a:t>
            </a:r>
          </a:p>
        </p:txBody>
      </p:sp>
      <p:sp>
        <p:nvSpPr>
          <p:cNvPr id="7" name="text-jv2w7hhqzq">
            <a:extLst xmlns:a="http://schemas.openxmlformats.org/drawingml/2006/main">
              <a:ext uri="{FF2B5EF4-FFF2-40B4-BE49-F238E27FC236}">
                <a16:creationId xmlns:a16="http://schemas.microsoft.com/office/drawing/2014/main" id="{20DD1600-A831-4391-A6FA-5892E8C83F1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09</a:t>
            </a:r>
          </a:p>
        </p:txBody>
      </p:sp>
      <p:sp>
        <p:nvSpPr>
          <p:cNvPr id="8" name="text-pvu7kixqn5m">
            <a:extLst xmlns:a="http://schemas.openxmlformats.org/drawingml/2006/main">
              <a:ext uri="{FF2B5EF4-FFF2-40B4-BE49-F238E27FC236}">
                <a16:creationId xmlns:a16="http://schemas.microsoft.com/office/drawing/2014/main" id="{1F3B1C4D-4B9F-4611-9F76-D60F8349DEB3}"/>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62D6C9"/>
                </a:solidFill>
                <a:latin typeface="DejaVu Sans"/>
                <a:ea typeface="DejaVu Sans"/>
                <a:cs typeface="DejaVu Sans"/>
              </a:defRPr>
            </a:defPPr>
            <a:lvl1pPr algn="l">
              <a:defRPr sz="3900" b="1">
                <a:solidFill>
                  <a:srgbClr val="62D6C9"/>
                </a:solidFill>
                <a:latin typeface="DejaVu Sans"/>
                <a:ea typeface="DejaVu Sans"/>
                <a:cs typeface="DejaVu Sans"/>
              </a:defRPr>
            </a:lvl1pPr>
            <a:lvl2pPr algn="l">
              <a:defRPr sz="3900" b="1">
                <a:solidFill>
                  <a:srgbClr val="62D6C9"/>
                </a:solidFill>
                <a:latin typeface="DejaVu Sans"/>
                <a:ea typeface="DejaVu Sans"/>
                <a:cs typeface="DejaVu Sans"/>
              </a:defRPr>
            </a:lvl2pPr>
            <a:lvl3pPr algn="l">
              <a:defRPr sz="3900" b="1">
                <a:solidFill>
                  <a:srgbClr val="62D6C9"/>
                </a:solidFill>
                <a:latin typeface="DejaVu Sans"/>
                <a:ea typeface="DejaVu Sans"/>
                <a:cs typeface="DejaVu Sans"/>
              </a:defRPr>
            </a:lvl3pPr>
            <a:lvl4pPr algn="l">
              <a:defRPr sz="3900" b="1">
                <a:solidFill>
                  <a:srgbClr val="62D6C9"/>
                </a:solidFill>
                <a:latin typeface="DejaVu Sans"/>
                <a:ea typeface="DejaVu Sans"/>
                <a:cs typeface="DejaVu Sans"/>
              </a:defRPr>
            </a:lvl4pPr>
            <a:lvl5pPr algn="l">
              <a:defRPr sz="3900" b="1">
                <a:solidFill>
                  <a:srgbClr val="62D6C9"/>
                </a:solidFill>
                <a:latin typeface="DejaVu Sans"/>
                <a:ea typeface="DejaVu Sans"/>
                <a:cs typeface="DejaVu Sans"/>
              </a:defRPr>
            </a:lvl5pPr>
            <a:lvl6pPr algn="l">
              <a:defRPr sz="3900" b="1">
                <a:solidFill>
                  <a:srgbClr val="62D6C9"/>
                </a:solidFill>
                <a:latin typeface="DejaVu Sans"/>
                <a:ea typeface="DejaVu Sans"/>
                <a:cs typeface="DejaVu Sans"/>
              </a:defRPr>
            </a:lvl6pPr>
            <a:lvl7pPr algn="l">
              <a:defRPr sz="3900" b="1">
                <a:solidFill>
                  <a:srgbClr val="62D6C9"/>
                </a:solidFill>
                <a:latin typeface="DejaVu Sans"/>
                <a:ea typeface="DejaVu Sans"/>
                <a:cs typeface="DejaVu Sans"/>
              </a:defRPr>
            </a:lvl7pPr>
            <a:lvl8pPr algn="l">
              <a:defRPr sz="3900" b="1">
                <a:solidFill>
                  <a:srgbClr val="62D6C9"/>
                </a:solidFill>
                <a:latin typeface="DejaVu Sans"/>
                <a:ea typeface="DejaVu Sans"/>
                <a:cs typeface="DejaVu Sans"/>
              </a:defRPr>
            </a:lvl8pPr>
            <a:lvl9pPr algn="l">
              <a:defRPr sz="3900" b="1">
                <a:solidFill>
                  <a:srgbClr val="62D6C9"/>
                </a:solidFill>
                <a:latin typeface="DejaVu Sans"/>
                <a:ea typeface="DejaVu Sans"/>
                <a:cs typeface="DejaVu Sans"/>
              </a:defRPr>
            </a:lvl9pPr>
          </a:lstStyle>
          <a:p xmlns:a="http://schemas.openxmlformats.org/drawingml/2006/main">
            <a:pPr algn="l">
              <a:lnSpc>
                <a:spcPct val="112000"/>
              </a:lnSpc>
              <a:buNone/>
              <a:defRPr sz="3900" b="1">
                <a:solidFill>
                  <a:srgbClr val="62D6C9"/>
                </a:solidFill>
                <a:latin typeface="DejaVu Sans"/>
                <a:ea typeface="DejaVu Sans"/>
                <a:cs typeface="DejaVu Sans"/>
              </a:defRPr>
            </a:pPr>
            <a:r>
              <a:rPr sz="3900" b="1">
                <a:solidFill>
                  <a:srgbClr val="62D6C9"/>
                </a:solidFill>
                <a:latin typeface="DejaVu Sans"/>
                <a:ea typeface="DejaVu Sans"/>
                <a:cs typeface="DejaVu Sans"/>
              </a:rPr>
              <a:t>US$ 5,576 M</a:t>
            </a:r>
          </a:p>
        </p:txBody>
      </p:sp>
      <p:sp>
        <p:nvSpPr>
          <p:cNvPr id="9" name="text-l5rdewt6g9f">
            <a:extLst xmlns:a="http://schemas.openxmlformats.org/drawingml/2006/main">
              <a:ext uri="{FF2B5EF4-FFF2-40B4-BE49-F238E27FC236}">
                <a16:creationId xmlns:a16="http://schemas.microsoft.com/office/drawing/2014/main" id="{96AC9B1C-5015-477B-AED3-6E95CE43312D}"/>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Qué calcula</a:t>
            </a:r>
          </a:p>
        </p:txBody>
      </p:sp>
      <p:sp>
        <p:nvSpPr>
          <p:cNvPr id="10" name="text-0s9p5mwnb26">
            <a:extLst xmlns:a="http://schemas.openxmlformats.org/drawingml/2006/main">
              <a:ext uri="{FF2B5EF4-FFF2-40B4-BE49-F238E27FC236}">
                <a16:creationId xmlns:a16="http://schemas.microsoft.com/office/drawing/2014/main" id="{CF207B3A-A17C-4607-892E-F06FEE6EEB92}"/>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2,788 millones de horas H800 × US$ 2 por hora.</a:t>
            </a:r>
          </a:p>
        </p:txBody>
      </p:sp>
      <p:sp>
        <p:nvSpPr>
          <p:cNvPr id="11" name="text-f9mmlv0ko1">
            <a:extLst xmlns:a="http://schemas.openxmlformats.org/drawingml/2006/main">
              <a:ext uri="{FF2B5EF4-FFF2-40B4-BE49-F238E27FC236}">
                <a16:creationId xmlns:a16="http://schemas.microsoft.com/office/drawing/2014/main" id="{3FA5D7B9-F6DA-46A0-85CF-25C7BADE0287}"/>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Qué excluye</a:t>
            </a:r>
          </a:p>
        </p:txBody>
      </p:sp>
      <p:sp>
        <p:nvSpPr>
          <p:cNvPr id="12" name="text-uqq2gxmo02">
            <a:extLst xmlns:a="http://schemas.openxmlformats.org/drawingml/2006/main">
              <a:ext uri="{FF2B5EF4-FFF2-40B4-BE49-F238E27FC236}">
                <a16:creationId xmlns:a16="http://schemas.microsoft.com/office/drawing/2014/main" id="{8A3E5168-71F5-4CEB-90EA-EDD84AE92AA1}"/>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Investigación previa y experimentos de ablación.</a:t>
            </a:r>
          </a:p>
        </p:txBody>
      </p:sp>
      <p:sp>
        <p:nvSpPr>
          <p:cNvPr id="13" name="text-j7dsgoaehce">
            <a:extLst xmlns:a="http://schemas.openxmlformats.org/drawingml/2006/main">
              <a:ext uri="{FF2B5EF4-FFF2-40B4-BE49-F238E27FC236}">
                <a16:creationId xmlns:a16="http://schemas.microsoft.com/office/drawing/2014/main" id="{701D7183-D635-4058-BF02-75C7022A7916}"/>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Qué no mide</a:t>
            </a:r>
          </a:p>
        </p:txBody>
      </p:sp>
      <p:sp>
        <p:nvSpPr>
          <p:cNvPr id="14" name="text-ze4mk8tscz">
            <a:extLst xmlns:a="http://schemas.openxmlformats.org/drawingml/2006/main">
              <a:ext uri="{FF2B5EF4-FFF2-40B4-BE49-F238E27FC236}">
                <a16:creationId xmlns:a16="http://schemas.microsoft.com/office/drawing/2014/main" id="{16CFEEC7-F0DA-43B1-BE56-5FCCD18B781B}"/>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El costo total empresarial o el desarrollo completo de R1.</a:t>
            </a:r>
          </a:p>
        </p:txBody>
      </p:sp>
    </p:spTree>
    <p:extLst>
      <p:ext uri="{BB962C8B-B14F-4D97-AF65-F5344CB8AC3E}">
        <p14:creationId xmlns:p14="http://schemas.microsoft.com/office/powerpoint/2010/main" val="1642107346"/>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6439218-00C0-4CA1-B1DC-C68BF603EBF8}"/>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si3bs8mrry8">
            <a:extLst xmlns:a="http://schemas.openxmlformats.org/drawingml/2006/main">
              <a:ext uri="{FF2B5EF4-FFF2-40B4-BE49-F238E27FC236}">
                <a16:creationId xmlns:a16="http://schemas.microsoft.com/office/drawing/2014/main" id="{B006AFD3-6B9A-4F8A-80E9-2F1D07DFAEF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pmtmsi0ar4c">
            <a:extLst xmlns:a="http://schemas.openxmlformats.org/drawingml/2006/main">
              <a:ext uri="{FF2B5EF4-FFF2-40B4-BE49-F238E27FC236}">
                <a16:creationId xmlns:a16="http://schemas.microsoft.com/office/drawing/2014/main" id="{535F03EF-94DF-4B7D-94CC-E83798516F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Elegir un modelo requiere una evaluación de la tarea</a:t>
            </a:r>
          </a:p>
        </p:txBody>
      </p:sp>
      <p:sp>
        <p:nvSpPr>
          <p:cNvPr id="4" name="text-sqxvqo2iuem">
            <a:extLst xmlns:a="http://schemas.openxmlformats.org/drawingml/2006/main">
              <a:ext uri="{FF2B5EF4-FFF2-40B4-BE49-F238E27FC236}">
                <a16:creationId xmlns:a16="http://schemas.microsoft.com/office/drawing/2014/main" id="{4AD648E3-38B5-4EBC-9642-7C7DEB45D25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El benchmark general no reemplaza una prueba de uso.</a:t>
            </a:r>
          </a:p>
        </p:txBody>
      </p:sp>
      <p:sp>
        <p:nvSpPr>
          <p:cNvPr id="5" name="">
            <a:extLst xmlns:a="http://schemas.openxmlformats.org/drawingml/2006/main">
              <a:ext uri="{FF2B5EF4-FFF2-40B4-BE49-F238E27FC236}">
                <a16:creationId xmlns:a16="http://schemas.microsoft.com/office/drawing/2014/main" id="{2473E489-D033-45DC-BD1C-CF40AF10DD0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yrakk7w135">
            <a:extLst xmlns:a="http://schemas.openxmlformats.org/drawingml/2006/main">
              <a:ext uri="{FF2B5EF4-FFF2-40B4-BE49-F238E27FC236}">
                <a16:creationId xmlns:a16="http://schemas.microsoft.com/office/drawing/2014/main" id="{30C1A63A-19B9-451A-B2D3-4DDAE59C1555}"/>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democo755k8">
            <a:extLst xmlns:a="http://schemas.openxmlformats.org/drawingml/2006/main">
              <a:ext uri="{FF2B5EF4-FFF2-40B4-BE49-F238E27FC236}">
                <a16:creationId xmlns:a16="http://schemas.microsoft.com/office/drawing/2014/main" id="{0407D151-8058-4045-8847-5696A65D2B9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A26912A3-AFBA-4EB0-99C8-B586D4A06451}"/>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39109DE-7232-493B-A052-7DDD4B5E84B6}"/>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5pxjilw9lt">
            <a:extLst xmlns:a="http://schemas.openxmlformats.org/drawingml/2006/main">
              <a:ext uri="{FF2B5EF4-FFF2-40B4-BE49-F238E27FC236}">
                <a16:creationId xmlns:a16="http://schemas.microsoft.com/office/drawing/2014/main" id="{062025B7-4C79-4478-A419-10562F65B747}"/>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Calidad</a:t>
            </a:r>
          </a:p>
        </p:txBody>
      </p:sp>
      <p:sp>
        <p:nvSpPr>
          <p:cNvPr id="11" name="text-w46nccwg1bb">
            <a:extLst xmlns:a="http://schemas.openxmlformats.org/drawingml/2006/main">
              <a:ext uri="{FF2B5EF4-FFF2-40B4-BE49-F238E27FC236}">
                <a16:creationId xmlns:a16="http://schemas.microsoft.com/office/drawing/2014/main" id="{7F64DBA9-F25B-4D66-A1C6-FD192E76EA2E}"/>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Éxito en datos representativos y casos difíciles.</a:t>
            </a:r>
          </a:p>
        </p:txBody>
      </p:sp>
      <p:sp>
        <p:nvSpPr>
          <p:cNvPr id="12" name="">
            <a:extLst xmlns:a="http://schemas.openxmlformats.org/drawingml/2006/main">
              <a:ext uri="{FF2B5EF4-FFF2-40B4-BE49-F238E27FC236}">
                <a16:creationId xmlns:a16="http://schemas.microsoft.com/office/drawing/2014/main" id="{4DA0D778-0D11-4C8E-BEBF-E7C15A92C46C}"/>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7066512-34D3-495D-AC9A-F2DEDD1BB26A}"/>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dqaf93bhmws">
            <a:extLst xmlns:a="http://schemas.openxmlformats.org/drawingml/2006/main">
              <a:ext uri="{FF2B5EF4-FFF2-40B4-BE49-F238E27FC236}">
                <a16:creationId xmlns:a16="http://schemas.microsoft.com/office/drawing/2014/main" id="{38706957-9C57-4C8B-BBAD-AA7FD539E18B}"/>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Latencia y costo</a:t>
            </a:r>
          </a:p>
        </p:txBody>
      </p:sp>
      <p:sp>
        <p:nvSpPr>
          <p:cNvPr id="15" name="text-pf9ewh10sdk">
            <a:extLst xmlns:a="http://schemas.openxmlformats.org/drawingml/2006/main">
              <a:ext uri="{FF2B5EF4-FFF2-40B4-BE49-F238E27FC236}">
                <a16:creationId xmlns:a16="http://schemas.microsoft.com/office/drawing/2014/main" id="{667F8D82-6755-4203-8985-11336C66FE8E}"/>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Tiempo total, tokens, herramientas y reintentos.</a:t>
            </a:r>
          </a:p>
        </p:txBody>
      </p:sp>
      <p:sp>
        <p:nvSpPr>
          <p:cNvPr id="16" name="">
            <a:extLst xmlns:a="http://schemas.openxmlformats.org/drawingml/2006/main">
              <a:ext uri="{FF2B5EF4-FFF2-40B4-BE49-F238E27FC236}">
                <a16:creationId xmlns:a16="http://schemas.microsoft.com/office/drawing/2014/main" id="{D133345E-C0BE-4606-B4A5-B2E8F02C8D68}"/>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BCB9B3F-CD43-4203-8600-AD520D3703F5}"/>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ejeu84cwdsi">
            <a:extLst xmlns:a="http://schemas.openxmlformats.org/drawingml/2006/main">
              <a:ext uri="{FF2B5EF4-FFF2-40B4-BE49-F238E27FC236}">
                <a16:creationId xmlns:a16="http://schemas.microsoft.com/office/drawing/2014/main" id="{EE628626-95DE-4E91-B810-3F3DCDA85121}"/>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Acceso y licencia</a:t>
            </a:r>
          </a:p>
        </p:txBody>
      </p:sp>
      <p:sp>
        <p:nvSpPr>
          <p:cNvPr id="19" name="text-hj8una9idhn">
            <a:extLst xmlns:a="http://schemas.openxmlformats.org/drawingml/2006/main">
              <a:ext uri="{FF2B5EF4-FFF2-40B4-BE49-F238E27FC236}">
                <a16:creationId xmlns:a16="http://schemas.microsoft.com/office/drawing/2014/main" id="{D0BA0FC5-E2A6-4F9E-9154-765CB562B153}"/>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Pesos, API y condiciones de la variante elegida.</a:t>
            </a:r>
          </a:p>
        </p:txBody>
      </p:sp>
      <p:sp>
        <p:nvSpPr>
          <p:cNvPr id="20" name="">
            <a:extLst xmlns:a="http://schemas.openxmlformats.org/drawingml/2006/main">
              <a:ext uri="{FF2B5EF4-FFF2-40B4-BE49-F238E27FC236}">
                <a16:creationId xmlns:a16="http://schemas.microsoft.com/office/drawing/2014/main" id="{0D2AA7E7-E4AA-46C3-B8EC-4A27EF16A8AE}"/>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0D0F72A-6F6A-4B29-9BB4-59545C2FCD5A}"/>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ory1ilice7">
            <a:extLst xmlns:a="http://schemas.openxmlformats.org/drawingml/2006/main">
              <a:ext uri="{FF2B5EF4-FFF2-40B4-BE49-F238E27FC236}">
                <a16:creationId xmlns:a16="http://schemas.microsoft.com/office/drawing/2014/main" id="{370844D6-4024-4456-B65F-F1B2D503B7DB}"/>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Operación</a:t>
            </a:r>
          </a:p>
        </p:txBody>
      </p:sp>
      <p:sp>
        <p:nvSpPr>
          <p:cNvPr id="23" name="text-56zbp3tj81s">
            <a:extLst xmlns:a="http://schemas.openxmlformats.org/drawingml/2006/main">
              <a:ext uri="{FF2B5EF4-FFF2-40B4-BE49-F238E27FC236}">
                <a16:creationId xmlns:a16="http://schemas.microsoft.com/office/drawing/2014/main" id="{132CE78B-A968-4052-905A-9CC7751C30E9}"/>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Privacidad, idioma, disponibilidad y soporte.</a:t>
            </a:r>
          </a:p>
        </p:txBody>
      </p:sp>
    </p:spTree>
    <p:extLst>
      <p:ext uri="{BB962C8B-B14F-4D97-AF65-F5344CB8AC3E}">
        <p14:creationId xmlns:p14="http://schemas.microsoft.com/office/powerpoint/2010/main" val="1212454627"/>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76DE608A-AF51-4164-A892-3C77DA659A19}"/>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A1398F83-9A40-4F3C-BDD6-C36D5EE8BD1C}"/>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C06553B7-CACA-4D28-8D0E-278493C43E0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j7riyftb6p">
            <a:extLst xmlns:a="http://schemas.openxmlformats.org/drawingml/2006/main">
              <a:ext uri="{FF2B5EF4-FFF2-40B4-BE49-F238E27FC236}">
                <a16:creationId xmlns:a16="http://schemas.microsoft.com/office/drawing/2014/main" id="{E1808B1E-382F-4B8C-BE1E-D3E4D2297F2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vbtyegpgl7">
            <a:extLst xmlns:a="http://schemas.openxmlformats.org/drawingml/2006/main">
              <a:ext uri="{FF2B5EF4-FFF2-40B4-BE49-F238E27FC236}">
                <a16:creationId xmlns:a16="http://schemas.microsoft.com/office/drawing/2014/main" id="{EA63900A-F094-4714-9CC6-6B307A1B9BB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Qwen y Qwen-Agent ocupan niveles diferentes</a:t>
            </a:r>
          </a:p>
        </p:txBody>
      </p:sp>
      <p:sp>
        <p:nvSpPr>
          <p:cNvPr id="4" name="text-u4o8sqdbjm">
            <a:extLst xmlns:a="http://schemas.openxmlformats.org/drawingml/2006/main">
              <a:ext uri="{FF2B5EF4-FFF2-40B4-BE49-F238E27FC236}">
                <a16:creationId xmlns:a16="http://schemas.microsoft.com/office/drawing/2014/main" id="{1AD88935-7980-441F-BBC1-60AB36E2767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capacidad del sistema depende de los componentes que se configuran.</a:t>
            </a:r>
          </a:p>
        </p:txBody>
      </p:sp>
      <p:sp>
        <p:nvSpPr>
          <p:cNvPr id="5" name="">
            <a:extLst xmlns:a="http://schemas.openxmlformats.org/drawingml/2006/main">
              <a:ext uri="{FF2B5EF4-FFF2-40B4-BE49-F238E27FC236}">
                <a16:creationId xmlns:a16="http://schemas.microsoft.com/office/drawing/2014/main" id="{3A7E6E4A-E395-4DCF-8965-562C5CC069E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dz1i70e8wv">
            <a:extLst xmlns:a="http://schemas.openxmlformats.org/drawingml/2006/main">
              <a:ext uri="{FF2B5EF4-FFF2-40B4-BE49-F238E27FC236}">
                <a16:creationId xmlns:a16="http://schemas.microsoft.com/office/drawing/2014/main" id="{6401E0F0-983D-4BD9-9D93-C7B0335FF98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94jh8a22ext">
            <a:extLst xmlns:a="http://schemas.openxmlformats.org/drawingml/2006/main">
              <a:ext uri="{FF2B5EF4-FFF2-40B4-BE49-F238E27FC236}">
                <a16:creationId xmlns:a16="http://schemas.microsoft.com/office/drawing/2014/main" id="{41C99A93-EA00-478F-B74D-3C778EF4A4D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11</a:t>
            </a:r>
          </a:p>
        </p:txBody>
      </p:sp>
      <p:sp>
        <p:nvSpPr>
          <p:cNvPr id="8" name="">
            <a:extLst xmlns:a="http://schemas.openxmlformats.org/drawingml/2006/main">
              <a:ext uri="{FF2B5EF4-FFF2-40B4-BE49-F238E27FC236}">
                <a16:creationId xmlns:a16="http://schemas.microsoft.com/office/drawing/2014/main" id="{5A053E1C-98CA-4F25-A723-B2684F5CBFAD}"/>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889570-5757-4489-8415-19BA15F8676B}"/>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va6id9yfnbo">
            <a:extLst xmlns:a="http://schemas.openxmlformats.org/drawingml/2006/main">
              <a:ext uri="{FF2B5EF4-FFF2-40B4-BE49-F238E27FC236}">
                <a16:creationId xmlns:a16="http://schemas.microsoft.com/office/drawing/2014/main" id="{A4B865B4-0F7D-4BA3-B511-4B4660F23D10}"/>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Qwen</a:t>
            </a:r>
          </a:p>
        </p:txBody>
      </p:sp>
      <p:sp>
        <p:nvSpPr>
          <p:cNvPr id="11" name="text-k6ksvf56m1h">
            <a:extLst xmlns:a="http://schemas.openxmlformats.org/drawingml/2006/main">
              <a:ext uri="{FF2B5EF4-FFF2-40B4-BE49-F238E27FC236}">
                <a16:creationId xmlns:a16="http://schemas.microsoft.com/office/drawing/2014/main" id="{7D5BC46B-DF90-47C9-8DE3-54B81F00428E}"/>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Familia de modelos con variantes y modalidades.</a:t>
            </a:r>
          </a:p>
        </p:txBody>
      </p:sp>
      <p:sp>
        <p:nvSpPr>
          <p:cNvPr id="12" name="">
            <a:extLst xmlns:a="http://schemas.openxmlformats.org/drawingml/2006/main">
              <a:ext uri="{FF2B5EF4-FFF2-40B4-BE49-F238E27FC236}">
                <a16:creationId xmlns:a16="http://schemas.microsoft.com/office/drawing/2014/main" id="{7CD7DEDB-2BFF-4411-BA31-3CCDAA60809A}"/>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0DDD3D7-DBDE-4F36-A737-83E5F74DBC19}"/>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wpnmk3u36he">
            <a:extLst xmlns:a="http://schemas.openxmlformats.org/drawingml/2006/main">
              <a:ext uri="{FF2B5EF4-FFF2-40B4-BE49-F238E27FC236}">
                <a16:creationId xmlns:a16="http://schemas.microsoft.com/office/drawing/2014/main" id="{A97E6A16-F6D9-4770-84A3-644E8DE14314}"/>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Qwen-Agent</a:t>
            </a:r>
          </a:p>
        </p:txBody>
      </p:sp>
      <p:sp>
        <p:nvSpPr>
          <p:cNvPr id="15" name="text-rtaicdw9e4">
            <a:extLst xmlns:a="http://schemas.openxmlformats.org/drawingml/2006/main">
              <a:ext uri="{FF2B5EF4-FFF2-40B4-BE49-F238E27FC236}">
                <a16:creationId xmlns:a16="http://schemas.microsoft.com/office/drawing/2014/main" id="{7CF7B715-DC67-4319-89E8-5EFF68F531A0}"/>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Framework para integrar modelos y herramientas.</a:t>
            </a:r>
          </a:p>
        </p:txBody>
      </p:sp>
      <p:sp>
        <p:nvSpPr>
          <p:cNvPr id="16" name="">
            <a:extLst xmlns:a="http://schemas.openxmlformats.org/drawingml/2006/main">
              <a:ext uri="{FF2B5EF4-FFF2-40B4-BE49-F238E27FC236}">
                <a16:creationId xmlns:a16="http://schemas.microsoft.com/office/drawing/2014/main" id="{C804402A-7078-4DEA-B689-9C5DECB3807C}"/>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6970A46-7AEE-4451-B16E-78DB81502A9B}"/>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jswosy3tsx9">
            <a:extLst xmlns:a="http://schemas.openxmlformats.org/drawingml/2006/main">
              <a:ext uri="{FF2B5EF4-FFF2-40B4-BE49-F238E27FC236}">
                <a16:creationId xmlns:a16="http://schemas.microsoft.com/office/drawing/2014/main" id="{622B8871-C246-4CC0-9CC9-7727E9B98F39}"/>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Aplicación</a:t>
            </a:r>
          </a:p>
        </p:txBody>
      </p:sp>
      <p:sp>
        <p:nvSpPr>
          <p:cNvPr id="19" name="text-1ccpj26era">
            <a:extLst xmlns:a="http://schemas.openxmlformats.org/drawingml/2006/main">
              <a:ext uri="{FF2B5EF4-FFF2-40B4-BE49-F238E27FC236}">
                <a16:creationId xmlns:a16="http://schemas.microsoft.com/office/drawing/2014/main" id="{EA2D9C5A-09DE-4BE6-B285-297D9229F469}"/>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Interfaz, permisos, datos y servicios de un producto.</a:t>
            </a:r>
          </a:p>
        </p:txBody>
      </p:sp>
    </p:spTree>
    <p:extLst>
      <p:ext uri="{BB962C8B-B14F-4D97-AF65-F5344CB8AC3E}">
        <p14:creationId xmlns:p14="http://schemas.microsoft.com/office/powerpoint/2010/main" val="537517012"/>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10AEE38-6CE0-45C0-8F43-B99ED4916EE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dl2z0gserrt">
            <a:extLst xmlns:a="http://schemas.openxmlformats.org/drawingml/2006/main">
              <a:ext uri="{FF2B5EF4-FFF2-40B4-BE49-F238E27FC236}">
                <a16:creationId xmlns:a16="http://schemas.microsoft.com/office/drawing/2014/main" id="{8172D5BF-24BC-480E-9790-BAB61A67434A}"/>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a2fl4tsyb44">
            <a:extLst xmlns:a="http://schemas.openxmlformats.org/drawingml/2006/main">
              <a:ext uri="{FF2B5EF4-FFF2-40B4-BE49-F238E27FC236}">
                <a16:creationId xmlns:a16="http://schemas.microsoft.com/office/drawing/2014/main" id="{338B245A-73C6-476C-A634-05CB75FF478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distribución puede convertir capacidad en adopción</a:t>
            </a:r>
          </a:p>
        </p:txBody>
      </p:sp>
      <p:sp>
        <p:nvSpPr>
          <p:cNvPr id="4" name="text-lqmv5bywso">
            <a:extLst xmlns:a="http://schemas.openxmlformats.org/drawingml/2006/main">
              <a:ext uri="{FF2B5EF4-FFF2-40B4-BE49-F238E27FC236}">
                <a16:creationId xmlns:a16="http://schemas.microsoft.com/office/drawing/2014/main" id="{0CE10C6F-36C4-43A1-9830-A46232F43BD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El canal reduce fricción cuando resuelve una tarea que el usuario ya necesita.</a:t>
            </a:r>
          </a:p>
        </p:txBody>
      </p:sp>
      <p:sp>
        <p:nvSpPr>
          <p:cNvPr id="5" name="">
            <a:extLst xmlns:a="http://schemas.openxmlformats.org/drawingml/2006/main">
              <a:ext uri="{FF2B5EF4-FFF2-40B4-BE49-F238E27FC236}">
                <a16:creationId xmlns:a16="http://schemas.microsoft.com/office/drawing/2014/main" id="{503A2440-2516-4B6E-8E79-BD40B71C183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835vzav4827">
            <a:extLst xmlns:a="http://schemas.openxmlformats.org/drawingml/2006/main">
              <a:ext uri="{FF2B5EF4-FFF2-40B4-BE49-F238E27FC236}">
                <a16:creationId xmlns:a16="http://schemas.microsoft.com/office/drawing/2014/main" id="{CA9A5C57-6E6E-495D-917F-3511A6B7509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iscd9dub4z">
            <a:extLst xmlns:a="http://schemas.openxmlformats.org/drawingml/2006/main">
              <a:ext uri="{FF2B5EF4-FFF2-40B4-BE49-F238E27FC236}">
                <a16:creationId xmlns:a16="http://schemas.microsoft.com/office/drawing/2014/main" id="{69B4E0EC-166D-495E-82C3-8F0F286B418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12</a:t>
            </a:r>
          </a:p>
        </p:txBody>
      </p:sp>
      <p:sp>
        <p:nvSpPr>
          <p:cNvPr id="8" name="">
            <a:extLst xmlns:a="http://schemas.openxmlformats.org/drawingml/2006/main">
              <a:ext uri="{FF2B5EF4-FFF2-40B4-BE49-F238E27FC236}">
                <a16:creationId xmlns:a16="http://schemas.microsoft.com/office/drawing/2014/main" id="{B314D1D0-738D-46D7-8583-FBBCCD2D73B0}"/>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3F0F4A-F01B-4799-BE61-121C3F0335F3}"/>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h8wrcupxf9d">
            <a:extLst xmlns:a="http://schemas.openxmlformats.org/drawingml/2006/main">
              <a:ext uri="{FF2B5EF4-FFF2-40B4-BE49-F238E27FC236}">
                <a16:creationId xmlns:a16="http://schemas.microsoft.com/office/drawing/2014/main" id="{F4352656-476D-4AAF-9034-EFE1AF635E6C}"/>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Acceso</a:t>
            </a:r>
          </a:p>
        </p:txBody>
      </p:sp>
      <p:sp>
        <p:nvSpPr>
          <p:cNvPr id="11" name="text-ighsenqvn2">
            <a:extLst xmlns:a="http://schemas.openxmlformats.org/drawingml/2006/main">
              <a:ext uri="{FF2B5EF4-FFF2-40B4-BE49-F238E27FC236}">
                <a16:creationId xmlns:a16="http://schemas.microsoft.com/office/drawing/2014/main" id="{65063C1D-498B-49A2-B9F0-85EB2F172983}"/>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Usuarios existentes y descubrimiento del servicio.</a:t>
            </a:r>
          </a:p>
        </p:txBody>
      </p:sp>
      <p:sp>
        <p:nvSpPr>
          <p:cNvPr id="12" name="">
            <a:extLst xmlns:a="http://schemas.openxmlformats.org/drawingml/2006/main">
              <a:ext uri="{FF2B5EF4-FFF2-40B4-BE49-F238E27FC236}">
                <a16:creationId xmlns:a16="http://schemas.microsoft.com/office/drawing/2014/main" id="{5C2FD07B-A424-4DD3-8BA4-C483CA778738}"/>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C375BA-C110-42B2-A76C-17F78B563997}"/>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ngu5spr2k6f">
            <a:extLst xmlns:a="http://schemas.openxmlformats.org/drawingml/2006/main">
              <a:ext uri="{FF2B5EF4-FFF2-40B4-BE49-F238E27FC236}">
                <a16:creationId xmlns:a16="http://schemas.microsoft.com/office/drawing/2014/main" id="{4DBED52F-C8FD-43C0-9C15-637DBD640142}"/>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Integración</a:t>
            </a:r>
          </a:p>
        </p:txBody>
      </p:sp>
      <p:sp>
        <p:nvSpPr>
          <p:cNvPr id="15" name="text-p492hlki6a">
            <a:extLst xmlns:a="http://schemas.openxmlformats.org/drawingml/2006/main">
              <a:ext uri="{FF2B5EF4-FFF2-40B4-BE49-F238E27FC236}">
                <a16:creationId xmlns:a16="http://schemas.microsoft.com/office/drawing/2014/main" id="{7D7BF6CF-7311-4DFB-89DF-B20698067C80}"/>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Datos, procesos y herramientas conectados.</a:t>
            </a:r>
          </a:p>
        </p:txBody>
      </p:sp>
      <p:sp>
        <p:nvSpPr>
          <p:cNvPr id="16" name="">
            <a:extLst xmlns:a="http://schemas.openxmlformats.org/drawingml/2006/main">
              <a:ext uri="{FF2B5EF4-FFF2-40B4-BE49-F238E27FC236}">
                <a16:creationId xmlns:a16="http://schemas.microsoft.com/office/drawing/2014/main" id="{45022635-E764-4743-BEE0-F6047EEC9AFA}"/>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8E63C8-39DA-4FCF-A570-E47407CB437D}"/>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0djgerpwa6nm">
            <a:extLst xmlns:a="http://schemas.openxmlformats.org/drawingml/2006/main">
              <a:ext uri="{FF2B5EF4-FFF2-40B4-BE49-F238E27FC236}">
                <a16:creationId xmlns:a16="http://schemas.microsoft.com/office/drawing/2014/main" id="{BF19A2E1-1977-4FF3-A174-DDB276A1339B}"/>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Retención</a:t>
            </a:r>
          </a:p>
        </p:txBody>
      </p:sp>
      <p:sp>
        <p:nvSpPr>
          <p:cNvPr id="19" name="text-05dwet7qy1lt">
            <a:extLst xmlns:a="http://schemas.openxmlformats.org/drawingml/2006/main">
              <a:ext uri="{FF2B5EF4-FFF2-40B4-BE49-F238E27FC236}">
                <a16:creationId xmlns:a16="http://schemas.microsoft.com/office/drawing/2014/main" id="{BAC2E5DC-4D80-4000-9C05-494129B685B1}"/>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Calidad recurrente y costo de cambiar de sistema.</a:t>
            </a:r>
          </a:p>
        </p:txBody>
      </p:sp>
    </p:spTree>
    <p:extLst>
      <p:ext uri="{BB962C8B-B14F-4D97-AF65-F5344CB8AC3E}">
        <p14:creationId xmlns:p14="http://schemas.microsoft.com/office/powerpoint/2010/main" val="1879959652"/>
      </p:ext>
    </p:extLst>
  </p:cSld>
</p:sld>
</file>

<file path=ppt/slides/slide13.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0B1AD0A8-7A9C-44C6-9206-DEDEB1FCB25D}"/>
              </a:ext>
            </a:extLst>
          </p:cNvPr>
          <p:cNvCxnSpPr>
            <a:stCxn xmlns:a="http://schemas.openxmlformats.org/drawingml/2006/main" id="16" idx="3"/>
            <a:endCxn xmlns:a="http://schemas.openxmlformats.org/drawingml/2006/main" id="20" idx="1"/>
          </p:cNvCxnSpPr>
          <p:nvPr/>
        </p:nvCxnSpPr>
        <p:spPr>
          <a:xfrm xmlns:a="http://schemas.openxmlformats.org/drawingml/2006/main">
            <a:off x="874395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A77D24A8-EED2-4D8C-B7A2-46E6E603F469}"/>
              </a:ext>
            </a:extLst>
          </p:cNvPr>
          <p:cNvCxnSpPr>
            <a:stCxn xmlns:a="http://schemas.openxmlformats.org/drawingml/2006/main" id="12" idx="3"/>
            <a:endCxn xmlns:a="http://schemas.openxmlformats.org/drawingml/2006/main" id="16" idx="1"/>
          </p:cNvCxnSpPr>
          <p:nvPr/>
        </p:nvCxnSpPr>
        <p:spPr>
          <a:xfrm xmlns:a="http://schemas.openxmlformats.org/drawingml/2006/main">
            <a:off x="590550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653000DF-E154-4C07-92C7-BA10F9B064C7}"/>
              </a:ext>
            </a:extLst>
          </p:cNvPr>
          <p:cNvCxnSpPr>
            <a:stCxn xmlns:a="http://schemas.openxmlformats.org/drawingml/2006/main" id="8" idx="3"/>
            <a:endCxn xmlns:a="http://schemas.openxmlformats.org/drawingml/2006/main" id="12" idx="1"/>
          </p:cNvCxnSpPr>
          <p:nvPr/>
        </p:nvCxnSpPr>
        <p:spPr>
          <a:xfrm xmlns:a="http://schemas.openxmlformats.org/drawingml/2006/main">
            <a:off x="306705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7" name="">
            <a:extLst xmlns:a="http://schemas.openxmlformats.org/drawingml/2006/main">
              <a:ext uri="{FF2B5EF4-FFF2-40B4-BE49-F238E27FC236}">
                <a16:creationId xmlns:a16="http://schemas.microsoft.com/office/drawing/2014/main" id="{25B8D95E-392C-4900-BF1E-AC3626D60244}"/>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gedjtcdy4xe">
            <a:extLst xmlns:a="http://schemas.openxmlformats.org/drawingml/2006/main">
              <a:ext uri="{FF2B5EF4-FFF2-40B4-BE49-F238E27FC236}">
                <a16:creationId xmlns:a16="http://schemas.microsoft.com/office/drawing/2014/main" id="{6EF2DBE3-6287-4C81-BB79-A0E5E8AB9B9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qvvsadh63pe">
            <a:extLst xmlns:a="http://schemas.openxmlformats.org/drawingml/2006/main">
              <a:ext uri="{FF2B5EF4-FFF2-40B4-BE49-F238E27FC236}">
                <a16:creationId xmlns:a16="http://schemas.microsoft.com/office/drawing/2014/main" id="{8DC1467F-264E-492A-998D-87E80E5308B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Las herramientas vuelven verificable parte de la ejecución</a:t>
            </a:r>
          </a:p>
        </p:txBody>
      </p:sp>
      <p:sp>
        <p:nvSpPr>
          <p:cNvPr id="4" name="text-95fygqhbind">
            <a:extLst xmlns:a="http://schemas.openxmlformats.org/drawingml/2006/main">
              <a:ext uri="{FF2B5EF4-FFF2-40B4-BE49-F238E27FC236}">
                <a16:creationId xmlns:a16="http://schemas.microsoft.com/office/drawing/2014/main" id="{390A6455-9925-4817-830E-3A7FE6F3547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El registro debe distinguir solicitud, resultado y comprobación.</a:t>
            </a:r>
          </a:p>
        </p:txBody>
      </p:sp>
      <p:sp>
        <p:nvSpPr>
          <p:cNvPr id="5" name="">
            <a:extLst xmlns:a="http://schemas.openxmlformats.org/drawingml/2006/main">
              <a:ext uri="{FF2B5EF4-FFF2-40B4-BE49-F238E27FC236}">
                <a16:creationId xmlns:a16="http://schemas.microsoft.com/office/drawing/2014/main" id="{F4C30E78-C1B9-4F66-B6BC-32EF4ABF653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xzbwe0dtp99">
            <a:extLst xmlns:a="http://schemas.openxmlformats.org/drawingml/2006/main">
              <a:ext uri="{FF2B5EF4-FFF2-40B4-BE49-F238E27FC236}">
                <a16:creationId xmlns:a16="http://schemas.microsoft.com/office/drawing/2014/main" id="{A1ED3EE6-EFE6-42F3-AE77-D4AC1452F978}"/>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Qwen</a:t>
            </a:r>
          </a:p>
        </p:txBody>
      </p:sp>
      <p:sp>
        <p:nvSpPr>
          <p:cNvPr id="7" name="text-slavuv1krz9">
            <a:extLst xmlns:a="http://schemas.openxmlformats.org/drawingml/2006/main">
              <a:ext uri="{FF2B5EF4-FFF2-40B4-BE49-F238E27FC236}">
                <a16:creationId xmlns:a16="http://schemas.microsoft.com/office/drawing/2014/main" id="{F2D9081A-4B45-4C36-91B5-8B9ED031D47E}"/>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13</a:t>
            </a:r>
          </a:p>
        </p:txBody>
      </p:sp>
      <p:sp>
        <p:nvSpPr>
          <p:cNvPr id="8" name="">
            <a:extLst xmlns:a="http://schemas.openxmlformats.org/drawingml/2006/main">
              <a:ext uri="{FF2B5EF4-FFF2-40B4-BE49-F238E27FC236}">
                <a16:creationId xmlns:a16="http://schemas.microsoft.com/office/drawing/2014/main" id="{A0EB8553-D9A5-491D-9EB6-1092D8D9D0FC}"/>
              </a:ext>
            </a:extLst>
          </p:cNvPr>
          <p:cNvSpPr>
            <a:spLocks xmlns:a="http://schemas.openxmlformats.org/drawingml/2006/main" noGrp="1"/>
          </p:cNvSpPr>
          <p:nvPr/>
        </p:nvSpPr>
        <p:spPr>
          <a:xfrm xmlns:a="http://schemas.openxmlformats.org/drawingml/2006/main">
            <a:off x="60960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CFF543A-069C-4024-A25F-C3BFEF15A658}"/>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5jlgs15w05t">
            <a:extLst xmlns:a="http://schemas.openxmlformats.org/drawingml/2006/main">
              <a:ext uri="{FF2B5EF4-FFF2-40B4-BE49-F238E27FC236}">
                <a16:creationId xmlns:a16="http://schemas.microsoft.com/office/drawing/2014/main" id="{E4D12ACB-99EA-44FB-9B76-1A022B50934C}"/>
              </a:ext>
            </a:extLst>
          </p:cNvPr>
          <p:cNvSpPr>
            <a:spLocks xmlns:a="http://schemas.openxmlformats.org/drawingml/2006/main" noGrp="1"/>
          </p:cNvSpPr>
          <p:nvPr/>
        </p:nvSpPr>
        <p:spPr>
          <a:xfrm xmlns:a="http://schemas.openxmlformats.org/drawingml/2006/main">
            <a:off x="8191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Modelo</a:t>
            </a:r>
          </a:p>
        </p:txBody>
      </p:sp>
      <p:sp>
        <p:nvSpPr>
          <p:cNvPr id="11" name="text-aau6zt8uu6o">
            <a:extLst xmlns:a="http://schemas.openxmlformats.org/drawingml/2006/main">
              <a:ext uri="{FF2B5EF4-FFF2-40B4-BE49-F238E27FC236}">
                <a16:creationId xmlns:a16="http://schemas.microsoft.com/office/drawing/2014/main" id="{FCDADE63-7044-489A-84DB-CE3D212A2725}"/>
              </a:ext>
            </a:extLst>
          </p:cNvPr>
          <p:cNvSpPr>
            <a:spLocks xmlns:a="http://schemas.openxmlformats.org/drawingml/2006/main" noGrp="1"/>
          </p:cNvSpPr>
          <p:nvPr/>
        </p:nvSpPr>
        <p:spPr>
          <a:xfrm xmlns:a="http://schemas.openxmlformats.org/drawingml/2006/main">
            <a:off x="8191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Solicita una función y propone argumentos.</a:t>
            </a:r>
          </a:p>
        </p:txBody>
      </p:sp>
      <p:sp>
        <p:nvSpPr>
          <p:cNvPr id="12" name="">
            <a:extLst xmlns:a="http://schemas.openxmlformats.org/drawingml/2006/main">
              <a:ext uri="{FF2B5EF4-FFF2-40B4-BE49-F238E27FC236}">
                <a16:creationId xmlns:a16="http://schemas.microsoft.com/office/drawing/2014/main" id="{01856D27-85CC-4848-B35E-D84CDD2DCB7B}"/>
              </a:ext>
            </a:extLst>
          </p:cNvPr>
          <p:cNvSpPr>
            <a:spLocks xmlns:a="http://schemas.openxmlformats.org/drawingml/2006/main" noGrp="1"/>
          </p:cNvSpPr>
          <p:nvPr/>
        </p:nvSpPr>
        <p:spPr>
          <a:xfrm xmlns:a="http://schemas.openxmlformats.org/drawingml/2006/main">
            <a:off x="344805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AD2ABD-5017-4895-97E5-AB0E3B90A571}"/>
              </a:ext>
            </a:extLst>
          </p:cNvPr>
          <p:cNvSpPr>
            <a:spLocks xmlns:a="http://schemas.openxmlformats.org/drawingml/2006/main" noGrp="1"/>
          </p:cNvSpPr>
          <p:nvPr/>
        </p:nvSpPr>
        <p:spPr>
          <a:xfrm xmlns:a="http://schemas.openxmlformats.org/drawingml/2006/main">
            <a:off x="344805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fnwdvab2mb">
            <a:extLst xmlns:a="http://schemas.openxmlformats.org/drawingml/2006/main">
              <a:ext uri="{FF2B5EF4-FFF2-40B4-BE49-F238E27FC236}">
                <a16:creationId xmlns:a16="http://schemas.microsoft.com/office/drawing/2014/main" id="{DC158FE2-F896-4E5D-A233-2A011075DD9D}"/>
              </a:ext>
            </a:extLst>
          </p:cNvPr>
          <p:cNvSpPr>
            <a:spLocks xmlns:a="http://schemas.openxmlformats.org/drawingml/2006/main" noGrp="1"/>
          </p:cNvSpPr>
          <p:nvPr/>
        </p:nvSpPr>
        <p:spPr>
          <a:xfrm xmlns:a="http://schemas.openxmlformats.org/drawingml/2006/main">
            <a:off x="36576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Aplicación</a:t>
            </a:r>
          </a:p>
        </p:txBody>
      </p:sp>
      <p:sp>
        <p:nvSpPr>
          <p:cNvPr id="15" name="text-8343jy44src">
            <a:extLst xmlns:a="http://schemas.openxmlformats.org/drawingml/2006/main">
              <a:ext uri="{FF2B5EF4-FFF2-40B4-BE49-F238E27FC236}">
                <a16:creationId xmlns:a16="http://schemas.microsoft.com/office/drawing/2014/main" id="{C96AA588-1AD4-4251-9919-C7F2422CACD6}"/>
              </a:ext>
            </a:extLst>
          </p:cNvPr>
          <p:cNvSpPr>
            <a:spLocks xmlns:a="http://schemas.openxmlformats.org/drawingml/2006/main" noGrp="1"/>
          </p:cNvSpPr>
          <p:nvPr/>
        </p:nvSpPr>
        <p:spPr>
          <a:xfrm xmlns:a="http://schemas.openxmlformats.org/drawingml/2006/main">
            <a:off x="36576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Valida alcance, parámetros y permisos.</a:t>
            </a:r>
          </a:p>
        </p:txBody>
      </p:sp>
      <p:sp>
        <p:nvSpPr>
          <p:cNvPr id="16" name="">
            <a:extLst xmlns:a="http://schemas.openxmlformats.org/drawingml/2006/main">
              <a:ext uri="{FF2B5EF4-FFF2-40B4-BE49-F238E27FC236}">
                <a16:creationId xmlns:a16="http://schemas.microsoft.com/office/drawing/2014/main" id="{E891007D-90BD-4F25-A09B-2AFC07E3858E}"/>
              </a:ext>
            </a:extLst>
          </p:cNvPr>
          <p:cNvSpPr>
            <a:spLocks xmlns:a="http://schemas.openxmlformats.org/drawingml/2006/main" noGrp="1"/>
          </p:cNvSpPr>
          <p:nvPr/>
        </p:nvSpPr>
        <p:spPr>
          <a:xfrm xmlns:a="http://schemas.openxmlformats.org/drawingml/2006/main">
            <a:off x="628650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74E7C1-238C-4001-B66E-F399F7A7DAE6}"/>
              </a:ext>
            </a:extLst>
          </p:cNvPr>
          <p:cNvSpPr>
            <a:spLocks xmlns:a="http://schemas.openxmlformats.org/drawingml/2006/main" noGrp="1"/>
          </p:cNvSpPr>
          <p:nvPr/>
        </p:nvSpPr>
        <p:spPr>
          <a:xfrm xmlns:a="http://schemas.openxmlformats.org/drawingml/2006/main">
            <a:off x="62865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wirxhtm28o8">
            <a:extLst xmlns:a="http://schemas.openxmlformats.org/drawingml/2006/main">
              <a:ext uri="{FF2B5EF4-FFF2-40B4-BE49-F238E27FC236}">
                <a16:creationId xmlns:a16="http://schemas.microsoft.com/office/drawing/2014/main" id="{B9E5C67A-47F7-4885-BD2A-DF5B5465842D}"/>
              </a:ext>
            </a:extLst>
          </p:cNvPr>
          <p:cNvSpPr>
            <a:spLocks xmlns:a="http://schemas.openxmlformats.org/drawingml/2006/main" noGrp="1"/>
          </p:cNvSpPr>
          <p:nvPr/>
        </p:nvSpPr>
        <p:spPr>
          <a:xfrm xmlns:a="http://schemas.openxmlformats.org/drawingml/2006/main">
            <a:off x="64960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Herramienta</a:t>
            </a:r>
          </a:p>
        </p:txBody>
      </p:sp>
      <p:sp>
        <p:nvSpPr>
          <p:cNvPr id="19" name="text-p3k0mzgf2t">
            <a:extLst xmlns:a="http://schemas.openxmlformats.org/drawingml/2006/main">
              <a:ext uri="{FF2B5EF4-FFF2-40B4-BE49-F238E27FC236}">
                <a16:creationId xmlns:a16="http://schemas.microsoft.com/office/drawing/2014/main" id="{516D8948-F685-4137-AB91-C67406A93457}"/>
              </a:ext>
            </a:extLst>
          </p:cNvPr>
          <p:cNvSpPr>
            <a:spLocks xmlns:a="http://schemas.openxmlformats.org/drawingml/2006/main" noGrp="1"/>
          </p:cNvSpPr>
          <p:nvPr/>
        </p:nvSpPr>
        <p:spPr>
          <a:xfrm xmlns:a="http://schemas.openxmlformats.org/drawingml/2006/main">
            <a:off x="64960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Calcula, busca, abre o modifica un recurso.</a:t>
            </a:r>
          </a:p>
        </p:txBody>
      </p:sp>
      <p:sp>
        <p:nvSpPr>
          <p:cNvPr id="20" name="">
            <a:extLst xmlns:a="http://schemas.openxmlformats.org/drawingml/2006/main">
              <a:ext uri="{FF2B5EF4-FFF2-40B4-BE49-F238E27FC236}">
                <a16:creationId xmlns:a16="http://schemas.microsoft.com/office/drawing/2014/main" id="{AE4C77BF-9A70-4AE6-AD21-8AFE4C719A1D}"/>
              </a:ext>
            </a:extLst>
          </p:cNvPr>
          <p:cNvSpPr>
            <a:spLocks xmlns:a="http://schemas.openxmlformats.org/drawingml/2006/main" noGrp="1"/>
          </p:cNvSpPr>
          <p:nvPr/>
        </p:nvSpPr>
        <p:spPr>
          <a:xfrm xmlns:a="http://schemas.openxmlformats.org/drawingml/2006/main">
            <a:off x="912495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EFEF834-41BB-430A-8C34-62BCC7D22CBD}"/>
              </a:ext>
            </a:extLst>
          </p:cNvPr>
          <p:cNvSpPr>
            <a:spLocks xmlns:a="http://schemas.openxmlformats.org/drawingml/2006/main" noGrp="1"/>
          </p:cNvSpPr>
          <p:nvPr/>
        </p:nvSpPr>
        <p:spPr>
          <a:xfrm xmlns:a="http://schemas.openxmlformats.org/drawingml/2006/main">
            <a:off x="9124950" y="2800350"/>
            <a:ext cx="38100" cy="2762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032g5gcvyawr">
            <a:extLst xmlns:a="http://schemas.openxmlformats.org/drawingml/2006/main">
              <a:ext uri="{FF2B5EF4-FFF2-40B4-BE49-F238E27FC236}">
                <a16:creationId xmlns:a16="http://schemas.microsoft.com/office/drawing/2014/main" id="{72B48415-9F8F-46E4-8F08-59C41941839C}"/>
              </a:ext>
            </a:extLst>
          </p:cNvPr>
          <p:cNvSpPr>
            <a:spLocks xmlns:a="http://schemas.openxmlformats.org/drawingml/2006/main" noGrp="1"/>
          </p:cNvSpPr>
          <p:nvPr/>
        </p:nvSpPr>
        <p:spPr>
          <a:xfrm xmlns:a="http://schemas.openxmlformats.org/drawingml/2006/main">
            <a:off x="93345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Verificación</a:t>
            </a:r>
          </a:p>
        </p:txBody>
      </p:sp>
      <p:sp>
        <p:nvSpPr>
          <p:cNvPr id="23" name="text-lxu2rezj6kh">
            <a:extLst xmlns:a="http://schemas.openxmlformats.org/drawingml/2006/main">
              <a:ext uri="{FF2B5EF4-FFF2-40B4-BE49-F238E27FC236}">
                <a16:creationId xmlns:a16="http://schemas.microsoft.com/office/drawing/2014/main" id="{2C1A7B78-7106-4388-A037-9AAD7B72728C}"/>
              </a:ext>
            </a:extLst>
          </p:cNvPr>
          <p:cNvSpPr>
            <a:spLocks xmlns:a="http://schemas.openxmlformats.org/drawingml/2006/main" noGrp="1"/>
          </p:cNvSpPr>
          <p:nvPr/>
        </p:nvSpPr>
        <p:spPr>
          <a:xfrm xmlns:a="http://schemas.openxmlformats.org/drawingml/2006/main">
            <a:off x="93345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Comprueba el resultado antes de concluir.</a:t>
            </a:r>
          </a:p>
        </p:txBody>
      </p:sp>
    </p:spTree>
    <p:extLst>
      <p:ext uri="{BB962C8B-B14F-4D97-AF65-F5344CB8AC3E}">
        <p14:creationId xmlns:p14="http://schemas.microsoft.com/office/powerpoint/2010/main" val="639685455"/>
      </p:ext>
    </p:extLst>
  </p:cSld>
</p:sld>
</file>

<file path=ppt/slides/slide1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3A0D993-69EC-4BF5-8C1C-3C1493280DC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b05olf5perf">
            <a:extLst xmlns:a="http://schemas.openxmlformats.org/drawingml/2006/main">
              <a:ext uri="{FF2B5EF4-FFF2-40B4-BE49-F238E27FC236}">
                <a16:creationId xmlns:a16="http://schemas.microsoft.com/office/drawing/2014/main" id="{7589F7FE-7899-489E-A9CF-9CC200B536B7}"/>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cjo5oxkkfk5">
            <a:extLst xmlns:a="http://schemas.openxmlformats.org/drawingml/2006/main">
              <a:ext uri="{FF2B5EF4-FFF2-40B4-BE49-F238E27FC236}">
                <a16:creationId xmlns:a16="http://schemas.microsoft.com/office/drawing/2014/main" id="{349734D3-3522-4014-A7BB-3BAC4E8E0C6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Investigar proveedores exige normalizar antes de comparar</a:t>
            </a:r>
          </a:p>
        </p:txBody>
      </p:sp>
      <p:sp>
        <p:nvSpPr>
          <p:cNvPr id="4" name="text-0nd1yr3vqxt">
            <a:extLst xmlns:a="http://schemas.openxmlformats.org/drawingml/2006/main">
              <a:ext uri="{FF2B5EF4-FFF2-40B4-BE49-F238E27FC236}">
                <a16:creationId xmlns:a16="http://schemas.microsoft.com/office/drawing/2014/main" id="{CF93BD1E-08A4-40AD-8997-0E3F3B8B5AD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Ejercicio ficticio para practicar uso de fuentes y criterios.</a:t>
            </a:r>
          </a:p>
        </p:txBody>
      </p:sp>
      <p:sp>
        <p:nvSpPr>
          <p:cNvPr id="5" name="">
            <a:extLst xmlns:a="http://schemas.openxmlformats.org/drawingml/2006/main">
              <a:ext uri="{FF2B5EF4-FFF2-40B4-BE49-F238E27FC236}">
                <a16:creationId xmlns:a16="http://schemas.microsoft.com/office/drawing/2014/main" id="{9719DB8B-4294-4C2B-B694-F12C0674F36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ryb19nmnqt">
            <a:extLst xmlns:a="http://schemas.openxmlformats.org/drawingml/2006/main">
              <a:ext uri="{FF2B5EF4-FFF2-40B4-BE49-F238E27FC236}">
                <a16:creationId xmlns:a16="http://schemas.microsoft.com/office/drawing/2014/main" id="{E4A4BA5D-5395-4B9B-93D1-D0BB34D50D75}"/>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4ucitocsrvb">
            <a:extLst xmlns:a="http://schemas.openxmlformats.org/drawingml/2006/main">
              <a:ext uri="{FF2B5EF4-FFF2-40B4-BE49-F238E27FC236}">
                <a16:creationId xmlns:a16="http://schemas.microsoft.com/office/drawing/2014/main" id="{AB791E79-88B8-4244-A695-5373339BD1D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14</a:t>
            </a:r>
          </a:p>
        </p:txBody>
      </p:sp>
      <p:sp>
        <p:nvSpPr>
          <p:cNvPr id="8" name="text-8ojc7pfh7jk">
            <a:extLst xmlns:a="http://schemas.openxmlformats.org/drawingml/2006/main">
              <a:ext uri="{FF2B5EF4-FFF2-40B4-BE49-F238E27FC236}">
                <a16:creationId xmlns:a16="http://schemas.microsoft.com/office/drawing/2014/main" id="{C02BCA28-4E5D-49E2-9EDA-F378BE7934F9}"/>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9f2yx3gqrxo">
            <a:extLst xmlns:a="http://schemas.openxmlformats.org/drawingml/2006/main">
              <a:ext uri="{FF2B5EF4-FFF2-40B4-BE49-F238E27FC236}">
                <a16:creationId xmlns:a16="http://schemas.microsoft.com/office/drawing/2014/main" id="{DB1C8C46-D989-45AA-A74B-61655DA05F77}"/>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Misma tarea</a:t>
            </a:r>
          </a:p>
        </p:txBody>
      </p:sp>
      <p:sp>
        <p:nvSpPr>
          <p:cNvPr id="10" name="text-a2kctec4shh">
            <a:extLst xmlns:a="http://schemas.openxmlformats.org/drawingml/2006/main">
              <a:ext uri="{FF2B5EF4-FFF2-40B4-BE49-F238E27FC236}">
                <a16:creationId xmlns:a16="http://schemas.microsoft.com/office/drawing/2014/main" id="{E605A399-867D-4999-A871-8237F8E33630}"/>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Manipular la misma pieza con la misma exigencia.</a:t>
            </a:r>
          </a:p>
        </p:txBody>
      </p:sp>
      <p:sp>
        <p:nvSpPr>
          <p:cNvPr id="11" name="">
            <a:extLst xmlns:a="http://schemas.openxmlformats.org/drawingml/2006/main">
              <a:ext uri="{FF2B5EF4-FFF2-40B4-BE49-F238E27FC236}">
                <a16:creationId xmlns:a16="http://schemas.microsoft.com/office/drawing/2014/main" id="{6A11FBB0-0892-43D3-89AE-95BCF8036D3A}"/>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1w097ply9cd">
            <a:extLst xmlns:a="http://schemas.openxmlformats.org/drawingml/2006/main">
              <a:ext uri="{FF2B5EF4-FFF2-40B4-BE49-F238E27FC236}">
                <a16:creationId xmlns:a16="http://schemas.microsoft.com/office/drawing/2014/main" id="{809EFA20-C396-4D3F-926D-23F1FD475D1A}"/>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fo3ulma40e">
            <a:extLst xmlns:a="http://schemas.openxmlformats.org/drawingml/2006/main">
              <a:ext uri="{FF2B5EF4-FFF2-40B4-BE49-F238E27FC236}">
                <a16:creationId xmlns:a16="http://schemas.microsoft.com/office/drawing/2014/main" id="{B8EEA81F-9883-4729-929F-D7B11A162A03}"/>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Misma medida</a:t>
            </a:r>
          </a:p>
        </p:txBody>
      </p:sp>
      <p:sp>
        <p:nvSpPr>
          <p:cNvPr id="14" name="text-8e2474k7zzc">
            <a:extLst xmlns:a="http://schemas.openxmlformats.org/drawingml/2006/main">
              <a:ext uri="{FF2B5EF4-FFF2-40B4-BE49-F238E27FC236}">
                <a16:creationId xmlns:a16="http://schemas.microsoft.com/office/drawing/2014/main" id="{51722F6F-E2C9-4861-9AF4-A06543AAA5FD}"/>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Carga por mano, total o recomendada: aclarar alcance.</a:t>
            </a:r>
          </a:p>
        </p:txBody>
      </p:sp>
      <p:sp>
        <p:nvSpPr>
          <p:cNvPr id="15" name="">
            <a:extLst xmlns:a="http://schemas.openxmlformats.org/drawingml/2006/main">
              <a:ext uri="{FF2B5EF4-FFF2-40B4-BE49-F238E27FC236}">
                <a16:creationId xmlns:a16="http://schemas.microsoft.com/office/drawing/2014/main" id="{CBE424B5-FBBE-4F82-AA40-B3AD70D37B55}"/>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ahingalfb75">
            <a:extLst xmlns:a="http://schemas.openxmlformats.org/drawingml/2006/main">
              <a:ext uri="{FF2B5EF4-FFF2-40B4-BE49-F238E27FC236}">
                <a16:creationId xmlns:a16="http://schemas.microsoft.com/office/drawing/2014/main" id="{6C4F3E44-47CC-4380-8C6B-25586F7DF3B2}"/>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a6fha9e7trp">
            <a:extLst xmlns:a="http://schemas.openxmlformats.org/drawingml/2006/main">
              <a:ext uri="{FF2B5EF4-FFF2-40B4-BE49-F238E27FC236}">
                <a16:creationId xmlns:a16="http://schemas.microsoft.com/office/drawing/2014/main" id="{1ECF8ABD-93F0-4545-A941-1E43786CC89E}"/>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Misma evidencia</a:t>
            </a:r>
          </a:p>
        </p:txBody>
      </p:sp>
      <p:sp>
        <p:nvSpPr>
          <p:cNvPr id="18" name="text-36hnsxpwvm6">
            <a:extLst xmlns:a="http://schemas.openxmlformats.org/drawingml/2006/main">
              <a:ext uri="{FF2B5EF4-FFF2-40B4-BE49-F238E27FC236}">
                <a16:creationId xmlns:a16="http://schemas.microsoft.com/office/drawing/2014/main" id="{C6F09FFC-4036-4C7E-94A6-4A0049A73EDC}"/>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Fuente, fecha, variante y prueba de operación.</a:t>
            </a:r>
          </a:p>
        </p:txBody>
      </p:sp>
      <p:sp>
        <p:nvSpPr>
          <p:cNvPr id="19" name="">
            <a:extLst xmlns:a="http://schemas.openxmlformats.org/drawingml/2006/main">
              <a:ext uri="{FF2B5EF4-FFF2-40B4-BE49-F238E27FC236}">
                <a16:creationId xmlns:a16="http://schemas.microsoft.com/office/drawing/2014/main" id="{AF5B4E9E-5927-41F8-BD29-6F245497736D}"/>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7rym3yvysoi">
            <a:extLst xmlns:a="http://schemas.openxmlformats.org/drawingml/2006/main">
              <a:ext uri="{FF2B5EF4-FFF2-40B4-BE49-F238E27FC236}">
                <a16:creationId xmlns:a16="http://schemas.microsoft.com/office/drawing/2014/main" id="{7A9670E3-AEEC-4AC9-996E-148740CE1B25}"/>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7w5x6walav8">
            <a:extLst xmlns:a="http://schemas.openxmlformats.org/drawingml/2006/main">
              <a:ext uri="{FF2B5EF4-FFF2-40B4-BE49-F238E27FC236}">
                <a16:creationId xmlns:a16="http://schemas.microsoft.com/office/drawing/2014/main" id="{399810B0-3C89-4069-B32C-96048AED935B}"/>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Resultado</a:t>
            </a:r>
          </a:p>
        </p:txBody>
      </p:sp>
      <p:sp>
        <p:nvSpPr>
          <p:cNvPr id="22" name="text-mbos35vu2nl">
            <a:extLst xmlns:a="http://schemas.openxmlformats.org/drawingml/2006/main">
              <a:ext uri="{FF2B5EF4-FFF2-40B4-BE49-F238E27FC236}">
                <a16:creationId xmlns:a16="http://schemas.microsoft.com/office/drawing/2014/main" id="{E59416B2-0F1A-4E02-843D-53DAE2834DFA}"/>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Tabla con incertidumbre y necesidades de prueba.</a:t>
            </a:r>
          </a:p>
        </p:txBody>
      </p:sp>
    </p:spTree>
    <p:extLst>
      <p:ext uri="{BB962C8B-B14F-4D97-AF65-F5344CB8AC3E}">
        <p14:creationId xmlns:p14="http://schemas.microsoft.com/office/powerpoint/2010/main" val="630328535"/>
      </p:ext>
    </p:extLst>
  </p:cSld>
</p:sld>
</file>

<file path=ppt/slides/slide1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B62C8E-DA70-4071-BE64-B0C3A3AE6E4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aiswp3lq6zo">
            <a:extLst xmlns:a="http://schemas.openxmlformats.org/drawingml/2006/main">
              <a:ext uri="{FF2B5EF4-FFF2-40B4-BE49-F238E27FC236}">
                <a16:creationId xmlns:a16="http://schemas.microsoft.com/office/drawing/2014/main" id="{4F681A7F-E5E1-434F-9711-19B2F371CEE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fgpcjtjjm6m">
            <a:extLst xmlns:a="http://schemas.openxmlformats.org/drawingml/2006/main">
              <a:ext uri="{FF2B5EF4-FFF2-40B4-BE49-F238E27FC236}">
                <a16:creationId xmlns:a16="http://schemas.microsoft.com/office/drawing/2014/main" id="{9FE0B132-C384-43DB-A5A5-CB27CE6B413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Una demo convincente necesita un expediente de evidencia</a:t>
            </a:r>
          </a:p>
        </p:txBody>
      </p:sp>
      <p:sp>
        <p:nvSpPr>
          <p:cNvPr id="4" name="text-o0lhilkj8y">
            <a:extLst xmlns:a="http://schemas.openxmlformats.org/drawingml/2006/main">
              <a:ext uri="{FF2B5EF4-FFF2-40B4-BE49-F238E27FC236}">
                <a16:creationId xmlns:a16="http://schemas.microsoft.com/office/drawing/2014/main" id="{25B59B1C-1683-4333-8769-190AFF467006}"/>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calidad se evalúa por lo que se ejecutó y pudo comprobarse.</a:t>
            </a:r>
          </a:p>
        </p:txBody>
      </p:sp>
      <p:sp>
        <p:nvSpPr>
          <p:cNvPr id="5" name="">
            <a:extLst xmlns:a="http://schemas.openxmlformats.org/drawingml/2006/main">
              <a:ext uri="{FF2B5EF4-FFF2-40B4-BE49-F238E27FC236}">
                <a16:creationId xmlns:a16="http://schemas.microsoft.com/office/drawing/2014/main" id="{DF0F666F-9579-47D2-94E5-0BDF9CF68F9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fkyaoygdw89">
            <a:extLst xmlns:a="http://schemas.openxmlformats.org/drawingml/2006/main">
              <a:ext uri="{FF2B5EF4-FFF2-40B4-BE49-F238E27FC236}">
                <a16:creationId xmlns:a16="http://schemas.microsoft.com/office/drawing/2014/main" id="{C5D0B57B-8E45-4535-9F45-EAE15D803A5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im3zyxzvap8">
            <a:extLst xmlns:a="http://schemas.openxmlformats.org/drawingml/2006/main">
              <a:ext uri="{FF2B5EF4-FFF2-40B4-BE49-F238E27FC236}">
                <a16:creationId xmlns:a16="http://schemas.microsoft.com/office/drawing/2014/main" id="{4AFAB438-3710-4A0B-9D67-F90AB1F8F00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15</a:t>
            </a:r>
          </a:p>
        </p:txBody>
      </p:sp>
      <p:sp>
        <p:nvSpPr>
          <p:cNvPr id="8" name="">
            <a:extLst xmlns:a="http://schemas.openxmlformats.org/drawingml/2006/main">
              <a:ext uri="{FF2B5EF4-FFF2-40B4-BE49-F238E27FC236}">
                <a16:creationId xmlns:a16="http://schemas.microsoft.com/office/drawing/2014/main" id="{60CCB591-1734-4E0F-B84C-6099AA511DB5}"/>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D2CFD9-0D6A-45CC-B72C-88B513C844D3}"/>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n3oeqyq1gud">
            <a:extLst xmlns:a="http://schemas.openxmlformats.org/drawingml/2006/main">
              <a:ext uri="{FF2B5EF4-FFF2-40B4-BE49-F238E27FC236}">
                <a16:creationId xmlns:a16="http://schemas.microsoft.com/office/drawing/2014/main" id="{7E15200D-AC52-496C-80C8-CC567AC084FC}"/>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Afirmación</a:t>
            </a:r>
          </a:p>
        </p:txBody>
      </p:sp>
      <p:sp>
        <p:nvSpPr>
          <p:cNvPr id="11" name="text-sq3fy99b7a">
            <a:extLst xmlns:a="http://schemas.openxmlformats.org/drawingml/2006/main">
              <a:ext uri="{FF2B5EF4-FFF2-40B4-BE49-F238E27FC236}">
                <a16:creationId xmlns:a16="http://schemas.microsoft.com/office/drawing/2014/main" id="{BBF007BB-6865-4E24-85C9-5E0E7C9529EA}"/>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“Comparé los tres mejores proveedores”.</a:t>
            </a:r>
          </a:p>
        </p:txBody>
      </p:sp>
      <p:sp>
        <p:nvSpPr>
          <p:cNvPr id="12" name="">
            <a:extLst xmlns:a="http://schemas.openxmlformats.org/drawingml/2006/main">
              <a:ext uri="{FF2B5EF4-FFF2-40B4-BE49-F238E27FC236}">
                <a16:creationId xmlns:a16="http://schemas.microsoft.com/office/drawing/2014/main" id="{A9065C6D-3040-445B-A6E1-802C7C1FF593}"/>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F1CEAB-301F-44F7-AF3B-7C59E842897D}"/>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jwz074wx35q">
            <a:extLst xmlns:a="http://schemas.openxmlformats.org/drawingml/2006/main">
              <a:ext uri="{FF2B5EF4-FFF2-40B4-BE49-F238E27FC236}">
                <a16:creationId xmlns:a16="http://schemas.microsoft.com/office/drawing/2014/main" id="{C9706240-B973-4033-9FAB-C004F028C962}"/>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Registro</a:t>
            </a:r>
          </a:p>
        </p:txBody>
      </p:sp>
      <p:sp>
        <p:nvSpPr>
          <p:cNvPr id="15" name="text-qv5hih42rm">
            <a:extLst xmlns:a="http://schemas.openxmlformats.org/drawingml/2006/main">
              <a:ext uri="{FF2B5EF4-FFF2-40B4-BE49-F238E27FC236}">
                <a16:creationId xmlns:a16="http://schemas.microsoft.com/office/drawing/2014/main" id="{4A44DBE1-B8D6-4EFD-9047-9A6BDCBF5269}"/>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Fuentes abiertas, campos extraídos y operaciones.</a:t>
            </a:r>
          </a:p>
        </p:txBody>
      </p:sp>
      <p:sp>
        <p:nvSpPr>
          <p:cNvPr id="16" name="">
            <a:extLst xmlns:a="http://schemas.openxmlformats.org/drawingml/2006/main">
              <a:ext uri="{FF2B5EF4-FFF2-40B4-BE49-F238E27FC236}">
                <a16:creationId xmlns:a16="http://schemas.microsoft.com/office/drawing/2014/main" id="{D465F10F-91A2-4CDA-9332-08A6B408AE57}"/>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625DACC-DBC3-48B5-A8CC-80D879017B1D}"/>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xxv7e1y08q">
            <a:extLst xmlns:a="http://schemas.openxmlformats.org/drawingml/2006/main">
              <a:ext uri="{FF2B5EF4-FFF2-40B4-BE49-F238E27FC236}">
                <a16:creationId xmlns:a16="http://schemas.microsoft.com/office/drawing/2014/main" id="{168B9CC7-D43A-4B3F-87E8-E72FA07F2F1A}"/>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Contraste</a:t>
            </a:r>
          </a:p>
        </p:txBody>
      </p:sp>
      <p:sp>
        <p:nvSpPr>
          <p:cNvPr id="19" name="text-1gx87n4ybahj">
            <a:extLst xmlns:a="http://schemas.openxmlformats.org/drawingml/2006/main">
              <a:ext uri="{FF2B5EF4-FFF2-40B4-BE49-F238E27FC236}">
                <a16:creationId xmlns:a16="http://schemas.microsoft.com/office/drawing/2014/main" id="{D43C6D6D-F9A8-41E4-B8CB-A75A0CE402E1}"/>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Criterio de selección y alternativas descartadas.</a:t>
            </a:r>
          </a:p>
        </p:txBody>
      </p:sp>
    </p:spTree>
    <p:extLst>
      <p:ext uri="{BB962C8B-B14F-4D97-AF65-F5344CB8AC3E}">
        <p14:creationId xmlns:p14="http://schemas.microsoft.com/office/powerpoint/2010/main" val="329632897"/>
      </p:ext>
    </p:extLst>
  </p:cSld>
</p:sld>
</file>

<file path=ppt/slides/slide16.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9C1EED-7C9D-43FC-8FCF-1EA4F0D6A07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887crzsw6h8">
            <a:extLst xmlns:a="http://schemas.openxmlformats.org/drawingml/2006/main">
              <a:ext uri="{FF2B5EF4-FFF2-40B4-BE49-F238E27FC236}">
                <a16:creationId xmlns:a16="http://schemas.microsoft.com/office/drawing/2014/main" id="{19F1D6C3-923D-4B33-A0AA-5612781A74B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ayl6ucm99je">
            <a:extLst xmlns:a="http://schemas.openxmlformats.org/drawingml/2006/main">
              <a:ext uri="{FF2B5EF4-FFF2-40B4-BE49-F238E27FC236}">
                <a16:creationId xmlns:a16="http://schemas.microsoft.com/office/drawing/2014/main" id="{3856E314-4DB4-41ED-90F5-1477CB519AB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 inteligencia encarnada conecta percepción y acción física</a:t>
            </a:r>
          </a:p>
        </p:txBody>
      </p:sp>
      <p:sp>
        <p:nvSpPr>
          <p:cNvPr id="4" name="text-5q2uwne90e">
            <a:extLst xmlns:a="http://schemas.openxmlformats.org/drawingml/2006/main">
              <a:ext uri="{FF2B5EF4-FFF2-40B4-BE49-F238E27FC236}">
                <a16:creationId xmlns:a16="http://schemas.microsoft.com/office/drawing/2014/main" id="{4241EB95-F4C9-4EBA-AAEC-B0BEA4E176B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具身智能 · jùshēn zhìnéng.</a:t>
            </a:r>
          </a:p>
        </p:txBody>
      </p:sp>
      <p:sp>
        <p:nvSpPr>
          <p:cNvPr id="5" name="">
            <a:extLst xmlns:a="http://schemas.openxmlformats.org/drawingml/2006/main">
              <a:ext uri="{FF2B5EF4-FFF2-40B4-BE49-F238E27FC236}">
                <a16:creationId xmlns:a16="http://schemas.microsoft.com/office/drawing/2014/main" id="{D0C9C038-84B0-475E-A7F5-0FD0D729EC0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wlmqtzib6c">
            <a:extLst xmlns:a="http://schemas.openxmlformats.org/drawingml/2006/main">
              <a:ext uri="{FF2B5EF4-FFF2-40B4-BE49-F238E27FC236}">
                <a16:creationId xmlns:a16="http://schemas.microsoft.com/office/drawing/2014/main" id="{4B2C289F-8E6C-4B13-B191-42AE893F681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OpenVLA</a:t>
            </a:r>
          </a:p>
        </p:txBody>
      </p:sp>
      <p:sp>
        <p:nvSpPr>
          <p:cNvPr id="7" name="text-6tt4wmr13ul">
            <a:extLst xmlns:a="http://schemas.openxmlformats.org/drawingml/2006/main">
              <a:ext uri="{FF2B5EF4-FFF2-40B4-BE49-F238E27FC236}">
                <a16:creationId xmlns:a16="http://schemas.microsoft.com/office/drawing/2014/main" id="{1B0E301C-11D5-4132-A7BE-840A9E4B94C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16</a:t>
            </a:r>
          </a:p>
        </p:txBody>
      </p:sp>
      <p:sp>
        <p:nvSpPr>
          <p:cNvPr id="8" name="text-ug3xtrcyhaa">
            <a:extLst xmlns:a="http://schemas.openxmlformats.org/drawingml/2006/main">
              <a:ext uri="{FF2B5EF4-FFF2-40B4-BE49-F238E27FC236}">
                <a16:creationId xmlns:a16="http://schemas.microsoft.com/office/drawing/2014/main" id="{D4EF5176-850B-416D-BB76-73342CF9B0FB}"/>
              </a:ext>
            </a:extLst>
          </p:cNvPr>
          <p:cNvSpPr>
            <a:spLocks xmlns:a="http://schemas.openxmlformats.org/drawingml/2006/main" noGrp="1"/>
          </p:cNvSpPr>
          <p:nvPr/>
        </p:nvSpPr>
        <p:spPr>
          <a:xfrm xmlns:a="http://schemas.openxmlformats.org/drawingml/2006/main">
            <a:off x="609600" y="2686050"/>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0" b="0">
                <a:solidFill>
                  <a:srgbClr val="62D6C9"/>
                </a:solidFill>
                <a:latin typeface="Noto Sans SC"/>
                <a:ea typeface="Noto Sans SC"/>
                <a:cs typeface="Noto Sans SC"/>
              </a:defRPr>
            </a:defPPr>
            <a:lvl1pPr algn="l">
              <a:defRPr sz="7050" b="0">
                <a:solidFill>
                  <a:srgbClr val="62D6C9"/>
                </a:solidFill>
                <a:latin typeface="Noto Sans SC"/>
                <a:ea typeface="Noto Sans SC"/>
                <a:cs typeface="Noto Sans SC"/>
              </a:defRPr>
            </a:lvl1pPr>
            <a:lvl2pPr algn="l">
              <a:defRPr sz="7050" b="0">
                <a:solidFill>
                  <a:srgbClr val="62D6C9"/>
                </a:solidFill>
                <a:latin typeface="Noto Sans SC"/>
                <a:ea typeface="Noto Sans SC"/>
                <a:cs typeface="Noto Sans SC"/>
              </a:defRPr>
            </a:lvl2pPr>
            <a:lvl3pPr algn="l">
              <a:defRPr sz="7050" b="0">
                <a:solidFill>
                  <a:srgbClr val="62D6C9"/>
                </a:solidFill>
                <a:latin typeface="Noto Sans SC"/>
                <a:ea typeface="Noto Sans SC"/>
                <a:cs typeface="Noto Sans SC"/>
              </a:defRPr>
            </a:lvl3pPr>
            <a:lvl4pPr algn="l">
              <a:defRPr sz="7050" b="0">
                <a:solidFill>
                  <a:srgbClr val="62D6C9"/>
                </a:solidFill>
                <a:latin typeface="Noto Sans SC"/>
                <a:ea typeface="Noto Sans SC"/>
                <a:cs typeface="Noto Sans SC"/>
              </a:defRPr>
            </a:lvl4pPr>
            <a:lvl5pPr algn="l">
              <a:defRPr sz="7050" b="0">
                <a:solidFill>
                  <a:srgbClr val="62D6C9"/>
                </a:solidFill>
                <a:latin typeface="Noto Sans SC"/>
                <a:ea typeface="Noto Sans SC"/>
                <a:cs typeface="Noto Sans SC"/>
              </a:defRPr>
            </a:lvl5pPr>
            <a:lvl6pPr algn="l">
              <a:defRPr sz="7050" b="0">
                <a:solidFill>
                  <a:srgbClr val="62D6C9"/>
                </a:solidFill>
                <a:latin typeface="Noto Sans SC"/>
                <a:ea typeface="Noto Sans SC"/>
                <a:cs typeface="Noto Sans SC"/>
              </a:defRPr>
            </a:lvl6pPr>
            <a:lvl7pPr algn="l">
              <a:defRPr sz="7050" b="0">
                <a:solidFill>
                  <a:srgbClr val="62D6C9"/>
                </a:solidFill>
                <a:latin typeface="Noto Sans SC"/>
                <a:ea typeface="Noto Sans SC"/>
                <a:cs typeface="Noto Sans SC"/>
              </a:defRPr>
            </a:lvl7pPr>
            <a:lvl8pPr algn="l">
              <a:defRPr sz="7050" b="0">
                <a:solidFill>
                  <a:srgbClr val="62D6C9"/>
                </a:solidFill>
                <a:latin typeface="Noto Sans SC"/>
                <a:ea typeface="Noto Sans SC"/>
                <a:cs typeface="Noto Sans SC"/>
              </a:defRPr>
            </a:lvl8pPr>
            <a:lvl9pPr algn="l">
              <a:defRPr sz="7050" b="0">
                <a:solidFill>
                  <a:srgbClr val="62D6C9"/>
                </a:solidFill>
                <a:latin typeface="Noto Sans SC"/>
                <a:ea typeface="Noto Sans SC"/>
                <a:cs typeface="Noto Sans SC"/>
              </a:defRPr>
            </a:lvl9pPr>
          </a:lstStyle>
          <a:p xmlns:a="http://schemas.openxmlformats.org/drawingml/2006/main">
            <a:pPr algn="l">
              <a:lnSpc>
                <a:spcPct val="112000"/>
              </a:lnSpc>
              <a:buNone/>
              <a:defRPr sz="7050" b="0">
                <a:solidFill>
                  <a:srgbClr val="62D6C9"/>
                </a:solidFill>
                <a:latin typeface="Noto Sans SC"/>
                <a:ea typeface="Noto Sans SC"/>
                <a:cs typeface="Noto Sans SC"/>
              </a:defRPr>
            </a:pPr>
            <a:r>
              <a:rPr sz="7050" b="0">
                <a:solidFill>
                  <a:srgbClr val="62D6C9"/>
                </a:solidFill>
                <a:latin typeface="Noto Sans SC"/>
                <a:ea typeface="Noto Sans SC"/>
                <a:cs typeface="Noto Sans SC"/>
              </a:rPr>
              <a:t>具身智能</a:t>
            </a:r>
          </a:p>
        </p:txBody>
      </p:sp>
      <p:sp>
        <p:nvSpPr>
          <p:cNvPr id="9" name="text-2xlfqza9ocy">
            <a:extLst xmlns:a="http://schemas.openxmlformats.org/drawingml/2006/main">
              <a:ext uri="{FF2B5EF4-FFF2-40B4-BE49-F238E27FC236}">
                <a16:creationId xmlns:a16="http://schemas.microsoft.com/office/drawing/2014/main" id="{1462B602-F029-4F49-BC99-B521405D54C7}"/>
              </a:ext>
            </a:extLst>
          </p:cNvPr>
          <p:cNvSpPr>
            <a:spLocks xmlns:a="http://schemas.openxmlformats.org/drawingml/2006/main" noGrp="1"/>
          </p:cNvSpPr>
          <p:nvPr/>
        </p:nvSpPr>
        <p:spPr>
          <a:xfrm xmlns:a="http://schemas.openxmlformats.org/drawingml/2006/main">
            <a:off x="609600" y="398145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E5B64B"/>
                </a:solidFill>
                <a:latin typeface="DejaVu Sans"/>
                <a:ea typeface="DejaVu Sans"/>
                <a:cs typeface="DejaVu Sans"/>
              </a:defRPr>
            </a:defPPr>
            <a:lvl1pPr algn="l">
              <a:defRPr sz="2025" b="0">
                <a:solidFill>
                  <a:srgbClr val="E5B64B"/>
                </a:solidFill>
                <a:latin typeface="DejaVu Sans"/>
                <a:ea typeface="DejaVu Sans"/>
                <a:cs typeface="DejaVu Sans"/>
              </a:defRPr>
            </a:lvl1pPr>
            <a:lvl2pPr algn="l">
              <a:defRPr sz="2025" b="0">
                <a:solidFill>
                  <a:srgbClr val="E5B64B"/>
                </a:solidFill>
                <a:latin typeface="DejaVu Sans"/>
                <a:ea typeface="DejaVu Sans"/>
                <a:cs typeface="DejaVu Sans"/>
              </a:defRPr>
            </a:lvl2pPr>
            <a:lvl3pPr algn="l">
              <a:defRPr sz="2025" b="0">
                <a:solidFill>
                  <a:srgbClr val="E5B64B"/>
                </a:solidFill>
                <a:latin typeface="DejaVu Sans"/>
                <a:ea typeface="DejaVu Sans"/>
                <a:cs typeface="DejaVu Sans"/>
              </a:defRPr>
            </a:lvl3pPr>
            <a:lvl4pPr algn="l">
              <a:defRPr sz="2025" b="0">
                <a:solidFill>
                  <a:srgbClr val="E5B64B"/>
                </a:solidFill>
                <a:latin typeface="DejaVu Sans"/>
                <a:ea typeface="DejaVu Sans"/>
                <a:cs typeface="DejaVu Sans"/>
              </a:defRPr>
            </a:lvl4pPr>
            <a:lvl5pPr algn="l">
              <a:defRPr sz="2025" b="0">
                <a:solidFill>
                  <a:srgbClr val="E5B64B"/>
                </a:solidFill>
                <a:latin typeface="DejaVu Sans"/>
                <a:ea typeface="DejaVu Sans"/>
                <a:cs typeface="DejaVu Sans"/>
              </a:defRPr>
            </a:lvl5pPr>
            <a:lvl6pPr algn="l">
              <a:defRPr sz="2025" b="0">
                <a:solidFill>
                  <a:srgbClr val="E5B64B"/>
                </a:solidFill>
                <a:latin typeface="DejaVu Sans"/>
                <a:ea typeface="DejaVu Sans"/>
                <a:cs typeface="DejaVu Sans"/>
              </a:defRPr>
            </a:lvl6pPr>
            <a:lvl7pPr algn="l">
              <a:defRPr sz="2025" b="0">
                <a:solidFill>
                  <a:srgbClr val="E5B64B"/>
                </a:solidFill>
                <a:latin typeface="DejaVu Sans"/>
                <a:ea typeface="DejaVu Sans"/>
                <a:cs typeface="DejaVu Sans"/>
              </a:defRPr>
            </a:lvl7pPr>
            <a:lvl8pPr algn="l">
              <a:defRPr sz="2025" b="0">
                <a:solidFill>
                  <a:srgbClr val="E5B64B"/>
                </a:solidFill>
                <a:latin typeface="DejaVu Sans"/>
                <a:ea typeface="DejaVu Sans"/>
                <a:cs typeface="DejaVu Sans"/>
              </a:defRPr>
            </a:lvl8pPr>
            <a:lvl9pPr algn="l">
              <a:defRPr sz="2025" b="0">
                <a:solidFill>
                  <a:srgbClr val="E5B64B"/>
                </a:solidFill>
                <a:latin typeface="DejaVu Sans"/>
                <a:ea typeface="DejaVu Sans"/>
                <a:cs typeface="DejaVu Sans"/>
              </a:defRPr>
            </a:lvl9pPr>
          </a:lstStyle>
          <a:p xmlns:a="http://schemas.openxmlformats.org/drawingml/2006/main">
            <a:pPr algn="l">
              <a:lnSpc>
                <a:spcPct val="112000"/>
              </a:lnSpc>
              <a:buNone/>
              <a:defRPr sz="2025" b="0">
                <a:solidFill>
                  <a:srgbClr val="E5B64B"/>
                </a:solidFill>
                <a:latin typeface="DejaVu Sans"/>
                <a:ea typeface="DejaVu Sans"/>
                <a:cs typeface="DejaVu Sans"/>
              </a:defRPr>
            </a:pPr>
            <a:r>
              <a:rPr sz="2025" b="0">
                <a:solidFill>
                  <a:srgbClr val="E5B64B"/>
                </a:solidFill>
                <a:latin typeface="DejaVu Sans"/>
                <a:ea typeface="DejaVu Sans"/>
                <a:cs typeface="DejaVu Sans"/>
              </a:rPr>
              <a:t>jùshēn zhìnéng</a:t>
            </a:r>
          </a:p>
        </p:txBody>
      </p:sp>
      <p:sp>
        <p:nvSpPr>
          <p:cNvPr id="10" name="text-n84ua7x1u3m">
            <a:extLst xmlns:a="http://schemas.openxmlformats.org/drawingml/2006/main">
              <a:ext uri="{FF2B5EF4-FFF2-40B4-BE49-F238E27FC236}">
                <a16:creationId xmlns:a16="http://schemas.microsoft.com/office/drawing/2014/main" id="{DDD89A12-B792-455F-8CE0-CFB66E2D35F7}"/>
              </a:ext>
            </a:extLst>
          </p:cNvPr>
          <p:cNvSpPr>
            <a:spLocks xmlns:a="http://schemas.openxmlformats.org/drawingml/2006/main" noGrp="1"/>
          </p:cNvSpPr>
          <p:nvPr/>
        </p:nvSpPr>
        <p:spPr>
          <a:xfrm xmlns:a="http://schemas.openxmlformats.org/drawingml/2006/main">
            <a:off x="6096000" y="260032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Percepción</a:t>
            </a:r>
          </a:p>
        </p:txBody>
      </p:sp>
      <p:sp>
        <p:nvSpPr>
          <p:cNvPr id="11" name="text-qjtsrr3ma2">
            <a:extLst xmlns:a="http://schemas.openxmlformats.org/drawingml/2006/main">
              <a:ext uri="{FF2B5EF4-FFF2-40B4-BE49-F238E27FC236}">
                <a16:creationId xmlns:a16="http://schemas.microsoft.com/office/drawing/2014/main" id="{CCDBB9BD-8F99-45C2-911F-806DE98E926D}"/>
              </a:ext>
            </a:extLst>
          </p:cNvPr>
          <p:cNvSpPr>
            <a:spLocks xmlns:a="http://schemas.openxmlformats.org/drawingml/2006/main" noGrp="1"/>
          </p:cNvSpPr>
          <p:nvPr/>
        </p:nvSpPr>
        <p:spPr>
          <a:xfrm xmlns:a="http://schemas.openxmlformats.org/drawingml/2006/main">
            <a:off x="6096000" y="300990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Interpretar objetos, contacto y posición.</a:t>
            </a:r>
          </a:p>
        </p:txBody>
      </p:sp>
      <p:sp>
        <p:nvSpPr>
          <p:cNvPr id="12" name="text-n0wtsfce658">
            <a:extLst xmlns:a="http://schemas.openxmlformats.org/drawingml/2006/main">
              <a:ext uri="{FF2B5EF4-FFF2-40B4-BE49-F238E27FC236}">
                <a16:creationId xmlns:a16="http://schemas.microsoft.com/office/drawing/2014/main" id="{9BB5D7AB-975E-4C9C-90B3-F5B7F3781B24}"/>
              </a:ext>
            </a:extLst>
          </p:cNvPr>
          <p:cNvSpPr>
            <a:spLocks xmlns:a="http://schemas.openxmlformats.org/drawingml/2006/main" noGrp="1"/>
          </p:cNvSpPr>
          <p:nvPr/>
        </p:nvSpPr>
        <p:spPr>
          <a:xfrm xmlns:a="http://schemas.openxmlformats.org/drawingml/2006/main">
            <a:off x="6096000" y="36957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Decisión</a:t>
            </a:r>
          </a:p>
        </p:txBody>
      </p:sp>
      <p:sp>
        <p:nvSpPr>
          <p:cNvPr id="13" name="text-l1ai2a209i">
            <a:extLst xmlns:a="http://schemas.openxmlformats.org/drawingml/2006/main">
              <a:ext uri="{FF2B5EF4-FFF2-40B4-BE49-F238E27FC236}">
                <a16:creationId xmlns:a16="http://schemas.microsoft.com/office/drawing/2014/main" id="{5F81DF9F-FFB0-4F35-A8CA-509B9D071AF3}"/>
              </a:ext>
            </a:extLst>
          </p:cNvPr>
          <p:cNvSpPr>
            <a:spLocks xmlns:a="http://schemas.openxmlformats.org/drawingml/2006/main" noGrp="1"/>
          </p:cNvSpPr>
          <p:nvPr/>
        </p:nvSpPr>
        <p:spPr>
          <a:xfrm xmlns:a="http://schemas.openxmlformats.org/drawingml/2006/main">
            <a:off x="6096000" y="4105275"/>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Elegir una acción según tarea y estado.</a:t>
            </a:r>
          </a:p>
        </p:txBody>
      </p:sp>
      <p:sp>
        <p:nvSpPr>
          <p:cNvPr id="14" name="text-j0728wi47f">
            <a:extLst xmlns:a="http://schemas.openxmlformats.org/drawingml/2006/main">
              <a:ext uri="{FF2B5EF4-FFF2-40B4-BE49-F238E27FC236}">
                <a16:creationId xmlns:a16="http://schemas.microsoft.com/office/drawing/2014/main" id="{50A09831-F3E7-4556-A959-7E4E903A309B}"/>
              </a:ext>
            </a:extLst>
          </p:cNvPr>
          <p:cNvSpPr>
            <a:spLocks xmlns:a="http://schemas.openxmlformats.org/drawingml/2006/main" noGrp="1"/>
          </p:cNvSpPr>
          <p:nvPr/>
        </p:nvSpPr>
        <p:spPr>
          <a:xfrm xmlns:a="http://schemas.openxmlformats.org/drawingml/2006/main">
            <a:off x="6096000" y="479107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Control</a:t>
            </a:r>
          </a:p>
        </p:txBody>
      </p:sp>
      <p:sp>
        <p:nvSpPr>
          <p:cNvPr id="15" name="text-dz8t3gdmwfe">
            <a:extLst xmlns:a="http://schemas.openxmlformats.org/drawingml/2006/main">
              <a:ext uri="{FF2B5EF4-FFF2-40B4-BE49-F238E27FC236}">
                <a16:creationId xmlns:a16="http://schemas.microsoft.com/office/drawing/2014/main" id="{680F1C9C-82BA-4416-9CED-E3C22EEE40B4}"/>
              </a:ext>
            </a:extLst>
          </p:cNvPr>
          <p:cNvSpPr>
            <a:spLocks xmlns:a="http://schemas.openxmlformats.org/drawingml/2006/main" noGrp="1"/>
          </p:cNvSpPr>
          <p:nvPr/>
        </p:nvSpPr>
        <p:spPr>
          <a:xfrm xmlns:a="http://schemas.openxmlformats.org/drawingml/2006/main">
            <a:off x="6096000" y="520065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Ejecutar movimientos y corregir desviaciones.</a:t>
            </a:r>
          </a:p>
        </p:txBody>
      </p:sp>
    </p:spTree>
    <p:extLst>
      <p:ext uri="{BB962C8B-B14F-4D97-AF65-F5344CB8AC3E}">
        <p14:creationId xmlns:p14="http://schemas.microsoft.com/office/powerpoint/2010/main" val="482536386"/>
      </p:ext>
    </p:extLst>
  </p:cSld>
</p:sld>
</file>

<file path=ppt/slides/slide1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A7CBE70-8B85-40D8-BAFE-8E8874A76DB3}"/>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chgs9aivqx8">
            <a:extLst xmlns:a="http://schemas.openxmlformats.org/drawingml/2006/main">
              <a:ext uri="{FF2B5EF4-FFF2-40B4-BE49-F238E27FC236}">
                <a16:creationId xmlns:a16="http://schemas.microsoft.com/office/drawing/2014/main" id="{925F9A19-EA1D-4AA5-AB80-5B40C15CC5C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n10dar1zddg">
            <a:extLst xmlns:a="http://schemas.openxmlformats.org/drawingml/2006/main">
              <a:ext uri="{FF2B5EF4-FFF2-40B4-BE49-F238E27FC236}">
                <a16:creationId xmlns:a16="http://schemas.microsoft.com/office/drawing/2014/main" id="{377FE94B-3F30-4219-A62C-E85DE097F43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 arquitectura robótica separa objetivos y control</a:t>
            </a:r>
          </a:p>
        </p:txBody>
      </p:sp>
      <p:sp>
        <p:nvSpPr>
          <p:cNvPr id="4" name="text-n070ny7csx">
            <a:extLst xmlns:a="http://schemas.openxmlformats.org/drawingml/2006/main">
              <a:ext uri="{FF2B5EF4-FFF2-40B4-BE49-F238E27FC236}">
                <a16:creationId xmlns:a16="http://schemas.microsoft.com/office/drawing/2014/main" id="{4F3714A4-E862-436E-882F-51F6500B80B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Las capas responden a problemas y escalas de tiempo diferentes.</a:t>
            </a:r>
          </a:p>
        </p:txBody>
      </p:sp>
      <p:sp>
        <p:nvSpPr>
          <p:cNvPr id="5" name="">
            <a:extLst xmlns:a="http://schemas.openxmlformats.org/drawingml/2006/main">
              <a:ext uri="{FF2B5EF4-FFF2-40B4-BE49-F238E27FC236}">
                <a16:creationId xmlns:a16="http://schemas.microsoft.com/office/drawing/2014/main" id="{B4479F1F-B8DB-4E54-9C6C-94D9D54E228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u5d9a4692u9">
            <a:extLst xmlns:a="http://schemas.openxmlformats.org/drawingml/2006/main">
              <a:ext uri="{FF2B5EF4-FFF2-40B4-BE49-F238E27FC236}">
                <a16:creationId xmlns:a16="http://schemas.microsoft.com/office/drawing/2014/main" id="{AFDA47F4-E68C-42BD-9F92-BA031875EE6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qmu6bft9ap">
            <a:extLst xmlns:a="http://schemas.openxmlformats.org/drawingml/2006/main">
              <a:ext uri="{FF2B5EF4-FFF2-40B4-BE49-F238E27FC236}">
                <a16:creationId xmlns:a16="http://schemas.microsoft.com/office/drawing/2014/main" id="{4677B6B6-7E27-4A08-8C0D-E694C0494E2A}"/>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17</a:t>
            </a:r>
          </a:p>
        </p:txBody>
      </p:sp>
      <p:sp>
        <p:nvSpPr>
          <p:cNvPr id="8" name="text-2n8hwk2o5dm">
            <a:extLst xmlns:a="http://schemas.openxmlformats.org/drawingml/2006/main">
              <a:ext uri="{FF2B5EF4-FFF2-40B4-BE49-F238E27FC236}">
                <a16:creationId xmlns:a16="http://schemas.microsoft.com/office/drawing/2014/main" id="{7D6F64B9-F2FA-4FF8-85DE-768EA90436A3}"/>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2v7mewuxfi4">
            <a:extLst xmlns:a="http://schemas.openxmlformats.org/drawingml/2006/main">
              <a:ext uri="{FF2B5EF4-FFF2-40B4-BE49-F238E27FC236}">
                <a16:creationId xmlns:a16="http://schemas.microsoft.com/office/drawing/2014/main" id="{6B3FC212-DD91-46F6-864D-B0540872FCA7}"/>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Tarea</a:t>
            </a:r>
          </a:p>
        </p:txBody>
      </p:sp>
      <p:sp>
        <p:nvSpPr>
          <p:cNvPr id="10" name="text-wjhv6or4snf">
            <a:extLst xmlns:a="http://schemas.openxmlformats.org/drawingml/2006/main">
              <a:ext uri="{FF2B5EF4-FFF2-40B4-BE49-F238E27FC236}">
                <a16:creationId xmlns:a16="http://schemas.microsoft.com/office/drawing/2014/main" id="{029F65EA-BE97-41C5-8752-EE2C3AD6BA7D}"/>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Seleccionar qué objeto mover y adónde.</a:t>
            </a:r>
          </a:p>
        </p:txBody>
      </p:sp>
      <p:sp>
        <p:nvSpPr>
          <p:cNvPr id="11" name="">
            <a:extLst xmlns:a="http://schemas.openxmlformats.org/drawingml/2006/main">
              <a:ext uri="{FF2B5EF4-FFF2-40B4-BE49-F238E27FC236}">
                <a16:creationId xmlns:a16="http://schemas.microsoft.com/office/drawing/2014/main" id="{F4C4A311-467E-4F39-A644-25DA2FCF9262}"/>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ohal32ixhl">
            <a:extLst xmlns:a="http://schemas.openxmlformats.org/drawingml/2006/main">
              <a:ext uri="{FF2B5EF4-FFF2-40B4-BE49-F238E27FC236}">
                <a16:creationId xmlns:a16="http://schemas.microsoft.com/office/drawing/2014/main" id="{051DF419-B54D-4BA2-AC43-EFF4EA2C269A}"/>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fwwuhibl0pw">
            <a:extLst xmlns:a="http://schemas.openxmlformats.org/drawingml/2006/main">
              <a:ext uri="{FF2B5EF4-FFF2-40B4-BE49-F238E27FC236}">
                <a16:creationId xmlns:a16="http://schemas.microsoft.com/office/drawing/2014/main" id="{ED3E8E49-A0CA-41C6-88B9-C68267CFAB5A}"/>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Percepción y estado</a:t>
            </a:r>
          </a:p>
        </p:txBody>
      </p:sp>
      <p:sp>
        <p:nvSpPr>
          <p:cNvPr id="14" name="text-x1g0or137fh">
            <a:extLst xmlns:a="http://schemas.openxmlformats.org/drawingml/2006/main">
              <a:ext uri="{FF2B5EF4-FFF2-40B4-BE49-F238E27FC236}">
                <a16:creationId xmlns:a16="http://schemas.microsoft.com/office/drawing/2014/main" id="{75593E03-E39B-4F3E-B879-56551E0B5C44}"/>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Estimar posición, obstáculos y contacto.</a:t>
            </a:r>
          </a:p>
        </p:txBody>
      </p:sp>
      <p:sp>
        <p:nvSpPr>
          <p:cNvPr id="15" name="">
            <a:extLst xmlns:a="http://schemas.openxmlformats.org/drawingml/2006/main">
              <a:ext uri="{FF2B5EF4-FFF2-40B4-BE49-F238E27FC236}">
                <a16:creationId xmlns:a16="http://schemas.microsoft.com/office/drawing/2014/main" id="{3578E896-A484-4C1B-9083-85304C3FECC6}"/>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9roygcb4hmw">
            <a:extLst xmlns:a="http://schemas.openxmlformats.org/drawingml/2006/main">
              <a:ext uri="{FF2B5EF4-FFF2-40B4-BE49-F238E27FC236}">
                <a16:creationId xmlns:a16="http://schemas.microsoft.com/office/drawing/2014/main" id="{595189C9-51BB-4BD9-B91F-4E3BC08236E3}"/>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gbjtt79dnq">
            <a:extLst xmlns:a="http://schemas.openxmlformats.org/drawingml/2006/main">
              <a:ext uri="{FF2B5EF4-FFF2-40B4-BE49-F238E27FC236}">
                <a16:creationId xmlns:a16="http://schemas.microsoft.com/office/drawing/2014/main" id="{3EB5F913-E253-41DC-8523-32A6E7771685}"/>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Política y trayectoria</a:t>
            </a:r>
          </a:p>
        </p:txBody>
      </p:sp>
      <p:sp>
        <p:nvSpPr>
          <p:cNvPr id="18" name="text-9fleon5g5nm">
            <a:extLst xmlns:a="http://schemas.openxmlformats.org/drawingml/2006/main">
              <a:ext uri="{FF2B5EF4-FFF2-40B4-BE49-F238E27FC236}">
                <a16:creationId xmlns:a16="http://schemas.microsoft.com/office/drawing/2014/main" id="{FE5BCA4D-FC49-47D1-AADC-869D02DDBFD4}"/>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Elegir acciones o referencias de movimiento.</a:t>
            </a:r>
          </a:p>
        </p:txBody>
      </p:sp>
      <p:sp>
        <p:nvSpPr>
          <p:cNvPr id="19" name="">
            <a:extLst xmlns:a="http://schemas.openxmlformats.org/drawingml/2006/main">
              <a:ext uri="{FF2B5EF4-FFF2-40B4-BE49-F238E27FC236}">
                <a16:creationId xmlns:a16="http://schemas.microsoft.com/office/drawing/2014/main" id="{603ED390-4528-4C97-ACB1-A105E40709A9}"/>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0" name="text-3q40gx53x64">
            <a:extLst xmlns:a="http://schemas.openxmlformats.org/drawingml/2006/main">
              <a:ext uri="{FF2B5EF4-FFF2-40B4-BE49-F238E27FC236}">
                <a16:creationId xmlns:a16="http://schemas.microsoft.com/office/drawing/2014/main" id="{7D12FABB-D7E4-4CE0-863E-00F5067E804C}"/>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04</a:t>
            </a:r>
          </a:p>
        </p:txBody>
      </p:sp>
      <p:sp>
        <p:nvSpPr>
          <p:cNvPr id="21" name="text-gma0r9l6je">
            <a:extLst xmlns:a="http://schemas.openxmlformats.org/drawingml/2006/main">
              <a:ext uri="{FF2B5EF4-FFF2-40B4-BE49-F238E27FC236}">
                <a16:creationId xmlns:a16="http://schemas.microsoft.com/office/drawing/2014/main" id="{B63DC1EB-5407-4892-9B9D-75B365403249}"/>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Control y actuadores</a:t>
            </a:r>
          </a:p>
        </p:txBody>
      </p:sp>
      <p:sp>
        <p:nvSpPr>
          <p:cNvPr id="22" name="text-scfsj7o30p">
            <a:extLst xmlns:a="http://schemas.openxmlformats.org/drawingml/2006/main">
              <a:ext uri="{FF2B5EF4-FFF2-40B4-BE49-F238E27FC236}">
                <a16:creationId xmlns:a16="http://schemas.microsoft.com/office/drawing/2014/main" id="{5D246084-B2AF-4167-B783-5040E66A372E}"/>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Regular fuerzas y movimiento con feedback.</a:t>
            </a:r>
          </a:p>
        </p:txBody>
      </p:sp>
    </p:spTree>
    <p:extLst>
      <p:ext uri="{BB962C8B-B14F-4D97-AF65-F5344CB8AC3E}">
        <p14:creationId xmlns:p14="http://schemas.microsoft.com/office/powerpoint/2010/main" val="997131154"/>
      </p:ext>
    </p:extLst>
  </p:cSld>
</p:sld>
</file>

<file path=ppt/slides/slide1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0B7A7850-6461-426B-A5B0-186C4C312D75}"/>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08A43744-2EDA-4805-99DF-01478B371454}"/>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B7B1E850-D914-4444-8850-6EAF167AB4E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a3pp15pc1b">
            <a:extLst xmlns:a="http://schemas.openxmlformats.org/drawingml/2006/main">
              <a:ext uri="{FF2B5EF4-FFF2-40B4-BE49-F238E27FC236}">
                <a16:creationId xmlns:a16="http://schemas.microsoft.com/office/drawing/2014/main" id="{14F420F3-DE0A-4A9B-934A-D89C82AA19E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5w8ln45gs36">
            <a:extLst xmlns:a="http://schemas.openxmlformats.org/drawingml/2006/main">
              <a:ext uri="{FF2B5EF4-FFF2-40B4-BE49-F238E27FC236}">
                <a16:creationId xmlns:a16="http://schemas.microsoft.com/office/drawing/2014/main" id="{D676DAEA-C05A-417F-8D62-C49C0A9302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 VLA condiciona acciones a visión e instrucciones</a:t>
            </a:r>
          </a:p>
        </p:txBody>
      </p:sp>
      <p:sp>
        <p:nvSpPr>
          <p:cNvPr id="4" name="text-jnxtztxuvo">
            <a:extLst xmlns:a="http://schemas.openxmlformats.org/drawingml/2006/main">
              <a:ext uri="{FF2B5EF4-FFF2-40B4-BE49-F238E27FC236}">
                <a16:creationId xmlns:a16="http://schemas.microsoft.com/office/drawing/2014/main" id="{92793B00-9954-435D-97D6-C028D919079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Vision–Language–Action integra modalidades para una tarea robótica.</a:t>
            </a:r>
          </a:p>
        </p:txBody>
      </p:sp>
      <p:sp>
        <p:nvSpPr>
          <p:cNvPr id="5" name="">
            <a:extLst xmlns:a="http://schemas.openxmlformats.org/drawingml/2006/main">
              <a:ext uri="{FF2B5EF4-FFF2-40B4-BE49-F238E27FC236}">
                <a16:creationId xmlns:a16="http://schemas.microsoft.com/office/drawing/2014/main" id="{9103B3F7-87DB-495B-8C05-2128B815C70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zz38cccpep">
            <a:extLst xmlns:a="http://schemas.openxmlformats.org/drawingml/2006/main">
              <a:ext uri="{FF2B5EF4-FFF2-40B4-BE49-F238E27FC236}">
                <a16:creationId xmlns:a16="http://schemas.microsoft.com/office/drawing/2014/main" id="{D61C044D-7F43-48CA-B86E-7682F15988F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OpenVLA</a:t>
            </a:r>
          </a:p>
        </p:txBody>
      </p:sp>
      <p:sp>
        <p:nvSpPr>
          <p:cNvPr id="7" name="text-f3x83bf8hhh">
            <a:extLst xmlns:a="http://schemas.openxmlformats.org/drawingml/2006/main">
              <a:ext uri="{FF2B5EF4-FFF2-40B4-BE49-F238E27FC236}">
                <a16:creationId xmlns:a16="http://schemas.microsoft.com/office/drawing/2014/main" id="{904B9AAA-093D-420A-95B4-8727C3712C6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18</a:t>
            </a:r>
          </a:p>
        </p:txBody>
      </p:sp>
      <p:sp>
        <p:nvSpPr>
          <p:cNvPr id="8" name="">
            <a:extLst xmlns:a="http://schemas.openxmlformats.org/drawingml/2006/main">
              <a:ext uri="{FF2B5EF4-FFF2-40B4-BE49-F238E27FC236}">
                <a16:creationId xmlns:a16="http://schemas.microsoft.com/office/drawing/2014/main" id="{E0D20C3D-C9C0-45D9-8492-509901246A92}"/>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51E0854-58DC-4577-BA1F-406DE68820C8}"/>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6xyqb5u5oik">
            <a:extLst xmlns:a="http://schemas.openxmlformats.org/drawingml/2006/main">
              <a:ext uri="{FF2B5EF4-FFF2-40B4-BE49-F238E27FC236}">
                <a16:creationId xmlns:a16="http://schemas.microsoft.com/office/drawing/2014/main" id="{5BB1A4DA-5562-4A5E-904D-627FBBE13CB6}"/>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Entrada</a:t>
            </a:r>
          </a:p>
        </p:txBody>
      </p:sp>
      <p:sp>
        <p:nvSpPr>
          <p:cNvPr id="11" name="text-8a7ve20xuj6">
            <a:extLst xmlns:a="http://schemas.openxmlformats.org/drawingml/2006/main">
              <a:ext uri="{FF2B5EF4-FFF2-40B4-BE49-F238E27FC236}">
                <a16:creationId xmlns:a16="http://schemas.microsoft.com/office/drawing/2014/main" id="{E705DF33-3238-470B-90D6-4640BF0D38F1}"/>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Imagen, instrucción y estado disponible.</a:t>
            </a:r>
          </a:p>
        </p:txBody>
      </p:sp>
      <p:sp>
        <p:nvSpPr>
          <p:cNvPr id="12" name="">
            <a:extLst xmlns:a="http://schemas.openxmlformats.org/drawingml/2006/main">
              <a:ext uri="{FF2B5EF4-FFF2-40B4-BE49-F238E27FC236}">
                <a16:creationId xmlns:a16="http://schemas.microsoft.com/office/drawing/2014/main" id="{54D25B9D-2A73-479A-AA07-4ED7540339AE}"/>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8AC9AA-C76C-4A22-8C94-9EB37EBD3AD0}"/>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0fag5naq89ku">
            <a:extLst xmlns:a="http://schemas.openxmlformats.org/drawingml/2006/main">
              <a:ext uri="{FF2B5EF4-FFF2-40B4-BE49-F238E27FC236}">
                <a16:creationId xmlns:a16="http://schemas.microsoft.com/office/drawing/2014/main" id="{2DCFCF77-7651-4D98-95A2-BA0E3CC73C53}"/>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Política VLA</a:t>
            </a:r>
          </a:p>
        </p:txBody>
      </p:sp>
      <p:sp>
        <p:nvSpPr>
          <p:cNvPr id="15" name="text-nmsr5f7tq3">
            <a:extLst xmlns:a="http://schemas.openxmlformats.org/drawingml/2006/main">
              <a:ext uri="{FF2B5EF4-FFF2-40B4-BE49-F238E27FC236}">
                <a16:creationId xmlns:a16="http://schemas.microsoft.com/office/drawing/2014/main" id="{B0E94DB3-F241-4F49-A4A8-585B058A15DE}"/>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Predicción de acciones o secuencias.</a:t>
            </a:r>
          </a:p>
        </p:txBody>
      </p:sp>
      <p:sp>
        <p:nvSpPr>
          <p:cNvPr id="16" name="">
            <a:extLst xmlns:a="http://schemas.openxmlformats.org/drawingml/2006/main">
              <a:ext uri="{FF2B5EF4-FFF2-40B4-BE49-F238E27FC236}">
                <a16:creationId xmlns:a16="http://schemas.microsoft.com/office/drawing/2014/main" id="{05985759-48B4-4866-BCF9-CE857E5D02B5}"/>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BE0F431-4672-4920-AB92-D309C93EBF0D}"/>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99kf622d4nv">
            <a:extLst xmlns:a="http://schemas.openxmlformats.org/drawingml/2006/main">
              <a:ext uri="{FF2B5EF4-FFF2-40B4-BE49-F238E27FC236}">
                <a16:creationId xmlns:a16="http://schemas.microsoft.com/office/drawing/2014/main" id="{6EA2E3EC-D9CE-45D9-8C15-1C4D7A4FA20B}"/>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Ejecución</a:t>
            </a:r>
          </a:p>
        </p:txBody>
      </p:sp>
      <p:sp>
        <p:nvSpPr>
          <p:cNvPr id="19" name="text-hoeorrx9rc">
            <a:extLst xmlns:a="http://schemas.openxmlformats.org/drawingml/2006/main">
              <a:ext uri="{FF2B5EF4-FFF2-40B4-BE49-F238E27FC236}">
                <a16:creationId xmlns:a16="http://schemas.microsoft.com/office/drawing/2014/main" id="{4778448E-5DCD-46A2-A48D-148F3552FA6E}"/>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Conversión a movimientos mediante el sistema de control.</a:t>
            </a:r>
          </a:p>
        </p:txBody>
      </p:sp>
    </p:spTree>
    <p:extLst>
      <p:ext uri="{BB962C8B-B14F-4D97-AF65-F5344CB8AC3E}">
        <p14:creationId xmlns:p14="http://schemas.microsoft.com/office/powerpoint/2010/main" val="855906009"/>
      </p:ext>
    </p:extLst>
  </p:cSld>
</p:sld>
</file>

<file path=ppt/slides/slide1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F29A056-E444-4699-8B7B-AB50A738D75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hpgo29plivf">
            <a:extLst xmlns:a="http://schemas.openxmlformats.org/drawingml/2006/main">
              <a:ext uri="{FF2B5EF4-FFF2-40B4-BE49-F238E27FC236}">
                <a16:creationId xmlns:a16="http://schemas.microsoft.com/office/drawing/2014/main" id="{CD361D48-63BF-4BCF-9560-8BC834E8465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4yg1ndjl49k">
            <a:extLst xmlns:a="http://schemas.openxmlformats.org/drawingml/2006/main">
              <a:ext uri="{FF2B5EF4-FFF2-40B4-BE49-F238E27FC236}">
                <a16:creationId xmlns:a16="http://schemas.microsoft.com/office/drawing/2014/main" id="{E814F18C-6C72-445F-9D9D-3E0D616C486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Los robots aprenden con demostraciones, interacción y simulación</a:t>
            </a:r>
          </a:p>
        </p:txBody>
      </p:sp>
      <p:sp>
        <p:nvSpPr>
          <p:cNvPr id="4" name="text-ovo8ejdo5m">
            <a:extLst xmlns:a="http://schemas.openxmlformats.org/drawingml/2006/main">
              <a:ext uri="{FF2B5EF4-FFF2-40B4-BE49-F238E27FC236}">
                <a16:creationId xmlns:a16="http://schemas.microsoft.com/office/drawing/2014/main" id="{B6984112-C2AE-4F6C-AD76-F6AC2C55E1CB}"/>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Cada fuente de datos aporta información y limitaciones diferentes.</a:t>
            </a:r>
          </a:p>
        </p:txBody>
      </p:sp>
      <p:sp>
        <p:nvSpPr>
          <p:cNvPr id="5" name="">
            <a:extLst xmlns:a="http://schemas.openxmlformats.org/drawingml/2006/main">
              <a:ext uri="{FF2B5EF4-FFF2-40B4-BE49-F238E27FC236}">
                <a16:creationId xmlns:a16="http://schemas.microsoft.com/office/drawing/2014/main" id="{9CC0EC76-1FA4-4A80-AD5A-4870746FD23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tgzpfdisfl">
            <a:extLst xmlns:a="http://schemas.openxmlformats.org/drawingml/2006/main">
              <a:ext uri="{FF2B5EF4-FFF2-40B4-BE49-F238E27FC236}">
                <a16:creationId xmlns:a16="http://schemas.microsoft.com/office/drawing/2014/main" id="{5D288337-F82B-467A-92C6-501056D2842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OpenVLA / Sutton &amp; Barto</a:t>
            </a:r>
          </a:p>
        </p:txBody>
      </p:sp>
      <p:sp>
        <p:nvSpPr>
          <p:cNvPr id="7" name="text-wirjn8mk91f">
            <a:extLst xmlns:a="http://schemas.openxmlformats.org/drawingml/2006/main">
              <a:ext uri="{FF2B5EF4-FFF2-40B4-BE49-F238E27FC236}">
                <a16:creationId xmlns:a16="http://schemas.microsoft.com/office/drawing/2014/main" id="{A88B60A4-F82C-4324-B49E-2DACFB5A2AB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19</a:t>
            </a:r>
          </a:p>
        </p:txBody>
      </p:sp>
      <p:sp>
        <p:nvSpPr>
          <p:cNvPr id="8" name="">
            <a:extLst xmlns:a="http://schemas.openxmlformats.org/drawingml/2006/main">
              <a:ext uri="{FF2B5EF4-FFF2-40B4-BE49-F238E27FC236}">
                <a16:creationId xmlns:a16="http://schemas.microsoft.com/office/drawing/2014/main" id="{3D5E0A85-BC3D-409B-8920-C03268B31F15}"/>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90F195-5318-44FE-A5DD-8BCF3F252AAF}"/>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9gr56jfsf7f">
            <a:extLst xmlns:a="http://schemas.openxmlformats.org/drawingml/2006/main">
              <a:ext uri="{FF2B5EF4-FFF2-40B4-BE49-F238E27FC236}">
                <a16:creationId xmlns:a16="http://schemas.microsoft.com/office/drawing/2014/main" id="{776283D3-80E1-4094-929A-FEC619CA57AE}"/>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Teleoperación</a:t>
            </a:r>
          </a:p>
        </p:txBody>
      </p:sp>
      <p:sp>
        <p:nvSpPr>
          <p:cNvPr id="11" name="text-96butwvi3r8">
            <a:extLst xmlns:a="http://schemas.openxmlformats.org/drawingml/2006/main">
              <a:ext uri="{FF2B5EF4-FFF2-40B4-BE49-F238E27FC236}">
                <a16:creationId xmlns:a16="http://schemas.microsoft.com/office/drawing/2014/main" id="{763F4936-38B4-4C1B-9712-733AA93EDE8A}"/>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Un humano muestra cómo completar una tarea.</a:t>
            </a:r>
          </a:p>
        </p:txBody>
      </p:sp>
      <p:sp>
        <p:nvSpPr>
          <p:cNvPr id="12" name="">
            <a:extLst xmlns:a="http://schemas.openxmlformats.org/drawingml/2006/main">
              <a:ext uri="{FF2B5EF4-FFF2-40B4-BE49-F238E27FC236}">
                <a16:creationId xmlns:a16="http://schemas.microsoft.com/office/drawing/2014/main" id="{C0E176FB-2AD8-4380-94E3-0E5C90D1EBCA}"/>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3BA690-394B-4B83-862D-5003A5F2173C}"/>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ucigiuza17">
            <a:extLst xmlns:a="http://schemas.openxmlformats.org/drawingml/2006/main">
              <a:ext uri="{FF2B5EF4-FFF2-40B4-BE49-F238E27FC236}">
                <a16:creationId xmlns:a16="http://schemas.microsoft.com/office/drawing/2014/main" id="{1F861AE9-038D-4D16-B861-D2A449110C3A}"/>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Imitación</a:t>
            </a:r>
          </a:p>
        </p:txBody>
      </p:sp>
      <p:sp>
        <p:nvSpPr>
          <p:cNvPr id="15" name="text-k3i86so08m9">
            <a:extLst xmlns:a="http://schemas.openxmlformats.org/drawingml/2006/main">
              <a:ext uri="{FF2B5EF4-FFF2-40B4-BE49-F238E27FC236}">
                <a16:creationId xmlns:a16="http://schemas.microsoft.com/office/drawing/2014/main" id="{4200186D-F32C-4037-8672-5560C9015942}"/>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La política aprende relaciones entre observación y acción.</a:t>
            </a:r>
          </a:p>
        </p:txBody>
      </p:sp>
      <p:sp>
        <p:nvSpPr>
          <p:cNvPr id="16" name="">
            <a:extLst xmlns:a="http://schemas.openxmlformats.org/drawingml/2006/main">
              <a:ext uri="{FF2B5EF4-FFF2-40B4-BE49-F238E27FC236}">
                <a16:creationId xmlns:a16="http://schemas.microsoft.com/office/drawing/2014/main" id="{7C687F09-E4FC-4B33-A273-853556475214}"/>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72D140E-C5D7-40BF-B543-EEBBD0AF88C3}"/>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xlpyml32ue">
            <a:extLst xmlns:a="http://schemas.openxmlformats.org/drawingml/2006/main">
              <a:ext uri="{FF2B5EF4-FFF2-40B4-BE49-F238E27FC236}">
                <a16:creationId xmlns:a16="http://schemas.microsoft.com/office/drawing/2014/main" id="{EB1D363B-3D37-4DFD-8624-D73CABDE9DD1}"/>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Simulación y refuerzo</a:t>
            </a:r>
          </a:p>
        </p:txBody>
      </p:sp>
      <p:sp>
        <p:nvSpPr>
          <p:cNvPr id="19" name="text-z707c70f1qj">
            <a:extLst xmlns:a="http://schemas.openxmlformats.org/drawingml/2006/main">
              <a:ext uri="{FF2B5EF4-FFF2-40B4-BE49-F238E27FC236}">
                <a16:creationId xmlns:a16="http://schemas.microsoft.com/office/drawing/2014/main" id="{EB3492EF-89D4-40B1-9062-57041B67C49F}"/>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Exploración de escenarios con un objetivo definido.</a:t>
            </a:r>
          </a:p>
        </p:txBody>
      </p:sp>
      <p:sp>
        <p:nvSpPr>
          <p:cNvPr id="20" name="">
            <a:extLst xmlns:a="http://schemas.openxmlformats.org/drawingml/2006/main">
              <a:ext uri="{FF2B5EF4-FFF2-40B4-BE49-F238E27FC236}">
                <a16:creationId xmlns:a16="http://schemas.microsoft.com/office/drawing/2014/main" id="{E3EDECED-28CA-423A-89EA-025516C7A771}"/>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A3A23A1-EE04-4CAB-B8F0-4C5A5B5D0401}"/>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nvnsjean04">
            <a:extLst xmlns:a="http://schemas.openxmlformats.org/drawingml/2006/main">
              <a:ext uri="{FF2B5EF4-FFF2-40B4-BE49-F238E27FC236}">
                <a16:creationId xmlns:a16="http://schemas.microsoft.com/office/drawing/2014/main" id="{EED03261-5E82-4ACC-9BF0-E4354B0E7B35}"/>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Pruebas físicas</a:t>
            </a:r>
          </a:p>
        </p:txBody>
      </p:sp>
      <p:sp>
        <p:nvSpPr>
          <p:cNvPr id="23" name="text-try0e4ci488">
            <a:extLst xmlns:a="http://schemas.openxmlformats.org/drawingml/2006/main">
              <a:ext uri="{FF2B5EF4-FFF2-40B4-BE49-F238E27FC236}">
                <a16:creationId xmlns:a16="http://schemas.microsoft.com/office/drawing/2014/main" id="{FED80259-39E1-4775-AAFB-B43A25000424}"/>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Validación con contacto, fallos y variabilidad reales.</a:t>
            </a:r>
          </a:p>
        </p:txBody>
      </p:sp>
    </p:spTree>
    <p:extLst>
      <p:ext uri="{BB962C8B-B14F-4D97-AF65-F5344CB8AC3E}">
        <p14:creationId xmlns:p14="http://schemas.microsoft.com/office/powerpoint/2010/main" val="703309679"/>
      </p:ext>
    </p:extLst>
  </p:cSld>
</p:sld>
</file>

<file path=ppt/slides/slide2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55C9247-DCF9-40B6-A45F-8D07DD2DF37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chiilm4ctz">
            <a:extLst xmlns:a="http://schemas.openxmlformats.org/drawingml/2006/main">
              <a:ext uri="{FF2B5EF4-FFF2-40B4-BE49-F238E27FC236}">
                <a16:creationId xmlns:a16="http://schemas.microsoft.com/office/drawing/2014/main" id="{63371D58-B868-478B-BA00-8A0A30BC991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ntstmx3i8in">
            <a:extLst xmlns:a="http://schemas.openxmlformats.org/drawingml/2006/main">
              <a:ext uri="{FF2B5EF4-FFF2-40B4-BE49-F238E27FC236}">
                <a16:creationId xmlns:a16="http://schemas.microsoft.com/office/drawing/2014/main" id="{7AD87B90-6360-4069-9721-70CAFF5839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 paso de simulación a realidad deja una brecha</a:t>
            </a:r>
          </a:p>
        </p:txBody>
      </p:sp>
      <p:sp>
        <p:nvSpPr>
          <p:cNvPr id="4" name="text-wsc9cu2b3">
            <a:extLst xmlns:a="http://schemas.openxmlformats.org/drawingml/2006/main">
              <a:ext uri="{FF2B5EF4-FFF2-40B4-BE49-F238E27FC236}">
                <a16:creationId xmlns:a16="http://schemas.microsoft.com/office/drawing/2014/main" id="{D76443BE-8A3C-468D-89AE-EF6E66669EE2}"/>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El simulador aproxima fricción, contacto, sensores y dinámica.</a:t>
            </a:r>
          </a:p>
        </p:txBody>
      </p:sp>
      <p:sp>
        <p:nvSpPr>
          <p:cNvPr id="5" name="">
            <a:extLst xmlns:a="http://schemas.openxmlformats.org/drawingml/2006/main">
              <a:ext uri="{FF2B5EF4-FFF2-40B4-BE49-F238E27FC236}">
                <a16:creationId xmlns:a16="http://schemas.microsoft.com/office/drawing/2014/main" id="{D254207F-F1A9-4342-AAD5-ED77EF6F0FD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emaqqi8kghu">
            <a:extLst xmlns:a="http://schemas.openxmlformats.org/drawingml/2006/main">
              <a:ext uri="{FF2B5EF4-FFF2-40B4-BE49-F238E27FC236}">
                <a16:creationId xmlns:a16="http://schemas.microsoft.com/office/drawing/2014/main" id="{ECE3684B-8D59-4138-84E5-34B84A753F0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swas367jcg">
            <a:extLst xmlns:a="http://schemas.openxmlformats.org/drawingml/2006/main">
              <a:ext uri="{FF2B5EF4-FFF2-40B4-BE49-F238E27FC236}">
                <a16:creationId xmlns:a16="http://schemas.microsoft.com/office/drawing/2014/main" id="{F97B3F4A-7826-4E92-A6A4-C8B1FBC572E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20</a:t>
            </a:r>
          </a:p>
        </p:txBody>
      </p:sp>
      <p:sp>
        <p:nvSpPr>
          <p:cNvPr id="8" name="">
            <a:extLst xmlns:a="http://schemas.openxmlformats.org/drawingml/2006/main">
              <a:ext uri="{FF2B5EF4-FFF2-40B4-BE49-F238E27FC236}">
                <a16:creationId xmlns:a16="http://schemas.microsoft.com/office/drawing/2014/main" id="{54293BB9-1DBE-4D8E-838D-2E1CEC795FCD}"/>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6596A9D-A969-4ECA-AC4C-EEF8D1922A5B}"/>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k9jf18azad9">
            <a:extLst xmlns:a="http://schemas.openxmlformats.org/drawingml/2006/main">
              <a:ext uri="{FF2B5EF4-FFF2-40B4-BE49-F238E27FC236}">
                <a16:creationId xmlns:a16="http://schemas.microsoft.com/office/drawing/2014/main" id="{3C378789-3483-4E01-9A55-3998BF2C959B}"/>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Qué cambia</a:t>
            </a:r>
          </a:p>
        </p:txBody>
      </p:sp>
      <p:sp>
        <p:nvSpPr>
          <p:cNvPr id="11" name="text-jpfmka73qn">
            <a:extLst xmlns:a="http://schemas.openxmlformats.org/drawingml/2006/main">
              <a:ext uri="{FF2B5EF4-FFF2-40B4-BE49-F238E27FC236}">
                <a16:creationId xmlns:a16="http://schemas.microsoft.com/office/drawing/2014/main" id="{EDD8FE05-1A82-47F6-A9E1-319249BC98AF}"/>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Superficies, iluminación, masa y desgaste.</a:t>
            </a:r>
          </a:p>
        </p:txBody>
      </p:sp>
      <p:sp>
        <p:nvSpPr>
          <p:cNvPr id="12" name="">
            <a:extLst xmlns:a="http://schemas.openxmlformats.org/drawingml/2006/main">
              <a:ext uri="{FF2B5EF4-FFF2-40B4-BE49-F238E27FC236}">
                <a16:creationId xmlns:a16="http://schemas.microsoft.com/office/drawing/2014/main" id="{DE502268-95C6-4EDA-92F6-6D48A3F63D5A}"/>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87B70E-A7C6-43BB-A66A-64AF61A35261}"/>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m79b77ucj6f">
            <a:extLst xmlns:a="http://schemas.openxmlformats.org/drawingml/2006/main">
              <a:ext uri="{FF2B5EF4-FFF2-40B4-BE49-F238E27FC236}">
                <a16:creationId xmlns:a16="http://schemas.microsoft.com/office/drawing/2014/main" id="{91FF1FBD-DAA9-493D-A2E4-B2146E1FBC18}"/>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Cómo reducir la brecha</a:t>
            </a:r>
          </a:p>
        </p:txBody>
      </p:sp>
      <p:sp>
        <p:nvSpPr>
          <p:cNvPr id="15" name="text-179hgj4isat">
            <a:extLst xmlns:a="http://schemas.openxmlformats.org/drawingml/2006/main">
              <a:ext uri="{FF2B5EF4-FFF2-40B4-BE49-F238E27FC236}">
                <a16:creationId xmlns:a16="http://schemas.microsoft.com/office/drawing/2014/main" id="{264F76F6-2813-4473-8664-FF4690FADF08}"/>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Variación de escenarios, calibración y adaptación.</a:t>
            </a:r>
          </a:p>
        </p:txBody>
      </p:sp>
      <p:sp>
        <p:nvSpPr>
          <p:cNvPr id="16" name="">
            <a:extLst xmlns:a="http://schemas.openxmlformats.org/drawingml/2006/main">
              <a:ext uri="{FF2B5EF4-FFF2-40B4-BE49-F238E27FC236}">
                <a16:creationId xmlns:a16="http://schemas.microsoft.com/office/drawing/2014/main" id="{C1FB3682-583A-4C92-8CAB-3F0CC2755DC1}"/>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9214275-8042-48B7-8C4E-FC52588DFB58}"/>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7xu15atklf">
            <a:extLst xmlns:a="http://schemas.openxmlformats.org/drawingml/2006/main">
              <a:ext uri="{FF2B5EF4-FFF2-40B4-BE49-F238E27FC236}">
                <a16:creationId xmlns:a16="http://schemas.microsoft.com/office/drawing/2014/main" id="{BBC5D2C0-5C0B-4F27-AF8B-E4B45F433F1B}"/>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Qué comprobar</a:t>
            </a:r>
          </a:p>
        </p:txBody>
      </p:sp>
      <p:sp>
        <p:nvSpPr>
          <p:cNvPr id="19" name="text-dqp1696d7kj">
            <a:extLst xmlns:a="http://schemas.openxmlformats.org/drawingml/2006/main">
              <a:ext uri="{FF2B5EF4-FFF2-40B4-BE49-F238E27FC236}">
                <a16:creationId xmlns:a16="http://schemas.microsoft.com/office/drawing/2014/main" id="{A06D1240-B881-4388-9C6A-51F54217272B}"/>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Éxito y seguridad en condiciones no vistas.</a:t>
            </a:r>
          </a:p>
        </p:txBody>
      </p:sp>
    </p:spTree>
    <p:extLst>
      <p:ext uri="{BB962C8B-B14F-4D97-AF65-F5344CB8AC3E}">
        <p14:creationId xmlns:p14="http://schemas.microsoft.com/office/powerpoint/2010/main" val="292939352"/>
      </p:ext>
    </p:extLst>
  </p:cSld>
</p:sld>
</file>

<file path=ppt/slides/slide2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6D0D152-8CE5-47A0-9C1D-191AE970ED15}"/>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0B04C05F-1D7F-4C46-9663-0576B7805ECA}"/>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2" name="">
            <a:extLst xmlns:a="http://schemas.openxmlformats.org/drawingml/2006/main">
              <a:ext uri="{FF2B5EF4-FFF2-40B4-BE49-F238E27FC236}">
                <a16:creationId xmlns:a16="http://schemas.microsoft.com/office/drawing/2014/main" id="{DE2D1331-EA46-4E8D-A5AD-B87FBBF0F76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1tvbjlexe17">
            <a:extLst xmlns:a="http://schemas.openxmlformats.org/drawingml/2006/main">
              <a:ext uri="{FF2B5EF4-FFF2-40B4-BE49-F238E27FC236}">
                <a16:creationId xmlns:a16="http://schemas.microsoft.com/office/drawing/2014/main" id="{A3B860D5-BA00-4DD4-81C4-FC416CA3817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264tu75t52s">
            <a:extLst xmlns:a="http://schemas.openxmlformats.org/drawingml/2006/main">
              <a:ext uri="{FF2B5EF4-FFF2-40B4-BE49-F238E27FC236}">
                <a16:creationId xmlns:a16="http://schemas.microsoft.com/office/drawing/2014/main" id="{1316BEFB-E054-4D4E-B800-D28758B08F2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 política industrial necesita indicadores de ejecución</a:t>
            </a:r>
          </a:p>
        </p:txBody>
      </p:sp>
      <p:sp>
        <p:nvSpPr>
          <p:cNvPr id="4" name="text-z8modxfaoa">
            <a:extLst xmlns:a="http://schemas.openxmlformats.org/drawingml/2006/main">
              <a:ext uri="{FF2B5EF4-FFF2-40B4-BE49-F238E27FC236}">
                <a16:creationId xmlns:a16="http://schemas.microsoft.com/office/drawing/2014/main" id="{D1BFF691-1170-4872-AFC7-19113B93CF0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Una meta anunciada y una capacidad desplegada requieren evidencia diferente.</a:t>
            </a:r>
          </a:p>
        </p:txBody>
      </p:sp>
      <p:sp>
        <p:nvSpPr>
          <p:cNvPr id="5" name="">
            <a:extLst xmlns:a="http://schemas.openxmlformats.org/drawingml/2006/main">
              <a:ext uri="{FF2B5EF4-FFF2-40B4-BE49-F238E27FC236}">
                <a16:creationId xmlns:a16="http://schemas.microsoft.com/office/drawing/2014/main" id="{C4FCF518-3175-493A-8B1E-70DE2A933E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tovcmnhj0x">
            <a:extLst xmlns:a="http://schemas.openxmlformats.org/drawingml/2006/main">
              <a:ext uri="{FF2B5EF4-FFF2-40B4-BE49-F238E27FC236}">
                <a16:creationId xmlns:a16="http://schemas.microsoft.com/office/drawing/2014/main" id="{E1A5235A-B0C7-4C6A-A9D6-3B4331385B55}"/>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pakebkwyl4n">
            <a:extLst xmlns:a="http://schemas.openxmlformats.org/drawingml/2006/main">
              <a:ext uri="{FF2B5EF4-FFF2-40B4-BE49-F238E27FC236}">
                <a16:creationId xmlns:a16="http://schemas.microsoft.com/office/drawing/2014/main" id="{F9837D98-2B10-402C-85AA-BB51BA14992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21</a:t>
            </a:r>
          </a:p>
        </p:txBody>
      </p:sp>
      <p:sp>
        <p:nvSpPr>
          <p:cNvPr id="8" name="">
            <a:extLst xmlns:a="http://schemas.openxmlformats.org/drawingml/2006/main">
              <a:ext uri="{FF2B5EF4-FFF2-40B4-BE49-F238E27FC236}">
                <a16:creationId xmlns:a16="http://schemas.microsoft.com/office/drawing/2014/main" id="{F3E2A04E-CD7E-4B7D-9AB9-ECFF9ECC15B6}"/>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E2ACD9-8422-47FB-A120-9871699C2368}"/>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14go0y659zg">
            <a:extLst xmlns:a="http://schemas.openxmlformats.org/drawingml/2006/main">
              <a:ext uri="{FF2B5EF4-FFF2-40B4-BE49-F238E27FC236}">
                <a16:creationId xmlns:a16="http://schemas.microsoft.com/office/drawing/2014/main" id="{7C919A07-3607-4135-8BE7-C67A15A6092F}"/>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Insumos</a:t>
            </a:r>
          </a:p>
        </p:txBody>
      </p:sp>
      <p:sp>
        <p:nvSpPr>
          <p:cNvPr id="11" name="text-un5f6xa7pb">
            <a:extLst xmlns:a="http://schemas.openxmlformats.org/drawingml/2006/main">
              <a:ext uri="{FF2B5EF4-FFF2-40B4-BE49-F238E27FC236}">
                <a16:creationId xmlns:a16="http://schemas.microsoft.com/office/drawing/2014/main" id="{B39820AE-B8F3-4587-A39C-1B06AD67ABA3}"/>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Financiamiento, talento e infraestructura.</a:t>
            </a:r>
          </a:p>
        </p:txBody>
      </p:sp>
      <p:sp>
        <p:nvSpPr>
          <p:cNvPr id="12" name="">
            <a:extLst xmlns:a="http://schemas.openxmlformats.org/drawingml/2006/main">
              <a:ext uri="{FF2B5EF4-FFF2-40B4-BE49-F238E27FC236}">
                <a16:creationId xmlns:a16="http://schemas.microsoft.com/office/drawing/2014/main" id="{D403BC09-771B-418C-BFDD-4241C0E59D87}"/>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4980FFD-6088-4104-99DF-6F4F16232405}"/>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2um1ckigtnk">
            <a:extLst xmlns:a="http://schemas.openxmlformats.org/drawingml/2006/main">
              <a:ext uri="{FF2B5EF4-FFF2-40B4-BE49-F238E27FC236}">
                <a16:creationId xmlns:a16="http://schemas.microsoft.com/office/drawing/2014/main" id="{F19B8B08-2DC3-4127-BA53-99D6F32A3244}"/>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Actividades</a:t>
            </a:r>
          </a:p>
        </p:txBody>
      </p:sp>
      <p:sp>
        <p:nvSpPr>
          <p:cNvPr id="15" name="text-bb2ncr4d23u">
            <a:extLst xmlns:a="http://schemas.openxmlformats.org/drawingml/2006/main">
              <a:ext uri="{FF2B5EF4-FFF2-40B4-BE49-F238E27FC236}">
                <a16:creationId xmlns:a16="http://schemas.microsoft.com/office/drawing/2014/main" id="{07983C8A-32CC-4068-98B2-AED92F75CD45}"/>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Laboratorios, formación e integración industrial.</a:t>
            </a:r>
          </a:p>
        </p:txBody>
      </p:sp>
      <p:sp>
        <p:nvSpPr>
          <p:cNvPr id="16" name="">
            <a:extLst xmlns:a="http://schemas.openxmlformats.org/drawingml/2006/main">
              <a:ext uri="{FF2B5EF4-FFF2-40B4-BE49-F238E27FC236}">
                <a16:creationId xmlns:a16="http://schemas.microsoft.com/office/drawing/2014/main" id="{85462D47-4B5E-4239-8291-0E0F1097ECDF}"/>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9B85600-30A5-4704-B01F-CD33A9111477}"/>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1nehhq2fyo3">
            <a:extLst xmlns:a="http://schemas.openxmlformats.org/drawingml/2006/main">
              <a:ext uri="{FF2B5EF4-FFF2-40B4-BE49-F238E27FC236}">
                <a16:creationId xmlns:a16="http://schemas.microsoft.com/office/drawing/2014/main" id="{68149FE4-1DE9-4F24-AE4D-523A1F278D7C}"/>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Resultados</a:t>
            </a:r>
          </a:p>
        </p:txBody>
      </p:sp>
      <p:sp>
        <p:nvSpPr>
          <p:cNvPr id="19" name="text-e6b0dlpc15r">
            <a:extLst xmlns:a="http://schemas.openxmlformats.org/drawingml/2006/main">
              <a:ext uri="{FF2B5EF4-FFF2-40B4-BE49-F238E27FC236}">
                <a16:creationId xmlns:a16="http://schemas.microsoft.com/office/drawing/2014/main" id="{AA8E1663-EC1A-48D4-BBB7-C208AAFBF941}"/>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Adopción, calidad, productividad y seguridad.</a:t>
            </a:r>
          </a:p>
        </p:txBody>
      </p:sp>
    </p:spTree>
    <p:extLst>
      <p:ext uri="{BB962C8B-B14F-4D97-AF65-F5344CB8AC3E}">
        <p14:creationId xmlns:p14="http://schemas.microsoft.com/office/powerpoint/2010/main" val="282167928"/>
      </p:ext>
    </p:extLst>
  </p:cSld>
</p:sld>
</file>

<file path=ppt/slides/slide2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81F7267-BE3B-493C-9888-D02BEA30B6DD}"/>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0694zvfp8e5">
            <a:extLst xmlns:a="http://schemas.openxmlformats.org/drawingml/2006/main">
              <a:ext uri="{FF2B5EF4-FFF2-40B4-BE49-F238E27FC236}">
                <a16:creationId xmlns:a16="http://schemas.microsoft.com/office/drawing/2014/main" id="{7AD775F7-DA61-474C-9430-730A80AE6E5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4r3n3tj630q">
            <a:extLst xmlns:a="http://schemas.openxmlformats.org/drawingml/2006/main">
              <a:ext uri="{FF2B5EF4-FFF2-40B4-BE49-F238E27FC236}">
                <a16:creationId xmlns:a16="http://schemas.microsoft.com/office/drawing/2014/main" id="{BFAB0B77-C6AD-4B2F-8990-05FC7857A73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Unitree, UBTECH y XPENG muestran tres puntos de partida</a:t>
            </a:r>
          </a:p>
        </p:txBody>
      </p:sp>
      <p:sp>
        <p:nvSpPr>
          <p:cNvPr id="4" name="text-yp0hhhpvvpa">
            <a:extLst xmlns:a="http://schemas.openxmlformats.org/drawingml/2006/main">
              <a:ext uri="{FF2B5EF4-FFF2-40B4-BE49-F238E27FC236}">
                <a16:creationId xmlns:a16="http://schemas.microsoft.com/office/drawing/2014/main" id="{17C73BFA-DE21-4C42-B6CE-9D9075C59A0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comparación identifica énfasis, no un ganador universal.</a:t>
            </a:r>
          </a:p>
        </p:txBody>
      </p:sp>
      <p:sp>
        <p:nvSpPr>
          <p:cNvPr id="5" name="">
            <a:extLst xmlns:a="http://schemas.openxmlformats.org/drawingml/2006/main">
              <a:ext uri="{FF2B5EF4-FFF2-40B4-BE49-F238E27FC236}">
                <a16:creationId xmlns:a16="http://schemas.microsoft.com/office/drawing/2014/main" id="{EAD359E6-4679-406B-BF43-BC0B1DA8839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cbhz6chk438">
            <a:extLst xmlns:a="http://schemas.openxmlformats.org/drawingml/2006/main">
              <a:ext uri="{FF2B5EF4-FFF2-40B4-BE49-F238E27FC236}">
                <a16:creationId xmlns:a16="http://schemas.microsoft.com/office/drawing/2014/main" id="{725FDD10-F004-4615-B7FC-85CE22C7806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Unitree / UBTECH / XPENG</a:t>
            </a:r>
          </a:p>
        </p:txBody>
      </p:sp>
      <p:sp>
        <p:nvSpPr>
          <p:cNvPr id="7" name="text-3pe74s4t8ac">
            <a:extLst xmlns:a="http://schemas.openxmlformats.org/drawingml/2006/main">
              <a:ext uri="{FF2B5EF4-FFF2-40B4-BE49-F238E27FC236}">
                <a16:creationId xmlns:a16="http://schemas.microsoft.com/office/drawing/2014/main" id="{6E35FF1E-5B3C-4771-9C90-158223136DF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22</a:t>
            </a:r>
          </a:p>
        </p:txBody>
      </p:sp>
      <p:sp>
        <p:nvSpPr>
          <p:cNvPr id="8" name="">
            <a:extLst xmlns:a="http://schemas.openxmlformats.org/drawingml/2006/main">
              <a:ext uri="{FF2B5EF4-FFF2-40B4-BE49-F238E27FC236}">
                <a16:creationId xmlns:a16="http://schemas.microsoft.com/office/drawing/2014/main" id="{CB300F4D-6511-488F-8128-5437D4B60ED9}"/>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09029FD-D813-4B7A-9AD3-5A1D194AEA93}"/>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n3f5w7n99qd">
            <a:extLst xmlns:a="http://schemas.openxmlformats.org/drawingml/2006/main">
              <a:ext uri="{FF2B5EF4-FFF2-40B4-BE49-F238E27FC236}">
                <a16:creationId xmlns:a16="http://schemas.microsoft.com/office/drawing/2014/main" id="{88871E71-F9D0-4AC9-9D5E-8C87F0DB7F28}"/>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Unitree</a:t>
            </a:r>
          </a:p>
        </p:txBody>
      </p:sp>
      <p:sp>
        <p:nvSpPr>
          <p:cNvPr id="11" name="text-bq61ohdjnmu">
            <a:extLst xmlns:a="http://schemas.openxmlformats.org/drawingml/2006/main">
              <a:ext uri="{FF2B5EF4-FFF2-40B4-BE49-F238E27FC236}">
                <a16:creationId xmlns:a16="http://schemas.microsoft.com/office/drawing/2014/main" id="{6E8968B7-BBF6-4EDA-BA2A-299B2C983E99}"/>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Hardware, movilidad y plataformas de investigación.</a:t>
            </a:r>
          </a:p>
        </p:txBody>
      </p:sp>
      <p:sp>
        <p:nvSpPr>
          <p:cNvPr id="12" name="">
            <a:extLst xmlns:a="http://schemas.openxmlformats.org/drawingml/2006/main">
              <a:ext uri="{FF2B5EF4-FFF2-40B4-BE49-F238E27FC236}">
                <a16:creationId xmlns:a16="http://schemas.microsoft.com/office/drawing/2014/main" id="{C8826C6D-6BED-4D10-9740-FB254E3C792A}"/>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EEA4B0-69DC-4479-B424-12BA33D9EA51}"/>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p68dbhny11i">
            <a:extLst xmlns:a="http://schemas.openxmlformats.org/drawingml/2006/main">
              <a:ext uri="{FF2B5EF4-FFF2-40B4-BE49-F238E27FC236}">
                <a16:creationId xmlns:a16="http://schemas.microsoft.com/office/drawing/2014/main" id="{6405CD71-D8E0-4C99-AA9D-F9B84CDD2C6B}"/>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UBTECH</a:t>
            </a:r>
          </a:p>
        </p:txBody>
      </p:sp>
      <p:sp>
        <p:nvSpPr>
          <p:cNvPr id="15" name="text-6mv345purid">
            <a:extLst xmlns:a="http://schemas.openxmlformats.org/drawingml/2006/main">
              <a:ext uri="{FF2B5EF4-FFF2-40B4-BE49-F238E27FC236}">
                <a16:creationId xmlns:a16="http://schemas.microsoft.com/office/drawing/2014/main" id="{F9E6CF9F-8B5D-48E7-8AA7-2EFD146A7ED0}"/>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Integración de humanoides en procesos industriales.</a:t>
            </a:r>
          </a:p>
        </p:txBody>
      </p:sp>
      <p:sp>
        <p:nvSpPr>
          <p:cNvPr id="16" name="">
            <a:extLst xmlns:a="http://schemas.openxmlformats.org/drawingml/2006/main">
              <a:ext uri="{FF2B5EF4-FFF2-40B4-BE49-F238E27FC236}">
                <a16:creationId xmlns:a16="http://schemas.microsoft.com/office/drawing/2014/main" id="{29B5D71C-8BD6-4E56-BD90-A89C3597A2C3}"/>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C89C4AC-4598-4016-B13D-9493678B212F}"/>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n95dj2n74j">
            <a:extLst xmlns:a="http://schemas.openxmlformats.org/drawingml/2006/main">
              <a:ext uri="{FF2B5EF4-FFF2-40B4-BE49-F238E27FC236}">
                <a16:creationId xmlns:a16="http://schemas.microsoft.com/office/drawing/2014/main" id="{45DFE02C-364F-4FFA-B28B-2C425CB53AEA}"/>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XPENG</a:t>
            </a:r>
          </a:p>
        </p:txBody>
      </p:sp>
      <p:sp>
        <p:nvSpPr>
          <p:cNvPr id="19" name="text-iry29ftt82">
            <a:extLst xmlns:a="http://schemas.openxmlformats.org/drawingml/2006/main">
              <a:ext uri="{FF2B5EF4-FFF2-40B4-BE49-F238E27FC236}">
                <a16:creationId xmlns:a16="http://schemas.microsoft.com/office/drawing/2014/main" id="{D6C3EA7A-C7E8-4364-A85F-49247D03EB04}"/>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Transferencia de capacidades desde vehículos y manufactura.</a:t>
            </a:r>
          </a:p>
        </p:txBody>
      </p:sp>
    </p:spTree>
    <p:extLst>
      <p:ext uri="{BB962C8B-B14F-4D97-AF65-F5344CB8AC3E}">
        <p14:creationId xmlns:p14="http://schemas.microsoft.com/office/powerpoint/2010/main" val="297883724"/>
      </p:ext>
    </p:extLst>
  </p:cSld>
</p:sld>
</file>

<file path=ppt/slides/slide2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1FDA68-2031-451C-82F5-F30B6368299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wed1e4avp0f">
            <a:extLst xmlns:a="http://schemas.openxmlformats.org/drawingml/2006/main">
              <a:ext uri="{FF2B5EF4-FFF2-40B4-BE49-F238E27FC236}">
                <a16:creationId xmlns:a16="http://schemas.microsoft.com/office/drawing/2014/main" id="{C5853318-4431-4B90-92AB-4E1CD9B68D3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yhszt1cwkj9">
            <a:extLst xmlns:a="http://schemas.openxmlformats.org/drawingml/2006/main">
              <a:ext uri="{FF2B5EF4-FFF2-40B4-BE49-F238E27FC236}">
                <a16:creationId xmlns:a16="http://schemas.microsoft.com/office/drawing/2014/main" id="{E3937306-6147-48AC-B98B-1AE30ECC85B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G1 permite estudiar movilidad y configuración de hardware</a:t>
            </a:r>
          </a:p>
        </p:txBody>
      </p:sp>
      <p:sp>
        <p:nvSpPr>
          <p:cNvPr id="4" name="text-sdo7s1inuah">
            <a:extLst xmlns:a="http://schemas.openxmlformats.org/drawingml/2006/main">
              <a:ext uri="{FF2B5EF4-FFF2-40B4-BE49-F238E27FC236}">
                <a16:creationId xmlns:a16="http://schemas.microsoft.com/office/drawing/2014/main" id="{7D606063-7347-45EB-B461-ACFE7788CEC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ficha del fabricante describe capacidades bajo condiciones concretas.</a:t>
            </a:r>
          </a:p>
        </p:txBody>
      </p:sp>
      <p:sp>
        <p:nvSpPr>
          <p:cNvPr id="5" name="">
            <a:extLst xmlns:a="http://schemas.openxmlformats.org/drawingml/2006/main">
              <a:ext uri="{FF2B5EF4-FFF2-40B4-BE49-F238E27FC236}">
                <a16:creationId xmlns:a16="http://schemas.microsoft.com/office/drawing/2014/main" id="{4785E76B-3FE8-4E67-A2D0-3E75F9B595E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eyxgu4dagvd">
            <a:extLst xmlns:a="http://schemas.openxmlformats.org/drawingml/2006/main">
              <a:ext uri="{FF2B5EF4-FFF2-40B4-BE49-F238E27FC236}">
                <a16:creationId xmlns:a16="http://schemas.microsoft.com/office/drawing/2014/main" id="{B72B749C-DDE2-4C15-A1DB-45AAF241F9A8}"/>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Unitree</a:t>
            </a:r>
          </a:p>
        </p:txBody>
      </p:sp>
      <p:sp>
        <p:nvSpPr>
          <p:cNvPr id="7" name="text-c2o9d8idzp6">
            <a:extLst xmlns:a="http://schemas.openxmlformats.org/drawingml/2006/main">
              <a:ext uri="{FF2B5EF4-FFF2-40B4-BE49-F238E27FC236}">
                <a16:creationId xmlns:a16="http://schemas.microsoft.com/office/drawing/2014/main" id="{31236B22-6713-4513-A080-F1EC0CFC7C4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23</a:t>
            </a:r>
          </a:p>
        </p:txBody>
      </p:sp>
      <p:sp>
        <p:nvSpPr>
          <p:cNvPr id="8" name="text-z2ltcbnh1dn">
            <a:extLst xmlns:a="http://schemas.openxmlformats.org/drawingml/2006/main">
              <a:ext uri="{FF2B5EF4-FFF2-40B4-BE49-F238E27FC236}">
                <a16:creationId xmlns:a16="http://schemas.microsoft.com/office/drawing/2014/main" id="{7A61422A-4785-4EAB-BD9E-E68B25076AEB}"/>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G1</a:t>
            </a:r>
          </a:p>
        </p:txBody>
      </p:sp>
      <p:sp>
        <p:nvSpPr>
          <p:cNvPr id="9" name="text-p942atecvg">
            <a:extLst xmlns:a="http://schemas.openxmlformats.org/drawingml/2006/main">
              <a:ext uri="{FF2B5EF4-FFF2-40B4-BE49-F238E27FC236}">
                <a16:creationId xmlns:a16="http://schemas.microsoft.com/office/drawing/2014/main" id="{B26F8107-4DBD-47D3-A05E-AA3F14464BCC}"/>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 132 cm</a:t>
            </a:r>
          </a:p>
        </p:txBody>
      </p:sp>
      <p:sp>
        <p:nvSpPr>
          <p:cNvPr id="10" name="text-xphox9jxv3">
            <a:extLst xmlns:a="http://schemas.openxmlformats.org/drawingml/2006/main">
              <a:ext uri="{FF2B5EF4-FFF2-40B4-BE49-F238E27FC236}">
                <a16:creationId xmlns:a16="http://schemas.microsoft.com/office/drawing/2014/main" id="{A2191EB6-7150-4F1A-A497-9DD07002F751}"/>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Altura declarada del G1.</a:t>
            </a:r>
          </a:p>
        </p:txBody>
      </p:sp>
      <p:sp>
        <p:nvSpPr>
          <p:cNvPr id="11" name="text-oopo1pfak1">
            <a:extLst xmlns:a="http://schemas.openxmlformats.org/drawingml/2006/main">
              <a:ext uri="{FF2B5EF4-FFF2-40B4-BE49-F238E27FC236}">
                <a16:creationId xmlns:a16="http://schemas.microsoft.com/office/drawing/2014/main" id="{BB838ACC-3494-41FE-B0ED-28AFA13CBA18}"/>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 35 kg</a:t>
            </a:r>
          </a:p>
        </p:txBody>
      </p:sp>
      <p:sp>
        <p:nvSpPr>
          <p:cNvPr id="12" name="text-4y8eltt5o7i">
            <a:extLst xmlns:a="http://schemas.openxmlformats.org/drawingml/2006/main">
              <a:ext uri="{FF2B5EF4-FFF2-40B4-BE49-F238E27FC236}">
                <a16:creationId xmlns:a16="http://schemas.microsoft.com/office/drawing/2014/main" id="{77AA96A9-74C4-4C6E-B8AE-6E3BCD083A12}"/>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Peso declarado según configuración.</a:t>
            </a:r>
          </a:p>
        </p:txBody>
      </p:sp>
      <p:sp>
        <p:nvSpPr>
          <p:cNvPr id="13" name="text-pmla0u65oz">
            <a:extLst xmlns:a="http://schemas.openxmlformats.org/drawingml/2006/main">
              <a:ext uri="{FF2B5EF4-FFF2-40B4-BE49-F238E27FC236}">
                <a16:creationId xmlns:a16="http://schemas.microsoft.com/office/drawing/2014/main" id="{05EF419A-A913-4EE7-AE89-96318633ADFF}"/>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Pregunta operativa</a:t>
            </a:r>
          </a:p>
        </p:txBody>
      </p:sp>
      <p:sp>
        <p:nvSpPr>
          <p:cNvPr id="14" name="text-mgod2o311z">
            <a:extLst xmlns:a="http://schemas.openxmlformats.org/drawingml/2006/main">
              <a:ext uri="{FF2B5EF4-FFF2-40B4-BE49-F238E27FC236}">
                <a16:creationId xmlns:a16="http://schemas.microsoft.com/office/drawing/2014/main" id="{814A5DCF-4247-4CE8-983B-AEE12645DF57}"/>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¿Cuántas tareas válidas completa sin intervención?</a:t>
            </a:r>
          </a:p>
        </p:txBody>
      </p:sp>
    </p:spTree>
    <p:extLst>
      <p:ext uri="{BB962C8B-B14F-4D97-AF65-F5344CB8AC3E}">
        <p14:creationId xmlns:p14="http://schemas.microsoft.com/office/powerpoint/2010/main" val="101566764"/>
      </p:ext>
    </p:extLst>
  </p:cSld>
</p:sld>
</file>

<file path=ppt/slides/slide2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F2D3BDA-B8C1-49FB-BE18-8C48D3EB365D}"/>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jw1ec34y4pp">
            <a:extLst xmlns:a="http://schemas.openxmlformats.org/drawingml/2006/main">
              <a:ext uri="{FF2B5EF4-FFF2-40B4-BE49-F238E27FC236}">
                <a16:creationId xmlns:a16="http://schemas.microsoft.com/office/drawing/2014/main" id="{74D5D646-94A2-46D7-B6B7-F61C92A3E357}"/>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gzqa3f31bth">
            <a:extLst xmlns:a="http://schemas.openxmlformats.org/drawingml/2006/main">
              <a:ext uri="{FF2B5EF4-FFF2-40B4-BE49-F238E27FC236}">
                <a16:creationId xmlns:a16="http://schemas.microsoft.com/office/drawing/2014/main" id="{3452527A-B960-4A73-AFB4-9EF44AE5EA9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Walker S2 permite discutir disponibilidad operativa</a:t>
            </a:r>
          </a:p>
        </p:txBody>
      </p:sp>
      <p:sp>
        <p:nvSpPr>
          <p:cNvPr id="4" name="text-dpb375erz4q">
            <a:extLst xmlns:a="http://schemas.openxmlformats.org/drawingml/2006/main">
              <a:ext uri="{FF2B5EF4-FFF2-40B4-BE49-F238E27FC236}">
                <a16:creationId xmlns:a16="http://schemas.microsoft.com/office/drawing/2014/main" id="{4B5AB620-8C62-4133-B114-CBB6028DADA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UBTECH declara cambio autónomo de batería dentro de tres minutos.</a:t>
            </a:r>
          </a:p>
        </p:txBody>
      </p:sp>
      <p:sp>
        <p:nvSpPr>
          <p:cNvPr id="5" name="">
            <a:extLst xmlns:a="http://schemas.openxmlformats.org/drawingml/2006/main">
              <a:ext uri="{FF2B5EF4-FFF2-40B4-BE49-F238E27FC236}">
                <a16:creationId xmlns:a16="http://schemas.microsoft.com/office/drawing/2014/main" id="{88EB0671-69DA-4709-9499-6E6D2EBF637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hl2m7fbqny4">
            <a:extLst xmlns:a="http://schemas.openxmlformats.org/drawingml/2006/main">
              <a:ext uri="{FF2B5EF4-FFF2-40B4-BE49-F238E27FC236}">
                <a16:creationId xmlns:a16="http://schemas.microsoft.com/office/drawing/2014/main" id="{759A6724-672D-49EC-9D64-C5922CA5821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UBTECH</a:t>
            </a:r>
          </a:p>
        </p:txBody>
      </p:sp>
      <p:sp>
        <p:nvSpPr>
          <p:cNvPr id="7" name="text-umbh6e070da">
            <a:extLst xmlns:a="http://schemas.openxmlformats.org/drawingml/2006/main">
              <a:ext uri="{FF2B5EF4-FFF2-40B4-BE49-F238E27FC236}">
                <a16:creationId xmlns:a16="http://schemas.microsoft.com/office/drawing/2014/main" id="{595A0FE5-6191-4B6D-A72B-3D0A45A9345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24</a:t>
            </a:r>
          </a:p>
        </p:txBody>
      </p:sp>
      <p:sp>
        <p:nvSpPr>
          <p:cNvPr id="8" name="text-h8gpiuosotd">
            <a:extLst xmlns:a="http://schemas.openxmlformats.org/drawingml/2006/main">
              <a:ext uri="{FF2B5EF4-FFF2-40B4-BE49-F238E27FC236}">
                <a16:creationId xmlns:a16="http://schemas.microsoft.com/office/drawing/2014/main" id="{A9FB978F-7655-448C-B9AB-58C9DAE90294}"/>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 3 min</a:t>
            </a:r>
          </a:p>
        </p:txBody>
      </p:sp>
      <p:sp>
        <p:nvSpPr>
          <p:cNvPr id="9" name="text-2s7s86ei908">
            <a:extLst xmlns:a="http://schemas.openxmlformats.org/drawingml/2006/main">
              <a:ext uri="{FF2B5EF4-FFF2-40B4-BE49-F238E27FC236}">
                <a16:creationId xmlns:a16="http://schemas.microsoft.com/office/drawing/2014/main" id="{B1D2D2BE-5214-4CFF-895D-CA21EC38B037}"/>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Energía</a:t>
            </a:r>
          </a:p>
        </p:txBody>
      </p:sp>
      <p:sp>
        <p:nvSpPr>
          <p:cNvPr id="10" name="text-sdv0t5hu3bg">
            <a:extLst xmlns:a="http://schemas.openxmlformats.org/drawingml/2006/main">
              <a:ext uri="{FF2B5EF4-FFF2-40B4-BE49-F238E27FC236}">
                <a16:creationId xmlns:a16="http://schemas.microsoft.com/office/drawing/2014/main" id="{50E74C89-6336-4C25-BEF1-D4A0883A2884}"/>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La reposición reduce una fuente de parada.</a:t>
            </a:r>
          </a:p>
        </p:txBody>
      </p:sp>
      <p:sp>
        <p:nvSpPr>
          <p:cNvPr id="11" name="text-00izca0kuiotf">
            <a:extLst xmlns:a="http://schemas.openxmlformats.org/drawingml/2006/main">
              <a:ext uri="{FF2B5EF4-FFF2-40B4-BE49-F238E27FC236}">
                <a16:creationId xmlns:a16="http://schemas.microsoft.com/office/drawing/2014/main" id="{873F0D4B-5E75-4628-A704-99B737122186}"/>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Fiabilidad</a:t>
            </a:r>
          </a:p>
        </p:txBody>
      </p:sp>
      <p:sp>
        <p:nvSpPr>
          <p:cNvPr id="12" name="text-1u2eiwy3gyp">
            <a:extLst xmlns:a="http://schemas.openxmlformats.org/drawingml/2006/main">
              <a:ext uri="{FF2B5EF4-FFF2-40B4-BE49-F238E27FC236}">
                <a16:creationId xmlns:a16="http://schemas.microsoft.com/office/drawing/2014/main" id="{6566248A-2F5D-4083-B1B9-2E7060AC0163}"/>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Fallos, piezas, mantenimiento y asistencia siguen importando.</a:t>
            </a:r>
          </a:p>
        </p:txBody>
      </p:sp>
      <p:sp>
        <p:nvSpPr>
          <p:cNvPr id="13" name="text-s8j61reif9k">
            <a:extLst xmlns:a="http://schemas.openxmlformats.org/drawingml/2006/main">
              <a:ext uri="{FF2B5EF4-FFF2-40B4-BE49-F238E27FC236}">
                <a16:creationId xmlns:a16="http://schemas.microsoft.com/office/drawing/2014/main" id="{17885604-9B16-4B97-AB15-998B8E4AC900}"/>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Métrica</a:t>
            </a:r>
          </a:p>
        </p:txBody>
      </p:sp>
      <p:sp>
        <p:nvSpPr>
          <p:cNvPr id="14" name="text-2njrfnb60q4">
            <a:extLst xmlns:a="http://schemas.openxmlformats.org/drawingml/2006/main">
              <a:ext uri="{FF2B5EF4-FFF2-40B4-BE49-F238E27FC236}">
                <a16:creationId xmlns:a16="http://schemas.microsoft.com/office/drawing/2014/main" id="{FB6F35A8-548E-4D02-AAFE-A8B31EB1966C}"/>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Disponibilidad = horas disponibles / horas planificadas.</a:t>
            </a:r>
          </a:p>
        </p:txBody>
      </p:sp>
    </p:spTree>
    <p:extLst>
      <p:ext uri="{BB962C8B-B14F-4D97-AF65-F5344CB8AC3E}">
        <p14:creationId xmlns:p14="http://schemas.microsoft.com/office/powerpoint/2010/main" val="1028005458"/>
      </p:ext>
    </p:extLst>
  </p:cSld>
</p:sld>
</file>

<file path=ppt/slides/slide2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FCED7E-A6CF-49A3-A7C6-DF04C6665E8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7o1zlwygmc2">
            <a:extLst xmlns:a="http://schemas.openxmlformats.org/drawingml/2006/main">
              <a:ext uri="{FF2B5EF4-FFF2-40B4-BE49-F238E27FC236}">
                <a16:creationId xmlns:a16="http://schemas.microsoft.com/office/drawing/2014/main" id="{0EE5AE53-DFB8-4456-98A1-CA4B5E4C6C3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83hrrbhrcdt">
            <a:extLst xmlns:a="http://schemas.openxmlformats.org/drawingml/2006/main">
              <a:ext uri="{FF2B5EF4-FFF2-40B4-BE49-F238E27FC236}">
                <a16:creationId xmlns:a16="http://schemas.microsoft.com/office/drawing/2014/main" id="{EF9A1609-8470-4B79-B40C-BA5228D5F20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IRON conecta la fabricación automotriz con la robótica</a:t>
            </a:r>
          </a:p>
        </p:txBody>
      </p:sp>
      <p:sp>
        <p:nvSpPr>
          <p:cNvPr id="4" name="text-uweb6t6jlzq">
            <a:extLst xmlns:a="http://schemas.openxmlformats.org/drawingml/2006/main">
              <a:ext uri="{FF2B5EF4-FFF2-40B4-BE49-F238E27FC236}">
                <a16:creationId xmlns:a16="http://schemas.microsoft.com/office/drawing/2014/main" id="{8852E872-6B18-4252-B344-94D7BEF923F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Comunicado empresarial del 8 de septiembre de 2026.</a:t>
            </a:r>
          </a:p>
        </p:txBody>
      </p:sp>
      <p:sp>
        <p:nvSpPr>
          <p:cNvPr id="5" name="">
            <a:extLst xmlns:a="http://schemas.openxmlformats.org/drawingml/2006/main">
              <a:ext uri="{FF2B5EF4-FFF2-40B4-BE49-F238E27FC236}">
                <a16:creationId xmlns:a16="http://schemas.microsoft.com/office/drawing/2014/main" id="{D6B3AD5F-15D7-41EF-97CA-47C1165FA37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pugryel261">
            <a:extLst xmlns:a="http://schemas.openxmlformats.org/drawingml/2006/main">
              <a:ext uri="{FF2B5EF4-FFF2-40B4-BE49-F238E27FC236}">
                <a16:creationId xmlns:a16="http://schemas.microsoft.com/office/drawing/2014/main" id="{C2DF399E-F1AA-406E-86F8-41B94C5D6C6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XPENG</a:t>
            </a:r>
          </a:p>
        </p:txBody>
      </p:sp>
      <p:sp>
        <p:nvSpPr>
          <p:cNvPr id="7" name="text-2puzy1jip7n">
            <a:extLst xmlns:a="http://schemas.openxmlformats.org/drawingml/2006/main">
              <a:ext uri="{FF2B5EF4-FFF2-40B4-BE49-F238E27FC236}">
                <a16:creationId xmlns:a16="http://schemas.microsoft.com/office/drawing/2014/main" id="{BAFA7773-E508-48A8-917A-238EF654AED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25</a:t>
            </a:r>
          </a:p>
        </p:txBody>
      </p:sp>
      <p:sp>
        <p:nvSpPr>
          <p:cNvPr id="8" name="text-r3f6ohchbes">
            <a:extLst xmlns:a="http://schemas.openxmlformats.org/drawingml/2006/main">
              <a:ext uri="{FF2B5EF4-FFF2-40B4-BE49-F238E27FC236}">
                <a16:creationId xmlns:a16="http://schemas.microsoft.com/office/drawing/2014/main" id="{06D99A24-6A32-4DCF-B2A9-4C0B93A53D1E}"/>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dnjzgjyxnse">
            <a:extLst xmlns:a="http://schemas.openxmlformats.org/drawingml/2006/main">
              <a:ext uri="{FF2B5EF4-FFF2-40B4-BE49-F238E27FC236}">
                <a16:creationId xmlns:a16="http://schemas.microsoft.com/office/drawing/2014/main" id="{0C4CC675-B0B7-4B5B-9D94-91DFD499BB2C}"/>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Anunciado como realizado</a:t>
            </a:r>
          </a:p>
        </p:txBody>
      </p:sp>
      <p:sp>
        <p:nvSpPr>
          <p:cNvPr id="10" name="text-9igzdkyxdz4">
            <a:extLst xmlns:a="http://schemas.openxmlformats.org/drawingml/2006/main">
              <a:ext uri="{FF2B5EF4-FFF2-40B4-BE49-F238E27FC236}">
                <a16:creationId xmlns:a16="http://schemas.microsoft.com/office/drawing/2014/main" id="{1A5DA22E-AAC6-4396-B190-4064EB4F8E2B}"/>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Puesta en marcha de una línea y salida de un robot.</a:t>
            </a:r>
          </a:p>
        </p:txBody>
      </p:sp>
      <p:sp>
        <p:nvSpPr>
          <p:cNvPr id="11" name="">
            <a:extLst xmlns:a="http://schemas.openxmlformats.org/drawingml/2006/main">
              <a:ext uri="{FF2B5EF4-FFF2-40B4-BE49-F238E27FC236}">
                <a16:creationId xmlns:a16="http://schemas.microsoft.com/office/drawing/2014/main" id="{D8854843-0F5C-4E3F-82E1-819103E47677}"/>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8kiteegqsiq">
            <a:extLst xmlns:a="http://schemas.openxmlformats.org/drawingml/2006/main">
              <a:ext uri="{FF2B5EF4-FFF2-40B4-BE49-F238E27FC236}">
                <a16:creationId xmlns:a16="http://schemas.microsoft.com/office/drawing/2014/main" id="{FB879712-25B4-46B3-BF36-D597D7B18960}"/>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wv62dzzo3wh">
            <a:extLst xmlns:a="http://schemas.openxmlformats.org/drawingml/2006/main">
              <a:ext uri="{FF2B5EF4-FFF2-40B4-BE49-F238E27FC236}">
                <a16:creationId xmlns:a16="http://schemas.microsoft.com/office/drawing/2014/main" id="{ACAA82F9-B3E5-480F-8873-AD3AC755A3F0}"/>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Objetivo declarado</a:t>
            </a:r>
          </a:p>
        </p:txBody>
      </p:sp>
      <p:sp>
        <p:nvSpPr>
          <p:cNvPr id="14" name="text-rf1uf3j06mm">
            <a:extLst xmlns:a="http://schemas.openxmlformats.org/drawingml/2006/main">
              <a:ext uri="{FF2B5EF4-FFF2-40B4-BE49-F238E27FC236}">
                <a16:creationId xmlns:a16="http://schemas.microsoft.com/office/drawing/2014/main" id="{FA2F9C8A-C2B3-4937-9E91-3F440D93DA99}"/>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Producción masiva prevista para fines de 2026.</a:t>
            </a:r>
          </a:p>
        </p:txBody>
      </p:sp>
      <p:sp>
        <p:nvSpPr>
          <p:cNvPr id="15" name="">
            <a:extLst xmlns:a="http://schemas.openxmlformats.org/drawingml/2006/main">
              <a:ext uri="{FF2B5EF4-FFF2-40B4-BE49-F238E27FC236}">
                <a16:creationId xmlns:a16="http://schemas.microsoft.com/office/drawing/2014/main" id="{FDD85913-EDF5-4127-970B-9FED0DFE4821}"/>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hn7fd6wnmgm">
            <a:extLst xmlns:a="http://schemas.openxmlformats.org/drawingml/2006/main">
              <a:ext uri="{FF2B5EF4-FFF2-40B4-BE49-F238E27FC236}">
                <a16:creationId xmlns:a16="http://schemas.microsoft.com/office/drawing/2014/main" id="{0A40AE1F-006D-4BA8-A03E-580D5D715377}"/>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lkdma8t16ol">
            <a:extLst xmlns:a="http://schemas.openxmlformats.org/drawingml/2006/main">
              <a:ext uri="{FF2B5EF4-FFF2-40B4-BE49-F238E27FC236}">
                <a16:creationId xmlns:a16="http://schemas.microsoft.com/office/drawing/2014/main" id="{195EB31C-829A-4F14-9167-9C684ED36755}"/>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Plan comercial</a:t>
            </a:r>
          </a:p>
        </p:txBody>
      </p:sp>
      <p:sp>
        <p:nvSpPr>
          <p:cNvPr id="18" name="text-w77fg1dxuke">
            <a:extLst xmlns:a="http://schemas.openxmlformats.org/drawingml/2006/main">
              <a:ext uri="{FF2B5EF4-FFF2-40B4-BE49-F238E27FC236}">
                <a16:creationId xmlns:a16="http://schemas.microsoft.com/office/drawing/2014/main" id="{122D7BB5-C797-48FD-B3DF-A05289B5DF7F}"/>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Lanzamiento y entregas previstos para 2027.</a:t>
            </a:r>
          </a:p>
        </p:txBody>
      </p:sp>
    </p:spTree>
    <p:extLst>
      <p:ext uri="{BB962C8B-B14F-4D97-AF65-F5344CB8AC3E}">
        <p14:creationId xmlns:p14="http://schemas.microsoft.com/office/powerpoint/2010/main" val="672856713"/>
      </p:ext>
    </p:extLst>
  </p:cSld>
</p:sld>
</file>

<file path=ppt/slides/slide2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AFE5F3-8D2D-482A-B16E-604948FC4CD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ze1m5ovfnvf">
            <a:extLst xmlns:a="http://schemas.openxmlformats.org/drawingml/2006/main">
              <a:ext uri="{FF2B5EF4-FFF2-40B4-BE49-F238E27FC236}">
                <a16:creationId xmlns:a16="http://schemas.microsoft.com/office/drawing/2014/main" id="{DAF4A01B-B5C1-4B82-A193-DACACBABBE3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re0fk8895v">
            <a:extLst xmlns:a="http://schemas.openxmlformats.org/drawingml/2006/main">
              <a:ext uri="{FF2B5EF4-FFF2-40B4-BE49-F238E27FC236}">
                <a16:creationId xmlns:a16="http://schemas.microsoft.com/office/drawing/2014/main" id="{FFE577A4-CCD8-43BF-8F97-18689BB5316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Una comparación útil conserva tarea, versión y condiciones</a:t>
            </a:r>
          </a:p>
        </p:txBody>
      </p:sp>
      <p:sp>
        <p:nvSpPr>
          <p:cNvPr id="4" name="text-cq42wxg9zh4">
            <a:extLst xmlns:a="http://schemas.openxmlformats.org/drawingml/2006/main">
              <a:ext uri="{FF2B5EF4-FFF2-40B4-BE49-F238E27FC236}">
                <a16:creationId xmlns:a16="http://schemas.microsoft.com/office/drawing/2014/main" id="{249A1917-EA6E-4024-8BCE-286E58FC9D4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ausencia de un dato también debe aparecer en la tabla.</a:t>
            </a:r>
          </a:p>
        </p:txBody>
      </p:sp>
      <p:sp>
        <p:nvSpPr>
          <p:cNvPr id="5" name="">
            <a:extLst xmlns:a="http://schemas.openxmlformats.org/drawingml/2006/main">
              <a:ext uri="{FF2B5EF4-FFF2-40B4-BE49-F238E27FC236}">
                <a16:creationId xmlns:a16="http://schemas.microsoft.com/office/drawing/2014/main" id="{FBC8D3D1-1FEC-48F4-91AC-1FAB2ED2EF2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vck2articxc">
            <a:extLst xmlns:a="http://schemas.openxmlformats.org/drawingml/2006/main">
              <a:ext uri="{FF2B5EF4-FFF2-40B4-BE49-F238E27FC236}">
                <a16:creationId xmlns:a16="http://schemas.microsoft.com/office/drawing/2014/main" id="{997A5DBB-3BC4-4FE1-B382-3D27C94324B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58ykqguepl9">
            <a:extLst xmlns:a="http://schemas.openxmlformats.org/drawingml/2006/main">
              <a:ext uri="{FF2B5EF4-FFF2-40B4-BE49-F238E27FC236}">
                <a16:creationId xmlns:a16="http://schemas.microsoft.com/office/drawing/2014/main" id="{EF119B1D-58D4-4F69-9AF9-FCC79D0386A0}"/>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26</a:t>
            </a:r>
          </a:p>
        </p:txBody>
      </p:sp>
      <p:graphicFrame>
        <p:nvGraphicFramePr>
          <p:cNvPr id="8" name="">
            <a:extLst xmlns:a="http://schemas.openxmlformats.org/drawingml/2006/main">
              <a:ext uri="{FF2B5EF4-FFF2-40B4-BE49-F238E27FC236}">
                <a16:creationId xmlns:a16="http://schemas.microsoft.com/office/drawing/2014/main" id="{3E5B3182-413C-428B-9D58-A8DD60865150}"/>
              </a:ext>
            </a:extLst>
          </p:cNvPr>
          <p:cNvGraphicFramePr/>
          <p:nvPr/>
        </p:nvGraphicFramePr>
        <p:xfrm>
          <a:off xmlns:a="http://schemas.openxmlformats.org/drawingml/2006/main" x="609600" y="2647950"/>
          <a:ext xmlns:a="http://schemas.openxmlformats.org/drawingml/2006/main" cx="10972800" cy="3238500"/>
        </p:xfrm>
        <a:graphic xmlns:a="http://schemas.openxmlformats.org/drawingml/2006/main">
          <a:graphicData uri="http://schemas.openxmlformats.org/drawingml/2006/table">
            <a:tbl>
              <a:tblPr/>
              <a:tblGrid>
                <a:gridCol w="3143250"/>
                <a:gridCol w="7829550"/>
              </a:tblGrid>
              <a:tr h="552450">
                <a:tc>
                  <a:txBody>
                    <a:bodyPr lIns="114300" tIns="114300" rIns="114300" bIns="114300"/>
                    <a:lstStyle/>
                    <a:p>
                      <a:r>
                        <a:rPr sz="1725" b="1">
                          <a:solidFill>
                            <a:srgbClr val="FFFFFF"/>
                          </a:solidFill>
                          <a:latin typeface="DejaVu Sans"/>
                          <a:ea typeface="DejaVu Sans"/>
                          <a:cs typeface="DejaVu Sans"/>
                        </a:rPr>
                        <a:t>Dimensión</a:t>
                      </a:r>
                    </a:p>
                  </a:txBody>
                  <a:tcPr marL="91440" marR="91440" marT="45720" marB="45720">
                    <a:lnL w="9525">
                      <a:solidFill>
                        <a:srgbClr val="CCD8D6"/>
                      </a:solidFill>
                      <a:prstDash val="solid"/>
                    </a:lnL>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Pregunta de evaluación</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r>
              <a:tr h="552450">
                <a:tc>
                  <a:txBody>
                    <a:bodyPr lIns="114300" tIns="114300" rIns="114300" bIns="114300"/>
                    <a:lstStyle/>
                    <a:p>
                      <a:r>
                        <a:rPr sz="1725" b="0">
                          <a:solidFill>
                            <a:srgbClr val="10242B"/>
                          </a:solidFill>
                          <a:latin typeface="DejaVu Sans"/>
                          <a:ea typeface="DejaVu Sans"/>
                          <a:cs typeface="DejaVu Sans"/>
                        </a:rPr>
                        <a:t>Locomoción</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¿En qué superficie y con qué estabilidad?</a:t>
                      </a:r>
                    </a:p>
                  </a:txBody>
                  <a:tcPr marL="91440" marR="91440" marT="45720" marB="45720">
                    <a:lnR w="9525">
                      <a:solidFill>
                        <a:srgbClr val="CCD8D6"/>
                      </a:solidFill>
                      <a:prstDash val="solid"/>
                    </a:lnR>
                    <a:lnB w="9525">
                      <a:solidFill>
                        <a:srgbClr val="CCD8D6"/>
                      </a:solidFill>
                      <a:prstDash val="solid"/>
                    </a:lnB>
                    <a:solidFill>
                      <a:srgbClr val="FFFDFA"/>
                    </a:solidFill>
                  </a:tcPr>
                </a:tc>
              </a:tr>
              <a:tr h="552450">
                <a:tc>
                  <a:txBody>
                    <a:bodyPr lIns="114300" tIns="114300" rIns="114300" bIns="114300"/>
                    <a:lstStyle/>
                    <a:p>
                      <a:r>
                        <a:rPr sz="1725" b="0">
                          <a:solidFill>
                            <a:srgbClr val="10242B"/>
                          </a:solidFill>
                          <a:latin typeface="DejaVu Sans"/>
                          <a:ea typeface="DejaVu Sans"/>
                          <a:cs typeface="DejaVu Sans"/>
                        </a:rPr>
                        <a:t>Manipulación</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¿Qué objeto, precisión y repetibilidad?</a:t>
                      </a:r>
                    </a:p>
                  </a:txBody>
                  <a:tcPr marL="91440" marR="91440" marT="45720" marB="45720">
                    <a:lnR w="9525">
                      <a:solidFill>
                        <a:srgbClr val="CCD8D6"/>
                      </a:solidFill>
                      <a:prstDash val="solid"/>
                    </a:lnR>
                    <a:lnB w="9525">
                      <a:solidFill>
                        <a:srgbClr val="CCD8D6"/>
                      </a:solidFill>
                      <a:prstDash val="solid"/>
                    </a:lnB>
                    <a:solidFill>
                      <a:srgbClr val="E5ECE8"/>
                    </a:solidFill>
                  </a:tcPr>
                </a:tc>
              </a:tr>
              <a:tr h="552450">
                <a:tc>
                  <a:txBody>
                    <a:bodyPr lIns="114300" tIns="114300" rIns="114300" bIns="114300"/>
                    <a:lstStyle/>
                    <a:p>
                      <a:r>
                        <a:rPr sz="1725" b="0">
                          <a:solidFill>
                            <a:srgbClr val="10242B"/>
                          </a:solidFill>
                          <a:latin typeface="DejaVu Sans"/>
                          <a:ea typeface="DejaVu Sans"/>
                          <a:cs typeface="DejaVu Sans"/>
                        </a:rPr>
                        <a:t>Autonomía</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¿Cuánta intervención y asistencia remota?</a:t>
                      </a:r>
                    </a:p>
                  </a:txBody>
                  <a:tcPr marL="91440" marR="91440" marT="45720" marB="45720">
                    <a:lnR w="9525">
                      <a:solidFill>
                        <a:srgbClr val="CCD8D6"/>
                      </a:solidFill>
                      <a:prstDash val="solid"/>
                    </a:lnR>
                    <a:lnB w="9525">
                      <a:solidFill>
                        <a:srgbClr val="CCD8D6"/>
                      </a:solidFill>
                      <a:prstDash val="solid"/>
                    </a:lnB>
                    <a:solidFill>
                      <a:srgbClr val="FFFDFA"/>
                    </a:solidFill>
                  </a:tcPr>
                </a:tc>
              </a:tr>
              <a:tr h="552450">
                <a:tc>
                  <a:txBody>
                    <a:bodyPr lIns="114300" tIns="114300" rIns="114300" bIns="114300"/>
                    <a:lstStyle/>
                    <a:p>
                      <a:r>
                        <a:rPr sz="1725" b="0">
                          <a:solidFill>
                            <a:srgbClr val="10242B"/>
                          </a:solidFill>
                          <a:latin typeface="DejaVu Sans"/>
                          <a:ea typeface="DejaVu Sans"/>
                          <a:cs typeface="DejaVu Sans"/>
                        </a:rPr>
                        <a:t>Operación</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¿Qué disponibilidad y soporte?</a:t>
                      </a:r>
                    </a:p>
                  </a:txBody>
                  <a:tcPr marL="91440" marR="91440" marT="45720" marB="45720">
                    <a:lnR w="9525">
                      <a:solidFill>
                        <a:srgbClr val="CCD8D6"/>
                      </a:solidFill>
                      <a:prstDash val="solid"/>
                    </a:lnR>
                    <a:lnB w="9525">
                      <a:solidFill>
                        <a:srgbClr val="CCD8D6"/>
                      </a:solidFill>
                      <a:prstDash val="solid"/>
                    </a:lnB>
                    <a:solidFill>
                      <a:srgbClr val="E5ECE8"/>
                    </a:solidFill>
                  </a:tcPr>
                </a:tc>
              </a:tr>
              <a:tr h="552450">
                <a:tc>
                  <a:txBody>
                    <a:bodyPr lIns="114300" tIns="114300" rIns="114300" bIns="114300"/>
                    <a:lstStyle/>
                    <a:p>
                      <a:r>
                        <a:rPr sz="1725" b="0">
                          <a:solidFill>
                            <a:srgbClr val="10242B"/>
                          </a:solidFill>
                          <a:latin typeface="DejaVu Sans"/>
                          <a:ea typeface="DejaVu Sans"/>
                          <a:cs typeface="DejaVu Sans"/>
                        </a:rPr>
                        <a:t>Economía</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¿Qué costo por tarea correcta?</a:t>
                      </a:r>
                    </a:p>
                  </a:txBody>
                  <a:tcPr marL="91440" marR="91440" marT="45720" marB="45720">
                    <a:lnR w="9525">
                      <a:solidFill>
                        <a:srgbClr val="CCD8D6"/>
                      </a:solidFill>
                      <a:prstDash val="solid"/>
                    </a:lnR>
                    <a:lnB w="9525">
                      <a:solidFill>
                        <a:srgbClr val="CCD8D6"/>
                      </a:solidFill>
                      <a:prstDash val="solid"/>
                    </a:lnB>
                    <a:solidFill>
                      <a:srgbClr val="FFFDFA"/>
                    </a:solidFill>
                  </a:tcPr>
                </a:tc>
              </a:tr>
            </a:tbl>
          </a:graphicData>
        </a:graphic>
      </p:graphicFrame>
    </p:spTree>
    <p:extLst>
      <p:ext uri="{BB962C8B-B14F-4D97-AF65-F5344CB8AC3E}">
        <p14:creationId xmlns:p14="http://schemas.microsoft.com/office/powerpoint/2010/main" val="804925473"/>
      </p:ext>
    </p:extLst>
  </p:cSld>
</p:sld>
</file>

<file path=ppt/slides/slide2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8859AC4-41CF-4F54-BA25-0CBB4263756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ys2m427xfff">
            <a:extLst xmlns:a="http://schemas.openxmlformats.org/drawingml/2006/main">
              <a:ext uri="{FF2B5EF4-FFF2-40B4-BE49-F238E27FC236}">
                <a16:creationId xmlns:a16="http://schemas.microsoft.com/office/drawing/2014/main" id="{D4DBF805-BC79-4847-86D4-EE92E448F4E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b1de1iq4kkr">
            <a:extLst xmlns:a="http://schemas.openxmlformats.org/drawingml/2006/main">
              <a:ext uri="{FF2B5EF4-FFF2-40B4-BE49-F238E27FC236}">
                <a16:creationId xmlns:a16="http://schemas.microsoft.com/office/drawing/2014/main" id="{7F34C91D-9E86-423D-B9FD-2092675ABF0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Los videos tienen una página propia para observar y discutir</a:t>
            </a:r>
          </a:p>
        </p:txBody>
      </p:sp>
      <p:sp>
        <p:nvSpPr>
          <p:cNvPr id="4" name="text-43akfj5a0ai">
            <a:extLst xmlns:a="http://schemas.openxmlformats.org/drawingml/2006/main">
              <a:ext uri="{FF2B5EF4-FFF2-40B4-BE49-F238E27FC236}">
                <a16:creationId xmlns:a16="http://schemas.microsoft.com/office/drawing/2014/main" id="{B34D57BE-ECF7-43B0-87CA-756ED5812DC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Cada demostración viene acompañada de una pregunta y un límite de evidencia.</a:t>
            </a:r>
          </a:p>
        </p:txBody>
      </p:sp>
      <p:sp>
        <p:nvSpPr>
          <p:cNvPr id="5" name="">
            <a:extLst xmlns:a="http://schemas.openxmlformats.org/drawingml/2006/main">
              <a:ext uri="{FF2B5EF4-FFF2-40B4-BE49-F238E27FC236}">
                <a16:creationId xmlns:a16="http://schemas.microsoft.com/office/drawing/2014/main" id="{93E932E5-F7E0-45B5-BB62-26BB36F5E01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q91g6akuds9">
            <a:extLst xmlns:a="http://schemas.openxmlformats.org/drawingml/2006/main">
              <a:ext uri="{FF2B5EF4-FFF2-40B4-BE49-F238E27FC236}">
                <a16:creationId xmlns:a16="http://schemas.microsoft.com/office/drawing/2014/main" id="{E84AEE65-298A-4208-B977-8D9590D8BA4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VideoLab / Unitree / XPENG / UBTECH</a:t>
            </a:r>
          </a:p>
        </p:txBody>
      </p:sp>
      <p:sp>
        <p:nvSpPr>
          <p:cNvPr id="7" name="text-4m4uqzq570n">
            <a:extLst xmlns:a="http://schemas.openxmlformats.org/drawingml/2006/main">
              <a:ext uri="{FF2B5EF4-FFF2-40B4-BE49-F238E27FC236}">
                <a16:creationId xmlns:a16="http://schemas.microsoft.com/office/drawing/2014/main" id="{49570564-14E4-426E-93CC-897790D3601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27</a:t>
            </a:r>
          </a:p>
        </p:txBody>
      </p:sp>
      <p:sp>
        <p:nvSpPr>
          <p:cNvPr id="8" name="">
            <a:extLst xmlns:a="http://schemas.openxmlformats.org/drawingml/2006/main">
              <a:ext uri="{FF2B5EF4-FFF2-40B4-BE49-F238E27FC236}">
                <a16:creationId xmlns:a16="http://schemas.microsoft.com/office/drawing/2014/main" id="{73A9D667-02A1-4672-AFB9-91BA22E5EFBF}"/>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D70C0B8-439B-4666-A372-0ACB6549FAB3}"/>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8nj83xqafqo">
            <a:extLst xmlns:a="http://schemas.openxmlformats.org/drawingml/2006/main">
              <a:ext uri="{FF2B5EF4-FFF2-40B4-BE49-F238E27FC236}">
                <a16:creationId xmlns:a16="http://schemas.microsoft.com/office/drawing/2014/main" id="{C402C553-062F-450D-8AD6-EA2E96066267}"/>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G1 · control dinámico</a:t>
            </a:r>
          </a:p>
        </p:txBody>
      </p:sp>
      <p:sp>
        <p:nvSpPr>
          <p:cNvPr id="11" name="text-q6ff3s567fm">
            <a:extLst xmlns:a="http://schemas.openxmlformats.org/drawingml/2006/main">
              <a:ext uri="{FF2B5EF4-FFF2-40B4-BE49-F238E27FC236}">
                <a16:creationId xmlns:a16="http://schemas.microsoft.com/office/drawing/2014/main" id="{83E32D3B-01AC-4FCB-B3F7-A1CFDB9939E9}"/>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Observar equilibrio y recuperación del movimiento.</a:t>
            </a:r>
          </a:p>
        </p:txBody>
      </p:sp>
      <p:sp>
        <p:nvSpPr>
          <p:cNvPr id="12" name="">
            <a:extLst xmlns:a="http://schemas.openxmlformats.org/drawingml/2006/main">
              <a:ext uri="{FF2B5EF4-FFF2-40B4-BE49-F238E27FC236}">
                <a16:creationId xmlns:a16="http://schemas.microsoft.com/office/drawing/2014/main" id="{A874AED9-EF4B-4741-8F19-CE66D603B30D}"/>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F45AEF-E88D-411B-9A7C-14B5F90442D5}"/>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xbkvxzt8fom">
            <a:extLst xmlns:a="http://schemas.openxmlformats.org/drawingml/2006/main">
              <a:ext uri="{FF2B5EF4-FFF2-40B4-BE49-F238E27FC236}">
                <a16:creationId xmlns:a16="http://schemas.microsoft.com/office/drawing/2014/main" id="{3AAF94A7-CAD7-4A4F-A1BC-7E3DC2964AE4}"/>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IRON · locomoción</a:t>
            </a:r>
          </a:p>
        </p:txBody>
      </p:sp>
      <p:sp>
        <p:nvSpPr>
          <p:cNvPr id="15" name="text-v8rrtfbezkk">
            <a:extLst xmlns:a="http://schemas.openxmlformats.org/drawingml/2006/main">
              <a:ext uri="{FF2B5EF4-FFF2-40B4-BE49-F238E27FC236}">
                <a16:creationId xmlns:a16="http://schemas.microsoft.com/office/drawing/2014/main" id="{52A3DA47-2821-45AE-912A-9C03D103CE39}"/>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Distinguir apariencia humana de autonomía.</a:t>
            </a:r>
          </a:p>
        </p:txBody>
      </p:sp>
      <p:sp>
        <p:nvSpPr>
          <p:cNvPr id="16" name="">
            <a:extLst xmlns:a="http://schemas.openxmlformats.org/drawingml/2006/main">
              <a:ext uri="{FF2B5EF4-FFF2-40B4-BE49-F238E27FC236}">
                <a16:creationId xmlns:a16="http://schemas.microsoft.com/office/drawing/2014/main" id="{D4524AB2-30BB-4F7A-948B-309499C24520}"/>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DE6AD7B-47A8-409A-97D3-763277DA51CB}"/>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vhbczg7d71b">
            <a:extLst xmlns:a="http://schemas.openxmlformats.org/drawingml/2006/main">
              <a:ext uri="{FF2B5EF4-FFF2-40B4-BE49-F238E27FC236}">
                <a16:creationId xmlns:a16="http://schemas.microsoft.com/office/drawing/2014/main" id="{575ACE5F-67E2-4E18-BB54-F53B77F020D8}"/>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Walker S2 · batería</a:t>
            </a:r>
          </a:p>
        </p:txBody>
      </p:sp>
      <p:sp>
        <p:nvSpPr>
          <p:cNvPr id="19" name="text-yb5bn16yoci">
            <a:extLst xmlns:a="http://schemas.openxmlformats.org/drawingml/2006/main">
              <a:ext uri="{FF2B5EF4-FFF2-40B4-BE49-F238E27FC236}">
                <a16:creationId xmlns:a16="http://schemas.microsoft.com/office/drawing/2014/main" id="{E8FFF248-3B2A-401E-8DB8-9FC6436AE9A7}"/>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Preguntar qué falta para evaluar disponibilidad.</a:t>
            </a:r>
          </a:p>
        </p:txBody>
      </p:sp>
    </p:spTree>
    <p:extLst>
      <p:ext uri="{BB962C8B-B14F-4D97-AF65-F5344CB8AC3E}">
        <p14:creationId xmlns:p14="http://schemas.microsoft.com/office/powerpoint/2010/main" val="663456692"/>
      </p:ext>
    </p:extLst>
  </p:cSld>
</p:sld>
</file>

<file path=ppt/slides/slide28.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0CA634EF-7C2D-4B3E-ABAD-B1410B5A57A8}"/>
              </a:ext>
            </a:extLst>
          </p:cNvPr>
          <p:cNvCxnSpPr>
            <a:stCxn xmlns:a="http://schemas.openxmlformats.org/drawingml/2006/main" id="20" idx="0"/>
            <a:endCxn xmlns:a="http://schemas.openxmlformats.org/drawingml/2006/main" id="8" idx="2"/>
          </p:cNvCxnSpPr>
          <p:nvPr/>
        </p:nvCxnSpPr>
        <p:spPr>
          <a:xfrm xmlns:a="http://schemas.openxmlformats.org/drawingml/2006/main" flipV="1">
            <a:off x="322897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EC827977-DAAA-463E-BD7C-671D96978A5E}"/>
              </a:ext>
            </a:extLst>
          </p:cNvPr>
          <p:cNvCxnSpPr>
            <a:stCxn xmlns:a="http://schemas.openxmlformats.org/drawingml/2006/main" id="16" idx="1"/>
            <a:endCxn xmlns:a="http://schemas.openxmlformats.org/drawingml/2006/main" id="20" idx="3"/>
          </p:cNvCxnSpPr>
          <p:nvPr/>
        </p:nvCxnSpPr>
        <p:spPr>
          <a:xfrm xmlns:a="http://schemas.openxmlformats.org/drawingml/2006/main" flipH="1">
            <a:off x="5372100" y="5219700"/>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FF8078C1-F10E-4A17-945E-12FDACEC6453}"/>
              </a:ext>
            </a:extLst>
          </p:cNvPr>
          <p:cNvCxnSpPr>
            <a:stCxn xmlns:a="http://schemas.openxmlformats.org/drawingml/2006/main" id="12" idx="2"/>
            <a:endCxn xmlns:a="http://schemas.openxmlformats.org/drawingml/2006/main" id="16" idx="0"/>
          </p:cNvCxnSpPr>
          <p:nvPr/>
        </p:nvCxnSpPr>
        <p:spPr>
          <a:xfrm xmlns:a="http://schemas.openxmlformats.org/drawingml/2006/main">
            <a:off x="896302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CF02017C-3207-4FB1-B920-855ABEB45B9C}"/>
              </a:ext>
            </a:extLst>
          </p:cNvPr>
          <p:cNvCxnSpPr>
            <a:stCxn xmlns:a="http://schemas.openxmlformats.org/drawingml/2006/main" id="8" idx="3"/>
            <a:endCxn xmlns:a="http://schemas.openxmlformats.org/drawingml/2006/main" id="12" idx="1"/>
          </p:cNvCxnSpPr>
          <p:nvPr/>
        </p:nvCxnSpPr>
        <p:spPr>
          <a:xfrm xmlns:a="http://schemas.openxmlformats.org/drawingml/2006/main">
            <a:off x="5372100" y="3286125"/>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8" name="">
            <a:extLst xmlns:a="http://schemas.openxmlformats.org/drawingml/2006/main">
              <a:ext uri="{FF2B5EF4-FFF2-40B4-BE49-F238E27FC236}">
                <a16:creationId xmlns:a16="http://schemas.microsoft.com/office/drawing/2014/main" id="{0E63AB1E-252F-4CB6-8BF8-21E79AA6A7A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8pzniqjmuo7">
            <a:extLst xmlns:a="http://schemas.openxmlformats.org/drawingml/2006/main">
              <a:ext uri="{FF2B5EF4-FFF2-40B4-BE49-F238E27FC236}">
                <a16:creationId xmlns:a16="http://schemas.microsoft.com/office/drawing/2014/main" id="{7D0EEBF7-381B-4CB3-A874-419AF794AAEC}"/>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d2sso0gm11c">
            <a:extLst xmlns:a="http://schemas.openxmlformats.org/drawingml/2006/main">
              <a:ext uri="{FF2B5EF4-FFF2-40B4-BE49-F238E27FC236}">
                <a16:creationId xmlns:a16="http://schemas.microsoft.com/office/drawing/2014/main" id="{74F1D5C2-539F-4A5C-A039-4BE5F7AAB03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El data flywheel requiere que el uso mejore el sistema</a:t>
            </a:r>
          </a:p>
        </p:txBody>
      </p:sp>
      <p:sp>
        <p:nvSpPr>
          <p:cNvPr id="4" name="text-vc9okieptw">
            <a:extLst xmlns:a="http://schemas.openxmlformats.org/drawingml/2006/main">
              <a:ext uri="{FF2B5EF4-FFF2-40B4-BE49-F238E27FC236}">
                <a16:creationId xmlns:a16="http://schemas.microsoft.com/office/drawing/2014/main" id="{F57819EB-C025-4CF7-AF7E-71E1A3E0B1CB}"/>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Datos de interacción conectan percepción, acción y resultado.</a:t>
            </a:r>
          </a:p>
        </p:txBody>
      </p:sp>
      <p:sp>
        <p:nvSpPr>
          <p:cNvPr id="5" name="">
            <a:extLst xmlns:a="http://schemas.openxmlformats.org/drawingml/2006/main">
              <a:ext uri="{FF2B5EF4-FFF2-40B4-BE49-F238E27FC236}">
                <a16:creationId xmlns:a16="http://schemas.microsoft.com/office/drawing/2014/main" id="{55CC0515-19DF-4C61-8922-934819E255B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5qq33x0igd6">
            <a:extLst xmlns:a="http://schemas.openxmlformats.org/drawingml/2006/main">
              <a:ext uri="{FF2B5EF4-FFF2-40B4-BE49-F238E27FC236}">
                <a16:creationId xmlns:a16="http://schemas.microsoft.com/office/drawing/2014/main" id="{D19411C0-48A0-4950-9986-A403D47A88C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ftbchm2sgsr">
            <a:extLst xmlns:a="http://schemas.openxmlformats.org/drawingml/2006/main">
              <a:ext uri="{FF2B5EF4-FFF2-40B4-BE49-F238E27FC236}">
                <a16:creationId xmlns:a16="http://schemas.microsoft.com/office/drawing/2014/main" id="{3C400C60-5FCD-46E1-BA99-BEDDA9423C8A}"/>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28</a:t>
            </a:r>
          </a:p>
        </p:txBody>
      </p:sp>
      <p:sp>
        <p:nvSpPr>
          <p:cNvPr id="8" name="">
            <a:extLst xmlns:a="http://schemas.openxmlformats.org/drawingml/2006/main">
              <a:ext uri="{FF2B5EF4-FFF2-40B4-BE49-F238E27FC236}">
                <a16:creationId xmlns:a16="http://schemas.microsoft.com/office/drawing/2014/main" id="{6907E4DF-155D-42DA-A170-074E68921C11}"/>
              </a:ext>
            </a:extLst>
          </p:cNvPr>
          <p:cNvSpPr>
            <a:spLocks xmlns:a="http://schemas.openxmlformats.org/drawingml/2006/main" noGrp="1"/>
          </p:cNvSpPr>
          <p:nvPr/>
        </p:nvSpPr>
        <p:spPr>
          <a:xfrm xmlns:a="http://schemas.openxmlformats.org/drawingml/2006/main">
            <a:off x="108585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45BE13A-6C96-4209-8663-AC37EEBE830C}"/>
              </a:ext>
            </a:extLst>
          </p:cNvPr>
          <p:cNvSpPr>
            <a:spLocks xmlns:a="http://schemas.openxmlformats.org/drawingml/2006/main" noGrp="1"/>
          </p:cNvSpPr>
          <p:nvPr/>
        </p:nvSpPr>
        <p:spPr>
          <a:xfrm xmlns:a="http://schemas.openxmlformats.org/drawingml/2006/main">
            <a:off x="1085850" y="2571750"/>
            <a:ext cx="38100" cy="14287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7hqwdse5qzu">
            <a:extLst xmlns:a="http://schemas.openxmlformats.org/drawingml/2006/main">
              <a:ext uri="{FF2B5EF4-FFF2-40B4-BE49-F238E27FC236}">
                <a16:creationId xmlns:a16="http://schemas.microsoft.com/office/drawing/2014/main" id="{C0B8F84B-9A15-4101-963A-BC9E625D227E}"/>
              </a:ext>
            </a:extLst>
          </p:cNvPr>
          <p:cNvSpPr>
            <a:spLocks xmlns:a="http://schemas.openxmlformats.org/drawingml/2006/main" noGrp="1"/>
          </p:cNvSpPr>
          <p:nvPr/>
        </p:nvSpPr>
        <p:spPr>
          <a:xfrm xmlns:a="http://schemas.openxmlformats.org/drawingml/2006/main">
            <a:off x="129540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Operar</a:t>
            </a:r>
          </a:p>
        </p:txBody>
      </p:sp>
      <p:sp>
        <p:nvSpPr>
          <p:cNvPr id="11" name="text-t3xa38sgt5">
            <a:extLst xmlns:a="http://schemas.openxmlformats.org/drawingml/2006/main">
              <a:ext uri="{FF2B5EF4-FFF2-40B4-BE49-F238E27FC236}">
                <a16:creationId xmlns:a16="http://schemas.microsoft.com/office/drawing/2014/main" id="{E50E7BE6-9440-4CD1-ADEC-0B40FBFF94F3}"/>
              </a:ext>
            </a:extLst>
          </p:cNvPr>
          <p:cNvSpPr>
            <a:spLocks xmlns:a="http://schemas.openxmlformats.org/drawingml/2006/main" noGrp="1"/>
          </p:cNvSpPr>
          <p:nvPr/>
        </p:nvSpPr>
        <p:spPr>
          <a:xfrm xmlns:a="http://schemas.openxmlformats.org/drawingml/2006/main">
            <a:off x="129540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Ejecutar tareas con contexto registrado.</a:t>
            </a:r>
          </a:p>
        </p:txBody>
      </p:sp>
      <p:sp>
        <p:nvSpPr>
          <p:cNvPr id="12" name="">
            <a:extLst xmlns:a="http://schemas.openxmlformats.org/drawingml/2006/main">
              <a:ext uri="{FF2B5EF4-FFF2-40B4-BE49-F238E27FC236}">
                <a16:creationId xmlns:a16="http://schemas.microsoft.com/office/drawing/2014/main" id="{236E28FD-729D-4E0E-8E30-F34ACF9A0CCE}"/>
              </a:ext>
            </a:extLst>
          </p:cNvPr>
          <p:cNvSpPr>
            <a:spLocks xmlns:a="http://schemas.openxmlformats.org/drawingml/2006/main" noGrp="1"/>
          </p:cNvSpPr>
          <p:nvPr/>
        </p:nvSpPr>
        <p:spPr>
          <a:xfrm xmlns:a="http://schemas.openxmlformats.org/drawingml/2006/main">
            <a:off x="681990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34A970A-40C1-4DFC-AEB2-3D54D639277D}"/>
              </a:ext>
            </a:extLst>
          </p:cNvPr>
          <p:cNvSpPr>
            <a:spLocks xmlns:a="http://schemas.openxmlformats.org/drawingml/2006/main" noGrp="1"/>
          </p:cNvSpPr>
          <p:nvPr/>
        </p:nvSpPr>
        <p:spPr>
          <a:xfrm xmlns:a="http://schemas.openxmlformats.org/drawingml/2006/main">
            <a:off x="6819900" y="2571750"/>
            <a:ext cx="38100" cy="14287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bey3mjztk8">
            <a:extLst xmlns:a="http://schemas.openxmlformats.org/drawingml/2006/main">
              <a:ext uri="{FF2B5EF4-FFF2-40B4-BE49-F238E27FC236}">
                <a16:creationId xmlns:a16="http://schemas.microsoft.com/office/drawing/2014/main" id="{164E324F-C0D4-4A78-BDEB-B5210DF3CFDF}"/>
              </a:ext>
            </a:extLst>
          </p:cNvPr>
          <p:cNvSpPr>
            <a:spLocks xmlns:a="http://schemas.openxmlformats.org/drawingml/2006/main" noGrp="1"/>
          </p:cNvSpPr>
          <p:nvPr/>
        </p:nvSpPr>
        <p:spPr>
          <a:xfrm xmlns:a="http://schemas.openxmlformats.org/drawingml/2006/main">
            <a:off x="702945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Medir</a:t>
            </a:r>
          </a:p>
        </p:txBody>
      </p:sp>
      <p:sp>
        <p:nvSpPr>
          <p:cNvPr id="15" name="text-vodjf30xf9k">
            <a:extLst xmlns:a="http://schemas.openxmlformats.org/drawingml/2006/main">
              <a:ext uri="{FF2B5EF4-FFF2-40B4-BE49-F238E27FC236}">
                <a16:creationId xmlns:a16="http://schemas.microsoft.com/office/drawing/2014/main" id="{752CB02C-2B7D-4D8E-94A6-34DE16665B09}"/>
              </a:ext>
            </a:extLst>
          </p:cNvPr>
          <p:cNvSpPr>
            <a:spLocks xmlns:a="http://schemas.openxmlformats.org/drawingml/2006/main" noGrp="1"/>
          </p:cNvSpPr>
          <p:nvPr/>
        </p:nvSpPr>
        <p:spPr>
          <a:xfrm xmlns:a="http://schemas.openxmlformats.org/drawingml/2006/main">
            <a:off x="702945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Capturar errores, intervenciones y resultados.</a:t>
            </a:r>
          </a:p>
        </p:txBody>
      </p:sp>
      <p:sp>
        <p:nvSpPr>
          <p:cNvPr id="16" name="">
            <a:extLst xmlns:a="http://schemas.openxmlformats.org/drawingml/2006/main">
              <a:ext uri="{FF2B5EF4-FFF2-40B4-BE49-F238E27FC236}">
                <a16:creationId xmlns:a16="http://schemas.microsoft.com/office/drawing/2014/main" id="{C0862A2C-5130-4568-B65E-775A9D1E1699}"/>
              </a:ext>
            </a:extLst>
          </p:cNvPr>
          <p:cNvSpPr>
            <a:spLocks xmlns:a="http://schemas.openxmlformats.org/drawingml/2006/main" noGrp="1"/>
          </p:cNvSpPr>
          <p:nvPr/>
        </p:nvSpPr>
        <p:spPr>
          <a:xfrm xmlns:a="http://schemas.openxmlformats.org/drawingml/2006/main">
            <a:off x="681990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4643D7F-407D-417D-9A2F-B931C1E614C8}"/>
              </a:ext>
            </a:extLst>
          </p:cNvPr>
          <p:cNvSpPr>
            <a:spLocks xmlns:a="http://schemas.openxmlformats.org/drawingml/2006/main" noGrp="1"/>
          </p:cNvSpPr>
          <p:nvPr/>
        </p:nvSpPr>
        <p:spPr>
          <a:xfrm xmlns:a="http://schemas.openxmlformats.org/drawingml/2006/main">
            <a:off x="6819900" y="4505325"/>
            <a:ext cx="38100" cy="14287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c0wbyizlhi">
            <a:extLst xmlns:a="http://schemas.openxmlformats.org/drawingml/2006/main">
              <a:ext uri="{FF2B5EF4-FFF2-40B4-BE49-F238E27FC236}">
                <a16:creationId xmlns:a16="http://schemas.microsoft.com/office/drawing/2014/main" id="{69FD1A76-A189-494F-B9D7-2ACD1657ADEE}"/>
              </a:ext>
            </a:extLst>
          </p:cNvPr>
          <p:cNvSpPr>
            <a:spLocks xmlns:a="http://schemas.openxmlformats.org/drawingml/2006/main" noGrp="1"/>
          </p:cNvSpPr>
          <p:nvPr/>
        </p:nvSpPr>
        <p:spPr>
          <a:xfrm xmlns:a="http://schemas.openxmlformats.org/drawingml/2006/main">
            <a:off x="702945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Curar</a:t>
            </a:r>
          </a:p>
        </p:txBody>
      </p:sp>
      <p:sp>
        <p:nvSpPr>
          <p:cNvPr id="19" name="text-0perojkase8">
            <a:extLst xmlns:a="http://schemas.openxmlformats.org/drawingml/2006/main">
              <a:ext uri="{FF2B5EF4-FFF2-40B4-BE49-F238E27FC236}">
                <a16:creationId xmlns:a16="http://schemas.microsoft.com/office/drawing/2014/main" id="{74CC6EB0-6EE9-425C-9BC3-F225A1004E35}"/>
              </a:ext>
            </a:extLst>
          </p:cNvPr>
          <p:cNvSpPr>
            <a:spLocks xmlns:a="http://schemas.openxmlformats.org/drawingml/2006/main" noGrp="1"/>
          </p:cNvSpPr>
          <p:nvPr/>
        </p:nvSpPr>
        <p:spPr>
          <a:xfrm xmlns:a="http://schemas.openxmlformats.org/drawingml/2006/main">
            <a:off x="702945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Filtrar calidad y ampliar diversidad útil.</a:t>
            </a:r>
          </a:p>
        </p:txBody>
      </p:sp>
      <p:sp>
        <p:nvSpPr>
          <p:cNvPr id="20" name="">
            <a:extLst xmlns:a="http://schemas.openxmlformats.org/drawingml/2006/main">
              <a:ext uri="{FF2B5EF4-FFF2-40B4-BE49-F238E27FC236}">
                <a16:creationId xmlns:a16="http://schemas.microsoft.com/office/drawing/2014/main" id="{BE296A9F-F69C-40B2-B187-42ACFFBF5B5D}"/>
              </a:ext>
            </a:extLst>
          </p:cNvPr>
          <p:cNvSpPr>
            <a:spLocks xmlns:a="http://schemas.openxmlformats.org/drawingml/2006/main" noGrp="1"/>
          </p:cNvSpPr>
          <p:nvPr/>
        </p:nvSpPr>
        <p:spPr>
          <a:xfrm xmlns:a="http://schemas.openxmlformats.org/drawingml/2006/main">
            <a:off x="108585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CCF8B9E-3415-4B10-899A-69A93D1D6436}"/>
              </a:ext>
            </a:extLst>
          </p:cNvPr>
          <p:cNvSpPr>
            <a:spLocks xmlns:a="http://schemas.openxmlformats.org/drawingml/2006/main" noGrp="1"/>
          </p:cNvSpPr>
          <p:nvPr/>
        </p:nvSpPr>
        <p:spPr>
          <a:xfrm xmlns:a="http://schemas.openxmlformats.org/drawingml/2006/main">
            <a:off x="1085850" y="4505325"/>
            <a:ext cx="38100" cy="14287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bhl6jz2eohg">
            <a:extLst xmlns:a="http://schemas.openxmlformats.org/drawingml/2006/main">
              <a:ext uri="{FF2B5EF4-FFF2-40B4-BE49-F238E27FC236}">
                <a16:creationId xmlns:a16="http://schemas.microsoft.com/office/drawing/2014/main" id="{32C9B5F0-1BE3-4932-B430-7A9256FBEA78}"/>
              </a:ext>
            </a:extLst>
          </p:cNvPr>
          <p:cNvSpPr>
            <a:spLocks xmlns:a="http://schemas.openxmlformats.org/drawingml/2006/main" noGrp="1"/>
          </p:cNvSpPr>
          <p:nvPr/>
        </p:nvSpPr>
        <p:spPr>
          <a:xfrm xmlns:a="http://schemas.openxmlformats.org/drawingml/2006/main">
            <a:off x="129540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Mejorar</a:t>
            </a:r>
          </a:p>
        </p:txBody>
      </p:sp>
      <p:sp>
        <p:nvSpPr>
          <p:cNvPr id="23" name="text-qv46g106r2e">
            <a:extLst xmlns:a="http://schemas.openxmlformats.org/drawingml/2006/main">
              <a:ext uri="{FF2B5EF4-FFF2-40B4-BE49-F238E27FC236}">
                <a16:creationId xmlns:a16="http://schemas.microsoft.com/office/drawing/2014/main" id="{699DF256-4960-4FF9-A75B-3194CDC838D5}"/>
              </a:ext>
            </a:extLst>
          </p:cNvPr>
          <p:cNvSpPr>
            <a:spLocks xmlns:a="http://schemas.openxmlformats.org/drawingml/2006/main" noGrp="1"/>
          </p:cNvSpPr>
          <p:nvPr/>
        </p:nvSpPr>
        <p:spPr>
          <a:xfrm xmlns:a="http://schemas.openxmlformats.org/drawingml/2006/main">
            <a:off x="129540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Entrenar, probar y desplegar una versión evaluada.</a:t>
            </a:r>
          </a:p>
        </p:txBody>
      </p:sp>
    </p:spTree>
    <p:extLst>
      <p:ext uri="{BB962C8B-B14F-4D97-AF65-F5344CB8AC3E}">
        <p14:creationId xmlns:p14="http://schemas.microsoft.com/office/powerpoint/2010/main" val="131234083"/>
      </p:ext>
    </p:extLst>
  </p:cSld>
</p:sld>
</file>

<file path=ppt/slides/slide2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167542E-FDF5-4BA6-A8FB-54019482403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gqn1a13s6bh">
            <a:extLst xmlns:a="http://schemas.openxmlformats.org/drawingml/2006/main">
              <a:ext uri="{FF2B5EF4-FFF2-40B4-BE49-F238E27FC236}">
                <a16:creationId xmlns:a16="http://schemas.microsoft.com/office/drawing/2014/main" id="{88C4C50C-23BC-4C72-9160-FC2FBDDB58D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wsg0ftnbjcg">
            <a:extLst xmlns:a="http://schemas.openxmlformats.org/drawingml/2006/main">
              <a:ext uri="{FF2B5EF4-FFF2-40B4-BE49-F238E27FC236}">
                <a16:creationId xmlns:a16="http://schemas.microsoft.com/office/drawing/2014/main" id="{4E535314-AECF-4363-A4F4-D32703DD14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 calidad de datos decide qué aprendizaje se puede transferir</a:t>
            </a:r>
          </a:p>
        </p:txBody>
      </p:sp>
      <p:sp>
        <p:nvSpPr>
          <p:cNvPr id="4" name="text-hdex5yjm9ii">
            <a:extLst xmlns:a="http://schemas.openxmlformats.org/drawingml/2006/main">
              <a:ext uri="{FF2B5EF4-FFF2-40B4-BE49-F238E27FC236}">
                <a16:creationId xmlns:a16="http://schemas.microsoft.com/office/drawing/2014/main" id="{9339D464-08C7-43CA-A5C5-060AFF9FC2B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Más horas grabadas no equivalen a más información útil.</a:t>
            </a:r>
          </a:p>
        </p:txBody>
      </p:sp>
      <p:sp>
        <p:nvSpPr>
          <p:cNvPr id="5" name="">
            <a:extLst xmlns:a="http://schemas.openxmlformats.org/drawingml/2006/main">
              <a:ext uri="{FF2B5EF4-FFF2-40B4-BE49-F238E27FC236}">
                <a16:creationId xmlns:a16="http://schemas.microsoft.com/office/drawing/2014/main" id="{27640266-10D6-4CA3-9B6D-70A709EE755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6e8gagnsk24">
            <a:extLst xmlns:a="http://schemas.openxmlformats.org/drawingml/2006/main">
              <a:ext uri="{FF2B5EF4-FFF2-40B4-BE49-F238E27FC236}">
                <a16:creationId xmlns:a16="http://schemas.microsoft.com/office/drawing/2014/main" id="{039825E4-ACDC-4973-BC68-F7A8E124CC8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sg0dci6g12s">
            <a:extLst xmlns:a="http://schemas.openxmlformats.org/drawingml/2006/main">
              <a:ext uri="{FF2B5EF4-FFF2-40B4-BE49-F238E27FC236}">
                <a16:creationId xmlns:a16="http://schemas.microsoft.com/office/drawing/2014/main" id="{4CE4BCD1-7F90-4CF4-932F-0ACD40A928C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29</a:t>
            </a:r>
          </a:p>
        </p:txBody>
      </p:sp>
      <p:sp>
        <p:nvSpPr>
          <p:cNvPr id="8" name="">
            <a:extLst xmlns:a="http://schemas.openxmlformats.org/drawingml/2006/main">
              <a:ext uri="{FF2B5EF4-FFF2-40B4-BE49-F238E27FC236}">
                <a16:creationId xmlns:a16="http://schemas.microsoft.com/office/drawing/2014/main" id="{4F6D5CCA-16F3-4C7B-8A97-099878C32853}"/>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92FD4BF-1173-483B-BB57-69B53D91D7DC}"/>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ph62ik4l6j">
            <a:extLst xmlns:a="http://schemas.openxmlformats.org/drawingml/2006/main">
              <a:ext uri="{FF2B5EF4-FFF2-40B4-BE49-F238E27FC236}">
                <a16:creationId xmlns:a16="http://schemas.microsoft.com/office/drawing/2014/main" id="{8312A828-9EB5-42E4-8B81-6ED19C68EC1B}"/>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Cobertura</a:t>
            </a:r>
          </a:p>
        </p:txBody>
      </p:sp>
      <p:sp>
        <p:nvSpPr>
          <p:cNvPr id="11" name="text-ugpftgl2mra">
            <a:extLst xmlns:a="http://schemas.openxmlformats.org/drawingml/2006/main">
              <a:ext uri="{FF2B5EF4-FFF2-40B4-BE49-F238E27FC236}">
                <a16:creationId xmlns:a16="http://schemas.microsoft.com/office/drawing/2014/main" id="{EBA395B8-909F-44C1-B6D5-BA99D8E8FABC}"/>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Piezas, iluminación, turnos y excepciones.</a:t>
            </a:r>
          </a:p>
        </p:txBody>
      </p:sp>
      <p:sp>
        <p:nvSpPr>
          <p:cNvPr id="12" name="">
            <a:extLst xmlns:a="http://schemas.openxmlformats.org/drawingml/2006/main">
              <a:ext uri="{FF2B5EF4-FFF2-40B4-BE49-F238E27FC236}">
                <a16:creationId xmlns:a16="http://schemas.microsoft.com/office/drawing/2014/main" id="{B130CBA6-BB2D-4C7C-BF0F-D986A590A0FE}"/>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F03C7A4-94A1-4C31-998F-1ABADD5FD60B}"/>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aoai6k101tv">
            <a:extLst xmlns:a="http://schemas.openxmlformats.org/drawingml/2006/main">
              <a:ext uri="{FF2B5EF4-FFF2-40B4-BE49-F238E27FC236}">
                <a16:creationId xmlns:a16="http://schemas.microsoft.com/office/drawing/2014/main" id="{0AD9BFD4-731E-45EA-9565-8FA247D582F6}"/>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Etiquetado</a:t>
            </a:r>
          </a:p>
        </p:txBody>
      </p:sp>
      <p:sp>
        <p:nvSpPr>
          <p:cNvPr id="15" name="text-put9edgyk2">
            <a:extLst xmlns:a="http://schemas.openxmlformats.org/drawingml/2006/main">
              <a:ext uri="{FF2B5EF4-FFF2-40B4-BE49-F238E27FC236}">
                <a16:creationId xmlns:a16="http://schemas.microsoft.com/office/drawing/2014/main" id="{CA2AFA40-3D62-4072-B61D-0E1AA848D781}"/>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Distinguir intento, éxito, fallo y recuperación.</a:t>
            </a:r>
          </a:p>
        </p:txBody>
      </p:sp>
      <p:sp>
        <p:nvSpPr>
          <p:cNvPr id="16" name="">
            <a:extLst xmlns:a="http://schemas.openxmlformats.org/drawingml/2006/main">
              <a:ext uri="{FF2B5EF4-FFF2-40B4-BE49-F238E27FC236}">
                <a16:creationId xmlns:a16="http://schemas.microsoft.com/office/drawing/2014/main" id="{16AE9C89-278A-4BC5-BD45-EBA6B486E27A}"/>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F1B268A-AE06-45FD-A48B-2819C6BBCF74}"/>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z2k94lkh7u">
            <a:extLst xmlns:a="http://schemas.openxmlformats.org/drawingml/2006/main">
              <a:ext uri="{FF2B5EF4-FFF2-40B4-BE49-F238E27FC236}">
                <a16:creationId xmlns:a16="http://schemas.microsoft.com/office/drawing/2014/main" id="{2A17D5CD-158D-478E-9D39-9D1BECED42D3}"/>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Derechos</a:t>
            </a:r>
          </a:p>
        </p:txBody>
      </p:sp>
      <p:sp>
        <p:nvSpPr>
          <p:cNvPr id="19" name="text-k1rns24igwi">
            <a:extLst xmlns:a="http://schemas.openxmlformats.org/drawingml/2006/main">
              <a:ext uri="{FF2B5EF4-FFF2-40B4-BE49-F238E27FC236}">
                <a16:creationId xmlns:a16="http://schemas.microsoft.com/office/drawing/2014/main" id="{1183D9B4-7E1C-483E-9B44-954DC23D83FE}"/>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Acceso y uso permitido de datos industriales.</a:t>
            </a:r>
          </a:p>
        </p:txBody>
      </p:sp>
      <p:sp>
        <p:nvSpPr>
          <p:cNvPr id="20" name="">
            <a:extLst xmlns:a="http://schemas.openxmlformats.org/drawingml/2006/main">
              <a:ext uri="{FF2B5EF4-FFF2-40B4-BE49-F238E27FC236}">
                <a16:creationId xmlns:a16="http://schemas.microsoft.com/office/drawing/2014/main" id="{4EF9A689-249A-4392-AC1F-B27B707FE086}"/>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E36C065-4F1E-44A7-B222-C00442955B50}"/>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tfvlzfdqa4o">
            <a:extLst xmlns:a="http://schemas.openxmlformats.org/drawingml/2006/main">
              <a:ext uri="{FF2B5EF4-FFF2-40B4-BE49-F238E27FC236}">
                <a16:creationId xmlns:a16="http://schemas.microsoft.com/office/drawing/2014/main" id="{F3A3A2DC-0F46-4686-8878-FA992B03A47B}"/>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Transferencia</a:t>
            </a:r>
          </a:p>
        </p:txBody>
      </p:sp>
      <p:sp>
        <p:nvSpPr>
          <p:cNvPr id="23" name="text-f236863h1hf">
            <a:extLst xmlns:a="http://schemas.openxmlformats.org/drawingml/2006/main">
              <a:ext uri="{FF2B5EF4-FFF2-40B4-BE49-F238E27FC236}">
                <a16:creationId xmlns:a16="http://schemas.microsoft.com/office/drawing/2014/main" id="{9DAC90AE-3BA9-42FC-AA2D-9A0027392D12}"/>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Adaptación a otro hardware y otro entorno.</a:t>
            </a:r>
          </a:p>
        </p:txBody>
      </p:sp>
    </p:spTree>
    <p:extLst>
      <p:ext uri="{BB962C8B-B14F-4D97-AF65-F5344CB8AC3E}">
        <p14:creationId xmlns:p14="http://schemas.microsoft.com/office/powerpoint/2010/main" val="285099983"/>
      </p:ext>
    </p:extLst>
  </p:cSld>
</p:sld>
</file>

<file path=ppt/slides/slide3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909A074-E43F-49B5-B6BE-D86A6B6B2875}"/>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36et7q6d0zc">
            <a:extLst xmlns:a="http://schemas.openxmlformats.org/drawingml/2006/main">
              <a:ext uri="{FF2B5EF4-FFF2-40B4-BE49-F238E27FC236}">
                <a16:creationId xmlns:a16="http://schemas.microsoft.com/office/drawing/2014/main" id="{B8E576AE-F1CD-4A1E-AB10-D592A95B038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ye0hqksdden">
            <a:extLst xmlns:a="http://schemas.openxmlformats.org/drawingml/2006/main">
              <a:ext uri="{FF2B5EF4-FFF2-40B4-BE49-F238E27FC236}">
                <a16:creationId xmlns:a16="http://schemas.microsoft.com/office/drawing/2014/main" id="{A71088A9-2CB9-4DD3-B31E-C57668543A6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Autonomía y evidencia económica son ejes diferentes</a:t>
            </a:r>
          </a:p>
        </p:txBody>
      </p:sp>
      <p:sp>
        <p:nvSpPr>
          <p:cNvPr id="4" name="text-oublbjcpoeb">
            <a:extLst xmlns:a="http://schemas.openxmlformats.org/drawingml/2006/main">
              <a:ext uri="{FF2B5EF4-FFF2-40B4-BE49-F238E27FC236}">
                <a16:creationId xmlns:a16="http://schemas.microsoft.com/office/drawing/2014/main" id="{EC86A12D-CA33-43CE-B7D1-E413ADE35498}"/>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Los cuadrantes describen tipos de evidencia, no ubican empresas concretas.</a:t>
            </a:r>
          </a:p>
        </p:txBody>
      </p:sp>
      <p:sp>
        <p:nvSpPr>
          <p:cNvPr id="5" name="">
            <a:extLst xmlns:a="http://schemas.openxmlformats.org/drawingml/2006/main">
              <a:ext uri="{FF2B5EF4-FFF2-40B4-BE49-F238E27FC236}">
                <a16:creationId xmlns:a16="http://schemas.microsoft.com/office/drawing/2014/main" id="{BB6556E9-B7E8-42DA-8F59-7B0D8F98926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lgocexzin1">
            <a:extLst xmlns:a="http://schemas.openxmlformats.org/drawingml/2006/main">
              <a:ext uri="{FF2B5EF4-FFF2-40B4-BE49-F238E27FC236}">
                <a16:creationId xmlns:a16="http://schemas.microsoft.com/office/drawing/2014/main" id="{59100F08-875C-4573-ADAB-E2630E8D27D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wtnu7xj2uqn">
            <a:extLst xmlns:a="http://schemas.openxmlformats.org/drawingml/2006/main">
              <a:ext uri="{FF2B5EF4-FFF2-40B4-BE49-F238E27FC236}">
                <a16:creationId xmlns:a16="http://schemas.microsoft.com/office/drawing/2014/main" id="{AC6FAD06-F147-4A25-9396-48205AB6F1A0}"/>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30</a:t>
            </a:r>
          </a:p>
        </p:txBody>
      </p:sp>
      <p:sp>
        <p:nvSpPr>
          <p:cNvPr id="8" name="">
            <a:extLst xmlns:a="http://schemas.openxmlformats.org/drawingml/2006/main">
              <a:ext uri="{FF2B5EF4-FFF2-40B4-BE49-F238E27FC236}">
                <a16:creationId xmlns:a16="http://schemas.microsoft.com/office/drawing/2014/main" id="{C768BF8E-70A1-4088-AABE-33CCF158F938}"/>
              </a:ext>
            </a:extLst>
          </p:cNvPr>
          <p:cNvSpPr>
            <a:spLocks xmlns:a="http://schemas.openxmlformats.org/drawingml/2006/main" noGrp="1"/>
          </p:cNvSpPr>
          <p:nvPr/>
        </p:nvSpPr>
        <p:spPr>
          <a:xfrm xmlns:a="http://schemas.openxmlformats.org/drawingml/2006/main">
            <a:off x="1809750" y="2667000"/>
            <a:ext cx="4286250" cy="133350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text-xtkuvd9qzii">
            <a:extLst xmlns:a="http://schemas.openxmlformats.org/drawingml/2006/main">
              <a:ext uri="{FF2B5EF4-FFF2-40B4-BE49-F238E27FC236}">
                <a16:creationId xmlns:a16="http://schemas.microsoft.com/office/drawing/2014/main" id="{DECC3142-2EA5-4307-86E9-30063E913B98}"/>
              </a:ext>
            </a:extLst>
          </p:cNvPr>
          <p:cNvSpPr>
            <a:spLocks xmlns:a="http://schemas.openxmlformats.org/drawingml/2006/main" noGrp="1"/>
          </p:cNvSpPr>
          <p:nvPr/>
        </p:nvSpPr>
        <p:spPr>
          <a:xfrm xmlns:a="http://schemas.openxmlformats.org/drawingml/2006/main">
            <a:off x="2000250" y="2838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Caso rentable acotado</a:t>
            </a:r>
          </a:p>
        </p:txBody>
      </p:sp>
      <p:sp>
        <p:nvSpPr>
          <p:cNvPr id="10" name="text-f0i5ylbqsr6">
            <a:extLst xmlns:a="http://schemas.openxmlformats.org/drawingml/2006/main">
              <a:ext uri="{FF2B5EF4-FFF2-40B4-BE49-F238E27FC236}">
                <a16:creationId xmlns:a16="http://schemas.microsoft.com/office/drawing/2014/main" id="{3A939874-4D68-4E6D-A334-477692DAF8F7}"/>
              </a:ext>
            </a:extLst>
          </p:cNvPr>
          <p:cNvSpPr>
            <a:spLocks xmlns:a="http://schemas.openxmlformats.org/drawingml/2006/main" noGrp="1"/>
          </p:cNvSpPr>
          <p:nvPr/>
        </p:nvSpPr>
        <p:spPr>
          <a:xfrm xmlns:a="http://schemas.openxmlformats.org/drawingml/2006/main">
            <a:off x="2000250" y="3352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Tarea estrecha y costos medidos.</a:t>
            </a:r>
          </a:p>
        </p:txBody>
      </p:sp>
      <p:sp>
        <p:nvSpPr>
          <p:cNvPr id="11" name="">
            <a:extLst xmlns:a="http://schemas.openxmlformats.org/drawingml/2006/main">
              <a:ext uri="{FF2B5EF4-FFF2-40B4-BE49-F238E27FC236}">
                <a16:creationId xmlns:a16="http://schemas.microsoft.com/office/drawing/2014/main" id="{D03C3D35-5327-44AD-BFEA-3724FAF35533}"/>
              </a:ext>
            </a:extLst>
          </p:cNvPr>
          <p:cNvSpPr>
            <a:spLocks xmlns:a="http://schemas.openxmlformats.org/drawingml/2006/main" noGrp="1"/>
          </p:cNvSpPr>
          <p:nvPr/>
        </p:nvSpPr>
        <p:spPr>
          <a:xfrm xmlns:a="http://schemas.openxmlformats.org/drawingml/2006/main">
            <a:off x="6381750" y="2667000"/>
            <a:ext cx="4286250" cy="1333500"/>
          </a:xfrm>
          <a:prstGeom xmlns:a="http://schemas.openxmlformats.org/drawingml/2006/main" prst="rect">
            <a:avLst/>
          </a:prstGeom>
          <a:solidFill xmlns:a="http://schemas.openxmlformats.org/drawingml/2006/main">
            <a:srgbClr val="D8EDE5"/>
          </a:solidFill>
          <a:ln xmlns:a="http://schemas.openxmlformats.org/drawingml/2006/main" w="0">
            <a:noFill/>
            <a:prstDash val="solid"/>
          </a:ln>
        </p:spPr>
      </p:sp>
      <p:sp>
        <p:nvSpPr>
          <p:cNvPr id="12" name="text-2gjr559rvl6">
            <a:extLst xmlns:a="http://schemas.openxmlformats.org/drawingml/2006/main">
              <a:ext uri="{FF2B5EF4-FFF2-40B4-BE49-F238E27FC236}">
                <a16:creationId xmlns:a16="http://schemas.microsoft.com/office/drawing/2014/main" id="{3BA67141-390B-4399-94FB-A7C9F837E33C}"/>
              </a:ext>
            </a:extLst>
          </p:cNvPr>
          <p:cNvSpPr>
            <a:spLocks xmlns:a="http://schemas.openxmlformats.org/drawingml/2006/main" noGrp="1"/>
          </p:cNvSpPr>
          <p:nvPr/>
        </p:nvSpPr>
        <p:spPr>
          <a:xfrm xmlns:a="http://schemas.openxmlformats.org/drawingml/2006/main">
            <a:off x="6572250" y="2838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Piloto con valor validado</a:t>
            </a:r>
          </a:p>
        </p:txBody>
      </p:sp>
      <p:sp>
        <p:nvSpPr>
          <p:cNvPr id="13" name="text-ch5cre07t3e">
            <a:extLst xmlns:a="http://schemas.openxmlformats.org/drawingml/2006/main">
              <a:ext uri="{FF2B5EF4-FFF2-40B4-BE49-F238E27FC236}">
                <a16:creationId xmlns:a16="http://schemas.microsoft.com/office/drawing/2014/main" id="{4C03E44A-E93B-4455-A15E-64F612CB3829}"/>
              </a:ext>
            </a:extLst>
          </p:cNvPr>
          <p:cNvSpPr>
            <a:spLocks xmlns:a="http://schemas.openxmlformats.org/drawingml/2006/main" noGrp="1"/>
          </p:cNvSpPr>
          <p:nvPr/>
        </p:nvSpPr>
        <p:spPr>
          <a:xfrm xmlns:a="http://schemas.openxmlformats.org/drawingml/2006/main">
            <a:off x="6572250" y="3352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Autonomía y costos evaluados.</a:t>
            </a:r>
          </a:p>
        </p:txBody>
      </p:sp>
      <p:sp>
        <p:nvSpPr>
          <p:cNvPr id="14" name="">
            <a:extLst xmlns:a="http://schemas.openxmlformats.org/drawingml/2006/main">
              <a:ext uri="{FF2B5EF4-FFF2-40B4-BE49-F238E27FC236}">
                <a16:creationId xmlns:a16="http://schemas.microsoft.com/office/drawing/2014/main" id="{2E1D4BE0-2961-4804-A912-12D70FB6AA65}"/>
              </a:ext>
            </a:extLst>
          </p:cNvPr>
          <p:cNvSpPr>
            <a:spLocks xmlns:a="http://schemas.openxmlformats.org/drawingml/2006/main" noGrp="1"/>
          </p:cNvSpPr>
          <p:nvPr/>
        </p:nvSpPr>
        <p:spPr>
          <a:xfrm xmlns:a="http://schemas.openxmlformats.org/drawingml/2006/main">
            <a:off x="1809750" y="4191000"/>
            <a:ext cx="4286250" cy="133350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5" name="text-yszr317mxg">
            <a:extLst xmlns:a="http://schemas.openxmlformats.org/drawingml/2006/main">
              <a:ext uri="{FF2B5EF4-FFF2-40B4-BE49-F238E27FC236}">
                <a16:creationId xmlns:a16="http://schemas.microsoft.com/office/drawing/2014/main" id="{22B8A8B4-B64D-43FA-896D-199D19699A8D}"/>
              </a:ext>
            </a:extLst>
          </p:cNvPr>
          <p:cNvSpPr>
            <a:spLocks xmlns:a="http://schemas.openxmlformats.org/drawingml/2006/main" noGrp="1"/>
          </p:cNvSpPr>
          <p:nvPr/>
        </p:nvSpPr>
        <p:spPr>
          <a:xfrm xmlns:a="http://schemas.openxmlformats.org/drawingml/2006/main">
            <a:off x="2000250" y="4362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Demostración preparada</a:t>
            </a:r>
          </a:p>
        </p:txBody>
      </p:sp>
      <p:sp>
        <p:nvSpPr>
          <p:cNvPr id="16" name="text-hp9j2m5tbee">
            <a:extLst xmlns:a="http://schemas.openxmlformats.org/drawingml/2006/main">
              <a:ext uri="{FF2B5EF4-FFF2-40B4-BE49-F238E27FC236}">
                <a16:creationId xmlns:a16="http://schemas.microsoft.com/office/drawing/2014/main" id="{6116988B-3D89-4F0D-9A81-BBE1C1813688}"/>
              </a:ext>
            </a:extLst>
          </p:cNvPr>
          <p:cNvSpPr>
            <a:spLocks xmlns:a="http://schemas.openxmlformats.org/drawingml/2006/main" noGrp="1"/>
          </p:cNvSpPr>
          <p:nvPr/>
        </p:nvSpPr>
        <p:spPr>
          <a:xfrm xmlns:a="http://schemas.openxmlformats.org/drawingml/2006/main">
            <a:off x="2000250" y="4876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Poca información de operación.</a:t>
            </a:r>
          </a:p>
        </p:txBody>
      </p:sp>
      <p:sp>
        <p:nvSpPr>
          <p:cNvPr id="17" name="">
            <a:extLst xmlns:a="http://schemas.openxmlformats.org/drawingml/2006/main">
              <a:ext uri="{FF2B5EF4-FFF2-40B4-BE49-F238E27FC236}">
                <a16:creationId xmlns:a16="http://schemas.microsoft.com/office/drawing/2014/main" id="{D8C199B8-3FE5-45AD-BF4A-311228992C10}"/>
              </a:ext>
            </a:extLst>
          </p:cNvPr>
          <p:cNvSpPr>
            <a:spLocks xmlns:a="http://schemas.openxmlformats.org/drawingml/2006/main" noGrp="1"/>
          </p:cNvSpPr>
          <p:nvPr/>
        </p:nvSpPr>
        <p:spPr>
          <a:xfrm xmlns:a="http://schemas.openxmlformats.org/drawingml/2006/main">
            <a:off x="6381750" y="4191000"/>
            <a:ext cx="4286250" cy="133350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text-gkloo4ughgv">
            <a:extLst xmlns:a="http://schemas.openxmlformats.org/drawingml/2006/main">
              <a:ext uri="{FF2B5EF4-FFF2-40B4-BE49-F238E27FC236}">
                <a16:creationId xmlns:a16="http://schemas.microsoft.com/office/drawing/2014/main" id="{99082F50-23AE-4B30-BCD0-99E34C58B277}"/>
              </a:ext>
            </a:extLst>
          </p:cNvPr>
          <p:cNvSpPr>
            <a:spLocks xmlns:a="http://schemas.openxmlformats.org/drawingml/2006/main" noGrp="1"/>
          </p:cNvSpPr>
          <p:nvPr/>
        </p:nvSpPr>
        <p:spPr>
          <a:xfrm xmlns:a="http://schemas.openxmlformats.org/drawingml/2006/main">
            <a:off x="6572250" y="4362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Demo autónoma</a:t>
            </a:r>
          </a:p>
        </p:txBody>
      </p:sp>
      <p:sp>
        <p:nvSpPr>
          <p:cNvPr id="19" name="text-1mapm91jl9s">
            <a:extLst xmlns:a="http://schemas.openxmlformats.org/drawingml/2006/main">
              <a:ext uri="{FF2B5EF4-FFF2-40B4-BE49-F238E27FC236}">
                <a16:creationId xmlns:a16="http://schemas.microsoft.com/office/drawing/2014/main" id="{E23A76B3-8BD4-467D-AA92-DC882DFA44B0}"/>
              </a:ext>
            </a:extLst>
          </p:cNvPr>
          <p:cNvSpPr>
            <a:spLocks xmlns:a="http://schemas.openxmlformats.org/drawingml/2006/main" noGrp="1"/>
          </p:cNvSpPr>
          <p:nvPr/>
        </p:nvSpPr>
        <p:spPr>
          <a:xfrm xmlns:a="http://schemas.openxmlformats.org/drawingml/2006/main">
            <a:off x="6572250" y="4876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Capacidad observada, costo abierto.</a:t>
            </a:r>
          </a:p>
        </p:txBody>
      </p:sp>
      <p:sp>
        <p:nvSpPr>
          <p:cNvPr id="20" name="text-2fuybath9pk">
            <a:extLst xmlns:a="http://schemas.openxmlformats.org/drawingml/2006/main">
              <a:ext uri="{FF2B5EF4-FFF2-40B4-BE49-F238E27FC236}">
                <a16:creationId xmlns:a16="http://schemas.microsoft.com/office/drawing/2014/main" id="{97D959FF-69D9-4D2F-BD0F-BA96FF1E24F1}"/>
              </a:ext>
            </a:extLst>
          </p:cNvPr>
          <p:cNvSpPr>
            <a:spLocks xmlns:a="http://schemas.openxmlformats.org/drawingml/2006/main" noGrp="1"/>
          </p:cNvSpPr>
          <p:nvPr/>
        </p:nvSpPr>
        <p:spPr>
          <a:xfrm xmlns:a="http://schemas.openxmlformats.org/drawingml/2006/main">
            <a:off x="609600" y="2714625"/>
            <a:ext cx="11239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77078"/>
                </a:solidFill>
                <a:latin typeface="DejaVu Sans"/>
                <a:ea typeface="DejaVu Sans"/>
                <a:cs typeface="DejaVu Sans"/>
              </a:defRPr>
            </a:defPPr>
            <a:lvl1pPr algn="l">
              <a:defRPr sz="1275" b="0">
                <a:solidFill>
                  <a:srgbClr val="577078"/>
                </a:solidFill>
                <a:latin typeface="DejaVu Sans"/>
                <a:ea typeface="DejaVu Sans"/>
                <a:cs typeface="DejaVu Sans"/>
              </a:defRPr>
            </a:lvl1pPr>
            <a:lvl2pPr algn="l">
              <a:defRPr sz="1275" b="0">
                <a:solidFill>
                  <a:srgbClr val="577078"/>
                </a:solidFill>
                <a:latin typeface="DejaVu Sans"/>
                <a:ea typeface="DejaVu Sans"/>
                <a:cs typeface="DejaVu Sans"/>
              </a:defRPr>
            </a:lvl2pPr>
            <a:lvl3pPr algn="l">
              <a:defRPr sz="1275" b="0">
                <a:solidFill>
                  <a:srgbClr val="577078"/>
                </a:solidFill>
                <a:latin typeface="DejaVu Sans"/>
                <a:ea typeface="DejaVu Sans"/>
                <a:cs typeface="DejaVu Sans"/>
              </a:defRPr>
            </a:lvl3pPr>
            <a:lvl4pPr algn="l">
              <a:defRPr sz="1275" b="0">
                <a:solidFill>
                  <a:srgbClr val="577078"/>
                </a:solidFill>
                <a:latin typeface="DejaVu Sans"/>
                <a:ea typeface="DejaVu Sans"/>
                <a:cs typeface="DejaVu Sans"/>
              </a:defRPr>
            </a:lvl4pPr>
            <a:lvl5pPr algn="l">
              <a:defRPr sz="1275" b="0">
                <a:solidFill>
                  <a:srgbClr val="577078"/>
                </a:solidFill>
                <a:latin typeface="DejaVu Sans"/>
                <a:ea typeface="DejaVu Sans"/>
                <a:cs typeface="DejaVu Sans"/>
              </a:defRPr>
            </a:lvl5pPr>
            <a:lvl6pPr algn="l">
              <a:defRPr sz="1275" b="0">
                <a:solidFill>
                  <a:srgbClr val="577078"/>
                </a:solidFill>
                <a:latin typeface="DejaVu Sans"/>
                <a:ea typeface="DejaVu Sans"/>
                <a:cs typeface="DejaVu Sans"/>
              </a:defRPr>
            </a:lvl6pPr>
            <a:lvl7pPr algn="l">
              <a:defRPr sz="1275" b="0">
                <a:solidFill>
                  <a:srgbClr val="577078"/>
                </a:solidFill>
                <a:latin typeface="DejaVu Sans"/>
                <a:ea typeface="DejaVu Sans"/>
                <a:cs typeface="DejaVu Sans"/>
              </a:defRPr>
            </a:lvl7pPr>
            <a:lvl8pPr algn="l">
              <a:defRPr sz="1275" b="0">
                <a:solidFill>
                  <a:srgbClr val="577078"/>
                </a:solidFill>
                <a:latin typeface="DejaVu Sans"/>
                <a:ea typeface="DejaVu Sans"/>
                <a:cs typeface="DejaVu Sans"/>
              </a:defRPr>
            </a:lvl8pPr>
            <a:lvl9pPr algn="l">
              <a:defRPr sz="1275" b="0">
                <a:solidFill>
                  <a:srgbClr val="577078"/>
                </a:solidFill>
                <a:latin typeface="DejaVu Sans"/>
                <a:ea typeface="DejaVu Sans"/>
                <a:cs typeface="DejaVu Sans"/>
              </a:defRPr>
            </a:lvl9pPr>
          </a:lstStyle>
          <a:p xmlns:a="http://schemas.openxmlformats.org/drawingml/2006/main">
            <a:pPr algn="l">
              <a:lnSpc>
                <a:spcPct val="112000"/>
              </a:lnSpc>
              <a:buNone/>
              <a:defRPr sz="1275" b="0">
                <a:solidFill>
                  <a:srgbClr val="577078"/>
                </a:solidFill>
                <a:latin typeface="DejaVu Sans"/>
                <a:ea typeface="DejaVu Sans"/>
                <a:cs typeface="DejaVu Sans"/>
              </a:defRPr>
            </a:pPr>
            <a:r>
              <a:rPr sz="1275" b="0">
                <a:solidFill>
                  <a:srgbClr val="577078"/>
                </a:solidFill>
                <a:latin typeface="DejaVu Sans"/>
                <a:ea typeface="DejaVu Sans"/>
                <a:cs typeface="DejaVu Sans"/>
              </a:rPr>
              <a:t>Mayor evidencia</a:t>
            </a:r>
          </a:p>
          <a:p xmlns:a="http://schemas.openxmlformats.org/drawingml/2006/main">
            <a:pPr algn="l">
              <a:lnSpc>
                <a:spcPct val="112000"/>
              </a:lnSpc>
              <a:buNone/>
              <a:defRPr sz="1275" b="0">
                <a:solidFill>
                  <a:srgbClr val="577078"/>
                </a:solidFill>
                <a:latin typeface="DejaVu Sans"/>
                <a:ea typeface="DejaVu Sans"/>
                <a:cs typeface="DejaVu Sans"/>
              </a:defRPr>
            </a:pPr>
            <a:r>
              <a:rPr sz="1275" b="0">
                <a:solidFill>
                  <a:srgbClr val="577078"/>
                </a:solidFill>
                <a:latin typeface="DejaVu Sans"/>
                <a:ea typeface="DejaVu Sans"/>
                <a:cs typeface="DejaVu Sans"/>
              </a:rPr>
              <a:t>económica</a:t>
            </a:r>
          </a:p>
        </p:txBody>
      </p:sp>
      <p:sp>
        <p:nvSpPr>
          <p:cNvPr id="21" name="text-xso888g2fhd">
            <a:extLst xmlns:a="http://schemas.openxmlformats.org/drawingml/2006/main">
              <a:ext uri="{FF2B5EF4-FFF2-40B4-BE49-F238E27FC236}">
                <a16:creationId xmlns:a16="http://schemas.microsoft.com/office/drawing/2014/main" id="{DC07FA62-CB6B-4485-9672-95C344B74AA3}"/>
              </a:ext>
            </a:extLst>
          </p:cNvPr>
          <p:cNvSpPr>
            <a:spLocks xmlns:a="http://schemas.openxmlformats.org/drawingml/2006/main" noGrp="1"/>
          </p:cNvSpPr>
          <p:nvPr/>
        </p:nvSpPr>
        <p:spPr>
          <a:xfrm xmlns:a="http://schemas.openxmlformats.org/drawingml/2006/main">
            <a:off x="952500" y="5172075"/>
            <a:ext cx="85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77078"/>
                </a:solidFill>
                <a:latin typeface="DejaVu Sans"/>
                <a:ea typeface="DejaVu Sans"/>
                <a:cs typeface="DejaVu Sans"/>
              </a:defRPr>
            </a:defPPr>
            <a:lvl1pPr algn="l">
              <a:defRPr sz="1275" b="0">
                <a:solidFill>
                  <a:srgbClr val="577078"/>
                </a:solidFill>
                <a:latin typeface="DejaVu Sans"/>
                <a:ea typeface="DejaVu Sans"/>
                <a:cs typeface="DejaVu Sans"/>
              </a:defRPr>
            </a:lvl1pPr>
            <a:lvl2pPr algn="l">
              <a:defRPr sz="1275" b="0">
                <a:solidFill>
                  <a:srgbClr val="577078"/>
                </a:solidFill>
                <a:latin typeface="DejaVu Sans"/>
                <a:ea typeface="DejaVu Sans"/>
                <a:cs typeface="DejaVu Sans"/>
              </a:defRPr>
            </a:lvl2pPr>
            <a:lvl3pPr algn="l">
              <a:defRPr sz="1275" b="0">
                <a:solidFill>
                  <a:srgbClr val="577078"/>
                </a:solidFill>
                <a:latin typeface="DejaVu Sans"/>
                <a:ea typeface="DejaVu Sans"/>
                <a:cs typeface="DejaVu Sans"/>
              </a:defRPr>
            </a:lvl3pPr>
            <a:lvl4pPr algn="l">
              <a:defRPr sz="1275" b="0">
                <a:solidFill>
                  <a:srgbClr val="577078"/>
                </a:solidFill>
                <a:latin typeface="DejaVu Sans"/>
                <a:ea typeface="DejaVu Sans"/>
                <a:cs typeface="DejaVu Sans"/>
              </a:defRPr>
            </a:lvl4pPr>
            <a:lvl5pPr algn="l">
              <a:defRPr sz="1275" b="0">
                <a:solidFill>
                  <a:srgbClr val="577078"/>
                </a:solidFill>
                <a:latin typeface="DejaVu Sans"/>
                <a:ea typeface="DejaVu Sans"/>
                <a:cs typeface="DejaVu Sans"/>
              </a:defRPr>
            </a:lvl5pPr>
            <a:lvl6pPr algn="l">
              <a:defRPr sz="1275" b="0">
                <a:solidFill>
                  <a:srgbClr val="577078"/>
                </a:solidFill>
                <a:latin typeface="DejaVu Sans"/>
                <a:ea typeface="DejaVu Sans"/>
                <a:cs typeface="DejaVu Sans"/>
              </a:defRPr>
            </a:lvl6pPr>
            <a:lvl7pPr algn="l">
              <a:defRPr sz="1275" b="0">
                <a:solidFill>
                  <a:srgbClr val="577078"/>
                </a:solidFill>
                <a:latin typeface="DejaVu Sans"/>
                <a:ea typeface="DejaVu Sans"/>
                <a:cs typeface="DejaVu Sans"/>
              </a:defRPr>
            </a:lvl7pPr>
            <a:lvl8pPr algn="l">
              <a:defRPr sz="1275" b="0">
                <a:solidFill>
                  <a:srgbClr val="577078"/>
                </a:solidFill>
                <a:latin typeface="DejaVu Sans"/>
                <a:ea typeface="DejaVu Sans"/>
                <a:cs typeface="DejaVu Sans"/>
              </a:defRPr>
            </a:lvl8pPr>
            <a:lvl9pPr algn="l">
              <a:defRPr sz="1275" b="0">
                <a:solidFill>
                  <a:srgbClr val="577078"/>
                </a:solidFill>
                <a:latin typeface="DejaVu Sans"/>
                <a:ea typeface="DejaVu Sans"/>
                <a:cs typeface="DejaVu Sans"/>
              </a:defRPr>
            </a:lvl9pPr>
          </a:lstStyle>
          <a:p xmlns:a="http://schemas.openxmlformats.org/drawingml/2006/main">
            <a:pPr algn="l">
              <a:lnSpc>
                <a:spcPct val="112000"/>
              </a:lnSpc>
              <a:buNone/>
              <a:defRPr sz="1275" b="0">
                <a:solidFill>
                  <a:srgbClr val="577078"/>
                </a:solidFill>
                <a:latin typeface="DejaVu Sans"/>
                <a:ea typeface="DejaVu Sans"/>
                <a:cs typeface="DejaVu Sans"/>
              </a:defRPr>
            </a:pPr>
            <a:r>
              <a:rPr sz="1275" b="0">
                <a:solidFill>
                  <a:srgbClr val="577078"/>
                </a:solidFill>
                <a:latin typeface="DejaVu Sans"/>
                <a:ea typeface="DejaVu Sans"/>
                <a:cs typeface="DejaVu Sans"/>
              </a:rPr>
              <a:t>Menor</a:t>
            </a:r>
          </a:p>
        </p:txBody>
      </p:sp>
      <p:sp>
        <p:nvSpPr>
          <p:cNvPr id="22" name="text-krre42e53c">
            <a:extLst xmlns:a="http://schemas.openxmlformats.org/drawingml/2006/main">
              <a:ext uri="{FF2B5EF4-FFF2-40B4-BE49-F238E27FC236}">
                <a16:creationId xmlns:a16="http://schemas.microsoft.com/office/drawing/2014/main" id="{CBBFA097-1745-47DD-8878-97DE1ABC8323}"/>
              </a:ext>
            </a:extLst>
          </p:cNvPr>
          <p:cNvSpPr>
            <a:spLocks xmlns:a="http://schemas.openxmlformats.org/drawingml/2006/main" noGrp="1"/>
          </p:cNvSpPr>
          <p:nvPr/>
        </p:nvSpPr>
        <p:spPr>
          <a:xfrm xmlns:a="http://schemas.openxmlformats.org/drawingml/2006/main">
            <a:off x="1809750" y="5800725"/>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77078"/>
                </a:solidFill>
                <a:latin typeface="DejaVu Sans"/>
                <a:ea typeface="DejaVu Sans"/>
                <a:cs typeface="DejaVu Sans"/>
              </a:defRPr>
            </a:defPPr>
            <a:lvl1pPr algn="l">
              <a:defRPr sz="1350" b="0">
                <a:solidFill>
                  <a:srgbClr val="577078"/>
                </a:solidFill>
                <a:latin typeface="DejaVu Sans"/>
                <a:ea typeface="DejaVu Sans"/>
                <a:cs typeface="DejaVu Sans"/>
              </a:defRPr>
            </a:lvl1pPr>
            <a:lvl2pPr algn="l">
              <a:defRPr sz="1350" b="0">
                <a:solidFill>
                  <a:srgbClr val="577078"/>
                </a:solidFill>
                <a:latin typeface="DejaVu Sans"/>
                <a:ea typeface="DejaVu Sans"/>
                <a:cs typeface="DejaVu Sans"/>
              </a:defRPr>
            </a:lvl2pPr>
            <a:lvl3pPr algn="l">
              <a:defRPr sz="1350" b="0">
                <a:solidFill>
                  <a:srgbClr val="577078"/>
                </a:solidFill>
                <a:latin typeface="DejaVu Sans"/>
                <a:ea typeface="DejaVu Sans"/>
                <a:cs typeface="DejaVu Sans"/>
              </a:defRPr>
            </a:lvl3pPr>
            <a:lvl4pPr algn="l">
              <a:defRPr sz="1350" b="0">
                <a:solidFill>
                  <a:srgbClr val="577078"/>
                </a:solidFill>
                <a:latin typeface="DejaVu Sans"/>
                <a:ea typeface="DejaVu Sans"/>
                <a:cs typeface="DejaVu Sans"/>
              </a:defRPr>
            </a:lvl4pPr>
            <a:lvl5pPr algn="l">
              <a:defRPr sz="1350" b="0">
                <a:solidFill>
                  <a:srgbClr val="577078"/>
                </a:solidFill>
                <a:latin typeface="DejaVu Sans"/>
                <a:ea typeface="DejaVu Sans"/>
                <a:cs typeface="DejaVu Sans"/>
              </a:defRPr>
            </a:lvl5pPr>
            <a:lvl6pPr algn="l">
              <a:defRPr sz="1350" b="0">
                <a:solidFill>
                  <a:srgbClr val="577078"/>
                </a:solidFill>
                <a:latin typeface="DejaVu Sans"/>
                <a:ea typeface="DejaVu Sans"/>
                <a:cs typeface="DejaVu Sans"/>
              </a:defRPr>
            </a:lvl6pPr>
            <a:lvl7pPr algn="l">
              <a:defRPr sz="1350" b="0">
                <a:solidFill>
                  <a:srgbClr val="577078"/>
                </a:solidFill>
                <a:latin typeface="DejaVu Sans"/>
                <a:ea typeface="DejaVu Sans"/>
                <a:cs typeface="DejaVu Sans"/>
              </a:defRPr>
            </a:lvl7pPr>
            <a:lvl8pPr algn="l">
              <a:defRPr sz="1350" b="0">
                <a:solidFill>
                  <a:srgbClr val="577078"/>
                </a:solidFill>
                <a:latin typeface="DejaVu Sans"/>
                <a:ea typeface="DejaVu Sans"/>
                <a:cs typeface="DejaVu Sans"/>
              </a:defRPr>
            </a:lvl8pPr>
            <a:lvl9pPr algn="l">
              <a:defRPr sz="1350" b="0">
                <a:solidFill>
                  <a:srgbClr val="577078"/>
                </a:solidFill>
                <a:latin typeface="DejaVu Sans"/>
                <a:ea typeface="DejaVu Sans"/>
                <a:cs typeface="DejaVu Sans"/>
              </a:defRPr>
            </a:lvl9pPr>
          </a:lstStyle>
          <a:p xmlns:a="http://schemas.openxmlformats.org/drawingml/2006/main">
            <a:pPr algn="l">
              <a:lnSpc>
                <a:spcPct val="112000"/>
              </a:lnSpc>
              <a:buNone/>
              <a:defRPr sz="1350" b="0">
                <a:solidFill>
                  <a:srgbClr val="577078"/>
                </a:solidFill>
                <a:latin typeface="DejaVu Sans"/>
                <a:ea typeface="DejaVu Sans"/>
                <a:cs typeface="DejaVu Sans"/>
              </a:defRPr>
            </a:pPr>
            <a:r>
              <a:rPr sz="1350" b="0">
                <a:solidFill>
                  <a:srgbClr val="577078"/>
                </a:solidFill>
                <a:latin typeface="DejaVu Sans"/>
                <a:ea typeface="DejaVu Sans"/>
                <a:cs typeface="DejaVu Sans"/>
              </a:rPr>
              <a:t>Menor autonomía</a:t>
            </a:r>
          </a:p>
        </p:txBody>
      </p:sp>
      <p:sp>
        <p:nvSpPr>
          <p:cNvPr id="23" name="text-7phlh9ttcj3">
            <a:extLst xmlns:a="http://schemas.openxmlformats.org/drawingml/2006/main">
              <a:ext uri="{FF2B5EF4-FFF2-40B4-BE49-F238E27FC236}">
                <a16:creationId xmlns:a16="http://schemas.microsoft.com/office/drawing/2014/main" id="{F6919EDA-2686-4E32-816D-B119FE93B966}"/>
              </a:ext>
            </a:extLst>
          </p:cNvPr>
          <p:cNvSpPr>
            <a:spLocks xmlns:a="http://schemas.openxmlformats.org/drawingml/2006/main" noGrp="1"/>
          </p:cNvSpPr>
          <p:nvPr/>
        </p:nvSpPr>
        <p:spPr>
          <a:xfrm xmlns:a="http://schemas.openxmlformats.org/drawingml/2006/main">
            <a:off x="7467600" y="5800725"/>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77078"/>
                </a:solidFill>
                <a:latin typeface="DejaVu Sans"/>
                <a:ea typeface="DejaVu Sans"/>
                <a:cs typeface="DejaVu Sans"/>
              </a:defRPr>
            </a:defPPr>
            <a:lvl1pPr algn="l">
              <a:defRPr sz="1350" b="0">
                <a:solidFill>
                  <a:srgbClr val="577078"/>
                </a:solidFill>
                <a:latin typeface="DejaVu Sans"/>
                <a:ea typeface="DejaVu Sans"/>
                <a:cs typeface="DejaVu Sans"/>
              </a:defRPr>
            </a:lvl1pPr>
            <a:lvl2pPr algn="l">
              <a:defRPr sz="1350" b="0">
                <a:solidFill>
                  <a:srgbClr val="577078"/>
                </a:solidFill>
                <a:latin typeface="DejaVu Sans"/>
                <a:ea typeface="DejaVu Sans"/>
                <a:cs typeface="DejaVu Sans"/>
              </a:defRPr>
            </a:lvl2pPr>
            <a:lvl3pPr algn="l">
              <a:defRPr sz="1350" b="0">
                <a:solidFill>
                  <a:srgbClr val="577078"/>
                </a:solidFill>
                <a:latin typeface="DejaVu Sans"/>
                <a:ea typeface="DejaVu Sans"/>
                <a:cs typeface="DejaVu Sans"/>
              </a:defRPr>
            </a:lvl3pPr>
            <a:lvl4pPr algn="l">
              <a:defRPr sz="1350" b="0">
                <a:solidFill>
                  <a:srgbClr val="577078"/>
                </a:solidFill>
                <a:latin typeface="DejaVu Sans"/>
                <a:ea typeface="DejaVu Sans"/>
                <a:cs typeface="DejaVu Sans"/>
              </a:defRPr>
            </a:lvl4pPr>
            <a:lvl5pPr algn="l">
              <a:defRPr sz="1350" b="0">
                <a:solidFill>
                  <a:srgbClr val="577078"/>
                </a:solidFill>
                <a:latin typeface="DejaVu Sans"/>
                <a:ea typeface="DejaVu Sans"/>
                <a:cs typeface="DejaVu Sans"/>
              </a:defRPr>
            </a:lvl5pPr>
            <a:lvl6pPr algn="l">
              <a:defRPr sz="1350" b="0">
                <a:solidFill>
                  <a:srgbClr val="577078"/>
                </a:solidFill>
                <a:latin typeface="DejaVu Sans"/>
                <a:ea typeface="DejaVu Sans"/>
                <a:cs typeface="DejaVu Sans"/>
              </a:defRPr>
            </a:lvl6pPr>
            <a:lvl7pPr algn="l">
              <a:defRPr sz="1350" b="0">
                <a:solidFill>
                  <a:srgbClr val="577078"/>
                </a:solidFill>
                <a:latin typeface="DejaVu Sans"/>
                <a:ea typeface="DejaVu Sans"/>
                <a:cs typeface="DejaVu Sans"/>
              </a:defRPr>
            </a:lvl7pPr>
            <a:lvl8pPr algn="l">
              <a:defRPr sz="1350" b="0">
                <a:solidFill>
                  <a:srgbClr val="577078"/>
                </a:solidFill>
                <a:latin typeface="DejaVu Sans"/>
                <a:ea typeface="DejaVu Sans"/>
                <a:cs typeface="DejaVu Sans"/>
              </a:defRPr>
            </a:lvl8pPr>
            <a:lvl9pPr algn="l">
              <a:defRPr sz="1350" b="0">
                <a:solidFill>
                  <a:srgbClr val="577078"/>
                </a:solidFill>
                <a:latin typeface="DejaVu Sans"/>
                <a:ea typeface="DejaVu Sans"/>
                <a:cs typeface="DejaVu Sans"/>
              </a:defRPr>
            </a:lvl9pPr>
          </a:lstStyle>
          <a:p xmlns:a="http://schemas.openxmlformats.org/drawingml/2006/main">
            <a:pPr algn="l">
              <a:lnSpc>
                <a:spcPct val="112000"/>
              </a:lnSpc>
              <a:buNone/>
              <a:defRPr sz="1350" b="0">
                <a:solidFill>
                  <a:srgbClr val="577078"/>
                </a:solidFill>
                <a:latin typeface="DejaVu Sans"/>
                <a:ea typeface="DejaVu Sans"/>
                <a:cs typeface="DejaVu Sans"/>
              </a:defRPr>
            </a:pPr>
            <a:r>
              <a:rPr sz="1350" b="0">
                <a:solidFill>
                  <a:srgbClr val="577078"/>
                </a:solidFill>
                <a:latin typeface="DejaVu Sans"/>
                <a:ea typeface="DejaVu Sans"/>
                <a:cs typeface="DejaVu Sans"/>
              </a:rPr>
              <a:t>Mayor autonomía</a:t>
            </a:r>
          </a:p>
        </p:txBody>
      </p:sp>
    </p:spTree>
    <p:extLst>
      <p:ext uri="{BB962C8B-B14F-4D97-AF65-F5344CB8AC3E}">
        <p14:creationId xmlns:p14="http://schemas.microsoft.com/office/powerpoint/2010/main" val="1308866085"/>
      </p:ext>
    </p:extLst>
  </p:cSld>
</p:sld>
</file>

<file path=ppt/slides/slide3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4337092-977A-4956-9054-544BD802459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1l3nw227i1q">
            <a:extLst xmlns:a="http://schemas.openxmlformats.org/drawingml/2006/main">
              <a:ext uri="{FF2B5EF4-FFF2-40B4-BE49-F238E27FC236}">
                <a16:creationId xmlns:a16="http://schemas.microsoft.com/office/drawing/2014/main" id="{9DD8F216-B58E-41FC-88F0-59264868495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zh6nv62s1n">
            <a:extLst xmlns:a="http://schemas.openxmlformats.org/drawingml/2006/main">
              <a:ext uri="{FF2B5EF4-FFF2-40B4-BE49-F238E27FC236}">
                <a16:creationId xmlns:a16="http://schemas.microsoft.com/office/drawing/2014/main" id="{2DAABB09-11B9-44DC-91B4-DFCB871999F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Productividad bruta y tareas válidas miden cosas distintas</a:t>
            </a:r>
          </a:p>
        </p:txBody>
      </p:sp>
      <p:sp>
        <p:nvSpPr>
          <p:cNvPr id="4" name="text-o2q4e0rzsu">
            <a:extLst xmlns:a="http://schemas.openxmlformats.org/drawingml/2006/main">
              <a:ext uri="{FF2B5EF4-FFF2-40B4-BE49-F238E27FC236}">
                <a16:creationId xmlns:a16="http://schemas.microsoft.com/office/drawing/2014/main" id="{D352ADB1-E690-4D4A-9B48-7C82F8A0B71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tasa de éxito y la disponibilidad modifican el resultado útil.</a:t>
            </a:r>
          </a:p>
        </p:txBody>
      </p:sp>
      <p:sp>
        <p:nvSpPr>
          <p:cNvPr id="5" name="">
            <a:extLst xmlns:a="http://schemas.openxmlformats.org/drawingml/2006/main">
              <a:ext uri="{FF2B5EF4-FFF2-40B4-BE49-F238E27FC236}">
                <a16:creationId xmlns:a16="http://schemas.microsoft.com/office/drawing/2014/main" id="{1C57B86B-75E3-41BA-A1EA-08B5C24CAEB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fvv554fwme5">
            <a:extLst xmlns:a="http://schemas.openxmlformats.org/drawingml/2006/main">
              <a:ext uri="{FF2B5EF4-FFF2-40B4-BE49-F238E27FC236}">
                <a16:creationId xmlns:a16="http://schemas.microsoft.com/office/drawing/2014/main" id="{F402198F-D4C8-4E69-9714-BCA52EF9EC4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himf4of6o9f">
            <a:extLst xmlns:a="http://schemas.openxmlformats.org/drawingml/2006/main">
              <a:ext uri="{FF2B5EF4-FFF2-40B4-BE49-F238E27FC236}">
                <a16:creationId xmlns:a16="http://schemas.microsoft.com/office/drawing/2014/main" id="{FB5FB02B-5BBD-4CCA-932C-2477C97608A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31</a:t>
            </a:r>
          </a:p>
        </p:txBody>
      </p:sp>
      <p:sp>
        <p:nvSpPr>
          <p:cNvPr id="8" name="text-680j9vboeq">
            <a:extLst xmlns:a="http://schemas.openxmlformats.org/drawingml/2006/main">
              <a:ext uri="{FF2B5EF4-FFF2-40B4-BE49-F238E27FC236}">
                <a16:creationId xmlns:a16="http://schemas.microsoft.com/office/drawing/2014/main" id="{33CF9C39-06CC-41AA-B3E2-46017C8419CC}"/>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qᵥ = q × A × r</a:t>
            </a:r>
          </a:p>
        </p:txBody>
      </p:sp>
      <p:sp>
        <p:nvSpPr>
          <p:cNvPr id="9" name="">
            <a:extLst xmlns:a="http://schemas.openxmlformats.org/drawingml/2006/main">
              <a:ext uri="{FF2B5EF4-FFF2-40B4-BE49-F238E27FC236}">
                <a16:creationId xmlns:a16="http://schemas.microsoft.com/office/drawing/2014/main" id="{57AB0976-7761-4C61-BC07-900F3942F7CC}"/>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11DA35-8C23-4019-946A-CFAB44FFC21E}"/>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9hudhwzu2mk">
            <a:extLst xmlns:a="http://schemas.openxmlformats.org/drawingml/2006/main">
              <a:ext uri="{FF2B5EF4-FFF2-40B4-BE49-F238E27FC236}">
                <a16:creationId xmlns:a16="http://schemas.microsoft.com/office/drawing/2014/main" id="{86C8F779-9900-4EA0-BAAA-698785F063A6}"/>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 · tareas brutas / h</a:t>
            </a:r>
          </a:p>
        </p:txBody>
      </p:sp>
      <p:sp>
        <p:nvSpPr>
          <p:cNvPr id="12" name="text-svzlb3ehblt">
            <a:extLst xmlns:a="http://schemas.openxmlformats.org/drawingml/2006/main">
              <a:ext uri="{FF2B5EF4-FFF2-40B4-BE49-F238E27FC236}">
                <a16:creationId xmlns:a16="http://schemas.microsoft.com/office/drawing/2014/main" id="{9317AD65-C310-4D5F-8235-37B1B12F1CB5}"/>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Ritmo durante una hora operativa.</a:t>
            </a:r>
          </a:p>
        </p:txBody>
      </p:sp>
      <p:sp>
        <p:nvSpPr>
          <p:cNvPr id="13" name="">
            <a:extLst xmlns:a="http://schemas.openxmlformats.org/drawingml/2006/main">
              <a:ext uri="{FF2B5EF4-FFF2-40B4-BE49-F238E27FC236}">
                <a16:creationId xmlns:a16="http://schemas.microsoft.com/office/drawing/2014/main" id="{C8F19038-13C5-4292-A694-BC070412B754}"/>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83FAF6-32FA-4B81-A9EE-B65D64BA2A54}"/>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frbl9poxcj">
            <a:extLst xmlns:a="http://schemas.openxmlformats.org/drawingml/2006/main">
              <a:ext uri="{FF2B5EF4-FFF2-40B4-BE49-F238E27FC236}">
                <a16:creationId xmlns:a16="http://schemas.microsoft.com/office/drawing/2014/main" id="{0B44C01F-A3AA-475C-8DE7-205CDD2E4BF9}"/>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 · disponibilidad</a:t>
            </a:r>
          </a:p>
        </p:txBody>
      </p:sp>
      <p:sp>
        <p:nvSpPr>
          <p:cNvPr id="16" name="text-8r8pat8bh2">
            <a:extLst xmlns:a="http://schemas.openxmlformats.org/drawingml/2006/main">
              <a:ext uri="{FF2B5EF4-FFF2-40B4-BE49-F238E27FC236}">
                <a16:creationId xmlns:a16="http://schemas.microsoft.com/office/drawing/2014/main" id="{FBA024E7-1702-4B49-8718-6E2BE094BABA}"/>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Fracción del tiempo planificado disponible.</a:t>
            </a:r>
          </a:p>
        </p:txBody>
      </p:sp>
      <p:sp>
        <p:nvSpPr>
          <p:cNvPr id="17" name="">
            <a:extLst xmlns:a="http://schemas.openxmlformats.org/drawingml/2006/main">
              <a:ext uri="{FF2B5EF4-FFF2-40B4-BE49-F238E27FC236}">
                <a16:creationId xmlns:a16="http://schemas.microsoft.com/office/drawing/2014/main" id="{8099C424-577E-457D-A7E3-36DC2230267B}"/>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3FB0C9-B046-4D98-BB94-C18B2647DA1A}"/>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rwrtesv6ks9">
            <a:extLst xmlns:a="http://schemas.openxmlformats.org/drawingml/2006/main">
              <a:ext uri="{FF2B5EF4-FFF2-40B4-BE49-F238E27FC236}">
                <a16:creationId xmlns:a16="http://schemas.microsoft.com/office/drawing/2014/main" id="{33FD7D56-E92B-4255-B486-EC84126F9B70}"/>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 · tasa de éxito</a:t>
            </a:r>
          </a:p>
        </p:txBody>
      </p:sp>
      <p:sp>
        <p:nvSpPr>
          <p:cNvPr id="20" name="text-t8haomqsugc">
            <a:extLst xmlns:a="http://schemas.openxmlformats.org/drawingml/2006/main">
              <a:ext uri="{FF2B5EF4-FFF2-40B4-BE49-F238E27FC236}">
                <a16:creationId xmlns:a16="http://schemas.microsoft.com/office/drawing/2014/main" id="{B3DF6819-4748-4AEB-9AF5-7F5D6CDD0713}"/>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Fracción de tareas completadas correctamente.</a:t>
            </a:r>
          </a:p>
        </p:txBody>
      </p:sp>
    </p:spTree>
    <p:extLst>
      <p:ext uri="{BB962C8B-B14F-4D97-AF65-F5344CB8AC3E}">
        <p14:creationId xmlns:p14="http://schemas.microsoft.com/office/powerpoint/2010/main" val="269623173"/>
      </p:ext>
    </p:extLst>
  </p:cSld>
</p:sld>
</file>

<file path=ppt/slides/slide3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B750BFA-7DE2-47E2-B025-BE9588B7837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sa3won4qt6">
            <a:extLst xmlns:a="http://schemas.openxmlformats.org/drawingml/2006/main">
              <a:ext uri="{FF2B5EF4-FFF2-40B4-BE49-F238E27FC236}">
                <a16:creationId xmlns:a16="http://schemas.microsoft.com/office/drawing/2014/main" id="{2F3713F7-40F9-4D52-800D-F682B25269A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qe1uqkow0w">
            <a:extLst xmlns:a="http://schemas.openxmlformats.org/drawingml/2006/main">
              <a:ext uri="{FF2B5EF4-FFF2-40B4-BE49-F238E27FC236}">
                <a16:creationId xmlns:a16="http://schemas.microsoft.com/office/drawing/2014/main" id="{EA8E4F0A-78E7-4638-8B74-4B500DB1CA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RobotLab conserva un modelo sencillo de energía</a:t>
            </a:r>
          </a:p>
        </p:txBody>
      </p:sp>
      <p:sp>
        <p:nvSpPr>
          <p:cNvPr id="4" name="text-6cpfzciu39g">
            <a:extLst xmlns:a="http://schemas.openxmlformats.org/drawingml/2006/main">
              <a:ext uri="{FF2B5EF4-FFF2-40B4-BE49-F238E27FC236}">
                <a16:creationId xmlns:a16="http://schemas.microsoft.com/office/drawing/2014/main" id="{EBC2AFAA-028F-433E-9646-5C8B2BAB93FC}"/>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Las ecuaciones originales son hipótesis de enseñanza.</a:t>
            </a:r>
          </a:p>
        </p:txBody>
      </p:sp>
      <p:sp>
        <p:nvSpPr>
          <p:cNvPr id="5" name="">
            <a:extLst xmlns:a="http://schemas.openxmlformats.org/drawingml/2006/main">
              <a:ext uri="{FF2B5EF4-FFF2-40B4-BE49-F238E27FC236}">
                <a16:creationId xmlns:a16="http://schemas.microsoft.com/office/drawing/2014/main" id="{CDEEA301-72FC-4934-B748-BB78402C101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g20lvrid8wm">
            <a:extLst xmlns:a="http://schemas.openxmlformats.org/drawingml/2006/main">
              <a:ext uri="{FF2B5EF4-FFF2-40B4-BE49-F238E27FC236}">
                <a16:creationId xmlns:a16="http://schemas.microsoft.com/office/drawing/2014/main" id="{D1B9A958-1417-4816-BCBB-8939BDCE09F5}"/>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RobotLab</a:t>
            </a:r>
          </a:p>
        </p:txBody>
      </p:sp>
      <p:sp>
        <p:nvSpPr>
          <p:cNvPr id="7" name="text-hxuhof387pq">
            <a:extLst xmlns:a="http://schemas.openxmlformats.org/drawingml/2006/main">
              <a:ext uri="{FF2B5EF4-FFF2-40B4-BE49-F238E27FC236}">
                <a16:creationId xmlns:a16="http://schemas.microsoft.com/office/drawing/2014/main" id="{BC8FC284-C1AF-44A5-A0FE-B6C346EC760E}"/>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32</a:t>
            </a:r>
          </a:p>
        </p:txBody>
      </p:sp>
      <p:sp>
        <p:nvSpPr>
          <p:cNvPr id="8" name="text-xacftxo1f0k">
            <a:extLst xmlns:a="http://schemas.openxmlformats.org/drawingml/2006/main">
              <a:ext uri="{FF2B5EF4-FFF2-40B4-BE49-F238E27FC236}">
                <a16:creationId xmlns:a16="http://schemas.microsoft.com/office/drawing/2014/main" id="{B91822CD-577A-43C4-A4A8-A9E9B2AD2735}"/>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E(s) = (150 + 100s² + 80w) / (30swe)</a:t>
            </a:r>
          </a:p>
        </p:txBody>
      </p:sp>
      <p:sp>
        <p:nvSpPr>
          <p:cNvPr id="9" name="">
            <a:extLst xmlns:a="http://schemas.openxmlformats.org/drawingml/2006/main">
              <a:ext uri="{FF2B5EF4-FFF2-40B4-BE49-F238E27FC236}">
                <a16:creationId xmlns:a16="http://schemas.microsoft.com/office/drawing/2014/main" id="{EA5A12DF-1237-4576-A0F7-EA4784646876}"/>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CEB016-89BC-4723-A081-CF1234B9694F}"/>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vsl2rewvl">
            <a:extLst xmlns:a="http://schemas.openxmlformats.org/drawingml/2006/main">
              <a:ext uri="{FF2B5EF4-FFF2-40B4-BE49-F238E27FC236}">
                <a16:creationId xmlns:a16="http://schemas.microsoft.com/office/drawing/2014/main" id="{7EA16701-A1AA-4ABD-BCA7-17F837C258B8}"/>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Productividad</a:t>
            </a:r>
          </a:p>
        </p:txBody>
      </p:sp>
      <p:sp>
        <p:nvSpPr>
          <p:cNvPr id="12" name="text-p2y5talzlzd">
            <a:extLst xmlns:a="http://schemas.openxmlformats.org/drawingml/2006/main">
              <a:ext uri="{FF2B5EF4-FFF2-40B4-BE49-F238E27FC236}">
                <a16:creationId xmlns:a16="http://schemas.microsoft.com/office/drawing/2014/main" id="{C96F1849-2F3E-4A40-B338-15A02CD2BB7D}"/>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q = 30 × s × w tareas por hora operativa.</a:t>
            </a:r>
          </a:p>
        </p:txBody>
      </p:sp>
      <p:sp>
        <p:nvSpPr>
          <p:cNvPr id="13" name="">
            <a:extLst xmlns:a="http://schemas.openxmlformats.org/drawingml/2006/main">
              <a:ext uri="{FF2B5EF4-FFF2-40B4-BE49-F238E27FC236}">
                <a16:creationId xmlns:a16="http://schemas.microsoft.com/office/drawing/2014/main" id="{17464430-CA1A-42DA-90F1-FBB111E3E7F2}"/>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325EC1-B64F-48E7-AC5B-8C6932F6FC9F}"/>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iy2xl35uyod">
            <a:extLst xmlns:a="http://schemas.openxmlformats.org/drawingml/2006/main">
              <a:ext uri="{FF2B5EF4-FFF2-40B4-BE49-F238E27FC236}">
                <a16:creationId xmlns:a16="http://schemas.microsoft.com/office/drawing/2014/main" id="{B3F81328-BDCD-48EB-88D6-04CD659BB9E5}"/>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Potencia</a:t>
            </a:r>
          </a:p>
        </p:txBody>
      </p:sp>
      <p:sp>
        <p:nvSpPr>
          <p:cNvPr id="16" name="text-wmne6walzf8">
            <a:extLst xmlns:a="http://schemas.openxmlformats.org/drawingml/2006/main">
              <a:ext uri="{FF2B5EF4-FFF2-40B4-BE49-F238E27FC236}">
                <a16:creationId xmlns:a16="http://schemas.microsoft.com/office/drawing/2014/main" id="{5176FBC6-7EC5-4412-A35B-BD4588F19A64}"/>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W = (150 + 100s² + 80w) / e.</a:t>
            </a:r>
          </a:p>
        </p:txBody>
      </p:sp>
      <p:sp>
        <p:nvSpPr>
          <p:cNvPr id="17" name="">
            <a:extLst xmlns:a="http://schemas.openxmlformats.org/drawingml/2006/main">
              <a:ext uri="{FF2B5EF4-FFF2-40B4-BE49-F238E27FC236}">
                <a16:creationId xmlns:a16="http://schemas.microsoft.com/office/drawing/2014/main" id="{054129B0-8BDB-4D02-9F2F-4715A01C1E9F}"/>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33434EF-325D-4004-9940-067886CB189A}"/>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ebndjqgmkgv">
            <a:extLst xmlns:a="http://schemas.openxmlformats.org/drawingml/2006/main">
              <a:ext uri="{FF2B5EF4-FFF2-40B4-BE49-F238E27FC236}">
                <a16:creationId xmlns:a16="http://schemas.microsoft.com/office/drawing/2014/main" id="{53458A8F-DACD-4EE0-8F0A-6D6201C10A60}"/>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Intensidad energética</a:t>
            </a:r>
          </a:p>
        </p:txBody>
      </p:sp>
      <p:sp>
        <p:nvSpPr>
          <p:cNvPr id="20" name="text-x0cv4wuidca">
            <a:extLst xmlns:a="http://schemas.openxmlformats.org/drawingml/2006/main">
              <a:ext uri="{FF2B5EF4-FFF2-40B4-BE49-F238E27FC236}">
                <a16:creationId xmlns:a16="http://schemas.microsoft.com/office/drawing/2014/main" id="{8292AD29-3EB1-4CC2-8607-EFB292890232}"/>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 = W / q Wh por intento.</a:t>
            </a:r>
          </a:p>
        </p:txBody>
      </p:sp>
    </p:spTree>
    <p:extLst>
      <p:ext uri="{BB962C8B-B14F-4D97-AF65-F5344CB8AC3E}">
        <p14:creationId xmlns:p14="http://schemas.microsoft.com/office/powerpoint/2010/main" val="876492897"/>
      </p:ext>
    </p:extLst>
  </p:cSld>
</p:sld>
</file>

<file path=ppt/slides/slide33.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CA42A4-F30E-4645-9257-05375221DF68}"/>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pv6opslavtl">
            <a:extLst xmlns:a="http://schemas.openxmlformats.org/drawingml/2006/main">
              <a:ext uri="{FF2B5EF4-FFF2-40B4-BE49-F238E27FC236}">
                <a16:creationId xmlns:a16="http://schemas.microsoft.com/office/drawing/2014/main" id="{41A8446C-AB3F-41E4-9B98-0EC9EA04953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8kkt3m7ep9p">
            <a:extLst xmlns:a="http://schemas.openxmlformats.org/drawingml/2006/main">
              <a:ext uri="{FF2B5EF4-FFF2-40B4-BE49-F238E27FC236}">
                <a16:creationId xmlns:a16="http://schemas.microsoft.com/office/drawing/2014/main" id="{7750E123-1BBB-451E-B637-66DADAF5D05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El mínimo energético aparece en una velocidad intermedia</a:t>
            </a:r>
          </a:p>
        </p:txBody>
      </p:sp>
      <p:sp>
        <p:nvSpPr>
          <p:cNvPr id="4" name="text-xdxs6r1xnx">
            <a:extLst xmlns:a="http://schemas.openxmlformats.org/drawingml/2006/main">
              <a:ext uri="{FF2B5EF4-FFF2-40B4-BE49-F238E27FC236}">
                <a16:creationId xmlns:a16="http://schemas.microsoft.com/office/drawing/2014/main" id="{272E3344-B309-44A0-93E2-A1814DB47006}"/>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Con w fijo, el consumo por intento primero baja y luego sube.</a:t>
            </a:r>
          </a:p>
        </p:txBody>
      </p:sp>
      <p:sp>
        <p:nvSpPr>
          <p:cNvPr id="5" name="">
            <a:extLst xmlns:a="http://schemas.openxmlformats.org/drawingml/2006/main">
              <a:ext uri="{FF2B5EF4-FFF2-40B4-BE49-F238E27FC236}">
                <a16:creationId xmlns:a16="http://schemas.microsoft.com/office/drawing/2014/main" id="{FEDE1625-DDAC-418C-884C-0DCEAF7A45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9cn36z3uarl">
            <a:extLst xmlns:a="http://schemas.openxmlformats.org/drawingml/2006/main">
              <a:ext uri="{FF2B5EF4-FFF2-40B4-BE49-F238E27FC236}">
                <a16:creationId xmlns:a16="http://schemas.microsoft.com/office/drawing/2014/main" id="{17B48FA3-8FA6-455B-82C4-19D3D225EC8D}"/>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RobotLab</a:t>
            </a:r>
          </a:p>
        </p:txBody>
      </p:sp>
      <p:sp>
        <p:nvSpPr>
          <p:cNvPr id="7" name="text-kykxmzn27o8">
            <a:extLst xmlns:a="http://schemas.openxmlformats.org/drawingml/2006/main">
              <a:ext uri="{FF2B5EF4-FFF2-40B4-BE49-F238E27FC236}">
                <a16:creationId xmlns:a16="http://schemas.microsoft.com/office/drawing/2014/main" id="{FBE3AC32-9808-4B67-802B-8002443258E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33</a:t>
            </a:r>
          </a:p>
        </p:txBody>
      </p:sp>
      <p:graphicFrame>
        <p:nvGraphicFramePr>
          <p:cNvPr id="8" name="Chart">
            <a:extLst xmlns:a="http://schemas.openxmlformats.org/drawingml/2006/main">
              <a:ext uri="{FF2B5EF4-FFF2-40B4-BE49-F238E27FC236}">
                <a16:creationId xmlns:a16="http://schemas.microsoft.com/office/drawing/2014/main" id="{A41725DB-C091-4979-B884-C05D2C75204F}"/>
              </a:ext>
            </a:extLst>
          </p:cNvPr>
          <p:cNvGraphicFramePr/>
          <p:nvPr/>
        </p:nvGraphicFramePr>
        <p:xfrm>
          <a:off xmlns:a="http://schemas.openxmlformats.org/drawingml/2006/main" x="609600" y="2571750"/>
          <a:ext xmlns:a="http://schemas.openxmlformats.org/drawingml/2006/main" cx="7524750" cy="3371850"/>
        </p:xfrm>
        <a:graphic xmlns:a="http://schemas.openxmlformats.org/drawingml/2006/main">
          <a:graphicData uri="http://schemas.openxmlformats.org/drawingml/2006/chart">
            <c:chart xmlns:r="http://schemas.openxmlformats.org/officeDocument/2006/relationships" xmlns:c="http://schemas.openxmlformats.org/drawingml/2006/chart" r:id="R79f83a018b194221"/>
          </a:graphicData>
        </a:graphic>
      </p:graphicFrame>
      <p:sp>
        <p:nvSpPr>
          <p:cNvPr id="9" name="text-caaj7mhns0t">
            <a:extLst xmlns:a="http://schemas.openxmlformats.org/drawingml/2006/main">
              <a:ext uri="{FF2B5EF4-FFF2-40B4-BE49-F238E27FC236}">
                <a16:creationId xmlns:a16="http://schemas.microsoft.com/office/drawing/2014/main" id="{288F4AE6-0614-496A-AA2E-DD94A3E3C4C7}"/>
              </a:ext>
            </a:extLst>
          </p:cNvPr>
          <p:cNvSpPr>
            <a:spLocks xmlns:a="http://schemas.openxmlformats.org/drawingml/2006/main" noGrp="1"/>
          </p:cNvSpPr>
          <p:nvPr/>
        </p:nvSpPr>
        <p:spPr>
          <a:xfrm xmlns:a="http://schemas.openxmlformats.org/drawingml/2006/main">
            <a:off x="8572500" y="289560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62D6C9"/>
                </a:solidFill>
                <a:latin typeface="DejaVu Sans"/>
                <a:ea typeface="DejaVu Sans"/>
                <a:cs typeface="DejaVu Sans"/>
              </a:defRPr>
            </a:defPPr>
            <a:lvl1pPr algn="l">
              <a:defRPr sz="2850" b="1">
                <a:solidFill>
                  <a:srgbClr val="62D6C9"/>
                </a:solidFill>
                <a:latin typeface="DejaVu Sans"/>
                <a:ea typeface="DejaVu Sans"/>
                <a:cs typeface="DejaVu Sans"/>
              </a:defRPr>
            </a:lvl1pPr>
            <a:lvl2pPr algn="l">
              <a:defRPr sz="2850" b="1">
                <a:solidFill>
                  <a:srgbClr val="62D6C9"/>
                </a:solidFill>
                <a:latin typeface="DejaVu Sans"/>
                <a:ea typeface="DejaVu Sans"/>
                <a:cs typeface="DejaVu Sans"/>
              </a:defRPr>
            </a:lvl2pPr>
            <a:lvl3pPr algn="l">
              <a:defRPr sz="2850" b="1">
                <a:solidFill>
                  <a:srgbClr val="62D6C9"/>
                </a:solidFill>
                <a:latin typeface="DejaVu Sans"/>
                <a:ea typeface="DejaVu Sans"/>
                <a:cs typeface="DejaVu Sans"/>
              </a:defRPr>
            </a:lvl3pPr>
            <a:lvl4pPr algn="l">
              <a:defRPr sz="2850" b="1">
                <a:solidFill>
                  <a:srgbClr val="62D6C9"/>
                </a:solidFill>
                <a:latin typeface="DejaVu Sans"/>
                <a:ea typeface="DejaVu Sans"/>
                <a:cs typeface="DejaVu Sans"/>
              </a:defRPr>
            </a:lvl4pPr>
            <a:lvl5pPr algn="l">
              <a:defRPr sz="2850" b="1">
                <a:solidFill>
                  <a:srgbClr val="62D6C9"/>
                </a:solidFill>
                <a:latin typeface="DejaVu Sans"/>
                <a:ea typeface="DejaVu Sans"/>
                <a:cs typeface="DejaVu Sans"/>
              </a:defRPr>
            </a:lvl5pPr>
            <a:lvl6pPr algn="l">
              <a:defRPr sz="2850" b="1">
                <a:solidFill>
                  <a:srgbClr val="62D6C9"/>
                </a:solidFill>
                <a:latin typeface="DejaVu Sans"/>
                <a:ea typeface="DejaVu Sans"/>
                <a:cs typeface="DejaVu Sans"/>
              </a:defRPr>
            </a:lvl6pPr>
            <a:lvl7pPr algn="l">
              <a:defRPr sz="2850" b="1">
                <a:solidFill>
                  <a:srgbClr val="62D6C9"/>
                </a:solidFill>
                <a:latin typeface="DejaVu Sans"/>
                <a:ea typeface="DejaVu Sans"/>
                <a:cs typeface="DejaVu Sans"/>
              </a:defRPr>
            </a:lvl7pPr>
            <a:lvl8pPr algn="l">
              <a:defRPr sz="2850" b="1">
                <a:solidFill>
                  <a:srgbClr val="62D6C9"/>
                </a:solidFill>
                <a:latin typeface="DejaVu Sans"/>
                <a:ea typeface="DejaVu Sans"/>
                <a:cs typeface="DejaVu Sans"/>
              </a:defRPr>
            </a:lvl8pPr>
            <a:lvl9pPr algn="l">
              <a:defRPr sz="2850" b="1">
                <a:solidFill>
                  <a:srgbClr val="62D6C9"/>
                </a:solidFill>
                <a:latin typeface="DejaVu Sans"/>
                <a:ea typeface="DejaVu Sans"/>
                <a:cs typeface="DejaVu Sans"/>
              </a:defRPr>
            </a:lvl9pPr>
          </a:lstStyle>
          <a:p xmlns:a="http://schemas.openxmlformats.org/drawingml/2006/main">
            <a:pPr algn="l">
              <a:lnSpc>
                <a:spcPct val="112000"/>
              </a:lnSpc>
              <a:buNone/>
              <a:defRPr sz="2850" b="1">
                <a:solidFill>
                  <a:srgbClr val="62D6C9"/>
                </a:solidFill>
                <a:latin typeface="DejaVu Sans"/>
                <a:ea typeface="DejaVu Sans"/>
                <a:cs typeface="DejaVu Sans"/>
              </a:defRPr>
            </a:pPr>
            <a:r>
              <a:rPr sz="2850" b="1">
                <a:solidFill>
                  <a:srgbClr val="62D6C9"/>
                </a:solidFill>
                <a:latin typeface="DejaVu Sans"/>
                <a:ea typeface="DejaVu Sans"/>
                <a:cs typeface="DejaVu Sans"/>
              </a:rPr>
              <a:t>s* ≈ 1,52</a:t>
            </a:r>
          </a:p>
        </p:txBody>
      </p:sp>
      <p:sp>
        <p:nvSpPr>
          <p:cNvPr id="10" name="text-s2d8hjxluqm">
            <a:extLst xmlns:a="http://schemas.openxmlformats.org/drawingml/2006/main">
              <a:ext uri="{FF2B5EF4-FFF2-40B4-BE49-F238E27FC236}">
                <a16:creationId xmlns:a16="http://schemas.microsoft.com/office/drawing/2014/main" id="{8EDA6801-6277-40CE-9BF0-44003CC9A649}"/>
              </a:ext>
            </a:extLst>
          </p:cNvPr>
          <p:cNvSpPr>
            <a:spLocks xmlns:a="http://schemas.openxmlformats.org/drawingml/2006/main" noGrp="1"/>
          </p:cNvSpPr>
          <p:nvPr/>
        </p:nvSpPr>
        <p:spPr>
          <a:xfrm xmlns:a="http://schemas.openxmlformats.org/drawingml/2006/main">
            <a:off x="8572500" y="3705225"/>
            <a:ext cx="2952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Mínimo energético</a:t>
            </a:r>
          </a:p>
          <a:p xmlns:a="http://schemas.openxmlformats.org/drawingml/2006/main">
            <a:r>
              <a:t/>
            </a:r>
          </a:p>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Eficiencia e desplaza la curva en altura.</a:t>
            </a:r>
          </a:p>
          <a:p xmlns:a="http://schemas.openxmlformats.org/drawingml/2006/main">
            <a:r>
              <a:t/>
            </a:r>
          </a:p>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No es el óptimo de costo de una fábrica.</a:t>
            </a:r>
          </a:p>
        </p:txBody>
      </p:sp>
    </p:spTree>
    <p:extLst>
      <p:ext uri="{BB962C8B-B14F-4D97-AF65-F5344CB8AC3E}">
        <p14:creationId xmlns:p14="http://schemas.microsoft.com/office/powerpoint/2010/main" val="1579715378"/>
      </p:ext>
    </p:extLst>
  </p:cSld>
</p:sld>
</file>

<file path=ppt/slides/slide3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320BE5-0EE0-4FD7-BF44-FD3C0E76494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gyfc5b1jlhs">
            <a:extLst xmlns:a="http://schemas.openxmlformats.org/drawingml/2006/main">
              <a:ext uri="{FF2B5EF4-FFF2-40B4-BE49-F238E27FC236}">
                <a16:creationId xmlns:a16="http://schemas.microsoft.com/office/drawing/2014/main" id="{C90D063E-7CB2-4FA6-824A-F8A7108BF9DC}"/>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z2t5kaq3lk">
            <a:extLst xmlns:a="http://schemas.openxmlformats.org/drawingml/2006/main">
              <a:ext uri="{FF2B5EF4-FFF2-40B4-BE49-F238E27FC236}">
                <a16:creationId xmlns:a16="http://schemas.microsoft.com/office/drawing/2014/main" id="{0FCC57DD-BD4C-44F9-82E4-FC5B4FB5D176}"/>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batería impone una restricción temporal exacta</a:t>
            </a:r>
          </a:p>
        </p:txBody>
      </p:sp>
      <p:sp>
        <p:nvSpPr>
          <p:cNvPr id="4" name="text-ge8kyk52tir">
            <a:extLst xmlns:a="http://schemas.openxmlformats.org/drawingml/2006/main">
              <a:ext uri="{FF2B5EF4-FFF2-40B4-BE49-F238E27FC236}">
                <a16:creationId xmlns:a16="http://schemas.microsoft.com/office/drawing/2014/main" id="{09B24A6A-467D-4951-82F3-9A9F9339CF2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simulación corta el consumo y las tareas al agotarse la energía.</a:t>
            </a:r>
          </a:p>
        </p:txBody>
      </p:sp>
      <p:sp>
        <p:nvSpPr>
          <p:cNvPr id="5" name="">
            <a:extLst xmlns:a="http://schemas.openxmlformats.org/drawingml/2006/main">
              <a:ext uri="{FF2B5EF4-FFF2-40B4-BE49-F238E27FC236}">
                <a16:creationId xmlns:a16="http://schemas.microsoft.com/office/drawing/2014/main" id="{84183754-44B9-4856-8DD4-EE533EE1BCE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lbgkn0jqvqk">
            <a:extLst xmlns:a="http://schemas.openxmlformats.org/drawingml/2006/main">
              <a:ext uri="{FF2B5EF4-FFF2-40B4-BE49-F238E27FC236}">
                <a16:creationId xmlns:a16="http://schemas.microsoft.com/office/drawing/2014/main" id="{22DC0296-CD8E-4136-9CF5-1F4250140C9D}"/>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smv9a4g681a">
            <a:extLst xmlns:a="http://schemas.openxmlformats.org/drawingml/2006/main">
              <a:ext uri="{FF2B5EF4-FFF2-40B4-BE49-F238E27FC236}">
                <a16:creationId xmlns:a16="http://schemas.microsoft.com/office/drawing/2014/main" id="{63291F1B-C4DE-4116-B045-FF3EF96B275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34</a:t>
            </a:r>
          </a:p>
        </p:txBody>
      </p:sp>
      <p:sp>
        <p:nvSpPr>
          <p:cNvPr id="8" name="text-us9up06yziq">
            <a:extLst xmlns:a="http://schemas.openxmlformats.org/drawingml/2006/main">
              <a:ext uri="{FF2B5EF4-FFF2-40B4-BE49-F238E27FC236}">
                <a16:creationId xmlns:a16="http://schemas.microsoft.com/office/drawing/2014/main" id="{30A9A4C3-C1A4-42B4-A314-2AF67FCCB20B}"/>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t = B / W</a:t>
            </a:r>
          </a:p>
        </p:txBody>
      </p:sp>
      <p:sp>
        <p:nvSpPr>
          <p:cNvPr id="9" name="">
            <a:extLst xmlns:a="http://schemas.openxmlformats.org/drawingml/2006/main">
              <a:ext uri="{FF2B5EF4-FFF2-40B4-BE49-F238E27FC236}">
                <a16:creationId xmlns:a16="http://schemas.microsoft.com/office/drawing/2014/main" id="{8D1B1FAE-7F71-4DD8-B83E-5EEE639F4235}"/>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C5073BA-CFED-44FB-84A2-2C59CEA3DC12}"/>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0sazk5gin77i">
            <a:extLst xmlns:a="http://schemas.openxmlformats.org/drawingml/2006/main">
              <a:ext uri="{FF2B5EF4-FFF2-40B4-BE49-F238E27FC236}">
                <a16:creationId xmlns:a16="http://schemas.microsoft.com/office/drawing/2014/main" id="{78B100B2-0B5D-4BFC-8F74-6F8D7A73CBCD}"/>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Autonomía</a:t>
            </a:r>
          </a:p>
        </p:txBody>
      </p:sp>
      <p:sp>
        <p:nvSpPr>
          <p:cNvPr id="12" name="text-wyrlkl9cjy">
            <a:extLst xmlns:a="http://schemas.openxmlformats.org/drawingml/2006/main">
              <a:ext uri="{FF2B5EF4-FFF2-40B4-BE49-F238E27FC236}">
                <a16:creationId xmlns:a16="http://schemas.microsoft.com/office/drawing/2014/main" id="{D82D513B-1891-4BA7-BC98-AACBEDEDC525}"/>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 = B / W, con B en Wh y W en watts.</a:t>
            </a:r>
          </a:p>
        </p:txBody>
      </p:sp>
      <p:sp>
        <p:nvSpPr>
          <p:cNvPr id="13" name="">
            <a:extLst xmlns:a="http://schemas.openxmlformats.org/drawingml/2006/main">
              <a:ext uri="{FF2B5EF4-FFF2-40B4-BE49-F238E27FC236}">
                <a16:creationId xmlns:a16="http://schemas.microsoft.com/office/drawing/2014/main" id="{CC6B1407-1E85-4E81-8223-F5907B822DE4}"/>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B976CF-CC41-4D7A-9388-E0C10639D2F8}"/>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ip3f5ytuzxs">
            <a:extLst xmlns:a="http://schemas.openxmlformats.org/drawingml/2006/main">
              <a:ext uri="{FF2B5EF4-FFF2-40B4-BE49-F238E27FC236}">
                <a16:creationId xmlns:a16="http://schemas.microsoft.com/office/drawing/2014/main" id="{B161F188-D6B6-4B9E-9D83-615EC551470D}"/>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Estado</a:t>
            </a:r>
          </a:p>
        </p:txBody>
      </p:sp>
      <p:sp>
        <p:nvSpPr>
          <p:cNvPr id="16" name="text-kx4th0nvncf">
            <a:extLst xmlns:a="http://schemas.openxmlformats.org/drawingml/2006/main">
              <a:ext uri="{FF2B5EF4-FFF2-40B4-BE49-F238E27FC236}">
                <a16:creationId xmlns:a16="http://schemas.microsoft.com/office/drawing/2014/main" id="{7D28DE18-01EA-4C47-8475-0404D231D222}"/>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Bₜ₊Δ = max(0, Bₜ − W × Δh).</a:t>
            </a:r>
          </a:p>
        </p:txBody>
      </p:sp>
      <p:sp>
        <p:nvSpPr>
          <p:cNvPr id="17" name="">
            <a:extLst xmlns:a="http://schemas.openxmlformats.org/drawingml/2006/main">
              <a:ext uri="{FF2B5EF4-FFF2-40B4-BE49-F238E27FC236}">
                <a16:creationId xmlns:a16="http://schemas.microsoft.com/office/drawing/2014/main" id="{5306B049-612C-44C8-9C37-3588C998FC17}"/>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457F6E-BA48-43C6-BF24-FCC0C881ACD9}"/>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egn5qcodsuf">
            <a:extLst xmlns:a="http://schemas.openxmlformats.org/drawingml/2006/main">
              <a:ext uri="{FF2B5EF4-FFF2-40B4-BE49-F238E27FC236}">
                <a16:creationId xmlns:a16="http://schemas.microsoft.com/office/drawing/2014/main" id="{AA973CB4-9EA0-45BF-805E-7018F818F81F}"/>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Comparación</a:t>
            </a:r>
          </a:p>
        </p:txBody>
      </p:sp>
      <p:sp>
        <p:nvSpPr>
          <p:cNvPr id="20" name="text-cab9o55bj1c">
            <a:extLst xmlns:a="http://schemas.openxmlformats.org/drawingml/2006/main">
              <a:ext uri="{FF2B5EF4-FFF2-40B4-BE49-F238E27FC236}">
                <a16:creationId xmlns:a16="http://schemas.microsoft.com/office/drawing/2014/main" id="{F5AC36A5-989D-4DB5-BC55-3D36A9E0D940}"/>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Una batería mayor cambia duración, no Wh por intento.</a:t>
            </a:r>
          </a:p>
        </p:txBody>
      </p:sp>
    </p:spTree>
    <p:extLst>
      <p:ext uri="{BB962C8B-B14F-4D97-AF65-F5344CB8AC3E}">
        <p14:creationId xmlns:p14="http://schemas.microsoft.com/office/powerpoint/2010/main" val="1921020020"/>
      </p:ext>
    </p:extLst>
  </p:cSld>
</p:sld>
</file>

<file path=ppt/slides/slide3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E3BDD4-B04D-4267-A0A8-E6E16455CA36}"/>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cdjky1p53pn">
            <a:extLst xmlns:a="http://schemas.openxmlformats.org/drawingml/2006/main">
              <a:ext uri="{FF2B5EF4-FFF2-40B4-BE49-F238E27FC236}">
                <a16:creationId xmlns:a16="http://schemas.microsoft.com/office/drawing/2014/main" id="{445DCF70-D6BC-478F-B07B-0A46A5D1EF99}"/>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4ai7ve89wpc">
            <a:extLst xmlns:a="http://schemas.openxmlformats.org/drawingml/2006/main">
              <a:ext uri="{FF2B5EF4-FFF2-40B4-BE49-F238E27FC236}">
                <a16:creationId xmlns:a16="http://schemas.microsoft.com/office/drawing/2014/main" id="{6D64D747-343B-43F2-95B3-774ED37850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eficiencia energética no determina sola el costo útil</a:t>
            </a:r>
          </a:p>
        </p:txBody>
      </p:sp>
      <p:sp>
        <p:nvSpPr>
          <p:cNvPr id="4" name="text-t2xj1acn8i">
            <a:extLst xmlns:a="http://schemas.openxmlformats.org/drawingml/2006/main">
              <a:ext uri="{FF2B5EF4-FFF2-40B4-BE49-F238E27FC236}">
                <a16:creationId xmlns:a16="http://schemas.microsoft.com/office/drawing/2014/main" id="{245F4BE1-08E1-4EDD-8A51-7A3225D3BED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extensión agrega disponibilidad, tasa de éxito y costos anuales.</a:t>
            </a:r>
          </a:p>
        </p:txBody>
      </p:sp>
      <p:sp>
        <p:nvSpPr>
          <p:cNvPr id="5" name="">
            <a:extLst xmlns:a="http://schemas.openxmlformats.org/drawingml/2006/main">
              <a:ext uri="{FF2B5EF4-FFF2-40B4-BE49-F238E27FC236}">
                <a16:creationId xmlns:a16="http://schemas.microsoft.com/office/drawing/2014/main" id="{F7E4364C-6E13-4AE7-B90B-BFD2D236A5F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pnx7lqx0k9e">
            <a:extLst xmlns:a="http://schemas.openxmlformats.org/drawingml/2006/main">
              <a:ext uri="{FF2B5EF4-FFF2-40B4-BE49-F238E27FC236}">
                <a16:creationId xmlns:a16="http://schemas.microsoft.com/office/drawing/2014/main" id="{9CB8E1C7-AB0B-4D5D-8C23-C86A2752DB00}"/>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tpnfh0hbvi">
            <a:extLst xmlns:a="http://schemas.openxmlformats.org/drawingml/2006/main">
              <a:ext uri="{FF2B5EF4-FFF2-40B4-BE49-F238E27FC236}">
                <a16:creationId xmlns:a16="http://schemas.microsoft.com/office/drawing/2014/main" id="{B3D62939-D3E2-4800-AD10-3C774B2CFC0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35</a:t>
            </a:r>
          </a:p>
        </p:txBody>
      </p:sp>
      <p:sp>
        <p:nvSpPr>
          <p:cNvPr id="8" name="">
            <a:extLst xmlns:a="http://schemas.openxmlformats.org/drawingml/2006/main">
              <a:ext uri="{FF2B5EF4-FFF2-40B4-BE49-F238E27FC236}">
                <a16:creationId xmlns:a16="http://schemas.microsoft.com/office/drawing/2014/main" id="{45F81F68-2CF2-4983-ADDF-036A38E720E7}"/>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01F3C9-5F40-480A-BA13-45726FB5891C}"/>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sann4uheh87">
            <a:extLst xmlns:a="http://schemas.openxmlformats.org/drawingml/2006/main">
              <a:ext uri="{FF2B5EF4-FFF2-40B4-BE49-F238E27FC236}">
                <a16:creationId xmlns:a16="http://schemas.microsoft.com/office/drawing/2014/main" id="{DFE721FF-8B0B-4E66-8469-5C7D3BCA041B}"/>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Tareas anuales válidas</a:t>
            </a:r>
          </a:p>
        </p:txBody>
      </p:sp>
      <p:sp>
        <p:nvSpPr>
          <p:cNvPr id="11" name="text-usjyyfgfpdb">
            <a:extLst xmlns:a="http://schemas.openxmlformats.org/drawingml/2006/main">
              <a:ext uri="{FF2B5EF4-FFF2-40B4-BE49-F238E27FC236}">
                <a16:creationId xmlns:a16="http://schemas.microsoft.com/office/drawing/2014/main" id="{56F796FE-58FE-4CCC-AA2C-D6173B0407A4}"/>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Qᵥ = H × A × q × r.</a:t>
            </a:r>
          </a:p>
        </p:txBody>
      </p:sp>
      <p:sp>
        <p:nvSpPr>
          <p:cNvPr id="12" name="">
            <a:extLst xmlns:a="http://schemas.openxmlformats.org/drawingml/2006/main">
              <a:ext uri="{FF2B5EF4-FFF2-40B4-BE49-F238E27FC236}">
                <a16:creationId xmlns:a16="http://schemas.microsoft.com/office/drawing/2014/main" id="{7B269E8E-75D2-458E-88F8-F428F87924F4}"/>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399E5CB-8FC2-4A27-92D8-4B0A0A19942B}"/>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fnuchdjvvh">
            <a:extLst xmlns:a="http://schemas.openxmlformats.org/drawingml/2006/main">
              <a:ext uri="{FF2B5EF4-FFF2-40B4-BE49-F238E27FC236}">
                <a16:creationId xmlns:a16="http://schemas.microsoft.com/office/drawing/2014/main" id="{A7772919-36DC-425F-9BE5-0BAC94BD8EBB}"/>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Energía por tarea válida</a:t>
            </a:r>
          </a:p>
        </p:txBody>
      </p:sp>
      <p:sp>
        <p:nvSpPr>
          <p:cNvPr id="15" name="text-kgzmwnrilp">
            <a:extLst xmlns:a="http://schemas.openxmlformats.org/drawingml/2006/main">
              <a:ext uri="{FF2B5EF4-FFF2-40B4-BE49-F238E27FC236}">
                <a16:creationId xmlns:a16="http://schemas.microsoft.com/office/drawing/2014/main" id="{89D3112A-CB96-4A85-918C-7AB6BB3A51C2}"/>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Eᵥ = W / (q × r), en operación.</a:t>
            </a:r>
          </a:p>
        </p:txBody>
      </p:sp>
      <p:sp>
        <p:nvSpPr>
          <p:cNvPr id="16" name="">
            <a:extLst xmlns:a="http://schemas.openxmlformats.org/drawingml/2006/main">
              <a:ext uri="{FF2B5EF4-FFF2-40B4-BE49-F238E27FC236}">
                <a16:creationId xmlns:a16="http://schemas.microsoft.com/office/drawing/2014/main" id="{410AAB82-2D22-49BC-8963-FAB845240CDF}"/>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B7DFE86-3C93-45B5-B120-3B8B803CDE1F}"/>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dlwhttcau3q">
            <a:extLst xmlns:a="http://schemas.openxmlformats.org/drawingml/2006/main">
              <a:ext uri="{FF2B5EF4-FFF2-40B4-BE49-F238E27FC236}">
                <a16:creationId xmlns:a16="http://schemas.microsoft.com/office/drawing/2014/main" id="{77C5AEFF-7557-4E8F-9510-11C65181563B}"/>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Costo unitario</a:t>
            </a:r>
          </a:p>
        </p:txBody>
      </p:sp>
      <p:sp>
        <p:nvSpPr>
          <p:cNvPr id="19" name="text-i7c50gbuaed">
            <a:extLst xmlns:a="http://schemas.openxmlformats.org/drawingml/2006/main">
              <a:ext uri="{FF2B5EF4-FFF2-40B4-BE49-F238E27FC236}">
                <a16:creationId xmlns:a16="http://schemas.microsoft.com/office/drawing/2014/main" id="{CD0D9ECD-BC03-4F09-8CF4-CC63FA91B5CB}"/>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Costo anual total / Qᵥ.</a:t>
            </a:r>
          </a:p>
        </p:txBody>
      </p:sp>
    </p:spTree>
    <p:extLst>
      <p:ext uri="{BB962C8B-B14F-4D97-AF65-F5344CB8AC3E}">
        <p14:creationId xmlns:p14="http://schemas.microsoft.com/office/powerpoint/2010/main" val="864230486"/>
      </p:ext>
    </p:extLst>
  </p:cSld>
</p:sld>
</file>

<file path=ppt/slides/slide3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753FA96-D76C-42F5-8CF9-7E48790C9ED8}"/>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josyhgpb1cb">
            <a:extLst xmlns:a="http://schemas.openxmlformats.org/drawingml/2006/main">
              <a:ext uri="{FF2B5EF4-FFF2-40B4-BE49-F238E27FC236}">
                <a16:creationId xmlns:a16="http://schemas.microsoft.com/office/drawing/2014/main" id="{E1C51B1E-1051-4882-909A-E8D9032347A7}"/>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b122qvyoi3b">
            <a:extLst xmlns:a="http://schemas.openxmlformats.org/drawingml/2006/main">
              <a:ext uri="{FF2B5EF4-FFF2-40B4-BE49-F238E27FC236}">
                <a16:creationId xmlns:a16="http://schemas.microsoft.com/office/drawing/2014/main" id="{4319E97A-3B51-4FAF-9EE8-4B2FACE9FAA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 costo total incluye integración y operación</a:t>
            </a:r>
          </a:p>
        </p:txBody>
      </p:sp>
      <p:sp>
        <p:nvSpPr>
          <p:cNvPr id="4" name="text-ww0fxs72wpa">
            <a:extLst xmlns:a="http://schemas.openxmlformats.org/drawingml/2006/main">
              <a:ext uri="{FF2B5EF4-FFF2-40B4-BE49-F238E27FC236}">
                <a16:creationId xmlns:a16="http://schemas.microsoft.com/office/drawing/2014/main" id="{3E1AC506-6096-48E6-BC3F-59B6E01B0CD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Comparar tecnologías por tarea válida y horizonte económico.</a:t>
            </a:r>
          </a:p>
        </p:txBody>
      </p:sp>
      <p:sp>
        <p:nvSpPr>
          <p:cNvPr id="5" name="">
            <a:extLst xmlns:a="http://schemas.openxmlformats.org/drawingml/2006/main">
              <a:ext uri="{FF2B5EF4-FFF2-40B4-BE49-F238E27FC236}">
                <a16:creationId xmlns:a16="http://schemas.microsoft.com/office/drawing/2014/main" id="{E7BEEEF9-2957-4A80-A2ED-B64E887A010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heoztubwnh">
            <a:extLst xmlns:a="http://schemas.openxmlformats.org/drawingml/2006/main">
              <a:ext uri="{FF2B5EF4-FFF2-40B4-BE49-F238E27FC236}">
                <a16:creationId xmlns:a16="http://schemas.microsoft.com/office/drawing/2014/main" id="{9E1C0DB7-FBEE-467A-AE9D-846EE0AB565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46lzv4t7fzm">
            <a:extLst xmlns:a="http://schemas.openxmlformats.org/drawingml/2006/main">
              <a:ext uri="{FF2B5EF4-FFF2-40B4-BE49-F238E27FC236}">
                <a16:creationId xmlns:a16="http://schemas.microsoft.com/office/drawing/2014/main" id="{83D081D5-3E74-4825-B155-24CDDFDCD8C0}"/>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36</a:t>
            </a:r>
          </a:p>
        </p:txBody>
      </p:sp>
      <p:sp>
        <p:nvSpPr>
          <p:cNvPr id="8" name="">
            <a:extLst xmlns:a="http://schemas.openxmlformats.org/drawingml/2006/main">
              <a:ext uri="{FF2B5EF4-FFF2-40B4-BE49-F238E27FC236}">
                <a16:creationId xmlns:a16="http://schemas.microsoft.com/office/drawing/2014/main" id="{D1D07C3C-6353-44A6-8067-7395584301FE}"/>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01BEFE-53F6-47C2-9A4F-DC99978DFAF8}"/>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gufwv85djj9">
            <a:extLst xmlns:a="http://schemas.openxmlformats.org/drawingml/2006/main">
              <a:ext uri="{FF2B5EF4-FFF2-40B4-BE49-F238E27FC236}">
                <a16:creationId xmlns:a16="http://schemas.microsoft.com/office/drawing/2014/main" id="{D9AC5142-62FC-4EE3-8CDF-32ED27EE61D0}"/>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Inversión inicial</a:t>
            </a:r>
          </a:p>
        </p:txBody>
      </p:sp>
      <p:sp>
        <p:nvSpPr>
          <p:cNvPr id="11" name="text-uoq15538t6">
            <a:extLst xmlns:a="http://schemas.openxmlformats.org/drawingml/2006/main">
              <a:ext uri="{FF2B5EF4-FFF2-40B4-BE49-F238E27FC236}">
                <a16:creationId xmlns:a16="http://schemas.microsoft.com/office/drawing/2014/main" id="{AED19C4E-39E5-4662-8BD1-4D9BB3FE4628}"/>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Equipo, instalación, adecuación e ingeniería.</a:t>
            </a:r>
          </a:p>
        </p:txBody>
      </p:sp>
      <p:sp>
        <p:nvSpPr>
          <p:cNvPr id="12" name="">
            <a:extLst xmlns:a="http://schemas.openxmlformats.org/drawingml/2006/main">
              <a:ext uri="{FF2B5EF4-FFF2-40B4-BE49-F238E27FC236}">
                <a16:creationId xmlns:a16="http://schemas.microsoft.com/office/drawing/2014/main" id="{48343C88-B101-42ED-8240-79878950FD36}"/>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3BB9F7-B814-40A0-89DF-4782C46CBF59}"/>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0o8prmrh9vsi">
            <a:extLst xmlns:a="http://schemas.openxmlformats.org/drawingml/2006/main">
              <a:ext uri="{FF2B5EF4-FFF2-40B4-BE49-F238E27FC236}">
                <a16:creationId xmlns:a16="http://schemas.microsoft.com/office/drawing/2014/main" id="{7AC5DA8F-082E-46F0-8CD7-8FF1828123D0}"/>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Costo anual fijo</a:t>
            </a:r>
          </a:p>
        </p:txBody>
      </p:sp>
      <p:sp>
        <p:nvSpPr>
          <p:cNvPr id="15" name="text-rkfk3573ym">
            <a:extLst xmlns:a="http://schemas.openxmlformats.org/drawingml/2006/main">
              <a:ext uri="{FF2B5EF4-FFF2-40B4-BE49-F238E27FC236}">
                <a16:creationId xmlns:a16="http://schemas.microsoft.com/office/drawing/2014/main" id="{7823C78D-3D9A-483F-8541-710F2A6E0ABD}"/>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Capital anualizado, soporte, licencias y mantenimiento.</a:t>
            </a:r>
          </a:p>
        </p:txBody>
      </p:sp>
      <p:sp>
        <p:nvSpPr>
          <p:cNvPr id="16" name="">
            <a:extLst xmlns:a="http://schemas.openxmlformats.org/drawingml/2006/main">
              <a:ext uri="{FF2B5EF4-FFF2-40B4-BE49-F238E27FC236}">
                <a16:creationId xmlns:a16="http://schemas.microsoft.com/office/drawing/2014/main" id="{A76C03DC-DA25-49DF-B50F-3883994AC5A0}"/>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78FE45-9C01-4D29-B58B-6EB018272D57}"/>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6vvsix00nct">
            <a:extLst xmlns:a="http://schemas.openxmlformats.org/drawingml/2006/main">
              <a:ext uri="{FF2B5EF4-FFF2-40B4-BE49-F238E27FC236}">
                <a16:creationId xmlns:a16="http://schemas.microsoft.com/office/drawing/2014/main" id="{9A9C024B-0F3C-4DB4-8627-66AE3E265E01}"/>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Costo variable</a:t>
            </a:r>
          </a:p>
        </p:txBody>
      </p:sp>
      <p:sp>
        <p:nvSpPr>
          <p:cNvPr id="19" name="text-vzua3hzspb">
            <a:extLst xmlns:a="http://schemas.openxmlformats.org/drawingml/2006/main">
              <a:ext uri="{FF2B5EF4-FFF2-40B4-BE49-F238E27FC236}">
                <a16:creationId xmlns:a16="http://schemas.microsoft.com/office/drawing/2014/main" id="{3614495E-897F-4810-93C5-3FD2CB7FD1B6}"/>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Energía, consumibles e intervención por intento.</a:t>
            </a:r>
          </a:p>
        </p:txBody>
      </p:sp>
    </p:spTree>
    <p:extLst>
      <p:ext uri="{BB962C8B-B14F-4D97-AF65-F5344CB8AC3E}">
        <p14:creationId xmlns:p14="http://schemas.microsoft.com/office/powerpoint/2010/main" val="87011051"/>
      </p:ext>
    </p:extLst>
  </p:cSld>
</p:sld>
</file>

<file path=ppt/slides/slide3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3EE7E1-C390-4324-B65B-0F91CE79FA6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fieguf6jz7b">
            <a:extLst xmlns:a="http://schemas.openxmlformats.org/drawingml/2006/main">
              <a:ext uri="{FF2B5EF4-FFF2-40B4-BE49-F238E27FC236}">
                <a16:creationId xmlns:a16="http://schemas.microsoft.com/office/drawing/2014/main" id="{2EC938BE-5B7B-4E19-8F51-FBE7FBFDAF96}"/>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dbx893ku0u8">
            <a:extLst xmlns:a="http://schemas.openxmlformats.org/drawingml/2006/main">
              <a:ext uri="{FF2B5EF4-FFF2-40B4-BE49-F238E27FC236}">
                <a16:creationId xmlns:a16="http://schemas.microsoft.com/office/drawing/2014/main" id="{55C10B50-F3A2-4F7D-8F8E-BDF4866FE9A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Una tarea fija puede favorecer automatización convencional</a:t>
            </a:r>
          </a:p>
        </p:txBody>
      </p:sp>
      <p:sp>
        <p:nvSpPr>
          <p:cNvPr id="4" name="text-yyn7jwrtcwb">
            <a:extLst xmlns:a="http://schemas.openxmlformats.org/drawingml/2006/main">
              <a:ext uri="{FF2B5EF4-FFF2-40B4-BE49-F238E27FC236}">
                <a16:creationId xmlns:a16="http://schemas.microsoft.com/office/drawing/2014/main" id="{E16EEF63-CDC5-4A3B-9AE3-4DA4D91CD62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Ejemplo hipotético con costos anuales ya calculados.</a:t>
            </a:r>
          </a:p>
        </p:txBody>
      </p:sp>
      <p:sp>
        <p:nvSpPr>
          <p:cNvPr id="5" name="">
            <a:extLst xmlns:a="http://schemas.openxmlformats.org/drawingml/2006/main">
              <a:ext uri="{FF2B5EF4-FFF2-40B4-BE49-F238E27FC236}">
                <a16:creationId xmlns:a16="http://schemas.microsoft.com/office/drawing/2014/main" id="{338AA49A-AE73-4510-A627-C7C10F274B9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zvbn17oi64a">
            <a:extLst xmlns:a="http://schemas.openxmlformats.org/drawingml/2006/main">
              <a:ext uri="{FF2B5EF4-FFF2-40B4-BE49-F238E27FC236}">
                <a16:creationId xmlns:a16="http://schemas.microsoft.com/office/drawing/2014/main" id="{B3F3B9E9-071E-43EB-B061-0E669820F7D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t6vzvbx8kl">
            <a:extLst xmlns:a="http://schemas.openxmlformats.org/drawingml/2006/main">
              <a:ext uri="{FF2B5EF4-FFF2-40B4-BE49-F238E27FC236}">
                <a16:creationId xmlns:a16="http://schemas.microsoft.com/office/drawing/2014/main" id="{2E0F52D9-4614-42B5-A409-05833E4EA3E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37</a:t>
            </a:r>
          </a:p>
        </p:txBody>
      </p:sp>
      <p:graphicFrame>
        <p:nvGraphicFramePr>
          <p:cNvPr id="8" name="">
            <a:extLst xmlns:a="http://schemas.openxmlformats.org/drawingml/2006/main">
              <a:ext uri="{FF2B5EF4-FFF2-40B4-BE49-F238E27FC236}">
                <a16:creationId xmlns:a16="http://schemas.microsoft.com/office/drawing/2014/main" id="{DECB57F9-AB92-4115-B864-4ABDA8F42F78}"/>
              </a:ext>
            </a:extLst>
          </p:cNvPr>
          <p:cNvGraphicFramePr/>
          <p:nvPr/>
        </p:nvGraphicFramePr>
        <p:xfrm>
          <a:off xmlns:a="http://schemas.openxmlformats.org/drawingml/2006/main" x="609600" y="2647950"/>
          <a:ext xmlns:a="http://schemas.openxmlformats.org/drawingml/2006/main" cx="10972800" cy="1714500"/>
        </p:xfrm>
        <a:graphic xmlns:a="http://schemas.openxmlformats.org/drawingml/2006/main">
          <a:graphicData uri="http://schemas.openxmlformats.org/drawingml/2006/table">
            <a:tbl>
              <a:tblPr/>
              <a:tblGrid>
                <a:gridCol w="3190875"/>
                <a:gridCol w="2600325"/>
                <a:gridCol w="2600325"/>
                <a:gridCol w="2581275"/>
              </a:tblGrid>
              <a:tr h="552450">
                <a:tc>
                  <a:txBody>
                    <a:bodyPr lIns="114300" tIns="114300" rIns="114300" bIns="114300"/>
                    <a:lstStyle/>
                    <a:p>
                      <a:r>
                        <a:rPr sz="1725" b="1">
                          <a:solidFill>
                            <a:srgbClr val="FFFFFF"/>
                          </a:solidFill>
                          <a:latin typeface="DejaVu Sans"/>
                          <a:ea typeface="DejaVu Sans"/>
                          <a:cs typeface="DejaVu Sans"/>
                        </a:rPr>
                        <a:t>Alternativa</a:t>
                      </a:r>
                    </a:p>
                  </a:txBody>
                  <a:tcPr marL="91440" marR="91440" marT="45720" marB="45720">
                    <a:lnL w="9525">
                      <a:solidFill>
                        <a:srgbClr val="CCD8D6"/>
                      </a:solidFill>
                      <a:prstDash val="solid"/>
                    </a:lnL>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Costo anual</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Tareas válidas</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Costo / tarea</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r>
              <a:tr h="552450">
                <a:tc>
                  <a:txBody>
                    <a:bodyPr lIns="114300" tIns="114300" rIns="114300" bIns="114300"/>
                    <a:lstStyle/>
                    <a:p>
                      <a:r>
                        <a:rPr sz="1725" b="0">
                          <a:solidFill>
                            <a:srgbClr val="10242B"/>
                          </a:solidFill>
                          <a:latin typeface="DejaVu Sans"/>
                          <a:ea typeface="DejaVu Sans"/>
                          <a:cs typeface="DejaVu Sans"/>
                        </a:rPr>
                        <a:t>Humanoide A</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US$ 80.000</a:t>
                      </a:r>
                    </a:p>
                  </a:txBody>
                  <a:tcPr marL="91440" marR="91440" marT="45720" marB="45720">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40.000</a:t>
                      </a:r>
                    </a:p>
                  </a:txBody>
                  <a:tcPr marL="91440" marR="91440" marT="45720" marB="45720">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US$ 2,00</a:t>
                      </a:r>
                    </a:p>
                  </a:txBody>
                  <a:tcPr marL="91440" marR="91440" marT="45720" marB="45720">
                    <a:lnR w="9525">
                      <a:solidFill>
                        <a:srgbClr val="CCD8D6"/>
                      </a:solidFill>
                      <a:prstDash val="solid"/>
                    </a:lnR>
                    <a:lnB w="9525">
                      <a:solidFill>
                        <a:srgbClr val="CCD8D6"/>
                      </a:solidFill>
                      <a:prstDash val="solid"/>
                    </a:lnB>
                    <a:solidFill>
                      <a:srgbClr val="FFFDFA"/>
                    </a:solidFill>
                  </a:tcPr>
                </a:tc>
              </a:tr>
              <a:tr h="552450">
                <a:tc>
                  <a:txBody>
                    <a:bodyPr lIns="114300" tIns="114300" rIns="114300" bIns="114300"/>
                    <a:lstStyle/>
                    <a:p>
                      <a:r>
                        <a:rPr sz="1725" b="0">
                          <a:solidFill>
                            <a:srgbClr val="10242B"/>
                          </a:solidFill>
                          <a:latin typeface="DejaVu Sans"/>
                          <a:ea typeface="DejaVu Sans"/>
                          <a:cs typeface="DejaVu Sans"/>
                        </a:rPr>
                        <a:t>Brazo B</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US$ 56.000</a:t>
                      </a:r>
                    </a:p>
                  </a:txBody>
                  <a:tcPr marL="91440" marR="91440" marT="45720" marB="45720">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70.000</a:t>
                      </a:r>
                    </a:p>
                  </a:txBody>
                  <a:tcPr marL="91440" marR="91440" marT="45720" marB="45720">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US$ 0,80</a:t>
                      </a:r>
                    </a:p>
                  </a:txBody>
                  <a:tcPr marL="91440" marR="91440" marT="45720" marB="45720">
                    <a:lnR w="9525">
                      <a:solidFill>
                        <a:srgbClr val="CCD8D6"/>
                      </a:solidFill>
                      <a:prstDash val="solid"/>
                    </a:lnR>
                    <a:lnB w="9525">
                      <a:solidFill>
                        <a:srgbClr val="CCD8D6"/>
                      </a:solidFill>
                      <a:prstDash val="solid"/>
                    </a:lnB>
                    <a:solidFill>
                      <a:srgbClr val="E5ECE8"/>
                    </a:solidFill>
                  </a:tcPr>
                </a:tc>
              </a:tr>
            </a:tbl>
          </a:graphicData>
        </a:graphic>
      </p:graphicFrame>
    </p:spTree>
    <p:extLst>
      <p:ext uri="{BB962C8B-B14F-4D97-AF65-F5344CB8AC3E}">
        <p14:creationId xmlns:p14="http://schemas.microsoft.com/office/powerpoint/2010/main" val="1317972557"/>
      </p:ext>
    </p:extLst>
  </p:cSld>
</p:sld>
</file>

<file path=ppt/slides/slide3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181859C-97E4-4112-8D6B-587955A8E03D}"/>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pe9lhphiu8s">
            <a:extLst xmlns:a="http://schemas.openxmlformats.org/drawingml/2006/main">
              <a:ext uri="{FF2B5EF4-FFF2-40B4-BE49-F238E27FC236}">
                <a16:creationId xmlns:a16="http://schemas.microsoft.com/office/drawing/2014/main" id="{5A248BDB-266B-41C1-9FFD-2EA6001FE266}"/>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d1cfunnclp">
            <a:extLst xmlns:a="http://schemas.openxmlformats.org/drawingml/2006/main">
              <a:ext uri="{FF2B5EF4-FFF2-40B4-BE49-F238E27FC236}">
                <a16:creationId xmlns:a16="http://schemas.microsoft.com/office/drawing/2014/main" id="{48A08988-ACC8-49E1-AA4D-F618888E47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 volumen de uso distribuye los costos fijos</a:t>
            </a:r>
          </a:p>
        </p:txBody>
      </p:sp>
      <p:sp>
        <p:nvSpPr>
          <p:cNvPr id="4" name="text-hus3adch05">
            <a:extLst xmlns:a="http://schemas.openxmlformats.org/drawingml/2006/main">
              <a:ext uri="{FF2B5EF4-FFF2-40B4-BE49-F238E27FC236}">
                <a16:creationId xmlns:a16="http://schemas.microsoft.com/office/drawing/2014/main" id="{7D4E50DA-16B4-4664-A96D-7ADAF6787F92}"/>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Un menor costo variable compensa la inversión solo con suficiente actividad.</a:t>
            </a:r>
          </a:p>
        </p:txBody>
      </p:sp>
      <p:sp>
        <p:nvSpPr>
          <p:cNvPr id="5" name="">
            <a:extLst xmlns:a="http://schemas.openxmlformats.org/drawingml/2006/main">
              <a:ext uri="{FF2B5EF4-FFF2-40B4-BE49-F238E27FC236}">
                <a16:creationId xmlns:a16="http://schemas.microsoft.com/office/drawing/2014/main" id="{DF82A93E-4126-40AF-9F60-CFD2FDA7067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2j1vxmuagi">
            <a:extLst xmlns:a="http://schemas.openxmlformats.org/drawingml/2006/main">
              <a:ext uri="{FF2B5EF4-FFF2-40B4-BE49-F238E27FC236}">
                <a16:creationId xmlns:a16="http://schemas.microsoft.com/office/drawing/2014/main" id="{FB647E59-C0A8-45B4-996D-A7465230F95E}"/>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3kgd23a3z16">
            <a:extLst xmlns:a="http://schemas.openxmlformats.org/drawingml/2006/main">
              <a:ext uri="{FF2B5EF4-FFF2-40B4-BE49-F238E27FC236}">
                <a16:creationId xmlns:a16="http://schemas.microsoft.com/office/drawing/2014/main" id="{85D8A392-F1F5-413A-A0D6-C11A68D2308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38</a:t>
            </a:r>
          </a:p>
        </p:txBody>
      </p:sp>
      <p:sp>
        <p:nvSpPr>
          <p:cNvPr id="8" name="text-ye2dih4l5u">
            <a:extLst xmlns:a="http://schemas.openxmlformats.org/drawingml/2006/main">
              <a:ext uri="{FF2B5EF4-FFF2-40B4-BE49-F238E27FC236}">
                <a16:creationId xmlns:a16="http://schemas.microsoft.com/office/drawing/2014/main" id="{A35B9358-DEC7-46F1-99CF-8651786E1B07}"/>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Q* = (Fₐ − Fᵦ) / (vᵦ − vₐ)</a:t>
            </a:r>
          </a:p>
        </p:txBody>
      </p:sp>
      <p:sp>
        <p:nvSpPr>
          <p:cNvPr id="9" name="">
            <a:extLst xmlns:a="http://schemas.openxmlformats.org/drawingml/2006/main">
              <a:ext uri="{FF2B5EF4-FFF2-40B4-BE49-F238E27FC236}">
                <a16:creationId xmlns:a16="http://schemas.microsoft.com/office/drawing/2014/main" id="{A33CAD7B-66B6-41CA-BEA7-BF5734E2DAC3}"/>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CEBB4A0-8892-4D2F-9B32-71B5504C152A}"/>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y571kok1qrr">
            <a:extLst xmlns:a="http://schemas.openxmlformats.org/drawingml/2006/main">
              <a:ext uri="{FF2B5EF4-FFF2-40B4-BE49-F238E27FC236}">
                <a16:creationId xmlns:a16="http://schemas.microsoft.com/office/drawing/2014/main" id="{029CE18F-47F3-40FA-A835-2895317CD73B}"/>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Alternativa A</a:t>
            </a:r>
          </a:p>
        </p:txBody>
      </p:sp>
      <p:sp>
        <p:nvSpPr>
          <p:cNvPr id="12" name="text-w42j8jwxruh">
            <a:extLst xmlns:a="http://schemas.openxmlformats.org/drawingml/2006/main">
              <a:ext uri="{FF2B5EF4-FFF2-40B4-BE49-F238E27FC236}">
                <a16:creationId xmlns:a16="http://schemas.microsoft.com/office/drawing/2014/main" id="{7CE39934-909E-4702-A012-BD93E60E3CA0}"/>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Costo = Fₐ + vₐQ.</a:t>
            </a:r>
          </a:p>
        </p:txBody>
      </p:sp>
      <p:sp>
        <p:nvSpPr>
          <p:cNvPr id="13" name="">
            <a:extLst xmlns:a="http://schemas.openxmlformats.org/drawingml/2006/main">
              <a:ext uri="{FF2B5EF4-FFF2-40B4-BE49-F238E27FC236}">
                <a16:creationId xmlns:a16="http://schemas.microsoft.com/office/drawing/2014/main" id="{6A64FDAE-B865-43D1-B645-1B9152E115C3}"/>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04898B-ED1E-4F0A-B393-CD2C9CDD0AA0}"/>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i4cwvzq1gvl">
            <a:extLst xmlns:a="http://schemas.openxmlformats.org/drawingml/2006/main">
              <a:ext uri="{FF2B5EF4-FFF2-40B4-BE49-F238E27FC236}">
                <a16:creationId xmlns:a16="http://schemas.microsoft.com/office/drawing/2014/main" id="{325C95A3-A33B-4975-AA7D-B38D4DE6239E}"/>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Alternativa B</a:t>
            </a:r>
          </a:p>
        </p:txBody>
      </p:sp>
      <p:sp>
        <p:nvSpPr>
          <p:cNvPr id="16" name="text-z1m5gmyb89f">
            <a:extLst xmlns:a="http://schemas.openxmlformats.org/drawingml/2006/main">
              <a:ext uri="{FF2B5EF4-FFF2-40B4-BE49-F238E27FC236}">
                <a16:creationId xmlns:a16="http://schemas.microsoft.com/office/drawing/2014/main" id="{C08FB596-36F6-409F-A844-4707990EC6B9}"/>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Costo = Fᵦ + vᵦQ.</a:t>
            </a:r>
          </a:p>
        </p:txBody>
      </p:sp>
      <p:sp>
        <p:nvSpPr>
          <p:cNvPr id="17" name="">
            <a:extLst xmlns:a="http://schemas.openxmlformats.org/drawingml/2006/main">
              <a:ext uri="{FF2B5EF4-FFF2-40B4-BE49-F238E27FC236}">
                <a16:creationId xmlns:a16="http://schemas.microsoft.com/office/drawing/2014/main" id="{BECA9723-CF8A-4F25-B9C4-011E8A83EC80}"/>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02141E3-FEA6-4D24-8097-9E60571001F3}"/>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fouuvvdfsop">
            <a:extLst xmlns:a="http://schemas.openxmlformats.org/drawingml/2006/main">
              <a:ext uri="{FF2B5EF4-FFF2-40B4-BE49-F238E27FC236}">
                <a16:creationId xmlns:a16="http://schemas.microsoft.com/office/drawing/2014/main" id="{CC687744-AE03-4287-8C07-06C5346A5A69}"/>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Cruce</a:t>
            </a:r>
          </a:p>
        </p:txBody>
      </p:sp>
      <p:sp>
        <p:nvSpPr>
          <p:cNvPr id="20" name="text-pys8mxfavdp">
            <a:extLst xmlns:a="http://schemas.openxmlformats.org/drawingml/2006/main">
              <a:ext uri="{FF2B5EF4-FFF2-40B4-BE49-F238E27FC236}">
                <a16:creationId xmlns:a16="http://schemas.microsoft.com/office/drawing/2014/main" id="{4B9FDCC2-3A7B-4FBE-B4EE-83E40124099A}"/>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Q* = (Fₐ − Fᵦ) / (vᵦ − vₐ).</a:t>
            </a:r>
          </a:p>
        </p:txBody>
      </p:sp>
    </p:spTree>
    <p:extLst>
      <p:ext uri="{BB962C8B-B14F-4D97-AF65-F5344CB8AC3E}">
        <p14:creationId xmlns:p14="http://schemas.microsoft.com/office/powerpoint/2010/main" val="155206945"/>
      </p:ext>
    </p:extLst>
  </p:cSld>
</p:sld>
</file>

<file path=ppt/slides/slide3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E83BA45-6BBE-4668-934F-3D15DE2842ED}"/>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tnvfam05zk">
            <a:extLst xmlns:a="http://schemas.openxmlformats.org/drawingml/2006/main">
              <a:ext uri="{FF2B5EF4-FFF2-40B4-BE49-F238E27FC236}">
                <a16:creationId xmlns:a16="http://schemas.microsoft.com/office/drawing/2014/main" id="{F5A342F0-5756-4C42-8119-0D927B4365F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o9kpw6ph1v">
            <a:extLst xmlns:a="http://schemas.openxmlformats.org/drawingml/2006/main">
              <a:ext uri="{FF2B5EF4-FFF2-40B4-BE49-F238E27FC236}">
                <a16:creationId xmlns:a16="http://schemas.microsoft.com/office/drawing/2014/main" id="{3F93F891-62E8-4369-807A-7AFE56F202D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automatización reorganiza tareas y habilidades</a:t>
            </a:r>
          </a:p>
        </p:txBody>
      </p:sp>
      <p:sp>
        <p:nvSpPr>
          <p:cNvPr id="4" name="text-456e4u9nwmp">
            <a:extLst xmlns:a="http://schemas.openxmlformats.org/drawingml/2006/main">
              <a:ext uri="{FF2B5EF4-FFF2-40B4-BE49-F238E27FC236}">
                <a16:creationId xmlns:a16="http://schemas.microsoft.com/office/drawing/2014/main" id="{E9AE0B3C-6339-442B-A54F-DCD8913506F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Sustitución y complementariedad pueden aparecer dentro de una misma ocupación.</a:t>
            </a:r>
          </a:p>
        </p:txBody>
      </p:sp>
      <p:sp>
        <p:nvSpPr>
          <p:cNvPr id="5" name="">
            <a:extLst xmlns:a="http://schemas.openxmlformats.org/drawingml/2006/main">
              <a:ext uri="{FF2B5EF4-FFF2-40B4-BE49-F238E27FC236}">
                <a16:creationId xmlns:a16="http://schemas.microsoft.com/office/drawing/2014/main" id="{EE323DA7-3258-4B5F-9219-C0414F6A9D4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vn303dl2nx">
            <a:extLst xmlns:a="http://schemas.openxmlformats.org/drawingml/2006/main">
              <a:ext uri="{FF2B5EF4-FFF2-40B4-BE49-F238E27FC236}">
                <a16:creationId xmlns:a16="http://schemas.microsoft.com/office/drawing/2014/main" id="{E0DFFC32-D611-4EB7-87BA-FD0123C33C6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uy00zpj7g8">
            <a:extLst xmlns:a="http://schemas.openxmlformats.org/drawingml/2006/main">
              <a:ext uri="{FF2B5EF4-FFF2-40B4-BE49-F238E27FC236}">
                <a16:creationId xmlns:a16="http://schemas.microsoft.com/office/drawing/2014/main" id="{3FB7E51E-A7E1-4401-AF47-9BE72EB2F252}"/>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39</a:t>
            </a:r>
          </a:p>
        </p:txBody>
      </p:sp>
      <p:sp>
        <p:nvSpPr>
          <p:cNvPr id="8" name="">
            <a:extLst xmlns:a="http://schemas.openxmlformats.org/drawingml/2006/main">
              <a:ext uri="{FF2B5EF4-FFF2-40B4-BE49-F238E27FC236}">
                <a16:creationId xmlns:a16="http://schemas.microsoft.com/office/drawing/2014/main" id="{E5404F75-A79F-4D1D-B639-EFEBB7C2A734}"/>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9C7964E-88DE-4E71-B143-5748E465D531}"/>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el2szpv74w">
            <a:extLst xmlns:a="http://schemas.openxmlformats.org/drawingml/2006/main">
              <a:ext uri="{FF2B5EF4-FFF2-40B4-BE49-F238E27FC236}">
                <a16:creationId xmlns:a16="http://schemas.microsoft.com/office/drawing/2014/main" id="{31CD5A01-6A35-413B-B3FC-7D776FE43F4A}"/>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Tareas que cambian</a:t>
            </a:r>
          </a:p>
        </p:txBody>
      </p:sp>
      <p:sp>
        <p:nvSpPr>
          <p:cNvPr id="11" name="text-x30n0a0djag">
            <a:extLst xmlns:a="http://schemas.openxmlformats.org/drawingml/2006/main">
              <a:ext uri="{FF2B5EF4-FFF2-40B4-BE49-F238E27FC236}">
                <a16:creationId xmlns:a16="http://schemas.microsoft.com/office/drawing/2014/main" id="{B8CC22B4-6AB2-490F-B224-B2DA6C850130}"/>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Traslado, clasificación o inspección repetitiva.</a:t>
            </a:r>
          </a:p>
        </p:txBody>
      </p:sp>
      <p:sp>
        <p:nvSpPr>
          <p:cNvPr id="12" name="">
            <a:extLst xmlns:a="http://schemas.openxmlformats.org/drawingml/2006/main">
              <a:ext uri="{FF2B5EF4-FFF2-40B4-BE49-F238E27FC236}">
                <a16:creationId xmlns:a16="http://schemas.microsoft.com/office/drawing/2014/main" id="{2A6DE317-E290-4B70-964E-9E67B2698015}"/>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547CA1E-8AA2-4FC0-871F-FA025BE5C65F}"/>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6gpwaqlbbyt">
            <a:extLst xmlns:a="http://schemas.openxmlformats.org/drawingml/2006/main">
              <a:ext uri="{FF2B5EF4-FFF2-40B4-BE49-F238E27FC236}">
                <a16:creationId xmlns:a16="http://schemas.microsoft.com/office/drawing/2014/main" id="{EEEFE399-34E6-4BD8-A8FB-DF8829372C59}"/>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Tareas complementarias</a:t>
            </a:r>
          </a:p>
        </p:txBody>
      </p:sp>
      <p:sp>
        <p:nvSpPr>
          <p:cNvPr id="15" name="text-eu6kd6xx2xr">
            <a:extLst xmlns:a="http://schemas.openxmlformats.org/drawingml/2006/main">
              <a:ext uri="{FF2B5EF4-FFF2-40B4-BE49-F238E27FC236}">
                <a16:creationId xmlns:a16="http://schemas.microsoft.com/office/drawing/2014/main" id="{58896672-2FBA-471E-A311-8743091802E6}"/>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Diagnóstico, integración, calidad y supervisión.</a:t>
            </a:r>
          </a:p>
        </p:txBody>
      </p:sp>
      <p:sp>
        <p:nvSpPr>
          <p:cNvPr id="16" name="">
            <a:extLst xmlns:a="http://schemas.openxmlformats.org/drawingml/2006/main">
              <a:ext uri="{FF2B5EF4-FFF2-40B4-BE49-F238E27FC236}">
                <a16:creationId xmlns:a16="http://schemas.microsoft.com/office/drawing/2014/main" id="{917822ED-FFAF-4278-AD68-E31243342A5F}"/>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DC3589D-3E02-4C38-BDAE-1ACBEA5F2FCB}"/>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kv6wlmwneb">
            <a:extLst xmlns:a="http://schemas.openxmlformats.org/drawingml/2006/main">
              <a:ext uri="{FF2B5EF4-FFF2-40B4-BE49-F238E27FC236}">
                <a16:creationId xmlns:a16="http://schemas.microsoft.com/office/drawing/2014/main" id="{FA990E14-7FB1-4239-B6ED-D587B48E357B}"/>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Condiciones</a:t>
            </a:r>
          </a:p>
        </p:txBody>
      </p:sp>
      <p:sp>
        <p:nvSpPr>
          <p:cNvPr id="19" name="text-rc2hah8b0rp">
            <a:extLst xmlns:a="http://schemas.openxmlformats.org/drawingml/2006/main">
              <a:ext uri="{FF2B5EF4-FFF2-40B4-BE49-F238E27FC236}">
                <a16:creationId xmlns:a16="http://schemas.microsoft.com/office/drawing/2014/main" id="{902AD4A7-192D-4064-8377-7EF5E079C27E}"/>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Capacitación, organización del trabajo y adopción.</a:t>
            </a:r>
          </a:p>
        </p:txBody>
      </p:sp>
    </p:spTree>
    <p:extLst>
      <p:ext uri="{BB962C8B-B14F-4D97-AF65-F5344CB8AC3E}">
        <p14:creationId xmlns:p14="http://schemas.microsoft.com/office/powerpoint/2010/main" val="1473925495"/>
      </p:ext>
    </p:extLst>
  </p:cSld>
</p:sld>
</file>

<file path=ppt/slides/slide40.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DA05B68-FA61-4EAC-998E-D9BC57EB6045}"/>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z0227y6b2rr">
            <a:extLst xmlns:a="http://schemas.openxmlformats.org/drawingml/2006/main">
              <a:ext uri="{FF2B5EF4-FFF2-40B4-BE49-F238E27FC236}">
                <a16:creationId xmlns:a16="http://schemas.microsoft.com/office/drawing/2014/main" id="{D5C76659-15EC-4DAD-89F5-9393985FAE9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mhctnwqkj4b">
            <a:extLst xmlns:a="http://schemas.openxmlformats.org/drawingml/2006/main">
              <a:ext uri="{FF2B5EF4-FFF2-40B4-BE49-F238E27FC236}">
                <a16:creationId xmlns:a16="http://schemas.microsoft.com/office/drawing/2014/main" id="{32E24F85-E14E-492B-8045-EC51059809D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“Nuevas fuerzas productivas” conecta innovación y organización</a:t>
            </a:r>
          </a:p>
        </p:txBody>
      </p:sp>
      <p:sp>
        <p:nvSpPr>
          <p:cNvPr id="4" name="text-m3l65tzo2vn">
            <a:extLst xmlns:a="http://schemas.openxmlformats.org/drawingml/2006/main">
              <a:ext uri="{FF2B5EF4-FFF2-40B4-BE49-F238E27FC236}">
                <a16:creationId xmlns:a16="http://schemas.microsoft.com/office/drawing/2014/main" id="{D1891E62-FF74-4E36-8D13-0D2F00F1A81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新质生产力 · xīn zhì shēngchǎn lì.</a:t>
            </a:r>
          </a:p>
        </p:txBody>
      </p:sp>
      <p:sp>
        <p:nvSpPr>
          <p:cNvPr id="5" name="">
            <a:extLst xmlns:a="http://schemas.openxmlformats.org/drawingml/2006/main">
              <a:ext uri="{FF2B5EF4-FFF2-40B4-BE49-F238E27FC236}">
                <a16:creationId xmlns:a16="http://schemas.microsoft.com/office/drawing/2014/main" id="{0D499E44-F662-453A-A042-E90B2741D81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p9cajrb1s8">
            <a:extLst xmlns:a="http://schemas.openxmlformats.org/drawingml/2006/main">
              <a:ext uri="{FF2B5EF4-FFF2-40B4-BE49-F238E27FC236}">
                <a16:creationId xmlns:a16="http://schemas.microsoft.com/office/drawing/2014/main" id="{CF31CB52-DBA4-42B4-9B38-42210572951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81qvjrpad6f">
            <a:extLst xmlns:a="http://schemas.openxmlformats.org/drawingml/2006/main">
              <a:ext uri="{FF2B5EF4-FFF2-40B4-BE49-F238E27FC236}">
                <a16:creationId xmlns:a16="http://schemas.microsoft.com/office/drawing/2014/main" id="{ED60BA05-3410-4731-926D-656AA6AD05D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40</a:t>
            </a:r>
          </a:p>
        </p:txBody>
      </p:sp>
      <p:sp>
        <p:nvSpPr>
          <p:cNvPr id="8" name="text-q1fobdutuyc">
            <a:extLst xmlns:a="http://schemas.openxmlformats.org/drawingml/2006/main">
              <a:ext uri="{FF2B5EF4-FFF2-40B4-BE49-F238E27FC236}">
                <a16:creationId xmlns:a16="http://schemas.microsoft.com/office/drawing/2014/main" id="{CD2D1463-83CD-4F27-AF96-DF99DFFE42A5}"/>
              </a:ext>
            </a:extLst>
          </p:cNvPr>
          <p:cNvSpPr>
            <a:spLocks xmlns:a="http://schemas.openxmlformats.org/drawingml/2006/main" noGrp="1"/>
          </p:cNvSpPr>
          <p:nvPr/>
        </p:nvSpPr>
        <p:spPr>
          <a:xfrm xmlns:a="http://schemas.openxmlformats.org/drawingml/2006/main">
            <a:off x="609600" y="2686050"/>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0">
                <a:solidFill>
                  <a:srgbClr val="62D6C9"/>
                </a:solidFill>
                <a:latin typeface="Noto Sans SC"/>
                <a:ea typeface="Noto Sans SC"/>
                <a:cs typeface="Noto Sans SC"/>
              </a:defRPr>
            </a:defPPr>
            <a:lvl1pPr algn="l">
              <a:defRPr sz="5700" b="0">
                <a:solidFill>
                  <a:srgbClr val="62D6C9"/>
                </a:solidFill>
                <a:latin typeface="Noto Sans SC"/>
                <a:ea typeface="Noto Sans SC"/>
                <a:cs typeface="Noto Sans SC"/>
              </a:defRPr>
            </a:lvl1pPr>
            <a:lvl2pPr algn="l">
              <a:defRPr sz="5700" b="0">
                <a:solidFill>
                  <a:srgbClr val="62D6C9"/>
                </a:solidFill>
                <a:latin typeface="Noto Sans SC"/>
                <a:ea typeface="Noto Sans SC"/>
                <a:cs typeface="Noto Sans SC"/>
              </a:defRPr>
            </a:lvl2pPr>
            <a:lvl3pPr algn="l">
              <a:defRPr sz="5700" b="0">
                <a:solidFill>
                  <a:srgbClr val="62D6C9"/>
                </a:solidFill>
                <a:latin typeface="Noto Sans SC"/>
                <a:ea typeface="Noto Sans SC"/>
                <a:cs typeface="Noto Sans SC"/>
              </a:defRPr>
            </a:lvl3pPr>
            <a:lvl4pPr algn="l">
              <a:defRPr sz="5700" b="0">
                <a:solidFill>
                  <a:srgbClr val="62D6C9"/>
                </a:solidFill>
                <a:latin typeface="Noto Sans SC"/>
                <a:ea typeface="Noto Sans SC"/>
                <a:cs typeface="Noto Sans SC"/>
              </a:defRPr>
            </a:lvl4pPr>
            <a:lvl5pPr algn="l">
              <a:defRPr sz="5700" b="0">
                <a:solidFill>
                  <a:srgbClr val="62D6C9"/>
                </a:solidFill>
                <a:latin typeface="Noto Sans SC"/>
                <a:ea typeface="Noto Sans SC"/>
                <a:cs typeface="Noto Sans SC"/>
              </a:defRPr>
            </a:lvl5pPr>
            <a:lvl6pPr algn="l">
              <a:defRPr sz="5700" b="0">
                <a:solidFill>
                  <a:srgbClr val="62D6C9"/>
                </a:solidFill>
                <a:latin typeface="Noto Sans SC"/>
                <a:ea typeface="Noto Sans SC"/>
                <a:cs typeface="Noto Sans SC"/>
              </a:defRPr>
            </a:lvl6pPr>
            <a:lvl7pPr algn="l">
              <a:defRPr sz="5700" b="0">
                <a:solidFill>
                  <a:srgbClr val="62D6C9"/>
                </a:solidFill>
                <a:latin typeface="Noto Sans SC"/>
                <a:ea typeface="Noto Sans SC"/>
                <a:cs typeface="Noto Sans SC"/>
              </a:defRPr>
            </a:lvl7pPr>
            <a:lvl8pPr algn="l">
              <a:defRPr sz="5700" b="0">
                <a:solidFill>
                  <a:srgbClr val="62D6C9"/>
                </a:solidFill>
                <a:latin typeface="Noto Sans SC"/>
                <a:ea typeface="Noto Sans SC"/>
                <a:cs typeface="Noto Sans SC"/>
              </a:defRPr>
            </a:lvl8pPr>
            <a:lvl9pPr algn="l">
              <a:defRPr sz="5700" b="0">
                <a:solidFill>
                  <a:srgbClr val="62D6C9"/>
                </a:solidFill>
                <a:latin typeface="Noto Sans SC"/>
                <a:ea typeface="Noto Sans SC"/>
                <a:cs typeface="Noto Sans SC"/>
              </a:defRPr>
            </a:lvl9pPr>
          </a:lstStyle>
          <a:p xmlns:a="http://schemas.openxmlformats.org/drawingml/2006/main">
            <a:pPr algn="l">
              <a:lnSpc>
                <a:spcPct val="112000"/>
              </a:lnSpc>
              <a:buNone/>
              <a:defRPr sz="5700" b="0">
                <a:solidFill>
                  <a:srgbClr val="62D6C9"/>
                </a:solidFill>
                <a:latin typeface="Noto Sans SC"/>
                <a:ea typeface="Noto Sans SC"/>
                <a:cs typeface="Noto Sans SC"/>
              </a:defRPr>
            </a:pPr>
            <a:r>
              <a:rPr sz="5700" b="0">
                <a:solidFill>
                  <a:srgbClr val="62D6C9"/>
                </a:solidFill>
                <a:latin typeface="Noto Sans SC"/>
                <a:ea typeface="Noto Sans SC"/>
                <a:cs typeface="Noto Sans SC"/>
              </a:rPr>
              <a:t>新质生产力</a:t>
            </a:r>
          </a:p>
        </p:txBody>
      </p:sp>
      <p:sp>
        <p:nvSpPr>
          <p:cNvPr id="9" name="text-9ekdue2zofn">
            <a:extLst xmlns:a="http://schemas.openxmlformats.org/drawingml/2006/main">
              <a:ext uri="{FF2B5EF4-FFF2-40B4-BE49-F238E27FC236}">
                <a16:creationId xmlns:a16="http://schemas.microsoft.com/office/drawing/2014/main" id="{3640FAE3-3192-4ED1-B656-179FD61758B6}"/>
              </a:ext>
            </a:extLst>
          </p:cNvPr>
          <p:cNvSpPr>
            <a:spLocks xmlns:a="http://schemas.openxmlformats.org/drawingml/2006/main" noGrp="1"/>
          </p:cNvSpPr>
          <p:nvPr/>
        </p:nvSpPr>
        <p:spPr>
          <a:xfrm xmlns:a="http://schemas.openxmlformats.org/drawingml/2006/main">
            <a:off x="609600" y="398145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E5B64B"/>
                </a:solidFill>
                <a:latin typeface="DejaVu Sans"/>
                <a:ea typeface="DejaVu Sans"/>
                <a:cs typeface="DejaVu Sans"/>
              </a:defRPr>
            </a:defPPr>
            <a:lvl1pPr algn="l">
              <a:defRPr sz="2025" b="0">
                <a:solidFill>
                  <a:srgbClr val="E5B64B"/>
                </a:solidFill>
                <a:latin typeface="DejaVu Sans"/>
                <a:ea typeface="DejaVu Sans"/>
                <a:cs typeface="DejaVu Sans"/>
              </a:defRPr>
            </a:lvl1pPr>
            <a:lvl2pPr algn="l">
              <a:defRPr sz="2025" b="0">
                <a:solidFill>
                  <a:srgbClr val="E5B64B"/>
                </a:solidFill>
                <a:latin typeface="DejaVu Sans"/>
                <a:ea typeface="DejaVu Sans"/>
                <a:cs typeface="DejaVu Sans"/>
              </a:defRPr>
            </a:lvl2pPr>
            <a:lvl3pPr algn="l">
              <a:defRPr sz="2025" b="0">
                <a:solidFill>
                  <a:srgbClr val="E5B64B"/>
                </a:solidFill>
                <a:latin typeface="DejaVu Sans"/>
                <a:ea typeface="DejaVu Sans"/>
                <a:cs typeface="DejaVu Sans"/>
              </a:defRPr>
            </a:lvl3pPr>
            <a:lvl4pPr algn="l">
              <a:defRPr sz="2025" b="0">
                <a:solidFill>
                  <a:srgbClr val="E5B64B"/>
                </a:solidFill>
                <a:latin typeface="DejaVu Sans"/>
                <a:ea typeface="DejaVu Sans"/>
                <a:cs typeface="DejaVu Sans"/>
              </a:defRPr>
            </a:lvl4pPr>
            <a:lvl5pPr algn="l">
              <a:defRPr sz="2025" b="0">
                <a:solidFill>
                  <a:srgbClr val="E5B64B"/>
                </a:solidFill>
                <a:latin typeface="DejaVu Sans"/>
                <a:ea typeface="DejaVu Sans"/>
                <a:cs typeface="DejaVu Sans"/>
              </a:defRPr>
            </a:lvl5pPr>
            <a:lvl6pPr algn="l">
              <a:defRPr sz="2025" b="0">
                <a:solidFill>
                  <a:srgbClr val="E5B64B"/>
                </a:solidFill>
                <a:latin typeface="DejaVu Sans"/>
                <a:ea typeface="DejaVu Sans"/>
                <a:cs typeface="DejaVu Sans"/>
              </a:defRPr>
            </a:lvl6pPr>
            <a:lvl7pPr algn="l">
              <a:defRPr sz="2025" b="0">
                <a:solidFill>
                  <a:srgbClr val="E5B64B"/>
                </a:solidFill>
                <a:latin typeface="DejaVu Sans"/>
                <a:ea typeface="DejaVu Sans"/>
                <a:cs typeface="DejaVu Sans"/>
              </a:defRPr>
            </a:lvl7pPr>
            <a:lvl8pPr algn="l">
              <a:defRPr sz="2025" b="0">
                <a:solidFill>
                  <a:srgbClr val="E5B64B"/>
                </a:solidFill>
                <a:latin typeface="DejaVu Sans"/>
                <a:ea typeface="DejaVu Sans"/>
                <a:cs typeface="DejaVu Sans"/>
              </a:defRPr>
            </a:lvl8pPr>
            <a:lvl9pPr algn="l">
              <a:defRPr sz="2025" b="0">
                <a:solidFill>
                  <a:srgbClr val="E5B64B"/>
                </a:solidFill>
                <a:latin typeface="DejaVu Sans"/>
                <a:ea typeface="DejaVu Sans"/>
                <a:cs typeface="DejaVu Sans"/>
              </a:defRPr>
            </a:lvl9pPr>
          </a:lstStyle>
          <a:p xmlns:a="http://schemas.openxmlformats.org/drawingml/2006/main">
            <a:pPr algn="l">
              <a:lnSpc>
                <a:spcPct val="112000"/>
              </a:lnSpc>
              <a:buNone/>
              <a:defRPr sz="2025" b="0">
                <a:solidFill>
                  <a:srgbClr val="E5B64B"/>
                </a:solidFill>
                <a:latin typeface="DejaVu Sans"/>
                <a:ea typeface="DejaVu Sans"/>
                <a:cs typeface="DejaVu Sans"/>
              </a:defRPr>
            </a:pPr>
            <a:r>
              <a:rPr sz="2025" b="0">
                <a:solidFill>
                  <a:srgbClr val="E5B64B"/>
                </a:solidFill>
                <a:latin typeface="DejaVu Sans"/>
                <a:ea typeface="DejaVu Sans"/>
                <a:cs typeface="DejaVu Sans"/>
              </a:rPr>
              <a:t>xīn zhì shēngchǎn lì</a:t>
            </a:r>
          </a:p>
        </p:txBody>
      </p:sp>
      <p:sp>
        <p:nvSpPr>
          <p:cNvPr id="10" name="text-vx29u5y5o9q">
            <a:extLst xmlns:a="http://schemas.openxmlformats.org/drawingml/2006/main">
              <a:ext uri="{FF2B5EF4-FFF2-40B4-BE49-F238E27FC236}">
                <a16:creationId xmlns:a16="http://schemas.microsoft.com/office/drawing/2014/main" id="{313FD9EA-5550-4099-9231-C96B160D2BD2}"/>
              </a:ext>
            </a:extLst>
          </p:cNvPr>
          <p:cNvSpPr>
            <a:spLocks xmlns:a="http://schemas.openxmlformats.org/drawingml/2006/main" noGrp="1"/>
          </p:cNvSpPr>
          <p:nvPr/>
        </p:nvSpPr>
        <p:spPr>
          <a:xfrm xmlns:a="http://schemas.openxmlformats.org/drawingml/2006/main">
            <a:off x="6096000" y="260032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Tecnología</a:t>
            </a:r>
          </a:p>
        </p:txBody>
      </p:sp>
      <p:sp>
        <p:nvSpPr>
          <p:cNvPr id="11" name="text-l134wba0s">
            <a:extLst xmlns:a="http://schemas.openxmlformats.org/drawingml/2006/main">
              <a:ext uri="{FF2B5EF4-FFF2-40B4-BE49-F238E27FC236}">
                <a16:creationId xmlns:a16="http://schemas.microsoft.com/office/drawing/2014/main" id="{226A8C76-9E1C-4537-9E50-4BF3A44B2A98}"/>
              </a:ext>
            </a:extLst>
          </p:cNvPr>
          <p:cNvSpPr>
            <a:spLocks xmlns:a="http://schemas.openxmlformats.org/drawingml/2006/main" noGrp="1"/>
          </p:cNvSpPr>
          <p:nvPr/>
        </p:nvSpPr>
        <p:spPr>
          <a:xfrm xmlns:a="http://schemas.openxmlformats.org/drawingml/2006/main">
            <a:off x="6096000" y="300990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Investigación y mejoras de procesos.</a:t>
            </a:r>
          </a:p>
        </p:txBody>
      </p:sp>
      <p:sp>
        <p:nvSpPr>
          <p:cNvPr id="12" name="text-awtzgljk0gg">
            <a:extLst xmlns:a="http://schemas.openxmlformats.org/drawingml/2006/main">
              <a:ext uri="{FF2B5EF4-FFF2-40B4-BE49-F238E27FC236}">
                <a16:creationId xmlns:a16="http://schemas.microsoft.com/office/drawing/2014/main" id="{EF304C34-ACD3-4732-919E-39606EA9DA12}"/>
              </a:ext>
            </a:extLst>
          </p:cNvPr>
          <p:cNvSpPr>
            <a:spLocks xmlns:a="http://schemas.openxmlformats.org/drawingml/2006/main" noGrp="1"/>
          </p:cNvSpPr>
          <p:nvPr/>
        </p:nvSpPr>
        <p:spPr>
          <a:xfrm xmlns:a="http://schemas.openxmlformats.org/drawingml/2006/main">
            <a:off x="6096000" y="36957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Capacidades</a:t>
            </a:r>
          </a:p>
        </p:txBody>
      </p:sp>
      <p:sp>
        <p:nvSpPr>
          <p:cNvPr id="13" name="text-sg1saokpvs">
            <a:extLst xmlns:a="http://schemas.openxmlformats.org/drawingml/2006/main">
              <a:ext uri="{FF2B5EF4-FFF2-40B4-BE49-F238E27FC236}">
                <a16:creationId xmlns:a16="http://schemas.microsoft.com/office/drawing/2014/main" id="{7E932803-273E-4522-8BB8-9FD7C201D37F}"/>
              </a:ext>
            </a:extLst>
          </p:cNvPr>
          <p:cNvSpPr>
            <a:spLocks xmlns:a="http://schemas.openxmlformats.org/drawingml/2006/main" noGrp="1"/>
          </p:cNvSpPr>
          <p:nvPr/>
        </p:nvSpPr>
        <p:spPr>
          <a:xfrm xmlns:a="http://schemas.openxmlformats.org/drawingml/2006/main">
            <a:off x="6096000" y="4105275"/>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Talento, proveedores e infraestructura.</a:t>
            </a:r>
          </a:p>
        </p:txBody>
      </p:sp>
      <p:sp>
        <p:nvSpPr>
          <p:cNvPr id="14" name="text-cikyehxgugl">
            <a:extLst xmlns:a="http://schemas.openxmlformats.org/drawingml/2006/main">
              <a:ext uri="{FF2B5EF4-FFF2-40B4-BE49-F238E27FC236}">
                <a16:creationId xmlns:a16="http://schemas.microsoft.com/office/drawing/2014/main" id="{63C6A8CB-3EC4-4885-86F8-7154EC0C0E73}"/>
              </a:ext>
            </a:extLst>
          </p:cNvPr>
          <p:cNvSpPr>
            <a:spLocks xmlns:a="http://schemas.openxmlformats.org/drawingml/2006/main" noGrp="1"/>
          </p:cNvSpPr>
          <p:nvPr/>
        </p:nvSpPr>
        <p:spPr>
          <a:xfrm xmlns:a="http://schemas.openxmlformats.org/drawingml/2006/main">
            <a:off x="6096000" y="479107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Resultados</a:t>
            </a:r>
          </a:p>
        </p:txBody>
      </p:sp>
      <p:sp>
        <p:nvSpPr>
          <p:cNvPr id="15" name="text-7srwqu5uez5">
            <a:extLst xmlns:a="http://schemas.openxmlformats.org/drawingml/2006/main">
              <a:ext uri="{FF2B5EF4-FFF2-40B4-BE49-F238E27FC236}">
                <a16:creationId xmlns:a16="http://schemas.microsoft.com/office/drawing/2014/main" id="{96B0522D-6099-423F-B927-EE888AFDDD7E}"/>
              </a:ext>
            </a:extLst>
          </p:cNvPr>
          <p:cNvSpPr>
            <a:spLocks xmlns:a="http://schemas.openxmlformats.org/drawingml/2006/main" noGrp="1"/>
          </p:cNvSpPr>
          <p:nvPr/>
        </p:nvSpPr>
        <p:spPr>
          <a:xfrm xmlns:a="http://schemas.openxmlformats.org/drawingml/2006/main">
            <a:off x="6096000" y="520065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Calidad y productividad que puedan observarse.</a:t>
            </a:r>
          </a:p>
        </p:txBody>
      </p:sp>
    </p:spTree>
    <p:extLst>
      <p:ext uri="{BB962C8B-B14F-4D97-AF65-F5344CB8AC3E}">
        <p14:creationId xmlns:p14="http://schemas.microsoft.com/office/powerpoint/2010/main" val="2025171622"/>
      </p:ext>
    </p:extLst>
  </p:cSld>
</p:sld>
</file>

<file path=ppt/slides/slide4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17FF762-3B10-45C7-AA92-523DC2BC8A9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70w2whiwurm">
            <a:extLst xmlns:a="http://schemas.openxmlformats.org/drawingml/2006/main">
              <a:ext uri="{FF2B5EF4-FFF2-40B4-BE49-F238E27FC236}">
                <a16:creationId xmlns:a16="http://schemas.microsoft.com/office/drawing/2014/main" id="{E27E05BC-D455-490A-8D0A-33FA6C08896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6vgdymedbpn">
            <a:extLst xmlns:a="http://schemas.openxmlformats.org/drawingml/2006/main">
              <a:ext uri="{FF2B5EF4-FFF2-40B4-BE49-F238E27FC236}">
                <a16:creationId xmlns:a16="http://schemas.microsoft.com/office/drawing/2014/main" id="{C329BEC0-09DC-42A8-8A38-23D81D10DB3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Los cuellos de botella aparecen en todo el sistema</a:t>
            </a:r>
          </a:p>
        </p:txBody>
      </p:sp>
      <p:sp>
        <p:nvSpPr>
          <p:cNvPr id="4" name="text-xb7231xqqtn">
            <a:extLst xmlns:a="http://schemas.openxmlformats.org/drawingml/2006/main">
              <a:ext uri="{FF2B5EF4-FFF2-40B4-BE49-F238E27FC236}">
                <a16:creationId xmlns:a16="http://schemas.microsoft.com/office/drawing/2014/main" id="{44D95548-D2BF-4401-B28C-43544534E02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La eficiencia de un componente depende de sus complementos.</a:t>
            </a:r>
          </a:p>
        </p:txBody>
      </p:sp>
      <p:sp>
        <p:nvSpPr>
          <p:cNvPr id="5" name="">
            <a:extLst xmlns:a="http://schemas.openxmlformats.org/drawingml/2006/main">
              <a:ext uri="{FF2B5EF4-FFF2-40B4-BE49-F238E27FC236}">
                <a16:creationId xmlns:a16="http://schemas.microsoft.com/office/drawing/2014/main" id="{F6F9C794-5C09-481C-90E5-4252E593D34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x1tfmsm1zss">
            <a:extLst xmlns:a="http://schemas.openxmlformats.org/drawingml/2006/main">
              <a:ext uri="{FF2B5EF4-FFF2-40B4-BE49-F238E27FC236}">
                <a16:creationId xmlns:a16="http://schemas.microsoft.com/office/drawing/2014/main" id="{34CD6BB5-1B0E-464B-AE13-22D5B87B8BA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okv1cyz8wa">
            <a:extLst xmlns:a="http://schemas.openxmlformats.org/drawingml/2006/main">
              <a:ext uri="{FF2B5EF4-FFF2-40B4-BE49-F238E27FC236}">
                <a16:creationId xmlns:a16="http://schemas.microsoft.com/office/drawing/2014/main" id="{36D21F2F-8B27-40D5-9D10-39378572D39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41</a:t>
            </a:r>
          </a:p>
        </p:txBody>
      </p:sp>
      <p:sp>
        <p:nvSpPr>
          <p:cNvPr id="8" name="">
            <a:extLst xmlns:a="http://schemas.openxmlformats.org/drawingml/2006/main">
              <a:ext uri="{FF2B5EF4-FFF2-40B4-BE49-F238E27FC236}">
                <a16:creationId xmlns:a16="http://schemas.microsoft.com/office/drawing/2014/main" id="{843E3459-A554-46AF-8084-C003CE5DB5DA}"/>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D2AD98C-FA2B-4828-A270-FF5232AF2936}"/>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5sgq7c3s567">
            <a:extLst xmlns:a="http://schemas.openxmlformats.org/drawingml/2006/main">
              <a:ext uri="{FF2B5EF4-FFF2-40B4-BE49-F238E27FC236}">
                <a16:creationId xmlns:a16="http://schemas.microsoft.com/office/drawing/2014/main" id="{C9352DFF-6D94-4BDC-A51F-DBABDD31CA0A}"/>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Cómputo</a:t>
            </a:r>
          </a:p>
        </p:txBody>
      </p:sp>
      <p:sp>
        <p:nvSpPr>
          <p:cNvPr id="11" name="text-6ivenh4oiqe">
            <a:extLst xmlns:a="http://schemas.openxmlformats.org/drawingml/2006/main">
              <a:ext uri="{FF2B5EF4-FFF2-40B4-BE49-F238E27FC236}">
                <a16:creationId xmlns:a16="http://schemas.microsoft.com/office/drawing/2014/main" id="{0AF5663C-C03E-464F-AE2D-3023CA353372}"/>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Chips, memoria e interconexión.</a:t>
            </a:r>
          </a:p>
        </p:txBody>
      </p:sp>
      <p:sp>
        <p:nvSpPr>
          <p:cNvPr id="12" name="">
            <a:extLst xmlns:a="http://schemas.openxmlformats.org/drawingml/2006/main">
              <a:ext uri="{FF2B5EF4-FFF2-40B4-BE49-F238E27FC236}">
                <a16:creationId xmlns:a16="http://schemas.microsoft.com/office/drawing/2014/main" id="{33C3315B-EC9D-47A0-B605-DCEA67B40F02}"/>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B54F714-12BD-4A0C-90D3-F5708FF51984}"/>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ndskzzzpcel">
            <a:extLst xmlns:a="http://schemas.openxmlformats.org/drawingml/2006/main">
              <a:ext uri="{FF2B5EF4-FFF2-40B4-BE49-F238E27FC236}">
                <a16:creationId xmlns:a16="http://schemas.microsoft.com/office/drawing/2014/main" id="{4209A19B-B88E-4EB9-9AEC-25A03ED9CDA9}"/>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Ingeniería</a:t>
            </a:r>
          </a:p>
        </p:txBody>
      </p:sp>
      <p:sp>
        <p:nvSpPr>
          <p:cNvPr id="15" name="text-knl5cdkox4">
            <a:extLst xmlns:a="http://schemas.openxmlformats.org/drawingml/2006/main">
              <a:ext uri="{FF2B5EF4-FFF2-40B4-BE49-F238E27FC236}">
                <a16:creationId xmlns:a16="http://schemas.microsoft.com/office/drawing/2014/main" id="{453DF075-FB93-4C63-B7D0-623299074B64}"/>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Actuadores, precisión, sensores y calibración.</a:t>
            </a:r>
          </a:p>
        </p:txBody>
      </p:sp>
      <p:sp>
        <p:nvSpPr>
          <p:cNvPr id="16" name="">
            <a:extLst xmlns:a="http://schemas.openxmlformats.org/drawingml/2006/main">
              <a:ext uri="{FF2B5EF4-FFF2-40B4-BE49-F238E27FC236}">
                <a16:creationId xmlns:a16="http://schemas.microsoft.com/office/drawing/2014/main" id="{92E300EF-1B03-4F07-88C4-EE81B48B69EC}"/>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0096BE6-134A-40E4-80A6-817355E4B420}"/>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jbsbedhs1ip">
            <a:extLst xmlns:a="http://schemas.openxmlformats.org/drawingml/2006/main">
              <a:ext uri="{FF2B5EF4-FFF2-40B4-BE49-F238E27FC236}">
                <a16:creationId xmlns:a16="http://schemas.microsoft.com/office/drawing/2014/main" id="{5BA5EF16-8226-468C-8CEB-0E49CE83FB2C}"/>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Operación</a:t>
            </a:r>
          </a:p>
        </p:txBody>
      </p:sp>
      <p:sp>
        <p:nvSpPr>
          <p:cNvPr id="19" name="text-ma9q0772gi">
            <a:extLst xmlns:a="http://schemas.openxmlformats.org/drawingml/2006/main">
              <a:ext uri="{FF2B5EF4-FFF2-40B4-BE49-F238E27FC236}">
                <a16:creationId xmlns:a16="http://schemas.microsoft.com/office/drawing/2014/main" id="{FEEC2C32-4780-48C9-8FD3-60624CBC9686}"/>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Energía, mantenimiento y soporte local.</a:t>
            </a:r>
          </a:p>
        </p:txBody>
      </p:sp>
      <p:sp>
        <p:nvSpPr>
          <p:cNvPr id="20" name="">
            <a:extLst xmlns:a="http://schemas.openxmlformats.org/drawingml/2006/main">
              <a:ext uri="{FF2B5EF4-FFF2-40B4-BE49-F238E27FC236}">
                <a16:creationId xmlns:a16="http://schemas.microsoft.com/office/drawing/2014/main" id="{8067AF09-AC59-4F3C-B43D-A288AF53FE3E}"/>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6DA6581-E801-4D6D-BDCE-2BFCA82DA01D}"/>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oh0njxsr1io">
            <a:extLst xmlns:a="http://schemas.openxmlformats.org/drawingml/2006/main">
              <a:ext uri="{FF2B5EF4-FFF2-40B4-BE49-F238E27FC236}">
                <a16:creationId xmlns:a16="http://schemas.microsoft.com/office/drawing/2014/main" id="{182D8B9B-2A61-4944-A202-50FA46EA2D15}"/>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Mercado</a:t>
            </a:r>
          </a:p>
        </p:txBody>
      </p:sp>
      <p:sp>
        <p:nvSpPr>
          <p:cNvPr id="23" name="text-zkfm07txeyp">
            <a:extLst xmlns:a="http://schemas.openxmlformats.org/drawingml/2006/main">
              <a:ext uri="{FF2B5EF4-FFF2-40B4-BE49-F238E27FC236}">
                <a16:creationId xmlns:a16="http://schemas.microsoft.com/office/drawing/2014/main" id="{4EBD66B6-689F-43F6-8028-7D2AB6DBB1B0}"/>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Demanda, integración y capacidad de pago.</a:t>
            </a:r>
          </a:p>
        </p:txBody>
      </p:sp>
    </p:spTree>
    <p:extLst>
      <p:ext uri="{BB962C8B-B14F-4D97-AF65-F5344CB8AC3E}">
        <p14:creationId xmlns:p14="http://schemas.microsoft.com/office/powerpoint/2010/main" val="521528656"/>
      </p:ext>
    </p:extLst>
  </p:cSld>
</p:sld>
</file>

<file path=ppt/slides/slide4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C52C1E8-FF0E-416C-BA65-0A2B804858A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1zctmlxrin2j">
            <a:extLst xmlns:a="http://schemas.openxmlformats.org/drawingml/2006/main">
              <a:ext uri="{FF2B5EF4-FFF2-40B4-BE49-F238E27FC236}">
                <a16:creationId xmlns:a16="http://schemas.microsoft.com/office/drawing/2014/main" id="{B1D4B9DE-23E7-472B-820C-DE9BC151152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119urfy7wz1">
            <a:extLst xmlns:a="http://schemas.openxmlformats.org/drawingml/2006/main">
              <a:ext uri="{FF2B5EF4-FFF2-40B4-BE49-F238E27FC236}">
                <a16:creationId xmlns:a16="http://schemas.microsoft.com/office/drawing/2014/main" id="{DE414A24-C884-44DE-9E0D-BFEB40742B6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Argentina puede aportar servicios que hagan utilizable la tecnología</a:t>
            </a:r>
          </a:p>
        </p:txBody>
      </p:sp>
      <p:sp>
        <p:nvSpPr>
          <p:cNvPr id="4" name="text-j4x9iqzj1qe">
            <a:extLst xmlns:a="http://schemas.openxmlformats.org/drawingml/2006/main">
              <a:ext uri="{FF2B5EF4-FFF2-40B4-BE49-F238E27FC236}">
                <a16:creationId xmlns:a16="http://schemas.microsoft.com/office/drawing/2014/main" id="{6F35594D-BA14-4197-A18E-15B3C8EC4C8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Oportunidades a evaluar, no una previsión de demanda asegurada.</a:t>
            </a:r>
          </a:p>
        </p:txBody>
      </p:sp>
      <p:sp>
        <p:nvSpPr>
          <p:cNvPr id="5" name="">
            <a:extLst xmlns:a="http://schemas.openxmlformats.org/drawingml/2006/main">
              <a:ext uri="{FF2B5EF4-FFF2-40B4-BE49-F238E27FC236}">
                <a16:creationId xmlns:a16="http://schemas.microsoft.com/office/drawing/2014/main" id="{4E3D9B90-8592-4B88-9F05-339B74F5312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1hmrwfkcs6i">
            <a:extLst xmlns:a="http://schemas.openxmlformats.org/drawingml/2006/main">
              <a:ext uri="{FF2B5EF4-FFF2-40B4-BE49-F238E27FC236}">
                <a16:creationId xmlns:a16="http://schemas.microsoft.com/office/drawing/2014/main" id="{CF17EEA0-7181-42E6-B8B2-CEAD94EA8B5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ha8pjjessgp">
            <a:extLst xmlns:a="http://schemas.openxmlformats.org/drawingml/2006/main">
              <a:ext uri="{FF2B5EF4-FFF2-40B4-BE49-F238E27FC236}">
                <a16:creationId xmlns:a16="http://schemas.microsoft.com/office/drawing/2014/main" id="{2E8F3C56-6F33-4897-BA34-63DF3F7A862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42</a:t>
            </a:r>
          </a:p>
        </p:txBody>
      </p:sp>
      <p:sp>
        <p:nvSpPr>
          <p:cNvPr id="8" name="">
            <a:extLst xmlns:a="http://schemas.openxmlformats.org/drawingml/2006/main">
              <a:ext uri="{FF2B5EF4-FFF2-40B4-BE49-F238E27FC236}">
                <a16:creationId xmlns:a16="http://schemas.microsoft.com/office/drawing/2014/main" id="{CC6DB85C-4EB3-4F18-875D-E5814E3E5A3C}"/>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1901A6A-54BC-4697-B612-6EC31388C54B}"/>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77mu611nzuq">
            <a:extLst xmlns:a="http://schemas.openxmlformats.org/drawingml/2006/main">
              <a:ext uri="{FF2B5EF4-FFF2-40B4-BE49-F238E27FC236}">
                <a16:creationId xmlns:a16="http://schemas.microsoft.com/office/drawing/2014/main" id="{C60D2D7D-2B47-44A6-8371-9E765EBB4433}"/>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Evaluación</a:t>
            </a:r>
          </a:p>
        </p:txBody>
      </p:sp>
      <p:sp>
        <p:nvSpPr>
          <p:cNvPr id="11" name="text-1vdjqmqn2b7">
            <a:extLst xmlns:a="http://schemas.openxmlformats.org/drawingml/2006/main">
              <a:ext uri="{FF2B5EF4-FFF2-40B4-BE49-F238E27FC236}">
                <a16:creationId xmlns:a16="http://schemas.microsoft.com/office/drawing/2014/main" id="{F6FFE676-70D1-4938-8CCD-E236274618A3}"/>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Pruebas comparables de modelos y tareas.</a:t>
            </a:r>
          </a:p>
        </p:txBody>
      </p:sp>
      <p:sp>
        <p:nvSpPr>
          <p:cNvPr id="12" name="">
            <a:extLst xmlns:a="http://schemas.openxmlformats.org/drawingml/2006/main">
              <a:ext uri="{FF2B5EF4-FFF2-40B4-BE49-F238E27FC236}">
                <a16:creationId xmlns:a16="http://schemas.microsoft.com/office/drawing/2014/main" id="{B6B5BA85-5E2C-47CC-A962-6E181451F21D}"/>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EBB27B-9C17-42F9-B5C8-3686603C9720}"/>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otj7m4uxae">
            <a:extLst xmlns:a="http://schemas.openxmlformats.org/drawingml/2006/main">
              <a:ext uri="{FF2B5EF4-FFF2-40B4-BE49-F238E27FC236}">
                <a16:creationId xmlns:a16="http://schemas.microsoft.com/office/drawing/2014/main" id="{5FAA08A5-BDF0-460A-ABBC-AB97D30C1553}"/>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Integración</a:t>
            </a:r>
          </a:p>
        </p:txBody>
      </p:sp>
      <p:sp>
        <p:nvSpPr>
          <p:cNvPr id="15" name="text-k94utzin5b">
            <a:extLst xmlns:a="http://schemas.openxmlformats.org/drawingml/2006/main">
              <a:ext uri="{FF2B5EF4-FFF2-40B4-BE49-F238E27FC236}">
                <a16:creationId xmlns:a16="http://schemas.microsoft.com/office/drawing/2014/main" id="{A90CE0D2-0780-4CE9-9B29-0243CD623A58}"/>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Conexión con sistemas y procesos del cliente.</a:t>
            </a:r>
          </a:p>
        </p:txBody>
      </p:sp>
      <p:sp>
        <p:nvSpPr>
          <p:cNvPr id="16" name="">
            <a:extLst xmlns:a="http://schemas.openxmlformats.org/drawingml/2006/main">
              <a:ext uri="{FF2B5EF4-FFF2-40B4-BE49-F238E27FC236}">
                <a16:creationId xmlns:a16="http://schemas.microsoft.com/office/drawing/2014/main" id="{7C9F4ED0-55CF-40A8-8F2A-97A813119FA8}"/>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ACBB9B-8BB4-41C6-8FAB-3D35C955385A}"/>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4m9x906eshv">
            <a:extLst xmlns:a="http://schemas.openxmlformats.org/drawingml/2006/main">
              <a:ext uri="{FF2B5EF4-FFF2-40B4-BE49-F238E27FC236}">
                <a16:creationId xmlns:a16="http://schemas.microsoft.com/office/drawing/2014/main" id="{92B27578-CA81-44D9-9D3F-62BBE8CDCB4D}"/>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Datos</a:t>
            </a:r>
          </a:p>
        </p:txBody>
      </p:sp>
      <p:sp>
        <p:nvSpPr>
          <p:cNvPr id="19" name="text-bxx303z1f4">
            <a:extLst xmlns:a="http://schemas.openxmlformats.org/drawingml/2006/main">
              <a:ext uri="{FF2B5EF4-FFF2-40B4-BE49-F238E27FC236}">
                <a16:creationId xmlns:a16="http://schemas.microsoft.com/office/drawing/2014/main" id="{3FF848E3-4595-496D-A9C4-548A79C9D5B9}"/>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Curación, evaluación y documentación bilingüe.</a:t>
            </a:r>
          </a:p>
        </p:txBody>
      </p:sp>
      <p:sp>
        <p:nvSpPr>
          <p:cNvPr id="20" name="">
            <a:extLst xmlns:a="http://schemas.openxmlformats.org/drawingml/2006/main">
              <a:ext uri="{FF2B5EF4-FFF2-40B4-BE49-F238E27FC236}">
                <a16:creationId xmlns:a16="http://schemas.microsoft.com/office/drawing/2014/main" id="{C3AA7A2D-5D28-47B5-B7CD-26BA52301951}"/>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8887AD-62F5-4BD8-AE7B-4859A7853B91}"/>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m25p0x4cw7">
            <a:extLst xmlns:a="http://schemas.openxmlformats.org/drawingml/2006/main">
              <a:ext uri="{FF2B5EF4-FFF2-40B4-BE49-F238E27FC236}">
                <a16:creationId xmlns:a16="http://schemas.microsoft.com/office/drawing/2014/main" id="{76BBD6EC-E3DA-4BDA-B2EC-9424EC575DB6}"/>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Economía</a:t>
            </a:r>
          </a:p>
        </p:txBody>
      </p:sp>
      <p:sp>
        <p:nvSpPr>
          <p:cNvPr id="23" name="text-b0vtuaxfnbm">
            <a:extLst xmlns:a="http://schemas.openxmlformats.org/drawingml/2006/main">
              <a:ext uri="{FF2B5EF4-FFF2-40B4-BE49-F238E27FC236}">
                <a16:creationId xmlns:a16="http://schemas.microsoft.com/office/drawing/2014/main" id="{96F2F183-F4C1-4338-9297-4DA1ACF2765E}"/>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Costo total, escenarios y rediseño de procesos.</a:t>
            </a:r>
          </a:p>
        </p:txBody>
      </p:sp>
    </p:spTree>
    <p:extLst>
      <p:ext uri="{BB962C8B-B14F-4D97-AF65-F5344CB8AC3E}">
        <p14:creationId xmlns:p14="http://schemas.microsoft.com/office/powerpoint/2010/main" val="917676351"/>
      </p:ext>
    </p:extLst>
  </p:cSld>
</p:sld>
</file>

<file path=ppt/slides/slide4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7B2D09F-A35B-4314-9F3F-8E9333E7283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4udi3sbi0bv">
            <a:extLst xmlns:a="http://schemas.openxmlformats.org/drawingml/2006/main">
              <a:ext uri="{FF2B5EF4-FFF2-40B4-BE49-F238E27FC236}">
                <a16:creationId xmlns:a16="http://schemas.microsoft.com/office/drawing/2014/main" id="{77022492-7007-47F4-9E0B-21724921DA9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m7z1apdaklk">
            <a:extLst xmlns:a="http://schemas.openxmlformats.org/drawingml/2006/main">
              <a:ext uri="{FF2B5EF4-FFF2-40B4-BE49-F238E27FC236}">
                <a16:creationId xmlns:a16="http://schemas.microsoft.com/office/drawing/2014/main" id="{07984028-A903-4954-AB2A-2EE4D7963FE6}"/>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 vocabulario chino ayuda a leer la discusión tecnológica</a:t>
            </a:r>
          </a:p>
        </p:txBody>
      </p:sp>
      <p:sp>
        <p:nvSpPr>
          <p:cNvPr id="4" name="text-wq8r4yhjog">
            <a:extLst xmlns:a="http://schemas.openxmlformats.org/drawingml/2006/main">
              <a:ext uri="{FF2B5EF4-FFF2-40B4-BE49-F238E27FC236}">
                <a16:creationId xmlns:a16="http://schemas.microsoft.com/office/drawing/2014/main" id="{F0448F84-9311-4B5B-8B91-A65E02505932}"/>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Conceptos de investigación, ingeniería y política.</a:t>
            </a:r>
          </a:p>
        </p:txBody>
      </p:sp>
      <p:sp>
        <p:nvSpPr>
          <p:cNvPr id="5" name="">
            <a:extLst xmlns:a="http://schemas.openxmlformats.org/drawingml/2006/main">
              <a:ext uri="{FF2B5EF4-FFF2-40B4-BE49-F238E27FC236}">
                <a16:creationId xmlns:a16="http://schemas.microsoft.com/office/drawing/2014/main" id="{27F969FD-EFE0-4DD5-BCB5-901000121CB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9tkn9o4srdk">
            <a:extLst xmlns:a="http://schemas.openxmlformats.org/drawingml/2006/main">
              <a:ext uri="{FF2B5EF4-FFF2-40B4-BE49-F238E27FC236}">
                <a16:creationId xmlns:a16="http://schemas.microsoft.com/office/drawing/2014/main" id="{22A9B452-3A71-4EC0-96F9-50BE9CFDAD2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wbphojtb73h">
            <a:extLst xmlns:a="http://schemas.openxmlformats.org/drawingml/2006/main">
              <a:ext uri="{FF2B5EF4-FFF2-40B4-BE49-F238E27FC236}">
                <a16:creationId xmlns:a16="http://schemas.microsoft.com/office/drawing/2014/main" id="{81420657-51D9-4F2D-8928-B40AE74EE73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43</a:t>
            </a:r>
          </a:p>
        </p:txBody>
      </p:sp>
      <p:sp>
        <p:nvSpPr>
          <p:cNvPr id="8" name="text-k7l4ddcih9k">
            <a:extLst xmlns:a="http://schemas.openxmlformats.org/drawingml/2006/main">
              <a:ext uri="{FF2B5EF4-FFF2-40B4-BE49-F238E27FC236}">
                <a16:creationId xmlns:a16="http://schemas.microsoft.com/office/drawing/2014/main" id="{FBCDE22B-C0B7-4A52-8F39-BEFDC9CDB7BB}"/>
              </a:ext>
            </a:extLst>
          </p:cNvPr>
          <p:cNvSpPr>
            <a:spLocks xmlns:a="http://schemas.openxmlformats.org/drawingml/2006/main" noGrp="1"/>
          </p:cNvSpPr>
          <p:nvPr/>
        </p:nvSpPr>
        <p:spPr>
          <a:xfrm xmlns:a="http://schemas.openxmlformats.org/drawingml/2006/main">
            <a:off x="609600" y="2524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具身智能</a:t>
            </a:r>
          </a:p>
        </p:txBody>
      </p:sp>
      <p:sp>
        <p:nvSpPr>
          <p:cNvPr id="9" name="text-w4fdw692yfq">
            <a:extLst xmlns:a="http://schemas.openxmlformats.org/drawingml/2006/main">
              <a:ext uri="{FF2B5EF4-FFF2-40B4-BE49-F238E27FC236}">
                <a16:creationId xmlns:a16="http://schemas.microsoft.com/office/drawing/2014/main" id="{C333C31A-9CEC-4C22-AE4F-F2DF761F1FF9}"/>
              </a:ext>
            </a:extLst>
          </p:cNvPr>
          <p:cNvSpPr>
            <a:spLocks xmlns:a="http://schemas.openxmlformats.org/drawingml/2006/main" noGrp="1"/>
          </p:cNvSpPr>
          <p:nvPr/>
        </p:nvSpPr>
        <p:spPr>
          <a:xfrm xmlns:a="http://schemas.openxmlformats.org/drawingml/2006/main">
            <a:off x="3714750" y="25908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jùshēn zhìnéng</a:t>
            </a:r>
          </a:p>
        </p:txBody>
      </p:sp>
      <p:sp>
        <p:nvSpPr>
          <p:cNvPr id="10" name="text-m8g614fth7n">
            <a:extLst xmlns:a="http://schemas.openxmlformats.org/drawingml/2006/main">
              <a:ext uri="{FF2B5EF4-FFF2-40B4-BE49-F238E27FC236}">
                <a16:creationId xmlns:a16="http://schemas.microsoft.com/office/drawing/2014/main" id="{54A4BCAD-1E14-4A2D-B9B9-FA7EEA310E08}"/>
              </a:ext>
            </a:extLst>
          </p:cNvPr>
          <p:cNvSpPr>
            <a:spLocks xmlns:a="http://schemas.openxmlformats.org/drawingml/2006/main" noGrp="1"/>
          </p:cNvSpPr>
          <p:nvPr/>
        </p:nvSpPr>
        <p:spPr>
          <a:xfrm xmlns:a="http://schemas.openxmlformats.org/drawingml/2006/main">
            <a:off x="7524750" y="25908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Inteligencia encarnada</a:t>
            </a:r>
          </a:p>
        </p:txBody>
      </p:sp>
      <p:sp>
        <p:nvSpPr>
          <p:cNvPr id="11" name="">
            <a:extLst xmlns:a="http://schemas.openxmlformats.org/drawingml/2006/main">
              <a:ext uri="{FF2B5EF4-FFF2-40B4-BE49-F238E27FC236}">
                <a16:creationId xmlns:a16="http://schemas.microsoft.com/office/drawing/2014/main" id="{FBEFE3DA-CD27-48EA-8468-1A5E36414FD9}"/>
              </a:ext>
            </a:extLst>
          </p:cNvPr>
          <p:cNvSpPr>
            <a:spLocks xmlns:a="http://schemas.openxmlformats.org/drawingml/2006/main" noGrp="1"/>
          </p:cNvSpPr>
          <p:nvPr/>
        </p:nvSpPr>
        <p:spPr>
          <a:xfrm xmlns:a="http://schemas.openxmlformats.org/drawingml/2006/main">
            <a:off x="609600" y="31051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48y3ugatikb">
            <a:extLst xmlns:a="http://schemas.openxmlformats.org/drawingml/2006/main">
              <a:ext uri="{FF2B5EF4-FFF2-40B4-BE49-F238E27FC236}">
                <a16:creationId xmlns:a16="http://schemas.microsoft.com/office/drawing/2014/main" id="{7ACFC7CB-1197-4A79-9D9E-A8EB5E6C2968}"/>
              </a:ext>
            </a:extLst>
          </p:cNvPr>
          <p:cNvSpPr>
            <a:spLocks xmlns:a="http://schemas.openxmlformats.org/drawingml/2006/main" noGrp="1"/>
          </p:cNvSpPr>
          <p:nvPr/>
        </p:nvSpPr>
        <p:spPr>
          <a:xfrm xmlns:a="http://schemas.openxmlformats.org/drawingml/2006/main">
            <a:off x="609600" y="31908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数据飞轮</a:t>
            </a:r>
          </a:p>
        </p:txBody>
      </p:sp>
      <p:sp>
        <p:nvSpPr>
          <p:cNvPr id="13" name="text-qgghhcakax">
            <a:extLst xmlns:a="http://schemas.openxmlformats.org/drawingml/2006/main">
              <a:ext uri="{FF2B5EF4-FFF2-40B4-BE49-F238E27FC236}">
                <a16:creationId xmlns:a16="http://schemas.microsoft.com/office/drawing/2014/main" id="{97F12704-419A-4CF3-92F1-11A9D51DAAFF}"/>
              </a:ext>
            </a:extLst>
          </p:cNvPr>
          <p:cNvSpPr>
            <a:spLocks xmlns:a="http://schemas.openxmlformats.org/drawingml/2006/main" noGrp="1"/>
          </p:cNvSpPr>
          <p:nvPr/>
        </p:nvSpPr>
        <p:spPr>
          <a:xfrm xmlns:a="http://schemas.openxmlformats.org/drawingml/2006/main">
            <a:off x="3714750" y="32575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shùjù fēilún</a:t>
            </a:r>
          </a:p>
        </p:txBody>
      </p:sp>
      <p:sp>
        <p:nvSpPr>
          <p:cNvPr id="14" name="text-771erausq2t">
            <a:extLst xmlns:a="http://schemas.openxmlformats.org/drawingml/2006/main">
              <a:ext uri="{FF2B5EF4-FFF2-40B4-BE49-F238E27FC236}">
                <a16:creationId xmlns:a16="http://schemas.microsoft.com/office/drawing/2014/main" id="{E3D7E106-48AC-4438-9400-D5EAAB406FB0}"/>
              </a:ext>
            </a:extLst>
          </p:cNvPr>
          <p:cNvSpPr>
            <a:spLocks xmlns:a="http://schemas.openxmlformats.org/drawingml/2006/main" noGrp="1"/>
          </p:cNvSpPr>
          <p:nvPr/>
        </p:nvSpPr>
        <p:spPr>
          <a:xfrm xmlns:a="http://schemas.openxmlformats.org/drawingml/2006/main">
            <a:off x="7524750" y="32575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Ciclo de mejora con datos</a:t>
            </a:r>
          </a:p>
        </p:txBody>
      </p:sp>
      <p:sp>
        <p:nvSpPr>
          <p:cNvPr id="15" name="">
            <a:extLst xmlns:a="http://schemas.openxmlformats.org/drawingml/2006/main">
              <a:ext uri="{FF2B5EF4-FFF2-40B4-BE49-F238E27FC236}">
                <a16:creationId xmlns:a16="http://schemas.microsoft.com/office/drawing/2014/main" id="{77B20EC8-DE88-4E3C-ADAA-D7B4E6568892}"/>
              </a:ext>
            </a:extLst>
          </p:cNvPr>
          <p:cNvSpPr>
            <a:spLocks xmlns:a="http://schemas.openxmlformats.org/drawingml/2006/main" noGrp="1"/>
          </p:cNvSpPr>
          <p:nvPr/>
        </p:nvSpPr>
        <p:spPr>
          <a:xfrm xmlns:a="http://schemas.openxmlformats.org/drawingml/2006/main">
            <a:off x="609600" y="377190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c4biy8taz2e">
            <a:extLst xmlns:a="http://schemas.openxmlformats.org/drawingml/2006/main">
              <a:ext uri="{FF2B5EF4-FFF2-40B4-BE49-F238E27FC236}">
                <a16:creationId xmlns:a16="http://schemas.microsoft.com/office/drawing/2014/main" id="{8C001A15-E6F3-4E24-A6A4-D67BB47ED60B}"/>
              </a:ext>
            </a:extLst>
          </p:cNvPr>
          <p:cNvSpPr>
            <a:spLocks xmlns:a="http://schemas.openxmlformats.org/drawingml/2006/main" noGrp="1"/>
          </p:cNvSpPr>
          <p:nvPr/>
        </p:nvSpPr>
        <p:spPr>
          <a:xfrm xmlns:a="http://schemas.openxmlformats.org/drawingml/2006/main">
            <a:off x="609600" y="38576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端到端</a:t>
            </a:r>
          </a:p>
        </p:txBody>
      </p:sp>
      <p:sp>
        <p:nvSpPr>
          <p:cNvPr id="17" name="text-t6qtfq9uzws">
            <a:extLst xmlns:a="http://schemas.openxmlformats.org/drawingml/2006/main">
              <a:ext uri="{FF2B5EF4-FFF2-40B4-BE49-F238E27FC236}">
                <a16:creationId xmlns:a16="http://schemas.microsoft.com/office/drawing/2014/main" id="{C5348225-E914-49BF-95B8-763C3D3E75D8}"/>
              </a:ext>
            </a:extLst>
          </p:cNvPr>
          <p:cNvSpPr>
            <a:spLocks xmlns:a="http://schemas.openxmlformats.org/drawingml/2006/main" noGrp="1"/>
          </p:cNvSpPr>
          <p:nvPr/>
        </p:nvSpPr>
        <p:spPr>
          <a:xfrm xmlns:a="http://schemas.openxmlformats.org/drawingml/2006/main">
            <a:off x="3714750" y="3924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duān dào duān</a:t>
            </a:r>
          </a:p>
        </p:txBody>
      </p:sp>
      <p:sp>
        <p:nvSpPr>
          <p:cNvPr id="18" name="text-a47i5b6phxb">
            <a:extLst xmlns:a="http://schemas.openxmlformats.org/drawingml/2006/main">
              <a:ext uri="{FF2B5EF4-FFF2-40B4-BE49-F238E27FC236}">
                <a16:creationId xmlns:a16="http://schemas.microsoft.com/office/drawing/2014/main" id="{9C1F9085-1EE7-4243-BBB4-1371EA4CEE25}"/>
              </a:ext>
            </a:extLst>
          </p:cNvPr>
          <p:cNvSpPr>
            <a:spLocks xmlns:a="http://schemas.openxmlformats.org/drawingml/2006/main" noGrp="1"/>
          </p:cNvSpPr>
          <p:nvPr/>
        </p:nvSpPr>
        <p:spPr>
          <a:xfrm xmlns:a="http://schemas.openxmlformats.org/drawingml/2006/main">
            <a:off x="7524750" y="39243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 extremo a extremo</a:t>
            </a:r>
          </a:p>
        </p:txBody>
      </p:sp>
      <p:sp>
        <p:nvSpPr>
          <p:cNvPr id="19" name="">
            <a:extLst xmlns:a="http://schemas.openxmlformats.org/drawingml/2006/main">
              <a:ext uri="{FF2B5EF4-FFF2-40B4-BE49-F238E27FC236}">
                <a16:creationId xmlns:a16="http://schemas.microsoft.com/office/drawing/2014/main" id="{823C44D2-D65A-4C44-AA59-0CC3F4DAF425}"/>
              </a:ext>
            </a:extLst>
          </p:cNvPr>
          <p:cNvSpPr>
            <a:spLocks xmlns:a="http://schemas.openxmlformats.org/drawingml/2006/main" noGrp="1"/>
          </p:cNvSpPr>
          <p:nvPr/>
        </p:nvSpPr>
        <p:spPr>
          <a:xfrm xmlns:a="http://schemas.openxmlformats.org/drawingml/2006/main">
            <a:off x="609600" y="44386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9hn1jkibcol">
            <a:extLst xmlns:a="http://schemas.openxmlformats.org/drawingml/2006/main">
              <a:ext uri="{FF2B5EF4-FFF2-40B4-BE49-F238E27FC236}">
                <a16:creationId xmlns:a16="http://schemas.microsoft.com/office/drawing/2014/main" id="{9D1FE1AE-73F1-43BF-8F74-32663BD74682}"/>
              </a:ext>
            </a:extLst>
          </p:cNvPr>
          <p:cNvSpPr>
            <a:spLocks xmlns:a="http://schemas.openxmlformats.org/drawingml/2006/main" noGrp="1"/>
          </p:cNvSpPr>
          <p:nvPr/>
        </p:nvSpPr>
        <p:spPr>
          <a:xfrm xmlns:a="http://schemas.openxmlformats.org/drawingml/2006/main">
            <a:off x="609600" y="45243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新质生产力</a:t>
            </a:r>
          </a:p>
        </p:txBody>
      </p:sp>
      <p:sp>
        <p:nvSpPr>
          <p:cNvPr id="21" name="text-jr8yrcuk1zk">
            <a:extLst xmlns:a="http://schemas.openxmlformats.org/drawingml/2006/main">
              <a:ext uri="{FF2B5EF4-FFF2-40B4-BE49-F238E27FC236}">
                <a16:creationId xmlns:a16="http://schemas.microsoft.com/office/drawing/2014/main" id="{A723B0AF-C6D2-48CF-BEA4-DC8F0393F7F0}"/>
              </a:ext>
            </a:extLst>
          </p:cNvPr>
          <p:cNvSpPr>
            <a:spLocks xmlns:a="http://schemas.openxmlformats.org/drawingml/2006/main" noGrp="1"/>
          </p:cNvSpPr>
          <p:nvPr/>
        </p:nvSpPr>
        <p:spPr>
          <a:xfrm xmlns:a="http://schemas.openxmlformats.org/drawingml/2006/main">
            <a:off x="3714750" y="45910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xīn zhì shēngchǎn lì</a:t>
            </a:r>
          </a:p>
        </p:txBody>
      </p:sp>
      <p:sp>
        <p:nvSpPr>
          <p:cNvPr id="22" name="text-22emigxhqpd">
            <a:extLst xmlns:a="http://schemas.openxmlformats.org/drawingml/2006/main">
              <a:ext uri="{FF2B5EF4-FFF2-40B4-BE49-F238E27FC236}">
                <a16:creationId xmlns:a16="http://schemas.microsoft.com/office/drawing/2014/main" id="{2F865C82-DA59-4E55-82EB-0FB2E25A46E7}"/>
              </a:ext>
            </a:extLst>
          </p:cNvPr>
          <p:cNvSpPr>
            <a:spLocks xmlns:a="http://schemas.openxmlformats.org/drawingml/2006/main" noGrp="1"/>
          </p:cNvSpPr>
          <p:nvPr/>
        </p:nvSpPr>
        <p:spPr>
          <a:xfrm xmlns:a="http://schemas.openxmlformats.org/drawingml/2006/main">
            <a:off x="7524750" y="45910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Nuevas fuerzas productivas</a:t>
            </a:r>
          </a:p>
        </p:txBody>
      </p:sp>
      <p:sp>
        <p:nvSpPr>
          <p:cNvPr id="23" name="">
            <a:extLst xmlns:a="http://schemas.openxmlformats.org/drawingml/2006/main">
              <a:ext uri="{FF2B5EF4-FFF2-40B4-BE49-F238E27FC236}">
                <a16:creationId xmlns:a16="http://schemas.microsoft.com/office/drawing/2014/main" id="{77A23273-8E76-42E2-9BA7-5BB2D959E1A3}"/>
              </a:ext>
            </a:extLst>
          </p:cNvPr>
          <p:cNvSpPr>
            <a:spLocks xmlns:a="http://schemas.openxmlformats.org/drawingml/2006/main" noGrp="1"/>
          </p:cNvSpPr>
          <p:nvPr/>
        </p:nvSpPr>
        <p:spPr>
          <a:xfrm xmlns:a="http://schemas.openxmlformats.org/drawingml/2006/main">
            <a:off x="609600" y="510540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4" name="text-es0ongfu69f">
            <a:extLst xmlns:a="http://schemas.openxmlformats.org/drawingml/2006/main">
              <a:ext uri="{FF2B5EF4-FFF2-40B4-BE49-F238E27FC236}">
                <a16:creationId xmlns:a16="http://schemas.microsoft.com/office/drawing/2014/main" id="{65D7017A-3968-4A9A-9D12-207C79AE5F57}"/>
              </a:ext>
            </a:extLst>
          </p:cNvPr>
          <p:cNvSpPr>
            <a:spLocks xmlns:a="http://schemas.openxmlformats.org/drawingml/2006/main" noGrp="1"/>
          </p:cNvSpPr>
          <p:nvPr/>
        </p:nvSpPr>
        <p:spPr>
          <a:xfrm xmlns:a="http://schemas.openxmlformats.org/drawingml/2006/main">
            <a:off x="609600" y="5191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机器人红利</a:t>
            </a:r>
          </a:p>
        </p:txBody>
      </p:sp>
      <p:sp>
        <p:nvSpPr>
          <p:cNvPr id="25" name="text-8u5gpyyp96f">
            <a:extLst xmlns:a="http://schemas.openxmlformats.org/drawingml/2006/main">
              <a:ext uri="{FF2B5EF4-FFF2-40B4-BE49-F238E27FC236}">
                <a16:creationId xmlns:a16="http://schemas.microsoft.com/office/drawing/2014/main" id="{8F7158C7-212F-4198-A11D-E419B303FAE8}"/>
              </a:ext>
            </a:extLst>
          </p:cNvPr>
          <p:cNvSpPr>
            <a:spLocks xmlns:a="http://schemas.openxmlformats.org/drawingml/2006/main" noGrp="1"/>
          </p:cNvSpPr>
          <p:nvPr/>
        </p:nvSpPr>
        <p:spPr>
          <a:xfrm xmlns:a="http://schemas.openxmlformats.org/drawingml/2006/main">
            <a:off x="3714750" y="52578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jīqìrén hónglì</a:t>
            </a:r>
          </a:p>
        </p:txBody>
      </p:sp>
      <p:sp>
        <p:nvSpPr>
          <p:cNvPr id="26" name="text-gj01r9a38n">
            <a:extLst xmlns:a="http://schemas.openxmlformats.org/drawingml/2006/main">
              <a:ext uri="{FF2B5EF4-FFF2-40B4-BE49-F238E27FC236}">
                <a16:creationId xmlns:a16="http://schemas.microsoft.com/office/drawing/2014/main" id="{F6AEE9F8-898C-4494-A4F6-4A7E7F145802}"/>
              </a:ext>
            </a:extLst>
          </p:cNvPr>
          <p:cNvSpPr>
            <a:spLocks xmlns:a="http://schemas.openxmlformats.org/drawingml/2006/main" noGrp="1"/>
          </p:cNvSpPr>
          <p:nvPr/>
        </p:nvSpPr>
        <p:spPr>
          <a:xfrm xmlns:a="http://schemas.openxmlformats.org/drawingml/2006/main">
            <a:off x="7524750" y="52578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Dividendo robótico (metáfora)</a:t>
            </a:r>
          </a:p>
        </p:txBody>
      </p:sp>
    </p:spTree>
    <p:extLst>
      <p:ext uri="{BB962C8B-B14F-4D97-AF65-F5344CB8AC3E}">
        <p14:creationId xmlns:p14="http://schemas.microsoft.com/office/powerpoint/2010/main" val="1011900329"/>
      </p:ext>
    </p:extLst>
  </p:cSld>
</p:sld>
</file>

<file path=ppt/slides/slide4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4BD4FD9-D774-4355-A54C-84148AFA554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lcrk3rvaov">
            <a:extLst xmlns:a="http://schemas.openxmlformats.org/drawingml/2006/main">
              <a:ext uri="{FF2B5EF4-FFF2-40B4-BE49-F238E27FC236}">
                <a16:creationId xmlns:a16="http://schemas.microsoft.com/office/drawing/2014/main" id="{834C590F-A363-42DA-9C30-6AF07F443C5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733tf8vlo58">
            <a:extLst xmlns:a="http://schemas.openxmlformats.org/drawingml/2006/main">
              <a:ext uri="{FF2B5EF4-FFF2-40B4-BE49-F238E27FC236}">
                <a16:creationId xmlns:a16="http://schemas.microsoft.com/office/drawing/2014/main" id="{AF464EE3-9DA1-4E29-9139-7FF7B7F88A0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 taller exige una decisión respaldada por supuestos</a:t>
            </a:r>
          </a:p>
        </p:txBody>
      </p:sp>
      <p:sp>
        <p:nvSpPr>
          <p:cNvPr id="4" name="text-rfbvv8gqre">
            <a:extLst xmlns:a="http://schemas.openxmlformats.org/drawingml/2006/main">
              <a:ext uri="{FF2B5EF4-FFF2-40B4-BE49-F238E27FC236}">
                <a16:creationId xmlns:a16="http://schemas.microsoft.com/office/drawing/2014/main" id="{FAC8B8F2-81B8-4CA8-B79E-223358F777F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Comparar dos escenarios usando el laboratorio.</a:t>
            </a:r>
          </a:p>
        </p:txBody>
      </p:sp>
      <p:sp>
        <p:nvSpPr>
          <p:cNvPr id="5" name="">
            <a:extLst xmlns:a="http://schemas.openxmlformats.org/drawingml/2006/main">
              <a:ext uri="{FF2B5EF4-FFF2-40B4-BE49-F238E27FC236}">
                <a16:creationId xmlns:a16="http://schemas.microsoft.com/office/drawing/2014/main" id="{DB84B084-A328-4380-B512-B0FF30089D9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6tfutae591n">
            <a:extLst xmlns:a="http://schemas.openxmlformats.org/drawingml/2006/main">
              <a:ext uri="{FF2B5EF4-FFF2-40B4-BE49-F238E27FC236}">
                <a16:creationId xmlns:a16="http://schemas.microsoft.com/office/drawing/2014/main" id="{BDD3765A-1588-4A96-80B4-0A4ECDB1560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ep7026cj2bb">
            <a:extLst xmlns:a="http://schemas.openxmlformats.org/drawingml/2006/main">
              <a:ext uri="{FF2B5EF4-FFF2-40B4-BE49-F238E27FC236}">
                <a16:creationId xmlns:a16="http://schemas.microsoft.com/office/drawing/2014/main" id="{48D00648-4435-4AFF-A555-28CB4658A4A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44</a:t>
            </a:r>
          </a:p>
        </p:txBody>
      </p:sp>
      <p:sp>
        <p:nvSpPr>
          <p:cNvPr id="8" name="text-oaa0y5bfeh">
            <a:extLst xmlns:a="http://schemas.openxmlformats.org/drawingml/2006/main">
              <a:ext uri="{FF2B5EF4-FFF2-40B4-BE49-F238E27FC236}">
                <a16:creationId xmlns:a16="http://schemas.microsoft.com/office/drawing/2014/main" id="{26B6D8A0-10B2-4ACE-AE1D-52E39DA644D9}"/>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2ytwx5wntkp">
            <a:extLst xmlns:a="http://schemas.openxmlformats.org/drawingml/2006/main">
              <a:ext uri="{FF2B5EF4-FFF2-40B4-BE49-F238E27FC236}">
                <a16:creationId xmlns:a16="http://schemas.microsoft.com/office/drawing/2014/main" id="{05DDE1BF-93E5-4492-8F95-698B331CE149}"/>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Hipótesis</a:t>
            </a:r>
          </a:p>
        </p:txBody>
      </p:sp>
      <p:sp>
        <p:nvSpPr>
          <p:cNvPr id="10" name="text-8pwjjqn5hxw">
            <a:extLst xmlns:a="http://schemas.openxmlformats.org/drawingml/2006/main">
              <a:ext uri="{FF2B5EF4-FFF2-40B4-BE49-F238E27FC236}">
                <a16:creationId xmlns:a16="http://schemas.microsoft.com/office/drawing/2014/main" id="{CF9B30DD-7B19-4974-9993-35B047AC779C}"/>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“Más velocidad reduce el costo por tarea válida”.</a:t>
            </a:r>
          </a:p>
        </p:txBody>
      </p:sp>
      <p:sp>
        <p:nvSpPr>
          <p:cNvPr id="11" name="">
            <a:extLst xmlns:a="http://schemas.openxmlformats.org/drawingml/2006/main">
              <a:ext uri="{FF2B5EF4-FFF2-40B4-BE49-F238E27FC236}">
                <a16:creationId xmlns:a16="http://schemas.microsoft.com/office/drawing/2014/main" id="{BDDC8ABC-F835-43CB-B1D1-7A940346CAEF}"/>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9n5zjssuy57">
            <a:extLst xmlns:a="http://schemas.openxmlformats.org/drawingml/2006/main">
              <a:ext uri="{FF2B5EF4-FFF2-40B4-BE49-F238E27FC236}">
                <a16:creationId xmlns:a16="http://schemas.microsoft.com/office/drawing/2014/main" id="{B7764279-ECB1-431B-95E1-C17BCC43FA26}"/>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k2sk49euczf">
            <a:extLst xmlns:a="http://schemas.openxmlformats.org/drawingml/2006/main">
              <a:ext uri="{FF2B5EF4-FFF2-40B4-BE49-F238E27FC236}">
                <a16:creationId xmlns:a16="http://schemas.microsoft.com/office/drawing/2014/main" id="{9F117ED9-3D38-4CEB-B330-8C94F80FD32B}"/>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Experimento</a:t>
            </a:r>
          </a:p>
        </p:txBody>
      </p:sp>
      <p:sp>
        <p:nvSpPr>
          <p:cNvPr id="14" name="text-fx594ol88hm">
            <a:extLst xmlns:a="http://schemas.openxmlformats.org/drawingml/2006/main">
              <a:ext uri="{FF2B5EF4-FFF2-40B4-BE49-F238E27FC236}">
                <a16:creationId xmlns:a16="http://schemas.microsoft.com/office/drawing/2014/main" id="{54F11005-BEA8-47CA-A149-54334A91C557}"/>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Cambiar velocidad y luego tasa de éxito, de a una variable.</a:t>
            </a:r>
          </a:p>
        </p:txBody>
      </p:sp>
      <p:sp>
        <p:nvSpPr>
          <p:cNvPr id="15" name="">
            <a:extLst xmlns:a="http://schemas.openxmlformats.org/drawingml/2006/main">
              <a:ext uri="{FF2B5EF4-FFF2-40B4-BE49-F238E27FC236}">
                <a16:creationId xmlns:a16="http://schemas.microsoft.com/office/drawing/2014/main" id="{4C623C56-B88E-4270-BAAC-BD4D29AD44C0}"/>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jtkocavjp3">
            <a:extLst xmlns:a="http://schemas.openxmlformats.org/drawingml/2006/main">
              <a:ext uri="{FF2B5EF4-FFF2-40B4-BE49-F238E27FC236}">
                <a16:creationId xmlns:a16="http://schemas.microsoft.com/office/drawing/2014/main" id="{851D4447-329E-4371-B1BD-8D3F08F2AF26}"/>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cqpdms59i3">
            <a:extLst xmlns:a="http://schemas.openxmlformats.org/drawingml/2006/main">
              <a:ext uri="{FF2B5EF4-FFF2-40B4-BE49-F238E27FC236}">
                <a16:creationId xmlns:a16="http://schemas.microsoft.com/office/drawing/2014/main" id="{196B3309-4E5A-427D-9326-B35D221E96B5}"/>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Evidencia</a:t>
            </a:r>
          </a:p>
        </p:txBody>
      </p:sp>
      <p:sp>
        <p:nvSpPr>
          <p:cNvPr id="18" name="text-wm797af9c1">
            <a:extLst xmlns:a="http://schemas.openxmlformats.org/drawingml/2006/main">
              <a:ext uri="{FF2B5EF4-FFF2-40B4-BE49-F238E27FC236}">
                <a16:creationId xmlns:a16="http://schemas.microsoft.com/office/drawing/2014/main" id="{F064C511-EC13-4BE7-B0C1-50DF1C067858}"/>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Guardar A y B, exportar CSV y explicar el resultado.</a:t>
            </a:r>
          </a:p>
        </p:txBody>
      </p:sp>
      <p:sp>
        <p:nvSpPr>
          <p:cNvPr id="19" name="">
            <a:extLst xmlns:a="http://schemas.openxmlformats.org/drawingml/2006/main">
              <a:ext uri="{FF2B5EF4-FFF2-40B4-BE49-F238E27FC236}">
                <a16:creationId xmlns:a16="http://schemas.microsoft.com/office/drawing/2014/main" id="{9A01EDCA-8779-4594-82CC-7781B2A944F1}"/>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oipjwahwujf">
            <a:extLst xmlns:a="http://schemas.openxmlformats.org/drawingml/2006/main">
              <a:ext uri="{FF2B5EF4-FFF2-40B4-BE49-F238E27FC236}">
                <a16:creationId xmlns:a16="http://schemas.microsoft.com/office/drawing/2014/main" id="{6B9470EE-97B7-4FF0-A0D7-250E30CDD693}"/>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83h8r10q588">
            <a:extLst xmlns:a="http://schemas.openxmlformats.org/drawingml/2006/main">
              <a:ext uri="{FF2B5EF4-FFF2-40B4-BE49-F238E27FC236}">
                <a16:creationId xmlns:a16="http://schemas.microsoft.com/office/drawing/2014/main" id="{D37D4E28-F8E3-4CF4-B386-4C6DA46505D9}"/>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Límite</a:t>
            </a:r>
          </a:p>
        </p:txBody>
      </p:sp>
      <p:sp>
        <p:nvSpPr>
          <p:cNvPr id="22" name="text-ouqnaq6am4">
            <a:extLst xmlns:a="http://schemas.openxmlformats.org/drawingml/2006/main">
              <a:ext uri="{FF2B5EF4-FFF2-40B4-BE49-F238E27FC236}">
                <a16:creationId xmlns:a16="http://schemas.microsoft.com/office/drawing/2014/main" id="{200F3984-3EFF-4D9D-8CC6-51E9984D7BC9}"/>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Indicar qué falta medir para trasladarlo a una fábrica.</a:t>
            </a:r>
          </a:p>
        </p:txBody>
      </p:sp>
    </p:spTree>
    <p:extLst>
      <p:ext uri="{BB962C8B-B14F-4D97-AF65-F5344CB8AC3E}">
        <p14:creationId xmlns:p14="http://schemas.microsoft.com/office/powerpoint/2010/main" val="51905357"/>
      </p:ext>
    </p:extLst>
  </p:cSld>
</p:sld>
</file>

<file path=ppt/slides/slide4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349195E-BCBF-42AB-B1B9-B4A08E802B6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7912d6zfwgl">
            <a:extLst xmlns:a="http://schemas.openxmlformats.org/drawingml/2006/main">
              <a:ext uri="{FF2B5EF4-FFF2-40B4-BE49-F238E27FC236}">
                <a16:creationId xmlns:a16="http://schemas.microsoft.com/office/drawing/2014/main" id="{493E25B9-4636-4978-94C1-2E5448A6189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57kgp06drna">
            <a:extLst xmlns:a="http://schemas.openxmlformats.org/drawingml/2006/main">
              <a:ext uri="{FF2B5EF4-FFF2-40B4-BE49-F238E27FC236}">
                <a16:creationId xmlns:a16="http://schemas.microsoft.com/office/drawing/2014/main" id="{51013D21-CAFD-4584-8AF4-2ECBF5936BB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El portal reúne presentaciones, laboratorio y videos</a:t>
            </a:r>
          </a:p>
        </p:txBody>
      </p:sp>
      <p:sp>
        <p:nvSpPr>
          <p:cNvPr id="4" name="text-4t338udec0q">
            <a:extLst xmlns:a="http://schemas.openxmlformats.org/drawingml/2006/main">
              <a:ext uri="{FF2B5EF4-FFF2-40B4-BE49-F238E27FC236}">
                <a16:creationId xmlns:a16="http://schemas.microsoft.com/office/drawing/2014/main" id="{5CAA87CC-CD30-4414-8C9F-C4E80F0E691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Material local para estudiar y enlaces externos para ampliar.</a:t>
            </a:r>
          </a:p>
        </p:txBody>
      </p:sp>
      <p:sp>
        <p:nvSpPr>
          <p:cNvPr id="5" name="">
            <a:extLst xmlns:a="http://schemas.openxmlformats.org/drawingml/2006/main">
              <a:ext uri="{FF2B5EF4-FFF2-40B4-BE49-F238E27FC236}">
                <a16:creationId xmlns:a16="http://schemas.microsoft.com/office/drawing/2014/main" id="{B1640702-31BD-4DF8-8C30-57367DCBE68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6npjtlflp1n">
            <a:extLst xmlns:a="http://schemas.openxmlformats.org/drawingml/2006/main">
              <a:ext uri="{FF2B5EF4-FFF2-40B4-BE49-F238E27FC236}">
                <a16:creationId xmlns:a16="http://schemas.microsoft.com/office/drawing/2014/main" id="{2D68C697-5BB0-4119-AF8B-C255686B649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8i8hgzet0jb">
            <a:extLst xmlns:a="http://schemas.openxmlformats.org/drawingml/2006/main">
              <a:ext uri="{FF2B5EF4-FFF2-40B4-BE49-F238E27FC236}">
                <a16:creationId xmlns:a16="http://schemas.microsoft.com/office/drawing/2014/main" id="{86C6001F-EAFD-4456-9D74-F8DC926A9652}"/>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45</a:t>
            </a:r>
          </a:p>
        </p:txBody>
      </p:sp>
      <p:sp>
        <p:nvSpPr>
          <p:cNvPr id="8" name="">
            <a:extLst xmlns:a="http://schemas.openxmlformats.org/drawingml/2006/main">
              <a:ext uri="{FF2B5EF4-FFF2-40B4-BE49-F238E27FC236}">
                <a16:creationId xmlns:a16="http://schemas.microsoft.com/office/drawing/2014/main" id="{BF218C41-58F6-4D8D-896A-C66FABC49180}"/>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E0B8DA4-B115-4EFC-B2CA-F3501068621C}"/>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4lxueeazxhw">
            <a:extLst xmlns:a="http://schemas.openxmlformats.org/drawingml/2006/main">
              <a:ext uri="{FF2B5EF4-FFF2-40B4-BE49-F238E27FC236}">
                <a16:creationId xmlns:a16="http://schemas.microsoft.com/office/drawing/2014/main" id="{D3D0A2E8-8385-4073-94B4-60B59DBF3836}"/>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Presentaciones</a:t>
            </a:r>
          </a:p>
        </p:txBody>
      </p:sp>
      <p:sp>
        <p:nvSpPr>
          <p:cNvPr id="11" name="text-c8hlc0tsu3p">
            <a:extLst xmlns:a="http://schemas.openxmlformats.org/drawingml/2006/main">
              <a:ext uri="{FF2B5EF4-FFF2-40B4-BE49-F238E27FC236}">
                <a16:creationId xmlns:a16="http://schemas.microsoft.com/office/drawing/2014/main" id="{69548D5A-47B1-4E8E-8A25-7A38B9D7741E}"/>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PPT editables, PDF y lector con notas y búsqueda.</a:t>
            </a:r>
          </a:p>
        </p:txBody>
      </p:sp>
      <p:sp>
        <p:nvSpPr>
          <p:cNvPr id="12" name="">
            <a:extLst xmlns:a="http://schemas.openxmlformats.org/drawingml/2006/main">
              <a:ext uri="{FF2B5EF4-FFF2-40B4-BE49-F238E27FC236}">
                <a16:creationId xmlns:a16="http://schemas.microsoft.com/office/drawing/2014/main" id="{5416E8C3-30CE-47CA-AE98-66071E8F640E}"/>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7B9487A-0C1A-4470-BCD6-989617A2FCED}"/>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xdw7yqk8tq">
            <a:extLst xmlns:a="http://schemas.openxmlformats.org/drawingml/2006/main">
              <a:ext uri="{FF2B5EF4-FFF2-40B4-BE49-F238E27FC236}">
                <a16:creationId xmlns:a16="http://schemas.microsoft.com/office/drawing/2014/main" id="{959B2C4D-D385-444C-AB07-28CF645BAB14}"/>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Laboratorio</a:t>
            </a:r>
          </a:p>
        </p:txBody>
      </p:sp>
      <p:sp>
        <p:nvSpPr>
          <p:cNvPr id="15" name="text-yabehrhe5om">
            <a:extLst xmlns:a="http://schemas.openxmlformats.org/drawingml/2006/main">
              <a:ext uri="{FF2B5EF4-FFF2-40B4-BE49-F238E27FC236}">
                <a16:creationId xmlns:a16="http://schemas.microsoft.com/office/drawing/2014/main" id="{829F0857-9BAD-4EFA-BB3F-2EA3245034DC}"/>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Energía, operación y flujo de un agente.</a:t>
            </a:r>
          </a:p>
        </p:txBody>
      </p:sp>
      <p:sp>
        <p:nvSpPr>
          <p:cNvPr id="16" name="">
            <a:extLst xmlns:a="http://schemas.openxmlformats.org/drawingml/2006/main">
              <a:ext uri="{FF2B5EF4-FFF2-40B4-BE49-F238E27FC236}">
                <a16:creationId xmlns:a16="http://schemas.microsoft.com/office/drawing/2014/main" id="{D1D45B60-4FA6-4EF2-A4ED-BC133F1C1FBE}"/>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5115EE2-9571-4419-A033-B65E1C3AEF55}"/>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bh7xoeissef">
            <a:extLst xmlns:a="http://schemas.openxmlformats.org/drawingml/2006/main">
              <a:ext uri="{FF2B5EF4-FFF2-40B4-BE49-F238E27FC236}">
                <a16:creationId xmlns:a16="http://schemas.microsoft.com/office/drawing/2014/main" id="{807961F0-0113-41AF-9310-C62B31F53FFA}"/>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Videos</a:t>
            </a:r>
          </a:p>
        </p:txBody>
      </p:sp>
      <p:sp>
        <p:nvSpPr>
          <p:cNvPr id="19" name="text-v9kzzsb39ag">
            <a:extLst xmlns:a="http://schemas.openxmlformats.org/drawingml/2006/main">
              <a:ext uri="{FF2B5EF4-FFF2-40B4-BE49-F238E27FC236}">
                <a16:creationId xmlns:a16="http://schemas.microsoft.com/office/drawing/2014/main" id="{15AB744D-9094-4F6C-B9DE-8655F88DB59A}"/>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Página separada y acceso al VideoLab del repositorio.</a:t>
            </a:r>
          </a:p>
        </p:txBody>
      </p:sp>
      <p:sp>
        <p:nvSpPr>
          <p:cNvPr id="20" name="">
            <a:extLst xmlns:a="http://schemas.openxmlformats.org/drawingml/2006/main">
              <a:ext uri="{FF2B5EF4-FFF2-40B4-BE49-F238E27FC236}">
                <a16:creationId xmlns:a16="http://schemas.microsoft.com/office/drawing/2014/main" id="{6A17E8D8-88C2-49F2-9C56-5B406DE097EA}"/>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D8DD29C-21F2-4496-8E5F-B26429617BBB}"/>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2hr7x80frfx">
            <a:extLst xmlns:a="http://schemas.openxmlformats.org/drawingml/2006/main">
              <a:ext uri="{FF2B5EF4-FFF2-40B4-BE49-F238E27FC236}">
                <a16:creationId xmlns:a16="http://schemas.microsoft.com/office/drawing/2014/main" id="{FDE027ED-C19F-454A-A083-A282B9178D4E}"/>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Guía docente</a:t>
            </a:r>
          </a:p>
        </p:txBody>
      </p:sp>
      <p:sp>
        <p:nvSpPr>
          <p:cNvPr id="23" name="text-uvwa3ug0y1e">
            <a:extLst xmlns:a="http://schemas.openxmlformats.org/drawingml/2006/main">
              <a:ext uri="{FF2B5EF4-FFF2-40B4-BE49-F238E27FC236}">
                <a16:creationId xmlns:a16="http://schemas.microsoft.com/office/drawing/2014/main" id="{43398191-D71C-4169-9ED9-12FE72264704}"/>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Ruta de 60 minutos, respuestas y ampliaciones.</a:t>
            </a:r>
          </a:p>
        </p:txBody>
      </p:sp>
    </p:spTree>
    <p:extLst>
      <p:ext uri="{BB962C8B-B14F-4D97-AF65-F5344CB8AC3E}">
        <p14:creationId xmlns:p14="http://schemas.microsoft.com/office/powerpoint/2010/main" val="1180199941"/>
      </p:ext>
    </p:extLst>
  </p:cSld>
</p:sld>
</file>

<file path=ppt/slides/slide46.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0F97F7-ADBB-42A8-802E-A1F1787CBFB5}"/>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ddswbogfqca">
            <a:extLst xmlns:a="http://schemas.openxmlformats.org/drawingml/2006/main">
              <a:ext uri="{FF2B5EF4-FFF2-40B4-BE49-F238E27FC236}">
                <a16:creationId xmlns:a16="http://schemas.microsoft.com/office/drawing/2014/main" id="{906657DD-5C1D-4D83-BAAA-86059A4101B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1xht3pic2yi">
            <a:extLst xmlns:a="http://schemas.openxmlformats.org/drawingml/2006/main">
              <a:ext uri="{FF2B5EF4-FFF2-40B4-BE49-F238E27FC236}">
                <a16:creationId xmlns:a16="http://schemas.microsoft.com/office/drawing/2014/main" id="{57ACE557-2D7D-48AA-8B20-32B91F3F1F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 evidencia une modelos, agentes y productividad</a:t>
            </a:r>
          </a:p>
        </p:txBody>
      </p:sp>
      <p:sp>
        <p:nvSpPr>
          <p:cNvPr id="4" name="text-crk8ymscv6">
            <a:extLst xmlns:a="http://schemas.openxmlformats.org/drawingml/2006/main">
              <a:ext uri="{FF2B5EF4-FFF2-40B4-BE49-F238E27FC236}">
                <a16:creationId xmlns:a16="http://schemas.microsoft.com/office/drawing/2014/main" id="{DA211834-BDF5-43DD-9ECF-582CBFC07CB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El resultado relevante es una tarea útil, repetida y económicamente justificable.</a:t>
            </a:r>
          </a:p>
        </p:txBody>
      </p:sp>
      <p:sp>
        <p:nvSpPr>
          <p:cNvPr id="5" name="">
            <a:extLst xmlns:a="http://schemas.openxmlformats.org/drawingml/2006/main">
              <a:ext uri="{FF2B5EF4-FFF2-40B4-BE49-F238E27FC236}">
                <a16:creationId xmlns:a16="http://schemas.microsoft.com/office/drawing/2014/main" id="{D0675AF5-A09E-4DE0-81C9-93A46EDA94A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1cdq7046xr5">
            <a:extLst xmlns:a="http://schemas.openxmlformats.org/drawingml/2006/main">
              <a:ext uri="{FF2B5EF4-FFF2-40B4-BE49-F238E27FC236}">
                <a16:creationId xmlns:a16="http://schemas.microsoft.com/office/drawing/2014/main" id="{60EE9DEC-92E2-4213-A0A3-D7AF958907A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dmzi4n16u2m">
            <a:extLst xmlns:a="http://schemas.openxmlformats.org/drawingml/2006/main">
              <a:ext uri="{FF2B5EF4-FFF2-40B4-BE49-F238E27FC236}">
                <a16:creationId xmlns:a16="http://schemas.microsoft.com/office/drawing/2014/main" id="{B09DED75-E0EB-4FBC-A0D5-88C4F76789D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46</a:t>
            </a:r>
          </a:p>
        </p:txBody>
      </p:sp>
      <p:sp>
        <p:nvSpPr>
          <p:cNvPr id="8" name="text-riyynwric4">
            <a:extLst xmlns:a="http://schemas.openxmlformats.org/drawingml/2006/main">
              <a:ext uri="{FF2B5EF4-FFF2-40B4-BE49-F238E27FC236}">
                <a16:creationId xmlns:a16="http://schemas.microsoft.com/office/drawing/2014/main" id="{ADD40778-9A39-41BE-9665-1AE5AD5AB7F7}"/>
              </a:ext>
            </a:extLst>
          </p:cNvPr>
          <p:cNvSpPr>
            <a:spLocks xmlns:a="http://schemas.openxmlformats.org/drawingml/2006/main" noGrp="1"/>
          </p:cNvSpPr>
          <p:nvPr/>
        </p:nvSpPr>
        <p:spPr>
          <a:xfrm xmlns:a="http://schemas.openxmlformats.org/drawingml/2006/main">
            <a:off x="6096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01</a:t>
            </a:r>
          </a:p>
        </p:txBody>
      </p:sp>
      <p:sp>
        <p:nvSpPr>
          <p:cNvPr id="9" name="text-yrso1v9cee">
            <a:extLst xmlns:a="http://schemas.openxmlformats.org/drawingml/2006/main">
              <a:ext uri="{FF2B5EF4-FFF2-40B4-BE49-F238E27FC236}">
                <a16:creationId xmlns:a16="http://schemas.microsoft.com/office/drawing/2014/main" id="{CE4B6C83-CA6E-4369-AC55-F7F0A5860D10}"/>
              </a:ext>
            </a:extLst>
          </p:cNvPr>
          <p:cNvSpPr>
            <a:spLocks xmlns:a="http://schemas.openxmlformats.org/drawingml/2006/main" noGrp="1"/>
          </p:cNvSpPr>
          <p:nvPr/>
        </p:nvSpPr>
        <p:spPr>
          <a:xfrm xmlns:a="http://schemas.openxmlformats.org/drawingml/2006/main">
            <a:off x="6096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Modelo</a:t>
            </a:r>
          </a:p>
        </p:txBody>
      </p:sp>
      <p:sp>
        <p:nvSpPr>
          <p:cNvPr id="10" name="text-n9shjc021ae">
            <a:extLst xmlns:a="http://schemas.openxmlformats.org/drawingml/2006/main">
              <a:ext uri="{FF2B5EF4-FFF2-40B4-BE49-F238E27FC236}">
                <a16:creationId xmlns:a16="http://schemas.microsoft.com/office/drawing/2014/main" id="{BAA5DAFE-E01F-431A-A0BE-9D29B60EEA6F}"/>
              </a:ext>
            </a:extLst>
          </p:cNvPr>
          <p:cNvSpPr>
            <a:spLocks xmlns:a="http://schemas.openxmlformats.org/drawingml/2006/main" noGrp="1"/>
          </p:cNvSpPr>
          <p:nvPr/>
        </p:nvSpPr>
        <p:spPr>
          <a:xfrm xmlns:a="http://schemas.openxmlformats.org/drawingml/2006/main">
            <a:off x="6096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Qué puede producir.</a:t>
            </a:r>
          </a:p>
        </p:txBody>
      </p:sp>
      <p:sp>
        <p:nvSpPr>
          <p:cNvPr id="11" name="text-0a502znr0ukv">
            <a:extLst xmlns:a="http://schemas.openxmlformats.org/drawingml/2006/main">
              <a:ext uri="{FF2B5EF4-FFF2-40B4-BE49-F238E27FC236}">
                <a16:creationId xmlns:a16="http://schemas.microsoft.com/office/drawing/2014/main" id="{06176CA2-773E-48DA-99F0-9223609379E6}"/>
              </a:ext>
            </a:extLst>
          </p:cNvPr>
          <p:cNvSpPr>
            <a:spLocks xmlns:a="http://schemas.openxmlformats.org/drawingml/2006/main" noGrp="1"/>
          </p:cNvSpPr>
          <p:nvPr/>
        </p:nvSpPr>
        <p:spPr>
          <a:xfrm xmlns:a="http://schemas.openxmlformats.org/drawingml/2006/main">
            <a:off x="34099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02</a:t>
            </a:r>
          </a:p>
        </p:txBody>
      </p:sp>
      <p:sp>
        <p:nvSpPr>
          <p:cNvPr id="12" name="text-3cbm0lymudp">
            <a:extLst xmlns:a="http://schemas.openxmlformats.org/drawingml/2006/main">
              <a:ext uri="{FF2B5EF4-FFF2-40B4-BE49-F238E27FC236}">
                <a16:creationId xmlns:a16="http://schemas.microsoft.com/office/drawing/2014/main" id="{91AE6B6E-B065-4022-A40E-EECD5D71709F}"/>
              </a:ext>
            </a:extLst>
          </p:cNvPr>
          <p:cNvSpPr>
            <a:spLocks xmlns:a="http://schemas.openxmlformats.org/drawingml/2006/main" noGrp="1"/>
          </p:cNvSpPr>
          <p:nvPr/>
        </p:nvSpPr>
        <p:spPr>
          <a:xfrm xmlns:a="http://schemas.openxmlformats.org/drawingml/2006/main">
            <a:off x="34099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Agente</a:t>
            </a:r>
          </a:p>
        </p:txBody>
      </p:sp>
      <p:sp>
        <p:nvSpPr>
          <p:cNvPr id="13" name="text-mz9tshb43cd">
            <a:extLst xmlns:a="http://schemas.openxmlformats.org/drawingml/2006/main">
              <a:ext uri="{FF2B5EF4-FFF2-40B4-BE49-F238E27FC236}">
                <a16:creationId xmlns:a16="http://schemas.microsoft.com/office/drawing/2014/main" id="{68BB2C53-5F29-4D03-8434-C658E2FDC443}"/>
              </a:ext>
            </a:extLst>
          </p:cNvPr>
          <p:cNvSpPr>
            <a:spLocks xmlns:a="http://schemas.openxmlformats.org/drawingml/2006/main" noGrp="1"/>
          </p:cNvSpPr>
          <p:nvPr/>
        </p:nvSpPr>
        <p:spPr>
          <a:xfrm xmlns:a="http://schemas.openxmlformats.org/drawingml/2006/main">
            <a:off x="34099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Qué puede ejecutar y comprobar.</a:t>
            </a:r>
          </a:p>
        </p:txBody>
      </p:sp>
      <p:sp>
        <p:nvSpPr>
          <p:cNvPr id="14" name="text-3uqvchkdqwv">
            <a:extLst xmlns:a="http://schemas.openxmlformats.org/drawingml/2006/main">
              <a:ext uri="{FF2B5EF4-FFF2-40B4-BE49-F238E27FC236}">
                <a16:creationId xmlns:a16="http://schemas.microsoft.com/office/drawing/2014/main" id="{9B99FF46-B902-435F-AE39-E19979B9F2D6}"/>
              </a:ext>
            </a:extLst>
          </p:cNvPr>
          <p:cNvSpPr>
            <a:spLocks xmlns:a="http://schemas.openxmlformats.org/drawingml/2006/main" noGrp="1"/>
          </p:cNvSpPr>
          <p:nvPr/>
        </p:nvSpPr>
        <p:spPr>
          <a:xfrm xmlns:a="http://schemas.openxmlformats.org/drawingml/2006/main">
            <a:off x="62103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03</a:t>
            </a:r>
          </a:p>
        </p:txBody>
      </p:sp>
      <p:sp>
        <p:nvSpPr>
          <p:cNvPr id="15" name="text-c5xix82r8mv">
            <a:extLst xmlns:a="http://schemas.openxmlformats.org/drawingml/2006/main">
              <a:ext uri="{FF2B5EF4-FFF2-40B4-BE49-F238E27FC236}">
                <a16:creationId xmlns:a16="http://schemas.microsoft.com/office/drawing/2014/main" id="{50B4544C-0541-4634-91BF-7044FE65A662}"/>
              </a:ext>
            </a:extLst>
          </p:cNvPr>
          <p:cNvSpPr>
            <a:spLocks xmlns:a="http://schemas.openxmlformats.org/drawingml/2006/main" noGrp="1"/>
          </p:cNvSpPr>
          <p:nvPr/>
        </p:nvSpPr>
        <p:spPr>
          <a:xfrm xmlns:a="http://schemas.openxmlformats.org/drawingml/2006/main">
            <a:off x="62103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Robot</a:t>
            </a:r>
          </a:p>
        </p:txBody>
      </p:sp>
      <p:sp>
        <p:nvSpPr>
          <p:cNvPr id="16" name="text-bedz3jxfbmv">
            <a:extLst xmlns:a="http://schemas.openxmlformats.org/drawingml/2006/main">
              <a:ext uri="{FF2B5EF4-FFF2-40B4-BE49-F238E27FC236}">
                <a16:creationId xmlns:a16="http://schemas.microsoft.com/office/drawing/2014/main" id="{3C1E3A27-0070-4F26-A954-1918238774AB}"/>
              </a:ext>
            </a:extLst>
          </p:cNvPr>
          <p:cNvSpPr>
            <a:spLocks xmlns:a="http://schemas.openxmlformats.org/drawingml/2006/main" noGrp="1"/>
          </p:cNvSpPr>
          <p:nvPr/>
        </p:nvSpPr>
        <p:spPr>
          <a:xfrm xmlns:a="http://schemas.openxmlformats.org/drawingml/2006/main">
            <a:off x="62103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Qué puede realizar físicamente.</a:t>
            </a:r>
          </a:p>
        </p:txBody>
      </p:sp>
      <p:sp>
        <p:nvSpPr>
          <p:cNvPr id="17" name="text-9nz23g23rzg">
            <a:extLst xmlns:a="http://schemas.openxmlformats.org/drawingml/2006/main">
              <a:ext uri="{FF2B5EF4-FFF2-40B4-BE49-F238E27FC236}">
                <a16:creationId xmlns:a16="http://schemas.microsoft.com/office/drawing/2014/main" id="{7F434301-F745-4D2B-9650-F8889FD9B991}"/>
              </a:ext>
            </a:extLst>
          </p:cNvPr>
          <p:cNvSpPr>
            <a:spLocks xmlns:a="http://schemas.openxmlformats.org/drawingml/2006/main" noGrp="1"/>
          </p:cNvSpPr>
          <p:nvPr/>
        </p:nvSpPr>
        <p:spPr>
          <a:xfrm xmlns:a="http://schemas.openxmlformats.org/drawingml/2006/main">
            <a:off x="90106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04</a:t>
            </a:r>
          </a:p>
        </p:txBody>
      </p:sp>
      <p:sp>
        <p:nvSpPr>
          <p:cNvPr id="18" name="text-mlmd18wtpg">
            <a:extLst xmlns:a="http://schemas.openxmlformats.org/drawingml/2006/main">
              <a:ext uri="{FF2B5EF4-FFF2-40B4-BE49-F238E27FC236}">
                <a16:creationId xmlns:a16="http://schemas.microsoft.com/office/drawing/2014/main" id="{283A04BB-6701-4570-8E29-8983037808BE}"/>
              </a:ext>
            </a:extLst>
          </p:cNvPr>
          <p:cNvSpPr>
            <a:spLocks xmlns:a="http://schemas.openxmlformats.org/drawingml/2006/main" noGrp="1"/>
          </p:cNvSpPr>
          <p:nvPr/>
        </p:nvSpPr>
        <p:spPr>
          <a:xfrm xmlns:a="http://schemas.openxmlformats.org/drawingml/2006/main">
            <a:off x="90106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Economía</a:t>
            </a:r>
          </a:p>
        </p:txBody>
      </p:sp>
      <p:sp>
        <p:nvSpPr>
          <p:cNvPr id="19" name="text-8qh51rkf4oi">
            <a:extLst xmlns:a="http://schemas.openxmlformats.org/drawingml/2006/main">
              <a:ext uri="{FF2B5EF4-FFF2-40B4-BE49-F238E27FC236}">
                <a16:creationId xmlns:a16="http://schemas.microsoft.com/office/drawing/2014/main" id="{22F22F51-3AB5-4FB5-95D7-8E7E54A98397}"/>
              </a:ext>
            </a:extLst>
          </p:cNvPr>
          <p:cNvSpPr>
            <a:spLocks xmlns:a="http://schemas.openxmlformats.org/drawingml/2006/main" noGrp="1"/>
          </p:cNvSpPr>
          <p:nvPr/>
        </p:nvSpPr>
        <p:spPr>
          <a:xfrm xmlns:a="http://schemas.openxmlformats.org/drawingml/2006/main">
            <a:off x="90106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Qué valor queda después de todos los costos.</a:t>
            </a:r>
          </a:p>
        </p:txBody>
      </p:sp>
    </p:spTree>
    <p:extLst>
      <p:ext uri="{BB962C8B-B14F-4D97-AF65-F5344CB8AC3E}">
        <p14:creationId xmlns:p14="http://schemas.microsoft.com/office/powerpoint/2010/main" val="16852070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2026-10-25T20:56:13.3240000Z</dcterms:created>
  <dcterms:modified xsi:type="dcterms:W3CDTF">2026-10-25T20:56:13.3250000Z</dcterms:modified>
</coreProperties>
</file>