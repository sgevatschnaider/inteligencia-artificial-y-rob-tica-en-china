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1.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c3145e91f5d41fc" /><Relationship Type="http://schemas.openxmlformats.org/officeDocument/2006/relationships/extended-properties" Target="/docProps/app.xml" Id="R5c733d2a61f74d19" /><Relationship Type="http://schemas.openxmlformats.org/officeDocument/2006/relationships/officeDocument" Target="/ppt/presentation.xml" Id="R41ce31fb3bc04f98" /></Relationships>
</file>

<file path=ppt/presentation.xml><?xml version="1.0" encoding="utf-8"?>
<p:presentation xmlns:p="http://schemas.openxmlformats.org/presentationml/2006/main">
  <p:sldMasterIdLst>
    <p:sldMasterId xmlns:r="http://schemas.openxmlformats.org/officeDocument/2006/relationships" id="2147483648" r:id="R71e43a5954c14b54"/>
  </p:sldMasterIdLst>
  <p:notesMasterIdLst>
    <p:notesMasterId xmlns:r="http://schemas.openxmlformats.org/officeDocument/2006/relationships" r:id="R9e669723021d4dd3"/>
  </p:notesMasterIdLst>
  <p:sldIdLst>
    <p:sldId xmlns:r="http://schemas.openxmlformats.org/officeDocument/2006/relationships" id="256" r:id="R3b97ad38d5c84357"/>
    <p:sldId xmlns:r="http://schemas.openxmlformats.org/officeDocument/2006/relationships" id="257" r:id="Rfb611a1daf484af4"/>
    <p:sldId xmlns:r="http://schemas.openxmlformats.org/officeDocument/2006/relationships" id="258" r:id="Rff6a48e03ed24dd4"/>
    <p:sldId xmlns:r="http://schemas.openxmlformats.org/officeDocument/2006/relationships" id="259" r:id="R597bfa98b8854a00"/>
    <p:sldId xmlns:r="http://schemas.openxmlformats.org/officeDocument/2006/relationships" id="260" r:id="R69b1c4fe92034ace"/>
    <p:sldId xmlns:r="http://schemas.openxmlformats.org/officeDocument/2006/relationships" id="261" r:id="Ra67a48e314394cbb"/>
    <p:sldId xmlns:r="http://schemas.openxmlformats.org/officeDocument/2006/relationships" id="262" r:id="R20d01dcab0374e8a"/>
    <p:sldId xmlns:r="http://schemas.openxmlformats.org/officeDocument/2006/relationships" id="263" r:id="R70d7bf0da69c457e"/>
    <p:sldId xmlns:r="http://schemas.openxmlformats.org/officeDocument/2006/relationships" id="264" r:id="Rc39079930d80429a"/>
    <p:sldId xmlns:r="http://schemas.openxmlformats.org/officeDocument/2006/relationships" id="265" r:id="Ra7b4516076404f15"/>
    <p:sldId xmlns:r="http://schemas.openxmlformats.org/officeDocument/2006/relationships" id="266" r:id="R0dd5795aa6cd4277"/>
    <p:sldId xmlns:r="http://schemas.openxmlformats.org/officeDocument/2006/relationships" id="267" r:id="Re24115a9a5ed4f75"/>
    <p:sldId xmlns:r="http://schemas.openxmlformats.org/officeDocument/2006/relationships" id="268" r:id="Rc409616a8dc649c0"/>
    <p:sldId xmlns:r="http://schemas.openxmlformats.org/officeDocument/2006/relationships" id="269" r:id="R91ce1aa27e6c4c5f"/>
    <p:sldId xmlns:r="http://schemas.openxmlformats.org/officeDocument/2006/relationships" id="270" r:id="Rdb54b158bff24db7"/>
    <p:sldId xmlns:r="http://schemas.openxmlformats.org/officeDocument/2006/relationships" id="271" r:id="R4d5699dbb2d74a8c"/>
    <p:sldId xmlns:r="http://schemas.openxmlformats.org/officeDocument/2006/relationships" id="272" r:id="R1e375019f79746b6"/>
    <p:sldId xmlns:r="http://schemas.openxmlformats.org/officeDocument/2006/relationships" id="273" r:id="Rc7c21d4dc5d943d7"/>
    <p:sldId xmlns:r="http://schemas.openxmlformats.org/officeDocument/2006/relationships" id="274" r:id="R6afca3f41d75417a"/>
    <p:sldId xmlns:r="http://schemas.openxmlformats.org/officeDocument/2006/relationships" id="275" r:id="Rb4fdf9f550f042fe"/>
    <p:sldId xmlns:r="http://schemas.openxmlformats.org/officeDocument/2006/relationships" id="276" r:id="R55ea46c6ef124fe1"/>
    <p:sldId xmlns:r="http://schemas.openxmlformats.org/officeDocument/2006/relationships" id="277" r:id="R4fdc2cc1c34f4d67"/>
    <p:sldId xmlns:r="http://schemas.openxmlformats.org/officeDocument/2006/relationships" id="278" r:id="R8353bcb3674a44dc"/>
    <p:sldId xmlns:r="http://schemas.openxmlformats.org/officeDocument/2006/relationships" id="279" r:id="R66326354ab2e4007"/>
    <p:sldId xmlns:r="http://schemas.openxmlformats.org/officeDocument/2006/relationships" id="280" r:id="R215eff8aa57b4f59"/>
    <p:sldId xmlns:r="http://schemas.openxmlformats.org/officeDocument/2006/relationships" id="281" r:id="R2427c073180b44cf"/>
    <p:sldId xmlns:r="http://schemas.openxmlformats.org/officeDocument/2006/relationships" id="282" r:id="R05a6079333e64ee4"/>
    <p:sldId xmlns:r="http://schemas.openxmlformats.org/officeDocument/2006/relationships" id="283" r:id="Re520749c728a4ef9"/>
    <p:sldId xmlns:r="http://schemas.openxmlformats.org/officeDocument/2006/relationships" id="284" r:id="R52d59e0042e04ac1"/>
    <p:sldId xmlns:r="http://schemas.openxmlformats.org/officeDocument/2006/relationships" id="285" r:id="R321f8f20c93f47e4"/>
    <p:sldId xmlns:r="http://schemas.openxmlformats.org/officeDocument/2006/relationships" id="286" r:id="R32a0cf5d4e5747c5"/>
    <p:sldId xmlns:r="http://schemas.openxmlformats.org/officeDocument/2006/relationships" id="287" r:id="R735d413f4acb4476"/>
    <p:sldId xmlns:r="http://schemas.openxmlformats.org/officeDocument/2006/relationships" id="288" r:id="Rd0d4e6b1bbf14e1c"/>
    <p:sldId xmlns:r="http://schemas.openxmlformats.org/officeDocument/2006/relationships" id="289" r:id="R1dca4ded25e04ab2"/>
    <p:sldId xmlns:r="http://schemas.openxmlformats.org/officeDocument/2006/relationships" id="290" r:id="Refb3c6e5bcf64ddc"/>
    <p:sldId xmlns:r="http://schemas.openxmlformats.org/officeDocument/2006/relationships" id="291" r:id="Rbc0d04c1843a41ff"/>
    <p:sldId xmlns:r="http://schemas.openxmlformats.org/officeDocument/2006/relationships" id="292" r:id="Rc1260326c9354614"/>
    <p:sldId xmlns:r="http://schemas.openxmlformats.org/officeDocument/2006/relationships" id="293" r:id="Re7ab40ec5c48428a"/>
    <p:sldId xmlns:r="http://schemas.openxmlformats.org/officeDocument/2006/relationships" id="294" r:id="Redb4da2f6837447b"/>
    <p:sldId xmlns:r="http://schemas.openxmlformats.org/officeDocument/2006/relationships" id="295" r:id="R8b4907a07e47417b"/>
    <p:sldId xmlns:r="http://schemas.openxmlformats.org/officeDocument/2006/relationships" id="296" r:id="Rf353794f2b424410"/>
    <p:sldId xmlns:r="http://schemas.openxmlformats.org/officeDocument/2006/relationships" id="297" r:id="R164f16193a844416"/>
    <p:sldId xmlns:r="http://schemas.openxmlformats.org/officeDocument/2006/relationships" id="298" r:id="Re96a84d5d26947af"/>
    <p:sldId xmlns:r="http://schemas.openxmlformats.org/officeDocument/2006/relationships" id="299" r:id="Rbea497c8b13240d1"/>
    <p:sldId xmlns:r="http://schemas.openxmlformats.org/officeDocument/2006/relationships" id="300" r:id="R4c7d8eb8a2c74176"/>
    <p:sldId xmlns:r="http://schemas.openxmlformats.org/officeDocument/2006/relationships" id="301" r:id="R21562ad6994b48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6f9d87be854931" /><Relationship Type="http://schemas.openxmlformats.org/officeDocument/2006/relationships/slideMaster" Target="/ppt/slideMasters/slideMaster1.xml" Id="R71e43a5954c14b54" /><Relationship Type="http://schemas.openxmlformats.org/officeDocument/2006/relationships/notesMaster" Target="/ppt/notesMasters/notesMaster1.xml" Id="R9e669723021d4dd3" /><Relationship Type="http://schemas.openxmlformats.org/officeDocument/2006/relationships/presProps" Target="/ppt/presProps.xml" Id="Rf7c000dd8b5f4fcc" /><Relationship Type="http://schemas.openxmlformats.org/officeDocument/2006/relationships/tableStyles" Target="/ppt/tableStyles.xml" Id="Rafd1693a992748b7" /><Relationship Type="http://schemas.openxmlformats.org/officeDocument/2006/relationships/slide" Target="/ppt/slides/slide1.xml" Id="R3b97ad38d5c84357" /><Relationship Type="http://schemas.openxmlformats.org/officeDocument/2006/relationships/slide" Target="/ppt/slides/slide2.xml" Id="Rfb611a1daf484af4" /><Relationship Type="http://schemas.openxmlformats.org/officeDocument/2006/relationships/slide" Target="/ppt/slides/slide3.xml" Id="Rff6a48e03ed24dd4" /><Relationship Type="http://schemas.openxmlformats.org/officeDocument/2006/relationships/slide" Target="/ppt/slides/slide4.xml" Id="R597bfa98b8854a00" /><Relationship Type="http://schemas.openxmlformats.org/officeDocument/2006/relationships/slide" Target="/ppt/slides/slide5.xml" Id="R69b1c4fe92034ace" /><Relationship Type="http://schemas.openxmlformats.org/officeDocument/2006/relationships/slide" Target="/ppt/slides/slide6.xml" Id="Ra67a48e314394cbb" /><Relationship Type="http://schemas.openxmlformats.org/officeDocument/2006/relationships/slide" Target="/ppt/slides/slide7.xml" Id="R20d01dcab0374e8a" /><Relationship Type="http://schemas.openxmlformats.org/officeDocument/2006/relationships/slide" Target="/ppt/slides/slide8.xml" Id="R70d7bf0da69c457e" /><Relationship Type="http://schemas.openxmlformats.org/officeDocument/2006/relationships/slide" Target="/ppt/slides/slide9.xml" Id="Rc39079930d80429a" /><Relationship Type="http://schemas.openxmlformats.org/officeDocument/2006/relationships/slide" Target="/ppt/slides/slide10.xml" Id="Ra7b4516076404f15" /><Relationship Type="http://schemas.openxmlformats.org/officeDocument/2006/relationships/slide" Target="/ppt/slides/slide11.xml" Id="R0dd5795aa6cd4277" /><Relationship Type="http://schemas.openxmlformats.org/officeDocument/2006/relationships/slide" Target="/ppt/slides/slide12.xml" Id="Re24115a9a5ed4f75" /><Relationship Type="http://schemas.openxmlformats.org/officeDocument/2006/relationships/slide" Target="/ppt/slides/slide13.xml" Id="Rc409616a8dc649c0" /><Relationship Type="http://schemas.openxmlformats.org/officeDocument/2006/relationships/slide" Target="/ppt/slides/slide14.xml" Id="R91ce1aa27e6c4c5f" /><Relationship Type="http://schemas.openxmlformats.org/officeDocument/2006/relationships/slide" Target="/ppt/slides/slide15.xml" Id="Rdb54b158bff24db7" /><Relationship Type="http://schemas.openxmlformats.org/officeDocument/2006/relationships/slide" Target="/ppt/slides/slide16.xml" Id="R4d5699dbb2d74a8c" /><Relationship Type="http://schemas.openxmlformats.org/officeDocument/2006/relationships/slide" Target="/ppt/slides/slide17.xml" Id="R1e375019f79746b6" /><Relationship Type="http://schemas.openxmlformats.org/officeDocument/2006/relationships/slide" Target="/ppt/slides/slide18.xml" Id="Rc7c21d4dc5d943d7" /><Relationship Type="http://schemas.openxmlformats.org/officeDocument/2006/relationships/slide" Target="/ppt/slides/slide19.xml" Id="R6afca3f41d75417a" /><Relationship Type="http://schemas.openxmlformats.org/officeDocument/2006/relationships/slide" Target="/ppt/slides/slide20.xml" Id="Rb4fdf9f550f042fe" /><Relationship Type="http://schemas.openxmlformats.org/officeDocument/2006/relationships/slide" Target="/ppt/slides/slide21.xml" Id="R55ea46c6ef124fe1" /><Relationship Type="http://schemas.openxmlformats.org/officeDocument/2006/relationships/slide" Target="/ppt/slides/slide22.xml" Id="R4fdc2cc1c34f4d67" /><Relationship Type="http://schemas.openxmlformats.org/officeDocument/2006/relationships/slide" Target="/ppt/slides/slide23.xml" Id="R8353bcb3674a44dc" /><Relationship Type="http://schemas.openxmlformats.org/officeDocument/2006/relationships/slide" Target="/ppt/slides/slide24.xml" Id="R66326354ab2e4007" /><Relationship Type="http://schemas.openxmlformats.org/officeDocument/2006/relationships/slide" Target="/ppt/slides/slide25.xml" Id="R215eff8aa57b4f59" /><Relationship Type="http://schemas.openxmlformats.org/officeDocument/2006/relationships/slide" Target="/ppt/slides/slide26.xml" Id="R2427c073180b44cf" /><Relationship Type="http://schemas.openxmlformats.org/officeDocument/2006/relationships/slide" Target="/ppt/slides/slide27.xml" Id="R05a6079333e64ee4" /><Relationship Type="http://schemas.openxmlformats.org/officeDocument/2006/relationships/slide" Target="/ppt/slides/slide28.xml" Id="Re520749c728a4ef9" /><Relationship Type="http://schemas.openxmlformats.org/officeDocument/2006/relationships/slide" Target="/ppt/slides/slide29.xml" Id="R52d59e0042e04ac1" /><Relationship Type="http://schemas.openxmlformats.org/officeDocument/2006/relationships/slide" Target="/ppt/slides/slide30.xml" Id="R321f8f20c93f47e4" /><Relationship Type="http://schemas.openxmlformats.org/officeDocument/2006/relationships/slide" Target="/ppt/slides/slide31.xml" Id="R32a0cf5d4e5747c5" /><Relationship Type="http://schemas.openxmlformats.org/officeDocument/2006/relationships/slide" Target="/ppt/slides/slide32.xml" Id="R735d413f4acb4476" /><Relationship Type="http://schemas.openxmlformats.org/officeDocument/2006/relationships/slide" Target="/ppt/slides/slide33.xml" Id="Rd0d4e6b1bbf14e1c" /><Relationship Type="http://schemas.openxmlformats.org/officeDocument/2006/relationships/slide" Target="/ppt/slides/slide34.xml" Id="R1dca4ded25e04ab2" /><Relationship Type="http://schemas.openxmlformats.org/officeDocument/2006/relationships/slide" Target="/ppt/slides/slide35.xml" Id="Refb3c6e5bcf64ddc" /><Relationship Type="http://schemas.openxmlformats.org/officeDocument/2006/relationships/slide" Target="/ppt/slides/slide36.xml" Id="Rbc0d04c1843a41ff" /><Relationship Type="http://schemas.openxmlformats.org/officeDocument/2006/relationships/slide" Target="/ppt/slides/slide37.xml" Id="Rc1260326c9354614" /><Relationship Type="http://schemas.openxmlformats.org/officeDocument/2006/relationships/slide" Target="/ppt/slides/slide38.xml" Id="Re7ab40ec5c48428a" /><Relationship Type="http://schemas.openxmlformats.org/officeDocument/2006/relationships/slide" Target="/ppt/slides/slide39.xml" Id="Redb4da2f6837447b" /><Relationship Type="http://schemas.openxmlformats.org/officeDocument/2006/relationships/slide" Target="/ppt/slides/slide40.xml" Id="R8b4907a07e47417b" /><Relationship Type="http://schemas.openxmlformats.org/officeDocument/2006/relationships/slide" Target="/ppt/slides/slide41.xml" Id="Rf353794f2b424410" /><Relationship Type="http://schemas.openxmlformats.org/officeDocument/2006/relationships/slide" Target="/ppt/slides/slide42.xml" Id="R164f16193a844416" /><Relationship Type="http://schemas.openxmlformats.org/officeDocument/2006/relationships/slide" Target="/ppt/slides/slide43.xml" Id="Re96a84d5d26947af" /><Relationship Type="http://schemas.openxmlformats.org/officeDocument/2006/relationships/slide" Target="/ppt/slides/slide44.xml" Id="Rbea497c8b13240d1" /><Relationship Type="http://schemas.openxmlformats.org/officeDocument/2006/relationships/slide" Target="/ppt/slides/slide45.xml" Id="R4c7d8eb8a2c74176" /><Relationship Type="http://schemas.openxmlformats.org/officeDocument/2006/relationships/slide" Target="/ppt/slides/slide46.xml" Id="R21562ad6994b48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6488c9944746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b1945538054377" /><Relationship Type="http://schemas.openxmlformats.org/officeDocument/2006/relationships/notesMaster" Target="/ppt/notesMasters/notesMaster1.xml" Id="R54dc3f8691144a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d2593b2e9e4ac1" /><Relationship Type="http://schemas.openxmlformats.org/officeDocument/2006/relationships/notesMaster" Target="/ppt/notesMasters/notesMaster1.xml" Id="Rae23bd54fc4e4a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89ede91f004de4" /><Relationship Type="http://schemas.openxmlformats.org/officeDocument/2006/relationships/notesMaster" Target="/ppt/notesMasters/notesMaster1.xml" Id="R6fca2d032b634f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f7ffce9fee45a1" /><Relationship Type="http://schemas.openxmlformats.org/officeDocument/2006/relationships/notesMaster" Target="/ppt/notesMasters/notesMaster1.xml" Id="R65284b67f33249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3cc335c7004d37" /><Relationship Type="http://schemas.openxmlformats.org/officeDocument/2006/relationships/notesMaster" Target="/ppt/notesMasters/notesMaster1.xml" Id="Rdd43116ffd4943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2ff2805b4543d2" /><Relationship Type="http://schemas.openxmlformats.org/officeDocument/2006/relationships/notesMaster" Target="/ppt/notesMasters/notesMaster1.xml" Id="Rba3ab73671b44d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c835e5527c420d" /><Relationship Type="http://schemas.openxmlformats.org/officeDocument/2006/relationships/notesMaster" Target="/ppt/notesMasters/notesMaster1.xml" Id="R9109d1e979db4b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eab2b64c04430c" /><Relationship Type="http://schemas.openxmlformats.org/officeDocument/2006/relationships/notesMaster" Target="/ppt/notesMasters/notesMaster1.xml" Id="Rff414b7164c14f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c31b57e3794e00" /><Relationship Type="http://schemas.openxmlformats.org/officeDocument/2006/relationships/notesMaster" Target="/ppt/notesMasters/notesMaster1.xml" Id="R1219a77c27314c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672331320845a9" /><Relationship Type="http://schemas.openxmlformats.org/officeDocument/2006/relationships/notesMaster" Target="/ppt/notesMasters/notesMaster1.xml" Id="Raca45f36bd0e49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563f8a40e849f0" /><Relationship Type="http://schemas.openxmlformats.org/officeDocument/2006/relationships/notesMaster" Target="/ppt/notesMasters/notesMaster1.xml" Id="R21cb6268569d42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11ff605f814328" /><Relationship Type="http://schemas.openxmlformats.org/officeDocument/2006/relationships/notesMaster" Target="/ppt/notesMasters/notesMaster1.xml" Id="R376eac23d48248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8079fd042654c6f" /><Relationship Type="http://schemas.openxmlformats.org/officeDocument/2006/relationships/notesMaster" Target="/ppt/notesMasters/notesMaster1.xml" Id="R8aa986eb70c8475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456fe5d40b4f54" /><Relationship Type="http://schemas.openxmlformats.org/officeDocument/2006/relationships/notesMaster" Target="/ppt/notesMasters/notesMaster1.xml" Id="R8967bd9383344db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25e0e810154cf5" /><Relationship Type="http://schemas.openxmlformats.org/officeDocument/2006/relationships/notesMaster" Target="/ppt/notesMasters/notesMaster1.xml" Id="R7cdbc8e4e55f412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113e8bc0e1648c6" /><Relationship Type="http://schemas.openxmlformats.org/officeDocument/2006/relationships/notesMaster" Target="/ppt/notesMasters/notesMaster1.xml" Id="Racd2fac1292d48e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6175775e2e4bae" /><Relationship Type="http://schemas.openxmlformats.org/officeDocument/2006/relationships/notesMaster" Target="/ppt/notesMasters/notesMaster1.xml" Id="Reb2791b06d56436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f072b06752245bb" /><Relationship Type="http://schemas.openxmlformats.org/officeDocument/2006/relationships/notesMaster" Target="/ppt/notesMasters/notesMaster1.xml" Id="R3290d5fda888422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45787ebd0843fe" /><Relationship Type="http://schemas.openxmlformats.org/officeDocument/2006/relationships/notesMaster" Target="/ppt/notesMasters/notesMaster1.xml" Id="Rade137db5668485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c83013c96ec4908" /><Relationship Type="http://schemas.openxmlformats.org/officeDocument/2006/relationships/notesMaster" Target="/ppt/notesMasters/notesMaster1.xml" Id="Rcf27b9594f9b46d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8e6b52a2cb34f03" /><Relationship Type="http://schemas.openxmlformats.org/officeDocument/2006/relationships/notesMaster" Target="/ppt/notesMasters/notesMaster1.xml" Id="Rb0e01101483c4ef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66e145883d04fbb" /><Relationship Type="http://schemas.openxmlformats.org/officeDocument/2006/relationships/notesMaster" Target="/ppt/notesMasters/notesMaster1.xml" Id="Rad700f34d47e488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576f11326874f1b" /><Relationship Type="http://schemas.openxmlformats.org/officeDocument/2006/relationships/notesMaster" Target="/ppt/notesMasters/notesMaster1.xml" Id="R6425adb0e5d64d8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0e15da0d3bb4eb8" /><Relationship Type="http://schemas.openxmlformats.org/officeDocument/2006/relationships/notesMaster" Target="/ppt/notesMasters/notesMaster1.xml" Id="R6abb327737dc46a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97ebf463e5542d7" /><Relationship Type="http://schemas.openxmlformats.org/officeDocument/2006/relationships/notesMaster" Target="/ppt/notesMasters/notesMaster1.xml" Id="R8e760002bb274c2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8132500b4f240fc" /><Relationship Type="http://schemas.openxmlformats.org/officeDocument/2006/relationships/notesMaster" Target="/ppt/notesMasters/notesMaster1.xml" Id="Rb61cdd11aca44a5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2bfcd3b899e4652" /><Relationship Type="http://schemas.openxmlformats.org/officeDocument/2006/relationships/notesMaster" Target="/ppt/notesMasters/notesMaster1.xml" Id="R5aac092f0ab843b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be45fc53d70414d" /><Relationship Type="http://schemas.openxmlformats.org/officeDocument/2006/relationships/notesMaster" Target="/ppt/notesMasters/notesMaster1.xml" Id="Rca0379f0586946f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1ccb3279e4a46b7" /><Relationship Type="http://schemas.openxmlformats.org/officeDocument/2006/relationships/notesMaster" Target="/ppt/notesMasters/notesMaster1.xml" Id="R6f14f4c6d1e9473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a671bb070d348fa" /><Relationship Type="http://schemas.openxmlformats.org/officeDocument/2006/relationships/notesMaster" Target="/ppt/notesMasters/notesMaster1.xml" Id="R4a7172eafa6d4ec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e8ad5262f6e44a5" /><Relationship Type="http://schemas.openxmlformats.org/officeDocument/2006/relationships/notesMaster" Target="/ppt/notesMasters/notesMaster1.xml" Id="R50c9a50466c045e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be95b6c67dd40e2" /><Relationship Type="http://schemas.openxmlformats.org/officeDocument/2006/relationships/notesMaster" Target="/ppt/notesMasters/notesMaster1.xml" Id="Rdd6c89938efe4f9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8f7ae77aa734ca7" /><Relationship Type="http://schemas.openxmlformats.org/officeDocument/2006/relationships/notesMaster" Target="/ppt/notesMasters/notesMaster1.xml" Id="R24c112e3992543a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14afff0134c489a" /><Relationship Type="http://schemas.openxmlformats.org/officeDocument/2006/relationships/notesMaster" Target="/ppt/notesMasters/notesMaster1.xml" Id="R89a7b69f24cf481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f2b855b00c24f41" /><Relationship Type="http://schemas.openxmlformats.org/officeDocument/2006/relationships/notesMaster" Target="/ppt/notesMasters/notesMaster1.xml" Id="R978fe26a541d4fa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6c7a65a25d14d77" /><Relationship Type="http://schemas.openxmlformats.org/officeDocument/2006/relationships/notesMaster" Target="/ppt/notesMasters/notesMaster1.xml" Id="R5c40d19d67854a3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7a286f064f548e2" /><Relationship Type="http://schemas.openxmlformats.org/officeDocument/2006/relationships/notesMaster" Target="/ppt/notesMasters/notesMaster1.xml" Id="R5a288b33681d426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81b77a8ecbc44cb" /><Relationship Type="http://schemas.openxmlformats.org/officeDocument/2006/relationships/notesMaster" Target="/ppt/notesMasters/notesMaster1.xml" Id="R8263f2c71252497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dcbe6cdcaa343a2" /><Relationship Type="http://schemas.openxmlformats.org/officeDocument/2006/relationships/notesMaster" Target="/ppt/notesMasters/notesMaster1.xml" Id="R7212d7307485498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ac052a1167e476a" /><Relationship Type="http://schemas.openxmlformats.org/officeDocument/2006/relationships/notesMaster" Target="/ppt/notesMasters/notesMaster1.xml" Id="R42e2813033d0456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9b96afad583407f" /><Relationship Type="http://schemas.openxmlformats.org/officeDocument/2006/relationships/notesMaster" Target="/ppt/notesMasters/notesMaster1.xml" Id="R2013a4d1afd04d5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83bf6e5891540a8" /><Relationship Type="http://schemas.openxmlformats.org/officeDocument/2006/relationships/notesMaster" Target="/ppt/notesMasters/notesMaster1.xml" Id="R6dd70104a3e2440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f942689c5b147a4" /><Relationship Type="http://schemas.openxmlformats.org/officeDocument/2006/relationships/notesMaster" Target="/ppt/notesMasters/notesMaster1.xml" Id="R8604cc1cb9d6404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93990c10e6644b6" /><Relationship Type="http://schemas.openxmlformats.org/officeDocument/2006/relationships/notesMaster" Target="/ppt/notesMasters/notesMaster1.xml" Id="R33996b86ee814a5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17ad0fb041b4687" /><Relationship Type="http://schemas.openxmlformats.org/officeDocument/2006/relationships/notesMaster" Target="/ppt/notesMasters/notesMaster1.xml" Id="R4845433b853a4bf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3596f2a91e947e0" /><Relationship Type="http://schemas.openxmlformats.org/officeDocument/2006/relationships/notesMaster" Target="/ppt/notesMasters/notesMaster1.xml" Id="R21758596bb284b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Connect to class 1: China combines industry, research and coordination. Today focuses on systems that perform tasks. The supplied cover is a conceptual illustration, not an identified industrial deployment.</a:t>
            </a:r>
          </a:p>
          <a:p xmlns:a="http://schemas.openxmlformats.org/drawingml/2006/main">
            <a:r>
              <a:t/>
            </a:r>
          </a:p>
          <a:p xmlns:a="http://schemas.openxmlformats.org/drawingml/2006/main">
            <a:r>
              <a:t>Sources and scope:</a:t>
            </a:r>
          </a:p>
          <a:p xmlns:a="http://schemas.openxmlformats.org/drawingml/2006/main">
            <a:r>
              <a:t>Sergio Gevatschnaider · AI and Robotics in China</a:t>
            </a:r>
          </a:p>
          <a:p xmlns:a="http://schemas.openxmlformats.org/drawingml/2006/main">
            <a:r>
              <a:t>https://github.com/sgevatschnaider/Inteligencia-Artificial-y-Rob-tica-en-China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The kit contains more material than one class. Follow the teaching guide and leave extension slides for reference. Each video should answer a specific question.</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A model that classifies invoices accurately still needs accounting integration and exception handling. Robotics adds calibration, safety and support. Distinguish technical success from realized savings.</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An industrial robot may operate without an LLM and a chatbot may use tools. These are functions and architectures rather than an intelligence hierarchy.</a:t>
            </a:r>
          </a:p>
          <a:p xmlns:a="http://schemas.openxmlformats.org/drawingml/2006/main">
            <a:r>
              <a:t/>
            </a:r>
          </a:p>
          <a:p xmlns:a="http://schemas.openxmlformats.org/drawingml/2006/main">
            <a:r>
              <a:t>Sources and scope:</a:t>
            </a:r>
          </a:p>
          <a:p xmlns:a="http://schemas.openxmlformats.org/drawingml/2006/main">
            <a:r>
              <a:t>Russell &amp; Norvig · Artificial Intelligence: A Modern Approach</a:t>
            </a:r>
          </a:p>
          <a:p xmlns:a="http://schemas.openxmlformats.org/drawingml/2006/main">
            <a:r>
              <a:t>https://aima.cs.berkeley.edu/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The layers are not a one-way chain: usage data and constraints feed back into design. Companies may compete in models while cooperating on infrastructure. This is a functional map, not a ranking.</a:t>
            </a:r>
          </a:p>
          <a:p xmlns:a="http://schemas.openxmlformats.org/drawingml/2006/main">
            <a:r>
              <a:t/>
            </a:r>
          </a:p>
          <a:p xmlns:a="http://schemas.openxmlformats.org/drawingml/2006/main">
            <a:r>
              <a:t>Sources and scope:</a:t>
            </a:r>
          </a:p>
          <a:p xmlns:a="http://schemas.openxmlformats.org/drawingml/2006/main">
            <a:r>
              <a:t>Sergio Gevatschnaider · AI and Robotics in China</a:t>
            </a:r>
          </a:p>
          <a:p xmlns:a="http://schemas.openxmlformats.org/drawingml/2006/main">
            <a:r>
              <a:t>https://github.com/sgevatschnaider/Inteligencia-Artificial-y-Rob-tica-en-China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These are neither exclusive categories nor claims of self-sufficiency. Infrastructure, community and distribution can be strategic complements. Specific integrations need product-level verification.</a:t>
            </a:r>
          </a:p>
          <a:p xmlns:a="http://schemas.openxmlformats.org/drawingml/2006/main">
            <a:r>
              <a:t/>
            </a:r>
          </a:p>
          <a:p xmlns:a="http://schemas.openxmlformats.org/drawingml/2006/main">
            <a:r>
              <a:t>Sources and scope:</a:t>
            </a:r>
          </a:p>
          <a:p xmlns:a="http://schemas.openxmlformats.org/drawingml/2006/main">
            <a:r>
              <a:t>Sergio Gevatschnaider · AI and Robotics in China</a:t>
            </a:r>
          </a:p>
          <a:p xmlns:a="http://schemas.openxmlformats.org/drawingml/2006/main">
            <a:r>
              <a:t>https://github.com/sgevatschnaider/Inteligencia-Artificial-y-Rob-tica-en-China</a:t>
            </a:r>
          </a:p>
          <a:p xmlns:a="http://schemas.openxmlformats.org/drawingml/2006/main">
            <a:r>
              <a:t>Qwen-Agent · official code and documentation</a:t>
            </a:r>
          </a:p>
          <a:p xmlns:a="http://schemas.openxmlformats.org/drawingml/2006/main">
            <a:r>
              <a:t>https://github.com/QwenLM/Qwen-Agent</a:t>
            </a:r>
          </a:p>
          <a:p xmlns:a="http://schemas.openxmlformats.org/drawingml/2006/main">
            <a:r>
              <a:t>DeepSeek-V3 · technical report, Table 1 (2024–2025)</a:t>
            </a:r>
          </a:p>
          <a:p xmlns:a="http://schemas.openxmlformats.org/drawingml/2006/main">
            <a:r>
              <a:t>https://arxiv.org/abs/2412.19437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This is a dated case study, not a description of the newest version. Total parameters do not equal work per token. Routing and accelerator communication matter for system performance.</a:t>
            </a:r>
          </a:p>
          <a:p xmlns:a="http://schemas.openxmlformats.org/drawingml/2006/main">
            <a:r>
              <a:t/>
            </a:r>
          </a:p>
          <a:p xmlns:a="http://schemas.openxmlformats.org/drawingml/2006/main">
            <a:r>
              <a:t>Sources and scope:</a:t>
            </a:r>
          </a:p>
          <a:p xmlns:a="http://schemas.openxmlformats.org/drawingml/2006/main">
            <a:r>
              <a:t>DeepSeek-V3 · technical report, Table 1 (2024–2025)</a:t>
            </a:r>
          </a:p>
          <a:p xmlns:a="http://schemas.openxmlformats.org/drawingml/2006/main">
            <a:r>
              <a:t>https://arxiv.org/abs/2412.19437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R1-Zero does not mean training from scratch. Distinguish the reinforcement experiment from the fuller R1 pipeline. The paper reports its own results, and a reasoning model is not a complete agent system.</a:t>
            </a:r>
          </a:p>
          <a:p xmlns:a="http://schemas.openxmlformats.org/drawingml/2006/main">
            <a:r>
              <a:t/>
            </a:r>
          </a:p>
          <a:p xmlns:a="http://schemas.openxmlformats.org/drawingml/2006/main">
            <a:r>
              <a:t>Sources and scope:</a:t>
            </a:r>
          </a:p>
          <a:p xmlns:a="http://schemas.openxmlformats.org/drawingml/2006/main">
            <a:r>
              <a:t>DeepSeek-R1 · technical report (2025)</a:t>
            </a:r>
          </a:p>
          <a:p xmlns:a="http://schemas.openxmlformats.org/drawingml/2006/main">
            <a:r>
              <a:t>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Table 1 includes reported V3 pretraining, context extension and post-training. It uses an assumed rental price, not audited accounts. Distinguish training, inference, research and commercial pricing.</a:t>
            </a:r>
          </a:p>
          <a:p xmlns:a="http://schemas.openxmlformats.org/drawingml/2006/main">
            <a:r>
              <a:t/>
            </a:r>
          </a:p>
          <a:p xmlns:a="http://schemas.openxmlformats.org/drawingml/2006/main">
            <a:r>
              <a:t>Sources and scope:</a:t>
            </a:r>
          </a:p>
          <a:p xmlns:a="http://schemas.openxmlformats.org/drawingml/2006/main">
            <a:r>
              <a:t>DeepSeek-V3 · technical report, Table 1 (2024–2025)</a:t>
            </a:r>
          </a:p>
          <a:p xmlns:a="http://schemas.openxmlformats.org/drawingml/2006/main">
            <a:r>
              <a:t>https://arxiv.org/abs/2412.19437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Open weights, open-source code and APIs are different access modes. Variants may have different licenses. Compare models on the same tasks with dated configuration and budget.</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Qwen-Agent documents tool use and retrieval. An arbitrary installation does not automatically gain payments or commerce access. Commercial integrations have specific scope, regions and conditions.</a:t>
            </a:r>
          </a:p>
          <a:p xmlns:a="http://schemas.openxmlformats.org/drawingml/2006/main">
            <a:r>
              <a:t/>
            </a:r>
          </a:p>
          <a:p xmlns:a="http://schemas.openxmlformats.org/drawingml/2006/main">
            <a:r>
              <a:t>Sources and scope:</a:t>
            </a:r>
          </a:p>
          <a:p xmlns:a="http://schemas.openxmlformats.org/drawingml/2006/main">
            <a:r>
              <a:t>Qwen-Agent · official code and documentation</a:t>
            </a:r>
          </a:p>
          <a:p xmlns:a="http://schemas.openxmlformats.org/drawingml/2006/main">
            <a:r>
              <a:t>https://github.com/QwenLM/Qwen-Agent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This is an economic interpretation, not an accounting identity or guarantee of market power. Integration may also raise dependence and exit costs. Ask whether clients can export data and reproduce the process elsewhere.</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An editing agent needs to open the final file. A data agent needs reproducible calculations. Tools return observations and may fail. The architecture needs explicit handling of errors and missing data.</a:t>
            </a:r>
          </a:p>
          <a:p xmlns:a="http://schemas.openxmlformats.org/drawingml/2006/main">
            <a:r>
              <a:t/>
            </a:r>
          </a:p>
          <a:p xmlns:a="http://schemas.openxmlformats.org/drawingml/2006/main">
            <a:r>
              <a:t>Sources and scope:</a:t>
            </a:r>
          </a:p>
          <a:p xmlns:a="http://schemas.openxmlformats.org/drawingml/2006/main">
            <a:r>
              <a:t>Qwen · Function Calling documentation</a:t>
            </a:r>
          </a:p>
          <a:p xmlns:a="http://schemas.openxmlformats.org/drawingml/2006/main">
            <a:r>
              <a:t>https://qwen.readthedocs.io/en/stable/framework/function_call.html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Use the agent simulator to introduce a unit mismatch and a missing field. The exercise does not rank suppliers. It teaches traceability and the ability to acknowledge insufficient evidence.</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Ask for execution evidence before judging prose. A primary source documents a declared specification but may not independently validate performance. Separate observations, declarations and analyst inference.</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The term refers to intelligence operating through a body in an environment. It does not imply human understanding or that the entire architecture is an LLM. Sensorimotor coupling and test conditions are central.</a:t>
            </a:r>
          </a:p>
          <a:p xmlns:a="http://schemas.openxmlformats.org/drawingml/2006/main">
            <a:r>
              <a:t/>
            </a:r>
          </a:p>
          <a:p xmlns:a="http://schemas.openxmlformats.org/drawingml/2006/main">
            <a:r>
              <a:t>Sources and scope:</a:t>
            </a:r>
          </a:p>
          <a:p xmlns:a="http://schemas.openxmlformats.org/drawingml/2006/main">
            <a:r>
              <a:t>OpenVLA · research paper (2024)</a:t>
            </a:r>
          </a:p>
          <a:p xmlns:a="http://schemas.openxmlformats.org/drawingml/2006/main">
            <a:r>
              <a:t>https://arxiv.org/abs/2406.09246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Feedback updates control. An LLM can sit at a high level without commanding every motor. Operational protection must intervene when planning proposes an unsuitable action.</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OpenVLA is a research reference for architecture, not a Chinese product or universal standard. Generalization is tested under defined tasks and conditions. End-to-end integration does not remove evaluation or safety.</a:t>
            </a:r>
          </a:p>
          <a:p xmlns:a="http://schemas.openxmlformats.org/drawingml/2006/main">
            <a:r>
              <a:t/>
            </a:r>
          </a:p>
          <a:p xmlns:a="http://schemas.openxmlformats.org/drawingml/2006/main">
            <a:r>
              <a:t>Sources and scope:</a:t>
            </a:r>
          </a:p>
          <a:p xmlns:a="http://schemas.openxmlformats.org/drawingml/2006/main">
            <a:r>
              <a:t>OpenVLA · research paper (2024)</a:t>
            </a:r>
          </a:p>
          <a:p xmlns:a="http://schemas.openxmlformats.org/drawingml/2006/main">
            <a:r>
              <a:t>https://arxiv.org/abs/2406.09246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Simulation and imitation can be combined. Dataset diversity and evaluation design matter alongside size. Skills learned with one gripper do not automatically transfer to a different hand.</a:t>
            </a:r>
          </a:p>
          <a:p xmlns:a="http://schemas.openxmlformats.org/drawingml/2006/main">
            <a:r>
              <a:t/>
            </a:r>
          </a:p>
          <a:p xmlns:a="http://schemas.openxmlformats.org/drawingml/2006/main">
            <a:r>
              <a:t>Sources and scope:</a:t>
            </a:r>
          </a:p>
          <a:p xmlns:a="http://schemas.openxmlformats.org/drawingml/2006/main">
            <a:r>
              <a:t>OpenVLA · research paper (2024)</a:t>
            </a:r>
          </a:p>
          <a:p xmlns:a="http://schemas.openxmlformats.org/drawingml/2006/main">
            <a:r>
              <a:t>https://arxiv.org/abs/2406.09246</a:t>
            </a:r>
          </a:p>
          <a:p xmlns:a="http://schemas.openxmlformats.org/drawingml/2006/main">
            <a:r>
              <a:t>Sutton &amp; Barto · Reinforcement Learning, second edition</a:t>
            </a:r>
          </a:p>
          <a:p xmlns:a="http://schemas.openxmlformats.org/drawingml/2006/main">
            <a:r>
              <a:t>http://incompleteideas.net/book/the-book-2nd.html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More synthetic data does not always improve results. Its value depends on relevant variation and avoiding bias. Final testing must specify hardware, task and operating conditions.</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The original deck included deployment targets without sufficiently visible dating. This version replaces them with an evaluation framework to avoid turning announcements into achievements. Future figures need document, date, scope and deadline.</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Strengths are interpretations of company positioning and need task-level evaluation. Do not rank different configurations by degrees of freedom alone. Uptime, manipulation, integration and support matter.</a:t>
            </a:r>
          </a:p>
          <a:p xmlns:a="http://schemas.openxmlformats.org/drawingml/2006/main">
            <a:r>
              <a:t/>
            </a:r>
          </a:p>
          <a:p xmlns:a="http://schemas.openxmlformats.org/drawingml/2006/main">
            <a:r>
              <a:t>Sources and scope:</a:t>
            </a:r>
          </a:p>
          <a:p xmlns:a="http://schemas.openxmlformats.org/drawingml/2006/main">
            <a:r>
              <a:t>Unitree · G1 product specifications</a:t>
            </a:r>
          </a:p>
          <a:p xmlns:a="http://schemas.openxmlformats.org/drawingml/2006/main">
            <a:r>
              <a:t>https://www.unitree.com/g1/</a:t>
            </a:r>
          </a:p>
          <a:p xmlns:a="http://schemas.openxmlformats.org/drawingml/2006/main">
            <a:r>
              <a:t>UBTECH · Walker S2 manufacturer page</a:t>
            </a:r>
          </a:p>
          <a:p xmlns:a="http://schemas.openxmlformats.org/drawingml/2006/main">
            <a:r>
              <a:t>https://www.ubtrobot.com/en/humanoid/products/walker-s2</a:t>
            </a:r>
          </a:p>
          <a:p xmlns:a="http://schemas.openxmlformats.org/drawingml/2006/main">
            <a:r>
              <a:t>XPENG · IRON production line announcement, 08/09/2026</a:t>
            </a:r>
          </a:p>
          <a:p xmlns:a="http://schemas.openxmlformats.org/drawingml/2006/main">
            <a:r>
              <a:t>https://www.xpeng.com/news/01a080371029a057bc8e8a02a2c6012b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These are manufacturer declarations, not measurements by this class. Record variant and accessories. The side-flip video shows dynamic control while leaving industrial task productivity unresolved.</a:t>
            </a:r>
          </a:p>
          <a:p xmlns:a="http://schemas.openxmlformats.org/drawingml/2006/main">
            <a:r>
              <a:t/>
            </a:r>
          </a:p>
          <a:p xmlns:a="http://schemas.openxmlformats.org/drawingml/2006/main">
            <a:r>
              <a:t>Sources and scope:</a:t>
            </a:r>
          </a:p>
          <a:p xmlns:a="http://schemas.openxmlformats.org/drawingml/2006/main">
            <a:r>
              <a:t>Unitree · G1 product specifications</a:t>
            </a:r>
          </a:p>
          <a:p xmlns:a="http://schemas.openxmlformats.org/drawingml/2006/main">
            <a:r>
              <a:t>https://www.unitree.com/g1/</a:t>
            </a:r>
          </a:p>
          <a:p xmlns:a="http://schemas.openxmlformats.org/drawingml/2006/main">
            <a:r>
              <a:t>Unitree · G1 side flip, original video</a:t>
            </a:r>
          </a:p>
          <a:p xmlns:a="http://schemas.openxmlformats.org/drawingml/2006/main">
            <a:r>
              <a:t>https://www.youtube.com/watch?v=29xLWhqME2Q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The page supports a declared capability, not continuous productive operation. Include station, batteries, maintenance and recovery time. Availability is distinct from task success.</a:t>
            </a:r>
          </a:p>
          <a:p xmlns:a="http://schemas.openxmlformats.org/drawingml/2006/main">
            <a:r>
              <a:t/>
            </a:r>
          </a:p>
          <a:p xmlns:a="http://schemas.openxmlformats.org/drawingml/2006/main">
            <a:r>
              <a:t>Sources and scope:</a:t>
            </a:r>
          </a:p>
          <a:p xmlns:a="http://schemas.openxmlformats.org/drawingml/2006/main">
            <a:r>
              <a:t>UBTECH · Walker S2 manufacturer page</a:t>
            </a:r>
          </a:p>
          <a:p xmlns:a="http://schemas.openxmlformats.org/drawingml/2006/main">
            <a:r>
              <a:t>https://www.ubtrobot.com/en/humanoid/products/walker-s2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Treat the announcement as XPENG’s statement. Avoid adopting promotional leadership claims. Reported milestones and future plans have different status. Deliveries, clients and operating hours are needed to assess commercialization.</a:t>
            </a:r>
          </a:p>
          <a:p xmlns:a="http://schemas.openxmlformats.org/drawingml/2006/main">
            <a:r>
              <a:t/>
            </a:r>
          </a:p>
          <a:p xmlns:a="http://schemas.openxmlformats.org/drawingml/2006/main">
            <a:r>
              <a:t>Sources and scope:</a:t>
            </a:r>
          </a:p>
          <a:p xmlns:a="http://schemas.openxmlformats.org/drawingml/2006/main">
            <a:r>
              <a:t>XPENG · IRON production line announcement, 08/09/2026</a:t>
            </a:r>
          </a:p>
          <a:p xmlns:a="http://schemas.openxmlformats.org/drawingml/2006/main">
            <a:r>
              <a:t>https://www.xpeng.com/news/01a080371029a057bc8e8a02a2c6012b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This is an evaluation template, not a completed empirical comparison. Do not fill fields using video-based guesses. Comparable testing or explicitly identified data are required.</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Open videos.html from the portal. Show brief teacher-selected excerpts without unverified timing claims. If embedding is blocked, open the original. Links were retrieved, but audiovisual playback was not validated in this environment.</a:t>
            </a:r>
          </a:p>
          <a:p xmlns:a="http://schemas.openxmlformats.org/drawingml/2006/main">
            <a:r>
              <a:t/>
            </a:r>
          </a:p>
          <a:p xmlns:a="http://schemas.openxmlformats.org/drawingml/2006/main">
            <a:r>
              <a:t>Sources and scope:</a:t>
            </a:r>
          </a:p>
          <a:p xmlns:a="http://schemas.openxmlformats.org/drawingml/2006/main">
            <a:r>
              <a:t>VideoLab · existing teaching catalog</a:t>
            </a:r>
          </a:p>
          <a:p xmlns:a="http://schemas.openxmlformats.org/drawingml/2006/main">
            <a:r>
              <a:t>https://sgevatschnaider.github.io/Inteligencia-Artificial-y-Rob-tica-en-China/videolab/</a:t>
            </a:r>
          </a:p>
          <a:p xmlns:a="http://schemas.openxmlformats.org/drawingml/2006/main">
            <a:r>
              <a:t>Unitree · G1 side flip, original video</a:t>
            </a:r>
          </a:p>
          <a:p xmlns:a="http://schemas.openxmlformats.org/drawingml/2006/main">
            <a:r>
              <a:t>https://www.youtube.com/watch?v=29xLWhqME2Q</a:t>
            </a:r>
          </a:p>
          <a:p xmlns:a="http://schemas.openxmlformats.org/drawingml/2006/main">
            <a:r>
              <a:t>XPENG · Why is IRON so human-like?, original video</a:t>
            </a:r>
          </a:p>
          <a:p xmlns:a="http://schemas.openxmlformats.org/drawingml/2006/main">
            <a:r>
              <a:t>https://www.youtube.com/watch?v=ssxdSVQN14I</a:t>
            </a:r>
          </a:p>
          <a:p xmlns:a="http://schemas.openxmlformats.org/drawingml/2006/main">
            <a:r>
              <a:t>UBTECH · Walker S2 manufacturer page</a:t>
            </a:r>
          </a:p>
          <a:p xmlns:a="http://schemas.openxmlformats.org/drawingml/2006/main">
            <a:r>
              <a:t>https://www.ubtrobot.com/en/humanoid/products/walker-s2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Improvement feeds back into operation. The cycle represents a causal hypothesis to test, not an automatic result. A fleet may generate redundant data and reinforce bias when difficult cases are missing.</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A factory’s data advantage depends on recording, curation and reuse. Not all information transfers or can be shared. Ask which institutional and engineering capabilities complement a large fleet.</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Horizontal: observed autonomy under stated conditions. Vertical: comparative economic evidence. An automated cell can be profitable with narrow autonomy. An autonomous humanoid may lack a proven economic case.</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Keep denominators distinct. Availability applies to scheduled time and success to operating attempts. Rework is not modeled explicitly. Parameters are user assumptions, not manufacturer estimates.</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s, w and e are dimensionless multipliers. Here w raises both throughput and power: interpret it as batch or task intensity, not a physical law for kilograms. The base battery is 1,000 Wh. These equations cannot size an actual purchase.</a:t>
            </a:r>
          </a:p>
          <a:p xmlns:a="http://schemas.openxmlformats.org/drawingml/2006/main">
            <a:r>
              <a:t/>
            </a:r>
          </a:p>
          <a:p xmlns:a="http://schemas.openxmlformats.org/drawingml/2006/main">
            <a:r>
              <a:t>Sources and scope:</a:t>
            </a:r>
          </a:p>
          <a:p xmlns:a="http://schemas.openxmlformats.org/drawingml/2006/main">
            <a:r>
              <a:t>RobotLab · original educational model</a:t>
            </a:r>
          </a:p>
          <a:p xmlns:a="http://schemas.openxmlformats.org/drawingml/2006/main">
            <a:r>
              <a:t>https://sgevatschnaider.github.io/Inteligencia-Artificial-y-Rob-tica-en-China/robotlab/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Write E(s) as [(150+80w)/s + 100s]/(30we). The derivative vanishes at s*=sqrt((150+80w)/100). For w=1 it is 1.5166. e rescales the curve without shifting this minimum. Success, cost and safety may change the relevant objective.</a:t>
            </a:r>
          </a:p>
          <a:p xmlns:a="http://schemas.openxmlformats.org/drawingml/2006/main">
            <a:r>
              <a:t/>
            </a:r>
          </a:p>
          <a:p xmlns:a="http://schemas.openxmlformats.org/drawingml/2006/main">
            <a:r>
              <a:t>Sources and scope:</a:t>
            </a:r>
          </a:p>
          <a:p xmlns:a="http://schemas.openxmlformats.org/drawingml/2006/main">
            <a:r>
              <a:t>RobotLab · original educational model</a:t>
            </a:r>
          </a:p>
          <a:p xmlns:a="http://schemas.openxmlformats.org/drawingml/2006/main">
            <a:r>
              <a:t>https://sgevatschnaider.github.io/Inteligencia-Artificial-y-Rob-tica-en-China/robotlab/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The final time step must stop at the available energy. Counting a full hour with insufficient battery overstates output. Power is constant within a scenario; degradation and thermal variation are omitted.</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The model assumes energy use only during operating hours and omits idle power. Availability changes volume and energy expense, but not operating Eᵥ. Annual fixed costs spread across fewer tasks as availability falls. This avoids double counting.</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The lab uses straight-line annualization: investment minus residual divided by years. It omits discounting, taxes and financing. Unit cost is not a complete financial appraisal; residual value is not annual revenue.</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The calculations are 80,000/40,000 and 56,000/70,000. They are not company prices or results. The conclusion requires comparable task requirements. Adaptability may be valuable as task mix changes, but it needs quantification.</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The equation assumes linear costs and a nonzero denominator. A crossover matters only when Q* is positive and feasible for both options. Match valid tasks, quality and availability. This threshold is not an investment payback period.</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Technical capability alone does not determine net employment. Demand, prices and new tasks also change. Aging may encourage automation without making it profitable everywhere. Undated demographic figures from the source were omitted.</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Treat this as policy vocabulary and discuss its analytical content. A policy expression is not a statistical measure. The economic connection combines innovation, human capital and organizational change.</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Connect to class 3 on semiconductors without asserting unverified trade rules. Dependencies may involve software or services as well as hardware. Commercial system availability matters alongside specifications.</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This is an applied discussion of knowledge-based services. Validate demand through clients, infrastructure access and technical capability. Do not promise a market without commercial research.</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具身智能: embodied intelligence. 数据飞轮: data flywheel. 端到端: end-to-end. 新质生产力: new quality productive forces. 机器人红利: robotic dividend, used here as an analytical metaphor rather than an official indicator.</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The result may reject the hypothesis. With fixed success, speed spreads fixed costs across more tasks and may offset higher energy. If success drops, the conclusion may reverse. Seek reproducible reasoning rather than one predetermined answer.</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Open the module index.html. Local use needs a modern browser and no installation. Linked videos and sources need Internet. The presentations and simulators do not call external models.</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Close by asking for one concrete test before investing. A good answer specifies task, alternative, sample, metrics and conditions. Connect to class 3: capability also depends on chips, energy and supply chains.</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0b506400b045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22906b59b446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d9eda11c28c48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b4d9816ed8f42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ddb42396054b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f54e38ed1b24b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322BC9-2E70-487C-8D0B-06E064EC090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6663865-A072-4086-9239-98688E35B4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DE3FDB-86DA-458A-A303-AB66FE69D99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D457DF-4CEC-4A5F-9135-FA5E5D886E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5DF63C-EC5B-4594-9A84-61ECD5932E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117D3D5-389F-4598-A5F0-4C86E2E149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9557FA-088C-41E3-B806-D4D458DB80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F51D4C-71D6-4F4A-9A1B-C48B71D108A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3A5A09-7E89-482F-AB91-F6D69ED33F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0216B9-B5D8-492E-AA73-1448A70BB6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9eedf5fe7745fc" /><Relationship Type="http://schemas.openxmlformats.org/officeDocument/2006/relationships/slideLayout" Target="/ppt/slideLayouts/slideLayout1.xml" Id="R59829644ae5448e3" /><Relationship Type="http://schemas.openxmlformats.org/officeDocument/2006/relationships/slideLayout" Target="/ppt/slideLayouts/slideLayout2.xml" Id="R53ef4ad3d2e24063" /><Relationship Type="http://schemas.openxmlformats.org/officeDocument/2006/relationships/slideLayout" Target="/ppt/slideLayouts/slideLayout3.xml" Id="Rc17449a14c184640" /><Relationship Type="http://schemas.openxmlformats.org/officeDocument/2006/relationships/slideLayout" Target="/ppt/slideLayouts/slideLayout4.xml" Id="R48e68772ef7c4a86" /><Relationship Type="http://schemas.openxmlformats.org/officeDocument/2006/relationships/slideLayout" Target="/ppt/slideLayouts/slideLayout5.xml" Id="R8d1fbdf2e58a43fe" /><Relationship Type="http://schemas.openxmlformats.org/officeDocument/2006/relationships/slideLayout" Target="/ppt/slideLayouts/slideLayout6.xml" Id="Ra00ff33fbea942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829644ae5448e3"/>
    <p:sldLayoutId xmlns:r="http://schemas.openxmlformats.org/officeDocument/2006/relationships" id="2147483650" r:id="R53ef4ad3d2e24063"/>
    <p:sldLayoutId xmlns:r="http://schemas.openxmlformats.org/officeDocument/2006/relationships" id="2147483651" r:id="Rc17449a14c184640"/>
    <p:sldLayoutId xmlns:r="http://schemas.openxmlformats.org/officeDocument/2006/relationships" id="2147483652" r:id="R48e68772ef7c4a86"/>
    <p:sldLayoutId xmlns:r="http://schemas.openxmlformats.org/officeDocument/2006/relationships" id="2147483653" r:id="R8d1fbdf2e58a43fe"/>
    <p:sldLayoutId xmlns:r="http://schemas.openxmlformats.org/officeDocument/2006/relationships" id="2147483654" r:id="Ra00ff33fbea942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dca8de876994c36" /><Relationship Type="http://schemas.openxmlformats.org/officeDocument/2006/relationships/image" Target="/ppt/media/image.png" Id="R0a07b32caef44a36" /><Relationship Type="http://schemas.openxmlformats.org/officeDocument/2006/relationships/notesSlide" Target="/ppt/notesSlides/notesSlide1.xml" Id="Reca922532b774c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a360c35df5041af" /><Relationship Type="http://schemas.openxmlformats.org/officeDocument/2006/relationships/notesSlide" Target="/ppt/notesSlides/notesSlide2.xml" Id="Raa8e7abb58244c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642abd009443e3" /><Relationship Type="http://schemas.openxmlformats.org/officeDocument/2006/relationships/notesSlide" Target="/ppt/notesSlides/notesSlide3.xml" Id="R5a8309ddc9f647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52d3e6f16f3483a" /><Relationship Type="http://schemas.openxmlformats.org/officeDocument/2006/relationships/notesSlide" Target="/ppt/notesSlides/notesSlide4.xml" Id="R02c4a369039d47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51a18475ed048e1" /><Relationship Type="http://schemas.openxmlformats.org/officeDocument/2006/relationships/notesSlide" Target="/ppt/notesSlides/notesSlide5.xml" Id="Ra39dc5a40b8848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c02019bfbb4903" /><Relationship Type="http://schemas.openxmlformats.org/officeDocument/2006/relationships/notesSlide" Target="/ppt/notesSlides/notesSlide6.xml" Id="R887c3d867e5e4f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498d49a7cba48ae" /><Relationship Type="http://schemas.openxmlformats.org/officeDocument/2006/relationships/notesSlide" Target="/ppt/notesSlides/notesSlide7.xml" Id="Rc57aabd629ad49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180eeb55d8f4f00" /><Relationship Type="http://schemas.openxmlformats.org/officeDocument/2006/relationships/notesSlide" Target="/ppt/notesSlides/notesSlide8.xml" Id="R86b7d30ec8b94f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f00603c7ac3496e" /><Relationship Type="http://schemas.openxmlformats.org/officeDocument/2006/relationships/notesSlide" Target="/ppt/notesSlides/notesSlide9.xml" Id="R287533fffdc547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c8b0b6fb66c45ba" /><Relationship Type="http://schemas.openxmlformats.org/officeDocument/2006/relationships/notesSlide" Target="/ppt/notesSlides/notesSlide10.xml" Id="R54e458cc855743e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c7e3a7e6126426c" /><Relationship Type="http://schemas.openxmlformats.org/officeDocument/2006/relationships/notesSlide" Target="/ppt/notesSlides/notesSlide11.xml" Id="R4ba36e0bed4849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92f0d7d113d4d73" /><Relationship Type="http://schemas.openxmlformats.org/officeDocument/2006/relationships/notesSlide" Target="/ppt/notesSlides/notesSlide12.xml" Id="R484b0179161e45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06b8f87f389489e" /><Relationship Type="http://schemas.openxmlformats.org/officeDocument/2006/relationships/notesSlide" Target="/ppt/notesSlides/notesSlide13.xml" Id="Ra399e38dd57d47d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53292d3faa1477e" /><Relationship Type="http://schemas.openxmlformats.org/officeDocument/2006/relationships/notesSlide" Target="/ppt/notesSlides/notesSlide14.xml" Id="Rb795abbaf6754a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721020740614394" /><Relationship Type="http://schemas.openxmlformats.org/officeDocument/2006/relationships/notesSlide" Target="/ppt/notesSlides/notesSlide15.xml" Id="R42feabeb9c724c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fdead6c5144497e" /><Relationship Type="http://schemas.openxmlformats.org/officeDocument/2006/relationships/notesSlide" Target="/ppt/notesSlides/notesSlide16.xml" Id="Re996925166a4437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f83a7078bba45b1" /><Relationship Type="http://schemas.openxmlformats.org/officeDocument/2006/relationships/notesSlide" Target="/ppt/notesSlides/notesSlide17.xml" Id="Rfdebbcc2ca6146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f434f9228d14f84" /><Relationship Type="http://schemas.openxmlformats.org/officeDocument/2006/relationships/notesSlide" Target="/ppt/notesSlides/notesSlide18.xml" Id="Rec9850113caf4d3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60c3fed1cfe4ee5" /><Relationship Type="http://schemas.openxmlformats.org/officeDocument/2006/relationships/notesSlide" Target="/ppt/notesSlides/notesSlide19.xml" Id="Rdca689bc3f544c1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6ea428dfff248bb" /><Relationship Type="http://schemas.openxmlformats.org/officeDocument/2006/relationships/notesSlide" Target="/ppt/notesSlides/notesSlide20.xml" Id="R398e2d64215f46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bbba19e24f14e46" /><Relationship Type="http://schemas.openxmlformats.org/officeDocument/2006/relationships/notesSlide" Target="/ppt/notesSlides/notesSlide21.xml" Id="R4072668d238146a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8926a081c384f86" /><Relationship Type="http://schemas.openxmlformats.org/officeDocument/2006/relationships/notesSlide" Target="/ppt/notesSlides/notesSlide22.xml" Id="R4ac8b6ab34c44b7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da29e578a304917" /><Relationship Type="http://schemas.openxmlformats.org/officeDocument/2006/relationships/notesSlide" Target="/ppt/notesSlides/notesSlide23.xml" Id="R250ae8dd05174c5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ed95d5572244d54" /><Relationship Type="http://schemas.openxmlformats.org/officeDocument/2006/relationships/notesSlide" Target="/ppt/notesSlides/notesSlide24.xml" Id="R1db9f4e4f985494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caeec5e17c4445a" /><Relationship Type="http://schemas.openxmlformats.org/officeDocument/2006/relationships/notesSlide" Target="/ppt/notesSlides/notesSlide25.xml" Id="Rd22bc75ab095491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20dbb036d98432e" /><Relationship Type="http://schemas.openxmlformats.org/officeDocument/2006/relationships/notesSlide" Target="/ppt/notesSlides/notesSlide26.xml" Id="R502eac213d46450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b683f9834664106" /><Relationship Type="http://schemas.openxmlformats.org/officeDocument/2006/relationships/notesSlide" Target="/ppt/notesSlides/notesSlide27.xml" Id="R228777b26f264f2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88e5ddea8574cd8" /><Relationship Type="http://schemas.openxmlformats.org/officeDocument/2006/relationships/notesSlide" Target="/ppt/notesSlides/notesSlide28.xml" Id="R5d3730086d3245e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f652a5b1bd0460d" /><Relationship Type="http://schemas.openxmlformats.org/officeDocument/2006/relationships/notesSlide" Target="/ppt/notesSlides/notesSlide29.xml" Id="Rba591ee39f3e45a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84ec85b27234ac7" /><Relationship Type="http://schemas.openxmlformats.org/officeDocument/2006/relationships/notesSlide" Target="/ppt/notesSlides/notesSlide30.xml" Id="R237b5363cdaf4ee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05075958657471a" /><Relationship Type="http://schemas.openxmlformats.org/officeDocument/2006/relationships/notesSlide" Target="/ppt/notesSlides/notesSlide31.xml" Id="R47e763ef4c4c4de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6f5d5859ed34999" /><Relationship Type="http://schemas.openxmlformats.org/officeDocument/2006/relationships/notesSlide" Target="/ppt/notesSlides/notesSlide32.xml" Id="Rd9c49ef41bc9467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a9a1caf2bc94b5d" /><Relationship Type="http://schemas.openxmlformats.org/officeDocument/2006/relationships/chart" Target="/ppt/slides/charts/chart1.xml" Id="R3ef7f9cc06524121" /><Relationship Type="http://schemas.openxmlformats.org/officeDocument/2006/relationships/notesSlide" Target="/ppt/notesSlides/notesSlide33.xml" Id="Re319a33eb587441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8a602cdc3ea4d70" /><Relationship Type="http://schemas.openxmlformats.org/officeDocument/2006/relationships/notesSlide" Target="/ppt/notesSlides/notesSlide34.xml" Id="R7ed4e0508df34f4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79869f19b3546cc" /><Relationship Type="http://schemas.openxmlformats.org/officeDocument/2006/relationships/notesSlide" Target="/ppt/notesSlides/notesSlide35.xml" Id="R55476d934fe64f8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771ec8ab52e49f3" /><Relationship Type="http://schemas.openxmlformats.org/officeDocument/2006/relationships/notesSlide" Target="/ppt/notesSlides/notesSlide36.xml" Id="R77d24605db8d47c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f9c2393f9a3f44c1" /><Relationship Type="http://schemas.openxmlformats.org/officeDocument/2006/relationships/notesSlide" Target="/ppt/notesSlides/notesSlide37.xml" Id="R3ec2cc9c6e20421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37013b5dbe64fa3" /><Relationship Type="http://schemas.openxmlformats.org/officeDocument/2006/relationships/notesSlide" Target="/ppt/notesSlides/notesSlide38.xml" Id="Rb5e33fa96cb543d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58a955bc3cf455a" /><Relationship Type="http://schemas.openxmlformats.org/officeDocument/2006/relationships/notesSlide" Target="/ppt/notesSlides/notesSlide39.xml" Id="R88ed44e70d4a413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a1428a0aeb243d0" /><Relationship Type="http://schemas.openxmlformats.org/officeDocument/2006/relationships/notesSlide" Target="/ppt/notesSlides/notesSlide40.xml" Id="Rc6170d530ead411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e26171b1c8524970" /><Relationship Type="http://schemas.openxmlformats.org/officeDocument/2006/relationships/notesSlide" Target="/ppt/notesSlides/notesSlide41.xml" Id="R72f78da63c56437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d376655d4ee54e13" /><Relationship Type="http://schemas.openxmlformats.org/officeDocument/2006/relationships/notesSlide" Target="/ppt/notesSlides/notesSlide42.xml" Id="R73aac997c034437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b918b817f924a8e" /><Relationship Type="http://schemas.openxmlformats.org/officeDocument/2006/relationships/notesSlide" Target="/ppt/notesSlides/notesSlide43.xml" Id="R626e70f6e9e54c2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af76d884dda2465c" /><Relationship Type="http://schemas.openxmlformats.org/officeDocument/2006/relationships/notesSlide" Target="/ppt/notesSlides/notesSlide44.xml" Id="Rc00403f116ef46d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2894cfeefe6344b8" /><Relationship Type="http://schemas.openxmlformats.org/officeDocument/2006/relationships/notesSlide" Target="/ppt/notesSlides/notesSlide45.xml" Id="R15491dcd35c3466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7e2d780e04964fde" /><Relationship Type="http://schemas.openxmlformats.org/officeDocument/2006/relationships/notesSlide" Target="/ppt/notesSlides/notesSlide46.xml" Id="Rb09981b14def4a2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a:solidFill>
                  <a:srgbClr val="FFFDFA"/>
                </a:solidFill>
                <a:latin typeface="DejaVu Sans"/>
                <a:ea typeface="DejaVu Sans"/>
                <a:cs typeface="DejaVu Sans"/>
              </a:rPr>
              <a:t>Energy per attempt · w = e = 1</a:t>
            </a:r>
          </a:p>
        </c:rich>
      </c:tx>
      <c:overlay val="0"/>
      <c:txPr>
        <a:bodyPr xmlns:a="http://schemas.openxmlformats.org/drawingml/2006/main" anchorCtr="1"/>
        <a:lstStyle xmlns:a="http://schemas.openxmlformats.org/drawingml/2006/main"/>
        <a:p xmlns:a="http://schemas.openxmlformats.org/drawingml/2006/main">
          <a:pPr>
            <a:defRPr sz="1575">
              <a:solidFill>
                <a:srgbClr val="FFFDFA"/>
              </a:solidFill>
              <a:latin typeface="DejaVu Sans"/>
              <a:ea typeface="DejaVu Sans"/>
              <a:cs typeface="DejaVu Sans"/>
            </a:defRPr>
          </a:pPr>
        </a:p>
      </c:txPr>
    </c:title>
    <c:plotArea>
      <c:scatterChart>
        <c:scatterStyle val="line"/>
        <c:varyColors val="0"/>
        <c:ser>
          <c:idx val="0"/>
          <c:order val="0"/>
          <c:tx>
            <c:v>Wh / attempt</c:v>
          </c:tx>
          <c:spPr>
            <a:ln xmlns:a="http://schemas.openxmlformats.org/drawingml/2006/main" w="28575">
              <a:solidFill>
                <a:srgbClr val="62D6C9"/>
              </a:solidFill>
              <a:prstDash val="solid"/>
            </a:ln>
          </c:spPr>
          <c:marker>
            <c:symbol val="none"/>
          </c:marker>
          <c:xVal>
            <c:numRef>
              <c:f>'Chart Data'!$A$2:$A$30</c:f>
              <c:numCache>
                <c:formatCode>General</c:formatCode>
                <c:ptCount val="29"/>
                <c:pt idx="0">
                  <c:v>0.3</c:v>
                </c:pt>
                <c:pt idx="1">
                  <c:v>0.45</c:v>
                </c:pt>
                <c:pt idx="2">
                  <c:v>0.6</c:v>
                </c:pt>
                <c:pt idx="3">
                  <c:v>0.75</c:v>
                </c:pt>
                <c:pt idx="4">
                  <c:v>0.9</c:v>
                </c:pt>
                <c:pt idx="5">
                  <c:v>1.05</c:v>
                </c:pt>
                <c:pt idx="6">
                  <c:v>1.2</c:v>
                </c:pt>
                <c:pt idx="7">
                  <c:v>1.35</c:v>
                </c:pt>
                <c:pt idx="8">
                  <c:v>1.5</c:v>
                </c:pt>
                <c:pt idx="9">
                  <c:v>1.65</c:v>
                </c:pt>
                <c:pt idx="10">
                  <c:v>1.8</c:v>
                </c:pt>
                <c:pt idx="11">
                  <c:v>1.95</c:v>
                </c:pt>
                <c:pt idx="12">
                  <c:v>2.1</c:v>
                </c:pt>
                <c:pt idx="13">
                  <c:v>2.25</c:v>
                </c:pt>
                <c:pt idx="14">
                  <c:v>2.4</c:v>
                </c:pt>
                <c:pt idx="15">
                  <c:v>2.55</c:v>
                </c:pt>
                <c:pt idx="16">
                  <c:v>2.7</c:v>
                </c:pt>
                <c:pt idx="17">
                  <c:v>2.85</c:v>
                </c:pt>
                <c:pt idx="18">
                  <c:v>3</c:v>
                </c:pt>
                <c:pt idx="19">
                  <c:v>3.15</c:v>
                </c:pt>
                <c:pt idx="20">
                  <c:v>3.3</c:v>
                </c:pt>
                <c:pt idx="21">
                  <c:v>3.45</c:v>
                </c:pt>
                <c:pt idx="22">
                  <c:v>3.6</c:v>
                </c:pt>
                <c:pt idx="23">
                  <c:v>3.75</c:v>
                </c:pt>
                <c:pt idx="24">
                  <c:v>3.9</c:v>
                </c:pt>
                <c:pt idx="25">
                  <c:v>4.05</c:v>
                </c:pt>
                <c:pt idx="26">
                  <c:v>4.2</c:v>
                </c:pt>
                <c:pt idx="27">
                  <c:v>4.35</c:v>
                </c:pt>
                <c:pt idx="28">
                  <c:v>4.5</c:v>
                </c:pt>
              </c:numCache>
            </c:numRef>
          </c:xVal>
          <c:yVal>
            <c:numRef>
              <c:f>'Chart Data'!$B$2:$B$30</c:f>
              <c:numCache>
                <c:formatCode>General</c:formatCode>
                <c:ptCount val="29"/>
                <c:pt idx="0">
                  <c:v>26.55555556</c:v>
                </c:pt>
                <c:pt idx="1">
                  <c:v>18.53703704</c:v>
                </c:pt>
                <c:pt idx="2">
                  <c:v>14.77777778</c:v>
                </c:pt>
                <c:pt idx="3">
                  <c:v>12.72222222</c:v>
                </c:pt>
                <c:pt idx="4">
                  <c:v>11.51851852</c:v>
                </c:pt>
                <c:pt idx="5">
                  <c:v>10.8015873</c:v>
                </c:pt>
                <c:pt idx="6">
                  <c:v>10.38888889</c:v>
                </c:pt>
                <c:pt idx="7">
                  <c:v>10.17901235</c:v>
                </c:pt>
                <c:pt idx="8">
                  <c:v>10.11111111</c:v>
                </c:pt>
                <c:pt idx="9">
                  <c:v>10.14646465</c:v>
                </c:pt>
                <c:pt idx="10">
                  <c:v>10.25925926</c:v>
                </c:pt>
                <c:pt idx="11">
                  <c:v>10.43162393</c:v>
                </c:pt>
                <c:pt idx="12">
                  <c:v>10.65079365</c:v>
                </c:pt>
                <c:pt idx="13">
                  <c:v>10.90740741</c:v>
                </c:pt>
                <c:pt idx="14">
                  <c:v>11.19444444</c:v>
                </c:pt>
                <c:pt idx="15">
                  <c:v>11.50653595</c:v>
                </c:pt>
                <c:pt idx="16">
                  <c:v>11.83950617</c:v>
                </c:pt>
                <c:pt idx="17">
                  <c:v>12.19005848</c:v>
                </c:pt>
                <c:pt idx="18">
                  <c:v>12.55555556</c:v>
                </c:pt>
                <c:pt idx="19">
                  <c:v>12.93386243</c:v>
                </c:pt>
                <c:pt idx="20">
                  <c:v>13.32323232</c:v>
                </c:pt>
                <c:pt idx="21">
                  <c:v>13.72222222</c:v>
                </c:pt>
                <c:pt idx="22">
                  <c:v>14.12962963</c:v>
                </c:pt>
                <c:pt idx="23">
                  <c:v>14.54444444</c:v>
                </c:pt>
                <c:pt idx="24">
                  <c:v>14.96581197</c:v>
                </c:pt>
                <c:pt idx="25">
                  <c:v>15.39300412</c:v>
                </c:pt>
                <c:pt idx="26">
                  <c:v>15.82539683</c:v>
                </c:pt>
                <c:pt idx="27">
                  <c:v>16.26245211</c:v>
                </c:pt>
                <c:pt idx="28">
                  <c:v>16.7037037</c:v>
                </c:pt>
              </c:numCache>
            </c:numRef>
          </c:yVal>
        </c:ser>
        <c:axId val="48650112"/>
        <c:axId val="48672768"/>
      </c:scatterChart>
      <c:valAx>
        <c:axId val="48672768"/>
        <c:scaling>
          <c:orientation val="minMax"/>
          <c:max val="30"/>
          <c:min val="0"/>
        </c:scaling>
        <c:delete val="0"/>
        <c:axPos val="l"/>
        <c:majorGridlines>
          <c:spPr>
            <a:ln xmlns:a="http://schemas.openxmlformats.org/drawingml/2006/main" w="9525">
              <a:solidFill>
                <a:srgbClr val="CCD8D6"/>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FFFDFA"/>
                    </a:solidFill>
                    <a:latin typeface="DejaVu Sans"/>
                    <a:ea typeface="DejaVu Sans"/>
                    <a:cs typeface="DejaVu Sans"/>
                  </a:rPr>
                  <a:t>Wh</a:t>
                </a:r>
              </a:p>
            </c:rich>
          </c:tx>
          <c:overlay val="0"/>
          <c:txPr>
            <a:bodyPr xmlns:a="http://schemas.openxmlformats.org/drawingml/2006/main" anchorCtr="1"/>
            <a:lstStyle xmlns:a="http://schemas.openxmlformats.org/drawingml/2006/main"/>
            <a:p xmlns:a="http://schemas.openxmlformats.org/drawingml/2006/main">
              <a:pPr>
                <a:defRPr sz="1200">
                  <a:solidFill>
                    <a:srgbClr val="FFFDFA"/>
                  </a:solidFill>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FFFDFA"/>
                </a:solidFill>
                <a:latin typeface="DejaVu Sans"/>
                <a:ea typeface="DejaVu Sans"/>
                <a:cs typeface="DejaVu Sans"/>
              </a:defRPr>
            </a:pPr>
          </a:p>
        </c:txPr>
        <c:crossAx val="48650112"/>
      </c:valAx>
      <c:valAx>
        <c:axId val="48650112"/>
        <c:scaling>
          <c:orientation val="minMax"/>
          <c:max val="4.5"/>
          <c:min val="0"/>
        </c:scaling>
        <c:delete val="0"/>
        <c:axPos val="b"/>
        <c:title>
          <c:tx>
            <c:rich>
              <a:bodyPr xmlns:a="http://schemas.openxmlformats.org/drawingml/2006/main"/>
              <a:lstStyle xmlns:a="http://schemas.openxmlformats.org/drawingml/2006/main"/>
              <a:p xmlns:a="http://schemas.openxmlformats.org/drawingml/2006/main">
                <a:r>
                  <a:rPr sz="1200">
                    <a:solidFill>
                      <a:srgbClr val="FFFDFA"/>
                    </a:solidFill>
                    <a:latin typeface="DejaVu Sans"/>
                    <a:ea typeface="DejaVu Sans"/>
                    <a:cs typeface="DejaVu Sans"/>
                  </a:rPr>
                  <a:t>Speed s</a:t>
                </a:r>
              </a:p>
            </c:rich>
          </c:tx>
          <c:overlay val="0"/>
          <c:txPr>
            <a:bodyPr xmlns:a="http://schemas.openxmlformats.org/drawingml/2006/main" anchorCtr="1"/>
            <a:lstStyle xmlns:a="http://schemas.openxmlformats.org/drawingml/2006/main"/>
            <a:p xmlns:a="http://schemas.openxmlformats.org/drawingml/2006/main">
              <a:pPr>
                <a:defRPr sz="1200">
                  <a:solidFill>
                    <a:srgbClr val="FFFDFA"/>
                  </a:solidFill>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FFFDFA"/>
                </a:solidFill>
                <a:latin typeface="DejaVu Sans"/>
                <a:ea typeface="DejaVu Sans"/>
                <a:cs typeface="DejaVu Sans"/>
              </a:defRPr>
            </a:pPr>
          </a:p>
        </c:txPr>
        <c:crossAx val="48672768"/>
      </c:valAx>
      <c:spPr>
        <a:solidFill xmlns:a="http://schemas.openxmlformats.org/drawingml/2006/main">
          <a:srgbClr val="071923"/>
        </a:solidFill>
      </c:spPr>
    </c:plotArea>
    <c:plotVisOnly val="1"/>
  </c:chart>
  <c:spPr>
    <a:solidFill xmlns:a="http://schemas.openxmlformats.org/drawingml/2006/main">
      <a:srgbClr val="071923"/>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FAD1BC9-D02D-4DE1-B761-6C8A926C2D46}"/>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5ufo027y7sp">
            <a:extLst xmlns:a="http://schemas.openxmlformats.org/drawingml/2006/main">
              <a:ext uri="{FF2B5EF4-FFF2-40B4-BE49-F238E27FC236}">
                <a16:creationId xmlns:a16="http://schemas.microsoft.com/office/drawing/2014/main" id="{7EBEFE4E-4355-42E3-8A88-7BE94F6C19BD}"/>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
            <a:extLst xmlns:a="http://schemas.openxmlformats.org/drawingml/2006/main">
              <a:ext uri="{FF2B5EF4-FFF2-40B4-BE49-F238E27FC236}">
                <a16:creationId xmlns:a16="http://schemas.microsoft.com/office/drawing/2014/main" id="{91F2A7EC-B6A1-49C4-8B95-4E983A2A289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4" name="text-4muops2zwa">
            <a:extLst xmlns:a="http://schemas.openxmlformats.org/drawingml/2006/main">
              <a:ext uri="{FF2B5EF4-FFF2-40B4-BE49-F238E27FC236}">
                <a16:creationId xmlns:a16="http://schemas.microsoft.com/office/drawing/2014/main" id="{9E2FA409-78B6-4165-9DB5-852D3C02DA3F}"/>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Sergio Gevatschnaider</a:t>
            </a:r>
          </a:p>
        </p:txBody>
      </p:sp>
      <p:sp>
        <p:nvSpPr>
          <p:cNvPr id="5" name="text-l15i9vwl16n">
            <a:extLst xmlns:a="http://schemas.openxmlformats.org/drawingml/2006/main">
              <a:ext uri="{FF2B5EF4-FFF2-40B4-BE49-F238E27FC236}">
                <a16:creationId xmlns:a16="http://schemas.microsoft.com/office/drawing/2014/main" id="{6FB629D1-3C3B-4169-B01B-AE9B6EB1665D}"/>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01</a:t>
            </a:r>
          </a:p>
        </p:txBody>
      </p:sp>
      <p:pic>
        <p:nvPicPr>
          <p:cNvPr id="6" name="">
            <a:extLst xmlns:a="http://schemas.openxmlformats.org/drawingml/2006/main">
              <a:ext uri="{FF2B5EF4-FFF2-40B4-BE49-F238E27FC236}">
                <a16:creationId xmlns:a16="http://schemas.microsoft.com/office/drawing/2014/main" id="{A3C9AAA4-A0D4-40FF-8FF7-7C6F220A4314}"/>
              </a:ext>
            </a:extLst>
          </p:cNvPr>
          <p:cNvPicPr>
            <a:picLocks xmlns:a="http://schemas.openxmlformats.org/drawingml/2006/main" noChangeAspect="1"/>
          </p:cNvPicPr>
          <p:nvPr/>
        </p:nvPicPr>
        <p:blipFill>
          <a:blip xmlns:r="http://schemas.openxmlformats.org/officeDocument/2006/relationships" xmlns:a="http://schemas.openxmlformats.org/drawingml/2006/main" r:embed="R0a07b32caef44a36"/>
          <a:srcRect xmlns:a="http://schemas.openxmlformats.org/drawingml/2006/main" l="46500" t="0" r="0" b="0"/>
          <a:stretch xmlns:a="http://schemas.openxmlformats.org/drawingml/2006/main"/>
        </p:blipFill>
        <p:spPr>
          <a:xfrm xmlns:a="http://schemas.openxmlformats.org/drawingml/2006/main">
            <a:off x="6334125" y="0"/>
            <a:ext cx="5857875" cy="6191250"/>
          </a:xfrm>
          <a:prstGeom xmlns:a="http://schemas.openxmlformats.org/drawingml/2006/main" prst="rect">
            <a:avLst/>
          </a:prstGeom>
        </p:spPr>
      </p:pic>
      <p:sp>
        <p:nvSpPr>
          <p:cNvPr id="7" name="text-10t9jsh7ldlf">
            <a:extLst xmlns:a="http://schemas.openxmlformats.org/drawingml/2006/main">
              <a:ext uri="{FF2B5EF4-FFF2-40B4-BE49-F238E27FC236}">
                <a16:creationId xmlns:a16="http://schemas.microsoft.com/office/drawing/2014/main" id="{BDFEC704-F000-4BA6-BBBF-34DFB7C380BA}"/>
              </a:ext>
            </a:extLst>
          </p:cNvPr>
          <p:cNvSpPr>
            <a:spLocks xmlns:a="http://schemas.openxmlformats.org/drawingml/2006/main" noGrp="1"/>
          </p:cNvSpPr>
          <p:nvPr/>
        </p:nvSpPr>
        <p:spPr>
          <a:xfrm xmlns:a="http://schemas.openxmlformats.org/drawingml/2006/main">
            <a:off x="609600" y="1181100"/>
            <a:ext cx="542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FFFDFA"/>
                </a:solidFill>
                <a:latin typeface="DejaVu Sans"/>
                <a:ea typeface="DejaVu Sans"/>
                <a:cs typeface="DejaVu Sans"/>
              </a:defRPr>
            </a:defPPr>
            <a:lvl1pPr algn="l">
              <a:defRPr sz="3675" b="1">
                <a:solidFill>
                  <a:srgbClr val="FFFDFA"/>
                </a:solidFill>
                <a:latin typeface="DejaVu Sans"/>
                <a:ea typeface="DejaVu Sans"/>
                <a:cs typeface="DejaVu Sans"/>
              </a:defRPr>
            </a:lvl1pPr>
            <a:lvl2pPr algn="l">
              <a:defRPr sz="3675" b="1">
                <a:solidFill>
                  <a:srgbClr val="FFFDFA"/>
                </a:solidFill>
                <a:latin typeface="DejaVu Sans"/>
                <a:ea typeface="DejaVu Sans"/>
                <a:cs typeface="DejaVu Sans"/>
              </a:defRPr>
            </a:lvl2pPr>
            <a:lvl3pPr algn="l">
              <a:defRPr sz="3675" b="1">
                <a:solidFill>
                  <a:srgbClr val="FFFDFA"/>
                </a:solidFill>
                <a:latin typeface="DejaVu Sans"/>
                <a:ea typeface="DejaVu Sans"/>
                <a:cs typeface="DejaVu Sans"/>
              </a:defRPr>
            </a:lvl3pPr>
            <a:lvl4pPr algn="l">
              <a:defRPr sz="3675" b="1">
                <a:solidFill>
                  <a:srgbClr val="FFFDFA"/>
                </a:solidFill>
                <a:latin typeface="DejaVu Sans"/>
                <a:ea typeface="DejaVu Sans"/>
                <a:cs typeface="DejaVu Sans"/>
              </a:defRPr>
            </a:lvl4pPr>
            <a:lvl5pPr algn="l">
              <a:defRPr sz="3675" b="1">
                <a:solidFill>
                  <a:srgbClr val="FFFDFA"/>
                </a:solidFill>
                <a:latin typeface="DejaVu Sans"/>
                <a:ea typeface="DejaVu Sans"/>
                <a:cs typeface="DejaVu Sans"/>
              </a:defRPr>
            </a:lvl5pPr>
            <a:lvl6pPr algn="l">
              <a:defRPr sz="3675" b="1">
                <a:solidFill>
                  <a:srgbClr val="FFFDFA"/>
                </a:solidFill>
                <a:latin typeface="DejaVu Sans"/>
                <a:ea typeface="DejaVu Sans"/>
                <a:cs typeface="DejaVu Sans"/>
              </a:defRPr>
            </a:lvl6pPr>
            <a:lvl7pPr algn="l">
              <a:defRPr sz="3675" b="1">
                <a:solidFill>
                  <a:srgbClr val="FFFDFA"/>
                </a:solidFill>
                <a:latin typeface="DejaVu Sans"/>
                <a:ea typeface="DejaVu Sans"/>
                <a:cs typeface="DejaVu Sans"/>
              </a:defRPr>
            </a:lvl7pPr>
            <a:lvl8pPr algn="l">
              <a:defRPr sz="3675" b="1">
                <a:solidFill>
                  <a:srgbClr val="FFFDFA"/>
                </a:solidFill>
                <a:latin typeface="DejaVu Sans"/>
                <a:ea typeface="DejaVu Sans"/>
                <a:cs typeface="DejaVu Sans"/>
              </a:defRPr>
            </a:lvl8pPr>
            <a:lvl9pPr algn="l">
              <a:defRPr sz="3675" b="1">
                <a:solidFill>
                  <a:srgbClr val="FFFDFA"/>
                </a:solidFill>
                <a:latin typeface="DejaVu Sans"/>
                <a:ea typeface="DejaVu Sans"/>
                <a:cs typeface="DejaVu Sans"/>
              </a:defRPr>
            </a:lvl9pPr>
          </a:lstStyle>
          <a:p xmlns:a="http://schemas.openxmlformats.org/drawingml/2006/main">
            <a:pPr algn="l">
              <a:lnSpc>
                <a:spcPct val="112000"/>
              </a:lnSpc>
              <a:buNone/>
              <a:defRPr sz="3675" b="1">
                <a:solidFill>
                  <a:srgbClr val="FFFDFA"/>
                </a:solidFill>
                <a:latin typeface="DejaVu Sans"/>
                <a:ea typeface="DejaVu Sans"/>
                <a:cs typeface="DejaVu Sans"/>
              </a:defRPr>
            </a:pPr>
            <a:r>
              <a:rPr sz="3675" b="1">
                <a:solidFill>
                  <a:srgbClr val="FFFDFA"/>
                </a:solidFill>
                <a:latin typeface="DejaVu Sans"/>
                <a:ea typeface="DejaVu Sans"/>
                <a:cs typeface="DejaVu Sans"/>
              </a:rPr>
              <a:t>From models</a:t>
            </a:r>
          </a:p>
          <a:p xmlns:a="http://schemas.openxmlformats.org/drawingml/2006/main">
            <a:pPr algn="l">
              <a:lnSpc>
                <a:spcPct val="112000"/>
              </a:lnSpc>
              <a:buNone/>
              <a:defRPr sz="3675" b="1">
                <a:solidFill>
                  <a:srgbClr val="FFFDFA"/>
                </a:solidFill>
                <a:latin typeface="DejaVu Sans"/>
                <a:ea typeface="DejaVu Sans"/>
                <a:cs typeface="DejaVu Sans"/>
              </a:defRPr>
            </a:pPr>
            <a:r>
              <a:rPr sz="3675" b="1">
                <a:solidFill>
                  <a:srgbClr val="FFFDFA"/>
                </a:solidFill>
                <a:latin typeface="DejaVu Sans"/>
                <a:ea typeface="DejaVu Sans"/>
                <a:cs typeface="DejaVu Sans"/>
              </a:rPr>
              <a:t>to agents and robots</a:t>
            </a:r>
          </a:p>
        </p:txBody>
      </p:sp>
      <p:sp>
        <p:nvSpPr>
          <p:cNvPr id="8" name="text-bf0zypeci6p">
            <a:extLst xmlns:a="http://schemas.openxmlformats.org/drawingml/2006/main">
              <a:ext uri="{FF2B5EF4-FFF2-40B4-BE49-F238E27FC236}">
                <a16:creationId xmlns:a16="http://schemas.microsoft.com/office/drawing/2014/main" id="{9926F420-17A9-4849-A159-032D6D5132FF}"/>
              </a:ext>
            </a:extLst>
          </p:cNvPr>
          <p:cNvSpPr>
            <a:spLocks xmlns:a="http://schemas.openxmlformats.org/drawingml/2006/main" noGrp="1"/>
          </p:cNvSpPr>
          <p:nvPr/>
        </p:nvSpPr>
        <p:spPr>
          <a:xfrm xmlns:a="http://schemas.openxmlformats.org/drawingml/2006/main">
            <a:off x="609600" y="3219450"/>
            <a:ext cx="5219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BED0D5"/>
                </a:solidFill>
                <a:latin typeface="DejaVu Sans"/>
                <a:ea typeface="DejaVu Sans"/>
                <a:cs typeface="DejaVu Sans"/>
              </a:defRPr>
            </a:defPPr>
            <a:lvl1pPr algn="l">
              <a:defRPr sz="1800" b="0">
                <a:solidFill>
                  <a:srgbClr val="BED0D5"/>
                </a:solidFill>
                <a:latin typeface="DejaVu Sans"/>
                <a:ea typeface="DejaVu Sans"/>
                <a:cs typeface="DejaVu Sans"/>
              </a:defRPr>
            </a:lvl1pPr>
            <a:lvl2pPr algn="l">
              <a:defRPr sz="1800" b="0">
                <a:solidFill>
                  <a:srgbClr val="BED0D5"/>
                </a:solidFill>
                <a:latin typeface="DejaVu Sans"/>
                <a:ea typeface="DejaVu Sans"/>
                <a:cs typeface="DejaVu Sans"/>
              </a:defRPr>
            </a:lvl2pPr>
            <a:lvl3pPr algn="l">
              <a:defRPr sz="1800" b="0">
                <a:solidFill>
                  <a:srgbClr val="BED0D5"/>
                </a:solidFill>
                <a:latin typeface="DejaVu Sans"/>
                <a:ea typeface="DejaVu Sans"/>
                <a:cs typeface="DejaVu Sans"/>
              </a:defRPr>
            </a:lvl3pPr>
            <a:lvl4pPr algn="l">
              <a:defRPr sz="1800" b="0">
                <a:solidFill>
                  <a:srgbClr val="BED0D5"/>
                </a:solidFill>
                <a:latin typeface="DejaVu Sans"/>
                <a:ea typeface="DejaVu Sans"/>
                <a:cs typeface="DejaVu Sans"/>
              </a:defRPr>
            </a:lvl4pPr>
            <a:lvl5pPr algn="l">
              <a:defRPr sz="1800" b="0">
                <a:solidFill>
                  <a:srgbClr val="BED0D5"/>
                </a:solidFill>
                <a:latin typeface="DejaVu Sans"/>
                <a:ea typeface="DejaVu Sans"/>
                <a:cs typeface="DejaVu Sans"/>
              </a:defRPr>
            </a:lvl5pPr>
            <a:lvl6pPr algn="l">
              <a:defRPr sz="1800" b="0">
                <a:solidFill>
                  <a:srgbClr val="BED0D5"/>
                </a:solidFill>
                <a:latin typeface="DejaVu Sans"/>
                <a:ea typeface="DejaVu Sans"/>
                <a:cs typeface="DejaVu Sans"/>
              </a:defRPr>
            </a:lvl6pPr>
            <a:lvl7pPr algn="l">
              <a:defRPr sz="1800" b="0">
                <a:solidFill>
                  <a:srgbClr val="BED0D5"/>
                </a:solidFill>
                <a:latin typeface="DejaVu Sans"/>
                <a:ea typeface="DejaVu Sans"/>
                <a:cs typeface="DejaVu Sans"/>
              </a:defRPr>
            </a:lvl7pPr>
            <a:lvl8pPr algn="l">
              <a:defRPr sz="1800" b="0">
                <a:solidFill>
                  <a:srgbClr val="BED0D5"/>
                </a:solidFill>
                <a:latin typeface="DejaVu Sans"/>
                <a:ea typeface="DejaVu Sans"/>
                <a:cs typeface="DejaVu Sans"/>
              </a:defRPr>
            </a:lvl8pPr>
            <a:lvl9pPr algn="l">
              <a:defRPr sz="1800" b="0">
                <a:solidFill>
                  <a:srgbClr val="BED0D5"/>
                </a:solidFill>
                <a:latin typeface="DejaVu Sans"/>
                <a:ea typeface="DejaVu Sans"/>
                <a:cs typeface="DejaVu Sans"/>
              </a:defRPr>
            </a:lvl9pPr>
          </a:lstStyle>
          <a:p xmlns:a="http://schemas.openxmlformats.org/drawingml/2006/main">
            <a:pPr algn="l">
              <a:lnSpc>
                <a:spcPct val="112000"/>
              </a:lnSpc>
              <a:buNone/>
              <a:defRPr sz="1800" b="0">
                <a:solidFill>
                  <a:srgbClr val="BED0D5"/>
                </a:solidFill>
                <a:latin typeface="DejaVu Sans"/>
                <a:ea typeface="DejaVu Sans"/>
                <a:cs typeface="DejaVu Sans"/>
              </a:defRPr>
            </a:pPr>
            <a:r>
              <a:rPr sz="1800" b="0">
                <a:solidFill>
                  <a:srgbClr val="BED0D5"/>
                </a:solidFill>
                <a:latin typeface="DejaVu Sans"/>
                <a:ea typeface="DejaVu Sans"/>
                <a:cs typeface="DejaVu Sans"/>
              </a:rPr>
              <a:t>Technological China · Class 2 · Intelligent systems and production.</a:t>
            </a:r>
          </a:p>
        </p:txBody>
      </p:sp>
      <p:sp>
        <p:nvSpPr>
          <p:cNvPr id="9" name="">
            <a:extLst xmlns:a="http://schemas.openxmlformats.org/drawingml/2006/main">
              <a:ext uri="{FF2B5EF4-FFF2-40B4-BE49-F238E27FC236}">
                <a16:creationId xmlns:a16="http://schemas.microsoft.com/office/drawing/2014/main" id="{BFCF6D78-99D1-4B4F-AA10-B39B8A61A7E1}"/>
              </a:ext>
            </a:extLst>
          </p:cNvPr>
          <p:cNvSpPr>
            <a:spLocks xmlns:a="http://schemas.openxmlformats.org/drawingml/2006/main" noGrp="1"/>
          </p:cNvSpPr>
          <p:nvPr/>
        </p:nvSpPr>
        <p:spPr>
          <a:xfrm xmlns:a="http://schemas.openxmlformats.org/drawingml/2006/main">
            <a:off x="609600" y="4572000"/>
            <a:ext cx="762000" cy="3810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rz2r6o6ppjc">
            <a:extLst xmlns:a="http://schemas.openxmlformats.org/drawingml/2006/main">
              <a:ext uri="{FF2B5EF4-FFF2-40B4-BE49-F238E27FC236}">
                <a16:creationId xmlns:a16="http://schemas.microsoft.com/office/drawing/2014/main" id="{109FC2D2-79BD-40CE-9A0C-9AE5ED2B462E}"/>
              </a:ext>
            </a:extLst>
          </p:cNvPr>
          <p:cNvSpPr>
            <a:spLocks xmlns:a="http://schemas.openxmlformats.org/drawingml/2006/main" noGrp="1"/>
          </p:cNvSpPr>
          <p:nvPr/>
        </p:nvSpPr>
        <p:spPr>
          <a:xfrm xmlns:a="http://schemas.openxmlformats.org/drawingml/2006/main">
            <a:off x="609600" y="4867275"/>
            <a:ext cx="5429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BED0D5"/>
                </a:solidFill>
                <a:latin typeface="DejaVu Sans"/>
                <a:ea typeface="DejaVu Sans"/>
                <a:cs typeface="DejaVu Sans"/>
              </a:defRPr>
            </a:defPPr>
            <a:lvl1pPr algn="l">
              <a:defRPr sz="1500" b="0">
                <a:solidFill>
                  <a:srgbClr val="BED0D5"/>
                </a:solidFill>
                <a:latin typeface="DejaVu Sans"/>
                <a:ea typeface="DejaVu Sans"/>
                <a:cs typeface="DejaVu Sans"/>
              </a:defRPr>
            </a:lvl1pPr>
            <a:lvl2pPr algn="l">
              <a:defRPr sz="1500" b="0">
                <a:solidFill>
                  <a:srgbClr val="BED0D5"/>
                </a:solidFill>
                <a:latin typeface="DejaVu Sans"/>
                <a:ea typeface="DejaVu Sans"/>
                <a:cs typeface="DejaVu Sans"/>
              </a:defRPr>
            </a:lvl2pPr>
            <a:lvl3pPr algn="l">
              <a:defRPr sz="1500" b="0">
                <a:solidFill>
                  <a:srgbClr val="BED0D5"/>
                </a:solidFill>
                <a:latin typeface="DejaVu Sans"/>
                <a:ea typeface="DejaVu Sans"/>
                <a:cs typeface="DejaVu Sans"/>
              </a:defRPr>
            </a:lvl3pPr>
            <a:lvl4pPr algn="l">
              <a:defRPr sz="1500" b="0">
                <a:solidFill>
                  <a:srgbClr val="BED0D5"/>
                </a:solidFill>
                <a:latin typeface="DejaVu Sans"/>
                <a:ea typeface="DejaVu Sans"/>
                <a:cs typeface="DejaVu Sans"/>
              </a:defRPr>
            </a:lvl4pPr>
            <a:lvl5pPr algn="l">
              <a:defRPr sz="1500" b="0">
                <a:solidFill>
                  <a:srgbClr val="BED0D5"/>
                </a:solidFill>
                <a:latin typeface="DejaVu Sans"/>
                <a:ea typeface="DejaVu Sans"/>
                <a:cs typeface="DejaVu Sans"/>
              </a:defRPr>
            </a:lvl5pPr>
            <a:lvl6pPr algn="l">
              <a:defRPr sz="1500" b="0">
                <a:solidFill>
                  <a:srgbClr val="BED0D5"/>
                </a:solidFill>
                <a:latin typeface="DejaVu Sans"/>
                <a:ea typeface="DejaVu Sans"/>
                <a:cs typeface="DejaVu Sans"/>
              </a:defRPr>
            </a:lvl6pPr>
            <a:lvl7pPr algn="l">
              <a:defRPr sz="1500" b="0">
                <a:solidFill>
                  <a:srgbClr val="BED0D5"/>
                </a:solidFill>
                <a:latin typeface="DejaVu Sans"/>
                <a:ea typeface="DejaVu Sans"/>
                <a:cs typeface="DejaVu Sans"/>
              </a:defRPr>
            </a:lvl7pPr>
            <a:lvl8pPr algn="l">
              <a:defRPr sz="1500" b="0">
                <a:solidFill>
                  <a:srgbClr val="BED0D5"/>
                </a:solidFill>
                <a:latin typeface="DejaVu Sans"/>
                <a:ea typeface="DejaVu Sans"/>
                <a:cs typeface="DejaVu Sans"/>
              </a:defRPr>
            </a:lvl8pPr>
            <a:lvl9pPr algn="l">
              <a:defRPr sz="1500" b="0">
                <a:solidFill>
                  <a:srgbClr val="BED0D5"/>
                </a:solidFill>
                <a:latin typeface="DejaVu Sans"/>
                <a:ea typeface="DejaVu Sans"/>
                <a:cs typeface="DejaVu Sans"/>
              </a:defRPr>
            </a:lvl9pPr>
          </a:lstStyle>
          <a:p xmlns:a="http://schemas.openxmlformats.org/drawingml/2006/main">
            <a:pPr algn="l">
              <a:lnSpc>
                <a:spcPct val="112000"/>
              </a:lnSpc>
              <a:buNone/>
              <a:defRPr sz="1500" b="0">
                <a:solidFill>
                  <a:srgbClr val="BED0D5"/>
                </a:solidFill>
                <a:latin typeface="DejaVu Sans"/>
                <a:ea typeface="DejaVu Sans"/>
                <a:cs typeface="DejaVu Sans"/>
              </a:defRPr>
            </a:pPr>
            <a:r>
              <a:rPr sz="1500" b="0">
                <a:solidFill>
                  <a:srgbClr val="BED0D5"/>
                </a:solidFill>
                <a:latin typeface="DejaVu Sans"/>
                <a:ea typeface="DejaVu Sans"/>
                <a:cs typeface="DejaVu Sans"/>
              </a:rPr>
              <a:t>Sergio Gevatschnaider</a:t>
            </a:r>
          </a:p>
          <a:p xmlns:a="http://schemas.openxmlformats.org/drawingml/2006/main">
            <a:pPr algn="l">
              <a:lnSpc>
                <a:spcPct val="112000"/>
              </a:lnSpc>
              <a:buNone/>
              <a:defRPr sz="1500" b="0">
                <a:solidFill>
                  <a:srgbClr val="BED0D5"/>
                </a:solidFill>
                <a:latin typeface="DejaVu Sans"/>
                <a:ea typeface="DejaVu Sans"/>
                <a:cs typeface="DejaVu Sans"/>
              </a:defRPr>
            </a:pPr>
            <a:r>
              <a:rPr sz="1500" b="0">
                <a:solidFill>
                  <a:srgbClr val="BED0D5"/>
                </a:solidFill>
                <a:latin typeface="DejaVu Sans"/>
                <a:ea typeface="DejaVu Sans"/>
                <a:cs typeface="DejaVu Sans"/>
              </a:rPr>
              <a:t>Instituto Confucio UBA · October 27, 2026</a:t>
            </a:r>
          </a:p>
        </p:txBody>
      </p:sp>
      <p:sp>
        <p:nvSpPr>
          <p:cNvPr id="11" name="text-soubt1q1ap">
            <a:extLst xmlns:a="http://schemas.openxmlformats.org/drawingml/2006/main">
              <a:ext uri="{FF2B5EF4-FFF2-40B4-BE49-F238E27FC236}">
                <a16:creationId xmlns:a16="http://schemas.microsoft.com/office/drawing/2014/main" id="{8DDA9B4C-B701-47C9-99EA-96F7F0698EBD}"/>
              </a:ext>
            </a:extLst>
          </p:cNvPr>
          <p:cNvSpPr>
            <a:spLocks xmlns:a="http://schemas.openxmlformats.org/drawingml/2006/main" noGrp="1"/>
          </p:cNvSpPr>
          <p:nvPr/>
        </p:nvSpPr>
        <p:spPr>
          <a:xfrm xmlns:a="http://schemas.openxmlformats.org/drawingml/2006/main">
            <a:off x="6524625" y="5857875"/>
            <a:ext cx="533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BED0D5"/>
                </a:solidFill>
                <a:latin typeface="DejaVu Sans"/>
                <a:ea typeface="DejaVu Sans"/>
                <a:cs typeface="DejaVu Sans"/>
              </a:defRPr>
            </a:defPPr>
            <a:lvl1pPr algn="l">
              <a:defRPr sz="900" b="0">
                <a:solidFill>
                  <a:srgbClr val="BED0D5"/>
                </a:solidFill>
                <a:latin typeface="DejaVu Sans"/>
                <a:ea typeface="DejaVu Sans"/>
                <a:cs typeface="DejaVu Sans"/>
              </a:defRPr>
            </a:lvl1pPr>
            <a:lvl2pPr algn="l">
              <a:defRPr sz="900" b="0">
                <a:solidFill>
                  <a:srgbClr val="BED0D5"/>
                </a:solidFill>
                <a:latin typeface="DejaVu Sans"/>
                <a:ea typeface="DejaVu Sans"/>
                <a:cs typeface="DejaVu Sans"/>
              </a:defRPr>
            </a:lvl2pPr>
            <a:lvl3pPr algn="l">
              <a:defRPr sz="900" b="0">
                <a:solidFill>
                  <a:srgbClr val="BED0D5"/>
                </a:solidFill>
                <a:latin typeface="DejaVu Sans"/>
                <a:ea typeface="DejaVu Sans"/>
                <a:cs typeface="DejaVu Sans"/>
              </a:defRPr>
            </a:lvl3pPr>
            <a:lvl4pPr algn="l">
              <a:defRPr sz="900" b="0">
                <a:solidFill>
                  <a:srgbClr val="BED0D5"/>
                </a:solidFill>
                <a:latin typeface="DejaVu Sans"/>
                <a:ea typeface="DejaVu Sans"/>
                <a:cs typeface="DejaVu Sans"/>
              </a:defRPr>
            </a:lvl4pPr>
            <a:lvl5pPr algn="l">
              <a:defRPr sz="900" b="0">
                <a:solidFill>
                  <a:srgbClr val="BED0D5"/>
                </a:solidFill>
                <a:latin typeface="DejaVu Sans"/>
                <a:ea typeface="DejaVu Sans"/>
                <a:cs typeface="DejaVu Sans"/>
              </a:defRPr>
            </a:lvl5pPr>
            <a:lvl6pPr algn="l">
              <a:defRPr sz="900" b="0">
                <a:solidFill>
                  <a:srgbClr val="BED0D5"/>
                </a:solidFill>
                <a:latin typeface="DejaVu Sans"/>
                <a:ea typeface="DejaVu Sans"/>
                <a:cs typeface="DejaVu Sans"/>
              </a:defRPr>
            </a:lvl6pPr>
            <a:lvl7pPr algn="l">
              <a:defRPr sz="900" b="0">
                <a:solidFill>
                  <a:srgbClr val="BED0D5"/>
                </a:solidFill>
                <a:latin typeface="DejaVu Sans"/>
                <a:ea typeface="DejaVu Sans"/>
                <a:cs typeface="DejaVu Sans"/>
              </a:defRPr>
            </a:lvl7pPr>
            <a:lvl8pPr algn="l">
              <a:defRPr sz="900" b="0">
                <a:solidFill>
                  <a:srgbClr val="BED0D5"/>
                </a:solidFill>
                <a:latin typeface="DejaVu Sans"/>
                <a:ea typeface="DejaVu Sans"/>
                <a:cs typeface="DejaVu Sans"/>
              </a:defRPr>
            </a:lvl8pPr>
            <a:lvl9pPr algn="l">
              <a:defRPr sz="900" b="0">
                <a:solidFill>
                  <a:srgbClr val="BED0D5"/>
                </a:solidFill>
                <a:latin typeface="DejaVu Sans"/>
                <a:ea typeface="DejaVu Sans"/>
                <a:cs typeface="DejaVu Sans"/>
              </a:defRPr>
            </a:lvl9pPr>
          </a:lstStyle>
          <a:p xmlns:a="http://schemas.openxmlformats.org/drawingml/2006/main">
            <a:pPr algn="l">
              <a:lnSpc>
                <a:spcPct val="112000"/>
              </a:lnSpc>
              <a:buNone/>
              <a:defRPr sz="900" b="0">
                <a:solidFill>
                  <a:srgbClr val="BED0D5"/>
                </a:solidFill>
                <a:latin typeface="DejaVu Sans"/>
                <a:ea typeface="DejaVu Sans"/>
                <a:cs typeface="DejaVu Sans"/>
              </a:defRPr>
            </a:pPr>
            <a:r>
              <a:rPr sz="900" b="0">
                <a:solidFill>
                  <a:srgbClr val="BED0D5"/>
                </a:solidFill>
                <a:latin typeface="DejaVu Sans"/>
                <a:ea typeface="DejaVu Sans"/>
                <a:cs typeface="DejaVu Sans"/>
              </a:rPr>
              <a:t>CONCEPTUAL ILLUSTRATION</a:t>
            </a:r>
          </a:p>
        </p:txBody>
      </p:sp>
    </p:spTree>
    <p:extLst>
      <p:ext uri="{BB962C8B-B14F-4D97-AF65-F5344CB8AC3E}">
        <p14:creationId xmlns:p14="http://schemas.microsoft.com/office/powerpoint/2010/main" val="174710666"/>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E3FA0DB-0984-4F23-8D6D-D6382CDCC103}"/>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u3goxjv5z3i">
            <a:extLst xmlns:a="http://schemas.openxmlformats.org/drawingml/2006/main">
              <a:ext uri="{FF2B5EF4-FFF2-40B4-BE49-F238E27FC236}">
                <a16:creationId xmlns:a16="http://schemas.microsoft.com/office/drawing/2014/main" id="{AB6C5A3D-819B-44F2-8D83-A672ABC09548}"/>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0d3rikn1wx8j">
            <a:extLst xmlns:a="http://schemas.openxmlformats.org/drawingml/2006/main">
              <a:ext uri="{FF2B5EF4-FFF2-40B4-BE49-F238E27FC236}">
                <a16:creationId xmlns:a16="http://schemas.microsoft.com/office/drawing/2014/main" id="{263E508A-79EE-4DB7-8D20-C2F5EF67666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The class connects technical capability to outcomes</a:t>
            </a:r>
          </a:p>
        </p:txBody>
      </p:sp>
      <p:sp>
        <p:nvSpPr>
          <p:cNvPr id="4" name="text-2pfhklzlr02">
            <a:extLst xmlns:a="http://schemas.openxmlformats.org/drawingml/2006/main">
              <a:ext uri="{FF2B5EF4-FFF2-40B4-BE49-F238E27FC236}">
                <a16:creationId xmlns:a16="http://schemas.microsoft.com/office/drawing/2014/main" id="{943930F4-4DD5-40C4-8471-C19A206DBEC1}"/>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 60-minute core route with extensions for later study.</a:t>
            </a:r>
          </a:p>
        </p:txBody>
      </p:sp>
      <p:sp>
        <p:nvSpPr>
          <p:cNvPr id="5" name="">
            <a:extLst xmlns:a="http://schemas.openxmlformats.org/drawingml/2006/main">
              <a:ext uri="{FF2B5EF4-FFF2-40B4-BE49-F238E27FC236}">
                <a16:creationId xmlns:a16="http://schemas.microsoft.com/office/drawing/2014/main" id="{25400E5B-ABDA-4D92-A887-E18B56B4C4C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oy6kf9ykuof">
            <a:extLst xmlns:a="http://schemas.openxmlformats.org/drawingml/2006/main">
              <a:ext uri="{FF2B5EF4-FFF2-40B4-BE49-F238E27FC236}">
                <a16:creationId xmlns:a16="http://schemas.microsoft.com/office/drawing/2014/main" id="{A733A223-933A-4B86-9871-86BB2A3F51D3}"/>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l847rtmz5j">
            <a:extLst xmlns:a="http://schemas.openxmlformats.org/drawingml/2006/main">
              <a:ext uri="{FF2B5EF4-FFF2-40B4-BE49-F238E27FC236}">
                <a16:creationId xmlns:a16="http://schemas.microsoft.com/office/drawing/2014/main" id="{6C065D48-4F33-4A3B-B8F2-D1FA5B37F935}"/>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02</a:t>
            </a:r>
          </a:p>
        </p:txBody>
      </p:sp>
      <p:sp>
        <p:nvSpPr>
          <p:cNvPr id="8" name="text-g86d69q7npl">
            <a:extLst xmlns:a="http://schemas.openxmlformats.org/drawingml/2006/main">
              <a:ext uri="{FF2B5EF4-FFF2-40B4-BE49-F238E27FC236}">
                <a16:creationId xmlns:a16="http://schemas.microsoft.com/office/drawing/2014/main" id="{FA32F7F1-4B21-4F80-8946-88840B32BD22}"/>
              </a:ext>
            </a:extLst>
          </p:cNvPr>
          <p:cNvSpPr>
            <a:spLocks xmlns:a="http://schemas.openxmlformats.org/drawingml/2006/main" noGrp="1"/>
          </p:cNvSpPr>
          <p:nvPr/>
        </p:nvSpPr>
        <p:spPr>
          <a:xfrm xmlns:a="http://schemas.openxmlformats.org/drawingml/2006/main">
            <a:off x="628650" y="262890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01</a:t>
            </a:r>
          </a:p>
        </p:txBody>
      </p:sp>
      <p:sp>
        <p:nvSpPr>
          <p:cNvPr id="9" name="text-qytzrjd3kv9">
            <a:extLst xmlns:a="http://schemas.openxmlformats.org/drawingml/2006/main">
              <a:ext uri="{FF2B5EF4-FFF2-40B4-BE49-F238E27FC236}">
                <a16:creationId xmlns:a16="http://schemas.microsoft.com/office/drawing/2014/main" id="{1C8C292D-C6F9-446F-9AB3-4FC2A58A6411}"/>
              </a:ext>
            </a:extLst>
          </p:cNvPr>
          <p:cNvSpPr>
            <a:spLocks xmlns:a="http://schemas.openxmlformats.org/drawingml/2006/main" noGrp="1"/>
          </p:cNvSpPr>
          <p:nvPr/>
        </p:nvSpPr>
        <p:spPr>
          <a:xfrm xmlns:a="http://schemas.openxmlformats.org/drawingml/2006/main">
            <a:off x="1238250" y="261937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Foundations · 8 min</a:t>
            </a:r>
          </a:p>
        </p:txBody>
      </p:sp>
      <p:sp>
        <p:nvSpPr>
          <p:cNvPr id="10" name="text-5g2xef3m4wq">
            <a:extLst xmlns:a="http://schemas.openxmlformats.org/drawingml/2006/main">
              <a:ext uri="{FF2B5EF4-FFF2-40B4-BE49-F238E27FC236}">
                <a16:creationId xmlns:a16="http://schemas.microsoft.com/office/drawing/2014/main" id="{F10F0419-A62C-4848-B212-713F75D75468}"/>
              </a:ext>
            </a:extLst>
          </p:cNvPr>
          <p:cNvSpPr>
            <a:spLocks xmlns:a="http://schemas.openxmlformats.org/drawingml/2006/main" noGrp="1"/>
          </p:cNvSpPr>
          <p:nvPr/>
        </p:nvSpPr>
        <p:spPr>
          <a:xfrm xmlns:a="http://schemas.openxmlformats.org/drawingml/2006/main">
            <a:off x="4095750" y="261937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Agent, environment and tool use.</a:t>
            </a:r>
          </a:p>
        </p:txBody>
      </p:sp>
      <p:sp>
        <p:nvSpPr>
          <p:cNvPr id="11" name="">
            <a:extLst xmlns:a="http://schemas.openxmlformats.org/drawingml/2006/main">
              <a:ext uri="{FF2B5EF4-FFF2-40B4-BE49-F238E27FC236}">
                <a16:creationId xmlns:a16="http://schemas.microsoft.com/office/drawing/2014/main" id="{A1F4BDA0-4DD6-41FE-8CBD-A197D4367C0B}"/>
              </a:ext>
            </a:extLst>
          </p:cNvPr>
          <p:cNvSpPr>
            <a:spLocks xmlns:a="http://schemas.openxmlformats.org/drawingml/2006/main" noGrp="1"/>
          </p:cNvSpPr>
          <p:nvPr/>
        </p:nvSpPr>
        <p:spPr>
          <a:xfrm xmlns:a="http://schemas.openxmlformats.org/drawingml/2006/main">
            <a:off x="1238250" y="3204210"/>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2" name="text-4r4g12jhf3j">
            <a:extLst xmlns:a="http://schemas.openxmlformats.org/drawingml/2006/main">
              <a:ext uri="{FF2B5EF4-FFF2-40B4-BE49-F238E27FC236}">
                <a16:creationId xmlns:a16="http://schemas.microsoft.com/office/drawing/2014/main" id="{20222601-F662-4914-8891-8116893C2FC6}"/>
              </a:ext>
            </a:extLst>
          </p:cNvPr>
          <p:cNvSpPr>
            <a:spLocks xmlns:a="http://schemas.openxmlformats.org/drawingml/2006/main" noGrp="1"/>
          </p:cNvSpPr>
          <p:nvPr/>
        </p:nvSpPr>
        <p:spPr>
          <a:xfrm xmlns:a="http://schemas.openxmlformats.org/drawingml/2006/main">
            <a:off x="628650" y="3347085"/>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02</a:t>
            </a:r>
          </a:p>
        </p:txBody>
      </p:sp>
      <p:sp>
        <p:nvSpPr>
          <p:cNvPr id="13" name="text-pp5sy4i1gnn">
            <a:extLst xmlns:a="http://schemas.openxmlformats.org/drawingml/2006/main">
              <a:ext uri="{FF2B5EF4-FFF2-40B4-BE49-F238E27FC236}">
                <a16:creationId xmlns:a16="http://schemas.microsoft.com/office/drawing/2014/main" id="{35368B27-802A-4960-A974-CD5357F9BDD4}"/>
              </a:ext>
            </a:extLst>
          </p:cNvPr>
          <p:cNvSpPr>
            <a:spLocks xmlns:a="http://schemas.openxmlformats.org/drawingml/2006/main" noGrp="1"/>
          </p:cNvSpPr>
          <p:nvPr/>
        </p:nvSpPr>
        <p:spPr>
          <a:xfrm xmlns:a="http://schemas.openxmlformats.org/drawingml/2006/main">
            <a:off x="1238250" y="3337560"/>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Models and platforms · 12 min</a:t>
            </a:r>
          </a:p>
        </p:txBody>
      </p:sp>
      <p:sp>
        <p:nvSpPr>
          <p:cNvPr id="14" name="text-0gb3jy6ocpre">
            <a:extLst xmlns:a="http://schemas.openxmlformats.org/drawingml/2006/main">
              <a:ext uri="{FF2B5EF4-FFF2-40B4-BE49-F238E27FC236}">
                <a16:creationId xmlns:a16="http://schemas.microsoft.com/office/drawing/2014/main" id="{1C8241E3-F6A7-454A-8D0A-1F69D500A81D}"/>
              </a:ext>
            </a:extLst>
          </p:cNvPr>
          <p:cNvSpPr>
            <a:spLocks xmlns:a="http://schemas.openxmlformats.org/drawingml/2006/main" noGrp="1"/>
          </p:cNvSpPr>
          <p:nvPr/>
        </p:nvSpPr>
        <p:spPr>
          <a:xfrm xmlns:a="http://schemas.openxmlformats.org/drawingml/2006/main">
            <a:off x="4095750" y="3337560"/>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DeepSeek, Qwen and distribution.</a:t>
            </a:r>
          </a:p>
        </p:txBody>
      </p:sp>
      <p:sp>
        <p:nvSpPr>
          <p:cNvPr id="15" name="">
            <a:extLst xmlns:a="http://schemas.openxmlformats.org/drawingml/2006/main">
              <a:ext uri="{FF2B5EF4-FFF2-40B4-BE49-F238E27FC236}">
                <a16:creationId xmlns:a16="http://schemas.microsoft.com/office/drawing/2014/main" id="{C673D31A-F2E2-485C-87CD-319F94C70BAB}"/>
              </a:ext>
            </a:extLst>
          </p:cNvPr>
          <p:cNvSpPr>
            <a:spLocks xmlns:a="http://schemas.openxmlformats.org/drawingml/2006/main" noGrp="1"/>
          </p:cNvSpPr>
          <p:nvPr/>
        </p:nvSpPr>
        <p:spPr>
          <a:xfrm xmlns:a="http://schemas.openxmlformats.org/drawingml/2006/main">
            <a:off x="1238250" y="392239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6" name="text-15a5ow4xorrh">
            <a:extLst xmlns:a="http://schemas.openxmlformats.org/drawingml/2006/main">
              <a:ext uri="{FF2B5EF4-FFF2-40B4-BE49-F238E27FC236}">
                <a16:creationId xmlns:a16="http://schemas.microsoft.com/office/drawing/2014/main" id="{C654B64C-FD02-4F7A-A84D-29CF416063E7}"/>
              </a:ext>
            </a:extLst>
          </p:cNvPr>
          <p:cNvSpPr>
            <a:spLocks xmlns:a="http://schemas.openxmlformats.org/drawingml/2006/main" noGrp="1"/>
          </p:cNvSpPr>
          <p:nvPr/>
        </p:nvSpPr>
        <p:spPr>
          <a:xfrm xmlns:a="http://schemas.openxmlformats.org/drawingml/2006/main">
            <a:off x="628650" y="406527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03</a:t>
            </a:r>
          </a:p>
        </p:txBody>
      </p:sp>
      <p:sp>
        <p:nvSpPr>
          <p:cNvPr id="17" name="text-lwzc6u6gddq">
            <a:extLst xmlns:a="http://schemas.openxmlformats.org/drawingml/2006/main">
              <a:ext uri="{FF2B5EF4-FFF2-40B4-BE49-F238E27FC236}">
                <a16:creationId xmlns:a16="http://schemas.microsoft.com/office/drawing/2014/main" id="{8DAC67FE-F483-4762-849B-D46E468B06D9}"/>
              </a:ext>
            </a:extLst>
          </p:cNvPr>
          <p:cNvSpPr>
            <a:spLocks xmlns:a="http://schemas.openxmlformats.org/drawingml/2006/main" noGrp="1"/>
          </p:cNvSpPr>
          <p:nvPr/>
        </p:nvSpPr>
        <p:spPr>
          <a:xfrm xmlns:a="http://schemas.openxmlformats.org/drawingml/2006/main">
            <a:off x="1238250" y="405574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Robotics and videos · 17 min</a:t>
            </a:r>
          </a:p>
        </p:txBody>
      </p:sp>
      <p:sp>
        <p:nvSpPr>
          <p:cNvPr id="18" name="text-b8cmf7xch9">
            <a:extLst xmlns:a="http://schemas.openxmlformats.org/drawingml/2006/main">
              <a:ext uri="{FF2B5EF4-FFF2-40B4-BE49-F238E27FC236}">
                <a16:creationId xmlns:a16="http://schemas.microsoft.com/office/drawing/2014/main" id="{EF1A229F-C2F4-4F84-9AA3-3FF5DC54331E}"/>
              </a:ext>
            </a:extLst>
          </p:cNvPr>
          <p:cNvSpPr>
            <a:spLocks xmlns:a="http://schemas.openxmlformats.org/drawingml/2006/main" noGrp="1"/>
          </p:cNvSpPr>
          <p:nvPr/>
        </p:nvSpPr>
        <p:spPr>
          <a:xfrm xmlns:a="http://schemas.openxmlformats.org/drawingml/2006/main">
            <a:off x="4095750" y="405574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Physical architecture and observable evidence.</a:t>
            </a:r>
          </a:p>
        </p:txBody>
      </p:sp>
      <p:sp>
        <p:nvSpPr>
          <p:cNvPr id="19" name="">
            <a:extLst xmlns:a="http://schemas.openxmlformats.org/drawingml/2006/main">
              <a:ext uri="{FF2B5EF4-FFF2-40B4-BE49-F238E27FC236}">
                <a16:creationId xmlns:a16="http://schemas.microsoft.com/office/drawing/2014/main" id="{68B6A5AE-78D6-4AF3-A11F-0F0DCE6DE03B}"/>
              </a:ext>
            </a:extLst>
          </p:cNvPr>
          <p:cNvSpPr>
            <a:spLocks xmlns:a="http://schemas.openxmlformats.org/drawingml/2006/main" noGrp="1"/>
          </p:cNvSpPr>
          <p:nvPr/>
        </p:nvSpPr>
        <p:spPr>
          <a:xfrm xmlns:a="http://schemas.openxmlformats.org/drawingml/2006/main">
            <a:off x="1238250" y="4640580"/>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20" name="text-a4jcz6dd1qg">
            <a:extLst xmlns:a="http://schemas.openxmlformats.org/drawingml/2006/main">
              <a:ext uri="{FF2B5EF4-FFF2-40B4-BE49-F238E27FC236}">
                <a16:creationId xmlns:a16="http://schemas.microsoft.com/office/drawing/2014/main" id="{E70DA81A-645D-4DFE-959C-6B65375E863B}"/>
              </a:ext>
            </a:extLst>
          </p:cNvPr>
          <p:cNvSpPr>
            <a:spLocks xmlns:a="http://schemas.openxmlformats.org/drawingml/2006/main" noGrp="1"/>
          </p:cNvSpPr>
          <p:nvPr/>
        </p:nvSpPr>
        <p:spPr>
          <a:xfrm xmlns:a="http://schemas.openxmlformats.org/drawingml/2006/main">
            <a:off x="628650" y="4783455"/>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04</a:t>
            </a:r>
          </a:p>
        </p:txBody>
      </p:sp>
      <p:sp>
        <p:nvSpPr>
          <p:cNvPr id="21" name="text-ago41scl1w9">
            <a:extLst xmlns:a="http://schemas.openxmlformats.org/drawingml/2006/main">
              <a:ext uri="{FF2B5EF4-FFF2-40B4-BE49-F238E27FC236}">
                <a16:creationId xmlns:a16="http://schemas.microsoft.com/office/drawing/2014/main" id="{FFAEDDA9-2257-4FC3-830C-7A1750A0F5EB}"/>
              </a:ext>
            </a:extLst>
          </p:cNvPr>
          <p:cNvSpPr>
            <a:spLocks xmlns:a="http://schemas.openxmlformats.org/drawingml/2006/main" noGrp="1"/>
          </p:cNvSpPr>
          <p:nvPr/>
        </p:nvSpPr>
        <p:spPr>
          <a:xfrm xmlns:a="http://schemas.openxmlformats.org/drawingml/2006/main">
            <a:off x="1238250" y="4773930"/>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Lab · 15 min</a:t>
            </a:r>
          </a:p>
        </p:txBody>
      </p:sp>
      <p:sp>
        <p:nvSpPr>
          <p:cNvPr id="22" name="text-c0m4fl4poz4">
            <a:extLst xmlns:a="http://schemas.openxmlformats.org/drawingml/2006/main">
              <a:ext uri="{FF2B5EF4-FFF2-40B4-BE49-F238E27FC236}">
                <a16:creationId xmlns:a16="http://schemas.microsoft.com/office/drawing/2014/main" id="{201E0CEF-DB96-4EEE-9FE6-B85302B73919}"/>
              </a:ext>
            </a:extLst>
          </p:cNvPr>
          <p:cNvSpPr>
            <a:spLocks xmlns:a="http://schemas.openxmlformats.org/drawingml/2006/main" noGrp="1"/>
          </p:cNvSpPr>
          <p:nvPr/>
        </p:nvSpPr>
        <p:spPr>
          <a:xfrm xmlns:a="http://schemas.openxmlformats.org/drawingml/2006/main">
            <a:off x="4095750" y="4773930"/>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Energy, operational success and cost.</a:t>
            </a:r>
          </a:p>
        </p:txBody>
      </p:sp>
      <p:sp>
        <p:nvSpPr>
          <p:cNvPr id="23" name="">
            <a:extLst xmlns:a="http://schemas.openxmlformats.org/drawingml/2006/main">
              <a:ext uri="{FF2B5EF4-FFF2-40B4-BE49-F238E27FC236}">
                <a16:creationId xmlns:a16="http://schemas.microsoft.com/office/drawing/2014/main" id="{E4515C4F-A748-4EC7-9FC8-09B9BC00FE2C}"/>
              </a:ext>
            </a:extLst>
          </p:cNvPr>
          <p:cNvSpPr>
            <a:spLocks xmlns:a="http://schemas.openxmlformats.org/drawingml/2006/main" noGrp="1"/>
          </p:cNvSpPr>
          <p:nvPr/>
        </p:nvSpPr>
        <p:spPr>
          <a:xfrm xmlns:a="http://schemas.openxmlformats.org/drawingml/2006/main">
            <a:off x="1238250" y="535876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24" name="text-kzaexopqyc7">
            <a:extLst xmlns:a="http://schemas.openxmlformats.org/drawingml/2006/main">
              <a:ext uri="{FF2B5EF4-FFF2-40B4-BE49-F238E27FC236}">
                <a16:creationId xmlns:a16="http://schemas.microsoft.com/office/drawing/2014/main" id="{809E59A0-2A29-4EAE-8CE6-F21158F1032B}"/>
              </a:ext>
            </a:extLst>
          </p:cNvPr>
          <p:cNvSpPr>
            <a:spLocks xmlns:a="http://schemas.openxmlformats.org/drawingml/2006/main" noGrp="1"/>
          </p:cNvSpPr>
          <p:nvPr/>
        </p:nvSpPr>
        <p:spPr>
          <a:xfrm xmlns:a="http://schemas.openxmlformats.org/drawingml/2006/main">
            <a:off x="628650" y="550164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05</a:t>
            </a:r>
          </a:p>
        </p:txBody>
      </p:sp>
      <p:sp>
        <p:nvSpPr>
          <p:cNvPr id="25" name="text-pbqqt7l6to">
            <a:extLst xmlns:a="http://schemas.openxmlformats.org/drawingml/2006/main">
              <a:ext uri="{FF2B5EF4-FFF2-40B4-BE49-F238E27FC236}">
                <a16:creationId xmlns:a16="http://schemas.microsoft.com/office/drawing/2014/main" id="{8F8F70C6-A27D-4AD8-BBB2-ABCD54AB04C9}"/>
              </a:ext>
            </a:extLst>
          </p:cNvPr>
          <p:cNvSpPr>
            <a:spLocks xmlns:a="http://schemas.openxmlformats.org/drawingml/2006/main" noGrp="1"/>
          </p:cNvSpPr>
          <p:nvPr/>
        </p:nvSpPr>
        <p:spPr>
          <a:xfrm xmlns:a="http://schemas.openxmlformats.org/drawingml/2006/main">
            <a:off x="1238250" y="549211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Discussion · 8 min</a:t>
            </a:r>
          </a:p>
        </p:txBody>
      </p:sp>
      <p:sp>
        <p:nvSpPr>
          <p:cNvPr id="26" name="text-4hh3a4k57s3">
            <a:extLst xmlns:a="http://schemas.openxmlformats.org/drawingml/2006/main">
              <a:ext uri="{FF2B5EF4-FFF2-40B4-BE49-F238E27FC236}">
                <a16:creationId xmlns:a16="http://schemas.microsoft.com/office/drawing/2014/main" id="{D9103FCE-2C9A-4A91-B2AB-B6A37F6CCE8D}"/>
              </a:ext>
            </a:extLst>
          </p:cNvPr>
          <p:cNvSpPr>
            <a:spLocks xmlns:a="http://schemas.openxmlformats.org/drawingml/2006/main" noGrp="1"/>
          </p:cNvSpPr>
          <p:nvPr/>
        </p:nvSpPr>
        <p:spPr>
          <a:xfrm xmlns:a="http://schemas.openxmlformats.org/drawingml/2006/main">
            <a:off x="4095750" y="549211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Competitiveness, work and opportunities.</a:t>
            </a:r>
          </a:p>
        </p:txBody>
      </p:sp>
    </p:spTree>
    <p:extLst>
      <p:ext uri="{BB962C8B-B14F-4D97-AF65-F5344CB8AC3E}">
        <p14:creationId xmlns:p14="http://schemas.microsoft.com/office/powerpoint/2010/main" val="209976083"/>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343DBE2C-D77B-4D16-8AE4-E191B9FBD0C9}"/>
              </a:ext>
            </a:extLst>
          </p:cNvPr>
          <p:cNvCxnSpPr>
            <a:stCxn xmlns:a="http://schemas.openxmlformats.org/drawingml/2006/main" id="12" idx="3"/>
            <a:endCxn xmlns:a="http://schemas.openxmlformats.org/drawingml/2006/main" id="16" idx="1"/>
          </p:cNvCxnSpPr>
          <p:nvPr/>
        </p:nvCxnSpPr>
        <p:spPr>
          <a:xfrm xmlns:a="http://schemas.openxmlformats.org/drawingml/2006/main">
            <a:off x="77978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299877B8-C4EA-4C15-9E20-F43016D95BA0}"/>
              </a:ext>
            </a:extLst>
          </p:cNvPr>
          <p:cNvCxnSpPr>
            <a:stCxn xmlns:a="http://schemas.openxmlformats.org/drawingml/2006/main" id="8" idx="3"/>
            <a:endCxn xmlns:a="http://schemas.openxmlformats.org/drawingml/2006/main" id="12" idx="1"/>
          </p:cNvCxnSpPr>
          <p:nvPr/>
        </p:nvCxnSpPr>
        <p:spPr>
          <a:xfrm xmlns:a="http://schemas.openxmlformats.org/drawingml/2006/main">
            <a:off x="40132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7DB9F757-D105-4A84-82CC-B18F4F90D53A}"/>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vy61i214dd">
            <a:extLst xmlns:a="http://schemas.openxmlformats.org/drawingml/2006/main">
              <a:ext uri="{FF2B5EF4-FFF2-40B4-BE49-F238E27FC236}">
                <a16:creationId xmlns:a16="http://schemas.microsoft.com/office/drawing/2014/main" id="{3648CFBB-CD7C-4EED-A0AF-901FEF175DB1}"/>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prmnca353h">
            <a:extLst xmlns:a="http://schemas.openxmlformats.org/drawingml/2006/main">
              <a:ext uri="{FF2B5EF4-FFF2-40B4-BE49-F238E27FC236}">
                <a16:creationId xmlns:a16="http://schemas.microsoft.com/office/drawing/2014/main" id="{88FB8D0C-47BB-41FC-AF63-E88DBFAB32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Economic value appears in correct, repeatable tasks</a:t>
            </a:r>
          </a:p>
        </p:txBody>
      </p:sp>
      <p:sp>
        <p:nvSpPr>
          <p:cNvPr id="4" name="text-cuwknil35jc">
            <a:extLst xmlns:a="http://schemas.openxmlformats.org/drawingml/2006/main">
              <a:ext uri="{FF2B5EF4-FFF2-40B4-BE49-F238E27FC236}">
                <a16:creationId xmlns:a16="http://schemas.microsoft.com/office/drawing/2014/main" id="{DC883B4F-4669-4515-B597-7795E1944D94}"/>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 model capability needs integration and operating conditions.</a:t>
            </a:r>
          </a:p>
        </p:txBody>
      </p:sp>
      <p:sp>
        <p:nvSpPr>
          <p:cNvPr id="5" name="">
            <a:extLst xmlns:a="http://schemas.openxmlformats.org/drawingml/2006/main">
              <a:ext uri="{FF2B5EF4-FFF2-40B4-BE49-F238E27FC236}">
                <a16:creationId xmlns:a16="http://schemas.microsoft.com/office/drawing/2014/main" id="{CE41CA68-9CD2-4C15-9E5A-AFE152F3B61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1bewa9fnpt2">
            <a:extLst xmlns:a="http://schemas.openxmlformats.org/drawingml/2006/main">
              <a:ext uri="{FF2B5EF4-FFF2-40B4-BE49-F238E27FC236}">
                <a16:creationId xmlns:a16="http://schemas.microsoft.com/office/drawing/2014/main" id="{18601646-FA83-431D-86AC-3EA4CD7E86AC}"/>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cjltc0s668r">
            <a:extLst xmlns:a="http://schemas.openxmlformats.org/drawingml/2006/main">
              <a:ext uri="{FF2B5EF4-FFF2-40B4-BE49-F238E27FC236}">
                <a16:creationId xmlns:a16="http://schemas.microsoft.com/office/drawing/2014/main" id="{BF689617-C7F1-4D8B-9703-A03FCEADBBF1}"/>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00D83BA4-52CB-4D8F-908C-C15BDFE6A869}"/>
              </a:ext>
            </a:extLst>
          </p:cNvPr>
          <p:cNvSpPr>
            <a:spLocks xmlns:a="http://schemas.openxmlformats.org/drawingml/2006/main" noGrp="1"/>
          </p:cNvSpPr>
          <p:nvPr/>
        </p:nvSpPr>
        <p:spPr>
          <a:xfrm xmlns:a="http://schemas.openxmlformats.org/drawingml/2006/main">
            <a:off x="6096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9A409BF-4ECE-4330-B942-5689A46C88DB}"/>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bxltyz8s2uw">
            <a:extLst xmlns:a="http://schemas.openxmlformats.org/drawingml/2006/main">
              <a:ext uri="{FF2B5EF4-FFF2-40B4-BE49-F238E27FC236}">
                <a16:creationId xmlns:a16="http://schemas.microsoft.com/office/drawing/2014/main" id="{40889298-2550-4E7C-BB57-6049B11A01C5}"/>
              </a:ext>
            </a:extLst>
          </p:cNvPr>
          <p:cNvSpPr>
            <a:spLocks xmlns:a="http://schemas.openxmlformats.org/drawingml/2006/main" noGrp="1"/>
          </p:cNvSpPr>
          <p:nvPr/>
        </p:nvSpPr>
        <p:spPr>
          <a:xfrm xmlns:a="http://schemas.openxmlformats.org/drawingml/2006/main">
            <a:off x="8191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Capability</a:t>
            </a:r>
          </a:p>
        </p:txBody>
      </p:sp>
      <p:sp>
        <p:nvSpPr>
          <p:cNvPr id="11" name="text-wjyxooj7ds">
            <a:extLst xmlns:a="http://schemas.openxmlformats.org/drawingml/2006/main">
              <a:ext uri="{FF2B5EF4-FFF2-40B4-BE49-F238E27FC236}">
                <a16:creationId xmlns:a16="http://schemas.microsoft.com/office/drawing/2014/main" id="{56BBAC98-6B9E-4825-AA29-49288CCB9F22}"/>
              </a:ext>
            </a:extLst>
          </p:cNvPr>
          <p:cNvSpPr>
            <a:spLocks xmlns:a="http://schemas.openxmlformats.org/drawingml/2006/main" noGrp="1"/>
          </p:cNvSpPr>
          <p:nvPr/>
        </p:nvSpPr>
        <p:spPr>
          <a:xfrm xmlns:a="http://schemas.openxmlformats.org/drawingml/2006/main">
            <a:off x="8191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Solve a task under defined conditions.</a:t>
            </a:r>
          </a:p>
        </p:txBody>
      </p:sp>
      <p:sp>
        <p:nvSpPr>
          <p:cNvPr id="12" name="">
            <a:extLst xmlns:a="http://schemas.openxmlformats.org/drawingml/2006/main">
              <a:ext uri="{FF2B5EF4-FFF2-40B4-BE49-F238E27FC236}">
                <a16:creationId xmlns:a16="http://schemas.microsoft.com/office/drawing/2014/main" id="{CC37F140-A1C7-44B9-B41D-D4A362DF7E78}"/>
              </a:ext>
            </a:extLst>
          </p:cNvPr>
          <p:cNvSpPr>
            <a:spLocks xmlns:a="http://schemas.openxmlformats.org/drawingml/2006/main" noGrp="1"/>
          </p:cNvSpPr>
          <p:nvPr/>
        </p:nvSpPr>
        <p:spPr>
          <a:xfrm xmlns:a="http://schemas.openxmlformats.org/drawingml/2006/main">
            <a:off x="43942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865A589-86BD-46AD-A2F9-BC30B15000F2}"/>
              </a:ext>
            </a:extLst>
          </p:cNvPr>
          <p:cNvSpPr>
            <a:spLocks xmlns:a="http://schemas.openxmlformats.org/drawingml/2006/main" noGrp="1"/>
          </p:cNvSpPr>
          <p:nvPr/>
        </p:nvSpPr>
        <p:spPr>
          <a:xfrm xmlns:a="http://schemas.openxmlformats.org/drawingml/2006/main">
            <a:off x="439420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xlirv57tr2k">
            <a:extLst xmlns:a="http://schemas.openxmlformats.org/drawingml/2006/main">
              <a:ext uri="{FF2B5EF4-FFF2-40B4-BE49-F238E27FC236}">
                <a16:creationId xmlns:a16="http://schemas.microsoft.com/office/drawing/2014/main" id="{8043CC0F-B77E-41E5-ADDC-145BACB69A4B}"/>
              </a:ext>
            </a:extLst>
          </p:cNvPr>
          <p:cNvSpPr>
            <a:spLocks xmlns:a="http://schemas.openxmlformats.org/drawingml/2006/main" noGrp="1"/>
          </p:cNvSpPr>
          <p:nvPr/>
        </p:nvSpPr>
        <p:spPr>
          <a:xfrm xmlns:a="http://schemas.openxmlformats.org/drawingml/2006/main">
            <a:off x="46037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Reliability</a:t>
            </a:r>
          </a:p>
        </p:txBody>
      </p:sp>
      <p:sp>
        <p:nvSpPr>
          <p:cNvPr id="15" name="text-bf31d240vm7">
            <a:extLst xmlns:a="http://schemas.openxmlformats.org/drawingml/2006/main">
              <a:ext uri="{FF2B5EF4-FFF2-40B4-BE49-F238E27FC236}">
                <a16:creationId xmlns:a16="http://schemas.microsoft.com/office/drawing/2014/main" id="{54FD5236-8AA8-4431-B3C6-3C6F3BAD4C3C}"/>
              </a:ext>
            </a:extLst>
          </p:cNvPr>
          <p:cNvSpPr>
            <a:spLocks xmlns:a="http://schemas.openxmlformats.org/drawingml/2006/main" noGrp="1"/>
          </p:cNvSpPr>
          <p:nvPr/>
        </p:nvSpPr>
        <p:spPr>
          <a:xfrm xmlns:a="http://schemas.openxmlformats.org/drawingml/2006/main">
            <a:off x="46037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Repeat it with measured errors and limits.</a:t>
            </a:r>
          </a:p>
        </p:txBody>
      </p:sp>
      <p:sp>
        <p:nvSpPr>
          <p:cNvPr id="16" name="">
            <a:extLst xmlns:a="http://schemas.openxmlformats.org/drawingml/2006/main">
              <a:ext uri="{FF2B5EF4-FFF2-40B4-BE49-F238E27FC236}">
                <a16:creationId xmlns:a16="http://schemas.microsoft.com/office/drawing/2014/main" id="{B0A05ECF-425A-45B3-BF77-ECEE87E6F261}"/>
              </a:ext>
            </a:extLst>
          </p:cNvPr>
          <p:cNvSpPr>
            <a:spLocks xmlns:a="http://schemas.openxmlformats.org/drawingml/2006/main" noGrp="1"/>
          </p:cNvSpPr>
          <p:nvPr/>
        </p:nvSpPr>
        <p:spPr>
          <a:xfrm xmlns:a="http://schemas.openxmlformats.org/drawingml/2006/main">
            <a:off x="81788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F84F6C7-3F1D-4C87-941A-8A4D510314AF}"/>
              </a:ext>
            </a:extLst>
          </p:cNvPr>
          <p:cNvSpPr>
            <a:spLocks xmlns:a="http://schemas.openxmlformats.org/drawingml/2006/main" noGrp="1"/>
          </p:cNvSpPr>
          <p:nvPr/>
        </p:nvSpPr>
        <p:spPr>
          <a:xfrm xmlns:a="http://schemas.openxmlformats.org/drawingml/2006/main">
            <a:off x="81788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8v8qqw4f6vt">
            <a:extLst xmlns:a="http://schemas.openxmlformats.org/drawingml/2006/main">
              <a:ext uri="{FF2B5EF4-FFF2-40B4-BE49-F238E27FC236}">
                <a16:creationId xmlns:a16="http://schemas.microsoft.com/office/drawing/2014/main" id="{C5037ADF-7139-4973-AF63-A45315B7CFC0}"/>
              </a:ext>
            </a:extLst>
          </p:cNvPr>
          <p:cNvSpPr>
            <a:spLocks xmlns:a="http://schemas.openxmlformats.org/drawingml/2006/main" noGrp="1"/>
          </p:cNvSpPr>
          <p:nvPr/>
        </p:nvSpPr>
        <p:spPr>
          <a:xfrm xmlns:a="http://schemas.openxmlformats.org/drawingml/2006/main">
            <a:off x="83883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Economics</a:t>
            </a:r>
          </a:p>
        </p:txBody>
      </p:sp>
      <p:sp>
        <p:nvSpPr>
          <p:cNvPr id="19" name="text-x0rir605pd">
            <a:extLst xmlns:a="http://schemas.openxmlformats.org/drawingml/2006/main">
              <a:ext uri="{FF2B5EF4-FFF2-40B4-BE49-F238E27FC236}">
                <a16:creationId xmlns:a16="http://schemas.microsoft.com/office/drawing/2014/main" id="{FB87B9D2-03E3-4396-8079-788C200879E5}"/>
              </a:ext>
            </a:extLst>
          </p:cNvPr>
          <p:cNvSpPr>
            <a:spLocks xmlns:a="http://schemas.openxmlformats.org/drawingml/2006/main" noGrp="1"/>
          </p:cNvSpPr>
          <p:nvPr/>
        </p:nvSpPr>
        <p:spPr>
          <a:xfrm xmlns:a="http://schemas.openxmlformats.org/drawingml/2006/main">
            <a:off x="83883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Create net value after integration and operation.</a:t>
            </a:r>
          </a:p>
        </p:txBody>
      </p:sp>
    </p:spTree>
    <p:extLst>
      <p:ext uri="{BB962C8B-B14F-4D97-AF65-F5344CB8AC3E}">
        <p14:creationId xmlns:p14="http://schemas.microsoft.com/office/powerpoint/2010/main" val="1435322880"/>
      </p:ext>
    </p:extLst>
  </p:cSld>
</p:sld>
</file>

<file path=ppt/slides/slide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1C41307-B08D-48A4-B3EA-B61EB4CB1E86}"/>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vch9v86rlwb">
            <a:extLst xmlns:a="http://schemas.openxmlformats.org/drawingml/2006/main">
              <a:ext uri="{FF2B5EF4-FFF2-40B4-BE49-F238E27FC236}">
                <a16:creationId xmlns:a16="http://schemas.microsoft.com/office/drawing/2014/main" id="{0545B1B9-391A-491C-8923-28179478AB60}"/>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dvoftpithzo">
            <a:extLst xmlns:a="http://schemas.openxmlformats.org/drawingml/2006/main">
              <a:ext uri="{FF2B5EF4-FFF2-40B4-BE49-F238E27FC236}">
                <a16:creationId xmlns:a16="http://schemas.microsoft.com/office/drawing/2014/main" id="{45F67245-FCE4-416D-8F06-A1DF809DB35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Model, chatbot, agent and robot describe different functions</a:t>
            </a:r>
          </a:p>
        </p:txBody>
      </p:sp>
      <p:sp>
        <p:nvSpPr>
          <p:cNvPr id="4" name="text-bbxoocdfcuv">
            <a:extLst xmlns:a="http://schemas.openxmlformats.org/drawingml/2006/main">
              <a:ext uri="{FF2B5EF4-FFF2-40B4-BE49-F238E27FC236}">
                <a16:creationId xmlns:a16="http://schemas.microsoft.com/office/drawing/2014/main" id="{FD8AAEAC-88C0-4117-B281-4B18AD2B2030}"/>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They can be combined within one product.</a:t>
            </a:r>
          </a:p>
        </p:txBody>
      </p:sp>
      <p:sp>
        <p:nvSpPr>
          <p:cNvPr id="5" name="">
            <a:extLst xmlns:a="http://schemas.openxmlformats.org/drawingml/2006/main">
              <a:ext uri="{FF2B5EF4-FFF2-40B4-BE49-F238E27FC236}">
                <a16:creationId xmlns:a16="http://schemas.microsoft.com/office/drawing/2014/main" id="{271EDD45-8059-41F0-B1E5-4D6D8372CA7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ie78wa32uf8">
            <a:extLst xmlns:a="http://schemas.openxmlformats.org/drawingml/2006/main">
              <a:ext uri="{FF2B5EF4-FFF2-40B4-BE49-F238E27FC236}">
                <a16:creationId xmlns:a16="http://schemas.microsoft.com/office/drawing/2014/main" id="{4A0F2E67-E068-46EB-B7B7-0355AF6E0B4B}"/>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Russell &amp; Norvig</a:t>
            </a:r>
          </a:p>
        </p:txBody>
      </p:sp>
      <p:sp>
        <p:nvSpPr>
          <p:cNvPr id="7" name="text-5bqo9lgrk2o">
            <a:extLst xmlns:a="http://schemas.openxmlformats.org/drawingml/2006/main">
              <a:ext uri="{FF2B5EF4-FFF2-40B4-BE49-F238E27FC236}">
                <a16:creationId xmlns:a16="http://schemas.microsoft.com/office/drawing/2014/main" id="{5BEB0EFA-CF8F-41AB-BBB2-2A8134DAE2AB}"/>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04</a:t>
            </a:r>
          </a:p>
        </p:txBody>
      </p:sp>
      <p:sp>
        <p:nvSpPr>
          <p:cNvPr id="8" name="">
            <a:extLst xmlns:a="http://schemas.openxmlformats.org/drawingml/2006/main">
              <a:ext uri="{FF2B5EF4-FFF2-40B4-BE49-F238E27FC236}">
                <a16:creationId xmlns:a16="http://schemas.microsoft.com/office/drawing/2014/main" id="{80087836-FDCA-461A-82FD-1B1554A34C01}"/>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5951840-46B8-4315-969D-E0489F138CD7}"/>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wdjpkbz0y">
            <a:extLst xmlns:a="http://schemas.openxmlformats.org/drawingml/2006/main">
              <a:ext uri="{FF2B5EF4-FFF2-40B4-BE49-F238E27FC236}">
                <a16:creationId xmlns:a16="http://schemas.microsoft.com/office/drawing/2014/main" id="{E33A1982-08CE-4479-982D-E1743B81D7EA}"/>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Model</a:t>
            </a:r>
          </a:p>
        </p:txBody>
      </p:sp>
      <p:sp>
        <p:nvSpPr>
          <p:cNvPr id="11" name="text-0q2bnkbpxi5">
            <a:extLst xmlns:a="http://schemas.openxmlformats.org/drawingml/2006/main">
              <a:ext uri="{FF2B5EF4-FFF2-40B4-BE49-F238E27FC236}">
                <a16:creationId xmlns:a16="http://schemas.microsoft.com/office/drawing/2014/main" id="{ABF8BE31-0582-4BCD-8A93-3EBC73878765}"/>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Component that predicts or generates outputs.</a:t>
            </a:r>
          </a:p>
        </p:txBody>
      </p:sp>
      <p:sp>
        <p:nvSpPr>
          <p:cNvPr id="12" name="">
            <a:extLst xmlns:a="http://schemas.openxmlformats.org/drawingml/2006/main">
              <a:ext uri="{FF2B5EF4-FFF2-40B4-BE49-F238E27FC236}">
                <a16:creationId xmlns:a16="http://schemas.microsoft.com/office/drawing/2014/main" id="{B53B1057-6591-40AB-97B7-23F42FEB1CB6}"/>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E88E5A6-F110-4DD8-9438-39ACD2B56BD0}"/>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j5nhrnz6ole">
            <a:extLst xmlns:a="http://schemas.openxmlformats.org/drawingml/2006/main">
              <a:ext uri="{FF2B5EF4-FFF2-40B4-BE49-F238E27FC236}">
                <a16:creationId xmlns:a16="http://schemas.microsoft.com/office/drawing/2014/main" id="{D3D47271-C98D-4F5E-906E-1652C887F7EE}"/>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Chatbot</a:t>
            </a:r>
          </a:p>
        </p:txBody>
      </p:sp>
      <p:sp>
        <p:nvSpPr>
          <p:cNvPr id="15" name="text-qkym9771y68">
            <a:extLst xmlns:a="http://schemas.openxmlformats.org/drawingml/2006/main">
              <a:ext uri="{FF2B5EF4-FFF2-40B4-BE49-F238E27FC236}">
                <a16:creationId xmlns:a16="http://schemas.microsoft.com/office/drawing/2014/main" id="{BB1D2AC6-C512-4BA1-AAC5-379E6A01C2E6}"/>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Conversational interface with a user.</a:t>
            </a:r>
          </a:p>
        </p:txBody>
      </p:sp>
      <p:sp>
        <p:nvSpPr>
          <p:cNvPr id="16" name="">
            <a:extLst xmlns:a="http://schemas.openxmlformats.org/drawingml/2006/main">
              <a:ext uri="{FF2B5EF4-FFF2-40B4-BE49-F238E27FC236}">
                <a16:creationId xmlns:a16="http://schemas.microsoft.com/office/drawing/2014/main" id="{0C5D9981-0A5E-496E-AD75-8A1AAAACFB94}"/>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FE86C7A-20B1-498A-8DDF-584E9A98128E}"/>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jhdd5wn4sk">
            <a:extLst xmlns:a="http://schemas.openxmlformats.org/drawingml/2006/main">
              <a:ext uri="{FF2B5EF4-FFF2-40B4-BE49-F238E27FC236}">
                <a16:creationId xmlns:a16="http://schemas.microsoft.com/office/drawing/2014/main" id="{651D1159-7D70-4174-99FE-D76A2C75B8F3}"/>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Agent</a:t>
            </a:r>
          </a:p>
        </p:txBody>
      </p:sp>
      <p:sp>
        <p:nvSpPr>
          <p:cNvPr id="19" name="text-mrq1bw05dl">
            <a:extLst xmlns:a="http://schemas.openxmlformats.org/drawingml/2006/main">
              <a:ext uri="{FF2B5EF4-FFF2-40B4-BE49-F238E27FC236}">
                <a16:creationId xmlns:a16="http://schemas.microsoft.com/office/drawing/2014/main" id="{65856749-34D6-4FD0-A19F-738B304941CB}"/>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System that observes, decides and acts.</a:t>
            </a:r>
          </a:p>
        </p:txBody>
      </p:sp>
      <p:sp>
        <p:nvSpPr>
          <p:cNvPr id="20" name="">
            <a:extLst xmlns:a="http://schemas.openxmlformats.org/drawingml/2006/main">
              <a:ext uri="{FF2B5EF4-FFF2-40B4-BE49-F238E27FC236}">
                <a16:creationId xmlns:a16="http://schemas.microsoft.com/office/drawing/2014/main" id="{8AEB2FBD-8810-4AA2-9D58-3230D0F88791}"/>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163ED45-5DCB-4631-8520-DDD7519C607A}"/>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0z8abz166n3e">
            <a:extLst xmlns:a="http://schemas.openxmlformats.org/drawingml/2006/main">
              <a:ext uri="{FF2B5EF4-FFF2-40B4-BE49-F238E27FC236}">
                <a16:creationId xmlns:a16="http://schemas.microsoft.com/office/drawing/2014/main" id="{25ECC456-B596-4978-9238-A6D4E5786EC8}"/>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Robot</a:t>
            </a:r>
          </a:p>
        </p:txBody>
      </p:sp>
      <p:sp>
        <p:nvSpPr>
          <p:cNvPr id="23" name="text-kfqdomcissb">
            <a:extLst xmlns:a="http://schemas.openxmlformats.org/drawingml/2006/main">
              <a:ext uri="{FF2B5EF4-FFF2-40B4-BE49-F238E27FC236}">
                <a16:creationId xmlns:a16="http://schemas.microsoft.com/office/drawing/2014/main" id="{7BDB14F8-D981-4FFC-9901-EDA5296902B7}"/>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Machine that senses and acts physically.</a:t>
            </a:r>
          </a:p>
        </p:txBody>
      </p:sp>
    </p:spTree>
    <p:extLst>
      <p:ext uri="{BB962C8B-B14F-4D97-AF65-F5344CB8AC3E}">
        <p14:creationId xmlns:p14="http://schemas.microsoft.com/office/powerpoint/2010/main" val="1297189966"/>
      </p:ext>
    </p:extLst>
  </p:cSld>
</p:sld>
</file>

<file path=ppt/slides/slide5.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6890829-B41A-4616-949A-CE80E7E06AF3}"/>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c5d9cqtwou">
            <a:extLst xmlns:a="http://schemas.openxmlformats.org/drawingml/2006/main">
              <a:ext uri="{FF2B5EF4-FFF2-40B4-BE49-F238E27FC236}">
                <a16:creationId xmlns:a16="http://schemas.microsoft.com/office/drawing/2014/main" id="{F41DB214-9833-46B5-ABB6-DAC34B732CEB}"/>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53hsbntpcgg">
            <a:extLst xmlns:a="http://schemas.openxmlformats.org/drawingml/2006/main">
              <a:ext uri="{FF2B5EF4-FFF2-40B4-BE49-F238E27FC236}">
                <a16:creationId xmlns:a16="http://schemas.microsoft.com/office/drawing/2014/main" id="{81BC992F-45EA-4883-A8DC-ABFAEAA2F506}"/>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Five layers connect research to production</a:t>
            </a:r>
          </a:p>
        </p:txBody>
      </p:sp>
      <p:sp>
        <p:nvSpPr>
          <p:cNvPr id="4" name="text-gtyryn7l5hn">
            <a:extLst xmlns:a="http://schemas.openxmlformats.org/drawingml/2006/main">
              <a:ext uri="{FF2B5EF4-FFF2-40B4-BE49-F238E27FC236}">
                <a16:creationId xmlns:a16="http://schemas.microsoft.com/office/drawing/2014/main" id="{ED7C3381-9F2A-4F24-BDEC-65385546F71A}"/>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A company’s advantage also depends on suppliers and channels.</a:t>
            </a:r>
          </a:p>
        </p:txBody>
      </p:sp>
      <p:sp>
        <p:nvSpPr>
          <p:cNvPr id="5" name="">
            <a:extLst xmlns:a="http://schemas.openxmlformats.org/drawingml/2006/main">
              <a:ext uri="{FF2B5EF4-FFF2-40B4-BE49-F238E27FC236}">
                <a16:creationId xmlns:a16="http://schemas.microsoft.com/office/drawing/2014/main" id="{34488424-87DB-4BB9-AFA7-AA93121754E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4n4wli4m5n5">
            <a:extLst xmlns:a="http://schemas.openxmlformats.org/drawingml/2006/main">
              <a:ext uri="{FF2B5EF4-FFF2-40B4-BE49-F238E27FC236}">
                <a16:creationId xmlns:a16="http://schemas.microsoft.com/office/drawing/2014/main" id="{098B51A7-A211-4EC4-858C-75BC3700A7F3}"/>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Sergio Gevatschnaider</a:t>
            </a:r>
          </a:p>
        </p:txBody>
      </p:sp>
      <p:sp>
        <p:nvSpPr>
          <p:cNvPr id="7" name="text-u9a6qjaoc4">
            <a:extLst xmlns:a="http://schemas.openxmlformats.org/drawingml/2006/main">
              <a:ext uri="{FF2B5EF4-FFF2-40B4-BE49-F238E27FC236}">
                <a16:creationId xmlns:a16="http://schemas.microsoft.com/office/drawing/2014/main" id="{EE6FE645-7219-48D9-908B-C7FB697756B3}"/>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05</a:t>
            </a:r>
          </a:p>
        </p:txBody>
      </p:sp>
      <p:sp>
        <p:nvSpPr>
          <p:cNvPr id="8" name="text-625o25hnzdy">
            <a:extLst xmlns:a="http://schemas.openxmlformats.org/drawingml/2006/main">
              <a:ext uri="{FF2B5EF4-FFF2-40B4-BE49-F238E27FC236}">
                <a16:creationId xmlns:a16="http://schemas.microsoft.com/office/drawing/2014/main" id="{3D653560-9626-45CC-B155-E0F719FCDA15}"/>
              </a:ext>
            </a:extLst>
          </p:cNvPr>
          <p:cNvSpPr>
            <a:spLocks xmlns:a="http://schemas.openxmlformats.org/drawingml/2006/main" noGrp="1"/>
          </p:cNvSpPr>
          <p:nvPr/>
        </p:nvSpPr>
        <p:spPr>
          <a:xfrm xmlns:a="http://schemas.openxmlformats.org/drawingml/2006/main">
            <a:off x="628650" y="262890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01</a:t>
            </a:r>
          </a:p>
        </p:txBody>
      </p:sp>
      <p:sp>
        <p:nvSpPr>
          <p:cNvPr id="9" name="text-u96big708c">
            <a:extLst xmlns:a="http://schemas.openxmlformats.org/drawingml/2006/main">
              <a:ext uri="{FF2B5EF4-FFF2-40B4-BE49-F238E27FC236}">
                <a16:creationId xmlns:a16="http://schemas.microsoft.com/office/drawing/2014/main" id="{C89B2079-CF07-416C-9D7A-9FDA6485B860}"/>
              </a:ext>
            </a:extLst>
          </p:cNvPr>
          <p:cNvSpPr>
            <a:spLocks xmlns:a="http://schemas.openxmlformats.org/drawingml/2006/main" noGrp="1"/>
          </p:cNvSpPr>
          <p:nvPr/>
        </p:nvSpPr>
        <p:spPr>
          <a:xfrm xmlns:a="http://schemas.openxmlformats.org/drawingml/2006/main">
            <a:off x="1238250" y="261937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Models</a:t>
            </a:r>
          </a:p>
        </p:txBody>
      </p:sp>
      <p:sp>
        <p:nvSpPr>
          <p:cNvPr id="10" name="text-w3pqylcd7n">
            <a:extLst xmlns:a="http://schemas.openxmlformats.org/drawingml/2006/main">
              <a:ext uri="{FF2B5EF4-FFF2-40B4-BE49-F238E27FC236}">
                <a16:creationId xmlns:a16="http://schemas.microsoft.com/office/drawing/2014/main" id="{F8DBF394-C2CF-4E96-BE56-D76E069ACBDE}"/>
              </a:ext>
            </a:extLst>
          </p:cNvPr>
          <p:cNvSpPr>
            <a:spLocks xmlns:a="http://schemas.openxmlformats.org/drawingml/2006/main" noGrp="1"/>
          </p:cNvSpPr>
          <p:nvPr/>
        </p:nvSpPr>
        <p:spPr>
          <a:xfrm xmlns:a="http://schemas.openxmlformats.org/drawingml/2006/main">
            <a:off x="4095750" y="261937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DeepSeek, Qwen and other families.</a:t>
            </a:r>
          </a:p>
        </p:txBody>
      </p:sp>
      <p:sp>
        <p:nvSpPr>
          <p:cNvPr id="11" name="">
            <a:extLst xmlns:a="http://schemas.openxmlformats.org/drawingml/2006/main">
              <a:ext uri="{FF2B5EF4-FFF2-40B4-BE49-F238E27FC236}">
                <a16:creationId xmlns:a16="http://schemas.microsoft.com/office/drawing/2014/main" id="{B7982305-58F9-4885-AC67-95A30F755415}"/>
              </a:ext>
            </a:extLst>
          </p:cNvPr>
          <p:cNvSpPr>
            <a:spLocks xmlns:a="http://schemas.openxmlformats.org/drawingml/2006/main" noGrp="1"/>
          </p:cNvSpPr>
          <p:nvPr/>
        </p:nvSpPr>
        <p:spPr>
          <a:xfrm xmlns:a="http://schemas.openxmlformats.org/drawingml/2006/main">
            <a:off x="1238250" y="3204210"/>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2" name="text-t1hsmkpqywc">
            <a:extLst xmlns:a="http://schemas.openxmlformats.org/drawingml/2006/main">
              <a:ext uri="{FF2B5EF4-FFF2-40B4-BE49-F238E27FC236}">
                <a16:creationId xmlns:a16="http://schemas.microsoft.com/office/drawing/2014/main" id="{8C5B7624-5AF8-49F6-84B1-01107CBB0ED0}"/>
              </a:ext>
            </a:extLst>
          </p:cNvPr>
          <p:cNvSpPr>
            <a:spLocks xmlns:a="http://schemas.openxmlformats.org/drawingml/2006/main" noGrp="1"/>
          </p:cNvSpPr>
          <p:nvPr/>
        </p:nvSpPr>
        <p:spPr>
          <a:xfrm xmlns:a="http://schemas.openxmlformats.org/drawingml/2006/main">
            <a:off x="628650" y="3347085"/>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02</a:t>
            </a:r>
          </a:p>
        </p:txBody>
      </p:sp>
      <p:sp>
        <p:nvSpPr>
          <p:cNvPr id="13" name="text-cz5q5hctyp">
            <a:extLst xmlns:a="http://schemas.openxmlformats.org/drawingml/2006/main">
              <a:ext uri="{FF2B5EF4-FFF2-40B4-BE49-F238E27FC236}">
                <a16:creationId xmlns:a16="http://schemas.microsoft.com/office/drawing/2014/main" id="{CC8016AD-C26D-4EFA-AE5F-820F10201D88}"/>
              </a:ext>
            </a:extLst>
          </p:cNvPr>
          <p:cNvSpPr>
            <a:spLocks xmlns:a="http://schemas.openxmlformats.org/drawingml/2006/main" noGrp="1"/>
          </p:cNvSpPr>
          <p:nvPr/>
        </p:nvSpPr>
        <p:spPr>
          <a:xfrm xmlns:a="http://schemas.openxmlformats.org/drawingml/2006/main">
            <a:off x="1238250" y="3337560"/>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Agent systems</a:t>
            </a:r>
          </a:p>
        </p:txBody>
      </p:sp>
      <p:sp>
        <p:nvSpPr>
          <p:cNvPr id="14" name="text-khtkhwc7s5j">
            <a:extLst xmlns:a="http://schemas.openxmlformats.org/drawingml/2006/main">
              <a:ext uri="{FF2B5EF4-FFF2-40B4-BE49-F238E27FC236}">
                <a16:creationId xmlns:a16="http://schemas.microsoft.com/office/drawing/2014/main" id="{2D07CD39-A2DF-412F-8150-1AC1322EA874}"/>
              </a:ext>
            </a:extLst>
          </p:cNvPr>
          <p:cNvSpPr>
            <a:spLocks xmlns:a="http://schemas.openxmlformats.org/drawingml/2006/main" noGrp="1"/>
          </p:cNvSpPr>
          <p:nvPr/>
        </p:nvSpPr>
        <p:spPr>
          <a:xfrm xmlns:a="http://schemas.openxmlformats.org/drawingml/2006/main">
            <a:off x="4095750" y="3337560"/>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Orchestration, tools and evaluation.</a:t>
            </a:r>
          </a:p>
        </p:txBody>
      </p:sp>
      <p:sp>
        <p:nvSpPr>
          <p:cNvPr id="15" name="">
            <a:extLst xmlns:a="http://schemas.openxmlformats.org/drawingml/2006/main">
              <a:ext uri="{FF2B5EF4-FFF2-40B4-BE49-F238E27FC236}">
                <a16:creationId xmlns:a16="http://schemas.microsoft.com/office/drawing/2014/main" id="{48C88DAC-6090-41CE-9F4B-3A27C8F70809}"/>
              </a:ext>
            </a:extLst>
          </p:cNvPr>
          <p:cNvSpPr>
            <a:spLocks xmlns:a="http://schemas.openxmlformats.org/drawingml/2006/main" noGrp="1"/>
          </p:cNvSpPr>
          <p:nvPr/>
        </p:nvSpPr>
        <p:spPr>
          <a:xfrm xmlns:a="http://schemas.openxmlformats.org/drawingml/2006/main">
            <a:off x="1238250" y="392239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6" name="text-zoo0o75huzm">
            <a:extLst xmlns:a="http://schemas.openxmlformats.org/drawingml/2006/main">
              <a:ext uri="{FF2B5EF4-FFF2-40B4-BE49-F238E27FC236}">
                <a16:creationId xmlns:a16="http://schemas.microsoft.com/office/drawing/2014/main" id="{B7D8F1AD-BB75-413D-B5BD-6F245666923E}"/>
              </a:ext>
            </a:extLst>
          </p:cNvPr>
          <p:cNvSpPr>
            <a:spLocks xmlns:a="http://schemas.openxmlformats.org/drawingml/2006/main" noGrp="1"/>
          </p:cNvSpPr>
          <p:nvPr/>
        </p:nvSpPr>
        <p:spPr>
          <a:xfrm xmlns:a="http://schemas.openxmlformats.org/drawingml/2006/main">
            <a:off x="628650" y="406527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03</a:t>
            </a:r>
          </a:p>
        </p:txBody>
      </p:sp>
      <p:sp>
        <p:nvSpPr>
          <p:cNvPr id="17" name="text-frftnxgunop">
            <a:extLst xmlns:a="http://schemas.openxmlformats.org/drawingml/2006/main">
              <a:ext uri="{FF2B5EF4-FFF2-40B4-BE49-F238E27FC236}">
                <a16:creationId xmlns:a16="http://schemas.microsoft.com/office/drawing/2014/main" id="{63D624A2-988C-4754-91D7-288236AD39F8}"/>
              </a:ext>
            </a:extLst>
          </p:cNvPr>
          <p:cNvSpPr>
            <a:spLocks xmlns:a="http://schemas.openxmlformats.org/drawingml/2006/main" noGrp="1"/>
          </p:cNvSpPr>
          <p:nvPr/>
        </p:nvSpPr>
        <p:spPr>
          <a:xfrm xmlns:a="http://schemas.openxmlformats.org/drawingml/2006/main">
            <a:off x="1238250" y="405574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Cloud and distribution</a:t>
            </a:r>
          </a:p>
        </p:txBody>
      </p:sp>
      <p:sp>
        <p:nvSpPr>
          <p:cNvPr id="18" name="text-mw6bra7bycp">
            <a:extLst xmlns:a="http://schemas.openxmlformats.org/drawingml/2006/main">
              <a:ext uri="{FF2B5EF4-FFF2-40B4-BE49-F238E27FC236}">
                <a16:creationId xmlns:a16="http://schemas.microsoft.com/office/drawing/2014/main" id="{9D95CE17-B6C7-46DA-B7A9-7EE66B2B9C84}"/>
              </a:ext>
            </a:extLst>
          </p:cNvPr>
          <p:cNvSpPr>
            <a:spLocks xmlns:a="http://schemas.openxmlformats.org/drawingml/2006/main" noGrp="1"/>
          </p:cNvSpPr>
          <p:nvPr/>
        </p:nvSpPr>
        <p:spPr>
          <a:xfrm xmlns:a="http://schemas.openxmlformats.org/drawingml/2006/main">
            <a:off x="4095750" y="405574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Access to compute, users and services.</a:t>
            </a:r>
          </a:p>
        </p:txBody>
      </p:sp>
      <p:sp>
        <p:nvSpPr>
          <p:cNvPr id="19" name="">
            <a:extLst xmlns:a="http://schemas.openxmlformats.org/drawingml/2006/main">
              <a:ext uri="{FF2B5EF4-FFF2-40B4-BE49-F238E27FC236}">
                <a16:creationId xmlns:a16="http://schemas.microsoft.com/office/drawing/2014/main" id="{B7F6732D-0B9D-4FE7-AA5D-15B395D3A6D4}"/>
              </a:ext>
            </a:extLst>
          </p:cNvPr>
          <p:cNvSpPr>
            <a:spLocks xmlns:a="http://schemas.openxmlformats.org/drawingml/2006/main" noGrp="1"/>
          </p:cNvSpPr>
          <p:nvPr/>
        </p:nvSpPr>
        <p:spPr>
          <a:xfrm xmlns:a="http://schemas.openxmlformats.org/drawingml/2006/main">
            <a:off x="1238250" y="4640580"/>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20" name="text-2sozql7nw0q">
            <a:extLst xmlns:a="http://schemas.openxmlformats.org/drawingml/2006/main">
              <a:ext uri="{FF2B5EF4-FFF2-40B4-BE49-F238E27FC236}">
                <a16:creationId xmlns:a16="http://schemas.microsoft.com/office/drawing/2014/main" id="{85437FF0-BDAF-46E5-B0AC-8616F5F14302}"/>
              </a:ext>
            </a:extLst>
          </p:cNvPr>
          <p:cNvSpPr>
            <a:spLocks xmlns:a="http://schemas.openxmlformats.org/drawingml/2006/main" noGrp="1"/>
          </p:cNvSpPr>
          <p:nvPr/>
        </p:nvSpPr>
        <p:spPr>
          <a:xfrm xmlns:a="http://schemas.openxmlformats.org/drawingml/2006/main">
            <a:off x="628650" y="4783455"/>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04</a:t>
            </a:r>
          </a:p>
        </p:txBody>
      </p:sp>
      <p:sp>
        <p:nvSpPr>
          <p:cNvPr id="21" name="text-j2xurgsup3">
            <a:extLst xmlns:a="http://schemas.openxmlformats.org/drawingml/2006/main">
              <a:ext uri="{FF2B5EF4-FFF2-40B4-BE49-F238E27FC236}">
                <a16:creationId xmlns:a16="http://schemas.microsoft.com/office/drawing/2014/main" id="{5AC6F196-1A24-4893-95CF-C2652765B6CC}"/>
              </a:ext>
            </a:extLst>
          </p:cNvPr>
          <p:cNvSpPr>
            <a:spLocks xmlns:a="http://schemas.openxmlformats.org/drawingml/2006/main" noGrp="1"/>
          </p:cNvSpPr>
          <p:nvPr/>
        </p:nvSpPr>
        <p:spPr>
          <a:xfrm xmlns:a="http://schemas.openxmlformats.org/drawingml/2006/main">
            <a:off x="1238250" y="4773930"/>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Infrastructure</a:t>
            </a:r>
          </a:p>
        </p:txBody>
      </p:sp>
      <p:sp>
        <p:nvSpPr>
          <p:cNvPr id="22" name="text-hh43rwlgc95">
            <a:extLst xmlns:a="http://schemas.openxmlformats.org/drawingml/2006/main">
              <a:ext uri="{FF2B5EF4-FFF2-40B4-BE49-F238E27FC236}">
                <a16:creationId xmlns:a16="http://schemas.microsoft.com/office/drawing/2014/main" id="{EEBF9BBF-02CD-4C47-8BF8-215FB95B12DE}"/>
              </a:ext>
            </a:extLst>
          </p:cNvPr>
          <p:cNvSpPr>
            <a:spLocks xmlns:a="http://schemas.openxmlformats.org/drawingml/2006/main" noGrp="1"/>
          </p:cNvSpPr>
          <p:nvPr/>
        </p:nvSpPr>
        <p:spPr>
          <a:xfrm xmlns:a="http://schemas.openxmlformats.org/drawingml/2006/main">
            <a:off x="4095750" y="4773930"/>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Chips, memory, interconnects and energy.</a:t>
            </a:r>
          </a:p>
        </p:txBody>
      </p:sp>
      <p:sp>
        <p:nvSpPr>
          <p:cNvPr id="23" name="">
            <a:extLst xmlns:a="http://schemas.openxmlformats.org/drawingml/2006/main">
              <a:ext uri="{FF2B5EF4-FFF2-40B4-BE49-F238E27FC236}">
                <a16:creationId xmlns:a16="http://schemas.microsoft.com/office/drawing/2014/main" id="{794AA529-1A48-4E37-8C71-5166FA4D9AF1}"/>
              </a:ext>
            </a:extLst>
          </p:cNvPr>
          <p:cNvSpPr>
            <a:spLocks xmlns:a="http://schemas.openxmlformats.org/drawingml/2006/main" noGrp="1"/>
          </p:cNvSpPr>
          <p:nvPr/>
        </p:nvSpPr>
        <p:spPr>
          <a:xfrm xmlns:a="http://schemas.openxmlformats.org/drawingml/2006/main">
            <a:off x="1238250" y="535876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24" name="text-uojnkm5pf8p">
            <a:extLst xmlns:a="http://schemas.openxmlformats.org/drawingml/2006/main">
              <a:ext uri="{FF2B5EF4-FFF2-40B4-BE49-F238E27FC236}">
                <a16:creationId xmlns:a16="http://schemas.microsoft.com/office/drawing/2014/main" id="{9A8853F6-8F93-48CB-900D-8D38A4420456}"/>
              </a:ext>
            </a:extLst>
          </p:cNvPr>
          <p:cNvSpPr>
            <a:spLocks xmlns:a="http://schemas.openxmlformats.org/drawingml/2006/main" noGrp="1"/>
          </p:cNvSpPr>
          <p:nvPr/>
        </p:nvSpPr>
        <p:spPr>
          <a:xfrm xmlns:a="http://schemas.openxmlformats.org/drawingml/2006/main">
            <a:off x="628650" y="550164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05</a:t>
            </a:r>
          </a:p>
        </p:txBody>
      </p:sp>
      <p:sp>
        <p:nvSpPr>
          <p:cNvPr id="25" name="text-v67x2sff2o">
            <a:extLst xmlns:a="http://schemas.openxmlformats.org/drawingml/2006/main">
              <a:ext uri="{FF2B5EF4-FFF2-40B4-BE49-F238E27FC236}">
                <a16:creationId xmlns:a16="http://schemas.microsoft.com/office/drawing/2014/main" id="{538C48BB-A5DE-49A4-A282-90B462A36E21}"/>
              </a:ext>
            </a:extLst>
          </p:cNvPr>
          <p:cNvSpPr>
            <a:spLocks xmlns:a="http://schemas.openxmlformats.org/drawingml/2006/main" noGrp="1"/>
          </p:cNvSpPr>
          <p:nvPr/>
        </p:nvSpPr>
        <p:spPr>
          <a:xfrm xmlns:a="http://schemas.openxmlformats.org/drawingml/2006/main">
            <a:off x="1238250" y="549211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Physical world</a:t>
            </a:r>
          </a:p>
        </p:txBody>
      </p:sp>
      <p:sp>
        <p:nvSpPr>
          <p:cNvPr id="26" name="text-6slodvmxntx">
            <a:extLst xmlns:a="http://schemas.openxmlformats.org/drawingml/2006/main">
              <a:ext uri="{FF2B5EF4-FFF2-40B4-BE49-F238E27FC236}">
                <a16:creationId xmlns:a16="http://schemas.microsoft.com/office/drawing/2014/main" id="{2AEDE397-3AF3-45F2-A245-3E93FB4998D8}"/>
              </a:ext>
            </a:extLst>
          </p:cNvPr>
          <p:cNvSpPr>
            <a:spLocks xmlns:a="http://schemas.openxmlformats.org/drawingml/2006/main" noGrp="1"/>
          </p:cNvSpPr>
          <p:nvPr/>
        </p:nvSpPr>
        <p:spPr>
          <a:xfrm xmlns:a="http://schemas.openxmlformats.org/drawingml/2006/main">
            <a:off x="4095750" y="549211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Factories, sensors, robots and support.</a:t>
            </a:r>
          </a:p>
        </p:txBody>
      </p:sp>
    </p:spTree>
    <p:extLst>
      <p:ext uri="{BB962C8B-B14F-4D97-AF65-F5344CB8AC3E}">
        <p14:creationId xmlns:p14="http://schemas.microsoft.com/office/powerpoint/2010/main" val="2052559970"/>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F7E3565-8307-47E6-ABE8-8CF8CCC65FFE}"/>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dwaujwubwdg">
            <a:extLst xmlns:a="http://schemas.openxmlformats.org/drawingml/2006/main">
              <a:ext uri="{FF2B5EF4-FFF2-40B4-BE49-F238E27FC236}">
                <a16:creationId xmlns:a16="http://schemas.microsoft.com/office/drawing/2014/main" id="{07BBC909-DEAD-49EB-A526-30EBF6D88952}"/>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79kssy5cow5">
            <a:extLst xmlns:a="http://schemas.openxmlformats.org/drawingml/2006/main">
              <a:ext uri="{FF2B5EF4-FFF2-40B4-BE49-F238E27FC236}">
                <a16:creationId xmlns:a16="http://schemas.microsoft.com/office/drawing/2014/main" id="{32EF2343-6445-4F41-87FE-3525A438F29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Strategies combine models, platforms and infrastructure</a:t>
            </a:r>
          </a:p>
        </p:txBody>
      </p:sp>
      <p:sp>
        <p:nvSpPr>
          <p:cNvPr id="4" name="text-92spi42zea">
            <a:extLst xmlns:a="http://schemas.openxmlformats.org/drawingml/2006/main">
              <a:ext uri="{FF2B5EF4-FFF2-40B4-BE49-F238E27FC236}">
                <a16:creationId xmlns:a16="http://schemas.microsoft.com/office/drawing/2014/main" id="{8545888F-C719-4054-9076-63AF6B074B28}"/>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These examples illustrate different ecosystem positions.</a:t>
            </a:r>
          </a:p>
        </p:txBody>
      </p:sp>
      <p:sp>
        <p:nvSpPr>
          <p:cNvPr id="5" name="">
            <a:extLst xmlns:a="http://schemas.openxmlformats.org/drawingml/2006/main">
              <a:ext uri="{FF2B5EF4-FFF2-40B4-BE49-F238E27FC236}">
                <a16:creationId xmlns:a16="http://schemas.microsoft.com/office/drawing/2014/main" id="{C7FD1AE8-A28B-41D2-A530-640E2FD2489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s5o8nt1pr5">
            <a:extLst xmlns:a="http://schemas.openxmlformats.org/drawingml/2006/main">
              <a:ext uri="{FF2B5EF4-FFF2-40B4-BE49-F238E27FC236}">
                <a16:creationId xmlns:a16="http://schemas.microsoft.com/office/drawing/2014/main" id="{AC14AAD7-18A6-42F9-BFC5-B2BE02B851C3}"/>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Sergio Gevatschnaider / Qwen-Agent / DeepSeek-V3</a:t>
            </a:r>
          </a:p>
        </p:txBody>
      </p:sp>
      <p:sp>
        <p:nvSpPr>
          <p:cNvPr id="7" name="text-1de1gj2njm8">
            <a:extLst xmlns:a="http://schemas.openxmlformats.org/drawingml/2006/main">
              <a:ext uri="{FF2B5EF4-FFF2-40B4-BE49-F238E27FC236}">
                <a16:creationId xmlns:a16="http://schemas.microsoft.com/office/drawing/2014/main" id="{5E4AB876-8C95-405D-99B4-2AAA7BF6F314}"/>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06</a:t>
            </a:r>
          </a:p>
        </p:txBody>
      </p:sp>
      <p:sp>
        <p:nvSpPr>
          <p:cNvPr id="8" name="">
            <a:extLst xmlns:a="http://schemas.openxmlformats.org/drawingml/2006/main">
              <a:ext uri="{FF2B5EF4-FFF2-40B4-BE49-F238E27FC236}">
                <a16:creationId xmlns:a16="http://schemas.microsoft.com/office/drawing/2014/main" id="{F5D60A5B-1C3B-4AEE-BAE1-7ECE10A09E5E}"/>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221C1C2-5371-4C67-8450-F50531DDB629}"/>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ypc3wnb49jr">
            <a:extLst xmlns:a="http://schemas.openxmlformats.org/drawingml/2006/main">
              <a:ext uri="{FF2B5EF4-FFF2-40B4-BE49-F238E27FC236}">
                <a16:creationId xmlns:a16="http://schemas.microsoft.com/office/drawing/2014/main" id="{F6B66A11-5059-4317-B77D-1FB831CD62AA}"/>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DeepSeek</a:t>
            </a:r>
          </a:p>
        </p:txBody>
      </p:sp>
      <p:sp>
        <p:nvSpPr>
          <p:cNvPr id="11" name="text-elfmymdd7i">
            <a:extLst xmlns:a="http://schemas.openxmlformats.org/drawingml/2006/main">
              <a:ext uri="{FF2B5EF4-FFF2-40B4-BE49-F238E27FC236}">
                <a16:creationId xmlns:a16="http://schemas.microsoft.com/office/drawing/2014/main" id="{7CD0DCB9-EAED-48D4-88D3-5EEC1A08DEFA}"/>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Research on models and compute efficiency.</a:t>
            </a:r>
          </a:p>
        </p:txBody>
      </p:sp>
      <p:sp>
        <p:nvSpPr>
          <p:cNvPr id="12" name="">
            <a:extLst xmlns:a="http://schemas.openxmlformats.org/drawingml/2006/main">
              <a:ext uri="{FF2B5EF4-FFF2-40B4-BE49-F238E27FC236}">
                <a16:creationId xmlns:a16="http://schemas.microsoft.com/office/drawing/2014/main" id="{E706F870-1C49-4F67-9218-1A7428D0DB9D}"/>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3D3CC2D-BE5B-479C-830B-5E82CAC81C5E}"/>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e786v8v7n3r">
            <a:extLst xmlns:a="http://schemas.openxmlformats.org/drawingml/2006/main">
              <a:ext uri="{FF2B5EF4-FFF2-40B4-BE49-F238E27FC236}">
                <a16:creationId xmlns:a16="http://schemas.microsoft.com/office/drawing/2014/main" id="{449061C2-8B19-4CBF-91F5-F34313CE0335}"/>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Alibaba / Qwen</a:t>
            </a:r>
          </a:p>
        </p:txBody>
      </p:sp>
      <p:sp>
        <p:nvSpPr>
          <p:cNvPr id="15" name="text-twyv04q00r">
            <a:extLst xmlns:a="http://schemas.openxmlformats.org/drawingml/2006/main">
              <a:ext uri="{FF2B5EF4-FFF2-40B4-BE49-F238E27FC236}">
                <a16:creationId xmlns:a16="http://schemas.microsoft.com/office/drawing/2014/main" id="{D3403472-C377-4678-8C0C-B97CF7A69D79}"/>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Models and tools connected to cloud and distribution.</a:t>
            </a:r>
          </a:p>
        </p:txBody>
      </p:sp>
      <p:sp>
        <p:nvSpPr>
          <p:cNvPr id="16" name="">
            <a:extLst xmlns:a="http://schemas.openxmlformats.org/drawingml/2006/main">
              <a:ext uri="{FF2B5EF4-FFF2-40B4-BE49-F238E27FC236}">
                <a16:creationId xmlns:a16="http://schemas.microsoft.com/office/drawing/2014/main" id="{90F6F368-260A-4BBE-B0DD-5E5051FF57A9}"/>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FAFAC2A-9B8B-45F3-A66F-4D1E49944428}"/>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f4rx32yvu27">
            <a:extLst xmlns:a="http://schemas.openxmlformats.org/drawingml/2006/main">
              <a:ext uri="{FF2B5EF4-FFF2-40B4-BE49-F238E27FC236}">
                <a16:creationId xmlns:a16="http://schemas.microsoft.com/office/drawing/2014/main" id="{963D769F-B076-4D7A-A96F-2F2A3AAFC6AD}"/>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Huawei</a:t>
            </a:r>
          </a:p>
        </p:txBody>
      </p:sp>
      <p:sp>
        <p:nvSpPr>
          <p:cNvPr id="19" name="text-slmbwz7ta1">
            <a:extLst xmlns:a="http://schemas.openxmlformats.org/drawingml/2006/main">
              <a:ext uri="{FF2B5EF4-FFF2-40B4-BE49-F238E27FC236}">
                <a16:creationId xmlns:a16="http://schemas.microsoft.com/office/drawing/2014/main" id="{623913E6-53B7-40A3-BC7F-93109073C0D9}"/>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Sector models and computing infrastructure.</a:t>
            </a:r>
          </a:p>
        </p:txBody>
      </p:sp>
    </p:spTree>
    <p:extLst>
      <p:ext uri="{BB962C8B-B14F-4D97-AF65-F5344CB8AC3E}">
        <p14:creationId xmlns:p14="http://schemas.microsoft.com/office/powerpoint/2010/main" val="935269762"/>
      </p:ext>
    </p:extLst>
  </p:cSld>
</p:sld>
</file>

<file path=ppt/slides/slide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32EED4E-D342-4BCF-9A90-D44B9FDCCBD4}"/>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ixvrfhp3t7q">
            <a:extLst xmlns:a="http://schemas.openxmlformats.org/drawingml/2006/main">
              <a:ext uri="{FF2B5EF4-FFF2-40B4-BE49-F238E27FC236}">
                <a16:creationId xmlns:a16="http://schemas.microsoft.com/office/drawing/2014/main" id="{2BAD440C-C863-49DA-AB6A-185CB5C6EBB3}"/>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18q7fom1k02">
            <a:extLst xmlns:a="http://schemas.openxmlformats.org/drawingml/2006/main">
              <a:ext uri="{FF2B5EF4-FFF2-40B4-BE49-F238E27FC236}">
                <a16:creationId xmlns:a16="http://schemas.microsoft.com/office/drawing/2014/main" id="{A251E4FE-AD2F-4F38-BC22-720492CDF57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DeepSeek-V3 activates a fraction of its parameters per token</a:t>
            </a:r>
          </a:p>
        </p:txBody>
      </p:sp>
      <p:sp>
        <p:nvSpPr>
          <p:cNvPr id="4" name="text-phdx7spfg58">
            <a:extLst xmlns:a="http://schemas.openxmlformats.org/drawingml/2006/main">
              <a:ext uri="{FF2B5EF4-FFF2-40B4-BE49-F238E27FC236}">
                <a16:creationId xmlns:a16="http://schemas.microsoft.com/office/drawing/2014/main" id="{4984273F-DC5F-478B-AEE5-4DB8EDF8583E}"/>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MoE routes processing through selected experts.</a:t>
            </a:r>
          </a:p>
        </p:txBody>
      </p:sp>
      <p:sp>
        <p:nvSpPr>
          <p:cNvPr id="5" name="">
            <a:extLst xmlns:a="http://schemas.openxmlformats.org/drawingml/2006/main">
              <a:ext uri="{FF2B5EF4-FFF2-40B4-BE49-F238E27FC236}">
                <a16:creationId xmlns:a16="http://schemas.microsoft.com/office/drawing/2014/main" id="{1B8B497B-1AF9-4963-99B1-CBDF134FE1B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5grdbxgwl5j">
            <a:extLst xmlns:a="http://schemas.openxmlformats.org/drawingml/2006/main">
              <a:ext uri="{FF2B5EF4-FFF2-40B4-BE49-F238E27FC236}">
                <a16:creationId xmlns:a16="http://schemas.microsoft.com/office/drawing/2014/main" id="{03F819A3-A1C3-4A40-9DE0-3CD53AB98315}"/>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DeepSeek-V3</a:t>
            </a:r>
          </a:p>
        </p:txBody>
      </p:sp>
      <p:sp>
        <p:nvSpPr>
          <p:cNvPr id="7" name="text-nivxrd4ojrq">
            <a:extLst xmlns:a="http://schemas.openxmlformats.org/drawingml/2006/main">
              <a:ext uri="{FF2B5EF4-FFF2-40B4-BE49-F238E27FC236}">
                <a16:creationId xmlns:a16="http://schemas.microsoft.com/office/drawing/2014/main" id="{3AF029FE-7689-438C-B564-636479809EAF}"/>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07</a:t>
            </a:r>
          </a:p>
        </p:txBody>
      </p:sp>
      <p:sp>
        <p:nvSpPr>
          <p:cNvPr id="8" name="text-sk69rphs51">
            <a:extLst xmlns:a="http://schemas.openxmlformats.org/drawingml/2006/main">
              <a:ext uri="{FF2B5EF4-FFF2-40B4-BE49-F238E27FC236}">
                <a16:creationId xmlns:a16="http://schemas.microsoft.com/office/drawing/2014/main" id="{CB4C10B3-D278-412B-A05C-7CEF400C1254}"/>
              </a:ext>
            </a:extLst>
          </p:cNvPr>
          <p:cNvSpPr>
            <a:spLocks xmlns:a="http://schemas.openxmlformats.org/drawingml/2006/main" noGrp="1"/>
          </p:cNvSpPr>
          <p:nvPr/>
        </p:nvSpPr>
        <p:spPr>
          <a:xfrm xmlns:a="http://schemas.openxmlformats.org/drawingml/2006/main">
            <a:off x="609600" y="2647950"/>
            <a:ext cx="4667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1">
                <a:solidFill>
                  <a:srgbClr val="087D78"/>
                </a:solidFill>
                <a:latin typeface="DejaVu Sans"/>
                <a:ea typeface="DejaVu Sans"/>
                <a:cs typeface="DejaVu Sans"/>
              </a:defRPr>
            </a:defPPr>
            <a:lvl1pPr algn="l">
              <a:defRPr sz="6450" b="1">
                <a:solidFill>
                  <a:srgbClr val="087D78"/>
                </a:solidFill>
                <a:latin typeface="DejaVu Sans"/>
                <a:ea typeface="DejaVu Sans"/>
                <a:cs typeface="DejaVu Sans"/>
              </a:defRPr>
            </a:lvl1pPr>
            <a:lvl2pPr algn="l">
              <a:defRPr sz="6450" b="1">
                <a:solidFill>
                  <a:srgbClr val="087D78"/>
                </a:solidFill>
                <a:latin typeface="DejaVu Sans"/>
                <a:ea typeface="DejaVu Sans"/>
                <a:cs typeface="DejaVu Sans"/>
              </a:defRPr>
            </a:lvl2pPr>
            <a:lvl3pPr algn="l">
              <a:defRPr sz="6450" b="1">
                <a:solidFill>
                  <a:srgbClr val="087D78"/>
                </a:solidFill>
                <a:latin typeface="DejaVu Sans"/>
                <a:ea typeface="DejaVu Sans"/>
                <a:cs typeface="DejaVu Sans"/>
              </a:defRPr>
            </a:lvl3pPr>
            <a:lvl4pPr algn="l">
              <a:defRPr sz="6450" b="1">
                <a:solidFill>
                  <a:srgbClr val="087D78"/>
                </a:solidFill>
                <a:latin typeface="DejaVu Sans"/>
                <a:ea typeface="DejaVu Sans"/>
                <a:cs typeface="DejaVu Sans"/>
              </a:defRPr>
            </a:lvl4pPr>
            <a:lvl5pPr algn="l">
              <a:defRPr sz="6450" b="1">
                <a:solidFill>
                  <a:srgbClr val="087D78"/>
                </a:solidFill>
                <a:latin typeface="DejaVu Sans"/>
                <a:ea typeface="DejaVu Sans"/>
                <a:cs typeface="DejaVu Sans"/>
              </a:defRPr>
            </a:lvl5pPr>
            <a:lvl6pPr algn="l">
              <a:defRPr sz="6450" b="1">
                <a:solidFill>
                  <a:srgbClr val="087D78"/>
                </a:solidFill>
                <a:latin typeface="DejaVu Sans"/>
                <a:ea typeface="DejaVu Sans"/>
                <a:cs typeface="DejaVu Sans"/>
              </a:defRPr>
            </a:lvl6pPr>
            <a:lvl7pPr algn="l">
              <a:defRPr sz="6450" b="1">
                <a:solidFill>
                  <a:srgbClr val="087D78"/>
                </a:solidFill>
                <a:latin typeface="DejaVu Sans"/>
                <a:ea typeface="DejaVu Sans"/>
                <a:cs typeface="DejaVu Sans"/>
              </a:defRPr>
            </a:lvl7pPr>
            <a:lvl8pPr algn="l">
              <a:defRPr sz="6450" b="1">
                <a:solidFill>
                  <a:srgbClr val="087D78"/>
                </a:solidFill>
                <a:latin typeface="DejaVu Sans"/>
                <a:ea typeface="DejaVu Sans"/>
                <a:cs typeface="DejaVu Sans"/>
              </a:defRPr>
            </a:lvl8pPr>
            <a:lvl9pPr algn="l">
              <a:defRPr sz="6450" b="1">
                <a:solidFill>
                  <a:srgbClr val="087D78"/>
                </a:solidFill>
                <a:latin typeface="DejaVu Sans"/>
                <a:ea typeface="DejaVu Sans"/>
                <a:cs typeface="DejaVu Sans"/>
              </a:defRPr>
            </a:lvl9pPr>
          </a:lstStyle>
          <a:p xmlns:a="http://schemas.openxmlformats.org/drawingml/2006/main">
            <a:pPr algn="l">
              <a:lnSpc>
                <a:spcPct val="112000"/>
              </a:lnSpc>
              <a:buNone/>
              <a:defRPr sz="6450" b="1">
                <a:solidFill>
                  <a:srgbClr val="087D78"/>
                </a:solidFill>
                <a:latin typeface="DejaVu Sans"/>
                <a:ea typeface="DejaVu Sans"/>
                <a:cs typeface="DejaVu Sans"/>
              </a:defRPr>
            </a:pPr>
            <a:r>
              <a:rPr sz="6450" b="1">
                <a:solidFill>
                  <a:srgbClr val="087D78"/>
                </a:solidFill>
                <a:latin typeface="DejaVu Sans"/>
                <a:ea typeface="DejaVu Sans"/>
                <a:cs typeface="DejaVu Sans"/>
              </a:rPr>
              <a:t>MoE</a:t>
            </a:r>
          </a:p>
        </p:txBody>
      </p:sp>
      <p:sp>
        <p:nvSpPr>
          <p:cNvPr id="9" name="text-w82v10zeqx9">
            <a:extLst xmlns:a="http://schemas.openxmlformats.org/drawingml/2006/main">
              <a:ext uri="{FF2B5EF4-FFF2-40B4-BE49-F238E27FC236}">
                <a16:creationId xmlns:a16="http://schemas.microsoft.com/office/drawing/2014/main" id="{07AF99EC-E3D9-4A09-8FB2-EC397E459392}"/>
              </a:ext>
            </a:extLst>
          </p:cNvPr>
          <p:cNvSpPr>
            <a:spLocks xmlns:a="http://schemas.openxmlformats.org/drawingml/2006/main" noGrp="1"/>
          </p:cNvSpPr>
          <p:nvPr/>
        </p:nvSpPr>
        <p:spPr>
          <a:xfrm xmlns:a="http://schemas.openxmlformats.org/drawingml/2006/main">
            <a:off x="5762625" y="257175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671 billion</a:t>
            </a:r>
          </a:p>
        </p:txBody>
      </p:sp>
      <p:sp>
        <p:nvSpPr>
          <p:cNvPr id="10" name="text-p42yuflwjp">
            <a:extLst xmlns:a="http://schemas.openxmlformats.org/drawingml/2006/main">
              <a:ext uri="{FF2B5EF4-FFF2-40B4-BE49-F238E27FC236}">
                <a16:creationId xmlns:a16="http://schemas.microsoft.com/office/drawing/2014/main" id="{F63F20E8-D68F-4B84-B12A-74AF871F915E}"/>
              </a:ext>
            </a:extLst>
          </p:cNvPr>
          <p:cNvSpPr>
            <a:spLocks xmlns:a="http://schemas.openxmlformats.org/drawingml/2006/main" noGrp="1"/>
          </p:cNvSpPr>
          <p:nvPr/>
        </p:nvSpPr>
        <p:spPr>
          <a:xfrm xmlns:a="http://schemas.openxmlformats.org/drawingml/2006/main">
            <a:off x="5762625" y="294322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Total parameters of V3 in the report.</a:t>
            </a:r>
          </a:p>
        </p:txBody>
      </p:sp>
      <p:sp>
        <p:nvSpPr>
          <p:cNvPr id="11" name="text-j5ptcqeyb9">
            <a:extLst xmlns:a="http://schemas.openxmlformats.org/drawingml/2006/main">
              <a:ext uri="{FF2B5EF4-FFF2-40B4-BE49-F238E27FC236}">
                <a16:creationId xmlns:a16="http://schemas.microsoft.com/office/drawing/2014/main" id="{61F41AF4-4B1D-460C-9BB4-D493454DCBC5}"/>
              </a:ext>
            </a:extLst>
          </p:cNvPr>
          <p:cNvSpPr>
            <a:spLocks xmlns:a="http://schemas.openxmlformats.org/drawingml/2006/main" noGrp="1"/>
          </p:cNvSpPr>
          <p:nvPr/>
        </p:nvSpPr>
        <p:spPr>
          <a:xfrm xmlns:a="http://schemas.openxmlformats.org/drawingml/2006/main">
            <a:off x="5762625" y="3667125"/>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37 billion</a:t>
            </a:r>
          </a:p>
        </p:txBody>
      </p:sp>
      <p:sp>
        <p:nvSpPr>
          <p:cNvPr id="12" name="text-jt3fozxu9o9">
            <a:extLst xmlns:a="http://schemas.openxmlformats.org/drawingml/2006/main">
              <a:ext uri="{FF2B5EF4-FFF2-40B4-BE49-F238E27FC236}">
                <a16:creationId xmlns:a16="http://schemas.microsoft.com/office/drawing/2014/main" id="{62782FD5-FC1E-48F1-9E21-BEA64AB64248}"/>
              </a:ext>
            </a:extLst>
          </p:cNvPr>
          <p:cNvSpPr>
            <a:spLocks xmlns:a="http://schemas.openxmlformats.org/drawingml/2006/main" noGrp="1"/>
          </p:cNvSpPr>
          <p:nvPr/>
        </p:nvSpPr>
        <p:spPr>
          <a:xfrm xmlns:a="http://schemas.openxmlformats.org/drawingml/2006/main">
            <a:off x="5762625" y="40386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Parameters activated per token, according to the report.</a:t>
            </a:r>
          </a:p>
        </p:txBody>
      </p:sp>
      <p:sp>
        <p:nvSpPr>
          <p:cNvPr id="13" name="text-lb6fx7h31fe">
            <a:extLst xmlns:a="http://schemas.openxmlformats.org/drawingml/2006/main">
              <a:ext uri="{FF2B5EF4-FFF2-40B4-BE49-F238E27FC236}">
                <a16:creationId xmlns:a16="http://schemas.microsoft.com/office/drawing/2014/main" id="{34FEBF50-61FA-446E-A9AF-41A7F998396B}"/>
              </a:ext>
            </a:extLst>
          </p:cNvPr>
          <p:cNvSpPr>
            <a:spLocks xmlns:a="http://schemas.openxmlformats.org/drawingml/2006/main" noGrp="1"/>
          </p:cNvSpPr>
          <p:nvPr/>
        </p:nvSpPr>
        <p:spPr>
          <a:xfrm xmlns:a="http://schemas.openxmlformats.org/drawingml/2006/main">
            <a:off x="5762625" y="476250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Implication</a:t>
            </a:r>
          </a:p>
        </p:txBody>
      </p:sp>
      <p:sp>
        <p:nvSpPr>
          <p:cNvPr id="14" name="text-m1m0r0uoqx">
            <a:extLst xmlns:a="http://schemas.openxmlformats.org/drawingml/2006/main">
              <a:ext uri="{FF2B5EF4-FFF2-40B4-BE49-F238E27FC236}">
                <a16:creationId xmlns:a16="http://schemas.microsoft.com/office/drawing/2014/main" id="{FC767A5B-4CD5-4047-9420-C295421DA524}"/>
              </a:ext>
            </a:extLst>
          </p:cNvPr>
          <p:cNvSpPr>
            <a:spLocks xmlns:a="http://schemas.openxmlformats.org/drawingml/2006/main" noGrp="1"/>
          </p:cNvSpPr>
          <p:nvPr/>
        </p:nvSpPr>
        <p:spPr>
          <a:xfrm xmlns:a="http://schemas.openxmlformats.org/drawingml/2006/main">
            <a:off x="5762625" y="513397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Less activation does not remove memory, communication or complexity.</a:t>
            </a:r>
          </a:p>
        </p:txBody>
      </p:sp>
    </p:spTree>
    <p:extLst>
      <p:ext uri="{BB962C8B-B14F-4D97-AF65-F5344CB8AC3E}">
        <p14:creationId xmlns:p14="http://schemas.microsoft.com/office/powerpoint/2010/main" val="1690024040"/>
      </p:ext>
    </p:extLst>
  </p:cSld>
</p:sld>
</file>

<file path=ppt/slides/slide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6710BFE-643C-4D57-A950-1DA6A9C67F01}"/>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q8u9e8n8yxk">
            <a:extLst xmlns:a="http://schemas.openxmlformats.org/drawingml/2006/main">
              <a:ext uri="{FF2B5EF4-FFF2-40B4-BE49-F238E27FC236}">
                <a16:creationId xmlns:a16="http://schemas.microsoft.com/office/drawing/2014/main" id="{85E4666E-FB96-4A23-BF45-09DD2A40F0DB}"/>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vdly87gljt">
            <a:extLst xmlns:a="http://schemas.openxmlformats.org/drawingml/2006/main">
              <a:ext uri="{FF2B5EF4-FFF2-40B4-BE49-F238E27FC236}">
                <a16:creationId xmlns:a16="http://schemas.microsoft.com/office/drawing/2014/main" id="{EE8FE637-BC07-4775-AAA5-E41C148AFCC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R1 and R1-Zero use different training paths</a:t>
            </a:r>
          </a:p>
        </p:txBody>
      </p:sp>
      <p:sp>
        <p:nvSpPr>
          <p:cNvPr id="4" name="text-ptkocks24nq">
            <a:extLst xmlns:a="http://schemas.openxmlformats.org/drawingml/2006/main">
              <a:ext uri="{FF2B5EF4-FFF2-40B4-BE49-F238E27FC236}">
                <a16:creationId xmlns:a16="http://schemas.microsoft.com/office/drawing/2014/main" id="{F29FE069-A05D-441B-8936-72CF8B1D642A}"/>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Both start from a pretrained base.</a:t>
            </a:r>
          </a:p>
        </p:txBody>
      </p:sp>
      <p:sp>
        <p:nvSpPr>
          <p:cNvPr id="5" name="">
            <a:extLst xmlns:a="http://schemas.openxmlformats.org/drawingml/2006/main">
              <a:ext uri="{FF2B5EF4-FFF2-40B4-BE49-F238E27FC236}">
                <a16:creationId xmlns:a16="http://schemas.microsoft.com/office/drawing/2014/main" id="{645E9C60-CFE8-4EF4-86D2-42A4B01F219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oq6by8peet">
            <a:extLst xmlns:a="http://schemas.openxmlformats.org/drawingml/2006/main">
              <a:ext uri="{FF2B5EF4-FFF2-40B4-BE49-F238E27FC236}">
                <a16:creationId xmlns:a16="http://schemas.microsoft.com/office/drawing/2014/main" id="{40AD5610-6AD1-4F2F-8E82-AFE970F94CB2}"/>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DeepSeek-R1</a:t>
            </a:r>
          </a:p>
        </p:txBody>
      </p:sp>
      <p:sp>
        <p:nvSpPr>
          <p:cNvPr id="7" name="text-dnbjgzp1po8">
            <a:extLst xmlns:a="http://schemas.openxmlformats.org/drawingml/2006/main">
              <a:ext uri="{FF2B5EF4-FFF2-40B4-BE49-F238E27FC236}">
                <a16:creationId xmlns:a16="http://schemas.microsoft.com/office/drawing/2014/main" id="{71FC7D62-C74C-4DC2-BFCD-38C5F8730D95}"/>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08</a:t>
            </a:r>
          </a:p>
        </p:txBody>
      </p:sp>
      <p:sp>
        <p:nvSpPr>
          <p:cNvPr id="8" name="">
            <a:extLst xmlns:a="http://schemas.openxmlformats.org/drawingml/2006/main">
              <a:ext uri="{FF2B5EF4-FFF2-40B4-BE49-F238E27FC236}">
                <a16:creationId xmlns:a16="http://schemas.microsoft.com/office/drawing/2014/main" id="{F7D08F72-DD7A-4C19-B854-A4F618568A4E}"/>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E4D1859-D0CD-45AA-A88E-4FF74C44EDE0}"/>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a5ywniqhu7b">
            <a:extLst xmlns:a="http://schemas.openxmlformats.org/drawingml/2006/main">
              <a:ext uri="{FF2B5EF4-FFF2-40B4-BE49-F238E27FC236}">
                <a16:creationId xmlns:a16="http://schemas.microsoft.com/office/drawing/2014/main" id="{0ED5C909-31A7-4A62-8EB6-B41102314B5B}"/>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Pretrained base</a:t>
            </a:r>
          </a:p>
        </p:txBody>
      </p:sp>
      <p:sp>
        <p:nvSpPr>
          <p:cNvPr id="11" name="text-pflrosbf43">
            <a:extLst xmlns:a="http://schemas.openxmlformats.org/drawingml/2006/main">
              <a:ext uri="{FF2B5EF4-FFF2-40B4-BE49-F238E27FC236}">
                <a16:creationId xmlns:a16="http://schemas.microsoft.com/office/drawing/2014/main" id="{817E517E-B59C-4EE5-B695-3E5F7A8B3B3A}"/>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Capabilities acquired from large corpora.</a:t>
            </a:r>
          </a:p>
        </p:txBody>
      </p:sp>
      <p:sp>
        <p:nvSpPr>
          <p:cNvPr id="12" name="">
            <a:extLst xmlns:a="http://schemas.openxmlformats.org/drawingml/2006/main">
              <a:ext uri="{FF2B5EF4-FFF2-40B4-BE49-F238E27FC236}">
                <a16:creationId xmlns:a16="http://schemas.microsoft.com/office/drawing/2014/main" id="{2A57FF89-0493-4D33-80DD-28C0B7B50509}"/>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D5678E9-7281-4AEA-ABF2-09A616A42A9D}"/>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86ohp4bn7sk">
            <a:extLst xmlns:a="http://schemas.openxmlformats.org/drawingml/2006/main">
              <a:ext uri="{FF2B5EF4-FFF2-40B4-BE49-F238E27FC236}">
                <a16:creationId xmlns:a16="http://schemas.microsoft.com/office/drawing/2014/main" id="{7D5A7F2E-17EF-42C6-8EE8-780E8E465DC5}"/>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R1-Zero</a:t>
            </a:r>
          </a:p>
        </p:txBody>
      </p:sp>
      <p:sp>
        <p:nvSpPr>
          <p:cNvPr id="15" name="text-wts74kqfmg">
            <a:extLst xmlns:a="http://schemas.openxmlformats.org/drawingml/2006/main">
              <a:ext uri="{FF2B5EF4-FFF2-40B4-BE49-F238E27FC236}">
                <a16:creationId xmlns:a16="http://schemas.microsoft.com/office/drawing/2014/main" id="{6AC37229-49A2-4649-98CF-CDDA11D9DA9C}"/>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Reinforcement learning without preliminary SFT in that experiment.</a:t>
            </a:r>
          </a:p>
        </p:txBody>
      </p:sp>
      <p:sp>
        <p:nvSpPr>
          <p:cNvPr id="16" name="">
            <a:extLst xmlns:a="http://schemas.openxmlformats.org/drawingml/2006/main">
              <a:ext uri="{FF2B5EF4-FFF2-40B4-BE49-F238E27FC236}">
                <a16:creationId xmlns:a16="http://schemas.microsoft.com/office/drawing/2014/main" id="{4EC018D2-AB80-4CCE-BEDC-89EDA4169FA3}"/>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2C0A5F1-5E31-4B8A-B610-D6868EB6F533}"/>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b5w5dp2yz94">
            <a:extLst xmlns:a="http://schemas.openxmlformats.org/drawingml/2006/main">
              <a:ext uri="{FF2B5EF4-FFF2-40B4-BE49-F238E27FC236}">
                <a16:creationId xmlns:a16="http://schemas.microsoft.com/office/drawing/2014/main" id="{EA2FF1F5-D667-430D-92CB-CB5D800103F3}"/>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R1</a:t>
            </a:r>
          </a:p>
        </p:txBody>
      </p:sp>
      <p:sp>
        <p:nvSpPr>
          <p:cNvPr id="19" name="text-5qvyq48q1zf">
            <a:extLst xmlns:a="http://schemas.openxmlformats.org/drawingml/2006/main">
              <a:ext uri="{FF2B5EF4-FFF2-40B4-BE49-F238E27FC236}">
                <a16:creationId xmlns:a16="http://schemas.microsoft.com/office/drawing/2014/main" id="{1A8832AB-E39F-43EB-9F9B-74D3D42C4348}"/>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Cold-start data, reinforcement stages and additional tuning.</a:t>
            </a:r>
          </a:p>
        </p:txBody>
      </p:sp>
    </p:spTree>
    <p:extLst>
      <p:ext uri="{BB962C8B-B14F-4D97-AF65-F5344CB8AC3E}">
        <p14:creationId xmlns:p14="http://schemas.microsoft.com/office/powerpoint/2010/main" val="801452372"/>
      </p:ext>
    </p:extLst>
  </p:cSld>
</p:sld>
</file>

<file path=ppt/slides/slide9.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FF960CA-8EEB-426D-93B6-C00C2BB81E2F}"/>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whpqaah1yr">
            <a:extLst xmlns:a="http://schemas.openxmlformats.org/drawingml/2006/main">
              <a:ext uri="{FF2B5EF4-FFF2-40B4-BE49-F238E27FC236}">
                <a16:creationId xmlns:a16="http://schemas.microsoft.com/office/drawing/2014/main" id="{60450740-3DD6-4BA4-828A-A235EE020CD7}"/>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yjlw5v4bxu">
            <a:extLst xmlns:a="http://schemas.openxmlformats.org/drawingml/2006/main">
              <a:ext uri="{FF2B5EF4-FFF2-40B4-BE49-F238E27FC236}">
                <a16:creationId xmlns:a16="http://schemas.microsoft.com/office/drawing/2014/main" id="{0307D00A-7095-485C-8921-8B394FE022A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The reported V3 cost has a specific scope</a:t>
            </a:r>
          </a:p>
        </p:txBody>
      </p:sp>
      <p:sp>
        <p:nvSpPr>
          <p:cNvPr id="4" name="text-qjqdyhxxp5s">
            <a:extLst xmlns:a="http://schemas.openxmlformats.org/drawingml/2006/main">
              <a:ext uri="{FF2B5EF4-FFF2-40B4-BE49-F238E27FC236}">
                <a16:creationId xmlns:a16="http://schemas.microsoft.com/office/drawing/2014/main" id="{1C3607E9-C8E7-432D-AE17-6412F7726B16}"/>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The figure covers official training compute under an assumed rental price.</a:t>
            </a:r>
          </a:p>
        </p:txBody>
      </p:sp>
      <p:sp>
        <p:nvSpPr>
          <p:cNvPr id="5" name="">
            <a:extLst xmlns:a="http://schemas.openxmlformats.org/drawingml/2006/main">
              <a:ext uri="{FF2B5EF4-FFF2-40B4-BE49-F238E27FC236}">
                <a16:creationId xmlns:a16="http://schemas.microsoft.com/office/drawing/2014/main" id="{0B5FB1BC-1B40-4340-AD3F-83CB975CD40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n54azapkey">
            <a:extLst xmlns:a="http://schemas.openxmlformats.org/drawingml/2006/main">
              <a:ext uri="{FF2B5EF4-FFF2-40B4-BE49-F238E27FC236}">
                <a16:creationId xmlns:a16="http://schemas.microsoft.com/office/drawing/2014/main" id="{850D46C9-FFE6-492E-B323-D758C76A6F1C}"/>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DeepSeek-V3</a:t>
            </a:r>
          </a:p>
        </p:txBody>
      </p:sp>
      <p:sp>
        <p:nvSpPr>
          <p:cNvPr id="7" name="text-tlbdyllcnn">
            <a:extLst xmlns:a="http://schemas.openxmlformats.org/drawingml/2006/main">
              <a:ext uri="{FF2B5EF4-FFF2-40B4-BE49-F238E27FC236}">
                <a16:creationId xmlns:a16="http://schemas.microsoft.com/office/drawing/2014/main" id="{288128FA-6856-48FA-A900-43EAE2BDED66}"/>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09</a:t>
            </a:r>
          </a:p>
        </p:txBody>
      </p:sp>
      <p:sp>
        <p:nvSpPr>
          <p:cNvPr id="8" name="text-oaoai9n84im">
            <a:extLst xmlns:a="http://schemas.openxmlformats.org/drawingml/2006/main">
              <a:ext uri="{FF2B5EF4-FFF2-40B4-BE49-F238E27FC236}">
                <a16:creationId xmlns:a16="http://schemas.microsoft.com/office/drawing/2014/main" id="{39509D9D-C02D-45EC-9213-F0388CC77A51}"/>
              </a:ext>
            </a:extLst>
          </p:cNvPr>
          <p:cNvSpPr>
            <a:spLocks xmlns:a="http://schemas.openxmlformats.org/drawingml/2006/main" noGrp="1"/>
          </p:cNvSpPr>
          <p:nvPr/>
        </p:nvSpPr>
        <p:spPr>
          <a:xfrm xmlns:a="http://schemas.openxmlformats.org/drawingml/2006/main">
            <a:off x="609600" y="2647950"/>
            <a:ext cx="4667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62D6C9"/>
                </a:solidFill>
                <a:latin typeface="DejaVu Sans"/>
                <a:ea typeface="DejaVu Sans"/>
                <a:cs typeface="DejaVu Sans"/>
              </a:defRPr>
            </a:defPPr>
            <a:lvl1pPr algn="l">
              <a:defRPr sz="3900" b="1">
                <a:solidFill>
                  <a:srgbClr val="62D6C9"/>
                </a:solidFill>
                <a:latin typeface="DejaVu Sans"/>
                <a:ea typeface="DejaVu Sans"/>
                <a:cs typeface="DejaVu Sans"/>
              </a:defRPr>
            </a:lvl1pPr>
            <a:lvl2pPr algn="l">
              <a:defRPr sz="3900" b="1">
                <a:solidFill>
                  <a:srgbClr val="62D6C9"/>
                </a:solidFill>
                <a:latin typeface="DejaVu Sans"/>
                <a:ea typeface="DejaVu Sans"/>
                <a:cs typeface="DejaVu Sans"/>
              </a:defRPr>
            </a:lvl2pPr>
            <a:lvl3pPr algn="l">
              <a:defRPr sz="3900" b="1">
                <a:solidFill>
                  <a:srgbClr val="62D6C9"/>
                </a:solidFill>
                <a:latin typeface="DejaVu Sans"/>
                <a:ea typeface="DejaVu Sans"/>
                <a:cs typeface="DejaVu Sans"/>
              </a:defRPr>
            </a:lvl3pPr>
            <a:lvl4pPr algn="l">
              <a:defRPr sz="3900" b="1">
                <a:solidFill>
                  <a:srgbClr val="62D6C9"/>
                </a:solidFill>
                <a:latin typeface="DejaVu Sans"/>
                <a:ea typeface="DejaVu Sans"/>
                <a:cs typeface="DejaVu Sans"/>
              </a:defRPr>
            </a:lvl4pPr>
            <a:lvl5pPr algn="l">
              <a:defRPr sz="3900" b="1">
                <a:solidFill>
                  <a:srgbClr val="62D6C9"/>
                </a:solidFill>
                <a:latin typeface="DejaVu Sans"/>
                <a:ea typeface="DejaVu Sans"/>
                <a:cs typeface="DejaVu Sans"/>
              </a:defRPr>
            </a:lvl5pPr>
            <a:lvl6pPr algn="l">
              <a:defRPr sz="3900" b="1">
                <a:solidFill>
                  <a:srgbClr val="62D6C9"/>
                </a:solidFill>
                <a:latin typeface="DejaVu Sans"/>
                <a:ea typeface="DejaVu Sans"/>
                <a:cs typeface="DejaVu Sans"/>
              </a:defRPr>
            </a:lvl6pPr>
            <a:lvl7pPr algn="l">
              <a:defRPr sz="3900" b="1">
                <a:solidFill>
                  <a:srgbClr val="62D6C9"/>
                </a:solidFill>
                <a:latin typeface="DejaVu Sans"/>
                <a:ea typeface="DejaVu Sans"/>
                <a:cs typeface="DejaVu Sans"/>
              </a:defRPr>
            </a:lvl7pPr>
            <a:lvl8pPr algn="l">
              <a:defRPr sz="3900" b="1">
                <a:solidFill>
                  <a:srgbClr val="62D6C9"/>
                </a:solidFill>
                <a:latin typeface="DejaVu Sans"/>
                <a:ea typeface="DejaVu Sans"/>
                <a:cs typeface="DejaVu Sans"/>
              </a:defRPr>
            </a:lvl8pPr>
            <a:lvl9pPr algn="l">
              <a:defRPr sz="3900" b="1">
                <a:solidFill>
                  <a:srgbClr val="62D6C9"/>
                </a:solidFill>
                <a:latin typeface="DejaVu Sans"/>
                <a:ea typeface="DejaVu Sans"/>
                <a:cs typeface="DejaVu Sans"/>
              </a:defRPr>
            </a:lvl9pPr>
          </a:lstStyle>
          <a:p xmlns:a="http://schemas.openxmlformats.org/drawingml/2006/main">
            <a:pPr algn="l">
              <a:lnSpc>
                <a:spcPct val="112000"/>
              </a:lnSpc>
              <a:buNone/>
              <a:defRPr sz="3900" b="1">
                <a:solidFill>
                  <a:srgbClr val="62D6C9"/>
                </a:solidFill>
                <a:latin typeface="DejaVu Sans"/>
                <a:ea typeface="DejaVu Sans"/>
                <a:cs typeface="DejaVu Sans"/>
              </a:defRPr>
            </a:pPr>
            <a:r>
              <a:rPr sz="3900" b="1">
                <a:solidFill>
                  <a:srgbClr val="62D6C9"/>
                </a:solidFill>
                <a:latin typeface="DejaVu Sans"/>
                <a:ea typeface="DejaVu Sans"/>
                <a:cs typeface="DejaVu Sans"/>
              </a:rPr>
              <a:t>US$5.576m</a:t>
            </a:r>
          </a:p>
        </p:txBody>
      </p:sp>
      <p:sp>
        <p:nvSpPr>
          <p:cNvPr id="9" name="text-kwuwggra8no">
            <a:extLst xmlns:a="http://schemas.openxmlformats.org/drawingml/2006/main">
              <a:ext uri="{FF2B5EF4-FFF2-40B4-BE49-F238E27FC236}">
                <a16:creationId xmlns:a16="http://schemas.microsoft.com/office/drawing/2014/main" id="{63863961-E6F0-4040-874D-E70125C3F420}"/>
              </a:ext>
            </a:extLst>
          </p:cNvPr>
          <p:cNvSpPr>
            <a:spLocks xmlns:a="http://schemas.openxmlformats.org/drawingml/2006/main" noGrp="1"/>
          </p:cNvSpPr>
          <p:nvPr/>
        </p:nvSpPr>
        <p:spPr>
          <a:xfrm xmlns:a="http://schemas.openxmlformats.org/drawingml/2006/main">
            <a:off x="5762625" y="257175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What it calculates</a:t>
            </a:r>
          </a:p>
        </p:txBody>
      </p:sp>
      <p:sp>
        <p:nvSpPr>
          <p:cNvPr id="10" name="text-snke265amgb">
            <a:extLst xmlns:a="http://schemas.openxmlformats.org/drawingml/2006/main">
              <a:ext uri="{FF2B5EF4-FFF2-40B4-BE49-F238E27FC236}">
                <a16:creationId xmlns:a16="http://schemas.microsoft.com/office/drawing/2014/main" id="{B13AFC5B-DDE2-4E36-AB31-EF9293D0A27B}"/>
              </a:ext>
            </a:extLst>
          </p:cNvPr>
          <p:cNvSpPr>
            <a:spLocks xmlns:a="http://schemas.openxmlformats.org/drawingml/2006/main" noGrp="1"/>
          </p:cNvSpPr>
          <p:nvPr/>
        </p:nvSpPr>
        <p:spPr>
          <a:xfrm xmlns:a="http://schemas.openxmlformats.org/drawingml/2006/main">
            <a:off x="5762625" y="294322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2.788 million H800 hours × US$2 per hour.</a:t>
            </a:r>
          </a:p>
        </p:txBody>
      </p:sp>
      <p:sp>
        <p:nvSpPr>
          <p:cNvPr id="11" name="text-9xrhz21l66e">
            <a:extLst xmlns:a="http://schemas.openxmlformats.org/drawingml/2006/main">
              <a:ext uri="{FF2B5EF4-FFF2-40B4-BE49-F238E27FC236}">
                <a16:creationId xmlns:a16="http://schemas.microsoft.com/office/drawing/2014/main" id="{14628C9B-05DD-4A6F-B0E4-DE98A5481FDD}"/>
              </a:ext>
            </a:extLst>
          </p:cNvPr>
          <p:cNvSpPr>
            <a:spLocks xmlns:a="http://schemas.openxmlformats.org/drawingml/2006/main" noGrp="1"/>
          </p:cNvSpPr>
          <p:nvPr/>
        </p:nvSpPr>
        <p:spPr>
          <a:xfrm xmlns:a="http://schemas.openxmlformats.org/drawingml/2006/main">
            <a:off x="5762625" y="3667125"/>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What it excludes</a:t>
            </a:r>
          </a:p>
        </p:txBody>
      </p:sp>
      <p:sp>
        <p:nvSpPr>
          <p:cNvPr id="12" name="text-icms2se017">
            <a:extLst xmlns:a="http://schemas.openxmlformats.org/drawingml/2006/main">
              <a:ext uri="{FF2B5EF4-FFF2-40B4-BE49-F238E27FC236}">
                <a16:creationId xmlns:a16="http://schemas.microsoft.com/office/drawing/2014/main" id="{D1B67986-FD5A-4C08-B410-9F70ADAA4820}"/>
              </a:ext>
            </a:extLst>
          </p:cNvPr>
          <p:cNvSpPr>
            <a:spLocks xmlns:a="http://schemas.openxmlformats.org/drawingml/2006/main" noGrp="1"/>
          </p:cNvSpPr>
          <p:nvPr/>
        </p:nvSpPr>
        <p:spPr>
          <a:xfrm xmlns:a="http://schemas.openxmlformats.org/drawingml/2006/main">
            <a:off x="5762625" y="40386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Prior research and ablation experiments.</a:t>
            </a:r>
          </a:p>
        </p:txBody>
      </p:sp>
      <p:sp>
        <p:nvSpPr>
          <p:cNvPr id="13" name="text-h6s28itb5z">
            <a:extLst xmlns:a="http://schemas.openxmlformats.org/drawingml/2006/main">
              <a:ext uri="{FF2B5EF4-FFF2-40B4-BE49-F238E27FC236}">
                <a16:creationId xmlns:a16="http://schemas.microsoft.com/office/drawing/2014/main" id="{43CE14F4-6158-4A2C-AFCD-BACEA7C43BEB}"/>
              </a:ext>
            </a:extLst>
          </p:cNvPr>
          <p:cNvSpPr>
            <a:spLocks xmlns:a="http://schemas.openxmlformats.org/drawingml/2006/main" noGrp="1"/>
          </p:cNvSpPr>
          <p:nvPr/>
        </p:nvSpPr>
        <p:spPr>
          <a:xfrm xmlns:a="http://schemas.openxmlformats.org/drawingml/2006/main">
            <a:off x="5762625" y="476250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What it does not measure</a:t>
            </a:r>
          </a:p>
        </p:txBody>
      </p:sp>
      <p:sp>
        <p:nvSpPr>
          <p:cNvPr id="14" name="text-lnhho861igr">
            <a:extLst xmlns:a="http://schemas.openxmlformats.org/drawingml/2006/main">
              <a:ext uri="{FF2B5EF4-FFF2-40B4-BE49-F238E27FC236}">
                <a16:creationId xmlns:a16="http://schemas.microsoft.com/office/drawing/2014/main" id="{649943C5-5BE4-42B1-88F7-0516A65379AA}"/>
              </a:ext>
            </a:extLst>
          </p:cNvPr>
          <p:cNvSpPr>
            <a:spLocks xmlns:a="http://schemas.openxmlformats.org/drawingml/2006/main" noGrp="1"/>
          </p:cNvSpPr>
          <p:nvPr/>
        </p:nvSpPr>
        <p:spPr>
          <a:xfrm xmlns:a="http://schemas.openxmlformats.org/drawingml/2006/main">
            <a:off x="5762625" y="513397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Total company costs or the full development of R1.</a:t>
            </a:r>
          </a:p>
        </p:txBody>
      </p:sp>
    </p:spTree>
    <p:extLst>
      <p:ext uri="{BB962C8B-B14F-4D97-AF65-F5344CB8AC3E}">
        <p14:creationId xmlns:p14="http://schemas.microsoft.com/office/powerpoint/2010/main" val="1416862670"/>
      </p:ext>
    </p:extLst>
  </p:cSld>
</p:sld>
</file>

<file path=ppt/slides/slide1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6D23011-FBDA-45A1-810D-BC2855A9B9A8}"/>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2xj4iixoev9">
            <a:extLst xmlns:a="http://schemas.openxmlformats.org/drawingml/2006/main">
              <a:ext uri="{FF2B5EF4-FFF2-40B4-BE49-F238E27FC236}">
                <a16:creationId xmlns:a16="http://schemas.microsoft.com/office/drawing/2014/main" id="{5FE4D829-7FFD-4A19-9169-D77C21A7831B}"/>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25gym67er5o">
            <a:extLst xmlns:a="http://schemas.openxmlformats.org/drawingml/2006/main">
              <a:ext uri="{FF2B5EF4-FFF2-40B4-BE49-F238E27FC236}">
                <a16:creationId xmlns:a16="http://schemas.microsoft.com/office/drawing/2014/main" id="{E4339996-DBDD-4E0B-A967-CB8314D4159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Model selection requires a task-level evaluation</a:t>
            </a:r>
          </a:p>
        </p:txBody>
      </p:sp>
      <p:sp>
        <p:nvSpPr>
          <p:cNvPr id="4" name="text-uc8gwsl4pcl">
            <a:extLst xmlns:a="http://schemas.openxmlformats.org/drawingml/2006/main">
              <a:ext uri="{FF2B5EF4-FFF2-40B4-BE49-F238E27FC236}">
                <a16:creationId xmlns:a16="http://schemas.microsoft.com/office/drawing/2014/main" id="{FE46C324-424C-4B6A-9916-CC2D2D4722E0}"/>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 general benchmark does not replace a use-case test.</a:t>
            </a:r>
          </a:p>
        </p:txBody>
      </p:sp>
      <p:sp>
        <p:nvSpPr>
          <p:cNvPr id="5" name="">
            <a:extLst xmlns:a="http://schemas.openxmlformats.org/drawingml/2006/main">
              <a:ext uri="{FF2B5EF4-FFF2-40B4-BE49-F238E27FC236}">
                <a16:creationId xmlns:a16="http://schemas.microsoft.com/office/drawing/2014/main" id="{B548F786-1625-4CC9-9B5C-94DE22D478F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vjzjqzgwgg">
            <a:extLst xmlns:a="http://schemas.openxmlformats.org/drawingml/2006/main">
              <a:ext uri="{FF2B5EF4-FFF2-40B4-BE49-F238E27FC236}">
                <a16:creationId xmlns:a16="http://schemas.microsoft.com/office/drawing/2014/main" id="{E624DF4E-D444-4FE6-8731-D8280AB772AB}"/>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z49grq0gzyg">
            <a:extLst xmlns:a="http://schemas.openxmlformats.org/drawingml/2006/main">
              <a:ext uri="{FF2B5EF4-FFF2-40B4-BE49-F238E27FC236}">
                <a16:creationId xmlns:a16="http://schemas.microsoft.com/office/drawing/2014/main" id="{02C80413-A681-431F-B203-C4EF96219F13}"/>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10</a:t>
            </a:r>
          </a:p>
        </p:txBody>
      </p:sp>
      <p:sp>
        <p:nvSpPr>
          <p:cNvPr id="8" name="">
            <a:extLst xmlns:a="http://schemas.openxmlformats.org/drawingml/2006/main">
              <a:ext uri="{FF2B5EF4-FFF2-40B4-BE49-F238E27FC236}">
                <a16:creationId xmlns:a16="http://schemas.microsoft.com/office/drawing/2014/main" id="{28641384-5528-4416-B6EF-5A82BCA0B558}"/>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375D2C2-555F-4751-986D-AD41A750E991}"/>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61r4xpwwwzi">
            <a:extLst xmlns:a="http://schemas.openxmlformats.org/drawingml/2006/main">
              <a:ext uri="{FF2B5EF4-FFF2-40B4-BE49-F238E27FC236}">
                <a16:creationId xmlns:a16="http://schemas.microsoft.com/office/drawing/2014/main" id="{EF0627EE-8F94-4F90-9D61-391C03E30BCE}"/>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Quality</a:t>
            </a:r>
          </a:p>
        </p:txBody>
      </p:sp>
      <p:sp>
        <p:nvSpPr>
          <p:cNvPr id="11" name="text-nxqhimznfl">
            <a:extLst xmlns:a="http://schemas.openxmlformats.org/drawingml/2006/main">
              <a:ext uri="{FF2B5EF4-FFF2-40B4-BE49-F238E27FC236}">
                <a16:creationId xmlns:a16="http://schemas.microsoft.com/office/drawing/2014/main" id="{933CFA80-D2B3-4DB0-9297-84BBCC5C0E50}"/>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Success on representative data and difficult cases.</a:t>
            </a:r>
          </a:p>
        </p:txBody>
      </p:sp>
      <p:sp>
        <p:nvSpPr>
          <p:cNvPr id="12" name="">
            <a:extLst xmlns:a="http://schemas.openxmlformats.org/drawingml/2006/main">
              <a:ext uri="{FF2B5EF4-FFF2-40B4-BE49-F238E27FC236}">
                <a16:creationId xmlns:a16="http://schemas.microsoft.com/office/drawing/2014/main" id="{839B0C85-C4FE-44D5-B602-29B3117D08D2}"/>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3F3BA8C-4EDF-4B19-A1AE-50D3F569AA57}"/>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sdy99tblot">
            <a:extLst xmlns:a="http://schemas.openxmlformats.org/drawingml/2006/main">
              <a:ext uri="{FF2B5EF4-FFF2-40B4-BE49-F238E27FC236}">
                <a16:creationId xmlns:a16="http://schemas.microsoft.com/office/drawing/2014/main" id="{09DAF0D6-3709-4029-8147-07AAC98E14AF}"/>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Latency and cost</a:t>
            </a:r>
          </a:p>
        </p:txBody>
      </p:sp>
      <p:sp>
        <p:nvSpPr>
          <p:cNvPr id="15" name="text-w7dwm2qvhl">
            <a:extLst xmlns:a="http://schemas.openxmlformats.org/drawingml/2006/main">
              <a:ext uri="{FF2B5EF4-FFF2-40B4-BE49-F238E27FC236}">
                <a16:creationId xmlns:a16="http://schemas.microsoft.com/office/drawing/2014/main" id="{EA88E37F-FD75-45AA-8895-F2CEC58F9779}"/>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Total time, tokens, tools and retries.</a:t>
            </a:r>
          </a:p>
        </p:txBody>
      </p:sp>
      <p:sp>
        <p:nvSpPr>
          <p:cNvPr id="16" name="">
            <a:extLst xmlns:a="http://schemas.openxmlformats.org/drawingml/2006/main">
              <a:ext uri="{FF2B5EF4-FFF2-40B4-BE49-F238E27FC236}">
                <a16:creationId xmlns:a16="http://schemas.microsoft.com/office/drawing/2014/main" id="{452AAAB0-F23C-4834-99EA-900F843AE67D}"/>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09DF231-28DC-4CFF-B4F9-FD31FC23B0BF}"/>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8ap4u16v7oe">
            <a:extLst xmlns:a="http://schemas.openxmlformats.org/drawingml/2006/main">
              <a:ext uri="{FF2B5EF4-FFF2-40B4-BE49-F238E27FC236}">
                <a16:creationId xmlns:a16="http://schemas.microsoft.com/office/drawing/2014/main" id="{B123EFB1-3722-46C6-B6A7-0FA77A8DF994}"/>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Access and license</a:t>
            </a:r>
          </a:p>
        </p:txBody>
      </p:sp>
      <p:sp>
        <p:nvSpPr>
          <p:cNvPr id="19" name="text-fetncatbr94">
            <a:extLst xmlns:a="http://schemas.openxmlformats.org/drawingml/2006/main">
              <a:ext uri="{FF2B5EF4-FFF2-40B4-BE49-F238E27FC236}">
                <a16:creationId xmlns:a16="http://schemas.microsoft.com/office/drawing/2014/main" id="{156BB34B-E392-4602-9361-6B1037B38F72}"/>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Weights, API and terms for the chosen variant.</a:t>
            </a:r>
          </a:p>
        </p:txBody>
      </p:sp>
      <p:sp>
        <p:nvSpPr>
          <p:cNvPr id="20" name="">
            <a:extLst xmlns:a="http://schemas.openxmlformats.org/drawingml/2006/main">
              <a:ext uri="{FF2B5EF4-FFF2-40B4-BE49-F238E27FC236}">
                <a16:creationId xmlns:a16="http://schemas.microsoft.com/office/drawing/2014/main" id="{21B48305-CEC9-4C38-969F-7318055BD3FC}"/>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5E62B0F-D959-40A5-995D-8DD46BBD34A9}"/>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sl5cuxp3jy">
            <a:extLst xmlns:a="http://schemas.openxmlformats.org/drawingml/2006/main">
              <a:ext uri="{FF2B5EF4-FFF2-40B4-BE49-F238E27FC236}">
                <a16:creationId xmlns:a16="http://schemas.microsoft.com/office/drawing/2014/main" id="{A3EFCB64-7846-4880-9D1F-EFC3641E883C}"/>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Operations</a:t>
            </a:r>
          </a:p>
        </p:txBody>
      </p:sp>
      <p:sp>
        <p:nvSpPr>
          <p:cNvPr id="23" name="text-l6ofv7zwgc9">
            <a:extLst xmlns:a="http://schemas.openxmlformats.org/drawingml/2006/main">
              <a:ext uri="{FF2B5EF4-FFF2-40B4-BE49-F238E27FC236}">
                <a16:creationId xmlns:a16="http://schemas.microsoft.com/office/drawing/2014/main" id="{354BCE94-0E76-4BEE-BD3A-8D8356D0698E}"/>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Privacy, language, availability and support.</a:t>
            </a:r>
          </a:p>
        </p:txBody>
      </p:sp>
    </p:spTree>
    <p:extLst>
      <p:ext uri="{BB962C8B-B14F-4D97-AF65-F5344CB8AC3E}">
        <p14:creationId xmlns:p14="http://schemas.microsoft.com/office/powerpoint/2010/main" val="1654917157"/>
      </p:ext>
    </p:extLst>
  </p:cSld>
</p:sld>
</file>

<file path=ppt/slides/slide1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9EDF6A89-447B-4DDD-A840-A711CF88C43D}"/>
              </a:ext>
            </a:extLst>
          </p:cNvPr>
          <p:cNvCxnSpPr>
            <a:stCxn xmlns:a="http://schemas.openxmlformats.org/drawingml/2006/main" id="12" idx="3"/>
            <a:endCxn xmlns:a="http://schemas.openxmlformats.org/drawingml/2006/main" id="16" idx="1"/>
          </p:cNvCxnSpPr>
          <p:nvPr/>
        </p:nvCxnSpPr>
        <p:spPr>
          <a:xfrm xmlns:a="http://schemas.openxmlformats.org/drawingml/2006/main">
            <a:off x="77978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92C314F3-EE40-424A-B84A-85414C1AEA9F}"/>
              </a:ext>
            </a:extLst>
          </p:cNvPr>
          <p:cNvCxnSpPr>
            <a:stCxn xmlns:a="http://schemas.openxmlformats.org/drawingml/2006/main" id="8" idx="3"/>
            <a:endCxn xmlns:a="http://schemas.openxmlformats.org/drawingml/2006/main" id="12" idx="1"/>
          </p:cNvCxnSpPr>
          <p:nvPr/>
        </p:nvCxnSpPr>
        <p:spPr>
          <a:xfrm xmlns:a="http://schemas.openxmlformats.org/drawingml/2006/main">
            <a:off x="40132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F7918B02-E367-4C6B-8D2C-156A23BDA64E}"/>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ltgngk9uvt">
            <a:extLst xmlns:a="http://schemas.openxmlformats.org/drawingml/2006/main">
              <a:ext uri="{FF2B5EF4-FFF2-40B4-BE49-F238E27FC236}">
                <a16:creationId xmlns:a16="http://schemas.microsoft.com/office/drawing/2014/main" id="{AD6B68DA-A42C-4B59-BE5C-57254F7E4FF9}"/>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csy0297x3cv">
            <a:extLst xmlns:a="http://schemas.openxmlformats.org/drawingml/2006/main">
              <a:ext uri="{FF2B5EF4-FFF2-40B4-BE49-F238E27FC236}">
                <a16:creationId xmlns:a16="http://schemas.microsoft.com/office/drawing/2014/main" id="{EAA0C71B-F251-4FD2-9B09-718DE3228E5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Qwen and Qwen-Agent occupy different levels</a:t>
            </a:r>
          </a:p>
        </p:txBody>
      </p:sp>
      <p:sp>
        <p:nvSpPr>
          <p:cNvPr id="4" name="text-t9cmiwtlo1">
            <a:extLst xmlns:a="http://schemas.openxmlformats.org/drawingml/2006/main">
              <a:ext uri="{FF2B5EF4-FFF2-40B4-BE49-F238E27FC236}">
                <a16:creationId xmlns:a16="http://schemas.microsoft.com/office/drawing/2014/main" id="{74A60784-C2BF-4514-9629-606BE69A9A79}"/>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System capability depends on configured components.</a:t>
            </a:r>
          </a:p>
        </p:txBody>
      </p:sp>
      <p:sp>
        <p:nvSpPr>
          <p:cNvPr id="5" name="">
            <a:extLst xmlns:a="http://schemas.openxmlformats.org/drawingml/2006/main">
              <a:ext uri="{FF2B5EF4-FFF2-40B4-BE49-F238E27FC236}">
                <a16:creationId xmlns:a16="http://schemas.microsoft.com/office/drawing/2014/main" id="{85105751-8862-4BE9-BC4A-C108778E063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ivcaf81ni8i">
            <a:extLst xmlns:a="http://schemas.openxmlformats.org/drawingml/2006/main">
              <a:ext uri="{FF2B5EF4-FFF2-40B4-BE49-F238E27FC236}">
                <a16:creationId xmlns:a16="http://schemas.microsoft.com/office/drawing/2014/main" id="{E4789BA7-1859-4229-BDAB-7965D05F087C}"/>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Qwen-Agent</a:t>
            </a:r>
          </a:p>
        </p:txBody>
      </p:sp>
      <p:sp>
        <p:nvSpPr>
          <p:cNvPr id="7" name="text-n1i0u80sro">
            <a:extLst xmlns:a="http://schemas.openxmlformats.org/drawingml/2006/main">
              <a:ext uri="{FF2B5EF4-FFF2-40B4-BE49-F238E27FC236}">
                <a16:creationId xmlns:a16="http://schemas.microsoft.com/office/drawing/2014/main" id="{2B885649-4007-41C3-8A16-E1754C679254}"/>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11</a:t>
            </a:r>
          </a:p>
        </p:txBody>
      </p:sp>
      <p:sp>
        <p:nvSpPr>
          <p:cNvPr id="8" name="">
            <a:extLst xmlns:a="http://schemas.openxmlformats.org/drawingml/2006/main">
              <a:ext uri="{FF2B5EF4-FFF2-40B4-BE49-F238E27FC236}">
                <a16:creationId xmlns:a16="http://schemas.microsoft.com/office/drawing/2014/main" id="{FBE8E934-8E98-44FE-8F98-99D17497E93C}"/>
              </a:ext>
            </a:extLst>
          </p:cNvPr>
          <p:cNvSpPr>
            <a:spLocks xmlns:a="http://schemas.openxmlformats.org/drawingml/2006/main" noGrp="1"/>
          </p:cNvSpPr>
          <p:nvPr/>
        </p:nvSpPr>
        <p:spPr>
          <a:xfrm xmlns:a="http://schemas.openxmlformats.org/drawingml/2006/main">
            <a:off x="6096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7BC316F-F013-4300-A20A-6877AFCAE7C3}"/>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4srzpvb53kg">
            <a:extLst xmlns:a="http://schemas.openxmlformats.org/drawingml/2006/main">
              <a:ext uri="{FF2B5EF4-FFF2-40B4-BE49-F238E27FC236}">
                <a16:creationId xmlns:a16="http://schemas.microsoft.com/office/drawing/2014/main" id="{60363E0D-D372-4E70-8FE4-0A991458A926}"/>
              </a:ext>
            </a:extLst>
          </p:cNvPr>
          <p:cNvSpPr>
            <a:spLocks xmlns:a="http://schemas.openxmlformats.org/drawingml/2006/main" noGrp="1"/>
          </p:cNvSpPr>
          <p:nvPr/>
        </p:nvSpPr>
        <p:spPr>
          <a:xfrm xmlns:a="http://schemas.openxmlformats.org/drawingml/2006/main">
            <a:off x="8191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Qwen</a:t>
            </a:r>
          </a:p>
        </p:txBody>
      </p:sp>
      <p:sp>
        <p:nvSpPr>
          <p:cNvPr id="11" name="text-1p22rdt89n8">
            <a:extLst xmlns:a="http://schemas.openxmlformats.org/drawingml/2006/main">
              <a:ext uri="{FF2B5EF4-FFF2-40B4-BE49-F238E27FC236}">
                <a16:creationId xmlns:a16="http://schemas.microsoft.com/office/drawing/2014/main" id="{7F6E7A1B-5D99-4009-BFBF-E58D953D1C64}"/>
              </a:ext>
            </a:extLst>
          </p:cNvPr>
          <p:cNvSpPr>
            <a:spLocks xmlns:a="http://schemas.openxmlformats.org/drawingml/2006/main" noGrp="1"/>
          </p:cNvSpPr>
          <p:nvPr/>
        </p:nvSpPr>
        <p:spPr>
          <a:xfrm xmlns:a="http://schemas.openxmlformats.org/drawingml/2006/main">
            <a:off x="8191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Model family with variants and modalities.</a:t>
            </a:r>
          </a:p>
        </p:txBody>
      </p:sp>
      <p:sp>
        <p:nvSpPr>
          <p:cNvPr id="12" name="">
            <a:extLst xmlns:a="http://schemas.openxmlformats.org/drawingml/2006/main">
              <a:ext uri="{FF2B5EF4-FFF2-40B4-BE49-F238E27FC236}">
                <a16:creationId xmlns:a16="http://schemas.microsoft.com/office/drawing/2014/main" id="{03071964-E454-4C39-A2F1-2572C35868FE}"/>
              </a:ext>
            </a:extLst>
          </p:cNvPr>
          <p:cNvSpPr>
            <a:spLocks xmlns:a="http://schemas.openxmlformats.org/drawingml/2006/main" noGrp="1"/>
          </p:cNvSpPr>
          <p:nvPr/>
        </p:nvSpPr>
        <p:spPr>
          <a:xfrm xmlns:a="http://schemas.openxmlformats.org/drawingml/2006/main">
            <a:off x="43942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DB4C656-DBB8-414E-846C-2644060AB419}"/>
              </a:ext>
            </a:extLst>
          </p:cNvPr>
          <p:cNvSpPr>
            <a:spLocks xmlns:a="http://schemas.openxmlformats.org/drawingml/2006/main" noGrp="1"/>
          </p:cNvSpPr>
          <p:nvPr/>
        </p:nvSpPr>
        <p:spPr>
          <a:xfrm xmlns:a="http://schemas.openxmlformats.org/drawingml/2006/main">
            <a:off x="439420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crnpdxrvfzk">
            <a:extLst xmlns:a="http://schemas.openxmlformats.org/drawingml/2006/main">
              <a:ext uri="{FF2B5EF4-FFF2-40B4-BE49-F238E27FC236}">
                <a16:creationId xmlns:a16="http://schemas.microsoft.com/office/drawing/2014/main" id="{E52ADCC8-24B2-4EF6-900C-B2E8FAB57E4C}"/>
              </a:ext>
            </a:extLst>
          </p:cNvPr>
          <p:cNvSpPr>
            <a:spLocks xmlns:a="http://schemas.openxmlformats.org/drawingml/2006/main" noGrp="1"/>
          </p:cNvSpPr>
          <p:nvPr/>
        </p:nvSpPr>
        <p:spPr>
          <a:xfrm xmlns:a="http://schemas.openxmlformats.org/drawingml/2006/main">
            <a:off x="46037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Qwen-Agent</a:t>
            </a:r>
          </a:p>
        </p:txBody>
      </p:sp>
      <p:sp>
        <p:nvSpPr>
          <p:cNvPr id="15" name="text-iozhab1hihj">
            <a:extLst xmlns:a="http://schemas.openxmlformats.org/drawingml/2006/main">
              <a:ext uri="{FF2B5EF4-FFF2-40B4-BE49-F238E27FC236}">
                <a16:creationId xmlns:a16="http://schemas.microsoft.com/office/drawing/2014/main" id="{C7A8FDF8-0CA1-43A4-AB3F-E2DE179FC51F}"/>
              </a:ext>
            </a:extLst>
          </p:cNvPr>
          <p:cNvSpPr>
            <a:spLocks xmlns:a="http://schemas.openxmlformats.org/drawingml/2006/main" noGrp="1"/>
          </p:cNvSpPr>
          <p:nvPr/>
        </p:nvSpPr>
        <p:spPr>
          <a:xfrm xmlns:a="http://schemas.openxmlformats.org/drawingml/2006/main">
            <a:off x="46037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Framework for integrating models and tools.</a:t>
            </a:r>
          </a:p>
        </p:txBody>
      </p:sp>
      <p:sp>
        <p:nvSpPr>
          <p:cNvPr id="16" name="">
            <a:extLst xmlns:a="http://schemas.openxmlformats.org/drawingml/2006/main">
              <a:ext uri="{FF2B5EF4-FFF2-40B4-BE49-F238E27FC236}">
                <a16:creationId xmlns:a16="http://schemas.microsoft.com/office/drawing/2014/main" id="{D7FC1B11-101F-411C-B13E-CF69F71CA1EF}"/>
              </a:ext>
            </a:extLst>
          </p:cNvPr>
          <p:cNvSpPr>
            <a:spLocks xmlns:a="http://schemas.openxmlformats.org/drawingml/2006/main" noGrp="1"/>
          </p:cNvSpPr>
          <p:nvPr/>
        </p:nvSpPr>
        <p:spPr>
          <a:xfrm xmlns:a="http://schemas.openxmlformats.org/drawingml/2006/main">
            <a:off x="81788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1890380-9E66-477D-8305-C80ED6E5CD12}"/>
              </a:ext>
            </a:extLst>
          </p:cNvPr>
          <p:cNvSpPr>
            <a:spLocks xmlns:a="http://schemas.openxmlformats.org/drawingml/2006/main" noGrp="1"/>
          </p:cNvSpPr>
          <p:nvPr/>
        </p:nvSpPr>
        <p:spPr>
          <a:xfrm xmlns:a="http://schemas.openxmlformats.org/drawingml/2006/main">
            <a:off x="81788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fz4ptm6i1cr">
            <a:extLst xmlns:a="http://schemas.openxmlformats.org/drawingml/2006/main">
              <a:ext uri="{FF2B5EF4-FFF2-40B4-BE49-F238E27FC236}">
                <a16:creationId xmlns:a16="http://schemas.microsoft.com/office/drawing/2014/main" id="{BA158067-BEE2-48D9-A5A1-35870F51444D}"/>
              </a:ext>
            </a:extLst>
          </p:cNvPr>
          <p:cNvSpPr>
            <a:spLocks xmlns:a="http://schemas.openxmlformats.org/drawingml/2006/main" noGrp="1"/>
          </p:cNvSpPr>
          <p:nvPr/>
        </p:nvSpPr>
        <p:spPr>
          <a:xfrm xmlns:a="http://schemas.openxmlformats.org/drawingml/2006/main">
            <a:off x="83883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Application</a:t>
            </a:r>
          </a:p>
        </p:txBody>
      </p:sp>
      <p:sp>
        <p:nvSpPr>
          <p:cNvPr id="19" name="text-rkeu9xgwa9i">
            <a:extLst xmlns:a="http://schemas.openxmlformats.org/drawingml/2006/main">
              <a:ext uri="{FF2B5EF4-FFF2-40B4-BE49-F238E27FC236}">
                <a16:creationId xmlns:a16="http://schemas.microsoft.com/office/drawing/2014/main" id="{5271BD85-C783-4BCA-9DEA-ACE351CA5C1E}"/>
              </a:ext>
            </a:extLst>
          </p:cNvPr>
          <p:cNvSpPr>
            <a:spLocks xmlns:a="http://schemas.openxmlformats.org/drawingml/2006/main" noGrp="1"/>
          </p:cNvSpPr>
          <p:nvPr/>
        </p:nvSpPr>
        <p:spPr>
          <a:xfrm xmlns:a="http://schemas.openxmlformats.org/drawingml/2006/main">
            <a:off x="83883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A product’s interface, permissions, data and services.</a:t>
            </a:r>
          </a:p>
        </p:txBody>
      </p:sp>
    </p:spTree>
    <p:extLst>
      <p:ext uri="{BB962C8B-B14F-4D97-AF65-F5344CB8AC3E}">
        <p14:creationId xmlns:p14="http://schemas.microsoft.com/office/powerpoint/2010/main" val="1470455025"/>
      </p:ext>
    </p:extLst>
  </p:cSld>
</p:sld>
</file>

<file path=ppt/slides/slide1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3F1CD49-00FA-4798-B7D7-5600BA7F0849}"/>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82yw9vbpw6k">
            <a:extLst xmlns:a="http://schemas.openxmlformats.org/drawingml/2006/main">
              <a:ext uri="{FF2B5EF4-FFF2-40B4-BE49-F238E27FC236}">
                <a16:creationId xmlns:a16="http://schemas.microsoft.com/office/drawing/2014/main" id="{63679BFA-4A2D-4391-B3BF-83F6B231D789}"/>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0s3hh3arku9">
            <a:extLst xmlns:a="http://schemas.openxmlformats.org/drawingml/2006/main">
              <a:ext uri="{FF2B5EF4-FFF2-40B4-BE49-F238E27FC236}">
                <a16:creationId xmlns:a16="http://schemas.microsoft.com/office/drawing/2014/main" id="{497C2368-D682-40F3-93C0-8D86A0C5FBF8}"/>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Distribution can turn capability into adoption</a:t>
            </a:r>
          </a:p>
        </p:txBody>
      </p:sp>
      <p:sp>
        <p:nvSpPr>
          <p:cNvPr id="4" name="text-frqpqt6opq">
            <a:extLst xmlns:a="http://schemas.openxmlformats.org/drawingml/2006/main">
              <a:ext uri="{FF2B5EF4-FFF2-40B4-BE49-F238E27FC236}">
                <a16:creationId xmlns:a16="http://schemas.microsoft.com/office/drawing/2014/main" id="{4744D38D-304F-4E21-BC5A-990300F4F388}"/>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 channel reduces friction when it solves an existing user need.</a:t>
            </a:r>
          </a:p>
        </p:txBody>
      </p:sp>
      <p:sp>
        <p:nvSpPr>
          <p:cNvPr id="5" name="">
            <a:extLst xmlns:a="http://schemas.openxmlformats.org/drawingml/2006/main">
              <a:ext uri="{FF2B5EF4-FFF2-40B4-BE49-F238E27FC236}">
                <a16:creationId xmlns:a16="http://schemas.microsoft.com/office/drawing/2014/main" id="{B1380D61-AB16-4718-B89F-FB3E1022D4C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jj7sb6l0vn">
            <a:extLst xmlns:a="http://schemas.openxmlformats.org/drawingml/2006/main">
              <a:ext uri="{FF2B5EF4-FFF2-40B4-BE49-F238E27FC236}">
                <a16:creationId xmlns:a16="http://schemas.microsoft.com/office/drawing/2014/main" id="{88388A29-87D7-460E-90C8-D1B3E5DBD459}"/>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cxi7khiug46">
            <a:extLst xmlns:a="http://schemas.openxmlformats.org/drawingml/2006/main">
              <a:ext uri="{FF2B5EF4-FFF2-40B4-BE49-F238E27FC236}">
                <a16:creationId xmlns:a16="http://schemas.microsoft.com/office/drawing/2014/main" id="{911CB66F-17BA-4ABA-8AE5-5AC8996FFBF4}"/>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12</a:t>
            </a:r>
          </a:p>
        </p:txBody>
      </p:sp>
      <p:sp>
        <p:nvSpPr>
          <p:cNvPr id="8" name="">
            <a:extLst xmlns:a="http://schemas.openxmlformats.org/drawingml/2006/main">
              <a:ext uri="{FF2B5EF4-FFF2-40B4-BE49-F238E27FC236}">
                <a16:creationId xmlns:a16="http://schemas.microsoft.com/office/drawing/2014/main" id="{0DA3AC5C-1594-4869-A9B6-874B89D21C41}"/>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E51A560-A149-4378-A85E-EED56B7045D3}"/>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5ux8wnr9s8b">
            <a:extLst xmlns:a="http://schemas.openxmlformats.org/drawingml/2006/main">
              <a:ext uri="{FF2B5EF4-FFF2-40B4-BE49-F238E27FC236}">
                <a16:creationId xmlns:a16="http://schemas.microsoft.com/office/drawing/2014/main" id="{E533041E-A6E2-48E4-AC2F-DEBD30B8B6DB}"/>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Access</a:t>
            </a:r>
          </a:p>
        </p:txBody>
      </p:sp>
      <p:sp>
        <p:nvSpPr>
          <p:cNvPr id="11" name="text-7crcglz7o7">
            <a:extLst xmlns:a="http://schemas.openxmlformats.org/drawingml/2006/main">
              <a:ext uri="{FF2B5EF4-FFF2-40B4-BE49-F238E27FC236}">
                <a16:creationId xmlns:a16="http://schemas.microsoft.com/office/drawing/2014/main" id="{B9FC09DF-80EE-4F61-86C9-1AB1ACF3CC34}"/>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Existing users and service discovery.</a:t>
            </a:r>
          </a:p>
        </p:txBody>
      </p:sp>
      <p:sp>
        <p:nvSpPr>
          <p:cNvPr id="12" name="">
            <a:extLst xmlns:a="http://schemas.openxmlformats.org/drawingml/2006/main">
              <a:ext uri="{FF2B5EF4-FFF2-40B4-BE49-F238E27FC236}">
                <a16:creationId xmlns:a16="http://schemas.microsoft.com/office/drawing/2014/main" id="{62854855-B698-4B2B-BCDF-00338B2ECCAD}"/>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460DEDD-A86C-4AD9-8604-2431D9E11986}"/>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idlqly1kyc">
            <a:extLst xmlns:a="http://schemas.openxmlformats.org/drawingml/2006/main">
              <a:ext uri="{FF2B5EF4-FFF2-40B4-BE49-F238E27FC236}">
                <a16:creationId xmlns:a16="http://schemas.microsoft.com/office/drawing/2014/main" id="{47CCFBF1-3BB4-47FF-9FE3-A98131F5AA8A}"/>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Integration</a:t>
            </a:r>
          </a:p>
        </p:txBody>
      </p:sp>
      <p:sp>
        <p:nvSpPr>
          <p:cNvPr id="15" name="text-urnss8bpzs">
            <a:extLst xmlns:a="http://schemas.openxmlformats.org/drawingml/2006/main">
              <a:ext uri="{FF2B5EF4-FFF2-40B4-BE49-F238E27FC236}">
                <a16:creationId xmlns:a16="http://schemas.microsoft.com/office/drawing/2014/main" id="{83975655-B420-414C-BF1F-2F380A2B7A7A}"/>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Connected data, processes and tools.</a:t>
            </a:r>
          </a:p>
        </p:txBody>
      </p:sp>
      <p:sp>
        <p:nvSpPr>
          <p:cNvPr id="16" name="">
            <a:extLst xmlns:a="http://schemas.openxmlformats.org/drawingml/2006/main">
              <a:ext uri="{FF2B5EF4-FFF2-40B4-BE49-F238E27FC236}">
                <a16:creationId xmlns:a16="http://schemas.microsoft.com/office/drawing/2014/main" id="{304A5A02-1D4D-433C-BD91-C6856B9EAA95}"/>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A7E7568-0A25-4BFC-B601-56D7D18DA274}"/>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btj80w4vixj">
            <a:extLst xmlns:a="http://schemas.openxmlformats.org/drawingml/2006/main">
              <a:ext uri="{FF2B5EF4-FFF2-40B4-BE49-F238E27FC236}">
                <a16:creationId xmlns:a16="http://schemas.microsoft.com/office/drawing/2014/main" id="{F80FF119-4676-4C86-9F74-E2B887767B02}"/>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Retention</a:t>
            </a:r>
          </a:p>
        </p:txBody>
      </p:sp>
      <p:sp>
        <p:nvSpPr>
          <p:cNvPr id="19" name="text-w5hgt8goq7c">
            <a:extLst xmlns:a="http://schemas.openxmlformats.org/drawingml/2006/main">
              <a:ext uri="{FF2B5EF4-FFF2-40B4-BE49-F238E27FC236}">
                <a16:creationId xmlns:a16="http://schemas.microsoft.com/office/drawing/2014/main" id="{AA58EA45-7C7D-4186-8013-510ADD58F17B}"/>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Recurring quality and switching costs.</a:t>
            </a:r>
          </a:p>
        </p:txBody>
      </p:sp>
    </p:spTree>
    <p:extLst>
      <p:ext uri="{BB962C8B-B14F-4D97-AF65-F5344CB8AC3E}">
        <p14:creationId xmlns:p14="http://schemas.microsoft.com/office/powerpoint/2010/main" val="492941967"/>
      </p:ext>
    </p:extLst>
  </p:cSld>
</p:sld>
</file>

<file path=ppt/slides/slide13.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6BA5B2C5-69C2-4F8B-8EBD-ACE7A3B48D8D}"/>
              </a:ext>
            </a:extLst>
          </p:cNvPr>
          <p:cNvCxnSpPr>
            <a:stCxn xmlns:a="http://schemas.openxmlformats.org/drawingml/2006/main" id="16" idx="3"/>
            <a:endCxn xmlns:a="http://schemas.openxmlformats.org/drawingml/2006/main" id="20" idx="1"/>
          </p:cNvCxnSpPr>
          <p:nvPr/>
        </p:nvCxnSpPr>
        <p:spPr>
          <a:xfrm xmlns:a="http://schemas.openxmlformats.org/drawingml/2006/main">
            <a:off x="8743950" y="4181475"/>
            <a:ext cx="3810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B115BDBB-6310-4F76-9401-C401E3582B67}"/>
              </a:ext>
            </a:extLst>
          </p:cNvPr>
          <p:cNvCxnSpPr>
            <a:stCxn xmlns:a="http://schemas.openxmlformats.org/drawingml/2006/main" id="12" idx="3"/>
            <a:endCxn xmlns:a="http://schemas.openxmlformats.org/drawingml/2006/main" id="16" idx="1"/>
          </p:cNvCxnSpPr>
          <p:nvPr/>
        </p:nvCxnSpPr>
        <p:spPr>
          <a:xfrm xmlns:a="http://schemas.openxmlformats.org/drawingml/2006/main">
            <a:off x="5905500" y="4181475"/>
            <a:ext cx="3810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9527B184-9A3A-475D-9C78-C701FA48D71C}"/>
              </a:ext>
            </a:extLst>
          </p:cNvPr>
          <p:cNvCxnSpPr>
            <a:stCxn xmlns:a="http://schemas.openxmlformats.org/drawingml/2006/main" id="8" idx="3"/>
            <a:endCxn xmlns:a="http://schemas.openxmlformats.org/drawingml/2006/main" id="12" idx="1"/>
          </p:cNvCxnSpPr>
          <p:nvPr/>
        </p:nvCxnSpPr>
        <p:spPr>
          <a:xfrm xmlns:a="http://schemas.openxmlformats.org/drawingml/2006/main">
            <a:off x="3067050" y="4181475"/>
            <a:ext cx="3810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sp>
        <p:nvSpPr>
          <p:cNvPr id="27" name="">
            <a:extLst xmlns:a="http://schemas.openxmlformats.org/drawingml/2006/main">
              <a:ext uri="{FF2B5EF4-FFF2-40B4-BE49-F238E27FC236}">
                <a16:creationId xmlns:a16="http://schemas.microsoft.com/office/drawing/2014/main" id="{9A3A3F87-D879-4C39-AC5C-57EC212CE678}"/>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72launhjs75">
            <a:extLst xmlns:a="http://schemas.openxmlformats.org/drawingml/2006/main">
              <a:ext uri="{FF2B5EF4-FFF2-40B4-BE49-F238E27FC236}">
                <a16:creationId xmlns:a16="http://schemas.microsoft.com/office/drawing/2014/main" id="{82C3D15F-7ECB-4F63-9878-58F3B275A7D6}"/>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pg1x6w7kqil">
            <a:extLst xmlns:a="http://schemas.openxmlformats.org/drawingml/2006/main">
              <a:ext uri="{FF2B5EF4-FFF2-40B4-BE49-F238E27FC236}">
                <a16:creationId xmlns:a16="http://schemas.microsoft.com/office/drawing/2014/main" id="{980FA64D-BD5E-4589-8ABC-624CE503639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Tools make parts of execution verifiable</a:t>
            </a:r>
          </a:p>
        </p:txBody>
      </p:sp>
      <p:sp>
        <p:nvSpPr>
          <p:cNvPr id="4" name="text-1f9s1zczvwk">
            <a:extLst xmlns:a="http://schemas.openxmlformats.org/drawingml/2006/main">
              <a:ext uri="{FF2B5EF4-FFF2-40B4-BE49-F238E27FC236}">
                <a16:creationId xmlns:a16="http://schemas.microsoft.com/office/drawing/2014/main" id="{3E0D9806-CC49-47BD-A9F1-64DE0A6CBFB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The log should distinguish request, result and validation.</a:t>
            </a:r>
          </a:p>
        </p:txBody>
      </p:sp>
      <p:sp>
        <p:nvSpPr>
          <p:cNvPr id="5" name="">
            <a:extLst xmlns:a="http://schemas.openxmlformats.org/drawingml/2006/main">
              <a:ext uri="{FF2B5EF4-FFF2-40B4-BE49-F238E27FC236}">
                <a16:creationId xmlns:a16="http://schemas.microsoft.com/office/drawing/2014/main" id="{982F9112-96B0-4E71-87B7-13B8F9B0706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uk0deavukvm">
            <a:extLst xmlns:a="http://schemas.openxmlformats.org/drawingml/2006/main">
              <a:ext uri="{FF2B5EF4-FFF2-40B4-BE49-F238E27FC236}">
                <a16:creationId xmlns:a16="http://schemas.microsoft.com/office/drawing/2014/main" id="{CC6AF179-675D-422D-BD00-842EF52B7C32}"/>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Qwen</a:t>
            </a:r>
          </a:p>
        </p:txBody>
      </p:sp>
      <p:sp>
        <p:nvSpPr>
          <p:cNvPr id="7" name="text-vw04b2zwmvs">
            <a:extLst xmlns:a="http://schemas.openxmlformats.org/drawingml/2006/main">
              <a:ext uri="{FF2B5EF4-FFF2-40B4-BE49-F238E27FC236}">
                <a16:creationId xmlns:a16="http://schemas.microsoft.com/office/drawing/2014/main" id="{4DBCC3A6-A08C-40F9-BAB4-12A169DBBC7D}"/>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13</a:t>
            </a:r>
          </a:p>
        </p:txBody>
      </p:sp>
      <p:sp>
        <p:nvSpPr>
          <p:cNvPr id="8" name="">
            <a:extLst xmlns:a="http://schemas.openxmlformats.org/drawingml/2006/main">
              <a:ext uri="{FF2B5EF4-FFF2-40B4-BE49-F238E27FC236}">
                <a16:creationId xmlns:a16="http://schemas.microsoft.com/office/drawing/2014/main" id="{828AF22D-68E3-48DE-8A50-56F79EA7E840}"/>
              </a:ext>
            </a:extLst>
          </p:cNvPr>
          <p:cNvSpPr>
            <a:spLocks xmlns:a="http://schemas.openxmlformats.org/drawingml/2006/main" noGrp="1"/>
          </p:cNvSpPr>
          <p:nvPr/>
        </p:nvSpPr>
        <p:spPr>
          <a:xfrm xmlns:a="http://schemas.openxmlformats.org/drawingml/2006/main">
            <a:off x="609600" y="2800350"/>
            <a:ext cx="2457450" cy="2762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B8D1C7E-A584-4FCE-B225-E115F93CFE2B}"/>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mkzga8880oa">
            <a:extLst xmlns:a="http://schemas.openxmlformats.org/drawingml/2006/main">
              <a:ext uri="{FF2B5EF4-FFF2-40B4-BE49-F238E27FC236}">
                <a16:creationId xmlns:a16="http://schemas.microsoft.com/office/drawing/2014/main" id="{BC53B36A-E39A-4088-9720-B54DA4BC7BAF}"/>
              </a:ext>
            </a:extLst>
          </p:cNvPr>
          <p:cNvSpPr>
            <a:spLocks xmlns:a="http://schemas.openxmlformats.org/drawingml/2006/main" noGrp="1"/>
          </p:cNvSpPr>
          <p:nvPr/>
        </p:nvSpPr>
        <p:spPr>
          <a:xfrm xmlns:a="http://schemas.openxmlformats.org/drawingml/2006/main">
            <a:off x="81915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Model</a:t>
            </a:r>
          </a:p>
        </p:txBody>
      </p:sp>
      <p:sp>
        <p:nvSpPr>
          <p:cNvPr id="11" name="text-7pr5aijxjpu">
            <a:extLst xmlns:a="http://schemas.openxmlformats.org/drawingml/2006/main">
              <a:ext uri="{FF2B5EF4-FFF2-40B4-BE49-F238E27FC236}">
                <a16:creationId xmlns:a16="http://schemas.microsoft.com/office/drawing/2014/main" id="{B65841E3-1615-4BF0-88D2-5D64EC6FF871}"/>
              </a:ext>
            </a:extLst>
          </p:cNvPr>
          <p:cNvSpPr>
            <a:spLocks xmlns:a="http://schemas.openxmlformats.org/drawingml/2006/main" noGrp="1"/>
          </p:cNvSpPr>
          <p:nvPr/>
        </p:nvSpPr>
        <p:spPr>
          <a:xfrm xmlns:a="http://schemas.openxmlformats.org/drawingml/2006/main">
            <a:off x="81915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Requests a function and proposes arguments.</a:t>
            </a:r>
          </a:p>
        </p:txBody>
      </p:sp>
      <p:sp>
        <p:nvSpPr>
          <p:cNvPr id="12" name="">
            <a:extLst xmlns:a="http://schemas.openxmlformats.org/drawingml/2006/main">
              <a:ext uri="{FF2B5EF4-FFF2-40B4-BE49-F238E27FC236}">
                <a16:creationId xmlns:a16="http://schemas.microsoft.com/office/drawing/2014/main" id="{41690768-9CE7-48F4-B89E-4C07914887CF}"/>
              </a:ext>
            </a:extLst>
          </p:cNvPr>
          <p:cNvSpPr>
            <a:spLocks xmlns:a="http://schemas.openxmlformats.org/drawingml/2006/main" noGrp="1"/>
          </p:cNvSpPr>
          <p:nvPr/>
        </p:nvSpPr>
        <p:spPr>
          <a:xfrm xmlns:a="http://schemas.openxmlformats.org/drawingml/2006/main">
            <a:off x="3448050" y="2800350"/>
            <a:ext cx="2457450" cy="2762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1D2BBF9-B2D2-43EB-8388-FE7A666EC455}"/>
              </a:ext>
            </a:extLst>
          </p:cNvPr>
          <p:cNvSpPr>
            <a:spLocks xmlns:a="http://schemas.openxmlformats.org/drawingml/2006/main" noGrp="1"/>
          </p:cNvSpPr>
          <p:nvPr/>
        </p:nvSpPr>
        <p:spPr>
          <a:xfrm xmlns:a="http://schemas.openxmlformats.org/drawingml/2006/main">
            <a:off x="344805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dpjeta6hdu4">
            <a:extLst xmlns:a="http://schemas.openxmlformats.org/drawingml/2006/main">
              <a:ext uri="{FF2B5EF4-FFF2-40B4-BE49-F238E27FC236}">
                <a16:creationId xmlns:a16="http://schemas.microsoft.com/office/drawing/2014/main" id="{2F2235B4-37A7-4734-8DA0-B935C381C613}"/>
              </a:ext>
            </a:extLst>
          </p:cNvPr>
          <p:cNvSpPr>
            <a:spLocks xmlns:a="http://schemas.openxmlformats.org/drawingml/2006/main" noGrp="1"/>
          </p:cNvSpPr>
          <p:nvPr/>
        </p:nvSpPr>
        <p:spPr>
          <a:xfrm xmlns:a="http://schemas.openxmlformats.org/drawingml/2006/main">
            <a:off x="365760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Application</a:t>
            </a:r>
          </a:p>
        </p:txBody>
      </p:sp>
      <p:sp>
        <p:nvSpPr>
          <p:cNvPr id="15" name="text-vd7pb6xu3y">
            <a:extLst xmlns:a="http://schemas.openxmlformats.org/drawingml/2006/main">
              <a:ext uri="{FF2B5EF4-FFF2-40B4-BE49-F238E27FC236}">
                <a16:creationId xmlns:a16="http://schemas.microsoft.com/office/drawing/2014/main" id="{275D1264-8404-4967-82EF-C70B8E91B284}"/>
              </a:ext>
            </a:extLst>
          </p:cNvPr>
          <p:cNvSpPr>
            <a:spLocks xmlns:a="http://schemas.openxmlformats.org/drawingml/2006/main" noGrp="1"/>
          </p:cNvSpPr>
          <p:nvPr/>
        </p:nvSpPr>
        <p:spPr>
          <a:xfrm xmlns:a="http://schemas.openxmlformats.org/drawingml/2006/main">
            <a:off x="365760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Validates scope, arguments and permissions.</a:t>
            </a:r>
          </a:p>
        </p:txBody>
      </p:sp>
      <p:sp>
        <p:nvSpPr>
          <p:cNvPr id="16" name="">
            <a:extLst xmlns:a="http://schemas.openxmlformats.org/drawingml/2006/main">
              <a:ext uri="{FF2B5EF4-FFF2-40B4-BE49-F238E27FC236}">
                <a16:creationId xmlns:a16="http://schemas.microsoft.com/office/drawing/2014/main" id="{43AF189F-F173-4E72-AEFB-D435E72E573E}"/>
              </a:ext>
            </a:extLst>
          </p:cNvPr>
          <p:cNvSpPr>
            <a:spLocks xmlns:a="http://schemas.openxmlformats.org/drawingml/2006/main" noGrp="1"/>
          </p:cNvSpPr>
          <p:nvPr/>
        </p:nvSpPr>
        <p:spPr>
          <a:xfrm xmlns:a="http://schemas.openxmlformats.org/drawingml/2006/main">
            <a:off x="6286500" y="2800350"/>
            <a:ext cx="2457450" cy="2762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6CCACE3-BE7D-40B7-BA63-7BB5F6FA99B8}"/>
              </a:ext>
            </a:extLst>
          </p:cNvPr>
          <p:cNvSpPr>
            <a:spLocks xmlns:a="http://schemas.openxmlformats.org/drawingml/2006/main" noGrp="1"/>
          </p:cNvSpPr>
          <p:nvPr/>
        </p:nvSpPr>
        <p:spPr>
          <a:xfrm xmlns:a="http://schemas.openxmlformats.org/drawingml/2006/main">
            <a:off x="62865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iivng04cg9c">
            <a:extLst xmlns:a="http://schemas.openxmlformats.org/drawingml/2006/main">
              <a:ext uri="{FF2B5EF4-FFF2-40B4-BE49-F238E27FC236}">
                <a16:creationId xmlns:a16="http://schemas.microsoft.com/office/drawing/2014/main" id="{0094EA6B-E63A-4CF2-AFE6-023815D7A48F}"/>
              </a:ext>
            </a:extLst>
          </p:cNvPr>
          <p:cNvSpPr>
            <a:spLocks xmlns:a="http://schemas.openxmlformats.org/drawingml/2006/main" noGrp="1"/>
          </p:cNvSpPr>
          <p:nvPr/>
        </p:nvSpPr>
        <p:spPr>
          <a:xfrm xmlns:a="http://schemas.openxmlformats.org/drawingml/2006/main">
            <a:off x="649605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Tool</a:t>
            </a:r>
          </a:p>
        </p:txBody>
      </p:sp>
      <p:sp>
        <p:nvSpPr>
          <p:cNvPr id="19" name="text-61ku4t2p4ae">
            <a:extLst xmlns:a="http://schemas.openxmlformats.org/drawingml/2006/main">
              <a:ext uri="{FF2B5EF4-FFF2-40B4-BE49-F238E27FC236}">
                <a16:creationId xmlns:a16="http://schemas.microsoft.com/office/drawing/2014/main" id="{17C334A4-5A95-4325-A119-4D9A0B31A1DA}"/>
              </a:ext>
            </a:extLst>
          </p:cNvPr>
          <p:cNvSpPr>
            <a:spLocks xmlns:a="http://schemas.openxmlformats.org/drawingml/2006/main" noGrp="1"/>
          </p:cNvSpPr>
          <p:nvPr/>
        </p:nvSpPr>
        <p:spPr>
          <a:xfrm xmlns:a="http://schemas.openxmlformats.org/drawingml/2006/main">
            <a:off x="649605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Calculates, searches, opens or modifies a resource.</a:t>
            </a:r>
          </a:p>
        </p:txBody>
      </p:sp>
      <p:sp>
        <p:nvSpPr>
          <p:cNvPr id="20" name="">
            <a:extLst xmlns:a="http://schemas.openxmlformats.org/drawingml/2006/main">
              <a:ext uri="{FF2B5EF4-FFF2-40B4-BE49-F238E27FC236}">
                <a16:creationId xmlns:a16="http://schemas.microsoft.com/office/drawing/2014/main" id="{6608FEE2-39C4-4EAC-9B5B-8892B137E3BF}"/>
              </a:ext>
            </a:extLst>
          </p:cNvPr>
          <p:cNvSpPr>
            <a:spLocks xmlns:a="http://schemas.openxmlformats.org/drawingml/2006/main" noGrp="1"/>
          </p:cNvSpPr>
          <p:nvPr/>
        </p:nvSpPr>
        <p:spPr>
          <a:xfrm xmlns:a="http://schemas.openxmlformats.org/drawingml/2006/main">
            <a:off x="9124950" y="2800350"/>
            <a:ext cx="2457450" cy="2762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6885EF1-797A-4C83-858C-C62047AD83A3}"/>
              </a:ext>
            </a:extLst>
          </p:cNvPr>
          <p:cNvSpPr>
            <a:spLocks xmlns:a="http://schemas.openxmlformats.org/drawingml/2006/main" noGrp="1"/>
          </p:cNvSpPr>
          <p:nvPr/>
        </p:nvSpPr>
        <p:spPr>
          <a:xfrm xmlns:a="http://schemas.openxmlformats.org/drawingml/2006/main">
            <a:off x="9124950" y="2800350"/>
            <a:ext cx="38100" cy="2762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7al35e7yjwp">
            <a:extLst xmlns:a="http://schemas.openxmlformats.org/drawingml/2006/main">
              <a:ext uri="{FF2B5EF4-FFF2-40B4-BE49-F238E27FC236}">
                <a16:creationId xmlns:a16="http://schemas.microsoft.com/office/drawing/2014/main" id="{3DAFB96E-FD0E-408F-BBF7-9A03EE5947B8}"/>
              </a:ext>
            </a:extLst>
          </p:cNvPr>
          <p:cNvSpPr>
            <a:spLocks xmlns:a="http://schemas.openxmlformats.org/drawingml/2006/main" noGrp="1"/>
          </p:cNvSpPr>
          <p:nvPr/>
        </p:nvSpPr>
        <p:spPr>
          <a:xfrm xmlns:a="http://schemas.openxmlformats.org/drawingml/2006/main">
            <a:off x="933450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Verification</a:t>
            </a:r>
          </a:p>
        </p:txBody>
      </p:sp>
      <p:sp>
        <p:nvSpPr>
          <p:cNvPr id="23" name="text-pschxe48g3j">
            <a:extLst xmlns:a="http://schemas.openxmlformats.org/drawingml/2006/main">
              <a:ext uri="{FF2B5EF4-FFF2-40B4-BE49-F238E27FC236}">
                <a16:creationId xmlns:a16="http://schemas.microsoft.com/office/drawing/2014/main" id="{DEB220E7-4F8E-4019-ACDF-B1EF89A399C1}"/>
              </a:ext>
            </a:extLst>
          </p:cNvPr>
          <p:cNvSpPr>
            <a:spLocks xmlns:a="http://schemas.openxmlformats.org/drawingml/2006/main" noGrp="1"/>
          </p:cNvSpPr>
          <p:nvPr/>
        </p:nvSpPr>
        <p:spPr>
          <a:xfrm xmlns:a="http://schemas.openxmlformats.org/drawingml/2006/main">
            <a:off x="933450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Checks the result before concluding.</a:t>
            </a:r>
          </a:p>
        </p:txBody>
      </p:sp>
    </p:spTree>
    <p:extLst>
      <p:ext uri="{BB962C8B-B14F-4D97-AF65-F5344CB8AC3E}">
        <p14:creationId xmlns:p14="http://schemas.microsoft.com/office/powerpoint/2010/main" val="799363055"/>
      </p:ext>
    </p:extLst>
  </p:cSld>
</p:sld>
</file>

<file path=ppt/slides/slide1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7F59179-FBA6-4FCC-B8D0-6BF159C83DA4}"/>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z31qa49gg9p">
            <a:extLst xmlns:a="http://schemas.openxmlformats.org/drawingml/2006/main">
              <a:ext uri="{FF2B5EF4-FFF2-40B4-BE49-F238E27FC236}">
                <a16:creationId xmlns:a16="http://schemas.microsoft.com/office/drawing/2014/main" id="{4635E744-B07A-4324-9007-3A7F4B29B424}"/>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0haakoohht0q">
            <a:extLst xmlns:a="http://schemas.openxmlformats.org/drawingml/2006/main">
              <a:ext uri="{FF2B5EF4-FFF2-40B4-BE49-F238E27FC236}">
                <a16:creationId xmlns:a16="http://schemas.microsoft.com/office/drawing/2014/main" id="{73625AA0-6F7C-4724-AD3F-F16486A53DF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Supplier research requires normalization before comparison</a:t>
            </a:r>
          </a:p>
        </p:txBody>
      </p:sp>
      <p:sp>
        <p:nvSpPr>
          <p:cNvPr id="4" name="text-t5onzv6qfc">
            <a:extLst xmlns:a="http://schemas.openxmlformats.org/drawingml/2006/main">
              <a:ext uri="{FF2B5EF4-FFF2-40B4-BE49-F238E27FC236}">
                <a16:creationId xmlns:a16="http://schemas.microsoft.com/office/drawing/2014/main" id="{9BE25E8B-0847-4C2C-90D1-18A755AA1A85}"/>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 fictional exercise on sources and comparison criteria.</a:t>
            </a:r>
          </a:p>
        </p:txBody>
      </p:sp>
      <p:sp>
        <p:nvSpPr>
          <p:cNvPr id="5" name="">
            <a:extLst xmlns:a="http://schemas.openxmlformats.org/drawingml/2006/main">
              <a:ext uri="{FF2B5EF4-FFF2-40B4-BE49-F238E27FC236}">
                <a16:creationId xmlns:a16="http://schemas.microsoft.com/office/drawing/2014/main" id="{DA0C1122-1FF3-4D1A-BDE4-C07FCB1DAEF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wweji89tmg">
            <a:extLst xmlns:a="http://schemas.openxmlformats.org/drawingml/2006/main">
              <a:ext uri="{FF2B5EF4-FFF2-40B4-BE49-F238E27FC236}">
                <a16:creationId xmlns:a16="http://schemas.microsoft.com/office/drawing/2014/main" id="{2FE9BC90-5BAC-483E-B5D6-7FCC63FAA449}"/>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jk5pf9s0lb">
            <a:extLst xmlns:a="http://schemas.openxmlformats.org/drawingml/2006/main">
              <a:ext uri="{FF2B5EF4-FFF2-40B4-BE49-F238E27FC236}">
                <a16:creationId xmlns:a16="http://schemas.microsoft.com/office/drawing/2014/main" id="{BD808B57-E60D-4881-8208-B45A8AAF084D}"/>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14</a:t>
            </a:r>
          </a:p>
        </p:txBody>
      </p:sp>
      <p:sp>
        <p:nvSpPr>
          <p:cNvPr id="8" name="text-ncakfpohxi">
            <a:extLst xmlns:a="http://schemas.openxmlformats.org/drawingml/2006/main">
              <a:ext uri="{FF2B5EF4-FFF2-40B4-BE49-F238E27FC236}">
                <a16:creationId xmlns:a16="http://schemas.microsoft.com/office/drawing/2014/main" id="{4236E69C-AB3E-439F-8B88-9351D3986654}"/>
              </a:ext>
            </a:extLst>
          </p:cNvPr>
          <p:cNvSpPr>
            <a:spLocks xmlns:a="http://schemas.openxmlformats.org/drawingml/2006/main" noGrp="1"/>
          </p:cNvSpPr>
          <p:nvPr/>
        </p:nvSpPr>
        <p:spPr>
          <a:xfrm xmlns:a="http://schemas.openxmlformats.org/drawingml/2006/main">
            <a:off x="628650" y="26289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01</a:t>
            </a:r>
          </a:p>
        </p:txBody>
      </p:sp>
      <p:sp>
        <p:nvSpPr>
          <p:cNvPr id="9" name="text-cwdlhhi0yun">
            <a:extLst xmlns:a="http://schemas.openxmlformats.org/drawingml/2006/main">
              <a:ext uri="{FF2B5EF4-FFF2-40B4-BE49-F238E27FC236}">
                <a16:creationId xmlns:a16="http://schemas.microsoft.com/office/drawing/2014/main" id="{5133E9AA-02C5-4452-A114-8BC23BA6FF6B}"/>
              </a:ext>
            </a:extLst>
          </p:cNvPr>
          <p:cNvSpPr>
            <a:spLocks xmlns:a="http://schemas.openxmlformats.org/drawingml/2006/main" noGrp="1"/>
          </p:cNvSpPr>
          <p:nvPr/>
        </p:nvSpPr>
        <p:spPr>
          <a:xfrm xmlns:a="http://schemas.openxmlformats.org/drawingml/2006/main">
            <a:off x="1238250" y="26193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Same task</a:t>
            </a:r>
          </a:p>
        </p:txBody>
      </p:sp>
      <p:sp>
        <p:nvSpPr>
          <p:cNvPr id="10" name="text-fweh7i6405g">
            <a:extLst xmlns:a="http://schemas.openxmlformats.org/drawingml/2006/main">
              <a:ext uri="{FF2B5EF4-FFF2-40B4-BE49-F238E27FC236}">
                <a16:creationId xmlns:a16="http://schemas.microsoft.com/office/drawing/2014/main" id="{CD444473-1886-4E58-B5CE-1FDCDE2BDACB}"/>
              </a:ext>
            </a:extLst>
          </p:cNvPr>
          <p:cNvSpPr>
            <a:spLocks xmlns:a="http://schemas.openxmlformats.org/drawingml/2006/main" noGrp="1"/>
          </p:cNvSpPr>
          <p:nvPr/>
        </p:nvSpPr>
        <p:spPr>
          <a:xfrm xmlns:a="http://schemas.openxmlformats.org/drawingml/2006/main">
            <a:off x="4095750" y="26193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Handle the same part under the same requirements.</a:t>
            </a:r>
          </a:p>
        </p:txBody>
      </p:sp>
      <p:sp>
        <p:nvSpPr>
          <p:cNvPr id="11" name="">
            <a:extLst xmlns:a="http://schemas.openxmlformats.org/drawingml/2006/main">
              <a:ext uri="{FF2B5EF4-FFF2-40B4-BE49-F238E27FC236}">
                <a16:creationId xmlns:a16="http://schemas.microsoft.com/office/drawing/2014/main" id="{8CCF86CE-5B4E-4651-B753-1260A52CDBE5}"/>
              </a:ext>
            </a:extLst>
          </p:cNvPr>
          <p:cNvSpPr>
            <a:spLocks xmlns:a="http://schemas.openxmlformats.org/drawingml/2006/main" noGrp="1"/>
          </p:cNvSpPr>
          <p:nvPr/>
        </p:nvSpPr>
        <p:spPr>
          <a:xfrm xmlns:a="http://schemas.openxmlformats.org/drawingml/2006/main">
            <a:off x="1238250" y="338137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2" name="text-04gpcw8npxdb">
            <a:extLst xmlns:a="http://schemas.openxmlformats.org/drawingml/2006/main">
              <a:ext uri="{FF2B5EF4-FFF2-40B4-BE49-F238E27FC236}">
                <a16:creationId xmlns:a16="http://schemas.microsoft.com/office/drawing/2014/main" id="{57F87B6C-80E3-43E7-86C4-551B0C0F67DA}"/>
              </a:ext>
            </a:extLst>
          </p:cNvPr>
          <p:cNvSpPr>
            <a:spLocks xmlns:a="http://schemas.openxmlformats.org/drawingml/2006/main" noGrp="1"/>
          </p:cNvSpPr>
          <p:nvPr/>
        </p:nvSpPr>
        <p:spPr>
          <a:xfrm xmlns:a="http://schemas.openxmlformats.org/drawingml/2006/main">
            <a:off x="628650" y="35242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02</a:t>
            </a:r>
          </a:p>
        </p:txBody>
      </p:sp>
      <p:sp>
        <p:nvSpPr>
          <p:cNvPr id="13" name="text-ybw5g05lfv">
            <a:extLst xmlns:a="http://schemas.openxmlformats.org/drawingml/2006/main">
              <a:ext uri="{FF2B5EF4-FFF2-40B4-BE49-F238E27FC236}">
                <a16:creationId xmlns:a16="http://schemas.microsoft.com/office/drawing/2014/main" id="{53A0823B-350A-45C7-9EEB-6E431A328EE3}"/>
              </a:ext>
            </a:extLst>
          </p:cNvPr>
          <p:cNvSpPr>
            <a:spLocks xmlns:a="http://schemas.openxmlformats.org/drawingml/2006/main" noGrp="1"/>
          </p:cNvSpPr>
          <p:nvPr/>
        </p:nvSpPr>
        <p:spPr>
          <a:xfrm xmlns:a="http://schemas.openxmlformats.org/drawingml/2006/main">
            <a:off x="1238250" y="35147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Same measure</a:t>
            </a:r>
          </a:p>
        </p:txBody>
      </p:sp>
      <p:sp>
        <p:nvSpPr>
          <p:cNvPr id="14" name="text-dcrm30mb1v9">
            <a:extLst xmlns:a="http://schemas.openxmlformats.org/drawingml/2006/main">
              <a:ext uri="{FF2B5EF4-FFF2-40B4-BE49-F238E27FC236}">
                <a16:creationId xmlns:a16="http://schemas.microsoft.com/office/drawing/2014/main" id="{6F46E118-A45F-4D41-8F26-C86168E43EC6}"/>
              </a:ext>
            </a:extLst>
          </p:cNvPr>
          <p:cNvSpPr>
            <a:spLocks xmlns:a="http://schemas.openxmlformats.org/drawingml/2006/main" noGrp="1"/>
          </p:cNvSpPr>
          <p:nvPr/>
        </p:nvSpPr>
        <p:spPr>
          <a:xfrm xmlns:a="http://schemas.openxmlformats.org/drawingml/2006/main">
            <a:off x="4095750" y="35147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Per-hand, total or recommended payload: define scope.</a:t>
            </a:r>
          </a:p>
        </p:txBody>
      </p:sp>
      <p:sp>
        <p:nvSpPr>
          <p:cNvPr id="15" name="">
            <a:extLst xmlns:a="http://schemas.openxmlformats.org/drawingml/2006/main">
              <a:ext uri="{FF2B5EF4-FFF2-40B4-BE49-F238E27FC236}">
                <a16:creationId xmlns:a16="http://schemas.microsoft.com/office/drawing/2014/main" id="{83BA8FB6-6B29-44F8-8FDF-F4CC5F93C457}"/>
              </a:ext>
            </a:extLst>
          </p:cNvPr>
          <p:cNvSpPr>
            <a:spLocks xmlns:a="http://schemas.openxmlformats.org/drawingml/2006/main" noGrp="1"/>
          </p:cNvSpPr>
          <p:nvPr/>
        </p:nvSpPr>
        <p:spPr>
          <a:xfrm xmlns:a="http://schemas.openxmlformats.org/drawingml/2006/main">
            <a:off x="1238250" y="427672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6" name="text-6bewq0gfpuf">
            <a:extLst xmlns:a="http://schemas.openxmlformats.org/drawingml/2006/main">
              <a:ext uri="{FF2B5EF4-FFF2-40B4-BE49-F238E27FC236}">
                <a16:creationId xmlns:a16="http://schemas.microsoft.com/office/drawing/2014/main" id="{EF8926BB-47D9-42A7-972F-A2C42674F227}"/>
              </a:ext>
            </a:extLst>
          </p:cNvPr>
          <p:cNvSpPr>
            <a:spLocks xmlns:a="http://schemas.openxmlformats.org/drawingml/2006/main" noGrp="1"/>
          </p:cNvSpPr>
          <p:nvPr/>
        </p:nvSpPr>
        <p:spPr>
          <a:xfrm xmlns:a="http://schemas.openxmlformats.org/drawingml/2006/main">
            <a:off x="628650" y="44196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03</a:t>
            </a:r>
          </a:p>
        </p:txBody>
      </p:sp>
      <p:sp>
        <p:nvSpPr>
          <p:cNvPr id="17" name="text-zkxga60s6cb">
            <a:extLst xmlns:a="http://schemas.openxmlformats.org/drawingml/2006/main">
              <a:ext uri="{FF2B5EF4-FFF2-40B4-BE49-F238E27FC236}">
                <a16:creationId xmlns:a16="http://schemas.microsoft.com/office/drawing/2014/main" id="{F8764759-1057-40DD-8396-C930E839EED8}"/>
              </a:ext>
            </a:extLst>
          </p:cNvPr>
          <p:cNvSpPr>
            <a:spLocks xmlns:a="http://schemas.openxmlformats.org/drawingml/2006/main" noGrp="1"/>
          </p:cNvSpPr>
          <p:nvPr/>
        </p:nvSpPr>
        <p:spPr>
          <a:xfrm xmlns:a="http://schemas.openxmlformats.org/drawingml/2006/main">
            <a:off x="1238250" y="44100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Same evidence</a:t>
            </a:r>
          </a:p>
        </p:txBody>
      </p:sp>
      <p:sp>
        <p:nvSpPr>
          <p:cNvPr id="18" name="text-qxd0896qy4">
            <a:extLst xmlns:a="http://schemas.openxmlformats.org/drawingml/2006/main">
              <a:ext uri="{FF2B5EF4-FFF2-40B4-BE49-F238E27FC236}">
                <a16:creationId xmlns:a16="http://schemas.microsoft.com/office/drawing/2014/main" id="{CA3D11D5-1D54-42C2-A98A-93867B1121F1}"/>
              </a:ext>
            </a:extLst>
          </p:cNvPr>
          <p:cNvSpPr>
            <a:spLocks xmlns:a="http://schemas.openxmlformats.org/drawingml/2006/main" noGrp="1"/>
          </p:cNvSpPr>
          <p:nvPr/>
        </p:nvSpPr>
        <p:spPr>
          <a:xfrm xmlns:a="http://schemas.openxmlformats.org/drawingml/2006/main">
            <a:off x="4095750" y="44100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Source, date, variant and operating test.</a:t>
            </a:r>
          </a:p>
        </p:txBody>
      </p:sp>
      <p:sp>
        <p:nvSpPr>
          <p:cNvPr id="19" name="">
            <a:extLst xmlns:a="http://schemas.openxmlformats.org/drawingml/2006/main">
              <a:ext uri="{FF2B5EF4-FFF2-40B4-BE49-F238E27FC236}">
                <a16:creationId xmlns:a16="http://schemas.microsoft.com/office/drawing/2014/main" id="{ADFD1743-82FC-4DEF-B368-0DBBE7502E35}"/>
              </a:ext>
            </a:extLst>
          </p:cNvPr>
          <p:cNvSpPr>
            <a:spLocks xmlns:a="http://schemas.openxmlformats.org/drawingml/2006/main" noGrp="1"/>
          </p:cNvSpPr>
          <p:nvPr/>
        </p:nvSpPr>
        <p:spPr>
          <a:xfrm xmlns:a="http://schemas.openxmlformats.org/drawingml/2006/main">
            <a:off x="1238250" y="517207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20" name="text-ew10d0ijlws">
            <a:extLst xmlns:a="http://schemas.openxmlformats.org/drawingml/2006/main">
              <a:ext uri="{FF2B5EF4-FFF2-40B4-BE49-F238E27FC236}">
                <a16:creationId xmlns:a16="http://schemas.microsoft.com/office/drawing/2014/main" id="{52D26705-C624-4654-AD3A-FE457C12BA7B}"/>
              </a:ext>
            </a:extLst>
          </p:cNvPr>
          <p:cNvSpPr>
            <a:spLocks xmlns:a="http://schemas.openxmlformats.org/drawingml/2006/main" noGrp="1"/>
          </p:cNvSpPr>
          <p:nvPr/>
        </p:nvSpPr>
        <p:spPr>
          <a:xfrm xmlns:a="http://schemas.openxmlformats.org/drawingml/2006/main">
            <a:off x="628650" y="53149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04</a:t>
            </a:r>
          </a:p>
        </p:txBody>
      </p:sp>
      <p:sp>
        <p:nvSpPr>
          <p:cNvPr id="21" name="text-ri8hgzs7wnp">
            <a:extLst xmlns:a="http://schemas.openxmlformats.org/drawingml/2006/main">
              <a:ext uri="{FF2B5EF4-FFF2-40B4-BE49-F238E27FC236}">
                <a16:creationId xmlns:a16="http://schemas.microsoft.com/office/drawing/2014/main" id="{D4F88497-B212-4148-9150-4A298F27DC38}"/>
              </a:ext>
            </a:extLst>
          </p:cNvPr>
          <p:cNvSpPr>
            <a:spLocks xmlns:a="http://schemas.openxmlformats.org/drawingml/2006/main" noGrp="1"/>
          </p:cNvSpPr>
          <p:nvPr/>
        </p:nvSpPr>
        <p:spPr>
          <a:xfrm xmlns:a="http://schemas.openxmlformats.org/drawingml/2006/main">
            <a:off x="1238250" y="53054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Output</a:t>
            </a:r>
          </a:p>
        </p:txBody>
      </p:sp>
      <p:sp>
        <p:nvSpPr>
          <p:cNvPr id="22" name="text-wnfleyzw5l">
            <a:extLst xmlns:a="http://schemas.openxmlformats.org/drawingml/2006/main">
              <a:ext uri="{FF2B5EF4-FFF2-40B4-BE49-F238E27FC236}">
                <a16:creationId xmlns:a16="http://schemas.microsoft.com/office/drawing/2014/main" id="{F8AC5861-FE11-4C85-8F25-AA861366A3D3}"/>
              </a:ext>
            </a:extLst>
          </p:cNvPr>
          <p:cNvSpPr>
            <a:spLocks xmlns:a="http://schemas.openxmlformats.org/drawingml/2006/main" noGrp="1"/>
          </p:cNvSpPr>
          <p:nvPr/>
        </p:nvSpPr>
        <p:spPr>
          <a:xfrm xmlns:a="http://schemas.openxmlformats.org/drawingml/2006/main">
            <a:off x="4095750" y="53054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Table with uncertainty and testing needs.</a:t>
            </a:r>
          </a:p>
        </p:txBody>
      </p:sp>
    </p:spTree>
    <p:extLst>
      <p:ext uri="{BB962C8B-B14F-4D97-AF65-F5344CB8AC3E}">
        <p14:creationId xmlns:p14="http://schemas.microsoft.com/office/powerpoint/2010/main" val="967804151"/>
      </p:ext>
    </p:extLst>
  </p:cSld>
</p:sld>
</file>

<file path=ppt/slides/slide1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FCBE343-DFD9-4473-967E-6E9E873DDC36}"/>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2jghfl8wsi6">
            <a:extLst xmlns:a="http://schemas.openxmlformats.org/drawingml/2006/main">
              <a:ext uri="{FF2B5EF4-FFF2-40B4-BE49-F238E27FC236}">
                <a16:creationId xmlns:a16="http://schemas.microsoft.com/office/drawing/2014/main" id="{CAEE6236-B785-4ACC-B101-9C1DA30140AF}"/>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hm91c6zx2to">
            <a:extLst xmlns:a="http://schemas.openxmlformats.org/drawingml/2006/main">
              <a:ext uri="{FF2B5EF4-FFF2-40B4-BE49-F238E27FC236}">
                <a16:creationId xmlns:a16="http://schemas.microsoft.com/office/drawing/2014/main" id="{E2A7A5B1-28B1-4BC0-B33B-2D75E7EF1926}"/>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 persuasive demo needs an evidence record</a:t>
            </a:r>
          </a:p>
        </p:txBody>
      </p:sp>
      <p:sp>
        <p:nvSpPr>
          <p:cNvPr id="4" name="text-3nibbm9mp8">
            <a:extLst xmlns:a="http://schemas.openxmlformats.org/drawingml/2006/main">
              <a:ext uri="{FF2B5EF4-FFF2-40B4-BE49-F238E27FC236}">
                <a16:creationId xmlns:a16="http://schemas.microsoft.com/office/drawing/2014/main" id="{980EF9AC-B239-460C-92E5-CBAC4F661BF7}"/>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Assess what actually ran and could be checked.</a:t>
            </a:r>
          </a:p>
        </p:txBody>
      </p:sp>
      <p:sp>
        <p:nvSpPr>
          <p:cNvPr id="5" name="">
            <a:extLst xmlns:a="http://schemas.openxmlformats.org/drawingml/2006/main">
              <a:ext uri="{FF2B5EF4-FFF2-40B4-BE49-F238E27FC236}">
                <a16:creationId xmlns:a16="http://schemas.microsoft.com/office/drawing/2014/main" id="{B490166A-C0AA-4730-9C74-E9844E5DBCF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5fsu9clrjbe">
            <a:extLst xmlns:a="http://schemas.openxmlformats.org/drawingml/2006/main">
              <a:ext uri="{FF2B5EF4-FFF2-40B4-BE49-F238E27FC236}">
                <a16:creationId xmlns:a16="http://schemas.microsoft.com/office/drawing/2014/main" id="{AE25DF59-7B85-480B-9DE3-73950A38C012}"/>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pazrxo7m1sl">
            <a:extLst xmlns:a="http://schemas.openxmlformats.org/drawingml/2006/main">
              <a:ext uri="{FF2B5EF4-FFF2-40B4-BE49-F238E27FC236}">
                <a16:creationId xmlns:a16="http://schemas.microsoft.com/office/drawing/2014/main" id="{FE9A7E78-B72F-4601-999F-D8A0562C4067}"/>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15</a:t>
            </a:r>
          </a:p>
        </p:txBody>
      </p:sp>
      <p:sp>
        <p:nvSpPr>
          <p:cNvPr id="8" name="">
            <a:extLst xmlns:a="http://schemas.openxmlformats.org/drawingml/2006/main">
              <a:ext uri="{FF2B5EF4-FFF2-40B4-BE49-F238E27FC236}">
                <a16:creationId xmlns:a16="http://schemas.microsoft.com/office/drawing/2014/main" id="{78DA19F8-CA50-4F45-B893-6F7C5B56F01F}"/>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CA2ACFE-1694-472D-84C0-19D573A204C9}"/>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5gdnskoz0o5">
            <a:extLst xmlns:a="http://schemas.openxmlformats.org/drawingml/2006/main">
              <a:ext uri="{FF2B5EF4-FFF2-40B4-BE49-F238E27FC236}">
                <a16:creationId xmlns:a16="http://schemas.microsoft.com/office/drawing/2014/main" id="{B5C8D98C-AD38-4656-96B3-6EC8F4F139DA}"/>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Claim</a:t>
            </a:r>
          </a:p>
        </p:txBody>
      </p:sp>
      <p:sp>
        <p:nvSpPr>
          <p:cNvPr id="11" name="text-5zhq52uit1n">
            <a:extLst xmlns:a="http://schemas.openxmlformats.org/drawingml/2006/main">
              <a:ext uri="{FF2B5EF4-FFF2-40B4-BE49-F238E27FC236}">
                <a16:creationId xmlns:a16="http://schemas.microsoft.com/office/drawing/2014/main" id="{08A9498B-CA92-4FB6-83FA-68A6AF2C1FE8}"/>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“I compared the three best suppliers.”</a:t>
            </a:r>
          </a:p>
        </p:txBody>
      </p:sp>
      <p:sp>
        <p:nvSpPr>
          <p:cNvPr id="12" name="">
            <a:extLst xmlns:a="http://schemas.openxmlformats.org/drawingml/2006/main">
              <a:ext uri="{FF2B5EF4-FFF2-40B4-BE49-F238E27FC236}">
                <a16:creationId xmlns:a16="http://schemas.microsoft.com/office/drawing/2014/main" id="{F81BBABB-F46F-4A5A-AA7E-91148A2EDEA4}"/>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0944BFA-DBD6-495F-BB80-8B13E23AD5E2}"/>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vo3qphayn7q">
            <a:extLst xmlns:a="http://schemas.openxmlformats.org/drawingml/2006/main">
              <a:ext uri="{FF2B5EF4-FFF2-40B4-BE49-F238E27FC236}">
                <a16:creationId xmlns:a16="http://schemas.microsoft.com/office/drawing/2014/main" id="{ECEA7CE0-A1F9-4348-A158-34D3FC2661D0}"/>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Record</a:t>
            </a:r>
          </a:p>
        </p:txBody>
      </p:sp>
      <p:sp>
        <p:nvSpPr>
          <p:cNvPr id="15" name="text-71s8yj5p6ot">
            <a:extLst xmlns:a="http://schemas.openxmlformats.org/drawingml/2006/main">
              <a:ext uri="{FF2B5EF4-FFF2-40B4-BE49-F238E27FC236}">
                <a16:creationId xmlns:a16="http://schemas.microsoft.com/office/drawing/2014/main" id="{944BC813-269D-4FD9-BD0A-5B53154D0163}"/>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Opened sources, extracted fields and operations.</a:t>
            </a:r>
          </a:p>
        </p:txBody>
      </p:sp>
      <p:sp>
        <p:nvSpPr>
          <p:cNvPr id="16" name="">
            <a:extLst xmlns:a="http://schemas.openxmlformats.org/drawingml/2006/main">
              <a:ext uri="{FF2B5EF4-FFF2-40B4-BE49-F238E27FC236}">
                <a16:creationId xmlns:a16="http://schemas.microsoft.com/office/drawing/2014/main" id="{590CA158-63E2-4F23-BE1C-27D6E6625458}"/>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A1FDC7E-3392-4ABD-A3E7-EC358C0D9657}"/>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w8ot1ysm3m8">
            <a:extLst xmlns:a="http://schemas.openxmlformats.org/drawingml/2006/main">
              <a:ext uri="{FF2B5EF4-FFF2-40B4-BE49-F238E27FC236}">
                <a16:creationId xmlns:a16="http://schemas.microsoft.com/office/drawing/2014/main" id="{0844391F-B6A3-4359-B79F-2E4F82ECE570}"/>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Validation</a:t>
            </a:r>
          </a:p>
        </p:txBody>
      </p:sp>
      <p:sp>
        <p:nvSpPr>
          <p:cNvPr id="19" name="text-6zujwxirf1i">
            <a:extLst xmlns:a="http://schemas.openxmlformats.org/drawingml/2006/main">
              <a:ext uri="{FF2B5EF4-FFF2-40B4-BE49-F238E27FC236}">
                <a16:creationId xmlns:a16="http://schemas.microsoft.com/office/drawing/2014/main" id="{7A8D1807-8E27-40FA-A63A-FEC8D6362A63}"/>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Selection criteria and rejected alternatives.</a:t>
            </a:r>
          </a:p>
        </p:txBody>
      </p:sp>
    </p:spTree>
    <p:extLst>
      <p:ext uri="{BB962C8B-B14F-4D97-AF65-F5344CB8AC3E}">
        <p14:creationId xmlns:p14="http://schemas.microsoft.com/office/powerpoint/2010/main" val="547648874"/>
      </p:ext>
    </p:extLst>
  </p:cSld>
</p:sld>
</file>

<file path=ppt/slides/slide16.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CD98B69-6A3C-49BB-A54A-F3E4FC761EF7}"/>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jyd0fp4ok6c">
            <a:extLst xmlns:a="http://schemas.openxmlformats.org/drawingml/2006/main">
              <a:ext uri="{FF2B5EF4-FFF2-40B4-BE49-F238E27FC236}">
                <a16:creationId xmlns:a16="http://schemas.microsoft.com/office/drawing/2014/main" id="{9891E4E1-7B28-47D5-BD6B-75E32AF32853}"/>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raq2kfer6wk">
            <a:extLst xmlns:a="http://schemas.openxmlformats.org/drawingml/2006/main">
              <a:ext uri="{FF2B5EF4-FFF2-40B4-BE49-F238E27FC236}">
                <a16:creationId xmlns:a16="http://schemas.microsoft.com/office/drawing/2014/main" id="{5627A774-9F20-4BB9-B8AB-7DBCA51ABF2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Embodied intelligence connects perception to physical action</a:t>
            </a:r>
          </a:p>
        </p:txBody>
      </p:sp>
      <p:sp>
        <p:nvSpPr>
          <p:cNvPr id="4" name="text-ihc1aq3p58p">
            <a:extLst xmlns:a="http://schemas.openxmlformats.org/drawingml/2006/main">
              <a:ext uri="{FF2B5EF4-FFF2-40B4-BE49-F238E27FC236}">
                <a16:creationId xmlns:a16="http://schemas.microsoft.com/office/drawing/2014/main" id="{A9CC92E2-A72F-41C4-AECE-E5B0BB2A423A}"/>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具身智能 · jùshēn zhìnéng.</a:t>
            </a:r>
          </a:p>
        </p:txBody>
      </p:sp>
      <p:sp>
        <p:nvSpPr>
          <p:cNvPr id="5" name="">
            <a:extLst xmlns:a="http://schemas.openxmlformats.org/drawingml/2006/main">
              <a:ext uri="{FF2B5EF4-FFF2-40B4-BE49-F238E27FC236}">
                <a16:creationId xmlns:a16="http://schemas.microsoft.com/office/drawing/2014/main" id="{8ED67147-BFE1-4DF7-8A78-E4FBD8B173A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0pgbuy7g984b">
            <a:extLst xmlns:a="http://schemas.openxmlformats.org/drawingml/2006/main">
              <a:ext uri="{FF2B5EF4-FFF2-40B4-BE49-F238E27FC236}">
                <a16:creationId xmlns:a16="http://schemas.microsoft.com/office/drawing/2014/main" id="{67F78C0D-82A3-4BE8-B71B-DBBF93057DAF}"/>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OpenVLA</a:t>
            </a:r>
          </a:p>
        </p:txBody>
      </p:sp>
      <p:sp>
        <p:nvSpPr>
          <p:cNvPr id="7" name="text-2p5dblt3r1o">
            <a:extLst xmlns:a="http://schemas.openxmlformats.org/drawingml/2006/main">
              <a:ext uri="{FF2B5EF4-FFF2-40B4-BE49-F238E27FC236}">
                <a16:creationId xmlns:a16="http://schemas.microsoft.com/office/drawing/2014/main" id="{367F03E8-8C15-4573-87DE-8E635002B984}"/>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16</a:t>
            </a:r>
          </a:p>
        </p:txBody>
      </p:sp>
      <p:sp>
        <p:nvSpPr>
          <p:cNvPr id="8" name="text-rwrggaynzas">
            <a:extLst xmlns:a="http://schemas.openxmlformats.org/drawingml/2006/main">
              <a:ext uri="{FF2B5EF4-FFF2-40B4-BE49-F238E27FC236}">
                <a16:creationId xmlns:a16="http://schemas.microsoft.com/office/drawing/2014/main" id="{5A42B78A-DF79-4A3F-A61D-508F3F1E57CE}"/>
              </a:ext>
            </a:extLst>
          </p:cNvPr>
          <p:cNvSpPr>
            <a:spLocks xmlns:a="http://schemas.openxmlformats.org/drawingml/2006/main" noGrp="1"/>
          </p:cNvSpPr>
          <p:nvPr/>
        </p:nvSpPr>
        <p:spPr>
          <a:xfrm xmlns:a="http://schemas.openxmlformats.org/drawingml/2006/main">
            <a:off x="609600" y="2686050"/>
            <a:ext cx="4572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050" b="0">
                <a:solidFill>
                  <a:srgbClr val="62D6C9"/>
                </a:solidFill>
                <a:latin typeface="Noto Sans SC"/>
                <a:ea typeface="Noto Sans SC"/>
                <a:cs typeface="Noto Sans SC"/>
              </a:defRPr>
            </a:defPPr>
            <a:lvl1pPr algn="l">
              <a:defRPr sz="7050" b="0">
                <a:solidFill>
                  <a:srgbClr val="62D6C9"/>
                </a:solidFill>
                <a:latin typeface="Noto Sans SC"/>
                <a:ea typeface="Noto Sans SC"/>
                <a:cs typeface="Noto Sans SC"/>
              </a:defRPr>
            </a:lvl1pPr>
            <a:lvl2pPr algn="l">
              <a:defRPr sz="7050" b="0">
                <a:solidFill>
                  <a:srgbClr val="62D6C9"/>
                </a:solidFill>
                <a:latin typeface="Noto Sans SC"/>
                <a:ea typeface="Noto Sans SC"/>
                <a:cs typeface="Noto Sans SC"/>
              </a:defRPr>
            </a:lvl2pPr>
            <a:lvl3pPr algn="l">
              <a:defRPr sz="7050" b="0">
                <a:solidFill>
                  <a:srgbClr val="62D6C9"/>
                </a:solidFill>
                <a:latin typeface="Noto Sans SC"/>
                <a:ea typeface="Noto Sans SC"/>
                <a:cs typeface="Noto Sans SC"/>
              </a:defRPr>
            </a:lvl3pPr>
            <a:lvl4pPr algn="l">
              <a:defRPr sz="7050" b="0">
                <a:solidFill>
                  <a:srgbClr val="62D6C9"/>
                </a:solidFill>
                <a:latin typeface="Noto Sans SC"/>
                <a:ea typeface="Noto Sans SC"/>
                <a:cs typeface="Noto Sans SC"/>
              </a:defRPr>
            </a:lvl4pPr>
            <a:lvl5pPr algn="l">
              <a:defRPr sz="7050" b="0">
                <a:solidFill>
                  <a:srgbClr val="62D6C9"/>
                </a:solidFill>
                <a:latin typeface="Noto Sans SC"/>
                <a:ea typeface="Noto Sans SC"/>
                <a:cs typeface="Noto Sans SC"/>
              </a:defRPr>
            </a:lvl5pPr>
            <a:lvl6pPr algn="l">
              <a:defRPr sz="7050" b="0">
                <a:solidFill>
                  <a:srgbClr val="62D6C9"/>
                </a:solidFill>
                <a:latin typeface="Noto Sans SC"/>
                <a:ea typeface="Noto Sans SC"/>
                <a:cs typeface="Noto Sans SC"/>
              </a:defRPr>
            </a:lvl6pPr>
            <a:lvl7pPr algn="l">
              <a:defRPr sz="7050" b="0">
                <a:solidFill>
                  <a:srgbClr val="62D6C9"/>
                </a:solidFill>
                <a:latin typeface="Noto Sans SC"/>
                <a:ea typeface="Noto Sans SC"/>
                <a:cs typeface="Noto Sans SC"/>
              </a:defRPr>
            </a:lvl7pPr>
            <a:lvl8pPr algn="l">
              <a:defRPr sz="7050" b="0">
                <a:solidFill>
                  <a:srgbClr val="62D6C9"/>
                </a:solidFill>
                <a:latin typeface="Noto Sans SC"/>
                <a:ea typeface="Noto Sans SC"/>
                <a:cs typeface="Noto Sans SC"/>
              </a:defRPr>
            </a:lvl8pPr>
            <a:lvl9pPr algn="l">
              <a:defRPr sz="7050" b="0">
                <a:solidFill>
                  <a:srgbClr val="62D6C9"/>
                </a:solidFill>
                <a:latin typeface="Noto Sans SC"/>
                <a:ea typeface="Noto Sans SC"/>
                <a:cs typeface="Noto Sans SC"/>
              </a:defRPr>
            </a:lvl9pPr>
          </a:lstStyle>
          <a:p xmlns:a="http://schemas.openxmlformats.org/drawingml/2006/main">
            <a:pPr algn="l">
              <a:lnSpc>
                <a:spcPct val="112000"/>
              </a:lnSpc>
              <a:buNone/>
              <a:defRPr sz="7050" b="0">
                <a:solidFill>
                  <a:srgbClr val="62D6C9"/>
                </a:solidFill>
                <a:latin typeface="Noto Sans SC"/>
                <a:ea typeface="Noto Sans SC"/>
                <a:cs typeface="Noto Sans SC"/>
              </a:defRPr>
            </a:pPr>
            <a:r>
              <a:rPr sz="7050" b="0">
                <a:solidFill>
                  <a:srgbClr val="62D6C9"/>
                </a:solidFill>
                <a:latin typeface="Noto Sans SC"/>
                <a:ea typeface="Noto Sans SC"/>
                <a:cs typeface="Noto Sans SC"/>
              </a:rPr>
              <a:t>具身智能</a:t>
            </a:r>
          </a:p>
        </p:txBody>
      </p:sp>
      <p:sp>
        <p:nvSpPr>
          <p:cNvPr id="9" name="text-ywmu3dacqz">
            <a:extLst xmlns:a="http://schemas.openxmlformats.org/drawingml/2006/main">
              <a:ext uri="{FF2B5EF4-FFF2-40B4-BE49-F238E27FC236}">
                <a16:creationId xmlns:a16="http://schemas.microsoft.com/office/drawing/2014/main" id="{44A7D24B-3141-4574-8B9F-64B4FF3CA42A}"/>
              </a:ext>
            </a:extLst>
          </p:cNvPr>
          <p:cNvSpPr>
            <a:spLocks xmlns:a="http://schemas.openxmlformats.org/drawingml/2006/main" noGrp="1"/>
          </p:cNvSpPr>
          <p:nvPr/>
        </p:nvSpPr>
        <p:spPr>
          <a:xfrm xmlns:a="http://schemas.openxmlformats.org/drawingml/2006/main">
            <a:off x="609600" y="398145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E5B64B"/>
                </a:solidFill>
                <a:latin typeface="DejaVu Sans"/>
                <a:ea typeface="DejaVu Sans"/>
                <a:cs typeface="DejaVu Sans"/>
              </a:defRPr>
            </a:defPPr>
            <a:lvl1pPr algn="l">
              <a:defRPr sz="2025" b="0">
                <a:solidFill>
                  <a:srgbClr val="E5B64B"/>
                </a:solidFill>
                <a:latin typeface="DejaVu Sans"/>
                <a:ea typeface="DejaVu Sans"/>
                <a:cs typeface="DejaVu Sans"/>
              </a:defRPr>
            </a:lvl1pPr>
            <a:lvl2pPr algn="l">
              <a:defRPr sz="2025" b="0">
                <a:solidFill>
                  <a:srgbClr val="E5B64B"/>
                </a:solidFill>
                <a:latin typeface="DejaVu Sans"/>
                <a:ea typeface="DejaVu Sans"/>
                <a:cs typeface="DejaVu Sans"/>
              </a:defRPr>
            </a:lvl2pPr>
            <a:lvl3pPr algn="l">
              <a:defRPr sz="2025" b="0">
                <a:solidFill>
                  <a:srgbClr val="E5B64B"/>
                </a:solidFill>
                <a:latin typeface="DejaVu Sans"/>
                <a:ea typeface="DejaVu Sans"/>
                <a:cs typeface="DejaVu Sans"/>
              </a:defRPr>
            </a:lvl3pPr>
            <a:lvl4pPr algn="l">
              <a:defRPr sz="2025" b="0">
                <a:solidFill>
                  <a:srgbClr val="E5B64B"/>
                </a:solidFill>
                <a:latin typeface="DejaVu Sans"/>
                <a:ea typeface="DejaVu Sans"/>
                <a:cs typeface="DejaVu Sans"/>
              </a:defRPr>
            </a:lvl4pPr>
            <a:lvl5pPr algn="l">
              <a:defRPr sz="2025" b="0">
                <a:solidFill>
                  <a:srgbClr val="E5B64B"/>
                </a:solidFill>
                <a:latin typeface="DejaVu Sans"/>
                <a:ea typeface="DejaVu Sans"/>
                <a:cs typeface="DejaVu Sans"/>
              </a:defRPr>
            </a:lvl5pPr>
            <a:lvl6pPr algn="l">
              <a:defRPr sz="2025" b="0">
                <a:solidFill>
                  <a:srgbClr val="E5B64B"/>
                </a:solidFill>
                <a:latin typeface="DejaVu Sans"/>
                <a:ea typeface="DejaVu Sans"/>
                <a:cs typeface="DejaVu Sans"/>
              </a:defRPr>
            </a:lvl6pPr>
            <a:lvl7pPr algn="l">
              <a:defRPr sz="2025" b="0">
                <a:solidFill>
                  <a:srgbClr val="E5B64B"/>
                </a:solidFill>
                <a:latin typeface="DejaVu Sans"/>
                <a:ea typeface="DejaVu Sans"/>
                <a:cs typeface="DejaVu Sans"/>
              </a:defRPr>
            </a:lvl7pPr>
            <a:lvl8pPr algn="l">
              <a:defRPr sz="2025" b="0">
                <a:solidFill>
                  <a:srgbClr val="E5B64B"/>
                </a:solidFill>
                <a:latin typeface="DejaVu Sans"/>
                <a:ea typeface="DejaVu Sans"/>
                <a:cs typeface="DejaVu Sans"/>
              </a:defRPr>
            </a:lvl8pPr>
            <a:lvl9pPr algn="l">
              <a:defRPr sz="2025" b="0">
                <a:solidFill>
                  <a:srgbClr val="E5B64B"/>
                </a:solidFill>
                <a:latin typeface="DejaVu Sans"/>
                <a:ea typeface="DejaVu Sans"/>
                <a:cs typeface="DejaVu Sans"/>
              </a:defRPr>
            </a:lvl9pPr>
          </a:lstStyle>
          <a:p xmlns:a="http://schemas.openxmlformats.org/drawingml/2006/main">
            <a:pPr algn="l">
              <a:lnSpc>
                <a:spcPct val="112000"/>
              </a:lnSpc>
              <a:buNone/>
              <a:defRPr sz="2025" b="0">
                <a:solidFill>
                  <a:srgbClr val="E5B64B"/>
                </a:solidFill>
                <a:latin typeface="DejaVu Sans"/>
                <a:ea typeface="DejaVu Sans"/>
                <a:cs typeface="DejaVu Sans"/>
              </a:defRPr>
            </a:pPr>
            <a:r>
              <a:rPr sz="2025" b="0">
                <a:solidFill>
                  <a:srgbClr val="E5B64B"/>
                </a:solidFill>
                <a:latin typeface="DejaVu Sans"/>
                <a:ea typeface="DejaVu Sans"/>
                <a:cs typeface="DejaVu Sans"/>
              </a:rPr>
              <a:t>jùshēn zhìnéng</a:t>
            </a:r>
          </a:p>
        </p:txBody>
      </p:sp>
      <p:sp>
        <p:nvSpPr>
          <p:cNvPr id="10" name="text-pczyv4ke5f">
            <a:extLst xmlns:a="http://schemas.openxmlformats.org/drawingml/2006/main">
              <a:ext uri="{FF2B5EF4-FFF2-40B4-BE49-F238E27FC236}">
                <a16:creationId xmlns:a16="http://schemas.microsoft.com/office/drawing/2014/main" id="{0136435C-6BD5-4908-BAB9-D95B1DE369B5}"/>
              </a:ext>
            </a:extLst>
          </p:cNvPr>
          <p:cNvSpPr>
            <a:spLocks xmlns:a="http://schemas.openxmlformats.org/drawingml/2006/main" noGrp="1"/>
          </p:cNvSpPr>
          <p:nvPr/>
        </p:nvSpPr>
        <p:spPr>
          <a:xfrm xmlns:a="http://schemas.openxmlformats.org/drawingml/2006/main">
            <a:off x="6096000" y="2600325"/>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DFA"/>
                </a:solidFill>
                <a:latin typeface="DejaVu Sans"/>
                <a:ea typeface="DejaVu Sans"/>
                <a:cs typeface="DejaVu Sans"/>
              </a:defRPr>
            </a:defPPr>
            <a:lvl1pPr algn="l">
              <a:defRPr sz="1950" b="1">
                <a:solidFill>
                  <a:srgbClr val="FFFDFA"/>
                </a:solidFill>
                <a:latin typeface="DejaVu Sans"/>
                <a:ea typeface="DejaVu Sans"/>
                <a:cs typeface="DejaVu Sans"/>
              </a:defRPr>
            </a:lvl1pPr>
            <a:lvl2pPr algn="l">
              <a:defRPr sz="1950" b="1">
                <a:solidFill>
                  <a:srgbClr val="FFFDFA"/>
                </a:solidFill>
                <a:latin typeface="DejaVu Sans"/>
                <a:ea typeface="DejaVu Sans"/>
                <a:cs typeface="DejaVu Sans"/>
              </a:defRPr>
            </a:lvl2pPr>
            <a:lvl3pPr algn="l">
              <a:defRPr sz="1950" b="1">
                <a:solidFill>
                  <a:srgbClr val="FFFDFA"/>
                </a:solidFill>
                <a:latin typeface="DejaVu Sans"/>
                <a:ea typeface="DejaVu Sans"/>
                <a:cs typeface="DejaVu Sans"/>
              </a:defRPr>
            </a:lvl3pPr>
            <a:lvl4pPr algn="l">
              <a:defRPr sz="1950" b="1">
                <a:solidFill>
                  <a:srgbClr val="FFFDFA"/>
                </a:solidFill>
                <a:latin typeface="DejaVu Sans"/>
                <a:ea typeface="DejaVu Sans"/>
                <a:cs typeface="DejaVu Sans"/>
              </a:defRPr>
            </a:lvl4pPr>
            <a:lvl5pPr algn="l">
              <a:defRPr sz="1950" b="1">
                <a:solidFill>
                  <a:srgbClr val="FFFDFA"/>
                </a:solidFill>
                <a:latin typeface="DejaVu Sans"/>
                <a:ea typeface="DejaVu Sans"/>
                <a:cs typeface="DejaVu Sans"/>
              </a:defRPr>
            </a:lvl5pPr>
            <a:lvl6pPr algn="l">
              <a:defRPr sz="1950" b="1">
                <a:solidFill>
                  <a:srgbClr val="FFFDFA"/>
                </a:solidFill>
                <a:latin typeface="DejaVu Sans"/>
                <a:ea typeface="DejaVu Sans"/>
                <a:cs typeface="DejaVu Sans"/>
              </a:defRPr>
            </a:lvl6pPr>
            <a:lvl7pPr algn="l">
              <a:defRPr sz="1950" b="1">
                <a:solidFill>
                  <a:srgbClr val="FFFDFA"/>
                </a:solidFill>
                <a:latin typeface="DejaVu Sans"/>
                <a:ea typeface="DejaVu Sans"/>
                <a:cs typeface="DejaVu Sans"/>
              </a:defRPr>
            </a:lvl7pPr>
            <a:lvl8pPr algn="l">
              <a:defRPr sz="1950" b="1">
                <a:solidFill>
                  <a:srgbClr val="FFFDFA"/>
                </a:solidFill>
                <a:latin typeface="DejaVu Sans"/>
                <a:ea typeface="DejaVu Sans"/>
                <a:cs typeface="DejaVu Sans"/>
              </a:defRPr>
            </a:lvl8pPr>
            <a:lvl9pPr algn="l">
              <a:defRPr sz="1950" b="1">
                <a:solidFill>
                  <a:srgbClr val="FFFDFA"/>
                </a:solidFill>
                <a:latin typeface="DejaVu Sans"/>
                <a:ea typeface="DejaVu Sans"/>
                <a:cs typeface="DejaVu Sans"/>
              </a:defRPr>
            </a:lvl9pPr>
          </a:lstStyle>
          <a:p xmlns:a="http://schemas.openxmlformats.org/drawingml/2006/main">
            <a:pPr algn="l">
              <a:lnSpc>
                <a:spcPct val="112000"/>
              </a:lnSpc>
              <a:buNone/>
              <a:defRPr sz="1950" b="1">
                <a:solidFill>
                  <a:srgbClr val="FFFDFA"/>
                </a:solidFill>
                <a:latin typeface="DejaVu Sans"/>
                <a:ea typeface="DejaVu Sans"/>
                <a:cs typeface="DejaVu Sans"/>
              </a:defRPr>
            </a:pPr>
            <a:r>
              <a:rPr sz="1950" b="1">
                <a:solidFill>
                  <a:srgbClr val="FFFDFA"/>
                </a:solidFill>
                <a:latin typeface="DejaVu Sans"/>
                <a:ea typeface="DejaVu Sans"/>
                <a:cs typeface="DejaVu Sans"/>
              </a:rPr>
              <a:t>Perception</a:t>
            </a:r>
          </a:p>
        </p:txBody>
      </p:sp>
      <p:sp>
        <p:nvSpPr>
          <p:cNvPr id="11" name="text-ecs282v2zdq">
            <a:extLst xmlns:a="http://schemas.openxmlformats.org/drawingml/2006/main">
              <a:ext uri="{FF2B5EF4-FFF2-40B4-BE49-F238E27FC236}">
                <a16:creationId xmlns:a16="http://schemas.microsoft.com/office/drawing/2014/main" id="{5C8923A6-4781-49F4-BB9B-F9FE67A1B981}"/>
              </a:ext>
            </a:extLst>
          </p:cNvPr>
          <p:cNvSpPr>
            <a:spLocks xmlns:a="http://schemas.openxmlformats.org/drawingml/2006/main" noGrp="1"/>
          </p:cNvSpPr>
          <p:nvPr/>
        </p:nvSpPr>
        <p:spPr>
          <a:xfrm xmlns:a="http://schemas.openxmlformats.org/drawingml/2006/main">
            <a:off x="6096000" y="3009900"/>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Interpret objects, contact and position.</a:t>
            </a:r>
          </a:p>
        </p:txBody>
      </p:sp>
      <p:sp>
        <p:nvSpPr>
          <p:cNvPr id="12" name="text-8r8hkn8zgzc">
            <a:extLst xmlns:a="http://schemas.openxmlformats.org/drawingml/2006/main">
              <a:ext uri="{FF2B5EF4-FFF2-40B4-BE49-F238E27FC236}">
                <a16:creationId xmlns:a16="http://schemas.microsoft.com/office/drawing/2014/main" id="{FA0EFB0E-66F7-41EC-9955-3DC0D0C01F83}"/>
              </a:ext>
            </a:extLst>
          </p:cNvPr>
          <p:cNvSpPr>
            <a:spLocks xmlns:a="http://schemas.openxmlformats.org/drawingml/2006/main" noGrp="1"/>
          </p:cNvSpPr>
          <p:nvPr/>
        </p:nvSpPr>
        <p:spPr>
          <a:xfrm xmlns:a="http://schemas.openxmlformats.org/drawingml/2006/main">
            <a:off x="6096000" y="3695700"/>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DFA"/>
                </a:solidFill>
                <a:latin typeface="DejaVu Sans"/>
                <a:ea typeface="DejaVu Sans"/>
                <a:cs typeface="DejaVu Sans"/>
              </a:defRPr>
            </a:defPPr>
            <a:lvl1pPr algn="l">
              <a:defRPr sz="1950" b="1">
                <a:solidFill>
                  <a:srgbClr val="FFFDFA"/>
                </a:solidFill>
                <a:latin typeface="DejaVu Sans"/>
                <a:ea typeface="DejaVu Sans"/>
                <a:cs typeface="DejaVu Sans"/>
              </a:defRPr>
            </a:lvl1pPr>
            <a:lvl2pPr algn="l">
              <a:defRPr sz="1950" b="1">
                <a:solidFill>
                  <a:srgbClr val="FFFDFA"/>
                </a:solidFill>
                <a:latin typeface="DejaVu Sans"/>
                <a:ea typeface="DejaVu Sans"/>
                <a:cs typeface="DejaVu Sans"/>
              </a:defRPr>
            </a:lvl2pPr>
            <a:lvl3pPr algn="l">
              <a:defRPr sz="1950" b="1">
                <a:solidFill>
                  <a:srgbClr val="FFFDFA"/>
                </a:solidFill>
                <a:latin typeface="DejaVu Sans"/>
                <a:ea typeface="DejaVu Sans"/>
                <a:cs typeface="DejaVu Sans"/>
              </a:defRPr>
            </a:lvl3pPr>
            <a:lvl4pPr algn="l">
              <a:defRPr sz="1950" b="1">
                <a:solidFill>
                  <a:srgbClr val="FFFDFA"/>
                </a:solidFill>
                <a:latin typeface="DejaVu Sans"/>
                <a:ea typeface="DejaVu Sans"/>
                <a:cs typeface="DejaVu Sans"/>
              </a:defRPr>
            </a:lvl4pPr>
            <a:lvl5pPr algn="l">
              <a:defRPr sz="1950" b="1">
                <a:solidFill>
                  <a:srgbClr val="FFFDFA"/>
                </a:solidFill>
                <a:latin typeface="DejaVu Sans"/>
                <a:ea typeface="DejaVu Sans"/>
                <a:cs typeface="DejaVu Sans"/>
              </a:defRPr>
            </a:lvl5pPr>
            <a:lvl6pPr algn="l">
              <a:defRPr sz="1950" b="1">
                <a:solidFill>
                  <a:srgbClr val="FFFDFA"/>
                </a:solidFill>
                <a:latin typeface="DejaVu Sans"/>
                <a:ea typeface="DejaVu Sans"/>
                <a:cs typeface="DejaVu Sans"/>
              </a:defRPr>
            </a:lvl6pPr>
            <a:lvl7pPr algn="l">
              <a:defRPr sz="1950" b="1">
                <a:solidFill>
                  <a:srgbClr val="FFFDFA"/>
                </a:solidFill>
                <a:latin typeface="DejaVu Sans"/>
                <a:ea typeface="DejaVu Sans"/>
                <a:cs typeface="DejaVu Sans"/>
              </a:defRPr>
            </a:lvl7pPr>
            <a:lvl8pPr algn="l">
              <a:defRPr sz="1950" b="1">
                <a:solidFill>
                  <a:srgbClr val="FFFDFA"/>
                </a:solidFill>
                <a:latin typeface="DejaVu Sans"/>
                <a:ea typeface="DejaVu Sans"/>
                <a:cs typeface="DejaVu Sans"/>
              </a:defRPr>
            </a:lvl8pPr>
            <a:lvl9pPr algn="l">
              <a:defRPr sz="1950" b="1">
                <a:solidFill>
                  <a:srgbClr val="FFFDFA"/>
                </a:solidFill>
                <a:latin typeface="DejaVu Sans"/>
                <a:ea typeface="DejaVu Sans"/>
                <a:cs typeface="DejaVu Sans"/>
              </a:defRPr>
            </a:lvl9pPr>
          </a:lstStyle>
          <a:p xmlns:a="http://schemas.openxmlformats.org/drawingml/2006/main">
            <a:pPr algn="l">
              <a:lnSpc>
                <a:spcPct val="112000"/>
              </a:lnSpc>
              <a:buNone/>
              <a:defRPr sz="1950" b="1">
                <a:solidFill>
                  <a:srgbClr val="FFFDFA"/>
                </a:solidFill>
                <a:latin typeface="DejaVu Sans"/>
                <a:ea typeface="DejaVu Sans"/>
                <a:cs typeface="DejaVu Sans"/>
              </a:defRPr>
            </a:pPr>
            <a:r>
              <a:rPr sz="1950" b="1">
                <a:solidFill>
                  <a:srgbClr val="FFFDFA"/>
                </a:solidFill>
                <a:latin typeface="DejaVu Sans"/>
                <a:ea typeface="DejaVu Sans"/>
                <a:cs typeface="DejaVu Sans"/>
              </a:rPr>
              <a:t>Decision</a:t>
            </a:r>
          </a:p>
        </p:txBody>
      </p:sp>
      <p:sp>
        <p:nvSpPr>
          <p:cNvPr id="13" name="text-9kbaijp1qth">
            <a:extLst xmlns:a="http://schemas.openxmlformats.org/drawingml/2006/main">
              <a:ext uri="{FF2B5EF4-FFF2-40B4-BE49-F238E27FC236}">
                <a16:creationId xmlns:a16="http://schemas.microsoft.com/office/drawing/2014/main" id="{8704524E-AF33-457E-B765-A7A4F317E3AE}"/>
              </a:ext>
            </a:extLst>
          </p:cNvPr>
          <p:cNvSpPr>
            <a:spLocks xmlns:a="http://schemas.openxmlformats.org/drawingml/2006/main" noGrp="1"/>
          </p:cNvSpPr>
          <p:nvPr/>
        </p:nvSpPr>
        <p:spPr>
          <a:xfrm xmlns:a="http://schemas.openxmlformats.org/drawingml/2006/main">
            <a:off x="6096000" y="4105275"/>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Choose an action based on task and state.</a:t>
            </a:r>
          </a:p>
        </p:txBody>
      </p:sp>
      <p:sp>
        <p:nvSpPr>
          <p:cNvPr id="14" name="text-r4oyt17l5j">
            <a:extLst xmlns:a="http://schemas.openxmlformats.org/drawingml/2006/main">
              <a:ext uri="{FF2B5EF4-FFF2-40B4-BE49-F238E27FC236}">
                <a16:creationId xmlns:a16="http://schemas.microsoft.com/office/drawing/2014/main" id="{7B91FF49-D61E-4305-8D57-53D578409BA8}"/>
              </a:ext>
            </a:extLst>
          </p:cNvPr>
          <p:cNvSpPr>
            <a:spLocks xmlns:a="http://schemas.openxmlformats.org/drawingml/2006/main" noGrp="1"/>
          </p:cNvSpPr>
          <p:nvPr/>
        </p:nvSpPr>
        <p:spPr>
          <a:xfrm xmlns:a="http://schemas.openxmlformats.org/drawingml/2006/main">
            <a:off x="6096000" y="4791075"/>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DFA"/>
                </a:solidFill>
                <a:latin typeface="DejaVu Sans"/>
                <a:ea typeface="DejaVu Sans"/>
                <a:cs typeface="DejaVu Sans"/>
              </a:defRPr>
            </a:defPPr>
            <a:lvl1pPr algn="l">
              <a:defRPr sz="1950" b="1">
                <a:solidFill>
                  <a:srgbClr val="FFFDFA"/>
                </a:solidFill>
                <a:latin typeface="DejaVu Sans"/>
                <a:ea typeface="DejaVu Sans"/>
                <a:cs typeface="DejaVu Sans"/>
              </a:defRPr>
            </a:lvl1pPr>
            <a:lvl2pPr algn="l">
              <a:defRPr sz="1950" b="1">
                <a:solidFill>
                  <a:srgbClr val="FFFDFA"/>
                </a:solidFill>
                <a:latin typeface="DejaVu Sans"/>
                <a:ea typeface="DejaVu Sans"/>
                <a:cs typeface="DejaVu Sans"/>
              </a:defRPr>
            </a:lvl2pPr>
            <a:lvl3pPr algn="l">
              <a:defRPr sz="1950" b="1">
                <a:solidFill>
                  <a:srgbClr val="FFFDFA"/>
                </a:solidFill>
                <a:latin typeface="DejaVu Sans"/>
                <a:ea typeface="DejaVu Sans"/>
                <a:cs typeface="DejaVu Sans"/>
              </a:defRPr>
            </a:lvl3pPr>
            <a:lvl4pPr algn="l">
              <a:defRPr sz="1950" b="1">
                <a:solidFill>
                  <a:srgbClr val="FFFDFA"/>
                </a:solidFill>
                <a:latin typeface="DejaVu Sans"/>
                <a:ea typeface="DejaVu Sans"/>
                <a:cs typeface="DejaVu Sans"/>
              </a:defRPr>
            </a:lvl4pPr>
            <a:lvl5pPr algn="l">
              <a:defRPr sz="1950" b="1">
                <a:solidFill>
                  <a:srgbClr val="FFFDFA"/>
                </a:solidFill>
                <a:latin typeface="DejaVu Sans"/>
                <a:ea typeface="DejaVu Sans"/>
                <a:cs typeface="DejaVu Sans"/>
              </a:defRPr>
            </a:lvl5pPr>
            <a:lvl6pPr algn="l">
              <a:defRPr sz="1950" b="1">
                <a:solidFill>
                  <a:srgbClr val="FFFDFA"/>
                </a:solidFill>
                <a:latin typeface="DejaVu Sans"/>
                <a:ea typeface="DejaVu Sans"/>
                <a:cs typeface="DejaVu Sans"/>
              </a:defRPr>
            </a:lvl6pPr>
            <a:lvl7pPr algn="l">
              <a:defRPr sz="1950" b="1">
                <a:solidFill>
                  <a:srgbClr val="FFFDFA"/>
                </a:solidFill>
                <a:latin typeface="DejaVu Sans"/>
                <a:ea typeface="DejaVu Sans"/>
                <a:cs typeface="DejaVu Sans"/>
              </a:defRPr>
            </a:lvl7pPr>
            <a:lvl8pPr algn="l">
              <a:defRPr sz="1950" b="1">
                <a:solidFill>
                  <a:srgbClr val="FFFDFA"/>
                </a:solidFill>
                <a:latin typeface="DejaVu Sans"/>
                <a:ea typeface="DejaVu Sans"/>
                <a:cs typeface="DejaVu Sans"/>
              </a:defRPr>
            </a:lvl8pPr>
            <a:lvl9pPr algn="l">
              <a:defRPr sz="1950" b="1">
                <a:solidFill>
                  <a:srgbClr val="FFFDFA"/>
                </a:solidFill>
                <a:latin typeface="DejaVu Sans"/>
                <a:ea typeface="DejaVu Sans"/>
                <a:cs typeface="DejaVu Sans"/>
              </a:defRPr>
            </a:lvl9pPr>
          </a:lstStyle>
          <a:p xmlns:a="http://schemas.openxmlformats.org/drawingml/2006/main">
            <a:pPr algn="l">
              <a:lnSpc>
                <a:spcPct val="112000"/>
              </a:lnSpc>
              <a:buNone/>
              <a:defRPr sz="1950" b="1">
                <a:solidFill>
                  <a:srgbClr val="FFFDFA"/>
                </a:solidFill>
                <a:latin typeface="DejaVu Sans"/>
                <a:ea typeface="DejaVu Sans"/>
                <a:cs typeface="DejaVu Sans"/>
              </a:defRPr>
            </a:pPr>
            <a:r>
              <a:rPr sz="1950" b="1">
                <a:solidFill>
                  <a:srgbClr val="FFFDFA"/>
                </a:solidFill>
                <a:latin typeface="DejaVu Sans"/>
                <a:ea typeface="DejaVu Sans"/>
                <a:cs typeface="DejaVu Sans"/>
              </a:rPr>
              <a:t>Control</a:t>
            </a:r>
          </a:p>
        </p:txBody>
      </p:sp>
      <p:sp>
        <p:nvSpPr>
          <p:cNvPr id="15" name="text-7sdul46v7n5">
            <a:extLst xmlns:a="http://schemas.openxmlformats.org/drawingml/2006/main">
              <a:ext uri="{FF2B5EF4-FFF2-40B4-BE49-F238E27FC236}">
                <a16:creationId xmlns:a16="http://schemas.microsoft.com/office/drawing/2014/main" id="{E7A115A2-6197-49E8-B69E-F079D07F5CAA}"/>
              </a:ext>
            </a:extLst>
          </p:cNvPr>
          <p:cNvSpPr>
            <a:spLocks xmlns:a="http://schemas.openxmlformats.org/drawingml/2006/main" noGrp="1"/>
          </p:cNvSpPr>
          <p:nvPr/>
        </p:nvSpPr>
        <p:spPr>
          <a:xfrm xmlns:a="http://schemas.openxmlformats.org/drawingml/2006/main">
            <a:off x="6096000" y="5200650"/>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Execute motion and correct deviations.</a:t>
            </a:r>
          </a:p>
        </p:txBody>
      </p:sp>
    </p:spTree>
    <p:extLst>
      <p:ext uri="{BB962C8B-B14F-4D97-AF65-F5344CB8AC3E}">
        <p14:creationId xmlns:p14="http://schemas.microsoft.com/office/powerpoint/2010/main" val="889996222"/>
      </p:ext>
    </p:extLst>
  </p:cSld>
</p:sld>
</file>

<file path=ppt/slides/slide17.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5B5696C-729D-444E-B764-532D599EBE5E}"/>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toyglxtxebn">
            <a:extLst xmlns:a="http://schemas.openxmlformats.org/drawingml/2006/main">
              <a:ext uri="{FF2B5EF4-FFF2-40B4-BE49-F238E27FC236}">
                <a16:creationId xmlns:a16="http://schemas.microsoft.com/office/drawing/2014/main" id="{43968AB4-AD0C-4C66-9D87-81B6284C657F}"/>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fxv6gzzyztk">
            <a:extLst xmlns:a="http://schemas.openxmlformats.org/drawingml/2006/main">
              <a:ext uri="{FF2B5EF4-FFF2-40B4-BE49-F238E27FC236}">
                <a16:creationId xmlns:a16="http://schemas.microsoft.com/office/drawing/2014/main" id="{09930326-EA0C-4A3F-AC81-CEB64E2F3CB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Robot architecture separates goals from control</a:t>
            </a:r>
          </a:p>
        </p:txBody>
      </p:sp>
      <p:sp>
        <p:nvSpPr>
          <p:cNvPr id="4" name="text-ep0x1s1jvct">
            <a:extLst xmlns:a="http://schemas.openxmlformats.org/drawingml/2006/main">
              <a:ext uri="{FF2B5EF4-FFF2-40B4-BE49-F238E27FC236}">
                <a16:creationId xmlns:a16="http://schemas.microsoft.com/office/drawing/2014/main" id="{A8C0489F-7172-4007-93C6-364717FC2FE6}"/>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Layers address different problems and timescales.</a:t>
            </a:r>
          </a:p>
        </p:txBody>
      </p:sp>
      <p:sp>
        <p:nvSpPr>
          <p:cNvPr id="5" name="">
            <a:extLst xmlns:a="http://schemas.openxmlformats.org/drawingml/2006/main">
              <a:ext uri="{FF2B5EF4-FFF2-40B4-BE49-F238E27FC236}">
                <a16:creationId xmlns:a16="http://schemas.microsoft.com/office/drawing/2014/main" id="{997954EF-0783-4205-8169-22E5B1D740D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14fp4paq3v5">
            <a:extLst xmlns:a="http://schemas.openxmlformats.org/drawingml/2006/main">
              <a:ext uri="{FF2B5EF4-FFF2-40B4-BE49-F238E27FC236}">
                <a16:creationId xmlns:a16="http://schemas.microsoft.com/office/drawing/2014/main" id="{A00D5AAB-986C-48F1-B012-7D0A56AB2A41}"/>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itj7cpfpdpf">
            <a:extLst xmlns:a="http://schemas.openxmlformats.org/drawingml/2006/main">
              <a:ext uri="{FF2B5EF4-FFF2-40B4-BE49-F238E27FC236}">
                <a16:creationId xmlns:a16="http://schemas.microsoft.com/office/drawing/2014/main" id="{006CAC33-6398-40D9-92C8-C9EF309E963A}"/>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17</a:t>
            </a:r>
          </a:p>
        </p:txBody>
      </p:sp>
      <p:sp>
        <p:nvSpPr>
          <p:cNvPr id="8" name="text-04l1eirau7xo">
            <a:extLst xmlns:a="http://schemas.openxmlformats.org/drawingml/2006/main">
              <a:ext uri="{FF2B5EF4-FFF2-40B4-BE49-F238E27FC236}">
                <a16:creationId xmlns:a16="http://schemas.microsoft.com/office/drawing/2014/main" id="{157A0C58-B298-4C7E-9FBF-2993712DBA39}"/>
              </a:ext>
            </a:extLst>
          </p:cNvPr>
          <p:cNvSpPr>
            <a:spLocks xmlns:a="http://schemas.openxmlformats.org/drawingml/2006/main" noGrp="1"/>
          </p:cNvSpPr>
          <p:nvPr/>
        </p:nvSpPr>
        <p:spPr>
          <a:xfrm xmlns:a="http://schemas.openxmlformats.org/drawingml/2006/main">
            <a:off x="628650" y="26289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01</a:t>
            </a:r>
          </a:p>
        </p:txBody>
      </p:sp>
      <p:sp>
        <p:nvSpPr>
          <p:cNvPr id="9" name="text-o89cn0hlk6">
            <a:extLst xmlns:a="http://schemas.openxmlformats.org/drawingml/2006/main">
              <a:ext uri="{FF2B5EF4-FFF2-40B4-BE49-F238E27FC236}">
                <a16:creationId xmlns:a16="http://schemas.microsoft.com/office/drawing/2014/main" id="{0B345651-D587-4C8D-9D3C-C2F693A4E9CA}"/>
              </a:ext>
            </a:extLst>
          </p:cNvPr>
          <p:cNvSpPr>
            <a:spLocks xmlns:a="http://schemas.openxmlformats.org/drawingml/2006/main" noGrp="1"/>
          </p:cNvSpPr>
          <p:nvPr/>
        </p:nvSpPr>
        <p:spPr>
          <a:xfrm xmlns:a="http://schemas.openxmlformats.org/drawingml/2006/main">
            <a:off x="1238250" y="26193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Task</a:t>
            </a:r>
          </a:p>
        </p:txBody>
      </p:sp>
      <p:sp>
        <p:nvSpPr>
          <p:cNvPr id="10" name="text-fmf0ur4oey">
            <a:extLst xmlns:a="http://schemas.openxmlformats.org/drawingml/2006/main">
              <a:ext uri="{FF2B5EF4-FFF2-40B4-BE49-F238E27FC236}">
                <a16:creationId xmlns:a16="http://schemas.microsoft.com/office/drawing/2014/main" id="{45A56DA7-A822-46BE-8335-036AAE0E5E53}"/>
              </a:ext>
            </a:extLst>
          </p:cNvPr>
          <p:cNvSpPr>
            <a:spLocks xmlns:a="http://schemas.openxmlformats.org/drawingml/2006/main" noGrp="1"/>
          </p:cNvSpPr>
          <p:nvPr/>
        </p:nvSpPr>
        <p:spPr>
          <a:xfrm xmlns:a="http://schemas.openxmlformats.org/drawingml/2006/main">
            <a:off x="4095750" y="26193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Select the object and destination.</a:t>
            </a:r>
          </a:p>
        </p:txBody>
      </p:sp>
      <p:sp>
        <p:nvSpPr>
          <p:cNvPr id="11" name="">
            <a:extLst xmlns:a="http://schemas.openxmlformats.org/drawingml/2006/main">
              <a:ext uri="{FF2B5EF4-FFF2-40B4-BE49-F238E27FC236}">
                <a16:creationId xmlns:a16="http://schemas.microsoft.com/office/drawing/2014/main" id="{8B6351E3-760A-4DA3-A6EF-BDFED25AE8BB}"/>
              </a:ext>
            </a:extLst>
          </p:cNvPr>
          <p:cNvSpPr>
            <a:spLocks xmlns:a="http://schemas.openxmlformats.org/drawingml/2006/main" noGrp="1"/>
          </p:cNvSpPr>
          <p:nvPr/>
        </p:nvSpPr>
        <p:spPr>
          <a:xfrm xmlns:a="http://schemas.openxmlformats.org/drawingml/2006/main">
            <a:off x="1238250" y="338137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2" name="text-4cyblfl8i2f">
            <a:extLst xmlns:a="http://schemas.openxmlformats.org/drawingml/2006/main">
              <a:ext uri="{FF2B5EF4-FFF2-40B4-BE49-F238E27FC236}">
                <a16:creationId xmlns:a16="http://schemas.microsoft.com/office/drawing/2014/main" id="{EFD22B91-00D8-4B77-A313-D4D25C9526D1}"/>
              </a:ext>
            </a:extLst>
          </p:cNvPr>
          <p:cNvSpPr>
            <a:spLocks xmlns:a="http://schemas.openxmlformats.org/drawingml/2006/main" noGrp="1"/>
          </p:cNvSpPr>
          <p:nvPr/>
        </p:nvSpPr>
        <p:spPr>
          <a:xfrm xmlns:a="http://schemas.openxmlformats.org/drawingml/2006/main">
            <a:off x="628650" y="35242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02</a:t>
            </a:r>
          </a:p>
        </p:txBody>
      </p:sp>
      <p:sp>
        <p:nvSpPr>
          <p:cNvPr id="13" name="text-iaehztqa7ap">
            <a:extLst xmlns:a="http://schemas.openxmlformats.org/drawingml/2006/main">
              <a:ext uri="{FF2B5EF4-FFF2-40B4-BE49-F238E27FC236}">
                <a16:creationId xmlns:a16="http://schemas.microsoft.com/office/drawing/2014/main" id="{08959C95-382D-471D-A4C8-E76FF3512C09}"/>
              </a:ext>
            </a:extLst>
          </p:cNvPr>
          <p:cNvSpPr>
            <a:spLocks xmlns:a="http://schemas.openxmlformats.org/drawingml/2006/main" noGrp="1"/>
          </p:cNvSpPr>
          <p:nvPr/>
        </p:nvSpPr>
        <p:spPr>
          <a:xfrm xmlns:a="http://schemas.openxmlformats.org/drawingml/2006/main">
            <a:off x="1238250" y="35147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Perception and state</a:t>
            </a:r>
          </a:p>
        </p:txBody>
      </p:sp>
      <p:sp>
        <p:nvSpPr>
          <p:cNvPr id="14" name="text-6uz358q1bla">
            <a:extLst xmlns:a="http://schemas.openxmlformats.org/drawingml/2006/main">
              <a:ext uri="{FF2B5EF4-FFF2-40B4-BE49-F238E27FC236}">
                <a16:creationId xmlns:a16="http://schemas.microsoft.com/office/drawing/2014/main" id="{42F5D3C4-65D4-4658-A211-697ACB615E5B}"/>
              </a:ext>
            </a:extLst>
          </p:cNvPr>
          <p:cNvSpPr>
            <a:spLocks xmlns:a="http://schemas.openxmlformats.org/drawingml/2006/main" noGrp="1"/>
          </p:cNvSpPr>
          <p:nvPr/>
        </p:nvSpPr>
        <p:spPr>
          <a:xfrm xmlns:a="http://schemas.openxmlformats.org/drawingml/2006/main">
            <a:off x="4095750" y="35147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Estimate pose, obstacles and contact.</a:t>
            </a:r>
          </a:p>
        </p:txBody>
      </p:sp>
      <p:sp>
        <p:nvSpPr>
          <p:cNvPr id="15" name="">
            <a:extLst xmlns:a="http://schemas.openxmlformats.org/drawingml/2006/main">
              <a:ext uri="{FF2B5EF4-FFF2-40B4-BE49-F238E27FC236}">
                <a16:creationId xmlns:a16="http://schemas.microsoft.com/office/drawing/2014/main" id="{B59C056F-B05D-4D61-95FB-7026A51A0AD0}"/>
              </a:ext>
            </a:extLst>
          </p:cNvPr>
          <p:cNvSpPr>
            <a:spLocks xmlns:a="http://schemas.openxmlformats.org/drawingml/2006/main" noGrp="1"/>
          </p:cNvSpPr>
          <p:nvPr/>
        </p:nvSpPr>
        <p:spPr>
          <a:xfrm xmlns:a="http://schemas.openxmlformats.org/drawingml/2006/main">
            <a:off x="1238250" y="427672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6" name="text-oq15eobsa99">
            <a:extLst xmlns:a="http://schemas.openxmlformats.org/drawingml/2006/main">
              <a:ext uri="{FF2B5EF4-FFF2-40B4-BE49-F238E27FC236}">
                <a16:creationId xmlns:a16="http://schemas.microsoft.com/office/drawing/2014/main" id="{0C2C3F58-946E-44F6-AA5D-AEBD2C251D5E}"/>
              </a:ext>
            </a:extLst>
          </p:cNvPr>
          <p:cNvSpPr>
            <a:spLocks xmlns:a="http://schemas.openxmlformats.org/drawingml/2006/main" noGrp="1"/>
          </p:cNvSpPr>
          <p:nvPr/>
        </p:nvSpPr>
        <p:spPr>
          <a:xfrm xmlns:a="http://schemas.openxmlformats.org/drawingml/2006/main">
            <a:off x="628650" y="44196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03</a:t>
            </a:r>
          </a:p>
        </p:txBody>
      </p:sp>
      <p:sp>
        <p:nvSpPr>
          <p:cNvPr id="17" name="text-621woapxego">
            <a:extLst xmlns:a="http://schemas.openxmlformats.org/drawingml/2006/main">
              <a:ext uri="{FF2B5EF4-FFF2-40B4-BE49-F238E27FC236}">
                <a16:creationId xmlns:a16="http://schemas.microsoft.com/office/drawing/2014/main" id="{64E36E17-EE87-479F-B8A7-B29840FBF1D5}"/>
              </a:ext>
            </a:extLst>
          </p:cNvPr>
          <p:cNvSpPr>
            <a:spLocks xmlns:a="http://schemas.openxmlformats.org/drawingml/2006/main" noGrp="1"/>
          </p:cNvSpPr>
          <p:nvPr/>
        </p:nvSpPr>
        <p:spPr>
          <a:xfrm xmlns:a="http://schemas.openxmlformats.org/drawingml/2006/main">
            <a:off x="1238250" y="44100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Policy and trajectory</a:t>
            </a:r>
          </a:p>
        </p:txBody>
      </p:sp>
      <p:sp>
        <p:nvSpPr>
          <p:cNvPr id="18" name="text-90cv2qk6n3">
            <a:extLst xmlns:a="http://schemas.openxmlformats.org/drawingml/2006/main">
              <a:ext uri="{FF2B5EF4-FFF2-40B4-BE49-F238E27FC236}">
                <a16:creationId xmlns:a16="http://schemas.microsoft.com/office/drawing/2014/main" id="{338E9265-670F-4D88-9B0E-E9C9BF6225EE}"/>
              </a:ext>
            </a:extLst>
          </p:cNvPr>
          <p:cNvSpPr>
            <a:spLocks xmlns:a="http://schemas.openxmlformats.org/drawingml/2006/main" noGrp="1"/>
          </p:cNvSpPr>
          <p:nvPr/>
        </p:nvSpPr>
        <p:spPr>
          <a:xfrm xmlns:a="http://schemas.openxmlformats.org/drawingml/2006/main">
            <a:off x="4095750" y="44100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Choose actions or motion references.</a:t>
            </a:r>
          </a:p>
        </p:txBody>
      </p:sp>
      <p:sp>
        <p:nvSpPr>
          <p:cNvPr id="19" name="">
            <a:extLst xmlns:a="http://schemas.openxmlformats.org/drawingml/2006/main">
              <a:ext uri="{FF2B5EF4-FFF2-40B4-BE49-F238E27FC236}">
                <a16:creationId xmlns:a16="http://schemas.microsoft.com/office/drawing/2014/main" id="{61B1D078-645A-4263-9EE7-2E11726C0567}"/>
              </a:ext>
            </a:extLst>
          </p:cNvPr>
          <p:cNvSpPr>
            <a:spLocks xmlns:a="http://schemas.openxmlformats.org/drawingml/2006/main" noGrp="1"/>
          </p:cNvSpPr>
          <p:nvPr/>
        </p:nvSpPr>
        <p:spPr>
          <a:xfrm xmlns:a="http://schemas.openxmlformats.org/drawingml/2006/main">
            <a:off x="1238250" y="517207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20" name="text-gu3jknk83q">
            <a:extLst xmlns:a="http://schemas.openxmlformats.org/drawingml/2006/main">
              <a:ext uri="{FF2B5EF4-FFF2-40B4-BE49-F238E27FC236}">
                <a16:creationId xmlns:a16="http://schemas.microsoft.com/office/drawing/2014/main" id="{E6149694-F6CA-48F7-AA12-1126300BC7C0}"/>
              </a:ext>
            </a:extLst>
          </p:cNvPr>
          <p:cNvSpPr>
            <a:spLocks xmlns:a="http://schemas.openxmlformats.org/drawingml/2006/main" noGrp="1"/>
          </p:cNvSpPr>
          <p:nvPr/>
        </p:nvSpPr>
        <p:spPr>
          <a:xfrm xmlns:a="http://schemas.openxmlformats.org/drawingml/2006/main">
            <a:off x="628650" y="53149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04</a:t>
            </a:r>
          </a:p>
        </p:txBody>
      </p:sp>
      <p:sp>
        <p:nvSpPr>
          <p:cNvPr id="21" name="text-vn6dj9onl4">
            <a:extLst xmlns:a="http://schemas.openxmlformats.org/drawingml/2006/main">
              <a:ext uri="{FF2B5EF4-FFF2-40B4-BE49-F238E27FC236}">
                <a16:creationId xmlns:a16="http://schemas.microsoft.com/office/drawing/2014/main" id="{E094640E-318C-4C0B-98F0-0A5798FCE86E}"/>
              </a:ext>
            </a:extLst>
          </p:cNvPr>
          <p:cNvSpPr>
            <a:spLocks xmlns:a="http://schemas.openxmlformats.org/drawingml/2006/main" noGrp="1"/>
          </p:cNvSpPr>
          <p:nvPr/>
        </p:nvSpPr>
        <p:spPr>
          <a:xfrm xmlns:a="http://schemas.openxmlformats.org/drawingml/2006/main">
            <a:off x="1238250" y="53054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Control and actuators</a:t>
            </a:r>
          </a:p>
        </p:txBody>
      </p:sp>
      <p:sp>
        <p:nvSpPr>
          <p:cNvPr id="22" name="text-cygfshe4e4u">
            <a:extLst xmlns:a="http://schemas.openxmlformats.org/drawingml/2006/main">
              <a:ext uri="{FF2B5EF4-FFF2-40B4-BE49-F238E27FC236}">
                <a16:creationId xmlns:a16="http://schemas.microsoft.com/office/drawing/2014/main" id="{D9280D59-457C-40E1-A78F-DE132FDCD594}"/>
              </a:ext>
            </a:extLst>
          </p:cNvPr>
          <p:cNvSpPr>
            <a:spLocks xmlns:a="http://schemas.openxmlformats.org/drawingml/2006/main" noGrp="1"/>
          </p:cNvSpPr>
          <p:nvPr/>
        </p:nvSpPr>
        <p:spPr>
          <a:xfrm xmlns:a="http://schemas.openxmlformats.org/drawingml/2006/main">
            <a:off x="4095750" y="53054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Regulate forces and motion with feedback.</a:t>
            </a:r>
          </a:p>
        </p:txBody>
      </p:sp>
    </p:spTree>
    <p:extLst>
      <p:ext uri="{BB962C8B-B14F-4D97-AF65-F5344CB8AC3E}">
        <p14:creationId xmlns:p14="http://schemas.microsoft.com/office/powerpoint/2010/main" val="1204736631"/>
      </p:ext>
    </p:extLst>
  </p:cSld>
</p:sld>
</file>

<file path=ppt/slides/slide1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8CDDE165-988B-4C0B-90CF-D95426DE3D17}"/>
              </a:ext>
            </a:extLst>
          </p:cNvPr>
          <p:cNvCxnSpPr>
            <a:stCxn xmlns:a="http://schemas.openxmlformats.org/drawingml/2006/main" id="12" idx="3"/>
            <a:endCxn xmlns:a="http://schemas.openxmlformats.org/drawingml/2006/main" id="16" idx="1"/>
          </p:cNvCxnSpPr>
          <p:nvPr/>
        </p:nvCxnSpPr>
        <p:spPr>
          <a:xfrm xmlns:a="http://schemas.openxmlformats.org/drawingml/2006/main">
            <a:off x="77978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83469583-38DE-4FA2-9A38-31A4C34E6C2D}"/>
              </a:ext>
            </a:extLst>
          </p:cNvPr>
          <p:cNvCxnSpPr>
            <a:stCxn xmlns:a="http://schemas.openxmlformats.org/drawingml/2006/main" id="8" idx="3"/>
            <a:endCxn xmlns:a="http://schemas.openxmlformats.org/drawingml/2006/main" id="12" idx="1"/>
          </p:cNvCxnSpPr>
          <p:nvPr/>
        </p:nvCxnSpPr>
        <p:spPr>
          <a:xfrm xmlns:a="http://schemas.openxmlformats.org/drawingml/2006/main">
            <a:off x="40132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CEA95250-1E0D-45F8-A5AF-33071D8AB849}"/>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z7w7y9fr4w">
            <a:extLst xmlns:a="http://schemas.openxmlformats.org/drawingml/2006/main">
              <a:ext uri="{FF2B5EF4-FFF2-40B4-BE49-F238E27FC236}">
                <a16:creationId xmlns:a16="http://schemas.microsoft.com/office/drawing/2014/main" id="{4CC9A481-A230-4EBB-B2E4-FF9258BB97F0}"/>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nv4s6yo1s5k">
            <a:extLst xmlns:a="http://schemas.openxmlformats.org/drawingml/2006/main">
              <a:ext uri="{FF2B5EF4-FFF2-40B4-BE49-F238E27FC236}">
                <a16:creationId xmlns:a16="http://schemas.microsoft.com/office/drawing/2014/main" id="{F6FA75D6-08F1-4998-A7E1-AA4A0A59173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 VLA conditions actions on vision and instructions</a:t>
            </a:r>
          </a:p>
        </p:txBody>
      </p:sp>
      <p:sp>
        <p:nvSpPr>
          <p:cNvPr id="4" name="text-7y2ln6afx4u">
            <a:extLst xmlns:a="http://schemas.openxmlformats.org/drawingml/2006/main">
              <a:ext uri="{FF2B5EF4-FFF2-40B4-BE49-F238E27FC236}">
                <a16:creationId xmlns:a16="http://schemas.microsoft.com/office/drawing/2014/main" id="{77D1E369-EFB6-46C6-9963-33C7F28472D3}"/>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Vision–Language–Action combines modalities for a robotic task.</a:t>
            </a:r>
          </a:p>
        </p:txBody>
      </p:sp>
      <p:sp>
        <p:nvSpPr>
          <p:cNvPr id="5" name="">
            <a:extLst xmlns:a="http://schemas.openxmlformats.org/drawingml/2006/main">
              <a:ext uri="{FF2B5EF4-FFF2-40B4-BE49-F238E27FC236}">
                <a16:creationId xmlns:a16="http://schemas.microsoft.com/office/drawing/2014/main" id="{2E831E87-6EDF-4CFA-AF7F-7C9E83B79CE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ypen6a9wcz">
            <a:extLst xmlns:a="http://schemas.openxmlformats.org/drawingml/2006/main">
              <a:ext uri="{FF2B5EF4-FFF2-40B4-BE49-F238E27FC236}">
                <a16:creationId xmlns:a16="http://schemas.microsoft.com/office/drawing/2014/main" id="{0BDC31C1-B1DF-4155-9CCF-3491CF964606}"/>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OpenVLA</a:t>
            </a:r>
          </a:p>
        </p:txBody>
      </p:sp>
      <p:sp>
        <p:nvSpPr>
          <p:cNvPr id="7" name="text-mmoabi1rjl">
            <a:extLst xmlns:a="http://schemas.openxmlformats.org/drawingml/2006/main">
              <a:ext uri="{FF2B5EF4-FFF2-40B4-BE49-F238E27FC236}">
                <a16:creationId xmlns:a16="http://schemas.microsoft.com/office/drawing/2014/main" id="{97A120AB-E945-40FD-A9D9-DD8D7DA766A3}"/>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18</a:t>
            </a:r>
          </a:p>
        </p:txBody>
      </p:sp>
      <p:sp>
        <p:nvSpPr>
          <p:cNvPr id="8" name="">
            <a:extLst xmlns:a="http://schemas.openxmlformats.org/drawingml/2006/main">
              <a:ext uri="{FF2B5EF4-FFF2-40B4-BE49-F238E27FC236}">
                <a16:creationId xmlns:a16="http://schemas.microsoft.com/office/drawing/2014/main" id="{018C5A1A-B92D-4AAC-8A42-260849DD9DDB}"/>
              </a:ext>
            </a:extLst>
          </p:cNvPr>
          <p:cNvSpPr>
            <a:spLocks xmlns:a="http://schemas.openxmlformats.org/drawingml/2006/main" noGrp="1"/>
          </p:cNvSpPr>
          <p:nvPr/>
        </p:nvSpPr>
        <p:spPr>
          <a:xfrm xmlns:a="http://schemas.openxmlformats.org/drawingml/2006/main">
            <a:off x="6096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E9F1920-9DE7-4E50-B055-862293DA61BB}"/>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p7hoa8qpq9c">
            <a:extLst xmlns:a="http://schemas.openxmlformats.org/drawingml/2006/main">
              <a:ext uri="{FF2B5EF4-FFF2-40B4-BE49-F238E27FC236}">
                <a16:creationId xmlns:a16="http://schemas.microsoft.com/office/drawing/2014/main" id="{E3D60402-0C69-46CA-AEA4-B5EF1AAA6C94}"/>
              </a:ext>
            </a:extLst>
          </p:cNvPr>
          <p:cNvSpPr>
            <a:spLocks xmlns:a="http://schemas.openxmlformats.org/drawingml/2006/main" noGrp="1"/>
          </p:cNvSpPr>
          <p:nvPr/>
        </p:nvSpPr>
        <p:spPr>
          <a:xfrm xmlns:a="http://schemas.openxmlformats.org/drawingml/2006/main">
            <a:off x="8191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Input</a:t>
            </a:r>
          </a:p>
        </p:txBody>
      </p:sp>
      <p:sp>
        <p:nvSpPr>
          <p:cNvPr id="11" name="text-tvgp6x1aw7s">
            <a:extLst xmlns:a="http://schemas.openxmlformats.org/drawingml/2006/main">
              <a:ext uri="{FF2B5EF4-FFF2-40B4-BE49-F238E27FC236}">
                <a16:creationId xmlns:a16="http://schemas.microsoft.com/office/drawing/2014/main" id="{D410EFC8-4833-469E-A45A-C97075092371}"/>
              </a:ext>
            </a:extLst>
          </p:cNvPr>
          <p:cNvSpPr>
            <a:spLocks xmlns:a="http://schemas.openxmlformats.org/drawingml/2006/main" noGrp="1"/>
          </p:cNvSpPr>
          <p:nvPr/>
        </p:nvSpPr>
        <p:spPr>
          <a:xfrm xmlns:a="http://schemas.openxmlformats.org/drawingml/2006/main">
            <a:off x="8191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Image, instruction and available state.</a:t>
            </a:r>
          </a:p>
        </p:txBody>
      </p:sp>
      <p:sp>
        <p:nvSpPr>
          <p:cNvPr id="12" name="">
            <a:extLst xmlns:a="http://schemas.openxmlformats.org/drawingml/2006/main">
              <a:ext uri="{FF2B5EF4-FFF2-40B4-BE49-F238E27FC236}">
                <a16:creationId xmlns:a16="http://schemas.microsoft.com/office/drawing/2014/main" id="{6D4BBAE9-32A6-4DEE-8C7B-1C6A4A891C45}"/>
              </a:ext>
            </a:extLst>
          </p:cNvPr>
          <p:cNvSpPr>
            <a:spLocks xmlns:a="http://schemas.openxmlformats.org/drawingml/2006/main" noGrp="1"/>
          </p:cNvSpPr>
          <p:nvPr/>
        </p:nvSpPr>
        <p:spPr>
          <a:xfrm xmlns:a="http://schemas.openxmlformats.org/drawingml/2006/main">
            <a:off x="43942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1E95F93-2088-49C2-B3E7-95AF14952EFE}"/>
              </a:ext>
            </a:extLst>
          </p:cNvPr>
          <p:cNvSpPr>
            <a:spLocks xmlns:a="http://schemas.openxmlformats.org/drawingml/2006/main" noGrp="1"/>
          </p:cNvSpPr>
          <p:nvPr/>
        </p:nvSpPr>
        <p:spPr>
          <a:xfrm xmlns:a="http://schemas.openxmlformats.org/drawingml/2006/main">
            <a:off x="439420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ilzwxk7zhze">
            <a:extLst xmlns:a="http://schemas.openxmlformats.org/drawingml/2006/main">
              <a:ext uri="{FF2B5EF4-FFF2-40B4-BE49-F238E27FC236}">
                <a16:creationId xmlns:a16="http://schemas.microsoft.com/office/drawing/2014/main" id="{921EDD2E-775E-4F91-A496-7D1EB1F51F82}"/>
              </a:ext>
            </a:extLst>
          </p:cNvPr>
          <p:cNvSpPr>
            <a:spLocks xmlns:a="http://schemas.openxmlformats.org/drawingml/2006/main" noGrp="1"/>
          </p:cNvSpPr>
          <p:nvPr/>
        </p:nvSpPr>
        <p:spPr>
          <a:xfrm xmlns:a="http://schemas.openxmlformats.org/drawingml/2006/main">
            <a:off x="46037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VLA policy</a:t>
            </a:r>
          </a:p>
        </p:txBody>
      </p:sp>
      <p:sp>
        <p:nvSpPr>
          <p:cNvPr id="15" name="text-9jm3hhc8wwm">
            <a:extLst xmlns:a="http://schemas.openxmlformats.org/drawingml/2006/main">
              <a:ext uri="{FF2B5EF4-FFF2-40B4-BE49-F238E27FC236}">
                <a16:creationId xmlns:a16="http://schemas.microsoft.com/office/drawing/2014/main" id="{FC08DD9A-211E-4529-A764-882922B03718}"/>
              </a:ext>
            </a:extLst>
          </p:cNvPr>
          <p:cNvSpPr>
            <a:spLocks xmlns:a="http://schemas.openxmlformats.org/drawingml/2006/main" noGrp="1"/>
          </p:cNvSpPr>
          <p:nvPr/>
        </p:nvSpPr>
        <p:spPr>
          <a:xfrm xmlns:a="http://schemas.openxmlformats.org/drawingml/2006/main">
            <a:off x="46037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Prediction of actions or action sequences.</a:t>
            </a:r>
          </a:p>
        </p:txBody>
      </p:sp>
      <p:sp>
        <p:nvSpPr>
          <p:cNvPr id="16" name="">
            <a:extLst xmlns:a="http://schemas.openxmlformats.org/drawingml/2006/main">
              <a:ext uri="{FF2B5EF4-FFF2-40B4-BE49-F238E27FC236}">
                <a16:creationId xmlns:a16="http://schemas.microsoft.com/office/drawing/2014/main" id="{172B25E3-CDBC-4ED6-9359-9CEC9D1A7856}"/>
              </a:ext>
            </a:extLst>
          </p:cNvPr>
          <p:cNvSpPr>
            <a:spLocks xmlns:a="http://schemas.openxmlformats.org/drawingml/2006/main" noGrp="1"/>
          </p:cNvSpPr>
          <p:nvPr/>
        </p:nvSpPr>
        <p:spPr>
          <a:xfrm xmlns:a="http://schemas.openxmlformats.org/drawingml/2006/main">
            <a:off x="81788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19CB6E5-9BA9-41AE-A027-D2D13672EBB3}"/>
              </a:ext>
            </a:extLst>
          </p:cNvPr>
          <p:cNvSpPr>
            <a:spLocks xmlns:a="http://schemas.openxmlformats.org/drawingml/2006/main" noGrp="1"/>
          </p:cNvSpPr>
          <p:nvPr/>
        </p:nvSpPr>
        <p:spPr>
          <a:xfrm xmlns:a="http://schemas.openxmlformats.org/drawingml/2006/main">
            <a:off x="81788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vrv1n9fmmnf">
            <a:extLst xmlns:a="http://schemas.openxmlformats.org/drawingml/2006/main">
              <a:ext uri="{FF2B5EF4-FFF2-40B4-BE49-F238E27FC236}">
                <a16:creationId xmlns:a16="http://schemas.microsoft.com/office/drawing/2014/main" id="{69DAB5C5-DF05-4926-9E4B-43164106E06D}"/>
              </a:ext>
            </a:extLst>
          </p:cNvPr>
          <p:cNvSpPr>
            <a:spLocks xmlns:a="http://schemas.openxmlformats.org/drawingml/2006/main" noGrp="1"/>
          </p:cNvSpPr>
          <p:nvPr/>
        </p:nvSpPr>
        <p:spPr>
          <a:xfrm xmlns:a="http://schemas.openxmlformats.org/drawingml/2006/main">
            <a:off x="83883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Execution</a:t>
            </a:r>
          </a:p>
        </p:txBody>
      </p:sp>
      <p:sp>
        <p:nvSpPr>
          <p:cNvPr id="19" name="text-5y9kpe2jv9p">
            <a:extLst xmlns:a="http://schemas.openxmlformats.org/drawingml/2006/main">
              <a:ext uri="{FF2B5EF4-FFF2-40B4-BE49-F238E27FC236}">
                <a16:creationId xmlns:a16="http://schemas.microsoft.com/office/drawing/2014/main" id="{7582291A-98A0-40A7-8582-55207D2907EC}"/>
              </a:ext>
            </a:extLst>
          </p:cNvPr>
          <p:cNvSpPr>
            <a:spLocks xmlns:a="http://schemas.openxmlformats.org/drawingml/2006/main" noGrp="1"/>
          </p:cNvSpPr>
          <p:nvPr/>
        </p:nvSpPr>
        <p:spPr>
          <a:xfrm xmlns:a="http://schemas.openxmlformats.org/drawingml/2006/main">
            <a:off x="83883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Conversion to motion through the control system.</a:t>
            </a:r>
          </a:p>
        </p:txBody>
      </p:sp>
    </p:spTree>
    <p:extLst>
      <p:ext uri="{BB962C8B-B14F-4D97-AF65-F5344CB8AC3E}">
        <p14:creationId xmlns:p14="http://schemas.microsoft.com/office/powerpoint/2010/main" val="1179854384"/>
      </p:ext>
    </p:extLst>
  </p:cSld>
</p:sld>
</file>

<file path=ppt/slides/slide1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D45B64A-FCF5-4551-8C1C-68D5E240E85E}"/>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5ns69shi8m">
            <a:extLst xmlns:a="http://schemas.openxmlformats.org/drawingml/2006/main">
              <a:ext uri="{FF2B5EF4-FFF2-40B4-BE49-F238E27FC236}">
                <a16:creationId xmlns:a16="http://schemas.microsoft.com/office/drawing/2014/main" id="{317F8590-7C91-4A8E-95A4-32E2A3957701}"/>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fswnimrfqdu">
            <a:extLst xmlns:a="http://schemas.openxmlformats.org/drawingml/2006/main">
              <a:ext uri="{FF2B5EF4-FFF2-40B4-BE49-F238E27FC236}">
                <a16:creationId xmlns:a16="http://schemas.microsoft.com/office/drawing/2014/main" id="{C6AB254C-CC87-4B7E-B0F6-57E2A2A8F6C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Robots learn from demonstrations, interaction and simulation</a:t>
            </a:r>
          </a:p>
        </p:txBody>
      </p:sp>
      <p:sp>
        <p:nvSpPr>
          <p:cNvPr id="4" name="text-9x4l1p3wabi">
            <a:extLst xmlns:a="http://schemas.openxmlformats.org/drawingml/2006/main">
              <a:ext uri="{FF2B5EF4-FFF2-40B4-BE49-F238E27FC236}">
                <a16:creationId xmlns:a16="http://schemas.microsoft.com/office/drawing/2014/main" id="{949D3D42-A529-47A6-B343-0A6C4FC296D5}"/>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Each data source brings different information and limitations.</a:t>
            </a:r>
          </a:p>
        </p:txBody>
      </p:sp>
      <p:sp>
        <p:nvSpPr>
          <p:cNvPr id="5" name="">
            <a:extLst xmlns:a="http://schemas.openxmlformats.org/drawingml/2006/main">
              <a:ext uri="{FF2B5EF4-FFF2-40B4-BE49-F238E27FC236}">
                <a16:creationId xmlns:a16="http://schemas.microsoft.com/office/drawing/2014/main" id="{DAB938DE-3E34-411F-8106-9172515BC84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rn7c3ury26q">
            <a:extLst xmlns:a="http://schemas.openxmlformats.org/drawingml/2006/main">
              <a:ext uri="{FF2B5EF4-FFF2-40B4-BE49-F238E27FC236}">
                <a16:creationId xmlns:a16="http://schemas.microsoft.com/office/drawing/2014/main" id="{A5185DB9-1678-4342-B47F-7162AD4E27AC}"/>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OpenVLA / Sutton &amp; Barto</a:t>
            </a:r>
          </a:p>
        </p:txBody>
      </p:sp>
      <p:sp>
        <p:nvSpPr>
          <p:cNvPr id="7" name="text-ejsc7p5i5h5">
            <a:extLst xmlns:a="http://schemas.openxmlformats.org/drawingml/2006/main">
              <a:ext uri="{FF2B5EF4-FFF2-40B4-BE49-F238E27FC236}">
                <a16:creationId xmlns:a16="http://schemas.microsoft.com/office/drawing/2014/main" id="{4DBECB23-156B-431D-92CA-0EC616296D0E}"/>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19</a:t>
            </a:r>
          </a:p>
        </p:txBody>
      </p:sp>
      <p:sp>
        <p:nvSpPr>
          <p:cNvPr id="8" name="">
            <a:extLst xmlns:a="http://schemas.openxmlformats.org/drawingml/2006/main">
              <a:ext uri="{FF2B5EF4-FFF2-40B4-BE49-F238E27FC236}">
                <a16:creationId xmlns:a16="http://schemas.microsoft.com/office/drawing/2014/main" id="{744F1538-14A0-41C5-83A4-A77AF7A1D889}"/>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BE074B6-986B-4717-899D-FCFA7120012C}"/>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xypvjp3fvol">
            <a:extLst xmlns:a="http://schemas.openxmlformats.org/drawingml/2006/main">
              <a:ext uri="{FF2B5EF4-FFF2-40B4-BE49-F238E27FC236}">
                <a16:creationId xmlns:a16="http://schemas.microsoft.com/office/drawing/2014/main" id="{6AA647AF-154F-4AB5-8316-D8F4FA7555BF}"/>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Teleoperation</a:t>
            </a:r>
          </a:p>
        </p:txBody>
      </p:sp>
      <p:sp>
        <p:nvSpPr>
          <p:cNvPr id="11" name="text-swor9vbon8">
            <a:extLst xmlns:a="http://schemas.openxmlformats.org/drawingml/2006/main">
              <a:ext uri="{FF2B5EF4-FFF2-40B4-BE49-F238E27FC236}">
                <a16:creationId xmlns:a16="http://schemas.microsoft.com/office/drawing/2014/main" id="{E6F36AE9-FE37-4C0D-905D-EC7AD4888560}"/>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A human demonstrates a task.</a:t>
            </a:r>
          </a:p>
        </p:txBody>
      </p:sp>
      <p:sp>
        <p:nvSpPr>
          <p:cNvPr id="12" name="">
            <a:extLst xmlns:a="http://schemas.openxmlformats.org/drawingml/2006/main">
              <a:ext uri="{FF2B5EF4-FFF2-40B4-BE49-F238E27FC236}">
                <a16:creationId xmlns:a16="http://schemas.microsoft.com/office/drawing/2014/main" id="{0D666179-129C-4F1E-9378-386F41CAADBB}"/>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BC4B8F0-7E9E-4B21-AF91-2A963E6E9E25}"/>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ra6eoc1n9fk">
            <a:extLst xmlns:a="http://schemas.openxmlformats.org/drawingml/2006/main">
              <a:ext uri="{FF2B5EF4-FFF2-40B4-BE49-F238E27FC236}">
                <a16:creationId xmlns:a16="http://schemas.microsoft.com/office/drawing/2014/main" id="{94DF139E-318D-42F5-8F11-7FDEB993631B}"/>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Imitation</a:t>
            </a:r>
          </a:p>
        </p:txBody>
      </p:sp>
      <p:sp>
        <p:nvSpPr>
          <p:cNvPr id="15" name="text-d4t8l5sr1ua">
            <a:extLst xmlns:a="http://schemas.openxmlformats.org/drawingml/2006/main">
              <a:ext uri="{FF2B5EF4-FFF2-40B4-BE49-F238E27FC236}">
                <a16:creationId xmlns:a16="http://schemas.microsoft.com/office/drawing/2014/main" id="{1B88592A-EDE0-4F73-99DE-67C61BAD336C}"/>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A policy learns observation–action relationships.</a:t>
            </a:r>
          </a:p>
        </p:txBody>
      </p:sp>
      <p:sp>
        <p:nvSpPr>
          <p:cNvPr id="16" name="">
            <a:extLst xmlns:a="http://schemas.openxmlformats.org/drawingml/2006/main">
              <a:ext uri="{FF2B5EF4-FFF2-40B4-BE49-F238E27FC236}">
                <a16:creationId xmlns:a16="http://schemas.microsoft.com/office/drawing/2014/main" id="{7EA0942F-D45B-4247-B7BC-02954D600A2F}"/>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103EF6D-AF15-4316-B41F-51806C5F2951}"/>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a3xi4xgwugs">
            <a:extLst xmlns:a="http://schemas.openxmlformats.org/drawingml/2006/main">
              <a:ext uri="{FF2B5EF4-FFF2-40B4-BE49-F238E27FC236}">
                <a16:creationId xmlns:a16="http://schemas.microsoft.com/office/drawing/2014/main" id="{0CD67F86-1806-454A-BA20-0716CC5B99A1}"/>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Simulation and RL</a:t>
            </a:r>
          </a:p>
        </p:txBody>
      </p:sp>
      <p:sp>
        <p:nvSpPr>
          <p:cNvPr id="19" name="text-2132uiejukx">
            <a:extLst xmlns:a="http://schemas.openxmlformats.org/drawingml/2006/main">
              <a:ext uri="{FF2B5EF4-FFF2-40B4-BE49-F238E27FC236}">
                <a16:creationId xmlns:a16="http://schemas.microsoft.com/office/drawing/2014/main" id="{A710DDE9-5C5A-444D-AC86-0736AD5F3E8D}"/>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Scenario exploration with a defined objective.</a:t>
            </a:r>
          </a:p>
        </p:txBody>
      </p:sp>
      <p:sp>
        <p:nvSpPr>
          <p:cNvPr id="20" name="">
            <a:extLst xmlns:a="http://schemas.openxmlformats.org/drawingml/2006/main">
              <a:ext uri="{FF2B5EF4-FFF2-40B4-BE49-F238E27FC236}">
                <a16:creationId xmlns:a16="http://schemas.microsoft.com/office/drawing/2014/main" id="{F93B29A7-CAA8-402C-B3D2-A885A8DBF60D}"/>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15B1CCE-4006-45C7-9774-5A107E6BFF16}"/>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bj3tzpnxl9g">
            <a:extLst xmlns:a="http://schemas.openxmlformats.org/drawingml/2006/main">
              <a:ext uri="{FF2B5EF4-FFF2-40B4-BE49-F238E27FC236}">
                <a16:creationId xmlns:a16="http://schemas.microsoft.com/office/drawing/2014/main" id="{52B9BC77-8D6F-4499-978F-916529ACD405}"/>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Physical tests</a:t>
            </a:r>
          </a:p>
        </p:txBody>
      </p:sp>
      <p:sp>
        <p:nvSpPr>
          <p:cNvPr id="23" name="text-liksks2880g">
            <a:extLst xmlns:a="http://schemas.openxmlformats.org/drawingml/2006/main">
              <a:ext uri="{FF2B5EF4-FFF2-40B4-BE49-F238E27FC236}">
                <a16:creationId xmlns:a16="http://schemas.microsoft.com/office/drawing/2014/main" id="{F1F35217-19BF-43CA-B458-FD4B2D3C4E05}"/>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Validation with real contact, failures and variability.</a:t>
            </a:r>
          </a:p>
        </p:txBody>
      </p:sp>
    </p:spTree>
    <p:extLst>
      <p:ext uri="{BB962C8B-B14F-4D97-AF65-F5344CB8AC3E}">
        <p14:creationId xmlns:p14="http://schemas.microsoft.com/office/powerpoint/2010/main" val="2132993844"/>
      </p:ext>
    </p:extLst>
  </p:cSld>
</p:sld>
</file>

<file path=ppt/slides/slide2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AA37210-433A-4A2C-9D7E-4106216EA6A9}"/>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qp7gh1qxf5">
            <a:extLst xmlns:a="http://schemas.openxmlformats.org/drawingml/2006/main">
              <a:ext uri="{FF2B5EF4-FFF2-40B4-BE49-F238E27FC236}">
                <a16:creationId xmlns:a16="http://schemas.microsoft.com/office/drawing/2014/main" id="{12C1C718-7400-4272-A513-B1BE7B03027D}"/>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cvt5d0m0urq">
            <a:extLst xmlns:a="http://schemas.openxmlformats.org/drawingml/2006/main">
              <a:ext uri="{FF2B5EF4-FFF2-40B4-BE49-F238E27FC236}">
                <a16:creationId xmlns:a16="http://schemas.microsoft.com/office/drawing/2014/main" id="{8C9E9F01-D36F-4E72-8DFD-C0F7B9B1D4F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Simulation leaves a gap to the real world</a:t>
            </a:r>
          </a:p>
        </p:txBody>
      </p:sp>
      <p:sp>
        <p:nvSpPr>
          <p:cNvPr id="4" name="text-z147fnisvp">
            <a:extLst xmlns:a="http://schemas.openxmlformats.org/drawingml/2006/main">
              <a:ext uri="{FF2B5EF4-FFF2-40B4-BE49-F238E27FC236}">
                <a16:creationId xmlns:a16="http://schemas.microsoft.com/office/drawing/2014/main" id="{6CC5B3CF-C844-49F0-B3AD-87DBDCCBD59C}"/>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 simulator approximates friction, contact, sensors and dynamics.</a:t>
            </a:r>
          </a:p>
        </p:txBody>
      </p:sp>
      <p:sp>
        <p:nvSpPr>
          <p:cNvPr id="5" name="">
            <a:extLst xmlns:a="http://schemas.openxmlformats.org/drawingml/2006/main">
              <a:ext uri="{FF2B5EF4-FFF2-40B4-BE49-F238E27FC236}">
                <a16:creationId xmlns:a16="http://schemas.microsoft.com/office/drawing/2014/main" id="{D8873687-4844-4F79-9DA7-A3D96A87A26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ve8slwj5e9">
            <a:extLst xmlns:a="http://schemas.openxmlformats.org/drawingml/2006/main">
              <a:ext uri="{FF2B5EF4-FFF2-40B4-BE49-F238E27FC236}">
                <a16:creationId xmlns:a16="http://schemas.microsoft.com/office/drawing/2014/main" id="{3132DCA3-742C-432B-95EE-DFC8B19CF5EA}"/>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czmynkobonn">
            <a:extLst xmlns:a="http://schemas.openxmlformats.org/drawingml/2006/main">
              <a:ext uri="{FF2B5EF4-FFF2-40B4-BE49-F238E27FC236}">
                <a16:creationId xmlns:a16="http://schemas.microsoft.com/office/drawing/2014/main" id="{28D6B3B7-6AC5-4B38-9AE4-B6F47D6B433B}"/>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20</a:t>
            </a:r>
          </a:p>
        </p:txBody>
      </p:sp>
      <p:sp>
        <p:nvSpPr>
          <p:cNvPr id="8" name="">
            <a:extLst xmlns:a="http://schemas.openxmlformats.org/drawingml/2006/main">
              <a:ext uri="{FF2B5EF4-FFF2-40B4-BE49-F238E27FC236}">
                <a16:creationId xmlns:a16="http://schemas.microsoft.com/office/drawing/2014/main" id="{C047331E-840D-4A1F-BEEB-48C6ACF0F868}"/>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10EEA98-C817-42DC-8E66-8C29081F9994}"/>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boy5h3zrx8">
            <a:extLst xmlns:a="http://schemas.openxmlformats.org/drawingml/2006/main">
              <a:ext uri="{FF2B5EF4-FFF2-40B4-BE49-F238E27FC236}">
                <a16:creationId xmlns:a16="http://schemas.microsoft.com/office/drawing/2014/main" id="{AEC95FCD-453E-4504-94FC-065C28F44581}"/>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What changes</a:t>
            </a:r>
          </a:p>
        </p:txBody>
      </p:sp>
      <p:sp>
        <p:nvSpPr>
          <p:cNvPr id="11" name="text-wb2y1vczzr">
            <a:extLst xmlns:a="http://schemas.openxmlformats.org/drawingml/2006/main">
              <a:ext uri="{FF2B5EF4-FFF2-40B4-BE49-F238E27FC236}">
                <a16:creationId xmlns:a16="http://schemas.microsoft.com/office/drawing/2014/main" id="{58981A2C-46D3-485A-87E1-9059EBE5B811}"/>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Surfaces, lighting, mass and wear.</a:t>
            </a:r>
          </a:p>
        </p:txBody>
      </p:sp>
      <p:sp>
        <p:nvSpPr>
          <p:cNvPr id="12" name="">
            <a:extLst xmlns:a="http://schemas.openxmlformats.org/drawingml/2006/main">
              <a:ext uri="{FF2B5EF4-FFF2-40B4-BE49-F238E27FC236}">
                <a16:creationId xmlns:a16="http://schemas.microsoft.com/office/drawing/2014/main" id="{C83E45D8-BA34-4C98-8B79-F38F5C03CB26}"/>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A90706C-E584-400B-A78E-B487C99560BE}"/>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hx238mbwe6q">
            <a:extLst xmlns:a="http://schemas.openxmlformats.org/drawingml/2006/main">
              <a:ext uri="{FF2B5EF4-FFF2-40B4-BE49-F238E27FC236}">
                <a16:creationId xmlns:a16="http://schemas.microsoft.com/office/drawing/2014/main" id="{FF295E91-4BC1-4CCF-A5B9-A9746045BAFB}"/>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How to narrow the gap</a:t>
            </a:r>
          </a:p>
        </p:txBody>
      </p:sp>
      <p:sp>
        <p:nvSpPr>
          <p:cNvPr id="15" name="text-b7dq7850jmk">
            <a:extLst xmlns:a="http://schemas.openxmlformats.org/drawingml/2006/main">
              <a:ext uri="{FF2B5EF4-FFF2-40B4-BE49-F238E27FC236}">
                <a16:creationId xmlns:a16="http://schemas.microsoft.com/office/drawing/2014/main" id="{6DB6478C-C3DE-4527-914C-B2D4465CFF48}"/>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Scenario variation, calibration and adaptation.</a:t>
            </a:r>
          </a:p>
        </p:txBody>
      </p:sp>
      <p:sp>
        <p:nvSpPr>
          <p:cNvPr id="16" name="">
            <a:extLst xmlns:a="http://schemas.openxmlformats.org/drawingml/2006/main">
              <a:ext uri="{FF2B5EF4-FFF2-40B4-BE49-F238E27FC236}">
                <a16:creationId xmlns:a16="http://schemas.microsoft.com/office/drawing/2014/main" id="{4E57C676-BBEA-4841-BEEC-83A8112803EB}"/>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876EABA-2B86-4AAF-BADA-46C0A1BB754C}"/>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46uh4qxhzxw">
            <a:extLst xmlns:a="http://schemas.openxmlformats.org/drawingml/2006/main">
              <a:ext uri="{FF2B5EF4-FFF2-40B4-BE49-F238E27FC236}">
                <a16:creationId xmlns:a16="http://schemas.microsoft.com/office/drawing/2014/main" id="{3BFC7874-AAD3-4303-9FC9-BF1A65EBD0F9}"/>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What to check</a:t>
            </a:r>
          </a:p>
        </p:txBody>
      </p:sp>
      <p:sp>
        <p:nvSpPr>
          <p:cNvPr id="19" name="text-dkcr2w5flp">
            <a:extLst xmlns:a="http://schemas.openxmlformats.org/drawingml/2006/main">
              <a:ext uri="{FF2B5EF4-FFF2-40B4-BE49-F238E27FC236}">
                <a16:creationId xmlns:a16="http://schemas.microsoft.com/office/drawing/2014/main" id="{DE8A06A7-1C53-40BF-8663-310BFBE9A1C5}"/>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Success and safety under unseen conditions.</a:t>
            </a:r>
          </a:p>
        </p:txBody>
      </p:sp>
    </p:spTree>
    <p:extLst>
      <p:ext uri="{BB962C8B-B14F-4D97-AF65-F5344CB8AC3E}">
        <p14:creationId xmlns:p14="http://schemas.microsoft.com/office/powerpoint/2010/main" val="229963219"/>
      </p:ext>
    </p:extLst>
  </p:cSld>
</p:sld>
</file>

<file path=ppt/slides/slide21.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8EE844D4-D032-42A3-947D-A5F57662FDDD}"/>
              </a:ext>
            </a:extLst>
          </p:cNvPr>
          <p:cNvCxnSpPr>
            <a:stCxn xmlns:a="http://schemas.openxmlformats.org/drawingml/2006/main" id="12" idx="3"/>
            <a:endCxn xmlns:a="http://schemas.openxmlformats.org/drawingml/2006/main" id="16" idx="1"/>
          </p:cNvCxnSpPr>
          <p:nvPr/>
        </p:nvCxnSpPr>
        <p:spPr>
          <a:xfrm xmlns:a="http://schemas.openxmlformats.org/drawingml/2006/main">
            <a:off x="7797800" y="4181475"/>
            <a:ext cx="3810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5B8EC6D5-9063-445E-8399-4A9684E2A041}"/>
              </a:ext>
            </a:extLst>
          </p:cNvPr>
          <p:cNvCxnSpPr>
            <a:stCxn xmlns:a="http://schemas.openxmlformats.org/drawingml/2006/main" id="8" idx="3"/>
            <a:endCxn xmlns:a="http://schemas.openxmlformats.org/drawingml/2006/main" id="12" idx="1"/>
          </p:cNvCxnSpPr>
          <p:nvPr/>
        </p:nvCxnSpPr>
        <p:spPr>
          <a:xfrm xmlns:a="http://schemas.openxmlformats.org/drawingml/2006/main">
            <a:off x="4013200" y="4181475"/>
            <a:ext cx="3810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sp>
        <p:nvSpPr>
          <p:cNvPr id="22" name="">
            <a:extLst xmlns:a="http://schemas.openxmlformats.org/drawingml/2006/main">
              <a:ext uri="{FF2B5EF4-FFF2-40B4-BE49-F238E27FC236}">
                <a16:creationId xmlns:a16="http://schemas.microsoft.com/office/drawing/2014/main" id="{BF122ECD-61E4-4738-A80A-DABB3405B6BC}"/>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758ryxdvif">
            <a:extLst xmlns:a="http://schemas.openxmlformats.org/drawingml/2006/main">
              <a:ext uri="{FF2B5EF4-FFF2-40B4-BE49-F238E27FC236}">
                <a16:creationId xmlns:a16="http://schemas.microsoft.com/office/drawing/2014/main" id="{C390F167-4B1C-4FE6-880F-DAAB936F220A}"/>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koui832zvld">
            <a:extLst xmlns:a="http://schemas.openxmlformats.org/drawingml/2006/main">
              <a:ext uri="{FF2B5EF4-FFF2-40B4-BE49-F238E27FC236}">
                <a16:creationId xmlns:a16="http://schemas.microsoft.com/office/drawing/2014/main" id="{51B3CB58-4FC1-4CBA-8BE0-8EEA511D1798}"/>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Industrial policy needs implementation indicators</a:t>
            </a:r>
          </a:p>
        </p:txBody>
      </p:sp>
      <p:sp>
        <p:nvSpPr>
          <p:cNvPr id="4" name="text-99ojq6o1eo">
            <a:extLst xmlns:a="http://schemas.openxmlformats.org/drawingml/2006/main">
              <a:ext uri="{FF2B5EF4-FFF2-40B4-BE49-F238E27FC236}">
                <a16:creationId xmlns:a16="http://schemas.microsoft.com/office/drawing/2014/main" id="{DF86375A-460B-4C1E-9ED9-F91E7546F8D8}"/>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An announced target and deployed capability require different evidence.</a:t>
            </a:r>
          </a:p>
        </p:txBody>
      </p:sp>
      <p:sp>
        <p:nvSpPr>
          <p:cNvPr id="5" name="">
            <a:extLst xmlns:a="http://schemas.openxmlformats.org/drawingml/2006/main">
              <a:ext uri="{FF2B5EF4-FFF2-40B4-BE49-F238E27FC236}">
                <a16:creationId xmlns:a16="http://schemas.microsoft.com/office/drawing/2014/main" id="{ADBE838F-C22D-48FB-8699-D72460F115E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x5tn38t4xs">
            <a:extLst xmlns:a="http://schemas.openxmlformats.org/drawingml/2006/main">
              <a:ext uri="{FF2B5EF4-FFF2-40B4-BE49-F238E27FC236}">
                <a16:creationId xmlns:a16="http://schemas.microsoft.com/office/drawing/2014/main" id="{E57DE2D5-8741-4547-B901-F5D2D7DC65F4}"/>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e8xz59x0n6v">
            <a:extLst xmlns:a="http://schemas.openxmlformats.org/drawingml/2006/main">
              <a:ext uri="{FF2B5EF4-FFF2-40B4-BE49-F238E27FC236}">
                <a16:creationId xmlns:a16="http://schemas.microsoft.com/office/drawing/2014/main" id="{530B0C38-3CBB-44F7-AE97-1230EC1E43EC}"/>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21</a:t>
            </a:r>
          </a:p>
        </p:txBody>
      </p:sp>
      <p:sp>
        <p:nvSpPr>
          <p:cNvPr id="8" name="">
            <a:extLst xmlns:a="http://schemas.openxmlformats.org/drawingml/2006/main">
              <a:ext uri="{FF2B5EF4-FFF2-40B4-BE49-F238E27FC236}">
                <a16:creationId xmlns:a16="http://schemas.microsoft.com/office/drawing/2014/main" id="{A44BA971-AA52-4B63-82FD-9A5371A64A8D}"/>
              </a:ext>
            </a:extLst>
          </p:cNvPr>
          <p:cNvSpPr>
            <a:spLocks xmlns:a="http://schemas.openxmlformats.org/drawingml/2006/main" noGrp="1"/>
          </p:cNvSpPr>
          <p:nvPr/>
        </p:nvSpPr>
        <p:spPr>
          <a:xfrm xmlns:a="http://schemas.openxmlformats.org/drawingml/2006/main">
            <a:off x="609600" y="2800350"/>
            <a:ext cx="3403600" cy="2762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373269D-98C4-40E7-B7EA-A59392419433}"/>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4iou57t99kh">
            <a:extLst xmlns:a="http://schemas.openxmlformats.org/drawingml/2006/main">
              <a:ext uri="{FF2B5EF4-FFF2-40B4-BE49-F238E27FC236}">
                <a16:creationId xmlns:a16="http://schemas.microsoft.com/office/drawing/2014/main" id="{6E6596F7-9FAC-4697-89D5-174BE804B343}"/>
              </a:ext>
            </a:extLst>
          </p:cNvPr>
          <p:cNvSpPr>
            <a:spLocks xmlns:a="http://schemas.openxmlformats.org/drawingml/2006/main" noGrp="1"/>
          </p:cNvSpPr>
          <p:nvPr/>
        </p:nvSpPr>
        <p:spPr>
          <a:xfrm xmlns:a="http://schemas.openxmlformats.org/drawingml/2006/main">
            <a:off x="8191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Inputs</a:t>
            </a:r>
          </a:p>
        </p:txBody>
      </p:sp>
      <p:sp>
        <p:nvSpPr>
          <p:cNvPr id="11" name="text-94bg46jg8vh">
            <a:extLst xmlns:a="http://schemas.openxmlformats.org/drawingml/2006/main">
              <a:ext uri="{FF2B5EF4-FFF2-40B4-BE49-F238E27FC236}">
                <a16:creationId xmlns:a16="http://schemas.microsoft.com/office/drawing/2014/main" id="{A7E20563-E518-4C91-929E-474E64226E42}"/>
              </a:ext>
            </a:extLst>
          </p:cNvPr>
          <p:cNvSpPr>
            <a:spLocks xmlns:a="http://schemas.openxmlformats.org/drawingml/2006/main" noGrp="1"/>
          </p:cNvSpPr>
          <p:nvPr/>
        </p:nvSpPr>
        <p:spPr>
          <a:xfrm xmlns:a="http://schemas.openxmlformats.org/drawingml/2006/main">
            <a:off x="8191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Funding, talent and infrastructure.</a:t>
            </a:r>
          </a:p>
        </p:txBody>
      </p:sp>
      <p:sp>
        <p:nvSpPr>
          <p:cNvPr id="12" name="">
            <a:extLst xmlns:a="http://schemas.openxmlformats.org/drawingml/2006/main">
              <a:ext uri="{FF2B5EF4-FFF2-40B4-BE49-F238E27FC236}">
                <a16:creationId xmlns:a16="http://schemas.microsoft.com/office/drawing/2014/main" id="{79D39D03-684C-46A0-A7C2-77F9387A8987}"/>
              </a:ext>
            </a:extLst>
          </p:cNvPr>
          <p:cNvSpPr>
            <a:spLocks xmlns:a="http://schemas.openxmlformats.org/drawingml/2006/main" noGrp="1"/>
          </p:cNvSpPr>
          <p:nvPr/>
        </p:nvSpPr>
        <p:spPr>
          <a:xfrm xmlns:a="http://schemas.openxmlformats.org/drawingml/2006/main">
            <a:off x="4394200" y="2800350"/>
            <a:ext cx="3403600" cy="2762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42323D1-14A4-4258-97D4-0FCA41368889}"/>
              </a:ext>
            </a:extLst>
          </p:cNvPr>
          <p:cNvSpPr>
            <a:spLocks xmlns:a="http://schemas.openxmlformats.org/drawingml/2006/main" noGrp="1"/>
          </p:cNvSpPr>
          <p:nvPr/>
        </p:nvSpPr>
        <p:spPr>
          <a:xfrm xmlns:a="http://schemas.openxmlformats.org/drawingml/2006/main">
            <a:off x="439420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uitxc69a1b8">
            <a:extLst xmlns:a="http://schemas.openxmlformats.org/drawingml/2006/main">
              <a:ext uri="{FF2B5EF4-FFF2-40B4-BE49-F238E27FC236}">
                <a16:creationId xmlns:a16="http://schemas.microsoft.com/office/drawing/2014/main" id="{C4A201DA-559D-42AC-809D-AD8338B07792}"/>
              </a:ext>
            </a:extLst>
          </p:cNvPr>
          <p:cNvSpPr>
            <a:spLocks xmlns:a="http://schemas.openxmlformats.org/drawingml/2006/main" noGrp="1"/>
          </p:cNvSpPr>
          <p:nvPr/>
        </p:nvSpPr>
        <p:spPr>
          <a:xfrm xmlns:a="http://schemas.openxmlformats.org/drawingml/2006/main">
            <a:off x="46037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Activities</a:t>
            </a:r>
          </a:p>
        </p:txBody>
      </p:sp>
      <p:sp>
        <p:nvSpPr>
          <p:cNvPr id="15" name="text-ihg04biecde">
            <a:extLst xmlns:a="http://schemas.openxmlformats.org/drawingml/2006/main">
              <a:ext uri="{FF2B5EF4-FFF2-40B4-BE49-F238E27FC236}">
                <a16:creationId xmlns:a16="http://schemas.microsoft.com/office/drawing/2014/main" id="{5FC5576A-AB6C-43E5-A07A-8823CD42986E}"/>
              </a:ext>
            </a:extLst>
          </p:cNvPr>
          <p:cNvSpPr>
            <a:spLocks xmlns:a="http://schemas.openxmlformats.org/drawingml/2006/main" noGrp="1"/>
          </p:cNvSpPr>
          <p:nvPr/>
        </p:nvSpPr>
        <p:spPr>
          <a:xfrm xmlns:a="http://schemas.openxmlformats.org/drawingml/2006/main">
            <a:off x="46037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Labs, training and industrial integration.</a:t>
            </a:r>
          </a:p>
        </p:txBody>
      </p:sp>
      <p:sp>
        <p:nvSpPr>
          <p:cNvPr id="16" name="">
            <a:extLst xmlns:a="http://schemas.openxmlformats.org/drawingml/2006/main">
              <a:ext uri="{FF2B5EF4-FFF2-40B4-BE49-F238E27FC236}">
                <a16:creationId xmlns:a16="http://schemas.microsoft.com/office/drawing/2014/main" id="{DBD399FD-FB1B-471B-A6EF-9F4B369CA63D}"/>
              </a:ext>
            </a:extLst>
          </p:cNvPr>
          <p:cNvSpPr>
            <a:spLocks xmlns:a="http://schemas.openxmlformats.org/drawingml/2006/main" noGrp="1"/>
          </p:cNvSpPr>
          <p:nvPr/>
        </p:nvSpPr>
        <p:spPr>
          <a:xfrm xmlns:a="http://schemas.openxmlformats.org/drawingml/2006/main">
            <a:off x="8178800" y="2800350"/>
            <a:ext cx="3403600" cy="2762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E4D2338-123D-4A33-ADCC-B815FF41E1B0}"/>
              </a:ext>
            </a:extLst>
          </p:cNvPr>
          <p:cNvSpPr>
            <a:spLocks xmlns:a="http://schemas.openxmlformats.org/drawingml/2006/main" noGrp="1"/>
          </p:cNvSpPr>
          <p:nvPr/>
        </p:nvSpPr>
        <p:spPr>
          <a:xfrm xmlns:a="http://schemas.openxmlformats.org/drawingml/2006/main">
            <a:off x="81788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k4za39ac8hd">
            <a:extLst xmlns:a="http://schemas.openxmlformats.org/drawingml/2006/main">
              <a:ext uri="{FF2B5EF4-FFF2-40B4-BE49-F238E27FC236}">
                <a16:creationId xmlns:a16="http://schemas.microsoft.com/office/drawing/2014/main" id="{D7941031-838D-461E-9F2B-17F760ABAD50}"/>
              </a:ext>
            </a:extLst>
          </p:cNvPr>
          <p:cNvSpPr>
            <a:spLocks xmlns:a="http://schemas.openxmlformats.org/drawingml/2006/main" noGrp="1"/>
          </p:cNvSpPr>
          <p:nvPr/>
        </p:nvSpPr>
        <p:spPr>
          <a:xfrm xmlns:a="http://schemas.openxmlformats.org/drawingml/2006/main">
            <a:off x="83883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Outcomes</a:t>
            </a:r>
          </a:p>
        </p:txBody>
      </p:sp>
      <p:sp>
        <p:nvSpPr>
          <p:cNvPr id="19" name="text-e1dt0qodcis">
            <a:extLst xmlns:a="http://schemas.openxmlformats.org/drawingml/2006/main">
              <a:ext uri="{FF2B5EF4-FFF2-40B4-BE49-F238E27FC236}">
                <a16:creationId xmlns:a16="http://schemas.microsoft.com/office/drawing/2014/main" id="{D55D0439-D5D9-40E0-B6C7-459B4F274412}"/>
              </a:ext>
            </a:extLst>
          </p:cNvPr>
          <p:cNvSpPr>
            <a:spLocks xmlns:a="http://schemas.openxmlformats.org/drawingml/2006/main" noGrp="1"/>
          </p:cNvSpPr>
          <p:nvPr/>
        </p:nvSpPr>
        <p:spPr>
          <a:xfrm xmlns:a="http://schemas.openxmlformats.org/drawingml/2006/main">
            <a:off x="83883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Adoption, quality, productivity and safety.</a:t>
            </a:r>
          </a:p>
        </p:txBody>
      </p:sp>
    </p:spTree>
    <p:extLst>
      <p:ext uri="{BB962C8B-B14F-4D97-AF65-F5344CB8AC3E}">
        <p14:creationId xmlns:p14="http://schemas.microsoft.com/office/powerpoint/2010/main" val="1989159567"/>
      </p:ext>
    </p:extLst>
  </p:cSld>
</p:sld>
</file>

<file path=ppt/slides/slide2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45B3E9C-CD5C-49B6-A679-F7DDA2AA63B5}"/>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hfdbxclbrj">
            <a:extLst xmlns:a="http://schemas.openxmlformats.org/drawingml/2006/main">
              <a:ext uri="{FF2B5EF4-FFF2-40B4-BE49-F238E27FC236}">
                <a16:creationId xmlns:a16="http://schemas.microsoft.com/office/drawing/2014/main" id="{DC53EE9F-5D5C-4B28-9CE2-BB6E6743F953}"/>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oi5j75e7gc8">
            <a:extLst xmlns:a="http://schemas.openxmlformats.org/drawingml/2006/main">
              <a:ext uri="{FF2B5EF4-FFF2-40B4-BE49-F238E27FC236}">
                <a16:creationId xmlns:a16="http://schemas.microsoft.com/office/drawing/2014/main" id="{6A2DCFBB-7348-4718-BCEC-6CDA1D34A9C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Unitree, UBTECH and XPENG show three starting points</a:t>
            </a:r>
          </a:p>
        </p:txBody>
      </p:sp>
      <p:sp>
        <p:nvSpPr>
          <p:cNvPr id="4" name="text-vmzfbrrdtr">
            <a:extLst xmlns:a="http://schemas.openxmlformats.org/drawingml/2006/main">
              <a:ext uri="{FF2B5EF4-FFF2-40B4-BE49-F238E27FC236}">
                <a16:creationId xmlns:a16="http://schemas.microsoft.com/office/drawing/2014/main" id="{D3B55211-AC00-4006-8463-B7F1DBF9CF1B}"/>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The comparison identifies emphasis, not a universal winner.</a:t>
            </a:r>
          </a:p>
        </p:txBody>
      </p:sp>
      <p:sp>
        <p:nvSpPr>
          <p:cNvPr id="5" name="">
            <a:extLst xmlns:a="http://schemas.openxmlformats.org/drawingml/2006/main">
              <a:ext uri="{FF2B5EF4-FFF2-40B4-BE49-F238E27FC236}">
                <a16:creationId xmlns:a16="http://schemas.microsoft.com/office/drawing/2014/main" id="{F59B5DF8-7DAE-4D48-A72D-19F5FE394CD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7xzkbuxlla3">
            <a:extLst xmlns:a="http://schemas.openxmlformats.org/drawingml/2006/main">
              <a:ext uri="{FF2B5EF4-FFF2-40B4-BE49-F238E27FC236}">
                <a16:creationId xmlns:a16="http://schemas.microsoft.com/office/drawing/2014/main" id="{B1609059-CC07-40E9-A745-BA7A786A3C8A}"/>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Unitree / UBTECH / XPENG</a:t>
            </a:r>
          </a:p>
        </p:txBody>
      </p:sp>
      <p:sp>
        <p:nvSpPr>
          <p:cNvPr id="7" name="text-qizclosbhyq">
            <a:extLst xmlns:a="http://schemas.openxmlformats.org/drawingml/2006/main">
              <a:ext uri="{FF2B5EF4-FFF2-40B4-BE49-F238E27FC236}">
                <a16:creationId xmlns:a16="http://schemas.microsoft.com/office/drawing/2014/main" id="{6FF36DCB-DEDE-477A-82EC-BA7F4FADA4F9}"/>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22</a:t>
            </a:r>
          </a:p>
        </p:txBody>
      </p:sp>
      <p:sp>
        <p:nvSpPr>
          <p:cNvPr id="8" name="">
            <a:extLst xmlns:a="http://schemas.openxmlformats.org/drawingml/2006/main">
              <a:ext uri="{FF2B5EF4-FFF2-40B4-BE49-F238E27FC236}">
                <a16:creationId xmlns:a16="http://schemas.microsoft.com/office/drawing/2014/main" id="{A23E7A5E-073B-44C4-AD18-E66A57306933}"/>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8E9DB81-7B87-4D30-90BF-9ED22BB9D1AF}"/>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qijt4xuclp">
            <a:extLst xmlns:a="http://schemas.openxmlformats.org/drawingml/2006/main">
              <a:ext uri="{FF2B5EF4-FFF2-40B4-BE49-F238E27FC236}">
                <a16:creationId xmlns:a16="http://schemas.microsoft.com/office/drawing/2014/main" id="{E2CB1C5D-A4B4-4204-AAB0-20EC5DC7F255}"/>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Unitree</a:t>
            </a:r>
          </a:p>
        </p:txBody>
      </p:sp>
      <p:sp>
        <p:nvSpPr>
          <p:cNvPr id="11" name="text-z80jhlyc19s">
            <a:extLst xmlns:a="http://schemas.openxmlformats.org/drawingml/2006/main">
              <a:ext uri="{FF2B5EF4-FFF2-40B4-BE49-F238E27FC236}">
                <a16:creationId xmlns:a16="http://schemas.microsoft.com/office/drawing/2014/main" id="{2A3ECE3B-8EFA-406D-B277-A60873171A15}"/>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Hardware, mobility and research platforms.</a:t>
            </a:r>
          </a:p>
        </p:txBody>
      </p:sp>
      <p:sp>
        <p:nvSpPr>
          <p:cNvPr id="12" name="">
            <a:extLst xmlns:a="http://schemas.openxmlformats.org/drawingml/2006/main">
              <a:ext uri="{FF2B5EF4-FFF2-40B4-BE49-F238E27FC236}">
                <a16:creationId xmlns:a16="http://schemas.microsoft.com/office/drawing/2014/main" id="{333E505F-56FA-4198-ACF8-2AB57CEB230C}"/>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4D29902-68F9-4EF0-A2FE-6B559BB58AED}"/>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6eg750dequs">
            <a:extLst xmlns:a="http://schemas.openxmlformats.org/drawingml/2006/main">
              <a:ext uri="{FF2B5EF4-FFF2-40B4-BE49-F238E27FC236}">
                <a16:creationId xmlns:a16="http://schemas.microsoft.com/office/drawing/2014/main" id="{EB6ECDAF-1BE6-4EBA-BCAB-032E75CA18ED}"/>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UBTECH</a:t>
            </a:r>
          </a:p>
        </p:txBody>
      </p:sp>
      <p:sp>
        <p:nvSpPr>
          <p:cNvPr id="15" name="text-3uctsrug0ej">
            <a:extLst xmlns:a="http://schemas.openxmlformats.org/drawingml/2006/main">
              <a:ext uri="{FF2B5EF4-FFF2-40B4-BE49-F238E27FC236}">
                <a16:creationId xmlns:a16="http://schemas.microsoft.com/office/drawing/2014/main" id="{CB757BE8-ECD8-4503-9AB8-3475589DFB7E}"/>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Integration of humanoids into industrial processes.</a:t>
            </a:r>
          </a:p>
        </p:txBody>
      </p:sp>
      <p:sp>
        <p:nvSpPr>
          <p:cNvPr id="16" name="">
            <a:extLst xmlns:a="http://schemas.openxmlformats.org/drawingml/2006/main">
              <a:ext uri="{FF2B5EF4-FFF2-40B4-BE49-F238E27FC236}">
                <a16:creationId xmlns:a16="http://schemas.microsoft.com/office/drawing/2014/main" id="{A9E5DE7B-BEB5-4F70-8A88-FB825816DCB2}"/>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DECD899-19E5-478C-8A9A-BDD33FBF6AFB}"/>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juve3fqg6bc">
            <a:extLst xmlns:a="http://schemas.openxmlformats.org/drawingml/2006/main">
              <a:ext uri="{FF2B5EF4-FFF2-40B4-BE49-F238E27FC236}">
                <a16:creationId xmlns:a16="http://schemas.microsoft.com/office/drawing/2014/main" id="{5FE515DF-E594-4184-A2DE-E7CA35BB0211}"/>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XPENG</a:t>
            </a:r>
          </a:p>
        </p:txBody>
      </p:sp>
      <p:sp>
        <p:nvSpPr>
          <p:cNvPr id="19" name="text-y4a3ahadpfs">
            <a:extLst xmlns:a="http://schemas.openxmlformats.org/drawingml/2006/main">
              <a:ext uri="{FF2B5EF4-FFF2-40B4-BE49-F238E27FC236}">
                <a16:creationId xmlns:a16="http://schemas.microsoft.com/office/drawing/2014/main" id="{517716AD-4F4F-4163-B2A5-D4132C29CA42}"/>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Transfer of capabilities from vehicles and manufacturing.</a:t>
            </a:r>
          </a:p>
        </p:txBody>
      </p:sp>
    </p:spTree>
    <p:extLst>
      <p:ext uri="{BB962C8B-B14F-4D97-AF65-F5344CB8AC3E}">
        <p14:creationId xmlns:p14="http://schemas.microsoft.com/office/powerpoint/2010/main" val="940179356"/>
      </p:ext>
    </p:extLst>
  </p:cSld>
</p:sld>
</file>

<file path=ppt/slides/slide2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511D731-8970-4645-8D36-D865EFC78F09}"/>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yeioh7lndo">
            <a:extLst xmlns:a="http://schemas.openxmlformats.org/drawingml/2006/main">
              <a:ext uri="{FF2B5EF4-FFF2-40B4-BE49-F238E27FC236}">
                <a16:creationId xmlns:a16="http://schemas.microsoft.com/office/drawing/2014/main" id="{4CF21C2E-09F9-41C2-B8F9-14E7AE11610B}"/>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i5iio4lpiq">
            <a:extLst xmlns:a="http://schemas.openxmlformats.org/drawingml/2006/main">
              <a:ext uri="{FF2B5EF4-FFF2-40B4-BE49-F238E27FC236}">
                <a16:creationId xmlns:a16="http://schemas.microsoft.com/office/drawing/2014/main" id="{B27F0A08-6204-4A48-8BAB-7ACE5EEC9E26}"/>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G1 illustrates mobility and hardware configuration</a:t>
            </a:r>
          </a:p>
        </p:txBody>
      </p:sp>
      <p:sp>
        <p:nvSpPr>
          <p:cNvPr id="4" name="text-zkbds58mh4">
            <a:extLst xmlns:a="http://schemas.openxmlformats.org/drawingml/2006/main">
              <a:ext uri="{FF2B5EF4-FFF2-40B4-BE49-F238E27FC236}">
                <a16:creationId xmlns:a16="http://schemas.microsoft.com/office/drawing/2014/main" id="{463347F2-9A4B-4434-8627-5E7C614FE0FB}"/>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The manufacturer’s specifications describe conditional capabilities.</a:t>
            </a:r>
          </a:p>
        </p:txBody>
      </p:sp>
      <p:sp>
        <p:nvSpPr>
          <p:cNvPr id="5" name="">
            <a:extLst xmlns:a="http://schemas.openxmlformats.org/drawingml/2006/main">
              <a:ext uri="{FF2B5EF4-FFF2-40B4-BE49-F238E27FC236}">
                <a16:creationId xmlns:a16="http://schemas.microsoft.com/office/drawing/2014/main" id="{D98AB290-0833-4CE0-95DB-46F76345BEC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xvp7s47j7bl">
            <a:extLst xmlns:a="http://schemas.openxmlformats.org/drawingml/2006/main">
              <a:ext uri="{FF2B5EF4-FFF2-40B4-BE49-F238E27FC236}">
                <a16:creationId xmlns:a16="http://schemas.microsoft.com/office/drawing/2014/main" id="{C352F7BD-8E28-4120-8343-1CEDDF8F21C6}"/>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Unitree</a:t>
            </a:r>
          </a:p>
        </p:txBody>
      </p:sp>
      <p:sp>
        <p:nvSpPr>
          <p:cNvPr id="7" name="text-s906xtih3bl">
            <a:extLst xmlns:a="http://schemas.openxmlformats.org/drawingml/2006/main">
              <a:ext uri="{FF2B5EF4-FFF2-40B4-BE49-F238E27FC236}">
                <a16:creationId xmlns:a16="http://schemas.microsoft.com/office/drawing/2014/main" id="{6348A9DE-4457-468A-B45A-91A957F89484}"/>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23</a:t>
            </a:r>
          </a:p>
        </p:txBody>
      </p:sp>
      <p:sp>
        <p:nvSpPr>
          <p:cNvPr id="8" name="text-849t82ulnbw">
            <a:extLst xmlns:a="http://schemas.openxmlformats.org/drawingml/2006/main">
              <a:ext uri="{FF2B5EF4-FFF2-40B4-BE49-F238E27FC236}">
                <a16:creationId xmlns:a16="http://schemas.microsoft.com/office/drawing/2014/main" id="{4AB18E91-3B0E-4700-902A-12835961FABC}"/>
              </a:ext>
            </a:extLst>
          </p:cNvPr>
          <p:cNvSpPr>
            <a:spLocks xmlns:a="http://schemas.openxmlformats.org/drawingml/2006/main" noGrp="1"/>
          </p:cNvSpPr>
          <p:nvPr/>
        </p:nvSpPr>
        <p:spPr>
          <a:xfrm xmlns:a="http://schemas.openxmlformats.org/drawingml/2006/main">
            <a:off x="609600" y="2647950"/>
            <a:ext cx="4667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1">
                <a:solidFill>
                  <a:srgbClr val="087D78"/>
                </a:solidFill>
                <a:latin typeface="DejaVu Sans"/>
                <a:ea typeface="DejaVu Sans"/>
                <a:cs typeface="DejaVu Sans"/>
              </a:defRPr>
            </a:defPPr>
            <a:lvl1pPr algn="l">
              <a:defRPr sz="6450" b="1">
                <a:solidFill>
                  <a:srgbClr val="087D78"/>
                </a:solidFill>
                <a:latin typeface="DejaVu Sans"/>
                <a:ea typeface="DejaVu Sans"/>
                <a:cs typeface="DejaVu Sans"/>
              </a:defRPr>
            </a:lvl1pPr>
            <a:lvl2pPr algn="l">
              <a:defRPr sz="6450" b="1">
                <a:solidFill>
                  <a:srgbClr val="087D78"/>
                </a:solidFill>
                <a:latin typeface="DejaVu Sans"/>
                <a:ea typeface="DejaVu Sans"/>
                <a:cs typeface="DejaVu Sans"/>
              </a:defRPr>
            </a:lvl2pPr>
            <a:lvl3pPr algn="l">
              <a:defRPr sz="6450" b="1">
                <a:solidFill>
                  <a:srgbClr val="087D78"/>
                </a:solidFill>
                <a:latin typeface="DejaVu Sans"/>
                <a:ea typeface="DejaVu Sans"/>
                <a:cs typeface="DejaVu Sans"/>
              </a:defRPr>
            </a:lvl3pPr>
            <a:lvl4pPr algn="l">
              <a:defRPr sz="6450" b="1">
                <a:solidFill>
                  <a:srgbClr val="087D78"/>
                </a:solidFill>
                <a:latin typeface="DejaVu Sans"/>
                <a:ea typeface="DejaVu Sans"/>
                <a:cs typeface="DejaVu Sans"/>
              </a:defRPr>
            </a:lvl4pPr>
            <a:lvl5pPr algn="l">
              <a:defRPr sz="6450" b="1">
                <a:solidFill>
                  <a:srgbClr val="087D78"/>
                </a:solidFill>
                <a:latin typeface="DejaVu Sans"/>
                <a:ea typeface="DejaVu Sans"/>
                <a:cs typeface="DejaVu Sans"/>
              </a:defRPr>
            </a:lvl5pPr>
            <a:lvl6pPr algn="l">
              <a:defRPr sz="6450" b="1">
                <a:solidFill>
                  <a:srgbClr val="087D78"/>
                </a:solidFill>
                <a:latin typeface="DejaVu Sans"/>
                <a:ea typeface="DejaVu Sans"/>
                <a:cs typeface="DejaVu Sans"/>
              </a:defRPr>
            </a:lvl6pPr>
            <a:lvl7pPr algn="l">
              <a:defRPr sz="6450" b="1">
                <a:solidFill>
                  <a:srgbClr val="087D78"/>
                </a:solidFill>
                <a:latin typeface="DejaVu Sans"/>
                <a:ea typeface="DejaVu Sans"/>
                <a:cs typeface="DejaVu Sans"/>
              </a:defRPr>
            </a:lvl7pPr>
            <a:lvl8pPr algn="l">
              <a:defRPr sz="6450" b="1">
                <a:solidFill>
                  <a:srgbClr val="087D78"/>
                </a:solidFill>
                <a:latin typeface="DejaVu Sans"/>
                <a:ea typeface="DejaVu Sans"/>
                <a:cs typeface="DejaVu Sans"/>
              </a:defRPr>
            </a:lvl8pPr>
            <a:lvl9pPr algn="l">
              <a:defRPr sz="6450" b="1">
                <a:solidFill>
                  <a:srgbClr val="087D78"/>
                </a:solidFill>
                <a:latin typeface="DejaVu Sans"/>
                <a:ea typeface="DejaVu Sans"/>
                <a:cs typeface="DejaVu Sans"/>
              </a:defRPr>
            </a:lvl9pPr>
          </a:lstStyle>
          <a:p xmlns:a="http://schemas.openxmlformats.org/drawingml/2006/main">
            <a:pPr algn="l">
              <a:lnSpc>
                <a:spcPct val="112000"/>
              </a:lnSpc>
              <a:buNone/>
              <a:defRPr sz="6450" b="1">
                <a:solidFill>
                  <a:srgbClr val="087D78"/>
                </a:solidFill>
                <a:latin typeface="DejaVu Sans"/>
                <a:ea typeface="DejaVu Sans"/>
                <a:cs typeface="DejaVu Sans"/>
              </a:defRPr>
            </a:pPr>
            <a:r>
              <a:rPr sz="6450" b="1">
                <a:solidFill>
                  <a:srgbClr val="087D78"/>
                </a:solidFill>
                <a:latin typeface="DejaVu Sans"/>
                <a:ea typeface="DejaVu Sans"/>
                <a:cs typeface="DejaVu Sans"/>
              </a:rPr>
              <a:t>G1</a:t>
            </a:r>
          </a:p>
        </p:txBody>
      </p:sp>
      <p:sp>
        <p:nvSpPr>
          <p:cNvPr id="9" name="text-72ti11w0vjq">
            <a:extLst xmlns:a="http://schemas.openxmlformats.org/drawingml/2006/main">
              <a:ext uri="{FF2B5EF4-FFF2-40B4-BE49-F238E27FC236}">
                <a16:creationId xmlns:a16="http://schemas.microsoft.com/office/drawing/2014/main" id="{CFC3AA76-A52F-4E8C-ADAD-F0B361EB2109}"/>
              </a:ext>
            </a:extLst>
          </p:cNvPr>
          <p:cNvSpPr>
            <a:spLocks xmlns:a="http://schemas.openxmlformats.org/drawingml/2006/main" noGrp="1"/>
          </p:cNvSpPr>
          <p:nvPr/>
        </p:nvSpPr>
        <p:spPr>
          <a:xfrm xmlns:a="http://schemas.openxmlformats.org/drawingml/2006/main">
            <a:off x="5762625" y="257175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 132 cm</a:t>
            </a:r>
          </a:p>
        </p:txBody>
      </p:sp>
      <p:sp>
        <p:nvSpPr>
          <p:cNvPr id="10" name="text-366cbfhsu0y">
            <a:extLst xmlns:a="http://schemas.openxmlformats.org/drawingml/2006/main">
              <a:ext uri="{FF2B5EF4-FFF2-40B4-BE49-F238E27FC236}">
                <a16:creationId xmlns:a16="http://schemas.microsoft.com/office/drawing/2014/main" id="{01F6787F-53D5-4105-BEA5-785D927EE1E6}"/>
              </a:ext>
            </a:extLst>
          </p:cNvPr>
          <p:cNvSpPr>
            <a:spLocks xmlns:a="http://schemas.openxmlformats.org/drawingml/2006/main" noGrp="1"/>
          </p:cNvSpPr>
          <p:nvPr/>
        </p:nvSpPr>
        <p:spPr>
          <a:xfrm xmlns:a="http://schemas.openxmlformats.org/drawingml/2006/main">
            <a:off x="5762625" y="294322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Declared G1 height.</a:t>
            </a:r>
          </a:p>
        </p:txBody>
      </p:sp>
      <p:sp>
        <p:nvSpPr>
          <p:cNvPr id="11" name="text-gpzymflxpa">
            <a:extLst xmlns:a="http://schemas.openxmlformats.org/drawingml/2006/main">
              <a:ext uri="{FF2B5EF4-FFF2-40B4-BE49-F238E27FC236}">
                <a16:creationId xmlns:a16="http://schemas.microsoft.com/office/drawing/2014/main" id="{8220B791-1BC4-4F70-B344-D5D95361EAD1}"/>
              </a:ext>
            </a:extLst>
          </p:cNvPr>
          <p:cNvSpPr>
            <a:spLocks xmlns:a="http://schemas.openxmlformats.org/drawingml/2006/main" noGrp="1"/>
          </p:cNvSpPr>
          <p:nvPr/>
        </p:nvSpPr>
        <p:spPr>
          <a:xfrm xmlns:a="http://schemas.openxmlformats.org/drawingml/2006/main">
            <a:off x="5762625" y="3667125"/>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 35 kg</a:t>
            </a:r>
          </a:p>
        </p:txBody>
      </p:sp>
      <p:sp>
        <p:nvSpPr>
          <p:cNvPr id="12" name="text-opn9l0e4myb">
            <a:extLst xmlns:a="http://schemas.openxmlformats.org/drawingml/2006/main">
              <a:ext uri="{FF2B5EF4-FFF2-40B4-BE49-F238E27FC236}">
                <a16:creationId xmlns:a16="http://schemas.microsoft.com/office/drawing/2014/main" id="{2A26C021-4748-481D-8F2C-0A3A446A1A21}"/>
              </a:ext>
            </a:extLst>
          </p:cNvPr>
          <p:cNvSpPr>
            <a:spLocks xmlns:a="http://schemas.openxmlformats.org/drawingml/2006/main" noGrp="1"/>
          </p:cNvSpPr>
          <p:nvPr/>
        </p:nvSpPr>
        <p:spPr>
          <a:xfrm xmlns:a="http://schemas.openxmlformats.org/drawingml/2006/main">
            <a:off x="5762625" y="40386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Declared weight depending on configuration.</a:t>
            </a:r>
          </a:p>
        </p:txBody>
      </p:sp>
      <p:sp>
        <p:nvSpPr>
          <p:cNvPr id="13" name="text-pq69i2n8go8">
            <a:extLst xmlns:a="http://schemas.openxmlformats.org/drawingml/2006/main">
              <a:ext uri="{FF2B5EF4-FFF2-40B4-BE49-F238E27FC236}">
                <a16:creationId xmlns:a16="http://schemas.microsoft.com/office/drawing/2014/main" id="{E8F4D8F6-9D28-4F71-97DF-C3142B9F95B8}"/>
              </a:ext>
            </a:extLst>
          </p:cNvPr>
          <p:cNvSpPr>
            <a:spLocks xmlns:a="http://schemas.openxmlformats.org/drawingml/2006/main" noGrp="1"/>
          </p:cNvSpPr>
          <p:nvPr/>
        </p:nvSpPr>
        <p:spPr>
          <a:xfrm xmlns:a="http://schemas.openxmlformats.org/drawingml/2006/main">
            <a:off x="5762625" y="476250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Operating question</a:t>
            </a:r>
          </a:p>
        </p:txBody>
      </p:sp>
      <p:sp>
        <p:nvSpPr>
          <p:cNvPr id="14" name="text-6laopg7xw1">
            <a:extLst xmlns:a="http://schemas.openxmlformats.org/drawingml/2006/main">
              <a:ext uri="{FF2B5EF4-FFF2-40B4-BE49-F238E27FC236}">
                <a16:creationId xmlns:a16="http://schemas.microsoft.com/office/drawing/2014/main" id="{909DEEBB-055C-4575-B99D-6BC6536B5DF9}"/>
              </a:ext>
            </a:extLst>
          </p:cNvPr>
          <p:cNvSpPr>
            <a:spLocks xmlns:a="http://schemas.openxmlformats.org/drawingml/2006/main" noGrp="1"/>
          </p:cNvSpPr>
          <p:nvPr/>
        </p:nvSpPr>
        <p:spPr>
          <a:xfrm xmlns:a="http://schemas.openxmlformats.org/drawingml/2006/main">
            <a:off x="5762625" y="513397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How many valid tasks does it complete without intervention?</a:t>
            </a:r>
          </a:p>
        </p:txBody>
      </p:sp>
    </p:spTree>
    <p:extLst>
      <p:ext uri="{BB962C8B-B14F-4D97-AF65-F5344CB8AC3E}">
        <p14:creationId xmlns:p14="http://schemas.microsoft.com/office/powerpoint/2010/main" val="1022632709"/>
      </p:ext>
    </p:extLst>
  </p:cSld>
</p:sld>
</file>

<file path=ppt/slides/slide2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AD2956F-0D9C-418D-97DF-61CED489BACD}"/>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li0o0paz7qk">
            <a:extLst xmlns:a="http://schemas.openxmlformats.org/drawingml/2006/main">
              <a:ext uri="{FF2B5EF4-FFF2-40B4-BE49-F238E27FC236}">
                <a16:creationId xmlns:a16="http://schemas.microsoft.com/office/drawing/2014/main" id="{63301ECA-9812-4EB8-925D-22F0F8D0256E}"/>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mcijicq13e">
            <a:extLst xmlns:a="http://schemas.openxmlformats.org/drawingml/2006/main">
              <a:ext uri="{FF2B5EF4-FFF2-40B4-BE49-F238E27FC236}">
                <a16:creationId xmlns:a16="http://schemas.microsoft.com/office/drawing/2014/main" id="{460B924C-DC6C-429C-A689-8905AC0F286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Walker S2 motivates a discussion of uptime</a:t>
            </a:r>
          </a:p>
        </p:txBody>
      </p:sp>
      <p:sp>
        <p:nvSpPr>
          <p:cNvPr id="4" name="text-3n7pf9td3lk">
            <a:extLst xmlns:a="http://schemas.openxmlformats.org/drawingml/2006/main">
              <a:ext uri="{FF2B5EF4-FFF2-40B4-BE49-F238E27FC236}">
                <a16:creationId xmlns:a16="http://schemas.microsoft.com/office/drawing/2014/main" id="{D5824C6C-CF72-48A7-95F5-90F77BF2183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UBTECH declares autonomous battery swapping within three minutes.</a:t>
            </a:r>
          </a:p>
        </p:txBody>
      </p:sp>
      <p:sp>
        <p:nvSpPr>
          <p:cNvPr id="5" name="">
            <a:extLst xmlns:a="http://schemas.openxmlformats.org/drawingml/2006/main">
              <a:ext uri="{FF2B5EF4-FFF2-40B4-BE49-F238E27FC236}">
                <a16:creationId xmlns:a16="http://schemas.microsoft.com/office/drawing/2014/main" id="{3181E701-21A6-4590-807C-C542EBFF68B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ao7jyxsyrh">
            <a:extLst xmlns:a="http://schemas.openxmlformats.org/drawingml/2006/main">
              <a:ext uri="{FF2B5EF4-FFF2-40B4-BE49-F238E27FC236}">
                <a16:creationId xmlns:a16="http://schemas.microsoft.com/office/drawing/2014/main" id="{8AAAD60D-5567-49F5-B7C7-BE6F9E122FA2}"/>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UBTECH</a:t>
            </a:r>
          </a:p>
        </p:txBody>
      </p:sp>
      <p:sp>
        <p:nvSpPr>
          <p:cNvPr id="7" name="text-3xdcwjd21ui">
            <a:extLst xmlns:a="http://schemas.openxmlformats.org/drawingml/2006/main">
              <a:ext uri="{FF2B5EF4-FFF2-40B4-BE49-F238E27FC236}">
                <a16:creationId xmlns:a16="http://schemas.microsoft.com/office/drawing/2014/main" id="{37E50F7F-3F41-44BA-BA70-A71BCEED16E5}"/>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24</a:t>
            </a:r>
          </a:p>
        </p:txBody>
      </p:sp>
      <p:sp>
        <p:nvSpPr>
          <p:cNvPr id="8" name="text-0ma7mzoascn9">
            <a:extLst xmlns:a="http://schemas.openxmlformats.org/drawingml/2006/main">
              <a:ext uri="{FF2B5EF4-FFF2-40B4-BE49-F238E27FC236}">
                <a16:creationId xmlns:a16="http://schemas.microsoft.com/office/drawing/2014/main" id="{6C6DF273-16B9-4C9F-9BA1-FBF03631E5DA}"/>
              </a:ext>
            </a:extLst>
          </p:cNvPr>
          <p:cNvSpPr>
            <a:spLocks xmlns:a="http://schemas.openxmlformats.org/drawingml/2006/main" noGrp="1"/>
          </p:cNvSpPr>
          <p:nvPr/>
        </p:nvSpPr>
        <p:spPr>
          <a:xfrm xmlns:a="http://schemas.openxmlformats.org/drawingml/2006/main">
            <a:off x="609600" y="2647950"/>
            <a:ext cx="4667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1">
                <a:solidFill>
                  <a:srgbClr val="087D78"/>
                </a:solidFill>
                <a:latin typeface="DejaVu Sans"/>
                <a:ea typeface="DejaVu Sans"/>
                <a:cs typeface="DejaVu Sans"/>
              </a:defRPr>
            </a:defPPr>
            <a:lvl1pPr algn="l">
              <a:defRPr sz="6450" b="1">
                <a:solidFill>
                  <a:srgbClr val="087D78"/>
                </a:solidFill>
                <a:latin typeface="DejaVu Sans"/>
                <a:ea typeface="DejaVu Sans"/>
                <a:cs typeface="DejaVu Sans"/>
              </a:defRPr>
            </a:lvl1pPr>
            <a:lvl2pPr algn="l">
              <a:defRPr sz="6450" b="1">
                <a:solidFill>
                  <a:srgbClr val="087D78"/>
                </a:solidFill>
                <a:latin typeface="DejaVu Sans"/>
                <a:ea typeface="DejaVu Sans"/>
                <a:cs typeface="DejaVu Sans"/>
              </a:defRPr>
            </a:lvl2pPr>
            <a:lvl3pPr algn="l">
              <a:defRPr sz="6450" b="1">
                <a:solidFill>
                  <a:srgbClr val="087D78"/>
                </a:solidFill>
                <a:latin typeface="DejaVu Sans"/>
                <a:ea typeface="DejaVu Sans"/>
                <a:cs typeface="DejaVu Sans"/>
              </a:defRPr>
            </a:lvl3pPr>
            <a:lvl4pPr algn="l">
              <a:defRPr sz="6450" b="1">
                <a:solidFill>
                  <a:srgbClr val="087D78"/>
                </a:solidFill>
                <a:latin typeface="DejaVu Sans"/>
                <a:ea typeface="DejaVu Sans"/>
                <a:cs typeface="DejaVu Sans"/>
              </a:defRPr>
            </a:lvl4pPr>
            <a:lvl5pPr algn="l">
              <a:defRPr sz="6450" b="1">
                <a:solidFill>
                  <a:srgbClr val="087D78"/>
                </a:solidFill>
                <a:latin typeface="DejaVu Sans"/>
                <a:ea typeface="DejaVu Sans"/>
                <a:cs typeface="DejaVu Sans"/>
              </a:defRPr>
            </a:lvl5pPr>
            <a:lvl6pPr algn="l">
              <a:defRPr sz="6450" b="1">
                <a:solidFill>
                  <a:srgbClr val="087D78"/>
                </a:solidFill>
                <a:latin typeface="DejaVu Sans"/>
                <a:ea typeface="DejaVu Sans"/>
                <a:cs typeface="DejaVu Sans"/>
              </a:defRPr>
            </a:lvl6pPr>
            <a:lvl7pPr algn="l">
              <a:defRPr sz="6450" b="1">
                <a:solidFill>
                  <a:srgbClr val="087D78"/>
                </a:solidFill>
                <a:latin typeface="DejaVu Sans"/>
                <a:ea typeface="DejaVu Sans"/>
                <a:cs typeface="DejaVu Sans"/>
              </a:defRPr>
            </a:lvl7pPr>
            <a:lvl8pPr algn="l">
              <a:defRPr sz="6450" b="1">
                <a:solidFill>
                  <a:srgbClr val="087D78"/>
                </a:solidFill>
                <a:latin typeface="DejaVu Sans"/>
                <a:ea typeface="DejaVu Sans"/>
                <a:cs typeface="DejaVu Sans"/>
              </a:defRPr>
            </a:lvl8pPr>
            <a:lvl9pPr algn="l">
              <a:defRPr sz="6450" b="1">
                <a:solidFill>
                  <a:srgbClr val="087D78"/>
                </a:solidFill>
                <a:latin typeface="DejaVu Sans"/>
                <a:ea typeface="DejaVu Sans"/>
                <a:cs typeface="DejaVu Sans"/>
              </a:defRPr>
            </a:lvl9pPr>
          </a:lstStyle>
          <a:p xmlns:a="http://schemas.openxmlformats.org/drawingml/2006/main">
            <a:pPr algn="l">
              <a:lnSpc>
                <a:spcPct val="112000"/>
              </a:lnSpc>
              <a:buNone/>
              <a:defRPr sz="6450" b="1">
                <a:solidFill>
                  <a:srgbClr val="087D78"/>
                </a:solidFill>
                <a:latin typeface="DejaVu Sans"/>
                <a:ea typeface="DejaVu Sans"/>
                <a:cs typeface="DejaVu Sans"/>
              </a:defRPr>
            </a:pPr>
            <a:r>
              <a:rPr sz="6450" b="1">
                <a:solidFill>
                  <a:srgbClr val="087D78"/>
                </a:solidFill>
                <a:latin typeface="DejaVu Sans"/>
                <a:ea typeface="DejaVu Sans"/>
                <a:cs typeface="DejaVu Sans"/>
              </a:rPr>
              <a:t>≤ 3 min</a:t>
            </a:r>
          </a:p>
        </p:txBody>
      </p:sp>
      <p:sp>
        <p:nvSpPr>
          <p:cNvPr id="9" name="text-ny0ckdmyg7n">
            <a:extLst xmlns:a="http://schemas.openxmlformats.org/drawingml/2006/main">
              <a:ext uri="{FF2B5EF4-FFF2-40B4-BE49-F238E27FC236}">
                <a16:creationId xmlns:a16="http://schemas.microsoft.com/office/drawing/2014/main" id="{447CA9A0-59FE-48F1-995E-D3AC627BA591}"/>
              </a:ext>
            </a:extLst>
          </p:cNvPr>
          <p:cNvSpPr>
            <a:spLocks xmlns:a="http://schemas.openxmlformats.org/drawingml/2006/main" noGrp="1"/>
          </p:cNvSpPr>
          <p:nvPr/>
        </p:nvSpPr>
        <p:spPr>
          <a:xfrm xmlns:a="http://schemas.openxmlformats.org/drawingml/2006/main">
            <a:off x="5762625" y="257175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Energy</a:t>
            </a:r>
          </a:p>
        </p:txBody>
      </p:sp>
      <p:sp>
        <p:nvSpPr>
          <p:cNvPr id="10" name="text-6akjvy15jen">
            <a:extLst xmlns:a="http://schemas.openxmlformats.org/drawingml/2006/main">
              <a:ext uri="{FF2B5EF4-FFF2-40B4-BE49-F238E27FC236}">
                <a16:creationId xmlns:a16="http://schemas.microsoft.com/office/drawing/2014/main" id="{5E4F605F-D05B-4230-A036-B0E4BAA25410}"/>
              </a:ext>
            </a:extLst>
          </p:cNvPr>
          <p:cNvSpPr>
            <a:spLocks xmlns:a="http://schemas.openxmlformats.org/drawingml/2006/main" noGrp="1"/>
          </p:cNvSpPr>
          <p:nvPr/>
        </p:nvSpPr>
        <p:spPr>
          <a:xfrm xmlns:a="http://schemas.openxmlformats.org/drawingml/2006/main">
            <a:off x="5762625" y="294322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Replenishment reduces one source of downtime.</a:t>
            </a:r>
          </a:p>
        </p:txBody>
      </p:sp>
      <p:sp>
        <p:nvSpPr>
          <p:cNvPr id="11" name="text-1mwwfcm688z">
            <a:extLst xmlns:a="http://schemas.openxmlformats.org/drawingml/2006/main">
              <a:ext uri="{FF2B5EF4-FFF2-40B4-BE49-F238E27FC236}">
                <a16:creationId xmlns:a16="http://schemas.microsoft.com/office/drawing/2014/main" id="{761FD700-0FB7-4E40-B870-9772F163DC9E}"/>
              </a:ext>
            </a:extLst>
          </p:cNvPr>
          <p:cNvSpPr>
            <a:spLocks xmlns:a="http://schemas.openxmlformats.org/drawingml/2006/main" noGrp="1"/>
          </p:cNvSpPr>
          <p:nvPr/>
        </p:nvSpPr>
        <p:spPr>
          <a:xfrm xmlns:a="http://schemas.openxmlformats.org/drawingml/2006/main">
            <a:off x="5762625" y="3667125"/>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Reliability</a:t>
            </a:r>
          </a:p>
        </p:txBody>
      </p:sp>
      <p:sp>
        <p:nvSpPr>
          <p:cNvPr id="12" name="text-xaqx7awwhh">
            <a:extLst xmlns:a="http://schemas.openxmlformats.org/drawingml/2006/main">
              <a:ext uri="{FF2B5EF4-FFF2-40B4-BE49-F238E27FC236}">
                <a16:creationId xmlns:a16="http://schemas.microsoft.com/office/drawing/2014/main" id="{0A85D9BB-441E-4C85-934A-A10280BB3FB9}"/>
              </a:ext>
            </a:extLst>
          </p:cNvPr>
          <p:cNvSpPr>
            <a:spLocks xmlns:a="http://schemas.openxmlformats.org/drawingml/2006/main" noGrp="1"/>
          </p:cNvSpPr>
          <p:nvPr/>
        </p:nvSpPr>
        <p:spPr>
          <a:xfrm xmlns:a="http://schemas.openxmlformats.org/drawingml/2006/main">
            <a:off x="5762625" y="40386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Failures, parts, maintenance and assistance still matter.</a:t>
            </a:r>
          </a:p>
        </p:txBody>
      </p:sp>
      <p:sp>
        <p:nvSpPr>
          <p:cNvPr id="13" name="text-ohfsvqq9o9">
            <a:extLst xmlns:a="http://schemas.openxmlformats.org/drawingml/2006/main">
              <a:ext uri="{FF2B5EF4-FFF2-40B4-BE49-F238E27FC236}">
                <a16:creationId xmlns:a16="http://schemas.microsoft.com/office/drawing/2014/main" id="{F98C0CDB-7839-44D2-A65C-46C9452CC396}"/>
              </a:ext>
            </a:extLst>
          </p:cNvPr>
          <p:cNvSpPr>
            <a:spLocks xmlns:a="http://schemas.openxmlformats.org/drawingml/2006/main" noGrp="1"/>
          </p:cNvSpPr>
          <p:nvPr/>
        </p:nvSpPr>
        <p:spPr>
          <a:xfrm xmlns:a="http://schemas.openxmlformats.org/drawingml/2006/main">
            <a:off x="5762625" y="476250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Metric</a:t>
            </a:r>
          </a:p>
        </p:txBody>
      </p:sp>
      <p:sp>
        <p:nvSpPr>
          <p:cNvPr id="14" name="text-brt43ug1wh8">
            <a:extLst xmlns:a="http://schemas.openxmlformats.org/drawingml/2006/main">
              <a:ext uri="{FF2B5EF4-FFF2-40B4-BE49-F238E27FC236}">
                <a16:creationId xmlns:a16="http://schemas.microsoft.com/office/drawing/2014/main" id="{1B52EFFC-2E66-499E-A01F-6259088C33E5}"/>
              </a:ext>
            </a:extLst>
          </p:cNvPr>
          <p:cNvSpPr>
            <a:spLocks xmlns:a="http://schemas.openxmlformats.org/drawingml/2006/main" noGrp="1"/>
          </p:cNvSpPr>
          <p:nvPr/>
        </p:nvSpPr>
        <p:spPr>
          <a:xfrm xmlns:a="http://schemas.openxmlformats.org/drawingml/2006/main">
            <a:off x="5762625" y="513397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Availability = available hours / planned hours.</a:t>
            </a:r>
          </a:p>
        </p:txBody>
      </p:sp>
    </p:spTree>
    <p:extLst>
      <p:ext uri="{BB962C8B-B14F-4D97-AF65-F5344CB8AC3E}">
        <p14:creationId xmlns:p14="http://schemas.microsoft.com/office/powerpoint/2010/main" val="1383892284"/>
      </p:ext>
    </p:extLst>
  </p:cSld>
</p:sld>
</file>

<file path=ppt/slides/slide25.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1319CAA-60E0-4941-B616-A3E2BEA57157}"/>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gbhkpyv8n9">
            <a:extLst xmlns:a="http://schemas.openxmlformats.org/drawingml/2006/main">
              <a:ext uri="{FF2B5EF4-FFF2-40B4-BE49-F238E27FC236}">
                <a16:creationId xmlns:a16="http://schemas.microsoft.com/office/drawing/2014/main" id="{EA884032-DDF2-4C5B-8F8F-2AEC05619252}"/>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njj63eqxf5">
            <a:extLst xmlns:a="http://schemas.openxmlformats.org/drawingml/2006/main">
              <a:ext uri="{FF2B5EF4-FFF2-40B4-BE49-F238E27FC236}">
                <a16:creationId xmlns:a16="http://schemas.microsoft.com/office/drawing/2014/main" id="{586812CC-3723-4864-896A-88AD01AF358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IRON links automotive manufacturing to robotics</a:t>
            </a:r>
          </a:p>
        </p:txBody>
      </p:sp>
      <p:sp>
        <p:nvSpPr>
          <p:cNvPr id="4" name="text-hp2pd80579e">
            <a:extLst xmlns:a="http://schemas.openxmlformats.org/drawingml/2006/main">
              <a:ext uri="{FF2B5EF4-FFF2-40B4-BE49-F238E27FC236}">
                <a16:creationId xmlns:a16="http://schemas.microsoft.com/office/drawing/2014/main" id="{7E8310E5-A4BC-48EB-8D67-B9E7E3E8AB3B}"/>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Company announcement dated September 8, 2026.</a:t>
            </a:r>
          </a:p>
        </p:txBody>
      </p:sp>
      <p:sp>
        <p:nvSpPr>
          <p:cNvPr id="5" name="">
            <a:extLst xmlns:a="http://schemas.openxmlformats.org/drawingml/2006/main">
              <a:ext uri="{FF2B5EF4-FFF2-40B4-BE49-F238E27FC236}">
                <a16:creationId xmlns:a16="http://schemas.microsoft.com/office/drawing/2014/main" id="{9583B5CD-E0F2-4E99-9384-28A6A1295A2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8evew63swfq">
            <a:extLst xmlns:a="http://schemas.openxmlformats.org/drawingml/2006/main">
              <a:ext uri="{FF2B5EF4-FFF2-40B4-BE49-F238E27FC236}">
                <a16:creationId xmlns:a16="http://schemas.microsoft.com/office/drawing/2014/main" id="{7FFF1792-6F6F-49FC-AEDB-93F7A40BC4E6}"/>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XPENG</a:t>
            </a:r>
          </a:p>
        </p:txBody>
      </p:sp>
      <p:sp>
        <p:nvSpPr>
          <p:cNvPr id="7" name="text-o44t5ss5rm">
            <a:extLst xmlns:a="http://schemas.openxmlformats.org/drawingml/2006/main">
              <a:ext uri="{FF2B5EF4-FFF2-40B4-BE49-F238E27FC236}">
                <a16:creationId xmlns:a16="http://schemas.microsoft.com/office/drawing/2014/main" id="{0E5E294F-2731-41B4-9CC8-A0C7761DD5F8}"/>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25</a:t>
            </a:r>
          </a:p>
        </p:txBody>
      </p:sp>
      <p:sp>
        <p:nvSpPr>
          <p:cNvPr id="8" name="text-iz709g6e6mg">
            <a:extLst xmlns:a="http://schemas.openxmlformats.org/drawingml/2006/main">
              <a:ext uri="{FF2B5EF4-FFF2-40B4-BE49-F238E27FC236}">
                <a16:creationId xmlns:a16="http://schemas.microsoft.com/office/drawing/2014/main" id="{7C40F24A-D2DA-4E76-9A3F-D4842C9FA68D}"/>
              </a:ext>
            </a:extLst>
          </p:cNvPr>
          <p:cNvSpPr>
            <a:spLocks xmlns:a="http://schemas.openxmlformats.org/drawingml/2006/main" noGrp="1"/>
          </p:cNvSpPr>
          <p:nvPr/>
        </p:nvSpPr>
        <p:spPr>
          <a:xfrm xmlns:a="http://schemas.openxmlformats.org/drawingml/2006/main">
            <a:off x="628650" y="26289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01</a:t>
            </a:r>
          </a:p>
        </p:txBody>
      </p:sp>
      <p:sp>
        <p:nvSpPr>
          <p:cNvPr id="9" name="text-cedzzom2jqo">
            <a:extLst xmlns:a="http://schemas.openxmlformats.org/drawingml/2006/main">
              <a:ext uri="{FF2B5EF4-FFF2-40B4-BE49-F238E27FC236}">
                <a16:creationId xmlns:a16="http://schemas.microsoft.com/office/drawing/2014/main" id="{4F268CCD-5712-4074-8704-35B88DC8A83B}"/>
              </a:ext>
            </a:extLst>
          </p:cNvPr>
          <p:cNvSpPr>
            <a:spLocks xmlns:a="http://schemas.openxmlformats.org/drawingml/2006/main" noGrp="1"/>
          </p:cNvSpPr>
          <p:nvPr/>
        </p:nvSpPr>
        <p:spPr>
          <a:xfrm xmlns:a="http://schemas.openxmlformats.org/drawingml/2006/main">
            <a:off x="1238250" y="26193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Reported as completed</a:t>
            </a:r>
          </a:p>
        </p:txBody>
      </p:sp>
      <p:sp>
        <p:nvSpPr>
          <p:cNvPr id="10" name="text-89prcv9kk87">
            <a:extLst xmlns:a="http://schemas.openxmlformats.org/drawingml/2006/main">
              <a:ext uri="{FF2B5EF4-FFF2-40B4-BE49-F238E27FC236}">
                <a16:creationId xmlns:a16="http://schemas.microsoft.com/office/drawing/2014/main" id="{92535E00-51D6-410D-B439-552B5DB4D29E}"/>
              </a:ext>
            </a:extLst>
          </p:cNvPr>
          <p:cNvSpPr>
            <a:spLocks xmlns:a="http://schemas.openxmlformats.org/drawingml/2006/main" noGrp="1"/>
          </p:cNvSpPr>
          <p:nvPr/>
        </p:nvSpPr>
        <p:spPr>
          <a:xfrm xmlns:a="http://schemas.openxmlformats.org/drawingml/2006/main">
            <a:off x="4095750" y="26193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Commissioning a line and producing a robot.</a:t>
            </a:r>
          </a:p>
        </p:txBody>
      </p:sp>
      <p:sp>
        <p:nvSpPr>
          <p:cNvPr id="11" name="">
            <a:extLst xmlns:a="http://schemas.openxmlformats.org/drawingml/2006/main">
              <a:ext uri="{FF2B5EF4-FFF2-40B4-BE49-F238E27FC236}">
                <a16:creationId xmlns:a16="http://schemas.microsoft.com/office/drawing/2014/main" id="{A53EFBD7-2A96-46E9-8894-49B6E65934F6}"/>
              </a:ext>
            </a:extLst>
          </p:cNvPr>
          <p:cNvSpPr>
            <a:spLocks xmlns:a="http://schemas.openxmlformats.org/drawingml/2006/main" noGrp="1"/>
          </p:cNvSpPr>
          <p:nvPr/>
        </p:nvSpPr>
        <p:spPr>
          <a:xfrm xmlns:a="http://schemas.openxmlformats.org/drawingml/2006/main">
            <a:off x="1238250" y="338137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2" name="text-tyh9y3ekx4">
            <a:extLst xmlns:a="http://schemas.openxmlformats.org/drawingml/2006/main">
              <a:ext uri="{FF2B5EF4-FFF2-40B4-BE49-F238E27FC236}">
                <a16:creationId xmlns:a16="http://schemas.microsoft.com/office/drawing/2014/main" id="{993BB79A-9E0D-495F-AD82-69D8233CDBD7}"/>
              </a:ext>
            </a:extLst>
          </p:cNvPr>
          <p:cNvSpPr>
            <a:spLocks xmlns:a="http://schemas.openxmlformats.org/drawingml/2006/main" noGrp="1"/>
          </p:cNvSpPr>
          <p:nvPr/>
        </p:nvSpPr>
        <p:spPr>
          <a:xfrm xmlns:a="http://schemas.openxmlformats.org/drawingml/2006/main">
            <a:off x="628650" y="35242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02</a:t>
            </a:r>
          </a:p>
        </p:txBody>
      </p:sp>
      <p:sp>
        <p:nvSpPr>
          <p:cNvPr id="13" name="text-8yju434ddc">
            <a:extLst xmlns:a="http://schemas.openxmlformats.org/drawingml/2006/main">
              <a:ext uri="{FF2B5EF4-FFF2-40B4-BE49-F238E27FC236}">
                <a16:creationId xmlns:a16="http://schemas.microsoft.com/office/drawing/2014/main" id="{73DCC6B3-E302-4895-8922-1F6A5D6A52AE}"/>
              </a:ext>
            </a:extLst>
          </p:cNvPr>
          <p:cNvSpPr>
            <a:spLocks xmlns:a="http://schemas.openxmlformats.org/drawingml/2006/main" noGrp="1"/>
          </p:cNvSpPr>
          <p:nvPr/>
        </p:nvSpPr>
        <p:spPr>
          <a:xfrm xmlns:a="http://schemas.openxmlformats.org/drawingml/2006/main">
            <a:off x="1238250" y="35147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Declared target</a:t>
            </a:r>
          </a:p>
        </p:txBody>
      </p:sp>
      <p:sp>
        <p:nvSpPr>
          <p:cNvPr id="14" name="text-bs86g6z102n">
            <a:extLst xmlns:a="http://schemas.openxmlformats.org/drawingml/2006/main">
              <a:ext uri="{FF2B5EF4-FFF2-40B4-BE49-F238E27FC236}">
                <a16:creationId xmlns:a16="http://schemas.microsoft.com/office/drawing/2014/main" id="{5CEDBBC7-67BF-4B0E-8756-9B03D0FEA889}"/>
              </a:ext>
            </a:extLst>
          </p:cNvPr>
          <p:cNvSpPr>
            <a:spLocks xmlns:a="http://schemas.openxmlformats.org/drawingml/2006/main" noGrp="1"/>
          </p:cNvSpPr>
          <p:nvPr/>
        </p:nvSpPr>
        <p:spPr>
          <a:xfrm xmlns:a="http://schemas.openxmlformats.org/drawingml/2006/main">
            <a:off x="4095750" y="35147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Mass production targeted for late 2026.</a:t>
            </a:r>
          </a:p>
        </p:txBody>
      </p:sp>
      <p:sp>
        <p:nvSpPr>
          <p:cNvPr id="15" name="">
            <a:extLst xmlns:a="http://schemas.openxmlformats.org/drawingml/2006/main">
              <a:ext uri="{FF2B5EF4-FFF2-40B4-BE49-F238E27FC236}">
                <a16:creationId xmlns:a16="http://schemas.microsoft.com/office/drawing/2014/main" id="{52217CB9-D361-4B6F-89AB-257188136399}"/>
              </a:ext>
            </a:extLst>
          </p:cNvPr>
          <p:cNvSpPr>
            <a:spLocks xmlns:a="http://schemas.openxmlformats.org/drawingml/2006/main" noGrp="1"/>
          </p:cNvSpPr>
          <p:nvPr/>
        </p:nvSpPr>
        <p:spPr>
          <a:xfrm xmlns:a="http://schemas.openxmlformats.org/drawingml/2006/main">
            <a:off x="1238250" y="427672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6" name="text-coxiy9j9otl">
            <a:extLst xmlns:a="http://schemas.openxmlformats.org/drawingml/2006/main">
              <a:ext uri="{FF2B5EF4-FFF2-40B4-BE49-F238E27FC236}">
                <a16:creationId xmlns:a16="http://schemas.microsoft.com/office/drawing/2014/main" id="{936CCB05-8B31-4E53-A00E-231E16BA8591}"/>
              </a:ext>
            </a:extLst>
          </p:cNvPr>
          <p:cNvSpPr>
            <a:spLocks xmlns:a="http://schemas.openxmlformats.org/drawingml/2006/main" noGrp="1"/>
          </p:cNvSpPr>
          <p:nvPr/>
        </p:nvSpPr>
        <p:spPr>
          <a:xfrm xmlns:a="http://schemas.openxmlformats.org/drawingml/2006/main">
            <a:off x="628650" y="44196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03</a:t>
            </a:r>
          </a:p>
        </p:txBody>
      </p:sp>
      <p:sp>
        <p:nvSpPr>
          <p:cNvPr id="17" name="text-w8j1rh9dy99">
            <a:extLst xmlns:a="http://schemas.openxmlformats.org/drawingml/2006/main">
              <a:ext uri="{FF2B5EF4-FFF2-40B4-BE49-F238E27FC236}">
                <a16:creationId xmlns:a16="http://schemas.microsoft.com/office/drawing/2014/main" id="{5EBC4202-AF17-4044-8C27-E30D584A48D5}"/>
              </a:ext>
            </a:extLst>
          </p:cNvPr>
          <p:cNvSpPr>
            <a:spLocks xmlns:a="http://schemas.openxmlformats.org/drawingml/2006/main" noGrp="1"/>
          </p:cNvSpPr>
          <p:nvPr/>
        </p:nvSpPr>
        <p:spPr>
          <a:xfrm xmlns:a="http://schemas.openxmlformats.org/drawingml/2006/main">
            <a:off x="1238250" y="44100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Commercial plan</a:t>
            </a:r>
          </a:p>
        </p:txBody>
      </p:sp>
      <p:sp>
        <p:nvSpPr>
          <p:cNvPr id="18" name="text-7jgwiu3wg8">
            <a:extLst xmlns:a="http://schemas.openxmlformats.org/drawingml/2006/main">
              <a:ext uri="{FF2B5EF4-FFF2-40B4-BE49-F238E27FC236}">
                <a16:creationId xmlns:a16="http://schemas.microsoft.com/office/drawing/2014/main" id="{66EA14DC-39CD-4732-9C9A-A7FD03DCC956}"/>
              </a:ext>
            </a:extLst>
          </p:cNvPr>
          <p:cNvSpPr>
            <a:spLocks xmlns:a="http://schemas.openxmlformats.org/drawingml/2006/main" noGrp="1"/>
          </p:cNvSpPr>
          <p:nvPr/>
        </p:nvSpPr>
        <p:spPr>
          <a:xfrm xmlns:a="http://schemas.openxmlformats.org/drawingml/2006/main">
            <a:off x="4095750" y="44100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Launch and deliveries planned for 2027.</a:t>
            </a:r>
          </a:p>
        </p:txBody>
      </p:sp>
    </p:spTree>
    <p:extLst>
      <p:ext uri="{BB962C8B-B14F-4D97-AF65-F5344CB8AC3E}">
        <p14:creationId xmlns:p14="http://schemas.microsoft.com/office/powerpoint/2010/main" val="2098010118"/>
      </p:ext>
    </p:extLst>
  </p:cSld>
</p:sld>
</file>

<file path=ppt/slides/slide2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CCB5C39-86A6-4AC4-A565-B63F7CBBD6EE}"/>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iij4305yls">
            <a:extLst xmlns:a="http://schemas.openxmlformats.org/drawingml/2006/main">
              <a:ext uri="{FF2B5EF4-FFF2-40B4-BE49-F238E27FC236}">
                <a16:creationId xmlns:a16="http://schemas.microsoft.com/office/drawing/2014/main" id="{2C9B35EC-59CC-4357-9EC1-A10F3C8FBB18}"/>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w02xv64h6y">
            <a:extLst xmlns:a="http://schemas.openxmlformats.org/drawingml/2006/main">
              <a:ext uri="{FF2B5EF4-FFF2-40B4-BE49-F238E27FC236}">
                <a16:creationId xmlns:a16="http://schemas.microsoft.com/office/drawing/2014/main" id="{0E167F1E-8F74-4568-9A91-65749B8B338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 useful comparison retains task, version and conditions</a:t>
            </a:r>
          </a:p>
        </p:txBody>
      </p:sp>
      <p:sp>
        <p:nvSpPr>
          <p:cNvPr id="4" name="text-3rjyu8vls3v">
            <a:extLst xmlns:a="http://schemas.openxmlformats.org/drawingml/2006/main">
              <a:ext uri="{FF2B5EF4-FFF2-40B4-BE49-F238E27FC236}">
                <a16:creationId xmlns:a16="http://schemas.microsoft.com/office/drawing/2014/main" id="{D9559ABB-BCF3-4587-A4C4-5BA8FFA24F6F}"/>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Missing data belongs in the comparison.</a:t>
            </a:r>
          </a:p>
        </p:txBody>
      </p:sp>
      <p:sp>
        <p:nvSpPr>
          <p:cNvPr id="5" name="">
            <a:extLst xmlns:a="http://schemas.openxmlformats.org/drawingml/2006/main">
              <a:ext uri="{FF2B5EF4-FFF2-40B4-BE49-F238E27FC236}">
                <a16:creationId xmlns:a16="http://schemas.microsoft.com/office/drawing/2014/main" id="{5EBE5E1C-2D9D-4FCB-A2B8-17A9698F813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ppy5cigyh7t">
            <a:extLst xmlns:a="http://schemas.openxmlformats.org/drawingml/2006/main">
              <a:ext uri="{FF2B5EF4-FFF2-40B4-BE49-F238E27FC236}">
                <a16:creationId xmlns:a16="http://schemas.microsoft.com/office/drawing/2014/main" id="{7057D8E5-BDEF-4058-BAB4-06ACBC000FCA}"/>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vlfc9n683pe">
            <a:extLst xmlns:a="http://schemas.openxmlformats.org/drawingml/2006/main">
              <a:ext uri="{FF2B5EF4-FFF2-40B4-BE49-F238E27FC236}">
                <a16:creationId xmlns:a16="http://schemas.microsoft.com/office/drawing/2014/main" id="{33BA1E83-087C-404A-B5B3-F718B120F45C}"/>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26</a:t>
            </a:r>
          </a:p>
        </p:txBody>
      </p:sp>
      <p:graphicFrame>
        <p:nvGraphicFramePr>
          <p:cNvPr id="8" name="">
            <a:extLst xmlns:a="http://schemas.openxmlformats.org/drawingml/2006/main">
              <a:ext uri="{FF2B5EF4-FFF2-40B4-BE49-F238E27FC236}">
                <a16:creationId xmlns:a16="http://schemas.microsoft.com/office/drawing/2014/main" id="{C68C46DD-D7A1-4DF0-88D9-2F61A85DF394}"/>
              </a:ext>
            </a:extLst>
          </p:cNvPr>
          <p:cNvGraphicFramePr/>
          <p:nvPr/>
        </p:nvGraphicFramePr>
        <p:xfrm>
          <a:off xmlns:a="http://schemas.openxmlformats.org/drawingml/2006/main" x="609600" y="2647950"/>
          <a:ext xmlns:a="http://schemas.openxmlformats.org/drawingml/2006/main" cx="10972800" cy="3238500"/>
        </p:xfrm>
        <a:graphic xmlns:a="http://schemas.openxmlformats.org/drawingml/2006/main">
          <a:graphicData uri="http://schemas.openxmlformats.org/drawingml/2006/table">
            <a:tbl>
              <a:tblPr/>
              <a:tblGrid>
                <a:gridCol w="3143250"/>
                <a:gridCol w="7829550"/>
              </a:tblGrid>
              <a:tr h="552450">
                <a:tc>
                  <a:txBody>
                    <a:bodyPr lIns="114300" tIns="114300" rIns="114300" bIns="114300"/>
                    <a:lstStyle/>
                    <a:p>
                      <a:r>
                        <a:rPr sz="1725" b="1">
                          <a:solidFill>
                            <a:srgbClr val="FFFFFF"/>
                          </a:solidFill>
                          <a:latin typeface="DejaVu Sans"/>
                          <a:ea typeface="DejaVu Sans"/>
                          <a:cs typeface="DejaVu Sans"/>
                        </a:rPr>
                        <a:t>Dimension</a:t>
                      </a:r>
                    </a:p>
                  </a:txBody>
                  <a:tcPr marL="91440" marR="91440" marT="45720" marB="45720">
                    <a:lnL w="9525">
                      <a:solidFill>
                        <a:srgbClr val="CCD8D6"/>
                      </a:solidFill>
                      <a:prstDash val="solid"/>
                    </a:lnL>
                    <a:lnR w="9525">
                      <a:solidFill>
                        <a:srgbClr val="CCD8D6"/>
                      </a:solidFill>
                      <a:prstDash val="solid"/>
                    </a:lnR>
                    <a:lnT w="9525">
                      <a:solidFill>
                        <a:srgbClr val="CCD8D6"/>
                      </a:solidFill>
                      <a:prstDash val="solid"/>
                    </a:lnT>
                    <a:lnB w="9525">
                      <a:solidFill>
                        <a:srgbClr val="CCD8D6"/>
                      </a:solidFill>
                      <a:prstDash val="solid"/>
                    </a:lnB>
                    <a:solidFill>
                      <a:srgbClr val="087D78"/>
                    </a:solidFill>
                  </a:tcPr>
                </a:tc>
                <a:tc>
                  <a:txBody>
                    <a:bodyPr lIns="114300" tIns="114300" rIns="114300" bIns="114300"/>
                    <a:lstStyle/>
                    <a:p>
                      <a:r>
                        <a:rPr sz="1725" b="1">
                          <a:solidFill>
                            <a:srgbClr val="FFFFFF"/>
                          </a:solidFill>
                          <a:latin typeface="DejaVu Sans"/>
                          <a:ea typeface="DejaVu Sans"/>
                          <a:cs typeface="DejaVu Sans"/>
                        </a:rPr>
                        <a:t>Evaluation question</a:t>
                      </a:r>
                    </a:p>
                  </a:txBody>
                  <a:tcPr marL="91440" marR="91440" marT="45720" marB="45720">
                    <a:lnR w="9525">
                      <a:solidFill>
                        <a:srgbClr val="CCD8D6"/>
                      </a:solidFill>
                      <a:prstDash val="solid"/>
                    </a:lnR>
                    <a:lnT w="9525">
                      <a:solidFill>
                        <a:srgbClr val="CCD8D6"/>
                      </a:solidFill>
                      <a:prstDash val="solid"/>
                    </a:lnT>
                    <a:lnB w="9525">
                      <a:solidFill>
                        <a:srgbClr val="CCD8D6"/>
                      </a:solidFill>
                      <a:prstDash val="solid"/>
                    </a:lnB>
                    <a:solidFill>
                      <a:srgbClr val="087D78"/>
                    </a:solidFill>
                  </a:tcPr>
                </a:tc>
              </a:tr>
              <a:tr h="552450">
                <a:tc>
                  <a:txBody>
                    <a:bodyPr lIns="114300" tIns="114300" rIns="114300" bIns="114300"/>
                    <a:lstStyle/>
                    <a:p>
                      <a:r>
                        <a:rPr sz="1725" b="0">
                          <a:solidFill>
                            <a:srgbClr val="10242B"/>
                          </a:solidFill>
                          <a:latin typeface="DejaVu Sans"/>
                          <a:ea typeface="DejaVu Sans"/>
                          <a:cs typeface="DejaVu Sans"/>
                        </a:rPr>
                        <a:t>Locomotion</a:t>
                      </a:r>
                    </a:p>
                  </a:txBody>
                  <a:tcPr marL="91440" marR="91440" marT="45720" marB="45720">
                    <a:lnL w="9525">
                      <a:solidFill>
                        <a:srgbClr val="CCD8D6"/>
                      </a:solidFill>
                      <a:prstDash val="solid"/>
                    </a:lnL>
                    <a:lnR w="9525">
                      <a:solidFill>
                        <a:srgbClr val="CCD8D6"/>
                      </a:solidFill>
                      <a:prstDash val="solid"/>
                    </a:lnR>
                    <a:lnB w="9525">
                      <a:solidFill>
                        <a:srgbClr val="CCD8D6"/>
                      </a:solidFill>
                      <a:prstDash val="solid"/>
                    </a:lnB>
                    <a:solidFill>
                      <a:srgbClr val="FFFDFA"/>
                    </a:solidFill>
                  </a:tcPr>
                </a:tc>
                <a:tc>
                  <a:txBody>
                    <a:bodyPr lIns="114300" tIns="114300" rIns="114300" bIns="114300"/>
                    <a:lstStyle/>
                    <a:p>
                      <a:r>
                        <a:rPr sz="1725" b="0">
                          <a:solidFill>
                            <a:srgbClr val="10242B"/>
                          </a:solidFill>
                          <a:latin typeface="DejaVu Sans"/>
                          <a:ea typeface="DejaVu Sans"/>
                          <a:cs typeface="DejaVu Sans"/>
                        </a:rPr>
                        <a:t>Which surface and what stability?</a:t>
                      </a:r>
                    </a:p>
                  </a:txBody>
                  <a:tcPr marL="91440" marR="91440" marT="45720" marB="45720">
                    <a:lnR w="9525">
                      <a:solidFill>
                        <a:srgbClr val="CCD8D6"/>
                      </a:solidFill>
                      <a:prstDash val="solid"/>
                    </a:lnR>
                    <a:lnB w="9525">
                      <a:solidFill>
                        <a:srgbClr val="CCD8D6"/>
                      </a:solidFill>
                      <a:prstDash val="solid"/>
                    </a:lnB>
                    <a:solidFill>
                      <a:srgbClr val="FFFDFA"/>
                    </a:solidFill>
                  </a:tcPr>
                </a:tc>
              </a:tr>
              <a:tr h="552450">
                <a:tc>
                  <a:txBody>
                    <a:bodyPr lIns="114300" tIns="114300" rIns="114300" bIns="114300"/>
                    <a:lstStyle/>
                    <a:p>
                      <a:r>
                        <a:rPr sz="1725" b="0">
                          <a:solidFill>
                            <a:srgbClr val="10242B"/>
                          </a:solidFill>
                          <a:latin typeface="DejaVu Sans"/>
                          <a:ea typeface="DejaVu Sans"/>
                          <a:cs typeface="DejaVu Sans"/>
                        </a:rPr>
                        <a:t>Manipulation</a:t>
                      </a:r>
                    </a:p>
                  </a:txBody>
                  <a:tcPr marL="91440" marR="91440" marT="45720" marB="45720">
                    <a:lnL w="9525">
                      <a:solidFill>
                        <a:srgbClr val="CCD8D6"/>
                      </a:solidFill>
                      <a:prstDash val="solid"/>
                    </a:lnL>
                    <a:lnR w="9525">
                      <a:solidFill>
                        <a:srgbClr val="CCD8D6"/>
                      </a:solidFill>
                      <a:prstDash val="solid"/>
                    </a:lnR>
                    <a:lnB w="9525">
                      <a:solidFill>
                        <a:srgbClr val="CCD8D6"/>
                      </a:solidFill>
                      <a:prstDash val="solid"/>
                    </a:lnB>
                    <a:solidFill>
                      <a:srgbClr val="E5ECE8"/>
                    </a:solidFill>
                  </a:tcPr>
                </a:tc>
                <a:tc>
                  <a:txBody>
                    <a:bodyPr lIns="114300" tIns="114300" rIns="114300" bIns="114300"/>
                    <a:lstStyle/>
                    <a:p>
                      <a:r>
                        <a:rPr sz="1725" b="0">
                          <a:solidFill>
                            <a:srgbClr val="10242B"/>
                          </a:solidFill>
                          <a:latin typeface="DejaVu Sans"/>
                          <a:ea typeface="DejaVu Sans"/>
                          <a:cs typeface="DejaVu Sans"/>
                        </a:rPr>
                        <a:t>Which object, precision and repeatability?</a:t>
                      </a:r>
                    </a:p>
                  </a:txBody>
                  <a:tcPr marL="91440" marR="91440" marT="45720" marB="45720">
                    <a:lnR w="9525">
                      <a:solidFill>
                        <a:srgbClr val="CCD8D6"/>
                      </a:solidFill>
                      <a:prstDash val="solid"/>
                    </a:lnR>
                    <a:lnB w="9525">
                      <a:solidFill>
                        <a:srgbClr val="CCD8D6"/>
                      </a:solidFill>
                      <a:prstDash val="solid"/>
                    </a:lnB>
                    <a:solidFill>
                      <a:srgbClr val="E5ECE8"/>
                    </a:solidFill>
                  </a:tcPr>
                </a:tc>
              </a:tr>
              <a:tr h="552450">
                <a:tc>
                  <a:txBody>
                    <a:bodyPr lIns="114300" tIns="114300" rIns="114300" bIns="114300"/>
                    <a:lstStyle/>
                    <a:p>
                      <a:r>
                        <a:rPr sz="1725" b="0">
                          <a:solidFill>
                            <a:srgbClr val="10242B"/>
                          </a:solidFill>
                          <a:latin typeface="DejaVu Sans"/>
                          <a:ea typeface="DejaVu Sans"/>
                          <a:cs typeface="DejaVu Sans"/>
                        </a:rPr>
                        <a:t>Autonomy</a:t>
                      </a:r>
                    </a:p>
                  </a:txBody>
                  <a:tcPr marL="91440" marR="91440" marT="45720" marB="45720">
                    <a:lnL w="9525">
                      <a:solidFill>
                        <a:srgbClr val="CCD8D6"/>
                      </a:solidFill>
                      <a:prstDash val="solid"/>
                    </a:lnL>
                    <a:lnR w="9525">
                      <a:solidFill>
                        <a:srgbClr val="CCD8D6"/>
                      </a:solidFill>
                      <a:prstDash val="solid"/>
                    </a:lnR>
                    <a:lnB w="9525">
                      <a:solidFill>
                        <a:srgbClr val="CCD8D6"/>
                      </a:solidFill>
                      <a:prstDash val="solid"/>
                    </a:lnB>
                    <a:solidFill>
                      <a:srgbClr val="FFFDFA"/>
                    </a:solidFill>
                  </a:tcPr>
                </a:tc>
                <a:tc>
                  <a:txBody>
                    <a:bodyPr lIns="114300" tIns="114300" rIns="114300" bIns="114300"/>
                    <a:lstStyle/>
                    <a:p>
                      <a:r>
                        <a:rPr sz="1725" b="0">
                          <a:solidFill>
                            <a:srgbClr val="10242B"/>
                          </a:solidFill>
                          <a:latin typeface="DejaVu Sans"/>
                          <a:ea typeface="DejaVu Sans"/>
                          <a:cs typeface="DejaVu Sans"/>
                        </a:rPr>
                        <a:t>How much intervention and remote assistance?</a:t>
                      </a:r>
                    </a:p>
                  </a:txBody>
                  <a:tcPr marL="91440" marR="91440" marT="45720" marB="45720">
                    <a:lnR w="9525">
                      <a:solidFill>
                        <a:srgbClr val="CCD8D6"/>
                      </a:solidFill>
                      <a:prstDash val="solid"/>
                    </a:lnR>
                    <a:lnB w="9525">
                      <a:solidFill>
                        <a:srgbClr val="CCD8D6"/>
                      </a:solidFill>
                      <a:prstDash val="solid"/>
                    </a:lnB>
                    <a:solidFill>
                      <a:srgbClr val="FFFDFA"/>
                    </a:solidFill>
                  </a:tcPr>
                </a:tc>
              </a:tr>
              <a:tr h="552450">
                <a:tc>
                  <a:txBody>
                    <a:bodyPr lIns="114300" tIns="114300" rIns="114300" bIns="114300"/>
                    <a:lstStyle/>
                    <a:p>
                      <a:r>
                        <a:rPr sz="1725" b="0">
                          <a:solidFill>
                            <a:srgbClr val="10242B"/>
                          </a:solidFill>
                          <a:latin typeface="DejaVu Sans"/>
                          <a:ea typeface="DejaVu Sans"/>
                          <a:cs typeface="DejaVu Sans"/>
                        </a:rPr>
                        <a:t>Operations</a:t>
                      </a:r>
                    </a:p>
                  </a:txBody>
                  <a:tcPr marL="91440" marR="91440" marT="45720" marB="45720">
                    <a:lnL w="9525">
                      <a:solidFill>
                        <a:srgbClr val="CCD8D6"/>
                      </a:solidFill>
                      <a:prstDash val="solid"/>
                    </a:lnL>
                    <a:lnR w="9525">
                      <a:solidFill>
                        <a:srgbClr val="CCD8D6"/>
                      </a:solidFill>
                      <a:prstDash val="solid"/>
                    </a:lnR>
                    <a:lnB w="9525">
                      <a:solidFill>
                        <a:srgbClr val="CCD8D6"/>
                      </a:solidFill>
                      <a:prstDash val="solid"/>
                    </a:lnB>
                    <a:solidFill>
                      <a:srgbClr val="E5ECE8"/>
                    </a:solidFill>
                  </a:tcPr>
                </a:tc>
                <a:tc>
                  <a:txBody>
                    <a:bodyPr lIns="114300" tIns="114300" rIns="114300" bIns="114300"/>
                    <a:lstStyle/>
                    <a:p>
                      <a:r>
                        <a:rPr sz="1725" b="0">
                          <a:solidFill>
                            <a:srgbClr val="10242B"/>
                          </a:solidFill>
                          <a:latin typeface="DejaVu Sans"/>
                          <a:ea typeface="DejaVu Sans"/>
                          <a:cs typeface="DejaVu Sans"/>
                        </a:rPr>
                        <a:t>What uptime and support?</a:t>
                      </a:r>
                    </a:p>
                  </a:txBody>
                  <a:tcPr marL="91440" marR="91440" marT="45720" marB="45720">
                    <a:lnR w="9525">
                      <a:solidFill>
                        <a:srgbClr val="CCD8D6"/>
                      </a:solidFill>
                      <a:prstDash val="solid"/>
                    </a:lnR>
                    <a:lnB w="9525">
                      <a:solidFill>
                        <a:srgbClr val="CCD8D6"/>
                      </a:solidFill>
                      <a:prstDash val="solid"/>
                    </a:lnB>
                    <a:solidFill>
                      <a:srgbClr val="E5ECE8"/>
                    </a:solidFill>
                  </a:tcPr>
                </a:tc>
              </a:tr>
              <a:tr h="552450">
                <a:tc>
                  <a:txBody>
                    <a:bodyPr lIns="114300" tIns="114300" rIns="114300" bIns="114300"/>
                    <a:lstStyle/>
                    <a:p>
                      <a:r>
                        <a:rPr sz="1725" b="0">
                          <a:solidFill>
                            <a:srgbClr val="10242B"/>
                          </a:solidFill>
                          <a:latin typeface="DejaVu Sans"/>
                          <a:ea typeface="DejaVu Sans"/>
                          <a:cs typeface="DejaVu Sans"/>
                        </a:rPr>
                        <a:t>Economics</a:t>
                      </a:r>
                    </a:p>
                  </a:txBody>
                  <a:tcPr marL="91440" marR="91440" marT="45720" marB="45720">
                    <a:lnL w="9525">
                      <a:solidFill>
                        <a:srgbClr val="CCD8D6"/>
                      </a:solidFill>
                      <a:prstDash val="solid"/>
                    </a:lnL>
                    <a:lnR w="9525">
                      <a:solidFill>
                        <a:srgbClr val="CCD8D6"/>
                      </a:solidFill>
                      <a:prstDash val="solid"/>
                    </a:lnR>
                    <a:lnB w="9525">
                      <a:solidFill>
                        <a:srgbClr val="CCD8D6"/>
                      </a:solidFill>
                      <a:prstDash val="solid"/>
                    </a:lnB>
                    <a:solidFill>
                      <a:srgbClr val="FFFDFA"/>
                    </a:solidFill>
                  </a:tcPr>
                </a:tc>
                <a:tc>
                  <a:txBody>
                    <a:bodyPr lIns="114300" tIns="114300" rIns="114300" bIns="114300"/>
                    <a:lstStyle/>
                    <a:p>
                      <a:r>
                        <a:rPr sz="1725" b="0">
                          <a:solidFill>
                            <a:srgbClr val="10242B"/>
                          </a:solidFill>
                          <a:latin typeface="DejaVu Sans"/>
                          <a:ea typeface="DejaVu Sans"/>
                          <a:cs typeface="DejaVu Sans"/>
                        </a:rPr>
                        <a:t>What cost per correct task?</a:t>
                      </a:r>
                    </a:p>
                  </a:txBody>
                  <a:tcPr marL="91440" marR="91440" marT="45720" marB="45720">
                    <a:lnR w="9525">
                      <a:solidFill>
                        <a:srgbClr val="CCD8D6"/>
                      </a:solidFill>
                      <a:prstDash val="solid"/>
                    </a:lnR>
                    <a:lnB w="9525">
                      <a:solidFill>
                        <a:srgbClr val="CCD8D6"/>
                      </a:solidFill>
                      <a:prstDash val="solid"/>
                    </a:lnB>
                    <a:solidFill>
                      <a:srgbClr val="FFFDFA"/>
                    </a:solidFill>
                  </a:tcPr>
                </a:tc>
              </a:tr>
            </a:tbl>
          </a:graphicData>
        </a:graphic>
      </p:graphicFrame>
    </p:spTree>
    <p:extLst>
      <p:ext uri="{BB962C8B-B14F-4D97-AF65-F5344CB8AC3E}">
        <p14:creationId xmlns:p14="http://schemas.microsoft.com/office/powerpoint/2010/main" val="646361245"/>
      </p:ext>
    </p:extLst>
  </p:cSld>
</p:sld>
</file>

<file path=ppt/slides/slide2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E35C9A4-7656-48DB-8F39-2B3DA6C1B7D5}"/>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rz929pxdpgd">
            <a:extLst xmlns:a="http://schemas.openxmlformats.org/drawingml/2006/main">
              <a:ext uri="{FF2B5EF4-FFF2-40B4-BE49-F238E27FC236}">
                <a16:creationId xmlns:a16="http://schemas.microsoft.com/office/drawing/2014/main" id="{060A9645-F711-4BBA-8DA9-DCEF6338B463}"/>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srlroxcpt48">
            <a:extLst xmlns:a="http://schemas.openxmlformats.org/drawingml/2006/main">
              <a:ext uri="{FF2B5EF4-FFF2-40B4-BE49-F238E27FC236}">
                <a16:creationId xmlns:a16="http://schemas.microsoft.com/office/drawing/2014/main" id="{4A310086-0887-4CA1-AD13-7D8AB69CB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Videos have a dedicated page for observation and discussion</a:t>
            </a:r>
          </a:p>
        </p:txBody>
      </p:sp>
      <p:sp>
        <p:nvSpPr>
          <p:cNvPr id="4" name="text-ct6ldz459y">
            <a:extLst xmlns:a="http://schemas.openxmlformats.org/drawingml/2006/main">
              <a:ext uri="{FF2B5EF4-FFF2-40B4-BE49-F238E27FC236}">
                <a16:creationId xmlns:a16="http://schemas.microsoft.com/office/drawing/2014/main" id="{D67EF2B4-3042-4AF3-B41F-F314285F6782}"/>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Each demonstration includes a question and an evidence limitation.</a:t>
            </a:r>
          </a:p>
        </p:txBody>
      </p:sp>
      <p:sp>
        <p:nvSpPr>
          <p:cNvPr id="5" name="">
            <a:extLst xmlns:a="http://schemas.openxmlformats.org/drawingml/2006/main">
              <a:ext uri="{FF2B5EF4-FFF2-40B4-BE49-F238E27FC236}">
                <a16:creationId xmlns:a16="http://schemas.microsoft.com/office/drawing/2014/main" id="{E6373496-62D4-4D27-8DBB-8D6A34A3ECB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ihmue5q4j5g">
            <a:extLst xmlns:a="http://schemas.openxmlformats.org/drawingml/2006/main">
              <a:ext uri="{FF2B5EF4-FFF2-40B4-BE49-F238E27FC236}">
                <a16:creationId xmlns:a16="http://schemas.microsoft.com/office/drawing/2014/main" id="{55557ECD-D851-41F0-BB58-B049B6B261D1}"/>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VideoLab / Unitree / XPENG / UBTECH</a:t>
            </a:r>
          </a:p>
        </p:txBody>
      </p:sp>
      <p:sp>
        <p:nvSpPr>
          <p:cNvPr id="7" name="text-x5y59oevsng">
            <a:extLst xmlns:a="http://schemas.openxmlformats.org/drawingml/2006/main">
              <a:ext uri="{FF2B5EF4-FFF2-40B4-BE49-F238E27FC236}">
                <a16:creationId xmlns:a16="http://schemas.microsoft.com/office/drawing/2014/main" id="{92F95FAA-2F30-431B-B992-780548B1D759}"/>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27</a:t>
            </a:r>
          </a:p>
        </p:txBody>
      </p:sp>
      <p:sp>
        <p:nvSpPr>
          <p:cNvPr id="8" name="">
            <a:extLst xmlns:a="http://schemas.openxmlformats.org/drawingml/2006/main">
              <a:ext uri="{FF2B5EF4-FFF2-40B4-BE49-F238E27FC236}">
                <a16:creationId xmlns:a16="http://schemas.microsoft.com/office/drawing/2014/main" id="{DC069D25-2B1C-4589-98C2-A1486FAAA312}"/>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8CA7A61-DF9D-4B62-A131-447825FFB4ED}"/>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yfewlx85gta">
            <a:extLst xmlns:a="http://schemas.openxmlformats.org/drawingml/2006/main">
              <a:ext uri="{FF2B5EF4-FFF2-40B4-BE49-F238E27FC236}">
                <a16:creationId xmlns:a16="http://schemas.microsoft.com/office/drawing/2014/main" id="{5C74B33C-6726-44F8-98D9-440123F26E8B}"/>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G1 · dynamic control</a:t>
            </a:r>
          </a:p>
        </p:txBody>
      </p:sp>
      <p:sp>
        <p:nvSpPr>
          <p:cNvPr id="11" name="text-iqeaazwhjyn">
            <a:extLst xmlns:a="http://schemas.openxmlformats.org/drawingml/2006/main">
              <a:ext uri="{FF2B5EF4-FFF2-40B4-BE49-F238E27FC236}">
                <a16:creationId xmlns:a16="http://schemas.microsoft.com/office/drawing/2014/main" id="{AD423484-B9E8-43B8-A1EC-AFE66260D253}"/>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Observe balance and motion recovery.</a:t>
            </a:r>
          </a:p>
        </p:txBody>
      </p:sp>
      <p:sp>
        <p:nvSpPr>
          <p:cNvPr id="12" name="">
            <a:extLst xmlns:a="http://schemas.openxmlformats.org/drawingml/2006/main">
              <a:ext uri="{FF2B5EF4-FFF2-40B4-BE49-F238E27FC236}">
                <a16:creationId xmlns:a16="http://schemas.microsoft.com/office/drawing/2014/main" id="{06B59C9D-E7E1-4A62-8B0F-97D97CF83292}"/>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5F32DF2-147A-47B2-906E-595DECD52088}"/>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u90xl9d2gu9">
            <a:extLst xmlns:a="http://schemas.openxmlformats.org/drawingml/2006/main">
              <a:ext uri="{FF2B5EF4-FFF2-40B4-BE49-F238E27FC236}">
                <a16:creationId xmlns:a16="http://schemas.microsoft.com/office/drawing/2014/main" id="{1F7F9BE7-D3B0-4C4D-BDDA-40FB2BB3AF7A}"/>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IRON · locomotion</a:t>
            </a:r>
          </a:p>
        </p:txBody>
      </p:sp>
      <p:sp>
        <p:nvSpPr>
          <p:cNvPr id="15" name="text-xu3bg3ckskr">
            <a:extLst xmlns:a="http://schemas.openxmlformats.org/drawingml/2006/main">
              <a:ext uri="{FF2B5EF4-FFF2-40B4-BE49-F238E27FC236}">
                <a16:creationId xmlns:a16="http://schemas.microsoft.com/office/drawing/2014/main" id="{C5F6C55F-9D60-4AF9-9787-98C0B7D7A984}"/>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Distinguish human-like appearance from autonomy.</a:t>
            </a:r>
          </a:p>
        </p:txBody>
      </p:sp>
      <p:sp>
        <p:nvSpPr>
          <p:cNvPr id="16" name="">
            <a:extLst xmlns:a="http://schemas.openxmlformats.org/drawingml/2006/main">
              <a:ext uri="{FF2B5EF4-FFF2-40B4-BE49-F238E27FC236}">
                <a16:creationId xmlns:a16="http://schemas.microsoft.com/office/drawing/2014/main" id="{B5323AAD-1827-4321-A71F-9FF6EE394A1F}"/>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877920C-DB8D-4BF2-AEDE-C0919B000029}"/>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95of6htpw3">
            <a:extLst xmlns:a="http://schemas.openxmlformats.org/drawingml/2006/main">
              <a:ext uri="{FF2B5EF4-FFF2-40B4-BE49-F238E27FC236}">
                <a16:creationId xmlns:a16="http://schemas.microsoft.com/office/drawing/2014/main" id="{C3C02391-DA7A-4B62-8CA2-B7F2EBD77B00}"/>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Walker S2 · battery</a:t>
            </a:r>
          </a:p>
        </p:txBody>
      </p:sp>
      <p:sp>
        <p:nvSpPr>
          <p:cNvPr id="19" name="text-yb7gsffaf4n">
            <a:extLst xmlns:a="http://schemas.openxmlformats.org/drawingml/2006/main">
              <a:ext uri="{FF2B5EF4-FFF2-40B4-BE49-F238E27FC236}">
                <a16:creationId xmlns:a16="http://schemas.microsoft.com/office/drawing/2014/main" id="{7B648298-A068-4C1F-91CE-D79C40038B8B}"/>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Ask what is missing to assess uptime.</a:t>
            </a:r>
          </a:p>
        </p:txBody>
      </p:sp>
    </p:spTree>
    <p:extLst>
      <p:ext uri="{BB962C8B-B14F-4D97-AF65-F5344CB8AC3E}">
        <p14:creationId xmlns:p14="http://schemas.microsoft.com/office/powerpoint/2010/main" val="1237285316"/>
      </p:ext>
    </p:extLst>
  </p:cSld>
</p:sld>
</file>

<file path=ppt/slides/slide28.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668CBD6C-4DCC-4D78-8338-587F2C3395AA}"/>
              </a:ext>
            </a:extLst>
          </p:cNvPr>
          <p:cNvCxnSpPr>
            <a:stCxn xmlns:a="http://schemas.openxmlformats.org/drawingml/2006/main" id="20" idx="0"/>
            <a:endCxn xmlns:a="http://schemas.openxmlformats.org/drawingml/2006/main" id="8" idx="2"/>
          </p:cNvCxnSpPr>
          <p:nvPr/>
        </p:nvCxnSpPr>
        <p:spPr>
          <a:xfrm xmlns:a="http://schemas.openxmlformats.org/drawingml/2006/main" flipV="1">
            <a:off x="3228975" y="4000500"/>
            <a:ext cx="0" cy="504825"/>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CCC7AF33-1600-4A18-B6A3-DC8A282FA0A1}"/>
              </a:ext>
            </a:extLst>
          </p:cNvPr>
          <p:cNvCxnSpPr>
            <a:stCxn xmlns:a="http://schemas.openxmlformats.org/drawingml/2006/main" id="16" idx="1"/>
            <a:endCxn xmlns:a="http://schemas.openxmlformats.org/drawingml/2006/main" id="20" idx="3"/>
          </p:cNvCxnSpPr>
          <p:nvPr/>
        </p:nvCxnSpPr>
        <p:spPr>
          <a:xfrm xmlns:a="http://schemas.openxmlformats.org/drawingml/2006/main" flipH="1">
            <a:off x="5372100" y="5219700"/>
            <a:ext cx="14478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93031677-89F3-48AD-8041-3CF014138897}"/>
              </a:ext>
            </a:extLst>
          </p:cNvPr>
          <p:cNvCxnSpPr>
            <a:stCxn xmlns:a="http://schemas.openxmlformats.org/drawingml/2006/main" id="12" idx="2"/>
            <a:endCxn xmlns:a="http://schemas.openxmlformats.org/drawingml/2006/main" id="16" idx="0"/>
          </p:cNvCxnSpPr>
          <p:nvPr/>
        </p:nvCxnSpPr>
        <p:spPr>
          <a:xfrm xmlns:a="http://schemas.openxmlformats.org/drawingml/2006/main">
            <a:off x="8963025" y="4000500"/>
            <a:ext cx="0" cy="504825"/>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0CA1C4AF-19C4-403E-995A-48B36CE9AD48}"/>
              </a:ext>
            </a:extLst>
          </p:cNvPr>
          <p:cNvCxnSpPr>
            <a:stCxn xmlns:a="http://schemas.openxmlformats.org/drawingml/2006/main" id="8" idx="3"/>
            <a:endCxn xmlns:a="http://schemas.openxmlformats.org/drawingml/2006/main" id="12" idx="1"/>
          </p:cNvCxnSpPr>
          <p:nvPr/>
        </p:nvCxnSpPr>
        <p:spPr>
          <a:xfrm xmlns:a="http://schemas.openxmlformats.org/drawingml/2006/main">
            <a:off x="5372100" y="3286125"/>
            <a:ext cx="14478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sp>
        <p:nvSpPr>
          <p:cNvPr id="28" name="">
            <a:extLst xmlns:a="http://schemas.openxmlformats.org/drawingml/2006/main">
              <a:ext uri="{FF2B5EF4-FFF2-40B4-BE49-F238E27FC236}">
                <a16:creationId xmlns:a16="http://schemas.microsoft.com/office/drawing/2014/main" id="{BF2BDEDD-4B74-4A60-9C62-EFE922DEE12A}"/>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mq0ablf4xn8">
            <a:extLst xmlns:a="http://schemas.openxmlformats.org/drawingml/2006/main">
              <a:ext uri="{FF2B5EF4-FFF2-40B4-BE49-F238E27FC236}">
                <a16:creationId xmlns:a16="http://schemas.microsoft.com/office/drawing/2014/main" id="{C06AA1DE-24D4-4E3B-AAFF-E5BB24057DFB}"/>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rsbxn1zjfej">
            <a:extLst xmlns:a="http://schemas.openxmlformats.org/drawingml/2006/main">
              <a:ext uri="{FF2B5EF4-FFF2-40B4-BE49-F238E27FC236}">
                <a16:creationId xmlns:a16="http://schemas.microsoft.com/office/drawing/2014/main" id="{A9869792-5DB3-42FE-96F2-CD927A98F0D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A data flywheel requires usage to improve the system</a:t>
            </a:r>
          </a:p>
        </p:txBody>
      </p:sp>
      <p:sp>
        <p:nvSpPr>
          <p:cNvPr id="4" name="text-h2czunz6kzp">
            <a:extLst xmlns:a="http://schemas.openxmlformats.org/drawingml/2006/main">
              <a:ext uri="{FF2B5EF4-FFF2-40B4-BE49-F238E27FC236}">
                <a16:creationId xmlns:a16="http://schemas.microsoft.com/office/drawing/2014/main" id="{78A96C38-3B75-46BD-84EC-BB89BD4AFB35}"/>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Interaction data connect perception, action and outcome.</a:t>
            </a:r>
          </a:p>
        </p:txBody>
      </p:sp>
      <p:sp>
        <p:nvSpPr>
          <p:cNvPr id="5" name="">
            <a:extLst xmlns:a="http://schemas.openxmlformats.org/drawingml/2006/main">
              <a:ext uri="{FF2B5EF4-FFF2-40B4-BE49-F238E27FC236}">
                <a16:creationId xmlns:a16="http://schemas.microsoft.com/office/drawing/2014/main" id="{CBBAD2FE-2EF0-468D-92D5-7B0710BB996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mks4orc2pj9">
            <a:extLst xmlns:a="http://schemas.openxmlformats.org/drawingml/2006/main">
              <a:ext uri="{FF2B5EF4-FFF2-40B4-BE49-F238E27FC236}">
                <a16:creationId xmlns:a16="http://schemas.microsoft.com/office/drawing/2014/main" id="{DF13AFC4-7E5C-46FA-91FE-F577CF9764BD}"/>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u4gee3v9hc">
            <a:extLst xmlns:a="http://schemas.openxmlformats.org/drawingml/2006/main">
              <a:ext uri="{FF2B5EF4-FFF2-40B4-BE49-F238E27FC236}">
                <a16:creationId xmlns:a16="http://schemas.microsoft.com/office/drawing/2014/main" id="{40BEE153-2372-4EE8-B189-0CCAB580C885}"/>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28</a:t>
            </a:r>
          </a:p>
        </p:txBody>
      </p:sp>
      <p:sp>
        <p:nvSpPr>
          <p:cNvPr id="8" name="">
            <a:extLst xmlns:a="http://schemas.openxmlformats.org/drawingml/2006/main">
              <a:ext uri="{FF2B5EF4-FFF2-40B4-BE49-F238E27FC236}">
                <a16:creationId xmlns:a16="http://schemas.microsoft.com/office/drawing/2014/main" id="{083C8707-8161-4DA1-AD0E-3F40EF2D8B58}"/>
              </a:ext>
            </a:extLst>
          </p:cNvPr>
          <p:cNvSpPr>
            <a:spLocks xmlns:a="http://schemas.openxmlformats.org/drawingml/2006/main" noGrp="1"/>
          </p:cNvSpPr>
          <p:nvPr/>
        </p:nvSpPr>
        <p:spPr>
          <a:xfrm xmlns:a="http://schemas.openxmlformats.org/drawingml/2006/main">
            <a:off x="1085850" y="2571750"/>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1F5CF56-6741-4099-89BE-4FE1A522AE65}"/>
              </a:ext>
            </a:extLst>
          </p:cNvPr>
          <p:cNvSpPr>
            <a:spLocks xmlns:a="http://schemas.openxmlformats.org/drawingml/2006/main" noGrp="1"/>
          </p:cNvSpPr>
          <p:nvPr/>
        </p:nvSpPr>
        <p:spPr>
          <a:xfrm xmlns:a="http://schemas.openxmlformats.org/drawingml/2006/main">
            <a:off x="1085850" y="2571750"/>
            <a:ext cx="38100" cy="14287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3xn9qf5q0u8">
            <a:extLst xmlns:a="http://schemas.openxmlformats.org/drawingml/2006/main">
              <a:ext uri="{FF2B5EF4-FFF2-40B4-BE49-F238E27FC236}">
                <a16:creationId xmlns:a16="http://schemas.microsoft.com/office/drawing/2014/main" id="{FB75B95E-B3BE-4868-B1C8-71232E3C3E75}"/>
              </a:ext>
            </a:extLst>
          </p:cNvPr>
          <p:cNvSpPr>
            <a:spLocks xmlns:a="http://schemas.openxmlformats.org/drawingml/2006/main" noGrp="1"/>
          </p:cNvSpPr>
          <p:nvPr/>
        </p:nvSpPr>
        <p:spPr>
          <a:xfrm xmlns:a="http://schemas.openxmlformats.org/drawingml/2006/main">
            <a:off x="1295400" y="2743200"/>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Operate</a:t>
            </a:r>
          </a:p>
        </p:txBody>
      </p:sp>
      <p:sp>
        <p:nvSpPr>
          <p:cNvPr id="11" name="text-vlmyr4539d">
            <a:extLst xmlns:a="http://schemas.openxmlformats.org/drawingml/2006/main">
              <a:ext uri="{FF2B5EF4-FFF2-40B4-BE49-F238E27FC236}">
                <a16:creationId xmlns:a16="http://schemas.microsoft.com/office/drawing/2014/main" id="{D4C64C07-FEED-4AB6-8844-C02053A921B6}"/>
              </a:ext>
            </a:extLst>
          </p:cNvPr>
          <p:cNvSpPr>
            <a:spLocks xmlns:a="http://schemas.openxmlformats.org/drawingml/2006/main" noGrp="1"/>
          </p:cNvSpPr>
          <p:nvPr/>
        </p:nvSpPr>
        <p:spPr>
          <a:xfrm xmlns:a="http://schemas.openxmlformats.org/drawingml/2006/main">
            <a:off x="1295400" y="3362325"/>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Execute tasks with recorded context.</a:t>
            </a:r>
          </a:p>
        </p:txBody>
      </p:sp>
      <p:sp>
        <p:nvSpPr>
          <p:cNvPr id="12" name="">
            <a:extLst xmlns:a="http://schemas.openxmlformats.org/drawingml/2006/main">
              <a:ext uri="{FF2B5EF4-FFF2-40B4-BE49-F238E27FC236}">
                <a16:creationId xmlns:a16="http://schemas.microsoft.com/office/drawing/2014/main" id="{146837BE-AE17-4181-A97D-12F45ABA13A2}"/>
              </a:ext>
            </a:extLst>
          </p:cNvPr>
          <p:cNvSpPr>
            <a:spLocks xmlns:a="http://schemas.openxmlformats.org/drawingml/2006/main" noGrp="1"/>
          </p:cNvSpPr>
          <p:nvPr/>
        </p:nvSpPr>
        <p:spPr>
          <a:xfrm xmlns:a="http://schemas.openxmlformats.org/drawingml/2006/main">
            <a:off x="6819900" y="2571750"/>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654F271-F84B-4BE1-A687-699016EDBB92}"/>
              </a:ext>
            </a:extLst>
          </p:cNvPr>
          <p:cNvSpPr>
            <a:spLocks xmlns:a="http://schemas.openxmlformats.org/drawingml/2006/main" noGrp="1"/>
          </p:cNvSpPr>
          <p:nvPr/>
        </p:nvSpPr>
        <p:spPr>
          <a:xfrm xmlns:a="http://schemas.openxmlformats.org/drawingml/2006/main">
            <a:off x="6819900" y="2571750"/>
            <a:ext cx="38100" cy="14287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8cy2uorxqp3">
            <a:extLst xmlns:a="http://schemas.openxmlformats.org/drawingml/2006/main">
              <a:ext uri="{FF2B5EF4-FFF2-40B4-BE49-F238E27FC236}">
                <a16:creationId xmlns:a16="http://schemas.microsoft.com/office/drawing/2014/main" id="{8FD158A2-C8EE-439F-8543-A9FD27FA092A}"/>
              </a:ext>
            </a:extLst>
          </p:cNvPr>
          <p:cNvSpPr>
            <a:spLocks xmlns:a="http://schemas.openxmlformats.org/drawingml/2006/main" noGrp="1"/>
          </p:cNvSpPr>
          <p:nvPr/>
        </p:nvSpPr>
        <p:spPr>
          <a:xfrm xmlns:a="http://schemas.openxmlformats.org/drawingml/2006/main">
            <a:off x="7029450" y="2743200"/>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Measure</a:t>
            </a:r>
          </a:p>
        </p:txBody>
      </p:sp>
      <p:sp>
        <p:nvSpPr>
          <p:cNvPr id="15" name="text-pz4ertkmwq">
            <a:extLst xmlns:a="http://schemas.openxmlformats.org/drawingml/2006/main">
              <a:ext uri="{FF2B5EF4-FFF2-40B4-BE49-F238E27FC236}">
                <a16:creationId xmlns:a16="http://schemas.microsoft.com/office/drawing/2014/main" id="{CEEA7B52-12E4-4550-ADB4-7FA45A4E5376}"/>
              </a:ext>
            </a:extLst>
          </p:cNvPr>
          <p:cNvSpPr>
            <a:spLocks xmlns:a="http://schemas.openxmlformats.org/drawingml/2006/main" noGrp="1"/>
          </p:cNvSpPr>
          <p:nvPr/>
        </p:nvSpPr>
        <p:spPr>
          <a:xfrm xmlns:a="http://schemas.openxmlformats.org/drawingml/2006/main">
            <a:off x="7029450" y="3362325"/>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Capture failures, interventions and outcomes.</a:t>
            </a:r>
          </a:p>
        </p:txBody>
      </p:sp>
      <p:sp>
        <p:nvSpPr>
          <p:cNvPr id="16" name="">
            <a:extLst xmlns:a="http://schemas.openxmlformats.org/drawingml/2006/main">
              <a:ext uri="{FF2B5EF4-FFF2-40B4-BE49-F238E27FC236}">
                <a16:creationId xmlns:a16="http://schemas.microsoft.com/office/drawing/2014/main" id="{17D5A6CF-F717-4A35-A0A4-C3F86AA94720}"/>
              </a:ext>
            </a:extLst>
          </p:cNvPr>
          <p:cNvSpPr>
            <a:spLocks xmlns:a="http://schemas.openxmlformats.org/drawingml/2006/main" noGrp="1"/>
          </p:cNvSpPr>
          <p:nvPr/>
        </p:nvSpPr>
        <p:spPr>
          <a:xfrm xmlns:a="http://schemas.openxmlformats.org/drawingml/2006/main">
            <a:off x="6819900" y="4505325"/>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58C7102-4DDC-4099-8EBB-7E1549EF8E4A}"/>
              </a:ext>
            </a:extLst>
          </p:cNvPr>
          <p:cNvSpPr>
            <a:spLocks xmlns:a="http://schemas.openxmlformats.org/drawingml/2006/main" noGrp="1"/>
          </p:cNvSpPr>
          <p:nvPr/>
        </p:nvSpPr>
        <p:spPr>
          <a:xfrm xmlns:a="http://schemas.openxmlformats.org/drawingml/2006/main">
            <a:off x="6819900" y="4505325"/>
            <a:ext cx="38100" cy="14287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d91sovbtns">
            <a:extLst xmlns:a="http://schemas.openxmlformats.org/drawingml/2006/main">
              <a:ext uri="{FF2B5EF4-FFF2-40B4-BE49-F238E27FC236}">
                <a16:creationId xmlns:a16="http://schemas.microsoft.com/office/drawing/2014/main" id="{CD5346BB-8FF8-4B20-91BC-504F160BACB7}"/>
              </a:ext>
            </a:extLst>
          </p:cNvPr>
          <p:cNvSpPr>
            <a:spLocks xmlns:a="http://schemas.openxmlformats.org/drawingml/2006/main" noGrp="1"/>
          </p:cNvSpPr>
          <p:nvPr/>
        </p:nvSpPr>
        <p:spPr>
          <a:xfrm xmlns:a="http://schemas.openxmlformats.org/drawingml/2006/main">
            <a:off x="7029450" y="4676775"/>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Curate</a:t>
            </a:r>
          </a:p>
        </p:txBody>
      </p:sp>
      <p:sp>
        <p:nvSpPr>
          <p:cNvPr id="19" name="text-3nmlefvirha">
            <a:extLst xmlns:a="http://schemas.openxmlformats.org/drawingml/2006/main">
              <a:ext uri="{FF2B5EF4-FFF2-40B4-BE49-F238E27FC236}">
                <a16:creationId xmlns:a16="http://schemas.microsoft.com/office/drawing/2014/main" id="{1881F1DE-DA43-4BC1-B169-593C25C22235}"/>
              </a:ext>
            </a:extLst>
          </p:cNvPr>
          <p:cNvSpPr>
            <a:spLocks xmlns:a="http://schemas.openxmlformats.org/drawingml/2006/main" noGrp="1"/>
          </p:cNvSpPr>
          <p:nvPr/>
        </p:nvSpPr>
        <p:spPr>
          <a:xfrm xmlns:a="http://schemas.openxmlformats.org/drawingml/2006/main">
            <a:off x="7029450" y="529590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Filter quality and expand useful diversity.</a:t>
            </a:r>
          </a:p>
        </p:txBody>
      </p:sp>
      <p:sp>
        <p:nvSpPr>
          <p:cNvPr id="20" name="">
            <a:extLst xmlns:a="http://schemas.openxmlformats.org/drawingml/2006/main">
              <a:ext uri="{FF2B5EF4-FFF2-40B4-BE49-F238E27FC236}">
                <a16:creationId xmlns:a16="http://schemas.microsoft.com/office/drawing/2014/main" id="{317470F2-49BD-4ED2-BBEE-D5F9B1D3E65A}"/>
              </a:ext>
            </a:extLst>
          </p:cNvPr>
          <p:cNvSpPr>
            <a:spLocks xmlns:a="http://schemas.openxmlformats.org/drawingml/2006/main" noGrp="1"/>
          </p:cNvSpPr>
          <p:nvPr/>
        </p:nvSpPr>
        <p:spPr>
          <a:xfrm xmlns:a="http://schemas.openxmlformats.org/drawingml/2006/main">
            <a:off x="1085850" y="4505325"/>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683ADE9-4C37-481E-B243-830260256B5B}"/>
              </a:ext>
            </a:extLst>
          </p:cNvPr>
          <p:cNvSpPr>
            <a:spLocks xmlns:a="http://schemas.openxmlformats.org/drawingml/2006/main" noGrp="1"/>
          </p:cNvSpPr>
          <p:nvPr/>
        </p:nvSpPr>
        <p:spPr>
          <a:xfrm xmlns:a="http://schemas.openxmlformats.org/drawingml/2006/main">
            <a:off x="1085850" y="4505325"/>
            <a:ext cx="38100" cy="14287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8wn1duwm9s">
            <a:extLst xmlns:a="http://schemas.openxmlformats.org/drawingml/2006/main">
              <a:ext uri="{FF2B5EF4-FFF2-40B4-BE49-F238E27FC236}">
                <a16:creationId xmlns:a16="http://schemas.microsoft.com/office/drawing/2014/main" id="{289577C7-B894-42C8-93FF-3EC221B1F615}"/>
              </a:ext>
            </a:extLst>
          </p:cNvPr>
          <p:cNvSpPr>
            <a:spLocks xmlns:a="http://schemas.openxmlformats.org/drawingml/2006/main" noGrp="1"/>
          </p:cNvSpPr>
          <p:nvPr/>
        </p:nvSpPr>
        <p:spPr>
          <a:xfrm xmlns:a="http://schemas.openxmlformats.org/drawingml/2006/main">
            <a:off x="1295400" y="4676775"/>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Improve</a:t>
            </a:r>
          </a:p>
        </p:txBody>
      </p:sp>
      <p:sp>
        <p:nvSpPr>
          <p:cNvPr id="23" name="text-9bifphpmhhh">
            <a:extLst xmlns:a="http://schemas.openxmlformats.org/drawingml/2006/main">
              <a:ext uri="{FF2B5EF4-FFF2-40B4-BE49-F238E27FC236}">
                <a16:creationId xmlns:a16="http://schemas.microsoft.com/office/drawing/2014/main" id="{79009277-ADCC-4650-9A5B-A201EEC02410}"/>
              </a:ext>
            </a:extLst>
          </p:cNvPr>
          <p:cNvSpPr>
            <a:spLocks xmlns:a="http://schemas.openxmlformats.org/drawingml/2006/main" noGrp="1"/>
          </p:cNvSpPr>
          <p:nvPr/>
        </p:nvSpPr>
        <p:spPr>
          <a:xfrm xmlns:a="http://schemas.openxmlformats.org/drawingml/2006/main">
            <a:off x="1295400" y="529590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Train, test and deploy an evaluated version.</a:t>
            </a:r>
          </a:p>
        </p:txBody>
      </p:sp>
    </p:spTree>
    <p:extLst>
      <p:ext uri="{BB962C8B-B14F-4D97-AF65-F5344CB8AC3E}">
        <p14:creationId xmlns:p14="http://schemas.microsoft.com/office/powerpoint/2010/main" val="597075701"/>
      </p:ext>
    </p:extLst>
  </p:cSld>
</p:sld>
</file>

<file path=ppt/slides/slide29.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5F437C7-9005-44F2-B9C3-6F36E7CC4729}"/>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rdzwguiabkq">
            <a:extLst xmlns:a="http://schemas.openxmlformats.org/drawingml/2006/main">
              <a:ext uri="{FF2B5EF4-FFF2-40B4-BE49-F238E27FC236}">
                <a16:creationId xmlns:a16="http://schemas.microsoft.com/office/drawing/2014/main" id="{02676954-8459-49F0-94B3-C67B2CC6402F}"/>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k9soqic3li">
            <a:extLst xmlns:a="http://schemas.openxmlformats.org/drawingml/2006/main">
              <a:ext uri="{FF2B5EF4-FFF2-40B4-BE49-F238E27FC236}">
                <a16:creationId xmlns:a16="http://schemas.microsoft.com/office/drawing/2014/main" id="{340E73A1-E7C4-4EE6-AAD0-1F2C29F7725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Data quality shapes transferable learning</a:t>
            </a:r>
          </a:p>
        </p:txBody>
      </p:sp>
      <p:sp>
        <p:nvSpPr>
          <p:cNvPr id="4" name="text-neka6u460y">
            <a:extLst xmlns:a="http://schemas.openxmlformats.org/drawingml/2006/main">
              <a:ext uri="{FF2B5EF4-FFF2-40B4-BE49-F238E27FC236}">
                <a16:creationId xmlns:a16="http://schemas.microsoft.com/office/drawing/2014/main" id="{424B9178-4E0F-4FA3-88A3-D45B5F1C78CF}"/>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More recorded hours do not necessarily mean more useful information.</a:t>
            </a:r>
          </a:p>
        </p:txBody>
      </p:sp>
      <p:sp>
        <p:nvSpPr>
          <p:cNvPr id="5" name="">
            <a:extLst xmlns:a="http://schemas.openxmlformats.org/drawingml/2006/main">
              <a:ext uri="{FF2B5EF4-FFF2-40B4-BE49-F238E27FC236}">
                <a16:creationId xmlns:a16="http://schemas.microsoft.com/office/drawing/2014/main" id="{5D9C2D6F-599B-4CE2-B60C-2006EB072F5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rr4e8gnfdpp">
            <a:extLst xmlns:a="http://schemas.openxmlformats.org/drawingml/2006/main">
              <a:ext uri="{FF2B5EF4-FFF2-40B4-BE49-F238E27FC236}">
                <a16:creationId xmlns:a16="http://schemas.microsoft.com/office/drawing/2014/main" id="{509CF016-1693-43C5-8744-B48E1CA14EEC}"/>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w7h7y3pnpm">
            <a:extLst xmlns:a="http://schemas.openxmlformats.org/drawingml/2006/main">
              <a:ext uri="{FF2B5EF4-FFF2-40B4-BE49-F238E27FC236}">
                <a16:creationId xmlns:a16="http://schemas.microsoft.com/office/drawing/2014/main" id="{C8EAA287-395D-4ECB-A7D0-89CCC4EBE2BD}"/>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29</a:t>
            </a:r>
          </a:p>
        </p:txBody>
      </p:sp>
      <p:sp>
        <p:nvSpPr>
          <p:cNvPr id="8" name="">
            <a:extLst xmlns:a="http://schemas.openxmlformats.org/drawingml/2006/main">
              <a:ext uri="{FF2B5EF4-FFF2-40B4-BE49-F238E27FC236}">
                <a16:creationId xmlns:a16="http://schemas.microsoft.com/office/drawing/2014/main" id="{52A648A7-9412-451F-B693-FC5F539EFFC3}"/>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AA295A4-4285-411D-AB8C-8056CE082299}"/>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8ymclx8c36o">
            <a:extLst xmlns:a="http://schemas.openxmlformats.org/drawingml/2006/main">
              <a:ext uri="{FF2B5EF4-FFF2-40B4-BE49-F238E27FC236}">
                <a16:creationId xmlns:a16="http://schemas.microsoft.com/office/drawing/2014/main" id="{DB1A1F71-9BE9-4C8B-AC8B-C9DFB812D145}"/>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Coverage</a:t>
            </a:r>
          </a:p>
        </p:txBody>
      </p:sp>
      <p:sp>
        <p:nvSpPr>
          <p:cNvPr id="11" name="text-be5vgfcr8xq">
            <a:extLst xmlns:a="http://schemas.openxmlformats.org/drawingml/2006/main">
              <a:ext uri="{FF2B5EF4-FFF2-40B4-BE49-F238E27FC236}">
                <a16:creationId xmlns:a16="http://schemas.microsoft.com/office/drawing/2014/main" id="{4F57446D-AF6D-4E26-9579-32B71E56017B}"/>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Parts, lighting, shifts and exceptions.</a:t>
            </a:r>
          </a:p>
        </p:txBody>
      </p:sp>
      <p:sp>
        <p:nvSpPr>
          <p:cNvPr id="12" name="">
            <a:extLst xmlns:a="http://schemas.openxmlformats.org/drawingml/2006/main">
              <a:ext uri="{FF2B5EF4-FFF2-40B4-BE49-F238E27FC236}">
                <a16:creationId xmlns:a16="http://schemas.microsoft.com/office/drawing/2014/main" id="{F7136080-E096-4D07-8EA4-B5771757525B}"/>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BF5CA73-346E-4294-8E21-95BD0DD50029}"/>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lz6xp5e8to">
            <a:extLst xmlns:a="http://schemas.openxmlformats.org/drawingml/2006/main">
              <a:ext uri="{FF2B5EF4-FFF2-40B4-BE49-F238E27FC236}">
                <a16:creationId xmlns:a16="http://schemas.microsoft.com/office/drawing/2014/main" id="{AA6B5358-D3E8-4BA0-BC5B-5B3CBF98F3E2}"/>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Labeling</a:t>
            </a:r>
          </a:p>
        </p:txBody>
      </p:sp>
      <p:sp>
        <p:nvSpPr>
          <p:cNvPr id="15" name="text-ure5br58uu">
            <a:extLst xmlns:a="http://schemas.openxmlformats.org/drawingml/2006/main">
              <a:ext uri="{FF2B5EF4-FFF2-40B4-BE49-F238E27FC236}">
                <a16:creationId xmlns:a16="http://schemas.microsoft.com/office/drawing/2014/main" id="{CA61B5DF-891F-4DB5-AE40-631F9CF61294}"/>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Distinguish attempt, success, failure and recovery.</a:t>
            </a:r>
          </a:p>
        </p:txBody>
      </p:sp>
      <p:sp>
        <p:nvSpPr>
          <p:cNvPr id="16" name="">
            <a:extLst xmlns:a="http://schemas.openxmlformats.org/drawingml/2006/main">
              <a:ext uri="{FF2B5EF4-FFF2-40B4-BE49-F238E27FC236}">
                <a16:creationId xmlns:a16="http://schemas.microsoft.com/office/drawing/2014/main" id="{950BB7E1-D878-4AA9-8162-BD4FF56B81D1}"/>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B4211CC-D8F2-4F51-A3D3-9709C8399273}"/>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qef393ch2ok">
            <a:extLst xmlns:a="http://schemas.openxmlformats.org/drawingml/2006/main">
              <a:ext uri="{FF2B5EF4-FFF2-40B4-BE49-F238E27FC236}">
                <a16:creationId xmlns:a16="http://schemas.microsoft.com/office/drawing/2014/main" id="{22CD2E00-8AB8-45F8-982D-47B942970410}"/>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Rights</a:t>
            </a:r>
          </a:p>
        </p:txBody>
      </p:sp>
      <p:sp>
        <p:nvSpPr>
          <p:cNvPr id="19" name="text-4j44vp9lfso">
            <a:extLst xmlns:a="http://schemas.openxmlformats.org/drawingml/2006/main">
              <a:ext uri="{FF2B5EF4-FFF2-40B4-BE49-F238E27FC236}">
                <a16:creationId xmlns:a16="http://schemas.microsoft.com/office/drawing/2014/main" id="{80B268BE-9D07-42A2-90B3-157579AAFE15}"/>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Permitted access and use of industrial data.</a:t>
            </a:r>
          </a:p>
        </p:txBody>
      </p:sp>
      <p:sp>
        <p:nvSpPr>
          <p:cNvPr id="20" name="">
            <a:extLst xmlns:a="http://schemas.openxmlformats.org/drawingml/2006/main">
              <a:ext uri="{FF2B5EF4-FFF2-40B4-BE49-F238E27FC236}">
                <a16:creationId xmlns:a16="http://schemas.microsoft.com/office/drawing/2014/main" id="{AF840866-4056-4044-B96E-C428A9931467}"/>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2FD624D-4489-46C5-8AA0-5F0837202918}"/>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uxsyc2ffx0s">
            <a:extLst xmlns:a="http://schemas.openxmlformats.org/drawingml/2006/main">
              <a:ext uri="{FF2B5EF4-FFF2-40B4-BE49-F238E27FC236}">
                <a16:creationId xmlns:a16="http://schemas.microsoft.com/office/drawing/2014/main" id="{3CB4928E-D956-47A3-BFC1-C3E21460BF4E}"/>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Transfer</a:t>
            </a:r>
          </a:p>
        </p:txBody>
      </p:sp>
      <p:sp>
        <p:nvSpPr>
          <p:cNvPr id="23" name="text-04zdoihne99x">
            <a:extLst xmlns:a="http://schemas.openxmlformats.org/drawingml/2006/main">
              <a:ext uri="{FF2B5EF4-FFF2-40B4-BE49-F238E27FC236}">
                <a16:creationId xmlns:a16="http://schemas.microsoft.com/office/drawing/2014/main" id="{456CA161-BDCD-423A-8861-8C37C631E7BD}"/>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Adaptation to different hardware and environments.</a:t>
            </a:r>
          </a:p>
        </p:txBody>
      </p:sp>
    </p:spTree>
    <p:extLst>
      <p:ext uri="{BB962C8B-B14F-4D97-AF65-F5344CB8AC3E}">
        <p14:creationId xmlns:p14="http://schemas.microsoft.com/office/powerpoint/2010/main" val="1153167091"/>
      </p:ext>
    </p:extLst>
  </p:cSld>
</p:sld>
</file>

<file path=ppt/slides/slide3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C0DAD53-1E09-4B0E-A014-78720F171D36}"/>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vgk3yb6q0wl">
            <a:extLst xmlns:a="http://schemas.openxmlformats.org/drawingml/2006/main">
              <a:ext uri="{FF2B5EF4-FFF2-40B4-BE49-F238E27FC236}">
                <a16:creationId xmlns:a16="http://schemas.microsoft.com/office/drawing/2014/main" id="{29837E05-1880-4136-AD68-8B4639E1D69E}"/>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3yax2kjle0i">
            <a:extLst xmlns:a="http://schemas.openxmlformats.org/drawingml/2006/main">
              <a:ext uri="{FF2B5EF4-FFF2-40B4-BE49-F238E27FC236}">
                <a16:creationId xmlns:a16="http://schemas.microsoft.com/office/drawing/2014/main" id="{7BEB10D6-2324-4287-BA2D-DEF0DD1CE8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Autonomy and economic evidence are separate axes</a:t>
            </a:r>
          </a:p>
        </p:txBody>
      </p:sp>
      <p:sp>
        <p:nvSpPr>
          <p:cNvPr id="4" name="text-zb6myxxfgzh">
            <a:extLst xmlns:a="http://schemas.openxmlformats.org/drawingml/2006/main">
              <a:ext uri="{FF2B5EF4-FFF2-40B4-BE49-F238E27FC236}">
                <a16:creationId xmlns:a16="http://schemas.microsoft.com/office/drawing/2014/main" id="{0FD79F5E-8154-42C4-AA4E-D251F2C089CF}"/>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Quadrants describe evidence types, not company rankings.</a:t>
            </a:r>
          </a:p>
        </p:txBody>
      </p:sp>
      <p:sp>
        <p:nvSpPr>
          <p:cNvPr id="5" name="">
            <a:extLst xmlns:a="http://schemas.openxmlformats.org/drawingml/2006/main">
              <a:ext uri="{FF2B5EF4-FFF2-40B4-BE49-F238E27FC236}">
                <a16:creationId xmlns:a16="http://schemas.microsoft.com/office/drawing/2014/main" id="{8F3B0378-A8A6-4511-9699-C3BCCCE6ED6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1f0zz28jpqr">
            <a:extLst xmlns:a="http://schemas.openxmlformats.org/drawingml/2006/main">
              <a:ext uri="{FF2B5EF4-FFF2-40B4-BE49-F238E27FC236}">
                <a16:creationId xmlns:a16="http://schemas.microsoft.com/office/drawing/2014/main" id="{B46EEDB8-DBB2-41BD-BE89-6F96E6F326EA}"/>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rsdu4q6doqn">
            <a:extLst xmlns:a="http://schemas.openxmlformats.org/drawingml/2006/main">
              <a:ext uri="{FF2B5EF4-FFF2-40B4-BE49-F238E27FC236}">
                <a16:creationId xmlns:a16="http://schemas.microsoft.com/office/drawing/2014/main" id="{A3FCB06E-1EEE-4558-9D41-E1968FEFC089}"/>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30</a:t>
            </a:r>
          </a:p>
        </p:txBody>
      </p:sp>
      <p:sp>
        <p:nvSpPr>
          <p:cNvPr id="8" name="">
            <a:extLst xmlns:a="http://schemas.openxmlformats.org/drawingml/2006/main">
              <a:ext uri="{FF2B5EF4-FFF2-40B4-BE49-F238E27FC236}">
                <a16:creationId xmlns:a16="http://schemas.microsoft.com/office/drawing/2014/main" id="{C2E5791F-A1CD-4B9F-8AF1-C6364685CEFD}"/>
              </a:ext>
            </a:extLst>
          </p:cNvPr>
          <p:cNvSpPr>
            <a:spLocks xmlns:a="http://schemas.openxmlformats.org/drawingml/2006/main" noGrp="1"/>
          </p:cNvSpPr>
          <p:nvPr/>
        </p:nvSpPr>
        <p:spPr>
          <a:xfrm xmlns:a="http://schemas.openxmlformats.org/drawingml/2006/main">
            <a:off x="1809750" y="2667000"/>
            <a:ext cx="4286250" cy="133350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text-s81kdvcgpb">
            <a:extLst xmlns:a="http://schemas.openxmlformats.org/drawingml/2006/main">
              <a:ext uri="{FF2B5EF4-FFF2-40B4-BE49-F238E27FC236}">
                <a16:creationId xmlns:a16="http://schemas.microsoft.com/office/drawing/2014/main" id="{A7FA3526-5CFD-4BE6-9ABE-6A2581E03D7B}"/>
              </a:ext>
            </a:extLst>
          </p:cNvPr>
          <p:cNvSpPr>
            <a:spLocks xmlns:a="http://schemas.openxmlformats.org/drawingml/2006/main" noGrp="1"/>
          </p:cNvSpPr>
          <p:nvPr/>
        </p:nvSpPr>
        <p:spPr>
          <a:xfrm xmlns:a="http://schemas.openxmlformats.org/drawingml/2006/main">
            <a:off x="2000250" y="2838450"/>
            <a:ext cx="3905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Profitable narrow case</a:t>
            </a:r>
          </a:p>
        </p:txBody>
      </p:sp>
      <p:sp>
        <p:nvSpPr>
          <p:cNvPr id="10" name="text-rda7kutd9bh">
            <a:extLst xmlns:a="http://schemas.openxmlformats.org/drawingml/2006/main">
              <a:ext uri="{FF2B5EF4-FFF2-40B4-BE49-F238E27FC236}">
                <a16:creationId xmlns:a16="http://schemas.microsoft.com/office/drawing/2014/main" id="{FACB3D19-A243-4D5A-A7A0-42D542671627}"/>
              </a:ext>
            </a:extLst>
          </p:cNvPr>
          <p:cNvSpPr>
            <a:spLocks xmlns:a="http://schemas.openxmlformats.org/drawingml/2006/main" noGrp="1"/>
          </p:cNvSpPr>
          <p:nvPr/>
        </p:nvSpPr>
        <p:spPr>
          <a:xfrm xmlns:a="http://schemas.openxmlformats.org/drawingml/2006/main">
            <a:off x="2000250" y="335280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Narrow task and measured costs.</a:t>
            </a:r>
          </a:p>
        </p:txBody>
      </p:sp>
      <p:sp>
        <p:nvSpPr>
          <p:cNvPr id="11" name="">
            <a:extLst xmlns:a="http://schemas.openxmlformats.org/drawingml/2006/main">
              <a:ext uri="{FF2B5EF4-FFF2-40B4-BE49-F238E27FC236}">
                <a16:creationId xmlns:a16="http://schemas.microsoft.com/office/drawing/2014/main" id="{83328D9C-2993-46C3-BB49-AC8D73CDAA6C}"/>
              </a:ext>
            </a:extLst>
          </p:cNvPr>
          <p:cNvSpPr>
            <a:spLocks xmlns:a="http://schemas.openxmlformats.org/drawingml/2006/main" noGrp="1"/>
          </p:cNvSpPr>
          <p:nvPr/>
        </p:nvSpPr>
        <p:spPr>
          <a:xfrm xmlns:a="http://schemas.openxmlformats.org/drawingml/2006/main">
            <a:off x="6381750" y="2667000"/>
            <a:ext cx="4286250" cy="1333500"/>
          </a:xfrm>
          <a:prstGeom xmlns:a="http://schemas.openxmlformats.org/drawingml/2006/main" prst="rect">
            <a:avLst/>
          </a:prstGeom>
          <a:solidFill xmlns:a="http://schemas.openxmlformats.org/drawingml/2006/main">
            <a:srgbClr val="D8EDE5"/>
          </a:solidFill>
          <a:ln xmlns:a="http://schemas.openxmlformats.org/drawingml/2006/main" w="0">
            <a:noFill/>
            <a:prstDash val="solid"/>
          </a:ln>
        </p:spPr>
      </p:sp>
      <p:sp>
        <p:nvSpPr>
          <p:cNvPr id="12" name="text-qgqgzde54d">
            <a:extLst xmlns:a="http://schemas.openxmlformats.org/drawingml/2006/main">
              <a:ext uri="{FF2B5EF4-FFF2-40B4-BE49-F238E27FC236}">
                <a16:creationId xmlns:a16="http://schemas.microsoft.com/office/drawing/2014/main" id="{6C7A0178-F747-41DC-8640-49BFE4F6E802}"/>
              </a:ext>
            </a:extLst>
          </p:cNvPr>
          <p:cNvSpPr>
            <a:spLocks xmlns:a="http://schemas.openxmlformats.org/drawingml/2006/main" noGrp="1"/>
          </p:cNvSpPr>
          <p:nvPr/>
        </p:nvSpPr>
        <p:spPr>
          <a:xfrm xmlns:a="http://schemas.openxmlformats.org/drawingml/2006/main">
            <a:off x="6572250" y="2838450"/>
            <a:ext cx="3905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Validated pilot</a:t>
            </a:r>
          </a:p>
        </p:txBody>
      </p:sp>
      <p:sp>
        <p:nvSpPr>
          <p:cNvPr id="13" name="text-mori9fv42hs">
            <a:extLst xmlns:a="http://schemas.openxmlformats.org/drawingml/2006/main">
              <a:ext uri="{FF2B5EF4-FFF2-40B4-BE49-F238E27FC236}">
                <a16:creationId xmlns:a16="http://schemas.microsoft.com/office/drawing/2014/main" id="{744CAB91-D3BE-492D-93AB-54C26BCA821B}"/>
              </a:ext>
            </a:extLst>
          </p:cNvPr>
          <p:cNvSpPr>
            <a:spLocks xmlns:a="http://schemas.openxmlformats.org/drawingml/2006/main" noGrp="1"/>
          </p:cNvSpPr>
          <p:nvPr/>
        </p:nvSpPr>
        <p:spPr>
          <a:xfrm xmlns:a="http://schemas.openxmlformats.org/drawingml/2006/main">
            <a:off x="6572250" y="335280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Autonomy and cost assessed.</a:t>
            </a:r>
          </a:p>
        </p:txBody>
      </p:sp>
      <p:sp>
        <p:nvSpPr>
          <p:cNvPr id="14" name="">
            <a:extLst xmlns:a="http://schemas.openxmlformats.org/drawingml/2006/main">
              <a:ext uri="{FF2B5EF4-FFF2-40B4-BE49-F238E27FC236}">
                <a16:creationId xmlns:a16="http://schemas.microsoft.com/office/drawing/2014/main" id="{7556D6E4-2954-48F5-8CE0-3E9515F40FBA}"/>
              </a:ext>
            </a:extLst>
          </p:cNvPr>
          <p:cNvSpPr>
            <a:spLocks xmlns:a="http://schemas.openxmlformats.org/drawingml/2006/main" noGrp="1"/>
          </p:cNvSpPr>
          <p:nvPr/>
        </p:nvSpPr>
        <p:spPr>
          <a:xfrm xmlns:a="http://schemas.openxmlformats.org/drawingml/2006/main">
            <a:off x="1809750" y="4191000"/>
            <a:ext cx="4286250" cy="133350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5" name="text-hdkchiy22dn">
            <a:extLst xmlns:a="http://schemas.openxmlformats.org/drawingml/2006/main">
              <a:ext uri="{FF2B5EF4-FFF2-40B4-BE49-F238E27FC236}">
                <a16:creationId xmlns:a16="http://schemas.microsoft.com/office/drawing/2014/main" id="{EC422BB0-5EA8-4703-A6D9-A47AB3DEACDB}"/>
              </a:ext>
            </a:extLst>
          </p:cNvPr>
          <p:cNvSpPr>
            <a:spLocks xmlns:a="http://schemas.openxmlformats.org/drawingml/2006/main" noGrp="1"/>
          </p:cNvSpPr>
          <p:nvPr/>
        </p:nvSpPr>
        <p:spPr>
          <a:xfrm xmlns:a="http://schemas.openxmlformats.org/drawingml/2006/main">
            <a:off x="2000250" y="4362450"/>
            <a:ext cx="3905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Prepared demonstration</a:t>
            </a:r>
          </a:p>
        </p:txBody>
      </p:sp>
      <p:sp>
        <p:nvSpPr>
          <p:cNvPr id="16" name="text-5nrgu3ezqf6">
            <a:extLst xmlns:a="http://schemas.openxmlformats.org/drawingml/2006/main">
              <a:ext uri="{FF2B5EF4-FFF2-40B4-BE49-F238E27FC236}">
                <a16:creationId xmlns:a16="http://schemas.microsoft.com/office/drawing/2014/main" id="{7663B79F-4697-46A5-AD8A-8471927D101D}"/>
              </a:ext>
            </a:extLst>
          </p:cNvPr>
          <p:cNvSpPr>
            <a:spLocks xmlns:a="http://schemas.openxmlformats.org/drawingml/2006/main" noGrp="1"/>
          </p:cNvSpPr>
          <p:nvPr/>
        </p:nvSpPr>
        <p:spPr>
          <a:xfrm xmlns:a="http://schemas.openxmlformats.org/drawingml/2006/main">
            <a:off x="2000250" y="487680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Little operating evidence.</a:t>
            </a:r>
          </a:p>
        </p:txBody>
      </p:sp>
      <p:sp>
        <p:nvSpPr>
          <p:cNvPr id="17" name="">
            <a:extLst xmlns:a="http://schemas.openxmlformats.org/drawingml/2006/main">
              <a:ext uri="{FF2B5EF4-FFF2-40B4-BE49-F238E27FC236}">
                <a16:creationId xmlns:a16="http://schemas.microsoft.com/office/drawing/2014/main" id="{0B3DEA5C-F42E-4CFF-9F89-98165B360CCB}"/>
              </a:ext>
            </a:extLst>
          </p:cNvPr>
          <p:cNvSpPr>
            <a:spLocks xmlns:a="http://schemas.openxmlformats.org/drawingml/2006/main" noGrp="1"/>
          </p:cNvSpPr>
          <p:nvPr/>
        </p:nvSpPr>
        <p:spPr>
          <a:xfrm xmlns:a="http://schemas.openxmlformats.org/drawingml/2006/main">
            <a:off x="6381750" y="4191000"/>
            <a:ext cx="4286250" cy="133350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8" name="text-0ccpiutt9oh">
            <a:extLst xmlns:a="http://schemas.openxmlformats.org/drawingml/2006/main">
              <a:ext uri="{FF2B5EF4-FFF2-40B4-BE49-F238E27FC236}">
                <a16:creationId xmlns:a16="http://schemas.microsoft.com/office/drawing/2014/main" id="{9DEF7FBD-BDF8-4396-8EA1-61401FBD2A0B}"/>
              </a:ext>
            </a:extLst>
          </p:cNvPr>
          <p:cNvSpPr>
            <a:spLocks xmlns:a="http://schemas.openxmlformats.org/drawingml/2006/main" noGrp="1"/>
          </p:cNvSpPr>
          <p:nvPr/>
        </p:nvSpPr>
        <p:spPr>
          <a:xfrm xmlns:a="http://schemas.openxmlformats.org/drawingml/2006/main">
            <a:off x="6572250" y="4362450"/>
            <a:ext cx="3905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Autonomous demo</a:t>
            </a:r>
          </a:p>
        </p:txBody>
      </p:sp>
      <p:sp>
        <p:nvSpPr>
          <p:cNvPr id="19" name="text-s1dl4yjsk">
            <a:extLst xmlns:a="http://schemas.openxmlformats.org/drawingml/2006/main">
              <a:ext uri="{FF2B5EF4-FFF2-40B4-BE49-F238E27FC236}">
                <a16:creationId xmlns:a16="http://schemas.microsoft.com/office/drawing/2014/main" id="{D168C16F-118B-47A1-A45C-D100CD94A1B1}"/>
              </a:ext>
            </a:extLst>
          </p:cNvPr>
          <p:cNvSpPr>
            <a:spLocks xmlns:a="http://schemas.openxmlformats.org/drawingml/2006/main" noGrp="1"/>
          </p:cNvSpPr>
          <p:nvPr/>
        </p:nvSpPr>
        <p:spPr>
          <a:xfrm xmlns:a="http://schemas.openxmlformats.org/drawingml/2006/main">
            <a:off x="6572250" y="487680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Observed capability, open economics.</a:t>
            </a:r>
          </a:p>
        </p:txBody>
      </p:sp>
      <p:sp>
        <p:nvSpPr>
          <p:cNvPr id="20" name="text-hg8lnqe38i">
            <a:extLst xmlns:a="http://schemas.openxmlformats.org/drawingml/2006/main">
              <a:ext uri="{FF2B5EF4-FFF2-40B4-BE49-F238E27FC236}">
                <a16:creationId xmlns:a16="http://schemas.microsoft.com/office/drawing/2014/main" id="{A6B5EF0A-0CCA-4602-8231-7BAE436A8C43}"/>
              </a:ext>
            </a:extLst>
          </p:cNvPr>
          <p:cNvSpPr>
            <a:spLocks xmlns:a="http://schemas.openxmlformats.org/drawingml/2006/main" noGrp="1"/>
          </p:cNvSpPr>
          <p:nvPr/>
        </p:nvSpPr>
        <p:spPr>
          <a:xfrm xmlns:a="http://schemas.openxmlformats.org/drawingml/2006/main">
            <a:off x="609600" y="2714625"/>
            <a:ext cx="11239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77078"/>
                </a:solidFill>
                <a:latin typeface="DejaVu Sans"/>
                <a:ea typeface="DejaVu Sans"/>
                <a:cs typeface="DejaVu Sans"/>
              </a:defRPr>
            </a:defPPr>
            <a:lvl1pPr algn="l">
              <a:defRPr sz="1275" b="0">
                <a:solidFill>
                  <a:srgbClr val="577078"/>
                </a:solidFill>
                <a:latin typeface="DejaVu Sans"/>
                <a:ea typeface="DejaVu Sans"/>
                <a:cs typeface="DejaVu Sans"/>
              </a:defRPr>
            </a:lvl1pPr>
            <a:lvl2pPr algn="l">
              <a:defRPr sz="1275" b="0">
                <a:solidFill>
                  <a:srgbClr val="577078"/>
                </a:solidFill>
                <a:latin typeface="DejaVu Sans"/>
                <a:ea typeface="DejaVu Sans"/>
                <a:cs typeface="DejaVu Sans"/>
              </a:defRPr>
            </a:lvl2pPr>
            <a:lvl3pPr algn="l">
              <a:defRPr sz="1275" b="0">
                <a:solidFill>
                  <a:srgbClr val="577078"/>
                </a:solidFill>
                <a:latin typeface="DejaVu Sans"/>
                <a:ea typeface="DejaVu Sans"/>
                <a:cs typeface="DejaVu Sans"/>
              </a:defRPr>
            </a:lvl3pPr>
            <a:lvl4pPr algn="l">
              <a:defRPr sz="1275" b="0">
                <a:solidFill>
                  <a:srgbClr val="577078"/>
                </a:solidFill>
                <a:latin typeface="DejaVu Sans"/>
                <a:ea typeface="DejaVu Sans"/>
                <a:cs typeface="DejaVu Sans"/>
              </a:defRPr>
            </a:lvl4pPr>
            <a:lvl5pPr algn="l">
              <a:defRPr sz="1275" b="0">
                <a:solidFill>
                  <a:srgbClr val="577078"/>
                </a:solidFill>
                <a:latin typeface="DejaVu Sans"/>
                <a:ea typeface="DejaVu Sans"/>
                <a:cs typeface="DejaVu Sans"/>
              </a:defRPr>
            </a:lvl5pPr>
            <a:lvl6pPr algn="l">
              <a:defRPr sz="1275" b="0">
                <a:solidFill>
                  <a:srgbClr val="577078"/>
                </a:solidFill>
                <a:latin typeface="DejaVu Sans"/>
                <a:ea typeface="DejaVu Sans"/>
                <a:cs typeface="DejaVu Sans"/>
              </a:defRPr>
            </a:lvl6pPr>
            <a:lvl7pPr algn="l">
              <a:defRPr sz="1275" b="0">
                <a:solidFill>
                  <a:srgbClr val="577078"/>
                </a:solidFill>
                <a:latin typeface="DejaVu Sans"/>
                <a:ea typeface="DejaVu Sans"/>
                <a:cs typeface="DejaVu Sans"/>
              </a:defRPr>
            </a:lvl7pPr>
            <a:lvl8pPr algn="l">
              <a:defRPr sz="1275" b="0">
                <a:solidFill>
                  <a:srgbClr val="577078"/>
                </a:solidFill>
                <a:latin typeface="DejaVu Sans"/>
                <a:ea typeface="DejaVu Sans"/>
                <a:cs typeface="DejaVu Sans"/>
              </a:defRPr>
            </a:lvl8pPr>
            <a:lvl9pPr algn="l">
              <a:defRPr sz="1275" b="0">
                <a:solidFill>
                  <a:srgbClr val="577078"/>
                </a:solidFill>
                <a:latin typeface="DejaVu Sans"/>
                <a:ea typeface="DejaVu Sans"/>
                <a:cs typeface="DejaVu Sans"/>
              </a:defRPr>
            </a:lvl9pPr>
          </a:lstStyle>
          <a:p xmlns:a="http://schemas.openxmlformats.org/drawingml/2006/main">
            <a:pPr algn="l">
              <a:lnSpc>
                <a:spcPct val="112000"/>
              </a:lnSpc>
              <a:buNone/>
              <a:defRPr sz="1275" b="0">
                <a:solidFill>
                  <a:srgbClr val="577078"/>
                </a:solidFill>
                <a:latin typeface="DejaVu Sans"/>
                <a:ea typeface="DejaVu Sans"/>
                <a:cs typeface="DejaVu Sans"/>
              </a:defRPr>
            </a:pPr>
            <a:r>
              <a:rPr sz="1275" b="0">
                <a:solidFill>
                  <a:srgbClr val="577078"/>
                </a:solidFill>
                <a:latin typeface="DejaVu Sans"/>
                <a:ea typeface="DejaVu Sans"/>
                <a:cs typeface="DejaVu Sans"/>
              </a:rPr>
              <a:t>More economic</a:t>
            </a:r>
          </a:p>
          <a:p xmlns:a="http://schemas.openxmlformats.org/drawingml/2006/main">
            <a:pPr algn="l">
              <a:lnSpc>
                <a:spcPct val="112000"/>
              </a:lnSpc>
              <a:buNone/>
              <a:defRPr sz="1275" b="0">
                <a:solidFill>
                  <a:srgbClr val="577078"/>
                </a:solidFill>
                <a:latin typeface="DejaVu Sans"/>
                <a:ea typeface="DejaVu Sans"/>
                <a:cs typeface="DejaVu Sans"/>
              </a:defRPr>
            </a:pPr>
            <a:r>
              <a:rPr sz="1275" b="0">
                <a:solidFill>
                  <a:srgbClr val="577078"/>
                </a:solidFill>
                <a:latin typeface="DejaVu Sans"/>
                <a:ea typeface="DejaVu Sans"/>
                <a:cs typeface="DejaVu Sans"/>
              </a:rPr>
              <a:t>evidence</a:t>
            </a:r>
          </a:p>
        </p:txBody>
      </p:sp>
      <p:sp>
        <p:nvSpPr>
          <p:cNvPr id="21" name="text-gt1zl473llc">
            <a:extLst xmlns:a="http://schemas.openxmlformats.org/drawingml/2006/main">
              <a:ext uri="{FF2B5EF4-FFF2-40B4-BE49-F238E27FC236}">
                <a16:creationId xmlns:a16="http://schemas.microsoft.com/office/drawing/2014/main" id="{CFA07816-FA7A-4327-8D35-68917425259E}"/>
              </a:ext>
            </a:extLst>
          </p:cNvPr>
          <p:cNvSpPr>
            <a:spLocks xmlns:a="http://schemas.openxmlformats.org/drawingml/2006/main" noGrp="1"/>
          </p:cNvSpPr>
          <p:nvPr/>
        </p:nvSpPr>
        <p:spPr>
          <a:xfrm xmlns:a="http://schemas.openxmlformats.org/drawingml/2006/main">
            <a:off x="952500" y="5172075"/>
            <a:ext cx="85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77078"/>
                </a:solidFill>
                <a:latin typeface="DejaVu Sans"/>
                <a:ea typeface="DejaVu Sans"/>
                <a:cs typeface="DejaVu Sans"/>
              </a:defRPr>
            </a:defPPr>
            <a:lvl1pPr algn="l">
              <a:defRPr sz="1275" b="0">
                <a:solidFill>
                  <a:srgbClr val="577078"/>
                </a:solidFill>
                <a:latin typeface="DejaVu Sans"/>
                <a:ea typeface="DejaVu Sans"/>
                <a:cs typeface="DejaVu Sans"/>
              </a:defRPr>
            </a:lvl1pPr>
            <a:lvl2pPr algn="l">
              <a:defRPr sz="1275" b="0">
                <a:solidFill>
                  <a:srgbClr val="577078"/>
                </a:solidFill>
                <a:latin typeface="DejaVu Sans"/>
                <a:ea typeface="DejaVu Sans"/>
                <a:cs typeface="DejaVu Sans"/>
              </a:defRPr>
            </a:lvl2pPr>
            <a:lvl3pPr algn="l">
              <a:defRPr sz="1275" b="0">
                <a:solidFill>
                  <a:srgbClr val="577078"/>
                </a:solidFill>
                <a:latin typeface="DejaVu Sans"/>
                <a:ea typeface="DejaVu Sans"/>
                <a:cs typeface="DejaVu Sans"/>
              </a:defRPr>
            </a:lvl3pPr>
            <a:lvl4pPr algn="l">
              <a:defRPr sz="1275" b="0">
                <a:solidFill>
                  <a:srgbClr val="577078"/>
                </a:solidFill>
                <a:latin typeface="DejaVu Sans"/>
                <a:ea typeface="DejaVu Sans"/>
                <a:cs typeface="DejaVu Sans"/>
              </a:defRPr>
            </a:lvl4pPr>
            <a:lvl5pPr algn="l">
              <a:defRPr sz="1275" b="0">
                <a:solidFill>
                  <a:srgbClr val="577078"/>
                </a:solidFill>
                <a:latin typeface="DejaVu Sans"/>
                <a:ea typeface="DejaVu Sans"/>
                <a:cs typeface="DejaVu Sans"/>
              </a:defRPr>
            </a:lvl5pPr>
            <a:lvl6pPr algn="l">
              <a:defRPr sz="1275" b="0">
                <a:solidFill>
                  <a:srgbClr val="577078"/>
                </a:solidFill>
                <a:latin typeface="DejaVu Sans"/>
                <a:ea typeface="DejaVu Sans"/>
                <a:cs typeface="DejaVu Sans"/>
              </a:defRPr>
            </a:lvl6pPr>
            <a:lvl7pPr algn="l">
              <a:defRPr sz="1275" b="0">
                <a:solidFill>
                  <a:srgbClr val="577078"/>
                </a:solidFill>
                <a:latin typeface="DejaVu Sans"/>
                <a:ea typeface="DejaVu Sans"/>
                <a:cs typeface="DejaVu Sans"/>
              </a:defRPr>
            </a:lvl7pPr>
            <a:lvl8pPr algn="l">
              <a:defRPr sz="1275" b="0">
                <a:solidFill>
                  <a:srgbClr val="577078"/>
                </a:solidFill>
                <a:latin typeface="DejaVu Sans"/>
                <a:ea typeface="DejaVu Sans"/>
                <a:cs typeface="DejaVu Sans"/>
              </a:defRPr>
            </a:lvl8pPr>
            <a:lvl9pPr algn="l">
              <a:defRPr sz="1275" b="0">
                <a:solidFill>
                  <a:srgbClr val="577078"/>
                </a:solidFill>
                <a:latin typeface="DejaVu Sans"/>
                <a:ea typeface="DejaVu Sans"/>
                <a:cs typeface="DejaVu Sans"/>
              </a:defRPr>
            </a:lvl9pPr>
          </a:lstStyle>
          <a:p xmlns:a="http://schemas.openxmlformats.org/drawingml/2006/main">
            <a:pPr algn="l">
              <a:lnSpc>
                <a:spcPct val="112000"/>
              </a:lnSpc>
              <a:buNone/>
              <a:defRPr sz="1275" b="0">
                <a:solidFill>
                  <a:srgbClr val="577078"/>
                </a:solidFill>
                <a:latin typeface="DejaVu Sans"/>
                <a:ea typeface="DejaVu Sans"/>
                <a:cs typeface="DejaVu Sans"/>
              </a:defRPr>
            </a:pPr>
            <a:r>
              <a:rPr sz="1275" b="0">
                <a:solidFill>
                  <a:srgbClr val="577078"/>
                </a:solidFill>
                <a:latin typeface="DejaVu Sans"/>
                <a:ea typeface="DejaVu Sans"/>
                <a:cs typeface="DejaVu Sans"/>
              </a:rPr>
              <a:t>Less</a:t>
            </a:r>
          </a:p>
        </p:txBody>
      </p:sp>
      <p:sp>
        <p:nvSpPr>
          <p:cNvPr id="22" name="text-ghltsg9h9r6">
            <a:extLst xmlns:a="http://schemas.openxmlformats.org/drawingml/2006/main">
              <a:ext uri="{FF2B5EF4-FFF2-40B4-BE49-F238E27FC236}">
                <a16:creationId xmlns:a16="http://schemas.microsoft.com/office/drawing/2014/main" id="{E545037C-0F0A-4121-AF43-9F1379527B6D}"/>
              </a:ext>
            </a:extLst>
          </p:cNvPr>
          <p:cNvSpPr>
            <a:spLocks xmlns:a="http://schemas.openxmlformats.org/drawingml/2006/main" noGrp="1"/>
          </p:cNvSpPr>
          <p:nvPr/>
        </p:nvSpPr>
        <p:spPr>
          <a:xfrm xmlns:a="http://schemas.openxmlformats.org/drawingml/2006/main">
            <a:off x="1809750" y="5800725"/>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77078"/>
                </a:solidFill>
                <a:latin typeface="DejaVu Sans"/>
                <a:ea typeface="DejaVu Sans"/>
                <a:cs typeface="DejaVu Sans"/>
              </a:defRPr>
            </a:defPPr>
            <a:lvl1pPr algn="l">
              <a:defRPr sz="1350" b="0">
                <a:solidFill>
                  <a:srgbClr val="577078"/>
                </a:solidFill>
                <a:latin typeface="DejaVu Sans"/>
                <a:ea typeface="DejaVu Sans"/>
                <a:cs typeface="DejaVu Sans"/>
              </a:defRPr>
            </a:lvl1pPr>
            <a:lvl2pPr algn="l">
              <a:defRPr sz="1350" b="0">
                <a:solidFill>
                  <a:srgbClr val="577078"/>
                </a:solidFill>
                <a:latin typeface="DejaVu Sans"/>
                <a:ea typeface="DejaVu Sans"/>
                <a:cs typeface="DejaVu Sans"/>
              </a:defRPr>
            </a:lvl2pPr>
            <a:lvl3pPr algn="l">
              <a:defRPr sz="1350" b="0">
                <a:solidFill>
                  <a:srgbClr val="577078"/>
                </a:solidFill>
                <a:latin typeface="DejaVu Sans"/>
                <a:ea typeface="DejaVu Sans"/>
                <a:cs typeface="DejaVu Sans"/>
              </a:defRPr>
            </a:lvl3pPr>
            <a:lvl4pPr algn="l">
              <a:defRPr sz="1350" b="0">
                <a:solidFill>
                  <a:srgbClr val="577078"/>
                </a:solidFill>
                <a:latin typeface="DejaVu Sans"/>
                <a:ea typeface="DejaVu Sans"/>
                <a:cs typeface="DejaVu Sans"/>
              </a:defRPr>
            </a:lvl4pPr>
            <a:lvl5pPr algn="l">
              <a:defRPr sz="1350" b="0">
                <a:solidFill>
                  <a:srgbClr val="577078"/>
                </a:solidFill>
                <a:latin typeface="DejaVu Sans"/>
                <a:ea typeface="DejaVu Sans"/>
                <a:cs typeface="DejaVu Sans"/>
              </a:defRPr>
            </a:lvl5pPr>
            <a:lvl6pPr algn="l">
              <a:defRPr sz="1350" b="0">
                <a:solidFill>
                  <a:srgbClr val="577078"/>
                </a:solidFill>
                <a:latin typeface="DejaVu Sans"/>
                <a:ea typeface="DejaVu Sans"/>
                <a:cs typeface="DejaVu Sans"/>
              </a:defRPr>
            </a:lvl6pPr>
            <a:lvl7pPr algn="l">
              <a:defRPr sz="1350" b="0">
                <a:solidFill>
                  <a:srgbClr val="577078"/>
                </a:solidFill>
                <a:latin typeface="DejaVu Sans"/>
                <a:ea typeface="DejaVu Sans"/>
                <a:cs typeface="DejaVu Sans"/>
              </a:defRPr>
            </a:lvl7pPr>
            <a:lvl8pPr algn="l">
              <a:defRPr sz="1350" b="0">
                <a:solidFill>
                  <a:srgbClr val="577078"/>
                </a:solidFill>
                <a:latin typeface="DejaVu Sans"/>
                <a:ea typeface="DejaVu Sans"/>
                <a:cs typeface="DejaVu Sans"/>
              </a:defRPr>
            </a:lvl8pPr>
            <a:lvl9pPr algn="l">
              <a:defRPr sz="1350" b="0">
                <a:solidFill>
                  <a:srgbClr val="577078"/>
                </a:solidFill>
                <a:latin typeface="DejaVu Sans"/>
                <a:ea typeface="DejaVu Sans"/>
                <a:cs typeface="DejaVu Sans"/>
              </a:defRPr>
            </a:lvl9pPr>
          </a:lstStyle>
          <a:p xmlns:a="http://schemas.openxmlformats.org/drawingml/2006/main">
            <a:pPr algn="l">
              <a:lnSpc>
                <a:spcPct val="112000"/>
              </a:lnSpc>
              <a:buNone/>
              <a:defRPr sz="1350" b="0">
                <a:solidFill>
                  <a:srgbClr val="577078"/>
                </a:solidFill>
                <a:latin typeface="DejaVu Sans"/>
                <a:ea typeface="DejaVu Sans"/>
                <a:cs typeface="DejaVu Sans"/>
              </a:defRPr>
            </a:pPr>
            <a:r>
              <a:rPr sz="1350" b="0">
                <a:solidFill>
                  <a:srgbClr val="577078"/>
                </a:solidFill>
                <a:latin typeface="DejaVu Sans"/>
                <a:ea typeface="DejaVu Sans"/>
                <a:cs typeface="DejaVu Sans"/>
              </a:rPr>
              <a:t>Less autonomy</a:t>
            </a:r>
          </a:p>
        </p:txBody>
      </p:sp>
      <p:sp>
        <p:nvSpPr>
          <p:cNvPr id="23" name="text-gjphnn37zzt">
            <a:extLst xmlns:a="http://schemas.openxmlformats.org/drawingml/2006/main">
              <a:ext uri="{FF2B5EF4-FFF2-40B4-BE49-F238E27FC236}">
                <a16:creationId xmlns:a16="http://schemas.microsoft.com/office/drawing/2014/main" id="{EFC8D81B-7730-4414-A595-930AD4825859}"/>
              </a:ext>
            </a:extLst>
          </p:cNvPr>
          <p:cNvSpPr>
            <a:spLocks xmlns:a="http://schemas.openxmlformats.org/drawingml/2006/main" noGrp="1"/>
          </p:cNvSpPr>
          <p:nvPr/>
        </p:nvSpPr>
        <p:spPr>
          <a:xfrm xmlns:a="http://schemas.openxmlformats.org/drawingml/2006/main">
            <a:off x="7467600" y="5800725"/>
            <a:ext cx="3476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77078"/>
                </a:solidFill>
                <a:latin typeface="DejaVu Sans"/>
                <a:ea typeface="DejaVu Sans"/>
                <a:cs typeface="DejaVu Sans"/>
              </a:defRPr>
            </a:defPPr>
            <a:lvl1pPr algn="l">
              <a:defRPr sz="1350" b="0">
                <a:solidFill>
                  <a:srgbClr val="577078"/>
                </a:solidFill>
                <a:latin typeface="DejaVu Sans"/>
                <a:ea typeface="DejaVu Sans"/>
                <a:cs typeface="DejaVu Sans"/>
              </a:defRPr>
            </a:lvl1pPr>
            <a:lvl2pPr algn="l">
              <a:defRPr sz="1350" b="0">
                <a:solidFill>
                  <a:srgbClr val="577078"/>
                </a:solidFill>
                <a:latin typeface="DejaVu Sans"/>
                <a:ea typeface="DejaVu Sans"/>
                <a:cs typeface="DejaVu Sans"/>
              </a:defRPr>
            </a:lvl2pPr>
            <a:lvl3pPr algn="l">
              <a:defRPr sz="1350" b="0">
                <a:solidFill>
                  <a:srgbClr val="577078"/>
                </a:solidFill>
                <a:latin typeface="DejaVu Sans"/>
                <a:ea typeface="DejaVu Sans"/>
                <a:cs typeface="DejaVu Sans"/>
              </a:defRPr>
            </a:lvl3pPr>
            <a:lvl4pPr algn="l">
              <a:defRPr sz="1350" b="0">
                <a:solidFill>
                  <a:srgbClr val="577078"/>
                </a:solidFill>
                <a:latin typeface="DejaVu Sans"/>
                <a:ea typeface="DejaVu Sans"/>
                <a:cs typeface="DejaVu Sans"/>
              </a:defRPr>
            </a:lvl4pPr>
            <a:lvl5pPr algn="l">
              <a:defRPr sz="1350" b="0">
                <a:solidFill>
                  <a:srgbClr val="577078"/>
                </a:solidFill>
                <a:latin typeface="DejaVu Sans"/>
                <a:ea typeface="DejaVu Sans"/>
                <a:cs typeface="DejaVu Sans"/>
              </a:defRPr>
            </a:lvl5pPr>
            <a:lvl6pPr algn="l">
              <a:defRPr sz="1350" b="0">
                <a:solidFill>
                  <a:srgbClr val="577078"/>
                </a:solidFill>
                <a:latin typeface="DejaVu Sans"/>
                <a:ea typeface="DejaVu Sans"/>
                <a:cs typeface="DejaVu Sans"/>
              </a:defRPr>
            </a:lvl6pPr>
            <a:lvl7pPr algn="l">
              <a:defRPr sz="1350" b="0">
                <a:solidFill>
                  <a:srgbClr val="577078"/>
                </a:solidFill>
                <a:latin typeface="DejaVu Sans"/>
                <a:ea typeface="DejaVu Sans"/>
                <a:cs typeface="DejaVu Sans"/>
              </a:defRPr>
            </a:lvl7pPr>
            <a:lvl8pPr algn="l">
              <a:defRPr sz="1350" b="0">
                <a:solidFill>
                  <a:srgbClr val="577078"/>
                </a:solidFill>
                <a:latin typeface="DejaVu Sans"/>
                <a:ea typeface="DejaVu Sans"/>
                <a:cs typeface="DejaVu Sans"/>
              </a:defRPr>
            </a:lvl8pPr>
            <a:lvl9pPr algn="l">
              <a:defRPr sz="1350" b="0">
                <a:solidFill>
                  <a:srgbClr val="577078"/>
                </a:solidFill>
                <a:latin typeface="DejaVu Sans"/>
                <a:ea typeface="DejaVu Sans"/>
                <a:cs typeface="DejaVu Sans"/>
              </a:defRPr>
            </a:lvl9pPr>
          </a:lstStyle>
          <a:p xmlns:a="http://schemas.openxmlformats.org/drawingml/2006/main">
            <a:pPr algn="l">
              <a:lnSpc>
                <a:spcPct val="112000"/>
              </a:lnSpc>
              <a:buNone/>
              <a:defRPr sz="1350" b="0">
                <a:solidFill>
                  <a:srgbClr val="577078"/>
                </a:solidFill>
                <a:latin typeface="DejaVu Sans"/>
                <a:ea typeface="DejaVu Sans"/>
                <a:cs typeface="DejaVu Sans"/>
              </a:defRPr>
            </a:pPr>
            <a:r>
              <a:rPr sz="1350" b="0">
                <a:solidFill>
                  <a:srgbClr val="577078"/>
                </a:solidFill>
                <a:latin typeface="DejaVu Sans"/>
                <a:ea typeface="DejaVu Sans"/>
                <a:cs typeface="DejaVu Sans"/>
              </a:rPr>
              <a:t>More autonomy</a:t>
            </a:r>
          </a:p>
        </p:txBody>
      </p:sp>
    </p:spTree>
    <p:extLst>
      <p:ext uri="{BB962C8B-B14F-4D97-AF65-F5344CB8AC3E}">
        <p14:creationId xmlns:p14="http://schemas.microsoft.com/office/powerpoint/2010/main" val="1237366350"/>
      </p:ext>
    </p:extLst>
  </p:cSld>
</p:sld>
</file>

<file path=ppt/slides/slide3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BB2C7E4-4AFA-4601-908B-855969921B20}"/>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84556y106q5">
            <a:extLst xmlns:a="http://schemas.openxmlformats.org/drawingml/2006/main">
              <a:ext uri="{FF2B5EF4-FFF2-40B4-BE49-F238E27FC236}">
                <a16:creationId xmlns:a16="http://schemas.microsoft.com/office/drawing/2014/main" id="{7213D03F-C02F-4F86-A76E-B2EEEA9D327B}"/>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f9equomiyya">
            <a:extLst xmlns:a="http://schemas.openxmlformats.org/drawingml/2006/main">
              <a:ext uri="{FF2B5EF4-FFF2-40B4-BE49-F238E27FC236}">
                <a16:creationId xmlns:a16="http://schemas.microsoft.com/office/drawing/2014/main" id="{A8BABE76-F3D7-439F-89DC-6D370B3761D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Gross throughput and valid tasks measure different things</a:t>
            </a:r>
          </a:p>
        </p:txBody>
      </p:sp>
      <p:sp>
        <p:nvSpPr>
          <p:cNvPr id="4" name="text-gwkolt6zfe7">
            <a:extLst xmlns:a="http://schemas.openxmlformats.org/drawingml/2006/main">
              <a:ext uri="{FF2B5EF4-FFF2-40B4-BE49-F238E27FC236}">
                <a16:creationId xmlns:a16="http://schemas.microsoft.com/office/drawing/2014/main" id="{EA5850AA-560C-4A63-9F52-5E27D393BB10}"/>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Success rate and availability modify useful output.</a:t>
            </a:r>
          </a:p>
        </p:txBody>
      </p:sp>
      <p:sp>
        <p:nvSpPr>
          <p:cNvPr id="5" name="">
            <a:extLst xmlns:a="http://schemas.openxmlformats.org/drawingml/2006/main">
              <a:ext uri="{FF2B5EF4-FFF2-40B4-BE49-F238E27FC236}">
                <a16:creationId xmlns:a16="http://schemas.microsoft.com/office/drawing/2014/main" id="{11D0A5D1-09F8-4A19-BD40-C336B2F82A0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vvyvm03938">
            <a:extLst xmlns:a="http://schemas.openxmlformats.org/drawingml/2006/main">
              <a:ext uri="{FF2B5EF4-FFF2-40B4-BE49-F238E27FC236}">
                <a16:creationId xmlns:a16="http://schemas.microsoft.com/office/drawing/2014/main" id="{E6408B00-C864-4796-B695-A21789769BE1}"/>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t09ihvzp0m">
            <a:extLst xmlns:a="http://schemas.openxmlformats.org/drawingml/2006/main">
              <a:ext uri="{FF2B5EF4-FFF2-40B4-BE49-F238E27FC236}">
                <a16:creationId xmlns:a16="http://schemas.microsoft.com/office/drawing/2014/main" id="{CAB26E9E-A836-4C7B-8EBC-8F2DD4298837}"/>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31</a:t>
            </a:r>
          </a:p>
        </p:txBody>
      </p:sp>
      <p:sp>
        <p:nvSpPr>
          <p:cNvPr id="8" name="text-88aeieipaun">
            <a:extLst xmlns:a="http://schemas.openxmlformats.org/drawingml/2006/main">
              <a:ext uri="{FF2B5EF4-FFF2-40B4-BE49-F238E27FC236}">
                <a16:creationId xmlns:a16="http://schemas.microsoft.com/office/drawing/2014/main" id="{A0F9A5C1-52AA-4283-A112-0ECAB8567EFC}"/>
              </a:ext>
            </a:extLst>
          </p:cNvPr>
          <p:cNvSpPr>
            <a:spLocks xmlns:a="http://schemas.openxmlformats.org/drawingml/2006/main" noGrp="1"/>
          </p:cNvSpPr>
          <p:nvPr/>
        </p:nvSpPr>
        <p:spPr>
          <a:xfrm xmlns:a="http://schemas.openxmlformats.org/drawingml/2006/main">
            <a:off x="609600" y="2619375"/>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87D78"/>
                </a:solidFill>
                <a:latin typeface="DejaVu Sans"/>
                <a:ea typeface="DejaVu Sans"/>
                <a:cs typeface="DejaVu Sans"/>
              </a:defRPr>
            </a:defPPr>
            <a:lvl1pPr algn="l">
              <a:defRPr sz="3300" b="1">
                <a:solidFill>
                  <a:srgbClr val="087D78"/>
                </a:solidFill>
                <a:latin typeface="DejaVu Sans"/>
                <a:ea typeface="DejaVu Sans"/>
                <a:cs typeface="DejaVu Sans"/>
              </a:defRPr>
            </a:lvl1pPr>
            <a:lvl2pPr algn="l">
              <a:defRPr sz="3300" b="1">
                <a:solidFill>
                  <a:srgbClr val="087D78"/>
                </a:solidFill>
                <a:latin typeface="DejaVu Sans"/>
                <a:ea typeface="DejaVu Sans"/>
                <a:cs typeface="DejaVu Sans"/>
              </a:defRPr>
            </a:lvl2pPr>
            <a:lvl3pPr algn="l">
              <a:defRPr sz="3300" b="1">
                <a:solidFill>
                  <a:srgbClr val="087D78"/>
                </a:solidFill>
                <a:latin typeface="DejaVu Sans"/>
                <a:ea typeface="DejaVu Sans"/>
                <a:cs typeface="DejaVu Sans"/>
              </a:defRPr>
            </a:lvl3pPr>
            <a:lvl4pPr algn="l">
              <a:defRPr sz="3300" b="1">
                <a:solidFill>
                  <a:srgbClr val="087D78"/>
                </a:solidFill>
                <a:latin typeface="DejaVu Sans"/>
                <a:ea typeface="DejaVu Sans"/>
                <a:cs typeface="DejaVu Sans"/>
              </a:defRPr>
            </a:lvl4pPr>
            <a:lvl5pPr algn="l">
              <a:defRPr sz="3300" b="1">
                <a:solidFill>
                  <a:srgbClr val="087D78"/>
                </a:solidFill>
                <a:latin typeface="DejaVu Sans"/>
                <a:ea typeface="DejaVu Sans"/>
                <a:cs typeface="DejaVu Sans"/>
              </a:defRPr>
            </a:lvl5pPr>
            <a:lvl6pPr algn="l">
              <a:defRPr sz="3300" b="1">
                <a:solidFill>
                  <a:srgbClr val="087D78"/>
                </a:solidFill>
                <a:latin typeface="DejaVu Sans"/>
                <a:ea typeface="DejaVu Sans"/>
                <a:cs typeface="DejaVu Sans"/>
              </a:defRPr>
            </a:lvl6pPr>
            <a:lvl7pPr algn="l">
              <a:defRPr sz="3300" b="1">
                <a:solidFill>
                  <a:srgbClr val="087D78"/>
                </a:solidFill>
                <a:latin typeface="DejaVu Sans"/>
                <a:ea typeface="DejaVu Sans"/>
                <a:cs typeface="DejaVu Sans"/>
              </a:defRPr>
            </a:lvl7pPr>
            <a:lvl8pPr algn="l">
              <a:defRPr sz="3300" b="1">
                <a:solidFill>
                  <a:srgbClr val="087D78"/>
                </a:solidFill>
                <a:latin typeface="DejaVu Sans"/>
                <a:ea typeface="DejaVu Sans"/>
                <a:cs typeface="DejaVu Sans"/>
              </a:defRPr>
            </a:lvl8pPr>
            <a:lvl9pPr algn="l">
              <a:defRPr sz="3300" b="1">
                <a:solidFill>
                  <a:srgbClr val="087D78"/>
                </a:solidFill>
                <a:latin typeface="DejaVu Sans"/>
                <a:ea typeface="DejaVu Sans"/>
                <a:cs typeface="DejaVu Sans"/>
              </a:defRPr>
            </a:lvl9pPr>
          </a:lstStyle>
          <a:p xmlns:a="http://schemas.openxmlformats.org/drawingml/2006/main">
            <a:pPr algn="l">
              <a:lnSpc>
                <a:spcPct val="112000"/>
              </a:lnSpc>
              <a:buNone/>
              <a:defRPr sz="3300" b="1">
                <a:solidFill>
                  <a:srgbClr val="087D78"/>
                </a:solidFill>
                <a:latin typeface="DejaVu Sans"/>
                <a:ea typeface="DejaVu Sans"/>
                <a:cs typeface="DejaVu Sans"/>
              </a:defRPr>
            </a:pPr>
            <a:r>
              <a:rPr sz="3300" b="1">
                <a:solidFill>
                  <a:srgbClr val="087D78"/>
                </a:solidFill>
                <a:latin typeface="DejaVu Sans"/>
                <a:ea typeface="DejaVu Sans"/>
                <a:cs typeface="DejaVu Sans"/>
              </a:rPr>
              <a:t>qᵥ = q × A × r</a:t>
            </a:r>
          </a:p>
        </p:txBody>
      </p:sp>
      <p:sp>
        <p:nvSpPr>
          <p:cNvPr id="9" name="">
            <a:extLst xmlns:a="http://schemas.openxmlformats.org/drawingml/2006/main">
              <a:ext uri="{FF2B5EF4-FFF2-40B4-BE49-F238E27FC236}">
                <a16:creationId xmlns:a16="http://schemas.microsoft.com/office/drawing/2014/main" id="{E3C76E46-3A5E-48EA-B257-3D2B2182832D}"/>
              </a:ext>
            </a:extLst>
          </p:cNvPr>
          <p:cNvSpPr>
            <a:spLocks xmlns:a="http://schemas.openxmlformats.org/drawingml/2006/main" noGrp="1"/>
          </p:cNvSpPr>
          <p:nvPr/>
        </p:nvSpPr>
        <p:spPr>
          <a:xfrm xmlns:a="http://schemas.openxmlformats.org/drawingml/2006/main">
            <a:off x="6096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B889C22-374B-4B72-ABCF-EBCEB73C2B3C}"/>
              </a:ext>
            </a:extLst>
          </p:cNvPr>
          <p:cNvSpPr>
            <a:spLocks xmlns:a="http://schemas.openxmlformats.org/drawingml/2006/main" noGrp="1"/>
          </p:cNvSpPr>
          <p:nvPr/>
        </p:nvSpPr>
        <p:spPr>
          <a:xfrm xmlns:a="http://schemas.openxmlformats.org/drawingml/2006/main">
            <a:off x="609600" y="3810000"/>
            <a:ext cx="38100" cy="204787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1" name="text-6yy9ksjlpp2">
            <a:extLst xmlns:a="http://schemas.openxmlformats.org/drawingml/2006/main">
              <a:ext uri="{FF2B5EF4-FFF2-40B4-BE49-F238E27FC236}">
                <a16:creationId xmlns:a16="http://schemas.microsoft.com/office/drawing/2014/main" id="{42592CFD-1BB9-4155-88A3-545D380916E9}"/>
              </a:ext>
            </a:extLst>
          </p:cNvPr>
          <p:cNvSpPr>
            <a:spLocks xmlns:a="http://schemas.openxmlformats.org/drawingml/2006/main" noGrp="1"/>
          </p:cNvSpPr>
          <p:nvPr/>
        </p:nvSpPr>
        <p:spPr>
          <a:xfrm xmlns:a="http://schemas.openxmlformats.org/drawingml/2006/main">
            <a:off x="8191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q · gross tasks / h</a:t>
            </a:r>
          </a:p>
        </p:txBody>
      </p:sp>
      <p:sp>
        <p:nvSpPr>
          <p:cNvPr id="12" name="text-jw6j61f3n9f">
            <a:extLst xmlns:a="http://schemas.openxmlformats.org/drawingml/2006/main">
              <a:ext uri="{FF2B5EF4-FFF2-40B4-BE49-F238E27FC236}">
                <a16:creationId xmlns:a16="http://schemas.microsoft.com/office/drawing/2014/main" id="{C63BC4A2-A1E9-48DD-9968-2401F0B24BE2}"/>
              </a:ext>
            </a:extLst>
          </p:cNvPr>
          <p:cNvSpPr>
            <a:spLocks xmlns:a="http://schemas.openxmlformats.org/drawingml/2006/main" noGrp="1"/>
          </p:cNvSpPr>
          <p:nvPr/>
        </p:nvSpPr>
        <p:spPr>
          <a:xfrm xmlns:a="http://schemas.openxmlformats.org/drawingml/2006/main">
            <a:off x="8191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Rate during an operating hour.</a:t>
            </a:r>
          </a:p>
        </p:txBody>
      </p:sp>
      <p:sp>
        <p:nvSpPr>
          <p:cNvPr id="13" name="">
            <a:extLst xmlns:a="http://schemas.openxmlformats.org/drawingml/2006/main">
              <a:ext uri="{FF2B5EF4-FFF2-40B4-BE49-F238E27FC236}">
                <a16:creationId xmlns:a16="http://schemas.microsoft.com/office/drawing/2014/main" id="{F79F5CBE-69CF-420A-994D-7A8FC0D39F47}"/>
              </a:ext>
            </a:extLst>
          </p:cNvPr>
          <p:cNvSpPr>
            <a:spLocks xmlns:a="http://schemas.openxmlformats.org/drawingml/2006/main" noGrp="1"/>
          </p:cNvSpPr>
          <p:nvPr/>
        </p:nvSpPr>
        <p:spPr>
          <a:xfrm xmlns:a="http://schemas.openxmlformats.org/drawingml/2006/main">
            <a:off x="434975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010CEEE-A295-4D19-9F2D-2A31748B373C}"/>
              </a:ext>
            </a:extLst>
          </p:cNvPr>
          <p:cNvSpPr>
            <a:spLocks xmlns:a="http://schemas.openxmlformats.org/drawingml/2006/main" noGrp="1"/>
          </p:cNvSpPr>
          <p:nvPr/>
        </p:nvSpPr>
        <p:spPr>
          <a:xfrm xmlns:a="http://schemas.openxmlformats.org/drawingml/2006/main">
            <a:off x="4349750" y="3810000"/>
            <a:ext cx="38100" cy="204787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5" name="text-qr6a3nknag">
            <a:extLst xmlns:a="http://schemas.openxmlformats.org/drawingml/2006/main">
              <a:ext uri="{FF2B5EF4-FFF2-40B4-BE49-F238E27FC236}">
                <a16:creationId xmlns:a16="http://schemas.microsoft.com/office/drawing/2014/main" id="{93543538-B20F-485D-82F6-035F6ED97502}"/>
              </a:ext>
            </a:extLst>
          </p:cNvPr>
          <p:cNvSpPr>
            <a:spLocks xmlns:a="http://schemas.openxmlformats.org/drawingml/2006/main" noGrp="1"/>
          </p:cNvSpPr>
          <p:nvPr/>
        </p:nvSpPr>
        <p:spPr>
          <a:xfrm xmlns:a="http://schemas.openxmlformats.org/drawingml/2006/main">
            <a:off x="455930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 · availability</a:t>
            </a:r>
          </a:p>
        </p:txBody>
      </p:sp>
      <p:sp>
        <p:nvSpPr>
          <p:cNvPr id="16" name="text-c8wl5ttsjzh">
            <a:extLst xmlns:a="http://schemas.openxmlformats.org/drawingml/2006/main">
              <a:ext uri="{FF2B5EF4-FFF2-40B4-BE49-F238E27FC236}">
                <a16:creationId xmlns:a16="http://schemas.microsoft.com/office/drawing/2014/main" id="{F8F5A028-744A-4130-818D-F2E3A364DA07}"/>
              </a:ext>
            </a:extLst>
          </p:cNvPr>
          <p:cNvSpPr>
            <a:spLocks xmlns:a="http://schemas.openxmlformats.org/drawingml/2006/main" noGrp="1"/>
          </p:cNvSpPr>
          <p:nvPr/>
        </p:nvSpPr>
        <p:spPr>
          <a:xfrm xmlns:a="http://schemas.openxmlformats.org/drawingml/2006/main">
            <a:off x="455930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Available share of scheduled time.</a:t>
            </a:r>
          </a:p>
        </p:txBody>
      </p:sp>
      <p:sp>
        <p:nvSpPr>
          <p:cNvPr id="17" name="">
            <a:extLst xmlns:a="http://schemas.openxmlformats.org/drawingml/2006/main">
              <a:ext uri="{FF2B5EF4-FFF2-40B4-BE49-F238E27FC236}">
                <a16:creationId xmlns:a16="http://schemas.microsoft.com/office/drawing/2014/main" id="{F5851720-1385-4DFA-8EA1-2EDF967FC2B6}"/>
              </a:ext>
            </a:extLst>
          </p:cNvPr>
          <p:cNvSpPr>
            <a:spLocks xmlns:a="http://schemas.openxmlformats.org/drawingml/2006/main" noGrp="1"/>
          </p:cNvSpPr>
          <p:nvPr/>
        </p:nvSpPr>
        <p:spPr>
          <a:xfrm xmlns:a="http://schemas.openxmlformats.org/drawingml/2006/main">
            <a:off x="80899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D00BA75-4730-4360-9894-8DEB2072FBEE}"/>
              </a:ext>
            </a:extLst>
          </p:cNvPr>
          <p:cNvSpPr>
            <a:spLocks xmlns:a="http://schemas.openxmlformats.org/drawingml/2006/main" noGrp="1"/>
          </p:cNvSpPr>
          <p:nvPr/>
        </p:nvSpPr>
        <p:spPr>
          <a:xfrm xmlns:a="http://schemas.openxmlformats.org/drawingml/2006/main">
            <a:off x="8089900" y="3810000"/>
            <a:ext cx="38100" cy="204787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9" name="text-kaf8dhr947">
            <a:extLst xmlns:a="http://schemas.openxmlformats.org/drawingml/2006/main">
              <a:ext uri="{FF2B5EF4-FFF2-40B4-BE49-F238E27FC236}">
                <a16:creationId xmlns:a16="http://schemas.microsoft.com/office/drawing/2014/main" id="{A38B426D-B8A0-45B2-BFD7-3C4766B52738}"/>
              </a:ext>
            </a:extLst>
          </p:cNvPr>
          <p:cNvSpPr>
            <a:spLocks xmlns:a="http://schemas.openxmlformats.org/drawingml/2006/main" noGrp="1"/>
          </p:cNvSpPr>
          <p:nvPr/>
        </p:nvSpPr>
        <p:spPr>
          <a:xfrm xmlns:a="http://schemas.openxmlformats.org/drawingml/2006/main">
            <a:off x="82994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 · success rate</a:t>
            </a:r>
          </a:p>
        </p:txBody>
      </p:sp>
      <p:sp>
        <p:nvSpPr>
          <p:cNvPr id="20" name="text-rkjgfdn8qn">
            <a:extLst xmlns:a="http://schemas.openxmlformats.org/drawingml/2006/main">
              <a:ext uri="{FF2B5EF4-FFF2-40B4-BE49-F238E27FC236}">
                <a16:creationId xmlns:a16="http://schemas.microsoft.com/office/drawing/2014/main" id="{404EC37D-0E1D-4B00-89C1-3FC9F23023D0}"/>
              </a:ext>
            </a:extLst>
          </p:cNvPr>
          <p:cNvSpPr>
            <a:spLocks xmlns:a="http://schemas.openxmlformats.org/drawingml/2006/main" noGrp="1"/>
          </p:cNvSpPr>
          <p:nvPr/>
        </p:nvSpPr>
        <p:spPr>
          <a:xfrm xmlns:a="http://schemas.openxmlformats.org/drawingml/2006/main">
            <a:off x="82994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Share of tasks completed correctly.</a:t>
            </a:r>
          </a:p>
        </p:txBody>
      </p:sp>
    </p:spTree>
    <p:extLst>
      <p:ext uri="{BB962C8B-B14F-4D97-AF65-F5344CB8AC3E}">
        <p14:creationId xmlns:p14="http://schemas.microsoft.com/office/powerpoint/2010/main" val="1140038790"/>
      </p:ext>
    </p:extLst>
  </p:cSld>
</p:sld>
</file>

<file path=ppt/slides/slide3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C38B8AD-43A0-4347-B587-7B9E85803AE3}"/>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w4y7oxbg7z">
            <a:extLst xmlns:a="http://schemas.openxmlformats.org/drawingml/2006/main">
              <a:ext uri="{FF2B5EF4-FFF2-40B4-BE49-F238E27FC236}">
                <a16:creationId xmlns:a16="http://schemas.microsoft.com/office/drawing/2014/main" id="{EE93A5FB-0CA5-4F0F-8CDB-EC641CCCA7D3}"/>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hdpbm2z6v9u">
            <a:extLst xmlns:a="http://schemas.openxmlformats.org/drawingml/2006/main">
              <a:ext uri="{FF2B5EF4-FFF2-40B4-BE49-F238E27FC236}">
                <a16:creationId xmlns:a16="http://schemas.microsoft.com/office/drawing/2014/main" id="{A38A89DB-DE80-4F64-A308-190E7A40D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RobotLab retains a simple energy model</a:t>
            </a:r>
          </a:p>
        </p:txBody>
      </p:sp>
      <p:sp>
        <p:nvSpPr>
          <p:cNvPr id="4" name="text-v4my4aorftm">
            <a:extLst xmlns:a="http://schemas.openxmlformats.org/drawingml/2006/main">
              <a:ext uri="{FF2B5EF4-FFF2-40B4-BE49-F238E27FC236}">
                <a16:creationId xmlns:a16="http://schemas.microsoft.com/office/drawing/2014/main" id="{504615C1-5E5A-4D2C-90CB-9940B73DC8E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The original equations are teaching assumptions.</a:t>
            </a:r>
          </a:p>
        </p:txBody>
      </p:sp>
      <p:sp>
        <p:nvSpPr>
          <p:cNvPr id="5" name="">
            <a:extLst xmlns:a="http://schemas.openxmlformats.org/drawingml/2006/main">
              <a:ext uri="{FF2B5EF4-FFF2-40B4-BE49-F238E27FC236}">
                <a16:creationId xmlns:a16="http://schemas.microsoft.com/office/drawing/2014/main" id="{6E868609-F3E6-49D7-9286-CD84F940F60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b3r0wp84oap">
            <a:extLst xmlns:a="http://schemas.openxmlformats.org/drawingml/2006/main">
              <a:ext uri="{FF2B5EF4-FFF2-40B4-BE49-F238E27FC236}">
                <a16:creationId xmlns:a16="http://schemas.microsoft.com/office/drawing/2014/main" id="{53EFD75F-4F56-4C94-A0E0-12B157BBDE26}"/>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RobotLab</a:t>
            </a:r>
          </a:p>
        </p:txBody>
      </p:sp>
      <p:sp>
        <p:nvSpPr>
          <p:cNvPr id="7" name="text-grr0p4si0h">
            <a:extLst xmlns:a="http://schemas.openxmlformats.org/drawingml/2006/main">
              <a:ext uri="{FF2B5EF4-FFF2-40B4-BE49-F238E27FC236}">
                <a16:creationId xmlns:a16="http://schemas.microsoft.com/office/drawing/2014/main" id="{5032C95C-21F0-43F2-B47A-69572AB65023}"/>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32</a:t>
            </a:r>
          </a:p>
        </p:txBody>
      </p:sp>
      <p:sp>
        <p:nvSpPr>
          <p:cNvPr id="8" name="text-dupq216zpkr">
            <a:extLst xmlns:a="http://schemas.openxmlformats.org/drawingml/2006/main">
              <a:ext uri="{FF2B5EF4-FFF2-40B4-BE49-F238E27FC236}">
                <a16:creationId xmlns:a16="http://schemas.microsoft.com/office/drawing/2014/main" id="{0FC583F0-EF30-408D-977B-4A8A42E93814}"/>
              </a:ext>
            </a:extLst>
          </p:cNvPr>
          <p:cNvSpPr>
            <a:spLocks xmlns:a="http://schemas.openxmlformats.org/drawingml/2006/main" noGrp="1"/>
          </p:cNvSpPr>
          <p:nvPr/>
        </p:nvSpPr>
        <p:spPr>
          <a:xfrm xmlns:a="http://schemas.openxmlformats.org/drawingml/2006/main">
            <a:off x="609600" y="2619375"/>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87D78"/>
                </a:solidFill>
                <a:latin typeface="DejaVu Sans"/>
                <a:ea typeface="DejaVu Sans"/>
                <a:cs typeface="DejaVu Sans"/>
              </a:defRPr>
            </a:defPPr>
            <a:lvl1pPr algn="l">
              <a:defRPr sz="3300" b="1">
                <a:solidFill>
                  <a:srgbClr val="087D78"/>
                </a:solidFill>
                <a:latin typeface="DejaVu Sans"/>
                <a:ea typeface="DejaVu Sans"/>
                <a:cs typeface="DejaVu Sans"/>
              </a:defRPr>
            </a:lvl1pPr>
            <a:lvl2pPr algn="l">
              <a:defRPr sz="3300" b="1">
                <a:solidFill>
                  <a:srgbClr val="087D78"/>
                </a:solidFill>
                <a:latin typeface="DejaVu Sans"/>
                <a:ea typeface="DejaVu Sans"/>
                <a:cs typeface="DejaVu Sans"/>
              </a:defRPr>
            </a:lvl2pPr>
            <a:lvl3pPr algn="l">
              <a:defRPr sz="3300" b="1">
                <a:solidFill>
                  <a:srgbClr val="087D78"/>
                </a:solidFill>
                <a:latin typeface="DejaVu Sans"/>
                <a:ea typeface="DejaVu Sans"/>
                <a:cs typeface="DejaVu Sans"/>
              </a:defRPr>
            </a:lvl3pPr>
            <a:lvl4pPr algn="l">
              <a:defRPr sz="3300" b="1">
                <a:solidFill>
                  <a:srgbClr val="087D78"/>
                </a:solidFill>
                <a:latin typeface="DejaVu Sans"/>
                <a:ea typeface="DejaVu Sans"/>
                <a:cs typeface="DejaVu Sans"/>
              </a:defRPr>
            </a:lvl4pPr>
            <a:lvl5pPr algn="l">
              <a:defRPr sz="3300" b="1">
                <a:solidFill>
                  <a:srgbClr val="087D78"/>
                </a:solidFill>
                <a:latin typeface="DejaVu Sans"/>
                <a:ea typeface="DejaVu Sans"/>
                <a:cs typeface="DejaVu Sans"/>
              </a:defRPr>
            </a:lvl5pPr>
            <a:lvl6pPr algn="l">
              <a:defRPr sz="3300" b="1">
                <a:solidFill>
                  <a:srgbClr val="087D78"/>
                </a:solidFill>
                <a:latin typeface="DejaVu Sans"/>
                <a:ea typeface="DejaVu Sans"/>
                <a:cs typeface="DejaVu Sans"/>
              </a:defRPr>
            </a:lvl6pPr>
            <a:lvl7pPr algn="l">
              <a:defRPr sz="3300" b="1">
                <a:solidFill>
                  <a:srgbClr val="087D78"/>
                </a:solidFill>
                <a:latin typeface="DejaVu Sans"/>
                <a:ea typeface="DejaVu Sans"/>
                <a:cs typeface="DejaVu Sans"/>
              </a:defRPr>
            </a:lvl7pPr>
            <a:lvl8pPr algn="l">
              <a:defRPr sz="3300" b="1">
                <a:solidFill>
                  <a:srgbClr val="087D78"/>
                </a:solidFill>
                <a:latin typeface="DejaVu Sans"/>
                <a:ea typeface="DejaVu Sans"/>
                <a:cs typeface="DejaVu Sans"/>
              </a:defRPr>
            </a:lvl8pPr>
            <a:lvl9pPr algn="l">
              <a:defRPr sz="3300" b="1">
                <a:solidFill>
                  <a:srgbClr val="087D78"/>
                </a:solidFill>
                <a:latin typeface="DejaVu Sans"/>
                <a:ea typeface="DejaVu Sans"/>
                <a:cs typeface="DejaVu Sans"/>
              </a:defRPr>
            </a:lvl9pPr>
          </a:lstStyle>
          <a:p xmlns:a="http://schemas.openxmlformats.org/drawingml/2006/main">
            <a:pPr algn="l">
              <a:lnSpc>
                <a:spcPct val="112000"/>
              </a:lnSpc>
              <a:buNone/>
              <a:defRPr sz="3300" b="1">
                <a:solidFill>
                  <a:srgbClr val="087D78"/>
                </a:solidFill>
                <a:latin typeface="DejaVu Sans"/>
                <a:ea typeface="DejaVu Sans"/>
                <a:cs typeface="DejaVu Sans"/>
              </a:defRPr>
            </a:pPr>
            <a:r>
              <a:rPr sz="3300" b="1">
                <a:solidFill>
                  <a:srgbClr val="087D78"/>
                </a:solidFill>
                <a:latin typeface="DejaVu Sans"/>
                <a:ea typeface="DejaVu Sans"/>
                <a:cs typeface="DejaVu Sans"/>
              </a:rPr>
              <a:t>E(s) = (150 + 100s² + 80w) / (30swe)</a:t>
            </a:r>
          </a:p>
        </p:txBody>
      </p:sp>
      <p:sp>
        <p:nvSpPr>
          <p:cNvPr id="9" name="">
            <a:extLst xmlns:a="http://schemas.openxmlformats.org/drawingml/2006/main">
              <a:ext uri="{FF2B5EF4-FFF2-40B4-BE49-F238E27FC236}">
                <a16:creationId xmlns:a16="http://schemas.microsoft.com/office/drawing/2014/main" id="{CE42449A-91FE-4835-8368-A9EB1B0F3E67}"/>
              </a:ext>
            </a:extLst>
          </p:cNvPr>
          <p:cNvSpPr>
            <a:spLocks xmlns:a="http://schemas.openxmlformats.org/drawingml/2006/main" noGrp="1"/>
          </p:cNvSpPr>
          <p:nvPr/>
        </p:nvSpPr>
        <p:spPr>
          <a:xfrm xmlns:a="http://schemas.openxmlformats.org/drawingml/2006/main">
            <a:off x="6096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62355E5-C2C4-4EEA-B001-8822725A47B0}"/>
              </a:ext>
            </a:extLst>
          </p:cNvPr>
          <p:cNvSpPr>
            <a:spLocks xmlns:a="http://schemas.openxmlformats.org/drawingml/2006/main" noGrp="1"/>
          </p:cNvSpPr>
          <p:nvPr/>
        </p:nvSpPr>
        <p:spPr>
          <a:xfrm xmlns:a="http://schemas.openxmlformats.org/drawingml/2006/main">
            <a:off x="609600" y="3810000"/>
            <a:ext cx="38100" cy="204787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1" name="text-k27ulw1uf5q">
            <a:extLst xmlns:a="http://schemas.openxmlformats.org/drawingml/2006/main">
              <a:ext uri="{FF2B5EF4-FFF2-40B4-BE49-F238E27FC236}">
                <a16:creationId xmlns:a16="http://schemas.microsoft.com/office/drawing/2014/main" id="{A1EDD56A-6CA8-4E22-B748-FF833C999F86}"/>
              </a:ext>
            </a:extLst>
          </p:cNvPr>
          <p:cNvSpPr>
            <a:spLocks xmlns:a="http://schemas.openxmlformats.org/drawingml/2006/main" noGrp="1"/>
          </p:cNvSpPr>
          <p:nvPr/>
        </p:nvSpPr>
        <p:spPr>
          <a:xfrm xmlns:a="http://schemas.openxmlformats.org/drawingml/2006/main">
            <a:off x="8191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Throughput</a:t>
            </a:r>
          </a:p>
        </p:txBody>
      </p:sp>
      <p:sp>
        <p:nvSpPr>
          <p:cNvPr id="12" name="text-bnkqgdw2rmg">
            <a:extLst xmlns:a="http://schemas.openxmlformats.org/drawingml/2006/main">
              <a:ext uri="{FF2B5EF4-FFF2-40B4-BE49-F238E27FC236}">
                <a16:creationId xmlns:a16="http://schemas.microsoft.com/office/drawing/2014/main" id="{CEE8796D-C380-45C7-BEB9-1831CE2E8392}"/>
              </a:ext>
            </a:extLst>
          </p:cNvPr>
          <p:cNvSpPr>
            <a:spLocks xmlns:a="http://schemas.openxmlformats.org/drawingml/2006/main" noGrp="1"/>
          </p:cNvSpPr>
          <p:nvPr/>
        </p:nvSpPr>
        <p:spPr>
          <a:xfrm xmlns:a="http://schemas.openxmlformats.org/drawingml/2006/main">
            <a:off x="8191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q = 30 × s × w tasks per operating hour.</a:t>
            </a:r>
          </a:p>
        </p:txBody>
      </p:sp>
      <p:sp>
        <p:nvSpPr>
          <p:cNvPr id="13" name="">
            <a:extLst xmlns:a="http://schemas.openxmlformats.org/drawingml/2006/main">
              <a:ext uri="{FF2B5EF4-FFF2-40B4-BE49-F238E27FC236}">
                <a16:creationId xmlns:a16="http://schemas.microsoft.com/office/drawing/2014/main" id="{99FFB2D7-18C1-4B31-9B81-4C69A40C9E94}"/>
              </a:ext>
            </a:extLst>
          </p:cNvPr>
          <p:cNvSpPr>
            <a:spLocks xmlns:a="http://schemas.openxmlformats.org/drawingml/2006/main" noGrp="1"/>
          </p:cNvSpPr>
          <p:nvPr/>
        </p:nvSpPr>
        <p:spPr>
          <a:xfrm xmlns:a="http://schemas.openxmlformats.org/drawingml/2006/main">
            <a:off x="434975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80FD5A1-6B85-4FA0-9639-0DA39E384923}"/>
              </a:ext>
            </a:extLst>
          </p:cNvPr>
          <p:cNvSpPr>
            <a:spLocks xmlns:a="http://schemas.openxmlformats.org/drawingml/2006/main" noGrp="1"/>
          </p:cNvSpPr>
          <p:nvPr/>
        </p:nvSpPr>
        <p:spPr>
          <a:xfrm xmlns:a="http://schemas.openxmlformats.org/drawingml/2006/main">
            <a:off x="4349750" y="3810000"/>
            <a:ext cx="38100" cy="204787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5" name="text-kskggrhrff">
            <a:extLst xmlns:a="http://schemas.openxmlformats.org/drawingml/2006/main">
              <a:ext uri="{FF2B5EF4-FFF2-40B4-BE49-F238E27FC236}">
                <a16:creationId xmlns:a16="http://schemas.microsoft.com/office/drawing/2014/main" id="{E099DEBB-191B-44CB-AEF8-035DF6CC9D9E}"/>
              </a:ext>
            </a:extLst>
          </p:cNvPr>
          <p:cNvSpPr>
            <a:spLocks xmlns:a="http://schemas.openxmlformats.org/drawingml/2006/main" noGrp="1"/>
          </p:cNvSpPr>
          <p:nvPr/>
        </p:nvSpPr>
        <p:spPr>
          <a:xfrm xmlns:a="http://schemas.openxmlformats.org/drawingml/2006/main">
            <a:off x="455930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Power</a:t>
            </a:r>
          </a:p>
        </p:txBody>
      </p:sp>
      <p:sp>
        <p:nvSpPr>
          <p:cNvPr id="16" name="text-3090ljw5gma">
            <a:extLst xmlns:a="http://schemas.openxmlformats.org/drawingml/2006/main">
              <a:ext uri="{FF2B5EF4-FFF2-40B4-BE49-F238E27FC236}">
                <a16:creationId xmlns:a16="http://schemas.microsoft.com/office/drawing/2014/main" id="{4B73AEE3-3D9B-4E42-B1B9-729EE6086E75}"/>
              </a:ext>
            </a:extLst>
          </p:cNvPr>
          <p:cNvSpPr>
            <a:spLocks xmlns:a="http://schemas.openxmlformats.org/drawingml/2006/main" noGrp="1"/>
          </p:cNvSpPr>
          <p:nvPr/>
        </p:nvSpPr>
        <p:spPr>
          <a:xfrm xmlns:a="http://schemas.openxmlformats.org/drawingml/2006/main">
            <a:off x="455930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W = (150 + 100s² + 80w) / e.</a:t>
            </a:r>
          </a:p>
        </p:txBody>
      </p:sp>
      <p:sp>
        <p:nvSpPr>
          <p:cNvPr id="17" name="">
            <a:extLst xmlns:a="http://schemas.openxmlformats.org/drawingml/2006/main">
              <a:ext uri="{FF2B5EF4-FFF2-40B4-BE49-F238E27FC236}">
                <a16:creationId xmlns:a16="http://schemas.microsoft.com/office/drawing/2014/main" id="{C9FA415C-0847-498E-B64A-82457666EC6D}"/>
              </a:ext>
            </a:extLst>
          </p:cNvPr>
          <p:cNvSpPr>
            <a:spLocks xmlns:a="http://schemas.openxmlformats.org/drawingml/2006/main" noGrp="1"/>
          </p:cNvSpPr>
          <p:nvPr/>
        </p:nvSpPr>
        <p:spPr>
          <a:xfrm xmlns:a="http://schemas.openxmlformats.org/drawingml/2006/main">
            <a:off x="80899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7B5D868-5988-4576-B0F5-4AA9FDC40E1F}"/>
              </a:ext>
            </a:extLst>
          </p:cNvPr>
          <p:cNvSpPr>
            <a:spLocks xmlns:a="http://schemas.openxmlformats.org/drawingml/2006/main" noGrp="1"/>
          </p:cNvSpPr>
          <p:nvPr/>
        </p:nvSpPr>
        <p:spPr>
          <a:xfrm xmlns:a="http://schemas.openxmlformats.org/drawingml/2006/main">
            <a:off x="8089900" y="3810000"/>
            <a:ext cx="38100" cy="204787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9" name="text-usk7vyzzzl">
            <a:extLst xmlns:a="http://schemas.openxmlformats.org/drawingml/2006/main">
              <a:ext uri="{FF2B5EF4-FFF2-40B4-BE49-F238E27FC236}">
                <a16:creationId xmlns:a16="http://schemas.microsoft.com/office/drawing/2014/main" id="{2689DFE7-6640-40EA-82F6-450578D3AED0}"/>
              </a:ext>
            </a:extLst>
          </p:cNvPr>
          <p:cNvSpPr>
            <a:spLocks xmlns:a="http://schemas.openxmlformats.org/drawingml/2006/main" noGrp="1"/>
          </p:cNvSpPr>
          <p:nvPr/>
        </p:nvSpPr>
        <p:spPr>
          <a:xfrm xmlns:a="http://schemas.openxmlformats.org/drawingml/2006/main">
            <a:off x="82994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Energy intensity</a:t>
            </a:r>
          </a:p>
        </p:txBody>
      </p:sp>
      <p:sp>
        <p:nvSpPr>
          <p:cNvPr id="20" name="text-tge6mrbkggd">
            <a:extLst xmlns:a="http://schemas.openxmlformats.org/drawingml/2006/main">
              <a:ext uri="{FF2B5EF4-FFF2-40B4-BE49-F238E27FC236}">
                <a16:creationId xmlns:a16="http://schemas.microsoft.com/office/drawing/2014/main" id="{3C16E8D8-484D-45C0-A0CC-592CEC9D9096}"/>
              </a:ext>
            </a:extLst>
          </p:cNvPr>
          <p:cNvSpPr>
            <a:spLocks xmlns:a="http://schemas.openxmlformats.org/drawingml/2006/main" noGrp="1"/>
          </p:cNvSpPr>
          <p:nvPr/>
        </p:nvSpPr>
        <p:spPr>
          <a:xfrm xmlns:a="http://schemas.openxmlformats.org/drawingml/2006/main">
            <a:off x="82994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 = W / q Wh per attempt.</a:t>
            </a:r>
          </a:p>
        </p:txBody>
      </p:sp>
    </p:spTree>
    <p:extLst>
      <p:ext uri="{BB962C8B-B14F-4D97-AF65-F5344CB8AC3E}">
        <p14:creationId xmlns:p14="http://schemas.microsoft.com/office/powerpoint/2010/main" val="1286007244"/>
      </p:ext>
    </p:extLst>
  </p:cSld>
</p:sld>
</file>

<file path=ppt/slides/slide33.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ED88457-BDF6-4334-A565-9DB75A799C5D}"/>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udm1ev4a4p">
            <a:extLst xmlns:a="http://schemas.openxmlformats.org/drawingml/2006/main">
              <a:ext uri="{FF2B5EF4-FFF2-40B4-BE49-F238E27FC236}">
                <a16:creationId xmlns:a16="http://schemas.microsoft.com/office/drawing/2014/main" id="{987DB05A-E56F-4813-86E3-6E89DF50C19F}"/>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i00d3ofdni">
            <a:extLst xmlns:a="http://schemas.openxmlformats.org/drawingml/2006/main">
              <a:ext uri="{FF2B5EF4-FFF2-40B4-BE49-F238E27FC236}">
                <a16:creationId xmlns:a16="http://schemas.microsoft.com/office/drawing/2014/main" id="{87E76DBD-9CA7-4F84-BC07-A399F525F098}"/>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Minimum energy occurs at an intermediate speed</a:t>
            </a:r>
          </a:p>
        </p:txBody>
      </p:sp>
      <p:sp>
        <p:nvSpPr>
          <p:cNvPr id="4" name="text-16anortriwd">
            <a:extLst xmlns:a="http://schemas.openxmlformats.org/drawingml/2006/main">
              <a:ext uri="{FF2B5EF4-FFF2-40B4-BE49-F238E27FC236}">
                <a16:creationId xmlns:a16="http://schemas.microsoft.com/office/drawing/2014/main" id="{5DCB1CEF-2099-4E07-999B-1B33FF62B8D3}"/>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At fixed w, energy per attempt first falls and then rises.</a:t>
            </a:r>
          </a:p>
        </p:txBody>
      </p:sp>
      <p:sp>
        <p:nvSpPr>
          <p:cNvPr id="5" name="">
            <a:extLst xmlns:a="http://schemas.openxmlformats.org/drawingml/2006/main">
              <a:ext uri="{FF2B5EF4-FFF2-40B4-BE49-F238E27FC236}">
                <a16:creationId xmlns:a16="http://schemas.microsoft.com/office/drawing/2014/main" id="{65846CF3-394E-4837-A7DA-28A6AA865C0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3f469vwn3f3">
            <a:extLst xmlns:a="http://schemas.openxmlformats.org/drawingml/2006/main">
              <a:ext uri="{FF2B5EF4-FFF2-40B4-BE49-F238E27FC236}">
                <a16:creationId xmlns:a16="http://schemas.microsoft.com/office/drawing/2014/main" id="{060A4B9A-4763-414B-9F84-4EF4CCDF1C61}"/>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RobotLab</a:t>
            </a:r>
          </a:p>
        </p:txBody>
      </p:sp>
      <p:sp>
        <p:nvSpPr>
          <p:cNvPr id="7" name="text-ezlb8dmsvv">
            <a:extLst xmlns:a="http://schemas.openxmlformats.org/drawingml/2006/main">
              <a:ext uri="{FF2B5EF4-FFF2-40B4-BE49-F238E27FC236}">
                <a16:creationId xmlns:a16="http://schemas.microsoft.com/office/drawing/2014/main" id="{57D1EC71-6543-47AF-9926-47A604FB8D3E}"/>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33</a:t>
            </a:r>
          </a:p>
        </p:txBody>
      </p:sp>
      <p:graphicFrame>
        <p:nvGraphicFramePr>
          <p:cNvPr id="8" name="Chart">
            <a:extLst xmlns:a="http://schemas.openxmlformats.org/drawingml/2006/main">
              <a:ext uri="{FF2B5EF4-FFF2-40B4-BE49-F238E27FC236}">
                <a16:creationId xmlns:a16="http://schemas.microsoft.com/office/drawing/2014/main" id="{D30D64CE-162B-489F-948F-EE3D9C6F7404}"/>
              </a:ext>
            </a:extLst>
          </p:cNvPr>
          <p:cNvGraphicFramePr/>
          <p:nvPr/>
        </p:nvGraphicFramePr>
        <p:xfrm>
          <a:off xmlns:a="http://schemas.openxmlformats.org/drawingml/2006/main" x="609600" y="2571750"/>
          <a:ext xmlns:a="http://schemas.openxmlformats.org/drawingml/2006/main" cx="7524750" cy="3371850"/>
        </p:xfrm>
        <a:graphic xmlns:a="http://schemas.openxmlformats.org/drawingml/2006/main">
          <a:graphicData uri="http://schemas.openxmlformats.org/drawingml/2006/chart">
            <c:chart xmlns:r="http://schemas.openxmlformats.org/officeDocument/2006/relationships" xmlns:c="http://schemas.openxmlformats.org/drawingml/2006/chart" r:id="R3ef7f9cc06524121"/>
          </a:graphicData>
        </a:graphic>
      </p:graphicFrame>
      <p:sp>
        <p:nvSpPr>
          <p:cNvPr id="9" name="text-4rza1wrcwwu">
            <a:extLst xmlns:a="http://schemas.openxmlformats.org/drawingml/2006/main">
              <a:ext uri="{FF2B5EF4-FFF2-40B4-BE49-F238E27FC236}">
                <a16:creationId xmlns:a16="http://schemas.microsoft.com/office/drawing/2014/main" id="{F4E6A39D-C36B-4371-887A-D10B82BDCC34}"/>
              </a:ext>
            </a:extLst>
          </p:cNvPr>
          <p:cNvSpPr>
            <a:spLocks xmlns:a="http://schemas.openxmlformats.org/drawingml/2006/main" noGrp="1"/>
          </p:cNvSpPr>
          <p:nvPr/>
        </p:nvSpPr>
        <p:spPr>
          <a:xfrm xmlns:a="http://schemas.openxmlformats.org/drawingml/2006/main">
            <a:off x="8572500" y="2895600"/>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62D6C9"/>
                </a:solidFill>
                <a:latin typeface="DejaVu Sans"/>
                <a:ea typeface="DejaVu Sans"/>
                <a:cs typeface="DejaVu Sans"/>
              </a:defRPr>
            </a:defPPr>
            <a:lvl1pPr algn="l">
              <a:defRPr sz="2850" b="1">
                <a:solidFill>
                  <a:srgbClr val="62D6C9"/>
                </a:solidFill>
                <a:latin typeface="DejaVu Sans"/>
                <a:ea typeface="DejaVu Sans"/>
                <a:cs typeface="DejaVu Sans"/>
              </a:defRPr>
            </a:lvl1pPr>
            <a:lvl2pPr algn="l">
              <a:defRPr sz="2850" b="1">
                <a:solidFill>
                  <a:srgbClr val="62D6C9"/>
                </a:solidFill>
                <a:latin typeface="DejaVu Sans"/>
                <a:ea typeface="DejaVu Sans"/>
                <a:cs typeface="DejaVu Sans"/>
              </a:defRPr>
            </a:lvl2pPr>
            <a:lvl3pPr algn="l">
              <a:defRPr sz="2850" b="1">
                <a:solidFill>
                  <a:srgbClr val="62D6C9"/>
                </a:solidFill>
                <a:latin typeface="DejaVu Sans"/>
                <a:ea typeface="DejaVu Sans"/>
                <a:cs typeface="DejaVu Sans"/>
              </a:defRPr>
            </a:lvl3pPr>
            <a:lvl4pPr algn="l">
              <a:defRPr sz="2850" b="1">
                <a:solidFill>
                  <a:srgbClr val="62D6C9"/>
                </a:solidFill>
                <a:latin typeface="DejaVu Sans"/>
                <a:ea typeface="DejaVu Sans"/>
                <a:cs typeface="DejaVu Sans"/>
              </a:defRPr>
            </a:lvl4pPr>
            <a:lvl5pPr algn="l">
              <a:defRPr sz="2850" b="1">
                <a:solidFill>
                  <a:srgbClr val="62D6C9"/>
                </a:solidFill>
                <a:latin typeface="DejaVu Sans"/>
                <a:ea typeface="DejaVu Sans"/>
                <a:cs typeface="DejaVu Sans"/>
              </a:defRPr>
            </a:lvl5pPr>
            <a:lvl6pPr algn="l">
              <a:defRPr sz="2850" b="1">
                <a:solidFill>
                  <a:srgbClr val="62D6C9"/>
                </a:solidFill>
                <a:latin typeface="DejaVu Sans"/>
                <a:ea typeface="DejaVu Sans"/>
                <a:cs typeface="DejaVu Sans"/>
              </a:defRPr>
            </a:lvl6pPr>
            <a:lvl7pPr algn="l">
              <a:defRPr sz="2850" b="1">
                <a:solidFill>
                  <a:srgbClr val="62D6C9"/>
                </a:solidFill>
                <a:latin typeface="DejaVu Sans"/>
                <a:ea typeface="DejaVu Sans"/>
                <a:cs typeface="DejaVu Sans"/>
              </a:defRPr>
            </a:lvl7pPr>
            <a:lvl8pPr algn="l">
              <a:defRPr sz="2850" b="1">
                <a:solidFill>
                  <a:srgbClr val="62D6C9"/>
                </a:solidFill>
                <a:latin typeface="DejaVu Sans"/>
                <a:ea typeface="DejaVu Sans"/>
                <a:cs typeface="DejaVu Sans"/>
              </a:defRPr>
            </a:lvl8pPr>
            <a:lvl9pPr algn="l">
              <a:defRPr sz="2850" b="1">
                <a:solidFill>
                  <a:srgbClr val="62D6C9"/>
                </a:solidFill>
                <a:latin typeface="DejaVu Sans"/>
                <a:ea typeface="DejaVu Sans"/>
                <a:cs typeface="DejaVu Sans"/>
              </a:defRPr>
            </a:lvl9pPr>
          </a:lstStyle>
          <a:p xmlns:a="http://schemas.openxmlformats.org/drawingml/2006/main">
            <a:pPr algn="l">
              <a:lnSpc>
                <a:spcPct val="112000"/>
              </a:lnSpc>
              <a:buNone/>
              <a:defRPr sz="2850" b="1">
                <a:solidFill>
                  <a:srgbClr val="62D6C9"/>
                </a:solidFill>
                <a:latin typeface="DejaVu Sans"/>
                <a:ea typeface="DejaVu Sans"/>
                <a:cs typeface="DejaVu Sans"/>
              </a:defRPr>
            </a:pPr>
            <a:r>
              <a:rPr sz="2850" b="1">
                <a:solidFill>
                  <a:srgbClr val="62D6C9"/>
                </a:solidFill>
                <a:latin typeface="DejaVu Sans"/>
                <a:ea typeface="DejaVu Sans"/>
                <a:cs typeface="DejaVu Sans"/>
              </a:rPr>
              <a:t>s* ≈ 1,52</a:t>
            </a:r>
          </a:p>
        </p:txBody>
      </p:sp>
      <p:sp>
        <p:nvSpPr>
          <p:cNvPr id="10" name="text-5czhdlzizc4">
            <a:extLst xmlns:a="http://schemas.openxmlformats.org/drawingml/2006/main">
              <a:ext uri="{FF2B5EF4-FFF2-40B4-BE49-F238E27FC236}">
                <a16:creationId xmlns:a16="http://schemas.microsoft.com/office/drawing/2014/main" id="{EE58FB9D-D83E-4C4C-AAA7-21751ACEE331}"/>
              </a:ext>
            </a:extLst>
          </p:cNvPr>
          <p:cNvSpPr>
            <a:spLocks xmlns:a="http://schemas.openxmlformats.org/drawingml/2006/main" noGrp="1"/>
          </p:cNvSpPr>
          <p:nvPr/>
        </p:nvSpPr>
        <p:spPr>
          <a:xfrm xmlns:a="http://schemas.openxmlformats.org/drawingml/2006/main">
            <a:off x="8572500" y="3705225"/>
            <a:ext cx="2952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Energy minimum</a:t>
            </a:r>
          </a:p>
          <a:p xmlns:a="http://schemas.openxmlformats.org/drawingml/2006/main">
            <a:r>
              <a:t/>
            </a:r>
          </a:p>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Efficiency e rescales the curve.</a:t>
            </a:r>
          </a:p>
          <a:p xmlns:a="http://schemas.openxmlformats.org/drawingml/2006/main">
            <a:r>
              <a:t/>
            </a:r>
          </a:p>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This is not a factory cost optimum.</a:t>
            </a:r>
          </a:p>
        </p:txBody>
      </p:sp>
    </p:spTree>
    <p:extLst>
      <p:ext uri="{BB962C8B-B14F-4D97-AF65-F5344CB8AC3E}">
        <p14:creationId xmlns:p14="http://schemas.microsoft.com/office/powerpoint/2010/main" val="468881980"/>
      </p:ext>
    </p:extLst>
  </p:cSld>
</p:sld>
</file>

<file path=ppt/slides/slide3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7F13265-E9B2-46F7-B52B-2AEFE93FC282}"/>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z0haqosvpc">
            <a:extLst xmlns:a="http://schemas.openxmlformats.org/drawingml/2006/main">
              <a:ext uri="{FF2B5EF4-FFF2-40B4-BE49-F238E27FC236}">
                <a16:creationId xmlns:a16="http://schemas.microsoft.com/office/drawing/2014/main" id="{706F973A-A3EF-4105-A770-168964471505}"/>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mws9rqii8q">
            <a:extLst xmlns:a="http://schemas.openxmlformats.org/drawingml/2006/main">
              <a:ext uri="{FF2B5EF4-FFF2-40B4-BE49-F238E27FC236}">
                <a16:creationId xmlns:a16="http://schemas.microsoft.com/office/drawing/2014/main" id="{C13A90C9-936B-4A0B-B014-8FC6244888B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Battery energy imposes an exact time constraint</a:t>
            </a:r>
          </a:p>
        </p:txBody>
      </p:sp>
      <p:sp>
        <p:nvSpPr>
          <p:cNvPr id="4" name="text-x4gslmsmk5">
            <a:extLst xmlns:a="http://schemas.openxmlformats.org/drawingml/2006/main">
              <a:ext uri="{FF2B5EF4-FFF2-40B4-BE49-F238E27FC236}">
                <a16:creationId xmlns:a16="http://schemas.microsoft.com/office/drawing/2014/main" id="{ED12D73A-1CC2-4620-8D65-865490AF6AC3}"/>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The simulation stops energy use and task accumulation at depletion.</a:t>
            </a:r>
          </a:p>
        </p:txBody>
      </p:sp>
      <p:sp>
        <p:nvSpPr>
          <p:cNvPr id="5" name="">
            <a:extLst xmlns:a="http://schemas.openxmlformats.org/drawingml/2006/main">
              <a:ext uri="{FF2B5EF4-FFF2-40B4-BE49-F238E27FC236}">
                <a16:creationId xmlns:a16="http://schemas.microsoft.com/office/drawing/2014/main" id="{4C8EDFD3-04BB-4EC8-9239-C56ACDD5F77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cfbf2ibq5g">
            <a:extLst xmlns:a="http://schemas.openxmlformats.org/drawingml/2006/main">
              <a:ext uri="{FF2B5EF4-FFF2-40B4-BE49-F238E27FC236}">
                <a16:creationId xmlns:a16="http://schemas.microsoft.com/office/drawing/2014/main" id="{82361CED-A8E3-415F-9ED1-D41AFCCC3203}"/>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qn1yhl2g9ng">
            <a:extLst xmlns:a="http://schemas.openxmlformats.org/drawingml/2006/main">
              <a:ext uri="{FF2B5EF4-FFF2-40B4-BE49-F238E27FC236}">
                <a16:creationId xmlns:a16="http://schemas.microsoft.com/office/drawing/2014/main" id="{6CC5CA88-275D-4DD3-A202-5A3C7B7B72BD}"/>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34</a:t>
            </a:r>
          </a:p>
        </p:txBody>
      </p:sp>
      <p:sp>
        <p:nvSpPr>
          <p:cNvPr id="8" name="text-lltqo1jl8bq">
            <a:extLst xmlns:a="http://schemas.openxmlformats.org/drawingml/2006/main">
              <a:ext uri="{FF2B5EF4-FFF2-40B4-BE49-F238E27FC236}">
                <a16:creationId xmlns:a16="http://schemas.microsoft.com/office/drawing/2014/main" id="{8F35C98D-04BF-4858-A385-9847F93F1B11}"/>
              </a:ext>
            </a:extLst>
          </p:cNvPr>
          <p:cNvSpPr>
            <a:spLocks xmlns:a="http://schemas.openxmlformats.org/drawingml/2006/main" noGrp="1"/>
          </p:cNvSpPr>
          <p:nvPr/>
        </p:nvSpPr>
        <p:spPr>
          <a:xfrm xmlns:a="http://schemas.openxmlformats.org/drawingml/2006/main">
            <a:off x="609600" y="2619375"/>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87D78"/>
                </a:solidFill>
                <a:latin typeface="DejaVu Sans"/>
                <a:ea typeface="DejaVu Sans"/>
                <a:cs typeface="DejaVu Sans"/>
              </a:defRPr>
            </a:defPPr>
            <a:lvl1pPr algn="l">
              <a:defRPr sz="3300" b="1">
                <a:solidFill>
                  <a:srgbClr val="087D78"/>
                </a:solidFill>
                <a:latin typeface="DejaVu Sans"/>
                <a:ea typeface="DejaVu Sans"/>
                <a:cs typeface="DejaVu Sans"/>
              </a:defRPr>
            </a:lvl1pPr>
            <a:lvl2pPr algn="l">
              <a:defRPr sz="3300" b="1">
                <a:solidFill>
                  <a:srgbClr val="087D78"/>
                </a:solidFill>
                <a:latin typeface="DejaVu Sans"/>
                <a:ea typeface="DejaVu Sans"/>
                <a:cs typeface="DejaVu Sans"/>
              </a:defRPr>
            </a:lvl2pPr>
            <a:lvl3pPr algn="l">
              <a:defRPr sz="3300" b="1">
                <a:solidFill>
                  <a:srgbClr val="087D78"/>
                </a:solidFill>
                <a:latin typeface="DejaVu Sans"/>
                <a:ea typeface="DejaVu Sans"/>
                <a:cs typeface="DejaVu Sans"/>
              </a:defRPr>
            </a:lvl3pPr>
            <a:lvl4pPr algn="l">
              <a:defRPr sz="3300" b="1">
                <a:solidFill>
                  <a:srgbClr val="087D78"/>
                </a:solidFill>
                <a:latin typeface="DejaVu Sans"/>
                <a:ea typeface="DejaVu Sans"/>
                <a:cs typeface="DejaVu Sans"/>
              </a:defRPr>
            </a:lvl4pPr>
            <a:lvl5pPr algn="l">
              <a:defRPr sz="3300" b="1">
                <a:solidFill>
                  <a:srgbClr val="087D78"/>
                </a:solidFill>
                <a:latin typeface="DejaVu Sans"/>
                <a:ea typeface="DejaVu Sans"/>
                <a:cs typeface="DejaVu Sans"/>
              </a:defRPr>
            </a:lvl5pPr>
            <a:lvl6pPr algn="l">
              <a:defRPr sz="3300" b="1">
                <a:solidFill>
                  <a:srgbClr val="087D78"/>
                </a:solidFill>
                <a:latin typeface="DejaVu Sans"/>
                <a:ea typeface="DejaVu Sans"/>
                <a:cs typeface="DejaVu Sans"/>
              </a:defRPr>
            </a:lvl6pPr>
            <a:lvl7pPr algn="l">
              <a:defRPr sz="3300" b="1">
                <a:solidFill>
                  <a:srgbClr val="087D78"/>
                </a:solidFill>
                <a:latin typeface="DejaVu Sans"/>
                <a:ea typeface="DejaVu Sans"/>
                <a:cs typeface="DejaVu Sans"/>
              </a:defRPr>
            </a:lvl7pPr>
            <a:lvl8pPr algn="l">
              <a:defRPr sz="3300" b="1">
                <a:solidFill>
                  <a:srgbClr val="087D78"/>
                </a:solidFill>
                <a:latin typeface="DejaVu Sans"/>
                <a:ea typeface="DejaVu Sans"/>
                <a:cs typeface="DejaVu Sans"/>
              </a:defRPr>
            </a:lvl8pPr>
            <a:lvl9pPr algn="l">
              <a:defRPr sz="3300" b="1">
                <a:solidFill>
                  <a:srgbClr val="087D78"/>
                </a:solidFill>
                <a:latin typeface="DejaVu Sans"/>
                <a:ea typeface="DejaVu Sans"/>
                <a:cs typeface="DejaVu Sans"/>
              </a:defRPr>
            </a:lvl9pPr>
          </a:lstStyle>
          <a:p xmlns:a="http://schemas.openxmlformats.org/drawingml/2006/main">
            <a:pPr algn="l">
              <a:lnSpc>
                <a:spcPct val="112000"/>
              </a:lnSpc>
              <a:buNone/>
              <a:defRPr sz="3300" b="1">
                <a:solidFill>
                  <a:srgbClr val="087D78"/>
                </a:solidFill>
                <a:latin typeface="DejaVu Sans"/>
                <a:ea typeface="DejaVu Sans"/>
                <a:cs typeface="DejaVu Sans"/>
              </a:defRPr>
            </a:pPr>
            <a:r>
              <a:rPr sz="3300" b="1">
                <a:solidFill>
                  <a:srgbClr val="087D78"/>
                </a:solidFill>
                <a:latin typeface="DejaVu Sans"/>
                <a:ea typeface="DejaVu Sans"/>
                <a:cs typeface="DejaVu Sans"/>
              </a:rPr>
              <a:t>t = B / W</a:t>
            </a:r>
          </a:p>
        </p:txBody>
      </p:sp>
      <p:sp>
        <p:nvSpPr>
          <p:cNvPr id="9" name="">
            <a:extLst xmlns:a="http://schemas.openxmlformats.org/drawingml/2006/main">
              <a:ext uri="{FF2B5EF4-FFF2-40B4-BE49-F238E27FC236}">
                <a16:creationId xmlns:a16="http://schemas.microsoft.com/office/drawing/2014/main" id="{504FA6B3-0D01-44DE-8299-16CDFD88B809}"/>
              </a:ext>
            </a:extLst>
          </p:cNvPr>
          <p:cNvSpPr>
            <a:spLocks xmlns:a="http://schemas.openxmlformats.org/drawingml/2006/main" noGrp="1"/>
          </p:cNvSpPr>
          <p:nvPr/>
        </p:nvSpPr>
        <p:spPr>
          <a:xfrm xmlns:a="http://schemas.openxmlformats.org/drawingml/2006/main">
            <a:off x="6096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271166A-D29A-4E97-B82C-067ECB40625F}"/>
              </a:ext>
            </a:extLst>
          </p:cNvPr>
          <p:cNvSpPr>
            <a:spLocks xmlns:a="http://schemas.openxmlformats.org/drawingml/2006/main" noGrp="1"/>
          </p:cNvSpPr>
          <p:nvPr/>
        </p:nvSpPr>
        <p:spPr>
          <a:xfrm xmlns:a="http://schemas.openxmlformats.org/drawingml/2006/main">
            <a:off x="609600" y="3810000"/>
            <a:ext cx="38100" cy="204787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1" name="text-kltsoy884zq">
            <a:extLst xmlns:a="http://schemas.openxmlformats.org/drawingml/2006/main">
              <a:ext uri="{FF2B5EF4-FFF2-40B4-BE49-F238E27FC236}">
                <a16:creationId xmlns:a16="http://schemas.microsoft.com/office/drawing/2014/main" id="{7EE4809E-ECA9-4995-A4BE-AD8BF6FF4DE0}"/>
              </a:ext>
            </a:extLst>
          </p:cNvPr>
          <p:cNvSpPr>
            <a:spLocks xmlns:a="http://schemas.openxmlformats.org/drawingml/2006/main" noGrp="1"/>
          </p:cNvSpPr>
          <p:nvPr/>
        </p:nvSpPr>
        <p:spPr>
          <a:xfrm xmlns:a="http://schemas.openxmlformats.org/drawingml/2006/main">
            <a:off x="8191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Runtime</a:t>
            </a:r>
          </a:p>
        </p:txBody>
      </p:sp>
      <p:sp>
        <p:nvSpPr>
          <p:cNvPr id="12" name="text-j85l1n3p1e">
            <a:extLst xmlns:a="http://schemas.openxmlformats.org/drawingml/2006/main">
              <a:ext uri="{FF2B5EF4-FFF2-40B4-BE49-F238E27FC236}">
                <a16:creationId xmlns:a16="http://schemas.microsoft.com/office/drawing/2014/main" id="{3763BE04-9A57-4B87-A1E6-B0FB43D4018E}"/>
              </a:ext>
            </a:extLst>
          </p:cNvPr>
          <p:cNvSpPr>
            <a:spLocks xmlns:a="http://schemas.openxmlformats.org/drawingml/2006/main" noGrp="1"/>
          </p:cNvSpPr>
          <p:nvPr/>
        </p:nvSpPr>
        <p:spPr>
          <a:xfrm xmlns:a="http://schemas.openxmlformats.org/drawingml/2006/main">
            <a:off x="8191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 = B / W, with B in Wh and W in watts.</a:t>
            </a:r>
          </a:p>
        </p:txBody>
      </p:sp>
      <p:sp>
        <p:nvSpPr>
          <p:cNvPr id="13" name="">
            <a:extLst xmlns:a="http://schemas.openxmlformats.org/drawingml/2006/main">
              <a:ext uri="{FF2B5EF4-FFF2-40B4-BE49-F238E27FC236}">
                <a16:creationId xmlns:a16="http://schemas.microsoft.com/office/drawing/2014/main" id="{14D2F3F3-3499-4425-88C0-A43CDFF985D0}"/>
              </a:ext>
            </a:extLst>
          </p:cNvPr>
          <p:cNvSpPr>
            <a:spLocks xmlns:a="http://schemas.openxmlformats.org/drawingml/2006/main" noGrp="1"/>
          </p:cNvSpPr>
          <p:nvPr/>
        </p:nvSpPr>
        <p:spPr>
          <a:xfrm xmlns:a="http://schemas.openxmlformats.org/drawingml/2006/main">
            <a:off x="434975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96C7C1D-F5D9-4E99-AD90-31634CD4BED8}"/>
              </a:ext>
            </a:extLst>
          </p:cNvPr>
          <p:cNvSpPr>
            <a:spLocks xmlns:a="http://schemas.openxmlformats.org/drawingml/2006/main" noGrp="1"/>
          </p:cNvSpPr>
          <p:nvPr/>
        </p:nvSpPr>
        <p:spPr>
          <a:xfrm xmlns:a="http://schemas.openxmlformats.org/drawingml/2006/main">
            <a:off x="4349750" y="3810000"/>
            <a:ext cx="38100" cy="204787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5" name="text-mj5dtq33vm">
            <a:extLst xmlns:a="http://schemas.openxmlformats.org/drawingml/2006/main">
              <a:ext uri="{FF2B5EF4-FFF2-40B4-BE49-F238E27FC236}">
                <a16:creationId xmlns:a16="http://schemas.microsoft.com/office/drawing/2014/main" id="{DBE7EAAE-C7E8-4693-972E-57303021A2C0}"/>
              </a:ext>
            </a:extLst>
          </p:cNvPr>
          <p:cNvSpPr>
            <a:spLocks xmlns:a="http://schemas.openxmlformats.org/drawingml/2006/main" noGrp="1"/>
          </p:cNvSpPr>
          <p:nvPr/>
        </p:nvSpPr>
        <p:spPr>
          <a:xfrm xmlns:a="http://schemas.openxmlformats.org/drawingml/2006/main">
            <a:off x="455930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State</a:t>
            </a:r>
          </a:p>
        </p:txBody>
      </p:sp>
      <p:sp>
        <p:nvSpPr>
          <p:cNvPr id="16" name="text-yx1d0e9czv">
            <a:extLst xmlns:a="http://schemas.openxmlformats.org/drawingml/2006/main">
              <a:ext uri="{FF2B5EF4-FFF2-40B4-BE49-F238E27FC236}">
                <a16:creationId xmlns:a16="http://schemas.microsoft.com/office/drawing/2014/main" id="{DAF96B0A-DE4D-4628-A651-0F6426A0B4EC}"/>
              </a:ext>
            </a:extLst>
          </p:cNvPr>
          <p:cNvSpPr>
            <a:spLocks xmlns:a="http://schemas.openxmlformats.org/drawingml/2006/main" noGrp="1"/>
          </p:cNvSpPr>
          <p:nvPr/>
        </p:nvSpPr>
        <p:spPr>
          <a:xfrm xmlns:a="http://schemas.openxmlformats.org/drawingml/2006/main">
            <a:off x="455930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Bₜ₊Δ = max(0, Bₜ − W × Δh).</a:t>
            </a:r>
          </a:p>
        </p:txBody>
      </p:sp>
      <p:sp>
        <p:nvSpPr>
          <p:cNvPr id="17" name="">
            <a:extLst xmlns:a="http://schemas.openxmlformats.org/drawingml/2006/main">
              <a:ext uri="{FF2B5EF4-FFF2-40B4-BE49-F238E27FC236}">
                <a16:creationId xmlns:a16="http://schemas.microsoft.com/office/drawing/2014/main" id="{2DE23DE4-107F-4C58-B102-7AA04ED41268}"/>
              </a:ext>
            </a:extLst>
          </p:cNvPr>
          <p:cNvSpPr>
            <a:spLocks xmlns:a="http://schemas.openxmlformats.org/drawingml/2006/main" noGrp="1"/>
          </p:cNvSpPr>
          <p:nvPr/>
        </p:nvSpPr>
        <p:spPr>
          <a:xfrm xmlns:a="http://schemas.openxmlformats.org/drawingml/2006/main">
            <a:off x="80899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881D579-E504-4C9E-8792-1E80E0E054AA}"/>
              </a:ext>
            </a:extLst>
          </p:cNvPr>
          <p:cNvSpPr>
            <a:spLocks xmlns:a="http://schemas.openxmlformats.org/drawingml/2006/main" noGrp="1"/>
          </p:cNvSpPr>
          <p:nvPr/>
        </p:nvSpPr>
        <p:spPr>
          <a:xfrm xmlns:a="http://schemas.openxmlformats.org/drawingml/2006/main">
            <a:off x="8089900" y="3810000"/>
            <a:ext cx="38100" cy="204787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9" name="text-shz4t9iohh">
            <a:extLst xmlns:a="http://schemas.openxmlformats.org/drawingml/2006/main">
              <a:ext uri="{FF2B5EF4-FFF2-40B4-BE49-F238E27FC236}">
                <a16:creationId xmlns:a16="http://schemas.microsoft.com/office/drawing/2014/main" id="{D3D8256A-D505-493A-A38C-7A62572EBEF4}"/>
              </a:ext>
            </a:extLst>
          </p:cNvPr>
          <p:cNvSpPr>
            <a:spLocks xmlns:a="http://schemas.openxmlformats.org/drawingml/2006/main" noGrp="1"/>
          </p:cNvSpPr>
          <p:nvPr/>
        </p:nvSpPr>
        <p:spPr>
          <a:xfrm xmlns:a="http://schemas.openxmlformats.org/drawingml/2006/main">
            <a:off x="82994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Comparison</a:t>
            </a:r>
          </a:p>
        </p:txBody>
      </p:sp>
      <p:sp>
        <p:nvSpPr>
          <p:cNvPr id="20" name="text-da2tazl06os">
            <a:extLst xmlns:a="http://schemas.openxmlformats.org/drawingml/2006/main">
              <a:ext uri="{FF2B5EF4-FFF2-40B4-BE49-F238E27FC236}">
                <a16:creationId xmlns:a16="http://schemas.microsoft.com/office/drawing/2014/main" id="{E27CD70C-E4ED-4899-89F3-86322F13BE58}"/>
              </a:ext>
            </a:extLst>
          </p:cNvPr>
          <p:cNvSpPr>
            <a:spLocks xmlns:a="http://schemas.openxmlformats.org/drawingml/2006/main" noGrp="1"/>
          </p:cNvSpPr>
          <p:nvPr/>
        </p:nvSpPr>
        <p:spPr>
          <a:xfrm xmlns:a="http://schemas.openxmlformats.org/drawingml/2006/main">
            <a:off x="82994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A larger battery changes runtime, not Wh per attempt.</a:t>
            </a:r>
          </a:p>
        </p:txBody>
      </p:sp>
    </p:spTree>
    <p:extLst>
      <p:ext uri="{BB962C8B-B14F-4D97-AF65-F5344CB8AC3E}">
        <p14:creationId xmlns:p14="http://schemas.microsoft.com/office/powerpoint/2010/main" val="1214168982"/>
      </p:ext>
    </p:extLst>
  </p:cSld>
</p:sld>
</file>

<file path=ppt/slides/slide3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BA9456C-18D6-495B-BB27-D9D558A04740}"/>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ycjcok9nzc">
            <a:extLst xmlns:a="http://schemas.openxmlformats.org/drawingml/2006/main">
              <a:ext uri="{FF2B5EF4-FFF2-40B4-BE49-F238E27FC236}">
                <a16:creationId xmlns:a16="http://schemas.microsoft.com/office/drawing/2014/main" id="{E73F70AA-B910-4A1A-821C-289BC2B923C1}"/>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qme6otk3v2">
            <a:extLst xmlns:a="http://schemas.openxmlformats.org/drawingml/2006/main">
              <a:ext uri="{FF2B5EF4-FFF2-40B4-BE49-F238E27FC236}">
                <a16:creationId xmlns:a16="http://schemas.microsoft.com/office/drawing/2014/main" id="{4C3E44F2-404F-40F1-8D36-DEC04DC6FAF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Energy efficiency alone does not determine useful cost</a:t>
            </a:r>
          </a:p>
        </p:txBody>
      </p:sp>
      <p:sp>
        <p:nvSpPr>
          <p:cNvPr id="4" name="text-n0iz9jj2vrn">
            <a:extLst xmlns:a="http://schemas.openxmlformats.org/drawingml/2006/main">
              <a:ext uri="{FF2B5EF4-FFF2-40B4-BE49-F238E27FC236}">
                <a16:creationId xmlns:a16="http://schemas.microsoft.com/office/drawing/2014/main" id="{750FB72F-DBC7-48A0-9E44-1F86A206A7D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The extension adds availability, success rate and annual costs.</a:t>
            </a:r>
          </a:p>
        </p:txBody>
      </p:sp>
      <p:sp>
        <p:nvSpPr>
          <p:cNvPr id="5" name="">
            <a:extLst xmlns:a="http://schemas.openxmlformats.org/drawingml/2006/main">
              <a:ext uri="{FF2B5EF4-FFF2-40B4-BE49-F238E27FC236}">
                <a16:creationId xmlns:a16="http://schemas.microsoft.com/office/drawing/2014/main" id="{C146F3CB-2EA0-4F56-BA8B-42A67A6AB43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omkegikq2i">
            <a:extLst xmlns:a="http://schemas.openxmlformats.org/drawingml/2006/main">
              <a:ext uri="{FF2B5EF4-FFF2-40B4-BE49-F238E27FC236}">
                <a16:creationId xmlns:a16="http://schemas.microsoft.com/office/drawing/2014/main" id="{D2A8A8A9-2DCE-40B7-A5A5-C1CA98F46D68}"/>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xfx1rzf5qfk">
            <a:extLst xmlns:a="http://schemas.openxmlformats.org/drawingml/2006/main">
              <a:ext uri="{FF2B5EF4-FFF2-40B4-BE49-F238E27FC236}">
                <a16:creationId xmlns:a16="http://schemas.microsoft.com/office/drawing/2014/main" id="{59441C93-9D6D-462B-A276-FA611EBCE427}"/>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35</a:t>
            </a:r>
          </a:p>
        </p:txBody>
      </p:sp>
      <p:sp>
        <p:nvSpPr>
          <p:cNvPr id="8" name="">
            <a:extLst xmlns:a="http://schemas.openxmlformats.org/drawingml/2006/main">
              <a:ext uri="{FF2B5EF4-FFF2-40B4-BE49-F238E27FC236}">
                <a16:creationId xmlns:a16="http://schemas.microsoft.com/office/drawing/2014/main" id="{4CD3B350-148B-42EF-95EF-91BA6D5AA701}"/>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46FCFCF-A23F-40CE-9691-7C5B5842B30A}"/>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ugb4trsqx3i">
            <a:extLst xmlns:a="http://schemas.openxmlformats.org/drawingml/2006/main">
              <a:ext uri="{FF2B5EF4-FFF2-40B4-BE49-F238E27FC236}">
                <a16:creationId xmlns:a16="http://schemas.microsoft.com/office/drawing/2014/main" id="{6ACC9FD1-5D6B-4DD8-B8DE-721DD05C6290}"/>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Annual valid tasks</a:t>
            </a:r>
          </a:p>
        </p:txBody>
      </p:sp>
      <p:sp>
        <p:nvSpPr>
          <p:cNvPr id="11" name="text-0afsp9onq4y">
            <a:extLst xmlns:a="http://schemas.openxmlformats.org/drawingml/2006/main">
              <a:ext uri="{FF2B5EF4-FFF2-40B4-BE49-F238E27FC236}">
                <a16:creationId xmlns:a16="http://schemas.microsoft.com/office/drawing/2014/main" id="{778824AB-86EB-4A37-BEDF-73ED289F7B1F}"/>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Qᵥ = H × A × q × r.</a:t>
            </a:r>
          </a:p>
        </p:txBody>
      </p:sp>
      <p:sp>
        <p:nvSpPr>
          <p:cNvPr id="12" name="">
            <a:extLst xmlns:a="http://schemas.openxmlformats.org/drawingml/2006/main">
              <a:ext uri="{FF2B5EF4-FFF2-40B4-BE49-F238E27FC236}">
                <a16:creationId xmlns:a16="http://schemas.microsoft.com/office/drawing/2014/main" id="{C9050CAD-94F6-4CE9-B637-48C12AB807A0}"/>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C47CBDF-B6D5-409F-B647-E9640D126EE6}"/>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3q7wqqmk3sd">
            <a:extLst xmlns:a="http://schemas.openxmlformats.org/drawingml/2006/main">
              <a:ext uri="{FF2B5EF4-FFF2-40B4-BE49-F238E27FC236}">
                <a16:creationId xmlns:a16="http://schemas.microsoft.com/office/drawing/2014/main" id="{25A2C8B9-8C70-4D8B-82B9-1F93C45F05A1}"/>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Energy per valid task</a:t>
            </a:r>
          </a:p>
        </p:txBody>
      </p:sp>
      <p:sp>
        <p:nvSpPr>
          <p:cNvPr id="15" name="text-kxkimgykob">
            <a:extLst xmlns:a="http://schemas.openxmlformats.org/drawingml/2006/main">
              <a:ext uri="{FF2B5EF4-FFF2-40B4-BE49-F238E27FC236}">
                <a16:creationId xmlns:a16="http://schemas.microsoft.com/office/drawing/2014/main" id="{FC3D8806-79AB-4AB0-95D9-33167C12DE36}"/>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Eᵥ = W / (q × r), during operation.</a:t>
            </a:r>
          </a:p>
        </p:txBody>
      </p:sp>
      <p:sp>
        <p:nvSpPr>
          <p:cNvPr id="16" name="">
            <a:extLst xmlns:a="http://schemas.openxmlformats.org/drawingml/2006/main">
              <a:ext uri="{FF2B5EF4-FFF2-40B4-BE49-F238E27FC236}">
                <a16:creationId xmlns:a16="http://schemas.microsoft.com/office/drawing/2014/main" id="{0EFAD252-053D-42EB-9267-6F8682C800A3}"/>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D6F0EC2-1E75-448B-9C61-015CF1182563}"/>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rej1wba6g5d">
            <a:extLst xmlns:a="http://schemas.openxmlformats.org/drawingml/2006/main">
              <a:ext uri="{FF2B5EF4-FFF2-40B4-BE49-F238E27FC236}">
                <a16:creationId xmlns:a16="http://schemas.microsoft.com/office/drawing/2014/main" id="{1284984C-24F2-4E64-86AF-9E03E866F3B3}"/>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Unit cost</a:t>
            </a:r>
          </a:p>
        </p:txBody>
      </p:sp>
      <p:sp>
        <p:nvSpPr>
          <p:cNvPr id="19" name="text-rm53fvb8wc8">
            <a:extLst xmlns:a="http://schemas.openxmlformats.org/drawingml/2006/main">
              <a:ext uri="{FF2B5EF4-FFF2-40B4-BE49-F238E27FC236}">
                <a16:creationId xmlns:a16="http://schemas.microsoft.com/office/drawing/2014/main" id="{6768A16C-6222-47B8-AA28-5F0E0C4C7E13}"/>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Total annual cost / Qᵥ.</a:t>
            </a:r>
          </a:p>
        </p:txBody>
      </p:sp>
    </p:spTree>
    <p:extLst>
      <p:ext uri="{BB962C8B-B14F-4D97-AF65-F5344CB8AC3E}">
        <p14:creationId xmlns:p14="http://schemas.microsoft.com/office/powerpoint/2010/main" val="1429336381"/>
      </p:ext>
    </p:extLst>
  </p:cSld>
</p:sld>
</file>

<file path=ppt/slides/slide3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2582F8F-5109-4F95-AEB8-EAD2A03F0D7B}"/>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qdbjmvj3kge">
            <a:extLst xmlns:a="http://schemas.openxmlformats.org/drawingml/2006/main">
              <a:ext uri="{FF2B5EF4-FFF2-40B4-BE49-F238E27FC236}">
                <a16:creationId xmlns:a16="http://schemas.microsoft.com/office/drawing/2014/main" id="{68DA153C-1AE3-4A43-BC3B-B482160DBFF1}"/>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ba48j2ol5eb">
            <a:extLst xmlns:a="http://schemas.openxmlformats.org/drawingml/2006/main">
              <a:ext uri="{FF2B5EF4-FFF2-40B4-BE49-F238E27FC236}">
                <a16:creationId xmlns:a16="http://schemas.microsoft.com/office/drawing/2014/main" id="{D7C9D6F7-E9FD-4FC8-B316-473C2AB1974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Total cost includes integration and operation</a:t>
            </a:r>
          </a:p>
        </p:txBody>
      </p:sp>
      <p:sp>
        <p:nvSpPr>
          <p:cNvPr id="4" name="text-gz5mgj75bo">
            <a:extLst xmlns:a="http://schemas.openxmlformats.org/drawingml/2006/main">
              <a:ext uri="{FF2B5EF4-FFF2-40B4-BE49-F238E27FC236}">
                <a16:creationId xmlns:a16="http://schemas.microsoft.com/office/drawing/2014/main" id="{5652E991-333C-4587-BCC6-3C17F2BBC200}"/>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Compare technologies by valid task and economic horizon.</a:t>
            </a:r>
          </a:p>
        </p:txBody>
      </p:sp>
      <p:sp>
        <p:nvSpPr>
          <p:cNvPr id="5" name="">
            <a:extLst xmlns:a="http://schemas.openxmlformats.org/drawingml/2006/main">
              <a:ext uri="{FF2B5EF4-FFF2-40B4-BE49-F238E27FC236}">
                <a16:creationId xmlns:a16="http://schemas.microsoft.com/office/drawing/2014/main" id="{850A37FF-2579-401D-B747-80697FB74F1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34ax07j6qlj">
            <a:extLst xmlns:a="http://schemas.openxmlformats.org/drawingml/2006/main">
              <a:ext uri="{FF2B5EF4-FFF2-40B4-BE49-F238E27FC236}">
                <a16:creationId xmlns:a16="http://schemas.microsoft.com/office/drawing/2014/main" id="{CA922A19-A002-4F5A-829F-46D89EEFC3FF}"/>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r0zmds4b4kj">
            <a:extLst xmlns:a="http://schemas.openxmlformats.org/drawingml/2006/main">
              <a:ext uri="{FF2B5EF4-FFF2-40B4-BE49-F238E27FC236}">
                <a16:creationId xmlns:a16="http://schemas.microsoft.com/office/drawing/2014/main" id="{5FDFCC0F-67A6-4054-A45C-21C51BB9716C}"/>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36</a:t>
            </a:r>
          </a:p>
        </p:txBody>
      </p:sp>
      <p:sp>
        <p:nvSpPr>
          <p:cNvPr id="8" name="">
            <a:extLst xmlns:a="http://schemas.openxmlformats.org/drawingml/2006/main">
              <a:ext uri="{FF2B5EF4-FFF2-40B4-BE49-F238E27FC236}">
                <a16:creationId xmlns:a16="http://schemas.microsoft.com/office/drawing/2014/main" id="{5681E0D5-23CE-4439-9DE9-4EAB5B89B719}"/>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2333AAF-791D-4D70-ABA1-F28B944344B8}"/>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us55m4gafpp">
            <a:extLst xmlns:a="http://schemas.openxmlformats.org/drawingml/2006/main">
              <a:ext uri="{FF2B5EF4-FFF2-40B4-BE49-F238E27FC236}">
                <a16:creationId xmlns:a16="http://schemas.microsoft.com/office/drawing/2014/main" id="{29FE04B2-1C53-4598-8DA7-E2D366168976}"/>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Initial investment</a:t>
            </a:r>
          </a:p>
        </p:txBody>
      </p:sp>
      <p:sp>
        <p:nvSpPr>
          <p:cNvPr id="11" name="text-7u1mwqg9hvq">
            <a:extLst xmlns:a="http://schemas.openxmlformats.org/drawingml/2006/main">
              <a:ext uri="{FF2B5EF4-FFF2-40B4-BE49-F238E27FC236}">
                <a16:creationId xmlns:a16="http://schemas.microsoft.com/office/drawing/2014/main" id="{E5A01DD8-05DA-4F21-BD66-18E890368911}"/>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Equipment, installation, adaptation and engineering.</a:t>
            </a:r>
          </a:p>
        </p:txBody>
      </p:sp>
      <p:sp>
        <p:nvSpPr>
          <p:cNvPr id="12" name="">
            <a:extLst xmlns:a="http://schemas.openxmlformats.org/drawingml/2006/main">
              <a:ext uri="{FF2B5EF4-FFF2-40B4-BE49-F238E27FC236}">
                <a16:creationId xmlns:a16="http://schemas.microsoft.com/office/drawing/2014/main" id="{0C6C9B47-F216-465E-9917-BA16CEFCD853}"/>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D1343E8-8FB6-439D-9843-6F286F9F1248}"/>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e8nyomspf9">
            <a:extLst xmlns:a="http://schemas.openxmlformats.org/drawingml/2006/main">
              <a:ext uri="{FF2B5EF4-FFF2-40B4-BE49-F238E27FC236}">
                <a16:creationId xmlns:a16="http://schemas.microsoft.com/office/drawing/2014/main" id="{49A46269-5900-48F9-8EAA-89BDDF13A8D3}"/>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Annual fixed cost</a:t>
            </a:r>
          </a:p>
        </p:txBody>
      </p:sp>
      <p:sp>
        <p:nvSpPr>
          <p:cNvPr id="15" name="text-3fzh3a94hz4">
            <a:extLst xmlns:a="http://schemas.openxmlformats.org/drawingml/2006/main">
              <a:ext uri="{FF2B5EF4-FFF2-40B4-BE49-F238E27FC236}">
                <a16:creationId xmlns:a16="http://schemas.microsoft.com/office/drawing/2014/main" id="{2F21582D-BA9F-41A5-9933-60BC1E71F906}"/>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Annualized capital, support, licenses and maintenance.</a:t>
            </a:r>
          </a:p>
        </p:txBody>
      </p:sp>
      <p:sp>
        <p:nvSpPr>
          <p:cNvPr id="16" name="">
            <a:extLst xmlns:a="http://schemas.openxmlformats.org/drawingml/2006/main">
              <a:ext uri="{FF2B5EF4-FFF2-40B4-BE49-F238E27FC236}">
                <a16:creationId xmlns:a16="http://schemas.microsoft.com/office/drawing/2014/main" id="{D72BC987-7521-43B5-8422-92C27AED52CF}"/>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67AB73D-8950-4681-B035-901CBB3E7AA2}"/>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9ttku2vm9kd">
            <a:extLst xmlns:a="http://schemas.openxmlformats.org/drawingml/2006/main">
              <a:ext uri="{FF2B5EF4-FFF2-40B4-BE49-F238E27FC236}">
                <a16:creationId xmlns:a16="http://schemas.microsoft.com/office/drawing/2014/main" id="{77249629-F6DC-4C23-A9C0-A69C48FDE502}"/>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Variable cost</a:t>
            </a:r>
          </a:p>
        </p:txBody>
      </p:sp>
      <p:sp>
        <p:nvSpPr>
          <p:cNvPr id="19" name="text-sueq6nq13h">
            <a:extLst xmlns:a="http://schemas.openxmlformats.org/drawingml/2006/main">
              <a:ext uri="{FF2B5EF4-FFF2-40B4-BE49-F238E27FC236}">
                <a16:creationId xmlns:a16="http://schemas.microsoft.com/office/drawing/2014/main" id="{20DE1BA7-DA59-4EC6-9D45-20811CAA627C}"/>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Energy, consumables and intervention per attempt.</a:t>
            </a:r>
          </a:p>
        </p:txBody>
      </p:sp>
    </p:spTree>
    <p:extLst>
      <p:ext uri="{BB962C8B-B14F-4D97-AF65-F5344CB8AC3E}">
        <p14:creationId xmlns:p14="http://schemas.microsoft.com/office/powerpoint/2010/main" val="1218469798"/>
      </p:ext>
    </p:extLst>
  </p:cSld>
</p:sld>
</file>

<file path=ppt/slides/slide37.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DB7201-B688-4DA8-B1C9-3D285CC60673}"/>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yvc28rub5fn">
            <a:extLst xmlns:a="http://schemas.openxmlformats.org/drawingml/2006/main">
              <a:ext uri="{FF2B5EF4-FFF2-40B4-BE49-F238E27FC236}">
                <a16:creationId xmlns:a16="http://schemas.microsoft.com/office/drawing/2014/main" id="{666C68F5-3270-45F8-A2DF-8A43ADBEA91D}"/>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0k954v63y1wk">
            <a:extLst xmlns:a="http://schemas.openxmlformats.org/drawingml/2006/main">
              <a:ext uri="{FF2B5EF4-FFF2-40B4-BE49-F238E27FC236}">
                <a16:creationId xmlns:a16="http://schemas.microsoft.com/office/drawing/2014/main" id="{676D2FE2-C505-4C6C-97A8-169FB56CEF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A fixed task can favor conventional automation</a:t>
            </a:r>
          </a:p>
        </p:txBody>
      </p:sp>
      <p:sp>
        <p:nvSpPr>
          <p:cNvPr id="4" name="text-fzvmvokqu8a">
            <a:extLst xmlns:a="http://schemas.openxmlformats.org/drawingml/2006/main">
              <a:ext uri="{FF2B5EF4-FFF2-40B4-BE49-F238E27FC236}">
                <a16:creationId xmlns:a16="http://schemas.microsoft.com/office/drawing/2014/main" id="{BD36D95E-F083-461C-996F-145C292CA48E}"/>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Hypothetical example with annual costs already calculated.</a:t>
            </a:r>
          </a:p>
        </p:txBody>
      </p:sp>
      <p:sp>
        <p:nvSpPr>
          <p:cNvPr id="5" name="">
            <a:extLst xmlns:a="http://schemas.openxmlformats.org/drawingml/2006/main">
              <a:ext uri="{FF2B5EF4-FFF2-40B4-BE49-F238E27FC236}">
                <a16:creationId xmlns:a16="http://schemas.microsoft.com/office/drawing/2014/main" id="{845B272D-31E2-4482-89C1-98C90D79E13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6qo0s86z5mm">
            <a:extLst xmlns:a="http://schemas.openxmlformats.org/drawingml/2006/main">
              <a:ext uri="{FF2B5EF4-FFF2-40B4-BE49-F238E27FC236}">
                <a16:creationId xmlns:a16="http://schemas.microsoft.com/office/drawing/2014/main" id="{4523A236-4248-4425-9C04-358A5D95496B}"/>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xt32dtt00u">
            <a:extLst xmlns:a="http://schemas.openxmlformats.org/drawingml/2006/main">
              <a:ext uri="{FF2B5EF4-FFF2-40B4-BE49-F238E27FC236}">
                <a16:creationId xmlns:a16="http://schemas.microsoft.com/office/drawing/2014/main" id="{C4DFF9D4-EE4B-4D5A-B147-F3AA293769E1}"/>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37</a:t>
            </a:r>
          </a:p>
        </p:txBody>
      </p:sp>
      <p:graphicFrame>
        <p:nvGraphicFramePr>
          <p:cNvPr id="8" name="">
            <a:extLst xmlns:a="http://schemas.openxmlformats.org/drawingml/2006/main">
              <a:ext uri="{FF2B5EF4-FFF2-40B4-BE49-F238E27FC236}">
                <a16:creationId xmlns:a16="http://schemas.microsoft.com/office/drawing/2014/main" id="{3CB68A6F-D253-486E-9638-15C20AB40D10}"/>
              </a:ext>
            </a:extLst>
          </p:cNvPr>
          <p:cNvGraphicFramePr/>
          <p:nvPr/>
        </p:nvGraphicFramePr>
        <p:xfrm>
          <a:off xmlns:a="http://schemas.openxmlformats.org/drawingml/2006/main" x="609600" y="2647950"/>
          <a:ext xmlns:a="http://schemas.openxmlformats.org/drawingml/2006/main" cx="10972800" cy="1714500"/>
        </p:xfrm>
        <a:graphic xmlns:a="http://schemas.openxmlformats.org/drawingml/2006/main">
          <a:graphicData uri="http://schemas.openxmlformats.org/drawingml/2006/table">
            <a:tbl>
              <a:tblPr/>
              <a:tblGrid>
                <a:gridCol w="3190875"/>
                <a:gridCol w="2600325"/>
                <a:gridCol w="2600325"/>
                <a:gridCol w="2581275"/>
              </a:tblGrid>
              <a:tr h="552450">
                <a:tc>
                  <a:txBody>
                    <a:bodyPr lIns="114300" tIns="114300" rIns="114300" bIns="114300"/>
                    <a:lstStyle/>
                    <a:p>
                      <a:r>
                        <a:rPr sz="1725" b="1">
                          <a:solidFill>
                            <a:srgbClr val="FFFFFF"/>
                          </a:solidFill>
                          <a:latin typeface="DejaVu Sans"/>
                          <a:ea typeface="DejaVu Sans"/>
                          <a:cs typeface="DejaVu Sans"/>
                        </a:rPr>
                        <a:t>Alternative</a:t>
                      </a:r>
                    </a:p>
                  </a:txBody>
                  <a:tcPr marL="91440" marR="91440" marT="45720" marB="45720">
                    <a:lnL w="9525">
                      <a:solidFill>
                        <a:srgbClr val="CCD8D6"/>
                      </a:solidFill>
                      <a:prstDash val="solid"/>
                    </a:lnL>
                    <a:lnR w="9525">
                      <a:solidFill>
                        <a:srgbClr val="CCD8D6"/>
                      </a:solidFill>
                      <a:prstDash val="solid"/>
                    </a:lnR>
                    <a:lnT w="9525">
                      <a:solidFill>
                        <a:srgbClr val="CCD8D6"/>
                      </a:solidFill>
                      <a:prstDash val="solid"/>
                    </a:lnT>
                    <a:lnB w="9525">
                      <a:solidFill>
                        <a:srgbClr val="CCD8D6"/>
                      </a:solidFill>
                      <a:prstDash val="solid"/>
                    </a:lnB>
                    <a:solidFill>
                      <a:srgbClr val="087D78"/>
                    </a:solidFill>
                  </a:tcPr>
                </a:tc>
                <a:tc>
                  <a:txBody>
                    <a:bodyPr lIns="114300" tIns="114300" rIns="114300" bIns="114300"/>
                    <a:lstStyle/>
                    <a:p>
                      <a:r>
                        <a:rPr sz="1725" b="1">
                          <a:solidFill>
                            <a:srgbClr val="FFFFFF"/>
                          </a:solidFill>
                          <a:latin typeface="DejaVu Sans"/>
                          <a:ea typeface="DejaVu Sans"/>
                          <a:cs typeface="DejaVu Sans"/>
                        </a:rPr>
                        <a:t>Annual cost</a:t>
                      </a:r>
                    </a:p>
                  </a:txBody>
                  <a:tcPr marL="91440" marR="91440" marT="45720" marB="45720">
                    <a:lnR w="9525">
                      <a:solidFill>
                        <a:srgbClr val="CCD8D6"/>
                      </a:solidFill>
                      <a:prstDash val="solid"/>
                    </a:lnR>
                    <a:lnT w="9525">
                      <a:solidFill>
                        <a:srgbClr val="CCD8D6"/>
                      </a:solidFill>
                      <a:prstDash val="solid"/>
                    </a:lnT>
                    <a:lnB w="9525">
                      <a:solidFill>
                        <a:srgbClr val="CCD8D6"/>
                      </a:solidFill>
                      <a:prstDash val="solid"/>
                    </a:lnB>
                    <a:solidFill>
                      <a:srgbClr val="087D78"/>
                    </a:solidFill>
                  </a:tcPr>
                </a:tc>
                <a:tc>
                  <a:txBody>
                    <a:bodyPr lIns="114300" tIns="114300" rIns="114300" bIns="114300"/>
                    <a:lstStyle/>
                    <a:p>
                      <a:r>
                        <a:rPr sz="1725" b="1">
                          <a:solidFill>
                            <a:srgbClr val="FFFFFF"/>
                          </a:solidFill>
                          <a:latin typeface="DejaVu Sans"/>
                          <a:ea typeface="DejaVu Sans"/>
                          <a:cs typeface="DejaVu Sans"/>
                        </a:rPr>
                        <a:t>Valid tasks</a:t>
                      </a:r>
                    </a:p>
                  </a:txBody>
                  <a:tcPr marL="91440" marR="91440" marT="45720" marB="45720">
                    <a:lnR w="9525">
                      <a:solidFill>
                        <a:srgbClr val="CCD8D6"/>
                      </a:solidFill>
                      <a:prstDash val="solid"/>
                    </a:lnR>
                    <a:lnT w="9525">
                      <a:solidFill>
                        <a:srgbClr val="CCD8D6"/>
                      </a:solidFill>
                      <a:prstDash val="solid"/>
                    </a:lnT>
                    <a:lnB w="9525">
                      <a:solidFill>
                        <a:srgbClr val="CCD8D6"/>
                      </a:solidFill>
                      <a:prstDash val="solid"/>
                    </a:lnB>
                    <a:solidFill>
                      <a:srgbClr val="087D78"/>
                    </a:solidFill>
                  </a:tcPr>
                </a:tc>
                <a:tc>
                  <a:txBody>
                    <a:bodyPr lIns="114300" tIns="114300" rIns="114300" bIns="114300"/>
                    <a:lstStyle/>
                    <a:p>
                      <a:r>
                        <a:rPr sz="1725" b="1">
                          <a:solidFill>
                            <a:srgbClr val="FFFFFF"/>
                          </a:solidFill>
                          <a:latin typeface="DejaVu Sans"/>
                          <a:ea typeface="DejaVu Sans"/>
                          <a:cs typeface="DejaVu Sans"/>
                        </a:rPr>
                        <a:t>Cost / task</a:t>
                      </a:r>
                    </a:p>
                  </a:txBody>
                  <a:tcPr marL="91440" marR="91440" marT="45720" marB="45720">
                    <a:lnR w="9525">
                      <a:solidFill>
                        <a:srgbClr val="CCD8D6"/>
                      </a:solidFill>
                      <a:prstDash val="solid"/>
                    </a:lnR>
                    <a:lnT w="9525">
                      <a:solidFill>
                        <a:srgbClr val="CCD8D6"/>
                      </a:solidFill>
                      <a:prstDash val="solid"/>
                    </a:lnT>
                    <a:lnB w="9525">
                      <a:solidFill>
                        <a:srgbClr val="CCD8D6"/>
                      </a:solidFill>
                      <a:prstDash val="solid"/>
                    </a:lnB>
                    <a:solidFill>
                      <a:srgbClr val="087D78"/>
                    </a:solidFill>
                  </a:tcPr>
                </a:tc>
              </a:tr>
              <a:tr h="552450">
                <a:tc>
                  <a:txBody>
                    <a:bodyPr lIns="114300" tIns="114300" rIns="114300" bIns="114300"/>
                    <a:lstStyle/>
                    <a:p>
                      <a:r>
                        <a:rPr sz="1725" b="0">
                          <a:solidFill>
                            <a:srgbClr val="10242B"/>
                          </a:solidFill>
                          <a:latin typeface="DejaVu Sans"/>
                          <a:ea typeface="DejaVu Sans"/>
                          <a:cs typeface="DejaVu Sans"/>
                        </a:rPr>
                        <a:t>Humanoid A</a:t>
                      </a:r>
                    </a:p>
                  </a:txBody>
                  <a:tcPr marL="91440" marR="91440" marT="45720" marB="45720">
                    <a:lnL w="9525">
                      <a:solidFill>
                        <a:srgbClr val="CCD8D6"/>
                      </a:solidFill>
                      <a:prstDash val="solid"/>
                    </a:lnL>
                    <a:lnR w="9525">
                      <a:solidFill>
                        <a:srgbClr val="CCD8D6"/>
                      </a:solidFill>
                      <a:prstDash val="solid"/>
                    </a:lnR>
                    <a:lnB w="9525">
                      <a:solidFill>
                        <a:srgbClr val="CCD8D6"/>
                      </a:solidFill>
                      <a:prstDash val="solid"/>
                    </a:lnB>
                    <a:solidFill>
                      <a:srgbClr val="FFFDFA"/>
                    </a:solidFill>
                  </a:tcPr>
                </a:tc>
                <a:tc>
                  <a:txBody>
                    <a:bodyPr lIns="114300" tIns="114300" rIns="114300" bIns="114300"/>
                    <a:lstStyle/>
                    <a:p>
                      <a:r>
                        <a:rPr sz="1725" b="0">
                          <a:solidFill>
                            <a:srgbClr val="10242B"/>
                          </a:solidFill>
                          <a:latin typeface="DejaVu Sans"/>
                          <a:ea typeface="DejaVu Sans"/>
                          <a:cs typeface="DejaVu Sans"/>
                        </a:rPr>
                        <a:t>US$80,000</a:t>
                      </a:r>
                    </a:p>
                  </a:txBody>
                  <a:tcPr marL="91440" marR="91440" marT="45720" marB="45720">
                    <a:lnR w="9525">
                      <a:solidFill>
                        <a:srgbClr val="CCD8D6"/>
                      </a:solidFill>
                      <a:prstDash val="solid"/>
                    </a:lnR>
                    <a:lnB w="9525">
                      <a:solidFill>
                        <a:srgbClr val="CCD8D6"/>
                      </a:solidFill>
                      <a:prstDash val="solid"/>
                    </a:lnB>
                    <a:solidFill>
                      <a:srgbClr val="FFFDFA"/>
                    </a:solidFill>
                  </a:tcPr>
                </a:tc>
                <a:tc>
                  <a:txBody>
                    <a:bodyPr lIns="114300" tIns="114300" rIns="114300" bIns="114300"/>
                    <a:lstStyle/>
                    <a:p>
                      <a:r>
                        <a:rPr sz="1725" b="0">
                          <a:solidFill>
                            <a:srgbClr val="10242B"/>
                          </a:solidFill>
                          <a:latin typeface="DejaVu Sans"/>
                          <a:ea typeface="DejaVu Sans"/>
                          <a:cs typeface="DejaVu Sans"/>
                        </a:rPr>
                        <a:t>40,000</a:t>
                      </a:r>
                    </a:p>
                  </a:txBody>
                  <a:tcPr marL="91440" marR="91440" marT="45720" marB="45720">
                    <a:lnR w="9525">
                      <a:solidFill>
                        <a:srgbClr val="CCD8D6"/>
                      </a:solidFill>
                      <a:prstDash val="solid"/>
                    </a:lnR>
                    <a:lnB w="9525">
                      <a:solidFill>
                        <a:srgbClr val="CCD8D6"/>
                      </a:solidFill>
                      <a:prstDash val="solid"/>
                    </a:lnB>
                    <a:solidFill>
                      <a:srgbClr val="FFFDFA"/>
                    </a:solidFill>
                  </a:tcPr>
                </a:tc>
                <a:tc>
                  <a:txBody>
                    <a:bodyPr lIns="114300" tIns="114300" rIns="114300" bIns="114300"/>
                    <a:lstStyle/>
                    <a:p>
                      <a:r>
                        <a:rPr sz="1725" b="0">
                          <a:solidFill>
                            <a:srgbClr val="10242B"/>
                          </a:solidFill>
                          <a:latin typeface="DejaVu Sans"/>
                          <a:ea typeface="DejaVu Sans"/>
                          <a:cs typeface="DejaVu Sans"/>
                        </a:rPr>
                        <a:t>US$2.00</a:t>
                      </a:r>
                    </a:p>
                  </a:txBody>
                  <a:tcPr marL="91440" marR="91440" marT="45720" marB="45720">
                    <a:lnR w="9525">
                      <a:solidFill>
                        <a:srgbClr val="CCD8D6"/>
                      </a:solidFill>
                      <a:prstDash val="solid"/>
                    </a:lnR>
                    <a:lnB w="9525">
                      <a:solidFill>
                        <a:srgbClr val="CCD8D6"/>
                      </a:solidFill>
                      <a:prstDash val="solid"/>
                    </a:lnB>
                    <a:solidFill>
                      <a:srgbClr val="FFFDFA"/>
                    </a:solidFill>
                  </a:tcPr>
                </a:tc>
              </a:tr>
              <a:tr h="552450">
                <a:tc>
                  <a:txBody>
                    <a:bodyPr lIns="114300" tIns="114300" rIns="114300" bIns="114300"/>
                    <a:lstStyle/>
                    <a:p>
                      <a:r>
                        <a:rPr sz="1725" b="0">
                          <a:solidFill>
                            <a:srgbClr val="10242B"/>
                          </a:solidFill>
                          <a:latin typeface="DejaVu Sans"/>
                          <a:ea typeface="DejaVu Sans"/>
                          <a:cs typeface="DejaVu Sans"/>
                        </a:rPr>
                        <a:t>Arm B</a:t>
                      </a:r>
                    </a:p>
                  </a:txBody>
                  <a:tcPr marL="91440" marR="91440" marT="45720" marB="45720">
                    <a:lnL w="9525">
                      <a:solidFill>
                        <a:srgbClr val="CCD8D6"/>
                      </a:solidFill>
                      <a:prstDash val="solid"/>
                    </a:lnL>
                    <a:lnR w="9525">
                      <a:solidFill>
                        <a:srgbClr val="CCD8D6"/>
                      </a:solidFill>
                      <a:prstDash val="solid"/>
                    </a:lnR>
                    <a:lnB w="9525">
                      <a:solidFill>
                        <a:srgbClr val="CCD8D6"/>
                      </a:solidFill>
                      <a:prstDash val="solid"/>
                    </a:lnB>
                    <a:solidFill>
                      <a:srgbClr val="E5ECE8"/>
                    </a:solidFill>
                  </a:tcPr>
                </a:tc>
                <a:tc>
                  <a:txBody>
                    <a:bodyPr lIns="114300" tIns="114300" rIns="114300" bIns="114300"/>
                    <a:lstStyle/>
                    <a:p>
                      <a:r>
                        <a:rPr sz="1725" b="0">
                          <a:solidFill>
                            <a:srgbClr val="10242B"/>
                          </a:solidFill>
                          <a:latin typeface="DejaVu Sans"/>
                          <a:ea typeface="DejaVu Sans"/>
                          <a:cs typeface="DejaVu Sans"/>
                        </a:rPr>
                        <a:t>US$56,000</a:t>
                      </a:r>
                    </a:p>
                  </a:txBody>
                  <a:tcPr marL="91440" marR="91440" marT="45720" marB="45720">
                    <a:lnR w="9525">
                      <a:solidFill>
                        <a:srgbClr val="CCD8D6"/>
                      </a:solidFill>
                      <a:prstDash val="solid"/>
                    </a:lnR>
                    <a:lnB w="9525">
                      <a:solidFill>
                        <a:srgbClr val="CCD8D6"/>
                      </a:solidFill>
                      <a:prstDash val="solid"/>
                    </a:lnB>
                    <a:solidFill>
                      <a:srgbClr val="E5ECE8"/>
                    </a:solidFill>
                  </a:tcPr>
                </a:tc>
                <a:tc>
                  <a:txBody>
                    <a:bodyPr lIns="114300" tIns="114300" rIns="114300" bIns="114300"/>
                    <a:lstStyle/>
                    <a:p>
                      <a:r>
                        <a:rPr sz="1725" b="0">
                          <a:solidFill>
                            <a:srgbClr val="10242B"/>
                          </a:solidFill>
                          <a:latin typeface="DejaVu Sans"/>
                          <a:ea typeface="DejaVu Sans"/>
                          <a:cs typeface="DejaVu Sans"/>
                        </a:rPr>
                        <a:t>70,000</a:t>
                      </a:r>
                    </a:p>
                  </a:txBody>
                  <a:tcPr marL="91440" marR="91440" marT="45720" marB="45720">
                    <a:lnR w="9525">
                      <a:solidFill>
                        <a:srgbClr val="CCD8D6"/>
                      </a:solidFill>
                      <a:prstDash val="solid"/>
                    </a:lnR>
                    <a:lnB w="9525">
                      <a:solidFill>
                        <a:srgbClr val="CCD8D6"/>
                      </a:solidFill>
                      <a:prstDash val="solid"/>
                    </a:lnB>
                    <a:solidFill>
                      <a:srgbClr val="E5ECE8"/>
                    </a:solidFill>
                  </a:tcPr>
                </a:tc>
                <a:tc>
                  <a:txBody>
                    <a:bodyPr lIns="114300" tIns="114300" rIns="114300" bIns="114300"/>
                    <a:lstStyle/>
                    <a:p>
                      <a:r>
                        <a:rPr sz="1725" b="0">
                          <a:solidFill>
                            <a:srgbClr val="10242B"/>
                          </a:solidFill>
                          <a:latin typeface="DejaVu Sans"/>
                          <a:ea typeface="DejaVu Sans"/>
                          <a:cs typeface="DejaVu Sans"/>
                        </a:rPr>
                        <a:t>US$0.80</a:t>
                      </a:r>
                    </a:p>
                  </a:txBody>
                  <a:tcPr marL="91440" marR="91440" marT="45720" marB="45720">
                    <a:lnR w="9525">
                      <a:solidFill>
                        <a:srgbClr val="CCD8D6"/>
                      </a:solidFill>
                      <a:prstDash val="solid"/>
                    </a:lnR>
                    <a:lnB w="9525">
                      <a:solidFill>
                        <a:srgbClr val="CCD8D6"/>
                      </a:solidFill>
                      <a:prstDash val="solid"/>
                    </a:lnB>
                    <a:solidFill>
                      <a:srgbClr val="E5ECE8"/>
                    </a:solidFill>
                  </a:tcPr>
                </a:tc>
              </a:tr>
            </a:tbl>
          </a:graphicData>
        </a:graphic>
      </p:graphicFrame>
    </p:spTree>
    <p:extLst>
      <p:ext uri="{BB962C8B-B14F-4D97-AF65-F5344CB8AC3E}">
        <p14:creationId xmlns:p14="http://schemas.microsoft.com/office/powerpoint/2010/main" val="724574174"/>
      </p:ext>
    </p:extLst>
  </p:cSld>
</p:sld>
</file>

<file path=ppt/slides/slide3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64E5569-2CDF-4D61-A70C-D7A37C6FC74B}"/>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lfcnu6i1rlf">
            <a:extLst xmlns:a="http://schemas.openxmlformats.org/drawingml/2006/main">
              <a:ext uri="{FF2B5EF4-FFF2-40B4-BE49-F238E27FC236}">
                <a16:creationId xmlns:a16="http://schemas.microsoft.com/office/drawing/2014/main" id="{A98C8B4C-F7FB-43C9-9742-B01A4D02C11D}"/>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u8ka3g2kvxg">
            <a:extLst xmlns:a="http://schemas.openxmlformats.org/drawingml/2006/main">
              <a:ext uri="{FF2B5EF4-FFF2-40B4-BE49-F238E27FC236}">
                <a16:creationId xmlns:a16="http://schemas.microsoft.com/office/drawing/2014/main" id="{284714B1-6B0A-4EF1-A515-B5800CE55C9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Usage volume spreads fixed costs</a:t>
            </a:r>
          </a:p>
        </p:txBody>
      </p:sp>
      <p:sp>
        <p:nvSpPr>
          <p:cNvPr id="4" name="text-jskebxuekuj">
            <a:extLst xmlns:a="http://schemas.openxmlformats.org/drawingml/2006/main">
              <a:ext uri="{FF2B5EF4-FFF2-40B4-BE49-F238E27FC236}">
                <a16:creationId xmlns:a16="http://schemas.microsoft.com/office/drawing/2014/main" id="{555286BC-B5C4-4F33-ABE0-8AE99709BFB9}"/>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Lower variable cost offsets investment only with enough activity.</a:t>
            </a:r>
          </a:p>
        </p:txBody>
      </p:sp>
      <p:sp>
        <p:nvSpPr>
          <p:cNvPr id="5" name="">
            <a:extLst xmlns:a="http://schemas.openxmlformats.org/drawingml/2006/main">
              <a:ext uri="{FF2B5EF4-FFF2-40B4-BE49-F238E27FC236}">
                <a16:creationId xmlns:a16="http://schemas.microsoft.com/office/drawing/2014/main" id="{848A27FD-B59B-4662-9B79-3E44299BDED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5bshn8jaztt">
            <a:extLst xmlns:a="http://schemas.openxmlformats.org/drawingml/2006/main">
              <a:ext uri="{FF2B5EF4-FFF2-40B4-BE49-F238E27FC236}">
                <a16:creationId xmlns:a16="http://schemas.microsoft.com/office/drawing/2014/main" id="{A87FB536-B291-4E7C-B4D3-4E721ECC28B9}"/>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03p3jbn0ukrn">
            <a:extLst xmlns:a="http://schemas.openxmlformats.org/drawingml/2006/main">
              <a:ext uri="{FF2B5EF4-FFF2-40B4-BE49-F238E27FC236}">
                <a16:creationId xmlns:a16="http://schemas.microsoft.com/office/drawing/2014/main" id="{631BDB3E-4B86-4547-8564-4A34FDDD1731}"/>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38</a:t>
            </a:r>
          </a:p>
        </p:txBody>
      </p:sp>
      <p:sp>
        <p:nvSpPr>
          <p:cNvPr id="8" name="text-3dq8s6b1e1x">
            <a:extLst xmlns:a="http://schemas.openxmlformats.org/drawingml/2006/main">
              <a:ext uri="{FF2B5EF4-FFF2-40B4-BE49-F238E27FC236}">
                <a16:creationId xmlns:a16="http://schemas.microsoft.com/office/drawing/2014/main" id="{182E0648-0A98-4E31-A6E3-D645A5FAE634}"/>
              </a:ext>
            </a:extLst>
          </p:cNvPr>
          <p:cNvSpPr>
            <a:spLocks xmlns:a="http://schemas.openxmlformats.org/drawingml/2006/main" noGrp="1"/>
          </p:cNvSpPr>
          <p:nvPr/>
        </p:nvSpPr>
        <p:spPr>
          <a:xfrm xmlns:a="http://schemas.openxmlformats.org/drawingml/2006/main">
            <a:off x="609600" y="2619375"/>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87D78"/>
                </a:solidFill>
                <a:latin typeface="DejaVu Sans"/>
                <a:ea typeface="DejaVu Sans"/>
                <a:cs typeface="DejaVu Sans"/>
              </a:defRPr>
            </a:defPPr>
            <a:lvl1pPr algn="l">
              <a:defRPr sz="3300" b="1">
                <a:solidFill>
                  <a:srgbClr val="087D78"/>
                </a:solidFill>
                <a:latin typeface="DejaVu Sans"/>
                <a:ea typeface="DejaVu Sans"/>
                <a:cs typeface="DejaVu Sans"/>
              </a:defRPr>
            </a:lvl1pPr>
            <a:lvl2pPr algn="l">
              <a:defRPr sz="3300" b="1">
                <a:solidFill>
                  <a:srgbClr val="087D78"/>
                </a:solidFill>
                <a:latin typeface="DejaVu Sans"/>
                <a:ea typeface="DejaVu Sans"/>
                <a:cs typeface="DejaVu Sans"/>
              </a:defRPr>
            </a:lvl2pPr>
            <a:lvl3pPr algn="l">
              <a:defRPr sz="3300" b="1">
                <a:solidFill>
                  <a:srgbClr val="087D78"/>
                </a:solidFill>
                <a:latin typeface="DejaVu Sans"/>
                <a:ea typeface="DejaVu Sans"/>
                <a:cs typeface="DejaVu Sans"/>
              </a:defRPr>
            </a:lvl3pPr>
            <a:lvl4pPr algn="l">
              <a:defRPr sz="3300" b="1">
                <a:solidFill>
                  <a:srgbClr val="087D78"/>
                </a:solidFill>
                <a:latin typeface="DejaVu Sans"/>
                <a:ea typeface="DejaVu Sans"/>
                <a:cs typeface="DejaVu Sans"/>
              </a:defRPr>
            </a:lvl4pPr>
            <a:lvl5pPr algn="l">
              <a:defRPr sz="3300" b="1">
                <a:solidFill>
                  <a:srgbClr val="087D78"/>
                </a:solidFill>
                <a:latin typeface="DejaVu Sans"/>
                <a:ea typeface="DejaVu Sans"/>
                <a:cs typeface="DejaVu Sans"/>
              </a:defRPr>
            </a:lvl5pPr>
            <a:lvl6pPr algn="l">
              <a:defRPr sz="3300" b="1">
                <a:solidFill>
                  <a:srgbClr val="087D78"/>
                </a:solidFill>
                <a:latin typeface="DejaVu Sans"/>
                <a:ea typeface="DejaVu Sans"/>
                <a:cs typeface="DejaVu Sans"/>
              </a:defRPr>
            </a:lvl6pPr>
            <a:lvl7pPr algn="l">
              <a:defRPr sz="3300" b="1">
                <a:solidFill>
                  <a:srgbClr val="087D78"/>
                </a:solidFill>
                <a:latin typeface="DejaVu Sans"/>
                <a:ea typeface="DejaVu Sans"/>
                <a:cs typeface="DejaVu Sans"/>
              </a:defRPr>
            </a:lvl7pPr>
            <a:lvl8pPr algn="l">
              <a:defRPr sz="3300" b="1">
                <a:solidFill>
                  <a:srgbClr val="087D78"/>
                </a:solidFill>
                <a:latin typeface="DejaVu Sans"/>
                <a:ea typeface="DejaVu Sans"/>
                <a:cs typeface="DejaVu Sans"/>
              </a:defRPr>
            </a:lvl8pPr>
            <a:lvl9pPr algn="l">
              <a:defRPr sz="3300" b="1">
                <a:solidFill>
                  <a:srgbClr val="087D78"/>
                </a:solidFill>
                <a:latin typeface="DejaVu Sans"/>
                <a:ea typeface="DejaVu Sans"/>
                <a:cs typeface="DejaVu Sans"/>
              </a:defRPr>
            </a:lvl9pPr>
          </a:lstStyle>
          <a:p xmlns:a="http://schemas.openxmlformats.org/drawingml/2006/main">
            <a:pPr algn="l">
              <a:lnSpc>
                <a:spcPct val="112000"/>
              </a:lnSpc>
              <a:buNone/>
              <a:defRPr sz="3300" b="1">
                <a:solidFill>
                  <a:srgbClr val="087D78"/>
                </a:solidFill>
                <a:latin typeface="DejaVu Sans"/>
                <a:ea typeface="DejaVu Sans"/>
                <a:cs typeface="DejaVu Sans"/>
              </a:defRPr>
            </a:pPr>
            <a:r>
              <a:rPr sz="3300" b="1">
                <a:solidFill>
                  <a:srgbClr val="087D78"/>
                </a:solidFill>
                <a:latin typeface="DejaVu Sans"/>
                <a:ea typeface="DejaVu Sans"/>
                <a:cs typeface="DejaVu Sans"/>
              </a:rPr>
              <a:t>Q* = (Fₐ − Fᵦ) / (vᵦ − vₐ)</a:t>
            </a:r>
          </a:p>
        </p:txBody>
      </p:sp>
      <p:sp>
        <p:nvSpPr>
          <p:cNvPr id="9" name="">
            <a:extLst xmlns:a="http://schemas.openxmlformats.org/drawingml/2006/main">
              <a:ext uri="{FF2B5EF4-FFF2-40B4-BE49-F238E27FC236}">
                <a16:creationId xmlns:a16="http://schemas.microsoft.com/office/drawing/2014/main" id="{4A109BB0-46B7-4D79-9EB4-5AAA93B720A4}"/>
              </a:ext>
            </a:extLst>
          </p:cNvPr>
          <p:cNvSpPr>
            <a:spLocks xmlns:a="http://schemas.openxmlformats.org/drawingml/2006/main" noGrp="1"/>
          </p:cNvSpPr>
          <p:nvPr/>
        </p:nvSpPr>
        <p:spPr>
          <a:xfrm xmlns:a="http://schemas.openxmlformats.org/drawingml/2006/main">
            <a:off x="6096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F8D671B-C04E-4DFF-9871-94AF1E3A3389}"/>
              </a:ext>
            </a:extLst>
          </p:cNvPr>
          <p:cNvSpPr>
            <a:spLocks xmlns:a="http://schemas.openxmlformats.org/drawingml/2006/main" noGrp="1"/>
          </p:cNvSpPr>
          <p:nvPr/>
        </p:nvSpPr>
        <p:spPr>
          <a:xfrm xmlns:a="http://schemas.openxmlformats.org/drawingml/2006/main">
            <a:off x="609600" y="3810000"/>
            <a:ext cx="38100" cy="204787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1" name="text-w3es3dh95d">
            <a:extLst xmlns:a="http://schemas.openxmlformats.org/drawingml/2006/main">
              <a:ext uri="{FF2B5EF4-FFF2-40B4-BE49-F238E27FC236}">
                <a16:creationId xmlns:a16="http://schemas.microsoft.com/office/drawing/2014/main" id="{AE59F269-9F30-41AE-8B01-8DBA498AB62A}"/>
              </a:ext>
            </a:extLst>
          </p:cNvPr>
          <p:cNvSpPr>
            <a:spLocks xmlns:a="http://schemas.openxmlformats.org/drawingml/2006/main" noGrp="1"/>
          </p:cNvSpPr>
          <p:nvPr/>
        </p:nvSpPr>
        <p:spPr>
          <a:xfrm xmlns:a="http://schemas.openxmlformats.org/drawingml/2006/main">
            <a:off x="8191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Alternative A</a:t>
            </a:r>
          </a:p>
        </p:txBody>
      </p:sp>
      <p:sp>
        <p:nvSpPr>
          <p:cNvPr id="12" name="text-f0v6bewu2i">
            <a:extLst xmlns:a="http://schemas.openxmlformats.org/drawingml/2006/main">
              <a:ext uri="{FF2B5EF4-FFF2-40B4-BE49-F238E27FC236}">
                <a16:creationId xmlns:a16="http://schemas.microsoft.com/office/drawing/2014/main" id="{FA4F347F-8599-4AE7-B076-FC60DF17B7F6}"/>
              </a:ext>
            </a:extLst>
          </p:cNvPr>
          <p:cNvSpPr>
            <a:spLocks xmlns:a="http://schemas.openxmlformats.org/drawingml/2006/main" noGrp="1"/>
          </p:cNvSpPr>
          <p:nvPr/>
        </p:nvSpPr>
        <p:spPr>
          <a:xfrm xmlns:a="http://schemas.openxmlformats.org/drawingml/2006/main">
            <a:off x="8191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Cost = Fₐ + vₐQ.</a:t>
            </a:r>
          </a:p>
        </p:txBody>
      </p:sp>
      <p:sp>
        <p:nvSpPr>
          <p:cNvPr id="13" name="">
            <a:extLst xmlns:a="http://schemas.openxmlformats.org/drawingml/2006/main">
              <a:ext uri="{FF2B5EF4-FFF2-40B4-BE49-F238E27FC236}">
                <a16:creationId xmlns:a16="http://schemas.microsoft.com/office/drawing/2014/main" id="{70BCF34A-5420-4FAF-A671-C0229ACFE55B}"/>
              </a:ext>
            </a:extLst>
          </p:cNvPr>
          <p:cNvSpPr>
            <a:spLocks xmlns:a="http://schemas.openxmlformats.org/drawingml/2006/main" noGrp="1"/>
          </p:cNvSpPr>
          <p:nvPr/>
        </p:nvSpPr>
        <p:spPr>
          <a:xfrm xmlns:a="http://schemas.openxmlformats.org/drawingml/2006/main">
            <a:off x="434975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2B3790D-9F59-4214-BD85-356B68497F8F}"/>
              </a:ext>
            </a:extLst>
          </p:cNvPr>
          <p:cNvSpPr>
            <a:spLocks xmlns:a="http://schemas.openxmlformats.org/drawingml/2006/main" noGrp="1"/>
          </p:cNvSpPr>
          <p:nvPr/>
        </p:nvSpPr>
        <p:spPr>
          <a:xfrm xmlns:a="http://schemas.openxmlformats.org/drawingml/2006/main">
            <a:off x="4349750" y="3810000"/>
            <a:ext cx="38100" cy="204787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5" name="text-0mwslinog1w9">
            <a:extLst xmlns:a="http://schemas.openxmlformats.org/drawingml/2006/main">
              <a:ext uri="{FF2B5EF4-FFF2-40B4-BE49-F238E27FC236}">
                <a16:creationId xmlns:a16="http://schemas.microsoft.com/office/drawing/2014/main" id="{3417ACCD-BAA3-4D03-83EF-53F9B2E9EF8E}"/>
              </a:ext>
            </a:extLst>
          </p:cNvPr>
          <p:cNvSpPr>
            <a:spLocks xmlns:a="http://schemas.openxmlformats.org/drawingml/2006/main" noGrp="1"/>
          </p:cNvSpPr>
          <p:nvPr/>
        </p:nvSpPr>
        <p:spPr>
          <a:xfrm xmlns:a="http://schemas.openxmlformats.org/drawingml/2006/main">
            <a:off x="455930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Alternative B</a:t>
            </a:r>
          </a:p>
        </p:txBody>
      </p:sp>
      <p:sp>
        <p:nvSpPr>
          <p:cNvPr id="16" name="text-1u24u6ir91l">
            <a:extLst xmlns:a="http://schemas.openxmlformats.org/drawingml/2006/main">
              <a:ext uri="{FF2B5EF4-FFF2-40B4-BE49-F238E27FC236}">
                <a16:creationId xmlns:a16="http://schemas.microsoft.com/office/drawing/2014/main" id="{9E19404F-1AF1-4FAD-BB6B-585CE9D5B94A}"/>
              </a:ext>
            </a:extLst>
          </p:cNvPr>
          <p:cNvSpPr>
            <a:spLocks xmlns:a="http://schemas.openxmlformats.org/drawingml/2006/main" noGrp="1"/>
          </p:cNvSpPr>
          <p:nvPr/>
        </p:nvSpPr>
        <p:spPr>
          <a:xfrm xmlns:a="http://schemas.openxmlformats.org/drawingml/2006/main">
            <a:off x="455930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Cost = Fᵦ + vᵦQ.</a:t>
            </a:r>
          </a:p>
        </p:txBody>
      </p:sp>
      <p:sp>
        <p:nvSpPr>
          <p:cNvPr id="17" name="">
            <a:extLst xmlns:a="http://schemas.openxmlformats.org/drawingml/2006/main">
              <a:ext uri="{FF2B5EF4-FFF2-40B4-BE49-F238E27FC236}">
                <a16:creationId xmlns:a16="http://schemas.microsoft.com/office/drawing/2014/main" id="{BF89DF70-86E0-4865-96A0-E815CD911DB8}"/>
              </a:ext>
            </a:extLst>
          </p:cNvPr>
          <p:cNvSpPr>
            <a:spLocks xmlns:a="http://schemas.openxmlformats.org/drawingml/2006/main" noGrp="1"/>
          </p:cNvSpPr>
          <p:nvPr/>
        </p:nvSpPr>
        <p:spPr>
          <a:xfrm xmlns:a="http://schemas.openxmlformats.org/drawingml/2006/main">
            <a:off x="8089900" y="3810000"/>
            <a:ext cx="3492500" cy="204787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8121D41-CAD6-451A-95EF-C975DE65C592}"/>
              </a:ext>
            </a:extLst>
          </p:cNvPr>
          <p:cNvSpPr>
            <a:spLocks xmlns:a="http://schemas.openxmlformats.org/drawingml/2006/main" noGrp="1"/>
          </p:cNvSpPr>
          <p:nvPr/>
        </p:nvSpPr>
        <p:spPr>
          <a:xfrm xmlns:a="http://schemas.openxmlformats.org/drawingml/2006/main">
            <a:off x="8089900" y="3810000"/>
            <a:ext cx="38100" cy="204787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9" name="text-3dzixb8e56b">
            <a:extLst xmlns:a="http://schemas.openxmlformats.org/drawingml/2006/main">
              <a:ext uri="{FF2B5EF4-FFF2-40B4-BE49-F238E27FC236}">
                <a16:creationId xmlns:a16="http://schemas.microsoft.com/office/drawing/2014/main" id="{BF8BE712-AE92-49C2-823C-93242D95150C}"/>
              </a:ext>
            </a:extLst>
          </p:cNvPr>
          <p:cNvSpPr>
            <a:spLocks xmlns:a="http://schemas.openxmlformats.org/drawingml/2006/main" noGrp="1"/>
          </p:cNvSpPr>
          <p:nvPr/>
        </p:nvSpPr>
        <p:spPr>
          <a:xfrm xmlns:a="http://schemas.openxmlformats.org/drawingml/2006/main">
            <a:off x="8299450" y="3981450"/>
            <a:ext cx="307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Crossover</a:t>
            </a:r>
          </a:p>
        </p:txBody>
      </p:sp>
      <p:sp>
        <p:nvSpPr>
          <p:cNvPr id="20" name="text-k1pu2rgyxb7">
            <a:extLst xmlns:a="http://schemas.openxmlformats.org/drawingml/2006/main">
              <a:ext uri="{FF2B5EF4-FFF2-40B4-BE49-F238E27FC236}">
                <a16:creationId xmlns:a16="http://schemas.microsoft.com/office/drawing/2014/main" id="{91655A09-6FDF-442C-A26B-4BC49E3F6258}"/>
              </a:ext>
            </a:extLst>
          </p:cNvPr>
          <p:cNvSpPr>
            <a:spLocks xmlns:a="http://schemas.openxmlformats.org/drawingml/2006/main" noGrp="1"/>
          </p:cNvSpPr>
          <p:nvPr/>
        </p:nvSpPr>
        <p:spPr>
          <a:xfrm xmlns:a="http://schemas.openxmlformats.org/drawingml/2006/main">
            <a:off x="8299450" y="4600575"/>
            <a:ext cx="3073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Q* = (Fₐ − Fᵦ) / (vᵦ − vₐ).</a:t>
            </a:r>
          </a:p>
        </p:txBody>
      </p:sp>
    </p:spTree>
    <p:extLst>
      <p:ext uri="{BB962C8B-B14F-4D97-AF65-F5344CB8AC3E}">
        <p14:creationId xmlns:p14="http://schemas.microsoft.com/office/powerpoint/2010/main" val="1613203231"/>
      </p:ext>
    </p:extLst>
  </p:cSld>
</p:sld>
</file>

<file path=ppt/slides/slide3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96092D0-96C6-489A-948E-161CEBD08C1C}"/>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n1tx51a3uhg">
            <a:extLst xmlns:a="http://schemas.openxmlformats.org/drawingml/2006/main">
              <a:ext uri="{FF2B5EF4-FFF2-40B4-BE49-F238E27FC236}">
                <a16:creationId xmlns:a16="http://schemas.microsoft.com/office/drawing/2014/main" id="{855E6B08-B5AA-4730-8FBE-16E77A01F010}"/>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x1u2qw2astq">
            <a:extLst xmlns:a="http://schemas.openxmlformats.org/drawingml/2006/main">
              <a:ext uri="{FF2B5EF4-FFF2-40B4-BE49-F238E27FC236}">
                <a16:creationId xmlns:a16="http://schemas.microsoft.com/office/drawing/2014/main" id="{20C83AB0-9C94-449F-8002-609E7AD7449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Automation reorganizes tasks and skills</a:t>
            </a:r>
          </a:p>
        </p:txBody>
      </p:sp>
      <p:sp>
        <p:nvSpPr>
          <p:cNvPr id="4" name="text-6y95aqryw33">
            <a:extLst xmlns:a="http://schemas.openxmlformats.org/drawingml/2006/main">
              <a:ext uri="{FF2B5EF4-FFF2-40B4-BE49-F238E27FC236}">
                <a16:creationId xmlns:a16="http://schemas.microsoft.com/office/drawing/2014/main" id="{40B783C0-1D24-4F2D-9DEF-B61C8A607702}"/>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Substitution and complementarity can occur within one occupation.</a:t>
            </a:r>
          </a:p>
        </p:txBody>
      </p:sp>
      <p:sp>
        <p:nvSpPr>
          <p:cNvPr id="5" name="">
            <a:extLst xmlns:a="http://schemas.openxmlformats.org/drawingml/2006/main">
              <a:ext uri="{FF2B5EF4-FFF2-40B4-BE49-F238E27FC236}">
                <a16:creationId xmlns:a16="http://schemas.microsoft.com/office/drawing/2014/main" id="{EE3B5DEF-B37D-47AD-988C-390784DE783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779lrcwa5de">
            <a:extLst xmlns:a="http://schemas.openxmlformats.org/drawingml/2006/main">
              <a:ext uri="{FF2B5EF4-FFF2-40B4-BE49-F238E27FC236}">
                <a16:creationId xmlns:a16="http://schemas.microsoft.com/office/drawing/2014/main" id="{1FD2392D-E649-4B1C-BFF7-6269E6CB0445}"/>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inoepsaef9l">
            <a:extLst xmlns:a="http://schemas.openxmlformats.org/drawingml/2006/main">
              <a:ext uri="{FF2B5EF4-FFF2-40B4-BE49-F238E27FC236}">
                <a16:creationId xmlns:a16="http://schemas.microsoft.com/office/drawing/2014/main" id="{90EAB0F7-5BA5-4D26-AA03-5A9BE70D66E5}"/>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39</a:t>
            </a:r>
          </a:p>
        </p:txBody>
      </p:sp>
      <p:sp>
        <p:nvSpPr>
          <p:cNvPr id="8" name="">
            <a:extLst xmlns:a="http://schemas.openxmlformats.org/drawingml/2006/main">
              <a:ext uri="{FF2B5EF4-FFF2-40B4-BE49-F238E27FC236}">
                <a16:creationId xmlns:a16="http://schemas.microsoft.com/office/drawing/2014/main" id="{05A2072B-E21A-47E4-94EC-C7964C12D993}"/>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FADA786-C481-426E-BA43-18C81BB746C3}"/>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wbrxzlzoi1">
            <a:extLst xmlns:a="http://schemas.openxmlformats.org/drawingml/2006/main">
              <a:ext uri="{FF2B5EF4-FFF2-40B4-BE49-F238E27FC236}">
                <a16:creationId xmlns:a16="http://schemas.microsoft.com/office/drawing/2014/main" id="{E6CF667B-D78E-41E9-B824-37FCA527CE1F}"/>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Changing tasks</a:t>
            </a:r>
          </a:p>
        </p:txBody>
      </p:sp>
      <p:sp>
        <p:nvSpPr>
          <p:cNvPr id="11" name="text-zgjjvrg1tx">
            <a:extLst xmlns:a="http://schemas.openxmlformats.org/drawingml/2006/main">
              <a:ext uri="{FF2B5EF4-FFF2-40B4-BE49-F238E27FC236}">
                <a16:creationId xmlns:a16="http://schemas.microsoft.com/office/drawing/2014/main" id="{97909DC5-26B2-4B25-A0AD-FE92F58633CA}"/>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Transport, sorting or repetitive inspection.</a:t>
            </a:r>
          </a:p>
        </p:txBody>
      </p:sp>
      <p:sp>
        <p:nvSpPr>
          <p:cNvPr id="12" name="">
            <a:extLst xmlns:a="http://schemas.openxmlformats.org/drawingml/2006/main">
              <a:ext uri="{FF2B5EF4-FFF2-40B4-BE49-F238E27FC236}">
                <a16:creationId xmlns:a16="http://schemas.microsoft.com/office/drawing/2014/main" id="{1774159F-A5B0-4915-9B43-B1C9F46510AD}"/>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03B06DB-C6AA-4EAA-B08C-C9756224B9C1}"/>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h2dapsqgcvu">
            <a:extLst xmlns:a="http://schemas.openxmlformats.org/drawingml/2006/main">
              <a:ext uri="{FF2B5EF4-FFF2-40B4-BE49-F238E27FC236}">
                <a16:creationId xmlns:a16="http://schemas.microsoft.com/office/drawing/2014/main" id="{191D910B-DB5D-46AF-904A-28FFD2F530BF}"/>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Complementary tasks</a:t>
            </a:r>
          </a:p>
        </p:txBody>
      </p:sp>
      <p:sp>
        <p:nvSpPr>
          <p:cNvPr id="15" name="text-im3dw9rwex">
            <a:extLst xmlns:a="http://schemas.openxmlformats.org/drawingml/2006/main">
              <a:ext uri="{FF2B5EF4-FFF2-40B4-BE49-F238E27FC236}">
                <a16:creationId xmlns:a16="http://schemas.microsoft.com/office/drawing/2014/main" id="{55F58DDE-F379-4E16-B071-1766934B5F1B}"/>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Diagnostics, integration, quality and supervision.</a:t>
            </a:r>
          </a:p>
        </p:txBody>
      </p:sp>
      <p:sp>
        <p:nvSpPr>
          <p:cNvPr id="16" name="">
            <a:extLst xmlns:a="http://schemas.openxmlformats.org/drawingml/2006/main">
              <a:ext uri="{FF2B5EF4-FFF2-40B4-BE49-F238E27FC236}">
                <a16:creationId xmlns:a16="http://schemas.microsoft.com/office/drawing/2014/main" id="{24EE7D89-D671-4B02-ACA4-BB185CB40D2B}"/>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EE035FD-8CE2-4A01-8AF6-A3B9FF64349C}"/>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jk9i4uw31vf">
            <a:extLst xmlns:a="http://schemas.openxmlformats.org/drawingml/2006/main">
              <a:ext uri="{FF2B5EF4-FFF2-40B4-BE49-F238E27FC236}">
                <a16:creationId xmlns:a16="http://schemas.microsoft.com/office/drawing/2014/main" id="{0AB85678-73A3-4CCB-86ED-E9BFD28C1DF1}"/>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Conditions</a:t>
            </a:r>
          </a:p>
        </p:txBody>
      </p:sp>
      <p:sp>
        <p:nvSpPr>
          <p:cNvPr id="19" name="text-ognkszv2aif">
            <a:extLst xmlns:a="http://schemas.openxmlformats.org/drawingml/2006/main">
              <a:ext uri="{FF2B5EF4-FFF2-40B4-BE49-F238E27FC236}">
                <a16:creationId xmlns:a16="http://schemas.microsoft.com/office/drawing/2014/main" id="{526DEA7F-EC95-4E3C-B8AD-443ED28EA069}"/>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Training, work organization and adoption.</a:t>
            </a:r>
          </a:p>
        </p:txBody>
      </p:sp>
    </p:spTree>
    <p:extLst>
      <p:ext uri="{BB962C8B-B14F-4D97-AF65-F5344CB8AC3E}">
        <p14:creationId xmlns:p14="http://schemas.microsoft.com/office/powerpoint/2010/main" val="2010381944"/>
      </p:ext>
    </p:extLst>
  </p:cSld>
</p:sld>
</file>

<file path=ppt/slides/slide40.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EA28606-3B4A-48CE-9D68-F489F2256DBA}"/>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zt9pg8tq2ap">
            <a:extLst xmlns:a="http://schemas.openxmlformats.org/drawingml/2006/main">
              <a:ext uri="{FF2B5EF4-FFF2-40B4-BE49-F238E27FC236}">
                <a16:creationId xmlns:a16="http://schemas.microsoft.com/office/drawing/2014/main" id="{215A9CE0-A66F-4D19-ADBA-C9BB9D7CCCF1}"/>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pc4q67lzagh">
            <a:extLst xmlns:a="http://schemas.openxmlformats.org/drawingml/2006/main">
              <a:ext uri="{FF2B5EF4-FFF2-40B4-BE49-F238E27FC236}">
                <a16:creationId xmlns:a16="http://schemas.microsoft.com/office/drawing/2014/main" id="{168C0D42-8B29-45B2-BA01-EF4F340FB97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“New quality productive forces” links innovation and organization</a:t>
            </a:r>
          </a:p>
        </p:txBody>
      </p:sp>
      <p:sp>
        <p:nvSpPr>
          <p:cNvPr id="4" name="text-aiaqdam4o9m">
            <a:extLst xmlns:a="http://schemas.openxmlformats.org/drawingml/2006/main">
              <a:ext uri="{FF2B5EF4-FFF2-40B4-BE49-F238E27FC236}">
                <a16:creationId xmlns:a16="http://schemas.microsoft.com/office/drawing/2014/main" id="{B0AA075A-EC8A-437B-B7F7-DED3DCBEE646}"/>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新质生产力 · xīn zhì shēngchǎn lì.</a:t>
            </a:r>
          </a:p>
        </p:txBody>
      </p:sp>
      <p:sp>
        <p:nvSpPr>
          <p:cNvPr id="5" name="">
            <a:extLst xmlns:a="http://schemas.openxmlformats.org/drawingml/2006/main">
              <a:ext uri="{FF2B5EF4-FFF2-40B4-BE49-F238E27FC236}">
                <a16:creationId xmlns:a16="http://schemas.microsoft.com/office/drawing/2014/main" id="{7A783B60-F21F-47E9-A49C-A7ED399ACA1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g23ebrlwq08">
            <a:extLst xmlns:a="http://schemas.openxmlformats.org/drawingml/2006/main">
              <a:ext uri="{FF2B5EF4-FFF2-40B4-BE49-F238E27FC236}">
                <a16:creationId xmlns:a16="http://schemas.microsoft.com/office/drawing/2014/main" id="{EE0BF866-7C5E-4273-AFB9-9A4559BE5FC3}"/>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2gkr3vcya0u">
            <a:extLst xmlns:a="http://schemas.openxmlformats.org/drawingml/2006/main">
              <a:ext uri="{FF2B5EF4-FFF2-40B4-BE49-F238E27FC236}">
                <a16:creationId xmlns:a16="http://schemas.microsoft.com/office/drawing/2014/main" id="{068DA701-9101-42ED-B384-2305CD49FD0A}"/>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40</a:t>
            </a:r>
          </a:p>
        </p:txBody>
      </p:sp>
      <p:sp>
        <p:nvSpPr>
          <p:cNvPr id="8" name="text-xkl8c9skblb">
            <a:extLst xmlns:a="http://schemas.openxmlformats.org/drawingml/2006/main">
              <a:ext uri="{FF2B5EF4-FFF2-40B4-BE49-F238E27FC236}">
                <a16:creationId xmlns:a16="http://schemas.microsoft.com/office/drawing/2014/main" id="{F6F308FB-0EA0-4C40-A708-5928F9580C87}"/>
              </a:ext>
            </a:extLst>
          </p:cNvPr>
          <p:cNvSpPr>
            <a:spLocks xmlns:a="http://schemas.openxmlformats.org/drawingml/2006/main" noGrp="1"/>
          </p:cNvSpPr>
          <p:nvPr/>
        </p:nvSpPr>
        <p:spPr>
          <a:xfrm xmlns:a="http://schemas.openxmlformats.org/drawingml/2006/main">
            <a:off x="609600" y="2686050"/>
            <a:ext cx="4572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700" b="0">
                <a:solidFill>
                  <a:srgbClr val="62D6C9"/>
                </a:solidFill>
                <a:latin typeface="Noto Sans SC"/>
                <a:ea typeface="Noto Sans SC"/>
                <a:cs typeface="Noto Sans SC"/>
              </a:defRPr>
            </a:defPPr>
            <a:lvl1pPr algn="l">
              <a:defRPr sz="5700" b="0">
                <a:solidFill>
                  <a:srgbClr val="62D6C9"/>
                </a:solidFill>
                <a:latin typeface="Noto Sans SC"/>
                <a:ea typeface="Noto Sans SC"/>
                <a:cs typeface="Noto Sans SC"/>
              </a:defRPr>
            </a:lvl1pPr>
            <a:lvl2pPr algn="l">
              <a:defRPr sz="5700" b="0">
                <a:solidFill>
                  <a:srgbClr val="62D6C9"/>
                </a:solidFill>
                <a:latin typeface="Noto Sans SC"/>
                <a:ea typeface="Noto Sans SC"/>
                <a:cs typeface="Noto Sans SC"/>
              </a:defRPr>
            </a:lvl2pPr>
            <a:lvl3pPr algn="l">
              <a:defRPr sz="5700" b="0">
                <a:solidFill>
                  <a:srgbClr val="62D6C9"/>
                </a:solidFill>
                <a:latin typeface="Noto Sans SC"/>
                <a:ea typeface="Noto Sans SC"/>
                <a:cs typeface="Noto Sans SC"/>
              </a:defRPr>
            </a:lvl3pPr>
            <a:lvl4pPr algn="l">
              <a:defRPr sz="5700" b="0">
                <a:solidFill>
                  <a:srgbClr val="62D6C9"/>
                </a:solidFill>
                <a:latin typeface="Noto Sans SC"/>
                <a:ea typeface="Noto Sans SC"/>
                <a:cs typeface="Noto Sans SC"/>
              </a:defRPr>
            </a:lvl4pPr>
            <a:lvl5pPr algn="l">
              <a:defRPr sz="5700" b="0">
                <a:solidFill>
                  <a:srgbClr val="62D6C9"/>
                </a:solidFill>
                <a:latin typeface="Noto Sans SC"/>
                <a:ea typeface="Noto Sans SC"/>
                <a:cs typeface="Noto Sans SC"/>
              </a:defRPr>
            </a:lvl5pPr>
            <a:lvl6pPr algn="l">
              <a:defRPr sz="5700" b="0">
                <a:solidFill>
                  <a:srgbClr val="62D6C9"/>
                </a:solidFill>
                <a:latin typeface="Noto Sans SC"/>
                <a:ea typeface="Noto Sans SC"/>
                <a:cs typeface="Noto Sans SC"/>
              </a:defRPr>
            </a:lvl6pPr>
            <a:lvl7pPr algn="l">
              <a:defRPr sz="5700" b="0">
                <a:solidFill>
                  <a:srgbClr val="62D6C9"/>
                </a:solidFill>
                <a:latin typeface="Noto Sans SC"/>
                <a:ea typeface="Noto Sans SC"/>
                <a:cs typeface="Noto Sans SC"/>
              </a:defRPr>
            </a:lvl7pPr>
            <a:lvl8pPr algn="l">
              <a:defRPr sz="5700" b="0">
                <a:solidFill>
                  <a:srgbClr val="62D6C9"/>
                </a:solidFill>
                <a:latin typeface="Noto Sans SC"/>
                <a:ea typeface="Noto Sans SC"/>
                <a:cs typeface="Noto Sans SC"/>
              </a:defRPr>
            </a:lvl8pPr>
            <a:lvl9pPr algn="l">
              <a:defRPr sz="5700" b="0">
                <a:solidFill>
                  <a:srgbClr val="62D6C9"/>
                </a:solidFill>
                <a:latin typeface="Noto Sans SC"/>
                <a:ea typeface="Noto Sans SC"/>
                <a:cs typeface="Noto Sans SC"/>
              </a:defRPr>
            </a:lvl9pPr>
          </a:lstStyle>
          <a:p xmlns:a="http://schemas.openxmlformats.org/drawingml/2006/main">
            <a:pPr algn="l">
              <a:lnSpc>
                <a:spcPct val="112000"/>
              </a:lnSpc>
              <a:buNone/>
              <a:defRPr sz="5700" b="0">
                <a:solidFill>
                  <a:srgbClr val="62D6C9"/>
                </a:solidFill>
                <a:latin typeface="Noto Sans SC"/>
                <a:ea typeface="Noto Sans SC"/>
                <a:cs typeface="Noto Sans SC"/>
              </a:defRPr>
            </a:pPr>
            <a:r>
              <a:rPr sz="5700" b="0">
                <a:solidFill>
                  <a:srgbClr val="62D6C9"/>
                </a:solidFill>
                <a:latin typeface="Noto Sans SC"/>
                <a:ea typeface="Noto Sans SC"/>
                <a:cs typeface="Noto Sans SC"/>
              </a:rPr>
              <a:t>新质生产力</a:t>
            </a:r>
          </a:p>
        </p:txBody>
      </p:sp>
      <p:sp>
        <p:nvSpPr>
          <p:cNvPr id="9" name="text-f4ymi2oj5l8">
            <a:extLst xmlns:a="http://schemas.openxmlformats.org/drawingml/2006/main">
              <a:ext uri="{FF2B5EF4-FFF2-40B4-BE49-F238E27FC236}">
                <a16:creationId xmlns:a16="http://schemas.microsoft.com/office/drawing/2014/main" id="{89E93056-BFD3-4026-8E15-E55FB29A2F4C}"/>
              </a:ext>
            </a:extLst>
          </p:cNvPr>
          <p:cNvSpPr>
            <a:spLocks xmlns:a="http://schemas.openxmlformats.org/drawingml/2006/main" noGrp="1"/>
          </p:cNvSpPr>
          <p:nvPr/>
        </p:nvSpPr>
        <p:spPr>
          <a:xfrm xmlns:a="http://schemas.openxmlformats.org/drawingml/2006/main">
            <a:off x="609600" y="398145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E5B64B"/>
                </a:solidFill>
                <a:latin typeface="DejaVu Sans"/>
                <a:ea typeface="DejaVu Sans"/>
                <a:cs typeface="DejaVu Sans"/>
              </a:defRPr>
            </a:defPPr>
            <a:lvl1pPr algn="l">
              <a:defRPr sz="2025" b="0">
                <a:solidFill>
                  <a:srgbClr val="E5B64B"/>
                </a:solidFill>
                <a:latin typeface="DejaVu Sans"/>
                <a:ea typeface="DejaVu Sans"/>
                <a:cs typeface="DejaVu Sans"/>
              </a:defRPr>
            </a:lvl1pPr>
            <a:lvl2pPr algn="l">
              <a:defRPr sz="2025" b="0">
                <a:solidFill>
                  <a:srgbClr val="E5B64B"/>
                </a:solidFill>
                <a:latin typeface="DejaVu Sans"/>
                <a:ea typeface="DejaVu Sans"/>
                <a:cs typeface="DejaVu Sans"/>
              </a:defRPr>
            </a:lvl2pPr>
            <a:lvl3pPr algn="l">
              <a:defRPr sz="2025" b="0">
                <a:solidFill>
                  <a:srgbClr val="E5B64B"/>
                </a:solidFill>
                <a:latin typeface="DejaVu Sans"/>
                <a:ea typeface="DejaVu Sans"/>
                <a:cs typeface="DejaVu Sans"/>
              </a:defRPr>
            </a:lvl3pPr>
            <a:lvl4pPr algn="l">
              <a:defRPr sz="2025" b="0">
                <a:solidFill>
                  <a:srgbClr val="E5B64B"/>
                </a:solidFill>
                <a:latin typeface="DejaVu Sans"/>
                <a:ea typeface="DejaVu Sans"/>
                <a:cs typeface="DejaVu Sans"/>
              </a:defRPr>
            </a:lvl4pPr>
            <a:lvl5pPr algn="l">
              <a:defRPr sz="2025" b="0">
                <a:solidFill>
                  <a:srgbClr val="E5B64B"/>
                </a:solidFill>
                <a:latin typeface="DejaVu Sans"/>
                <a:ea typeface="DejaVu Sans"/>
                <a:cs typeface="DejaVu Sans"/>
              </a:defRPr>
            </a:lvl5pPr>
            <a:lvl6pPr algn="l">
              <a:defRPr sz="2025" b="0">
                <a:solidFill>
                  <a:srgbClr val="E5B64B"/>
                </a:solidFill>
                <a:latin typeface="DejaVu Sans"/>
                <a:ea typeface="DejaVu Sans"/>
                <a:cs typeface="DejaVu Sans"/>
              </a:defRPr>
            </a:lvl6pPr>
            <a:lvl7pPr algn="l">
              <a:defRPr sz="2025" b="0">
                <a:solidFill>
                  <a:srgbClr val="E5B64B"/>
                </a:solidFill>
                <a:latin typeface="DejaVu Sans"/>
                <a:ea typeface="DejaVu Sans"/>
                <a:cs typeface="DejaVu Sans"/>
              </a:defRPr>
            </a:lvl7pPr>
            <a:lvl8pPr algn="l">
              <a:defRPr sz="2025" b="0">
                <a:solidFill>
                  <a:srgbClr val="E5B64B"/>
                </a:solidFill>
                <a:latin typeface="DejaVu Sans"/>
                <a:ea typeface="DejaVu Sans"/>
                <a:cs typeface="DejaVu Sans"/>
              </a:defRPr>
            </a:lvl8pPr>
            <a:lvl9pPr algn="l">
              <a:defRPr sz="2025" b="0">
                <a:solidFill>
                  <a:srgbClr val="E5B64B"/>
                </a:solidFill>
                <a:latin typeface="DejaVu Sans"/>
                <a:ea typeface="DejaVu Sans"/>
                <a:cs typeface="DejaVu Sans"/>
              </a:defRPr>
            </a:lvl9pPr>
          </a:lstStyle>
          <a:p xmlns:a="http://schemas.openxmlformats.org/drawingml/2006/main">
            <a:pPr algn="l">
              <a:lnSpc>
                <a:spcPct val="112000"/>
              </a:lnSpc>
              <a:buNone/>
              <a:defRPr sz="2025" b="0">
                <a:solidFill>
                  <a:srgbClr val="E5B64B"/>
                </a:solidFill>
                <a:latin typeface="DejaVu Sans"/>
                <a:ea typeface="DejaVu Sans"/>
                <a:cs typeface="DejaVu Sans"/>
              </a:defRPr>
            </a:pPr>
            <a:r>
              <a:rPr sz="2025" b="0">
                <a:solidFill>
                  <a:srgbClr val="E5B64B"/>
                </a:solidFill>
                <a:latin typeface="DejaVu Sans"/>
                <a:ea typeface="DejaVu Sans"/>
                <a:cs typeface="DejaVu Sans"/>
              </a:rPr>
              <a:t>xīn zhì shēngchǎn lì</a:t>
            </a:r>
          </a:p>
        </p:txBody>
      </p:sp>
      <p:sp>
        <p:nvSpPr>
          <p:cNvPr id="10" name="text-3ni2xyd9xyg">
            <a:extLst xmlns:a="http://schemas.openxmlformats.org/drawingml/2006/main">
              <a:ext uri="{FF2B5EF4-FFF2-40B4-BE49-F238E27FC236}">
                <a16:creationId xmlns:a16="http://schemas.microsoft.com/office/drawing/2014/main" id="{9D87AF3F-FB0A-49DC-8A99-99C5F359EF08}"/>
              </a:ext>
            </a:extLst>
          </p:cNvPr>
          <p:cNvSpPr>
            <a:spLocks xmlns:a="http://schemas.openxmlformats.org/drawingml/2006/main" noGrp="1"/>
          </p:cNvSpPr>
          <p:nvPr/>
        </p:nvSpPr>
        <p:spPr>
          <a:xfrm xmlns:a="http://schemas.openxmlformats.org/drawingml/2006/main">
            <a:off x="6096000" y="2600325"/>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DFA"/>
                </a:solidFill>
                <a:latin typeface="DejaVu Sans"/>
                <a:ea typeface="DejaVu Sans"/>
                <a:cs typeface="DejaVu Sans"/>
              </a:defRPr>
            </a:defPPr>
            <a:lvl1pPr algn="l">
              <a:defRPr sz="1950" b="1">
                <a:solidFill>
                  <a:srgbClr val="FFFDFA"/>
                </a:solidFill>
                <a:latin typeface="DejaVu Sans"/>
                <a:ea typeface="DejaVu Sans"/>
                <a:cs typeface="DejaVu Sans"/>
              </a:defRPr>
            </a:lvl1pPr>
            <a:lvl2pPr algn="l">
              <a:defRPr sz="1950" b="1">
                <a:solidFill>
                  <a:srgbClr val="FFFDFA"/>
                </a:solidFill>
                <a:latin typeface="DejaVu Sans"/>
                <a:ea typeface="DejaVu Sans"/>
                <a:cs typeface="DejaVu Sans"/>
              </a:defRPr>
            </a:lvl2pPr>
            <a:lvl3pPr algn="l">
              <a:defRPr sz="1950" b="1">
                <a:solidFill>
                  <a:srgbClr val="FFFDFA"/>
                </a:solidFill>
                <a:latin typeface="DejaVu Sans"/>
                <a:ea typeface="DejaVu Sans"/>
                <a:cs typeface="DejaVu Sans"/>
              </a:defRPr>
            </a:lvl3pPr>
            <a:lvl4pPr algn="l">
              <a:defRPr sz="1950" b="1">
                <a:solidFill>
                  <a:srgbClr val="FFFDFA"/>
                </a:solidFill>
                <a:latin typeface="DejaVu Sans"/>
                <a:ea typeface="DejaVu Sans"/>
                <a:cs typeface="DejaVu Sans"/>
              </a:defRPr>
            </a:lvl4pPr>
            <a:lvl5pPr algn="l">
              <a:defRPr sz="1950" b="1">
                <a:solidFill>
                  <a:srgbClr val="FFFDFA"/>
                </a:solidFill>
                <a:latin typeface="DejaVu Sans"/>
                <a:ea typeface="DejaVu Sans"/>
                <a:cs typeface="DejaVu Sans"/>
              </a:defRPr>
            </a:lvl5pPr>
            <a:lvl6pPr algn="l">
              <a:defRPr sz="1950" b="1">
                <a:solidFill>
                  <a:srgbClr val="FFFDFA"/>
                </a:solidFill>
                <a:latin typeface="DejaVu Sans"/>
                <a:ea typeface="DejaVu Sans"/>
                <a:cs typeface="DejaVu Sans"/>
              </a:defRPr>
            </a:lvl6pPr>
            <a:lvl7pPr algn="l">
              <a:defRPr sz="1950" b="1">
                <a:solidFill>
                  <a:srgbClr val="FFFDFA"/>
                </a:solidFill>
                <a:latin typeface="DejaVu Sans"/>
                <a:ea typeface="DejaVu Sans"/>
                <a:cs typeface="DejaVu Sans"/>
              </a:defRPr>
            </a:lvl7pPr>
            <a:lvl8pPr algn="l">
              <a:defRPr sz="1950" b="1">
                <a:solidFill>
                  <a:srgbClr val="FFFDFA"/>
                </a:solidFill>
                <a:latin typeface="DejaVu Sans"/>
                <a:ea typeface="DejaVu Sans"/>
                <a:cs typeface="DejaVu Sans"/>
              </a:defRPr>
            </a:lvl8pPr>
            <a:lvl9pPr algn="l">
              <a:defRPr sz="1950" b="1">
                <a:solidFill>
                  <a:srgbClr val="FFFDFA"/>
                </a:solidFill>
                <a:latin typeface="DejaVu Sans"/>
                <a:ea typeface="DejaVu Sans"/>
                <a:cs typeface="DejaVu Sans"/>
              </a:defRPr>
            </a:lvl9pPr>
          </a:lstStyle>
          <a:p xmlns:a="http://schemas.openxmlformats.org/drawingml/2006/main">
            <a:pPr algn="l">
              <a:lnSpc>
                <a:spcPct val="112000"/>
              </a:lnSpc>
              <a:buNone/>
              <a:defRPr sz="1950" b="1">
                <a:solidFill>
                  <a:srgbClr val="FFFDFA"/>
                </a:solidFill>
                <a:latin typeface="DejaVu Sans"/>
                <a:ea typeface="DejaVu Sans"/>
                <a:cs typeface="DejaVu Sans"/>
              </a:defRPr>
            </a:pPr>
            <a:r>
              <a:rPr sz="1950" b="1">
                <a:solidFill>
                  <a:srgbClr val="FFFDFA"/>
                </a:solidFill>
                <a:latin typeface="DejaVu Sans"/>
                <a:ea typeface="DejaVu Sans"/>
                <a:cs typeface="DejaVu Sans"/>
              </a:rPr>
              <a:t>Technology</a:t>
            </a:r>
          </a:p>
        </p:txBody>
      </p:sp>
      <p:sp>
        <p:nvSpPr>
          <p:cNvPr id="11" name="text-ecvh58vhmh9">
            <a:extLst xmlns:a="http://schemas.openxmlformats.org/drawingml/2006/main">
              <a:ext uri="{FF2B5EF4-FFF2-40B4-BE49-F238E27FC236}">
                <a16:creationId xmlns:a16="http://schemas.microsoft.com/office/drawing/2014/main" id="{139FF375-B5A4-454B-BD34-6E75A1E7564D}"/>
              </a:ext>
            </a:extLst>
          </p:cNvPr>
          <p:cNvSpPr>
            <a:spLocks xmlns:a="http://schemas.openxmlformats.org/drawingml/2006/main" noGrp="1"/>
          </p:cNvSpPr>
          <p:nvPr/>
        </p:nvSpPr>
        <p:spPr>
          <a:xfrm xmlns:a="http://schemas.openxmlformats.org/drawingml/2006/main">
            <a:off x="6096000" y="3009900"/>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Research and process improvements.</a:t>
            </a:r>
          </a:p>
        </p:txBody>
      </p:sp>
      <p:sp>
        <p:nvSpPr>
          <p:cNvPr id="12" name="text-c0p7q1z1pts">
            <a:extLst xmlns:a="http://schemas.openxmlformats.org/drawingml/2006/main">
              <a:ext uri="{FF2B5EF4-FFF2-40B4-BE49-F238E27FC236}">
                <a16:creationId xmlns:a16="http://schemas.microsoft.com/office/drawing/2014/main" id="{AC59A02E-3427-430D-94BA-E49EAFAF3C52}"/>
              </a:ext>
            </a:extLst>
          </p:cNvPr>
          <p:cNvSpPr>
            <a:spLocks xmlns:a="http://schemas.openxmlformats.org/drawingml/2006/main" noGrp="1"/>
          </p:cNvSpPr>
          <p:nvPr/>
        </p:nvSpPr>
        <p:spPr>
          <a:xfrm xmlns:a="http://schemas.openxmlformats.org/drawingml/2006/main">
            <a:off x="6096000" y="3695700"/>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DFA"/>
                </a:solidFill>
                <a:latin typeface="DejaVu Sans"/>
                <a:ea typeface="DejaVu Sans"/>
                <a:cs typeface="DejaVu Sans"/>
              </a:defRPr>
            </a:defPPr>
            <a:lvl1pPr algn="l">
              <a:defRPr sz="1950" b="1">
                <a:solidFill>
                  <a:srgbClr val="FFFDFA"/>
                </a:solidFill>
                <a:latin typeface="DejaVu Sans"/>
                <a:ea typeface="DejaVu Sans"/>
                <a:cs typeface="DejaVu Sans"/>
              </a:defRPr>
            </a:lvl1pPr>
            <a:lvl2pPr algn="l">
              <a:defRPr sz="1950" b="1">
                <a:solidFill>
                  <a:srgbClr val="FFFDFA"/>
                </a:solidFill>
                <a:latin typeface="DejaVu Sans"/>
                <a:ea typeface="DejaVu Sans"/>
                <a:cs typeface="DejaVu Sans"/>
              </a:defRPr>
            </a:lvl2pPr>
            <a:lvl3pPr algn="l">
              <a:defRPr sz="1950" b="1">
                <a:solidFill>
                  <a:srgbClr val="FFFDFA"/>
                </a:solidFill>
                <a:latin typeface="DejaVu Sans"/>
                <a:ea typeface="DejaVu Sans"/>
                <a:cs typeface="DejaVu Sans"/>
              </a:defRPr>
            </a:lvl3pPr>
            <a:lvl4pPr algn="l">
              <a:defRPr sz="1950" b="1">
                <a:solidFill>
                  <a:srgbClr val="FFFDFA"/>
                </a:solidFill>
                <a:latin typeface="DejaVu Sans"/>
                <a:ea typeface="DejaVu Sans"/>
                <a:cs typeface="DejaVu Sans"/>
              </a:defRPr>
            </a:lvl4pPr>
            <a:lvl5pPr algn="l">
              <a:defRPr sz="1950" b="1">
                <a:solidFill>
                  <a:srgbClr val="FFFDFA"/>
                </a:solidFill>
                <a:latin typeface="DejaVu Sans"/>
                <a:ea typeface="DejaVu Sans"/>
                <a:cs typeface="DejaVu Sans"/>
              </a:defRPr>
            </a:lvl5pPr>
            <a:lvl6pPr algn="l">
              <a:defRPr sz="1950" b="1">
                <a:solidFill>
                  <a:srgbClr val="FFFDFA"/>
                </a:solidFill>
                <a:latin typeface="DejaVu Sans"/>
                <a:ea typeface="DejaVu Sans"/>
                <a:cs typeface="DejaVu Sans"/>
              </a:defRPr>
            </a:lvl6pPr>
            <a:lvl7pPr algn="l">
              <a:defRPr sz="1950" b="1">
                <a:solidFill>
                  <a:srgbClr val="FFFDFA"/>
                </a:solidFill>
                <a:latin typeface="DejaVu Sans"/>
                <a:ea typeface="DejaVu Sans"/>
                <a:cs typeface="DejaVu Sans"/>
              </a:defRPr>
            </a:lvl7pPr>
            <a:lvl8pPr algn="l">
              <a:defRPr sz="1950" b="1">
                <a:solidFill>
                  <a:srgbClr val="FFFDFA"/>
                </a:solidFill>
                <a:latin typeface="DejaVu Sans"/>
                <a:ea typeface="DejaVu Sans"/>
                <a:cs typeface="DejaVu Sans"/>
              </a:defRPr>
            </a:lvl8pPr>
            <a:lvl9pPr algn="l">
              <a:defRPr sz="1950" b="1">
                <a:solidFill>
                  <a:srgbClr val="FFFDFA"/>
                </a:solidFill>
                <a:latin typeface="DejaVu Sans"/>
                <a:ea typeface="DejaVu Sans"/>
                <a:cs typeface="DejaVu Sans"/>
              </a:defRPr>
            </a:lvl9pPr>
          </a:lstStyle>
          <a:p xmlns:a="http://schemas.openxmlformats.org/drawingml/2006/main">
            <a:pPr algn="l">
              <a:lnSpc>
                <a:spcPct val="112000"/>
              </a:lnSpc>
              <a:buNone/>
              <a:defRPr sz="1950" b="1">
                <a:solidFill>
                  <a:srgbClr val="FFFDFA"/>
                </a:solidFill>
                <a:latin typeface="DejaVu Sans"/>
                <a:ea typeface="DejaVu Sans"/>
                <a:cs typeface="DejaVu Sans"/>
              </a:defRPr>
            </a:pPr>
            <a:r>
              <a:rPr sz="1950" b="1">
                <a:solidFill>
                  <a:srgbClr val="FFFDFA"/>
                </a:solidFill>
                <a:latin typeface="DejaVu Sans"/>
                <a:ea typeface="DejaVu Sans"/>
                <a:cs typeface="DejaVu Sans"/>
              </a:rPr>
              <a:t>Capabilities</a:t>
            </a:r>
          </a:p>
        </p:txBody>
      </p:sp>
      <p:sp>
        <p:nvSpPr>
          <p:cNvPr id="13" name="text-05jlxzt0xk8q">
            <a:extLst xmlns:a="http://schemas.openxmlformats.org/drawingml/2006/main">
              <a:ext uri="{FF2B5EF4-FFF2-40B4-BE49-F238E27FC236}">
                <a16:creationId xmlns:a16="http://schemas.microsoft.com/office/drawing/2014/main" id="{E2A813CB-532F-43F6-8363-01EB86D7E73F}"/>
              </a:ext>
            </a:extLst>
          </p:cNvPr>
          <p:cNvSpPr>
            <a:spLocks xmlns:a="http://schemas.openxmlformats.org/drawingml/2006/main" noGrp="1"/>
          </p:cNvSpPr>
          <p:nvPr/>
        </p:nvSpPr>
        <p:spPr>
          <a:xfrm xmlns:a="http://schemas.openxmlformats.org/drawingml/2006/main">
            <a:off x="6096000" y="4105275"/>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Talent, suppliers and infrastructure.</a:t>
            </a:r>
          </a:p>
        </p:txBody>
      </p:sp>
      <p:sp>
        <p:nvSpPr>
          <p:cNvPr id="14" name="text-rbu40omoghi">
            <a:extLst xmlns:a="http://schemas.openxmlformats.org/drawingml/2006/main">
              <a:ext uri="{FF2B5EF4-FFF2-40B4-BE49-F238E27FC236}">
                <a16:creationId xmlns:a16="http://schemas.microsoft.com/office/drawing/2014/main" id="{3FC77DB9-4BAE-4401-967D-E92F1077BD72}"/>
              </a:ext>
            </a:extLst>
          </p:cNvPr>
          <p:cNvSpPr>
            <a:spLocks xmlns:a="http://schemas.openxmlformats.org/drawingml/2006/main" noGrp="1"/>
          </p:cNvSpPr>
          <p:nvPr/>
        </p:nvSpPr>
        <p:spPr>
          <a:xfrm xmlns:a="http://schemas.openxmlformats.org/drawingml/2006/main">
            <a:off x="6096000" y="4791075"/>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DFA"/>
                </a:solidFill>
                <a:latin typeface="DejaVu Sans"/>
                <a:ea typeface="DejaVu Sans"/>
                <a:cs typeface="DejaVu Sans"/>
              </a:defRPr>
            </a:defPPr>
            <a:lvl1pPr algn="l">
              <a:defRPr sz="1950" b="1">
                <a:solidFill>
                  <a:srgbClr val="FFFDFA"/>
                </a:solidFill>
                <a:latin typeface="DejaVu Sans"/>
                <a:ea typeface="DejaVu Sans"/>
                <a:cs typeface="DejaVu Sans"/>
              </a:defRPr>
            </a:lvl1pPr>
            <a:lvl2pPr algn="l">
              <a:defRPr sz="1950" b="1">
                <a:solidFill>
                  <a:srgbClr val="FFFDFA"/>
                </a:solidFill>
                <a:latin typeface="DejaVu Sans"/>
                <a:ea typeface="DejaVu Sans"/>
                <a:cs typeface="DejaVu Sans"/>
              </a:defRPr>
            </a:lvl2pPr>
            <a:lvl3pPr algn="l">
              <a:defRPr sz="1950" b="1">
                <a:solidFill>
                  <a:srgbClr val="FFFDFA"/>
                </a:solidFill>
                <a:latin typeface="DejaVu Sans"/>
                <a:ea typeface="DejaVu Sans"/>
                <a:cs typeface="DejaVu Sans"/>
              </a:defRPr>
            </a:lvl3pPr>
            <a:lvl4pPr algn="l">
              <a:defRPr sz="1950" b="1">
                <a:solidFill>
                  <a:srgbClr val="FFFDFA"/>
                </a:solidFill>
                <a:latin typeface="DejaVu Sans"/>
                <a:ea typeface="DejaVu Sans"/>
                <a:cs typeface="DejaVu Sans"/>
              </a:defRPr>
            </a:lvl4pPr>
            <a:lvl5pPr algn="l">
              <a:defRPr sz="1950" b="1">
                <a:solidFill>
                  <a:srgbClr val="FFFDFA"/>
                </a:solidFill>
                <a:latin typeface="DejaVu Sans"/>
                <a:ea typeface="DejaVu Sans"/>
                <a:cs typeface="DejaVu Sans"/>
              </a:defRPr>
            </a:lvl5pPr>
            <a:lvl6pPr algn="l">
              <a:defRPr sz="1950" b="1">
                <a:solidFill>
                  <a:srgbClr val="FFFDFA"/>
                </a:solidFill>
                <a:latin typeface="DejaVu Sans"/>
                <a:ea typeface="DejaVu Sans"/>
                <a:cs typeface="DejaVu Sans"/>
              </a:defRPr>
            </a:lvl6pPr>
            <a:lvl7pPr algn="l">
              <a:defRPr sz="1950" b="1">
                <a:solidFill>
                  <a:srgbClr val="FFFDFA"/>
                </a:solidFill>
                <a:latin typeface="DejaVu Sans"/>
                <a:ea typeface="DejaVu Sans"/>
                <a:cs typeface="DejaVu Sans"/>
              </a:defRPr>
            </a:lvl7pPr>
            <a:lvl8pPr algn="l">
              <a:defRPr sz="1950" b="1">
                <a:solidFill>
                  <a:srgbClr val="FFFDFA"/>
                </a:solidFill>
                <a:latin typeface="DejaVu Sans"/>
                <a:ea typeface="DejaVu Sans"/>
                <a:cs typeface="DejaVu Sans"/>
              </a:defRPr>
            </a:lvl8pPr>
            <a:lvl9pPr algn="l">
              <a:defRPr sz="1950" b="1">
                <a:solidFill>
                  <a:srgbClr val="FFFDFA"/>
                </a:solidFill>
                <a:latin typeface="DejaVu Sans"/>
                <a:ea typeface="DejaVu Sans"/>
                <a:cs typeface="DejaVu Sans"/>
              </a:defRPr>
            </a:lvl9pPr>
          </a:lstStyle>
          <a:p xmlns:a="http://schemas.openxmlformats.org/drawingml/2006/main">
            <a:pPr algn="l">
              <a:lnSpc>
                <a:spcPct val="112000"/>
              </a:lnSpc>
              <a:buNone/>
              <a:defRPr sz="1950" b="1">
                <a:solidFill>
                  <a:srgbClr val="FFFDFA"/>
                </a:solidFill>
                <a:latin typeface="DejaVu Sans"/>
                <a:ea typeface="DejaVu Sans"/>
                <a:cs typeface="DejaVu Sans"/>
              </a:defRPr>
            </a:pPr>
            <a:r>
              <a:rPr sz="1950" b="1">
                <a:solidFill>
                  <a:srgbClr val="FFFDFA"/>
                </a:solidFill>
                <a:latin typeface="DejaVu Sans"/>
                <a:ea typeface="DejaVu Sans"/>
                <a:cs typeface="DejaVu Sans"/>
              </a:rPr>
              <a:t>Outcomes</a:t>
            </a:r>
          </a:p>
        </p:txBody>
      </p:sp>
      <p:sp>
        <p:nvSpPr>
          <p:cNvPr id="15" name="text-qwl9b9y116i">
            <a:extLst xmlns:a="http://schemas.openxmlformats.org/drawingml/2006/main">
              <a:ext uri="{FF2B5EF4-FFF2-40B4-BE49-F238E27FC236}">
                <a16:creationId xmlns:a16="http://schemas.microsoft.com/office/drawing/2014/main" id="{B541B18B-4A3C-4616-BD92-11D47B20A6FB}"/>
              </a:ext>
            </a:extLst>
          </p:cNvPr>
          <p:cNvSpPr>
            <a:spLocks xmlns:a="http://schemas.openxmlformats.org/drawingml/2006/main" noGrp="1"/>
          </p:cNvSpPr>
          <p:nvPr/>
        </p:nvSpPr>
        <p:spPr>
          <a:xfrm xmlns:a="http://schemas.openxmlformats.org/drawingml/2006/main">
            <a:off x="6096000" y="5200650"/>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Observable quality and productivity.</a:t>
            </a:r>
          </a:p>
        </p:txBody>
      </p:sp>
    </p:spTree>
    <p:extLst>
      <p:ext uri="{BB962C8B-B14F-4D97-AF65-F5344CB8AC3E}">
        <p14:creationId xmlns:p14="http://schemas.microsoft.com/office/powerpoint/2010/main" val="280402439"/>
      </p:ext>
    </p:extLst>
  </p:cSld>
</p:sld>
</file>

<file path=ppt/slides/slide41.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9179468-5CDA-43DE-8CF5-4337E0CB1731}"/>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bhahi13n3rl">
            <a:extLst xmlns:a="http://schemas.openxmlformats.org/drawingml/2006/main">
              <a:ext uri="{FF2B5EF4-FFF2-40B4-BE49-F238E27FC236}">
                <a16:creationId xmlns:a16="http://schemas.microsoft.com/office/drawing/2014/main" id="{194453AE-BA89-49CF-9A01-7D3EF3BA6B12}"/>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qgu8z01p1f9">
            <a:extLst xmlns:a="http://schemas.openxmlformats.org/drawingml/2006/main">
              <a:ext uri="{FF2B5EF4-FFF2-40B4-BE49-F238E27FC236}">
                <a16:creationId xmlns:a16="http://schemas.microsoft.com/office/drawing/2014/main" id="{F4BAEDC6-3B58-48C7-9402-FA527D87104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Bottlenecks appear throughout the system</a:t>
            </a:r>
          </a:p>
        </p:txBody>
      </p:sp>
      <p:sp>
        <p:nvSpPr>
          <p:cNvPr id="4" name="text-u8dh5jprmm">
            <a:extLst xmlns:a="http://schemas.openxmlformats.org/drawingml/2006/main">
              <a:ext uri="{FF2B5EF4-FFF2-40B4-BE49-F238E27FC236}">
                <a16:creationId xmlns:a16="http://schemas.microsoft.com/office/drawing/2014/main" id="{F8D39C1B-C16F-46D0-AFD3-9F98A82025FA}"/>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A component’s efficiency depends on complementary assets.</a:t>
            </a:r>
          </a:p>
        </p:txBody>
      </p:sp>
      <p:sp>
        <p:nvSpPr>
          <p:cNvPr id="5" name="">
            <a:extLst xmlns:a="http://schemas.openxmlformats.org/drawingml/2006/main">
              <a:ext uri="{FF2B5EF4-FFF2-40B4-BE49-F238E27FC236}">
                <a16:creationId xmlns:a16="http://schemas.microsoft.com/office/drawing/2014/main" id="{F8CF132E-46C4-42CE-9825-AA1B16E9509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29mf7fhdc61">
            <a:extLst xmlns:a="http://schemas.openxmlformats.org/drawingml/2006/main">
              <a:ext uri="{FF2B5EF4-FFF2-40B4-BE49-F238E27FC236}">
                <a16:creationId xmlns:a16="http://schemas.microsoft.com/office/drawing/2014/main" id="{853F5DEA-8186-4F07-BA2E-9C3E2BA4512F}"/>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a2rid3csqc8">
            <a:extLst xmlns:a="http://schemas.openxmlformats.org/drawingml/2006/main">
              <a:ext uri="{FF2B5EF4-FFF2-40B4-BE49-F238E27FC236}">
                <a16:creationId xmlns:a16="http://schemas.microsoft.com/office/drawing/2014/main" id="{92D7E331-52A7-4E0C-8BC9-C45665FAC885}"/>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41</a:t>
            </a:r>
          </a:p>
        </p:txBody>
      </p:sp>
      <p:sp>
        <p:nvSpPr>
          <p:cNvPr id="8" name="">
            <a:extLst xmlns:a="http://schemas.openxmlformats.org/drawingml/2006/main">
              <a:ext uri="{FF2B5EF4-FFF2-40B4-BE49-F238E27FC236}">
                <a16:creationId xmlns:a16="http://schemas.microsoft.com/office/drawing/2014/main" id="{EF11B871-52B6-4C59-989F-779E9960D69F}"/>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7B8606D-419C-4613-8095-140D4582A784}"/>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8b5htpu358d">
            <a:extLst xmlns:a="http://schemas.openxmlformats.org/drawingml/2006/main">
              <a:ext uri="{FF2B5EF4-FFF2-40B4-BE49-F238E27FC236}">
                <a16:creationId xmlns:a16="http://schemas.microsoft.com/office/drawing/2014/main" id="{E8255685-4084-40AE-83F5-6AE4339B3DEB}"/>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Compute</a:t>
            </a:r>
          </a:p>
        </p:txBody>
      </p:sp>
      <p:sp>
        <p:nvSpPr>
          <p:cNvPr id="11" name="text-cqx33t5fsu">
            <a:extLst xmlns:a="http://schemas.openxmlformats.org/drawingml/2006/main">
              <a:ext uri="{FF2B5EF4-FFF2-40B4-BE49-F238E27FC236}">
                <a16:creationId xmlns:a16="http://schemas.microsoft.com/office/drawing/2014/main" id="{40E138D1-F31C-4593-87AD-BD4C77E4DAB7}"/>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Chips, memory and interconnects.</a:t>
            </a:r>
          </a:p>
        </p:txBody>
      </p:sp>
      <p:sp>
        <p:nvSpPr>
          <p:cNvPr id="12" name="">
            <a:extLst xmlns:a="http://schemas.openxmlformats.org/drawingml/2006/main">
              <a:ext uri="{FF2B5EF4-FFF2-40B4-BE49-F238E27FC236}">
                <a16:creationId xmlns:a16="http://schemas.microsoft.com/office/drawing/2014/main" id="{E3CC82F8-C276-47EF-9A78-75CA1148140F}"/>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5D28C8B-7E52-4C02-AB51-2C05AF2D4183}"/>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mox2nwkbtg">
            <a:extLst xmlns:a="http://schemas.openxmlformats.org/drawingml/2006/main">
              <a:ext uri="{FF2B5EF4-FFF2-40B4-BE49-F238E27FC236}">
                <a16:creationId xmlns:a16="http://schemas.microsoft.com/office/drawing/2014/main" id="{9582AEC6-A394-4D14-8FCB-B93EF290B657}"/>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Engineering</a:t>
            </a:r>
          </a:p>
        </p:txBody>
      </p:sp>
      <p:sp>
        <p:nvSpPr>
          <p:cNvPr id="15" name="text-cs5j58mmqkp">
            <a:extLst xmlns:a="http://schemas.openxmlformats.org/drawingml/2006/main">
              <a:ext uri="{FF2B5EF4-FFF2-40B4-BE49-F238E27FC236}">
                <a16:creationId xmlns:a16="http://schemas.microsoft.com/office/drawing/2014/main" id="{4087181D-408B-42ED-B2E2-B600B06B8BD5}"/>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Actuators, precision, sensors and calibration.</a:t>
            </a:r>
          </a:p>
        </p:txBody>
      </p:sp>
      <p:sp>
        <p:nvSpPr>
          <p:cNvPr id="16" name="">
            <a:extLst xmlns:a="http://schemas.openxmlformats.org/drawingml/2006/main">
              <a:ext uri="{FF2B5EF4-FFF2-40B4-BE49-F238E27FC236}">
                <a16:creationId xmlns:a16="http://schemas.microsoft.com/office/drawing/2014/main" id="{F96BB53E-0D2A-451D-89A2-8F43BF7C8EE7}"/>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99A274C-1E3B-4B20-AA7D-A88C0ADD2DC2}"/>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uyhjpip5qvg">
            <a:extLst xmlns:a="http://schemas.openxmlformats.org/drawingml/2006/main">
              <a:ext uri="{FF2B5EF4-FFF2-40B4-BE49-F238E27FC236}">
                <a16:creationId xmlns:a16="http://schemas.microsoft.com/office/drawing/2014/main" id="{8F103089-B919-4140-BE47-D94CB6245C46}"/>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Operations</a:t>
            </a:r>
          </a:p>
        </p:txBody>
      </p:sp>
      <p:sp>
        <p:nvSpPr>
          <p:cNvPr id="19" name="text-2kvmvnzif6p">
            <a:extLst xmlns:a="http://schemas.openxmlformats.org/drawingml/2006/main">
              <a:ext uri="{FF2B5EF4-FFF2-40B4-BE49-F238E27FC236}">
                <a16:creationId xmlns:a16="http://schemas.microsoft.com/office/drawing/2014/main" id="{BFBCE131-3758-478C-B890-51541956E790}"/>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Energy, maintenance and local support.</a:t>
            </a:r>
          </a:p>
        </p:txBody>
      </p:sp>
      <p:sp>
        <p:nvSpPr>
          <p:cNvPr id="20" name="">
            <a:extLst xmlns:a="http://schemas.openxmlformats.org/drawingml/2006/main">
              <a:ext uri="{FF2B5EF4-FFF2-40B4-BE49-F238E27FC236}">
                <a16:creationId xmlns:a16="http://schemas.microsoft.com/office/drawing/2014/main" id="{3A634A8B-9446-4118-9E4D-E921688D6E59}"/>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703E92F-9248-4C21-BBC7-F2534AB44770}"/>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ik1qkd5lra">
            <a:extLst xmlns:a="http://schemas.openxmlformats.org/drawingml/2006/main">
              <a:ext uri="{FF2B5EF4-FFF2-40B4-BE49-F238E27FC236}">
                <a16:creationId xmlns:a16="http://schemas.microsoft.com/office/drawing/2014/main" id="{73D9642C-0859-4282-970C-784C9DA6179C}"/>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Market</a:t>
            </a:r>
          </a:p>
        </p:txBody>
      </p:sp>
      <p:sp>
        <p:nvSpPr>
          <p:cNvPr id="23" name="text-ns9n2pe5lz">
            <a:extLst xmlns:a="http://schemas.openxmlformats.org/drawingml/2006/main">
              <a:ext uri="{FF2B5EF4-FFF2-40B4-BE49-F238E27FC236}">
                <a16:creationId xmlns:a16="http://schemas.microsoft.com/office/drawing/2014/main" id="{CE576B63-2B4D-4B68-AD11-74C4B2CAD69E}"/>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Demand, integration and ability to pay.</a:t>
            </a:r>
          </a:p>
        </p:txBody>
      </p:sp>
    </p:spTree>
    <p:extLst>
      <p:ext uri="{BB962C8B-B14F-4D97-AF65-F5344CB8AC3E}">
        <p14:creationId xmlns:p14="http://schemas.microsoft.com/office/powerpoint/2010/main" val="76015988"/>
      </p:ext>
    </p:extLst>
  </p:cSld>
</p:sld>
</file>

<file path=ppt/slides/slide4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D96CB8F-F07D-4446-8F66-8E71862D783F}"/>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p8ihd6cya3i">
            <a:extLst xmlns:a="http://schemas.openxmlformats.org/drawingml/2006/main">
              <a:ext uri="{FF2B5EF4-FFF2-40B4-BE49-F238E27FC236}">
                <a16:creationId xmlns:a16="http://schemas.microsoft.com/office/drawing/2014/main" id="{6F7359FB-9438-4C2A-86D6-18CF374313D2}"/>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rhqc2f2lu0b">
            <a:extLst xmlns:a="http://schemas.openxmlformats.org/drawingml/2006/main">
              <a:ext uri="{FF2B5EF4-FFF2-40B4-BE49-F238E27FC236}">
                <a16:creationId xmlns:a16="http://schemas.microsoft.com/office/drawing/2014/main" id="{D380AAE1-F59D-4E81-AB30-2AB406664CA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Argentina can supply services that make technology usable</a:t>
            </a:r>
          </a:p>
        </p:txBody>
      </p:sp>
      <p:sp>
        <p:nvSpPr>
          <p:cNvPr id="4" name="text-kd2sj9zmmth">
            <a:extLst xmlns:a="http://schemas.openxmlformats.org/drawingml/2006/main">
              <a:ext uri="{FF2B5EF4-FFF2-40B4-BE49-F238E27FC236}">
                <a16:creationId xmlns:a16="http://schemas.microsoft.com/office/drawing/2014/main" id="{1F6CC0A4-D1BF-4C28-8C01-50A543843FFA}"/>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Opportunities to assess, not a guaranteed demand forecast.</a:t>
            </a:r>
          </a:p>
        </p:txBody>
      </p:sp>
      <p:sp>
        <p:nvSpPr>
          <p:cNvPr id="5" name="">
            <a:extLst xmlns:a="http://schemas.openxmlformats.org/drawingml/2006/main">
              <a:ext uri="{FF2B5EF4-FFF2-40B4-BE49-F238E27FC236}">
                <a16:creationId xmlns:a16="http://schemas.microsoft.com/office/drawing/2014/main" id="{00926802-8E48-470F-8B15-9F22060AC53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e65vd2slix">
            <a:extLst xmlns:a="http://schemas.openxmlformats.org/drawingml/2006/main">
              <a:ext uri="{FF2B5EF4-FFF2-40B4-BE49-F238E27FC236}">
                <a16:creationId xmlns:a16="http://schemas.microsoft.com/office/drawing/2014/main" id="{5AF0500F-B7A4-4703-85C7-C595539B58CC}"/>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cy0hx0bf7qp">
            <a:extLst xmlns:a="http://schemas.openxmlformats.org/drawingml/2006/main">
              <a:ext uri="{FF2B5EF4-FFF2-40B4-BE49-F238E27FC236}">
                <a16:creationId xmlns:a16="http://schemas.microsoft.com/office/drawing/2014/main" id="{63B25064-1B3C-4415-82A8-4B0F3870EBBC}"/>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42</a:t>
            </a:r>
          </a:p>
        </p:txBody>
      </p:sp>
      <p:sp>
        <p:nvSpPr>
          <p:cNvPr id="8" name="">
            <a:extLst xmlns:a="http://schemas.openxmlformats.org/drawingml/2006/main">
              <a:ext uri="{FF2B5EF4-FFF2-40B4-BE49-F238E27FC236}">
                <a16:creationId xmlns:a16="http://schemas.microsoft.com/office/drawing/2014/main" id="{2A70FD12-0011-42B1-9802-495A4F7265DA}"/>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7E33702-89C4-48DB-8BF7-2F2AE253BA27}"/>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qdiimujyq2">
            <a:extLst xmlns:a="http://schemas.openxmlformats.org/drawingml/2006/main">
              <a:ext uri="{FF2B5EF4-FFF2-40B4-BE49-F238E27FC236}">
                <a16:creationId xmlns:a16="http://schemas.microsoft.com/office/drawing/2014/main" id="{0A7A57D4-89A2-484B-9343-EEAC1F989E78}"/>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Evaluation</a:t>
            </a:r>
          </a:p>
        </p:txBody>
      </p:sp>
      <p:sp>
        <p:nvSpPr>
          <p:cNvPr id="11" name="text-fkbwyipmzbu">
            <a:extLst xmlns:a="http://schemas.openxmlformats.org/drawingml/2006/main">
              <a:ext uri="{FF2B5EF4-FFF2-40B4-BE49-F238E27FC236}">
                <a16:creationId xmlns:a16="http://schemas.microsoft.com/office/drawing/2014/main" id="{96BF0AEC-508B-4E82-A36B-749AD327FA37}"/>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Comparable model and task testing.</a:t>
            </a:r>
          </a:p>
        </p:txBody>
      </p:sp>
      <p:sp>
        <p:nvSpPr>
          <p:cNvPr id="12" name="">
            <a:extLst xmlns:a="http://schemas.openxmlformats.org/drawingml/2006/main">
              <a:ext uri="{FF2B5EF4-FFF2-40B4-BE49-F238E27FC236}">
                <a16:creationId xmlns:a16="http://schemas.microsoft.com/office/drawing/2014/main" id="{03CE6E41-711F-4E19-BAE9-3B17BFDC01E0}"/>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69F7EC5-89A5-470E-9FB7-D380D9833A47}"/>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6wuuc7hwxwa">
            <a:extLst xmlns:a="http://schemas.openxmlformats.org/drawingml/2006/main">
              <a:ext uri="{FF2B5EF4-FFF2-40B4-BE49-F238E27FC236}">
                <a16:creationId xmlns:a16="http://schemas.microsoft.com/office/drawing/2014/main" id="{BE572D3F-6A9C-4A2B-B8E3-4C8D4700B648}"/>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Integration</a:t>
            </a:r>
          </a:p>
        </p:txBody>
      </p:sp>
      <p:sp>
        <p:nvSpPr>
          <p:cNvPr id="15" name="text-3way515yug3">
            <a:extLst xmlns:a="http://schemas.openxmlformats.org/drawingml/2006/main">
              <a:ext uri="{FF2B5EF4-FFF2-40B4-BE49-F238E27FC236}">
                <a16:creationId xmlns:a16="http://schemas.microsoft.com/office/drawing/2014/main" id="{40B23751-13B2-4D4B-8AB4-7200BA67313A}"/>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Connections to client systems and processes.</a:t>
            </a:r>
          </a:p>
        </p:txBody>
      </p:sp>
      <p:sp>
        <p:nvSpPr>
          <p:cNvPr id="16" name="">
            <a:extLst xmlns:a="http://schemas.openxmlformats.org/drawingml/2006/main">
              <a:ext uri="{FF2B5EF4-FFF2-40B4-BE49-F238E27FC236}">
                <a16:creationId xmlns:a16="http://schemas.microsoft.com/office/drawing/2014/main" id="{F76F1890-6BCF-4486-B170-7FB2292C017A}"/>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B5D2848-026A-40EE-8AA6-20D9DB529014}"/>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d5duupsey4g">
            <a:extLst xmlns:a="http://schemas.openxmlformats.org/drawingml/2006/main">
              <a:ext uri="{FF2B5EF4-FFF2-40B4-BE49-F238E27FC236}">
                <a16:creationId xmlns:a16="http://schemas.microsoft.com/office/drawing/2014/main" id="{20EFD5B8-E4FC-4829-B1E3-8876DCEED181}"/>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Data</a:t>
            </a:r>
          </a:p>
        </p:txBody>
      </p:sp>
      <p:sp>
        <p:nvSpPr>
          <p:cNvPr id="19" name="text-eynx0k93ybv">
            <a:extLst xmlns:a="http://schemas.openxmlformats.org/drawingml/2006/main">
              <a:ext uri="{FF2B5EF4-FFF2-40B4-BE49-F238E27FC236}">
                <a16:creationId xmlns:a16="http://schemas.microsoft.com/office/drawing/2014/main" id="{52369350-6BF7-4B5A-A814-939F3CDA224E}"/>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Curation, evaluation and bilingual documentation.</a:t>
            </a:r>
          </a:p>
        </p:txBody>
      </p:sp>
      <p:sp>
        <p:nvSpPr>
          <p:cNvPr id="20" name="">
            <a:extLst xmlns:a="http://schemas.openxmlformats.org/drawingml/2006/main">
              <a:ext uri="{FF2B5EF4-FFF2-40B4-BE49-F238E27FC236}">
                <a16:creationId xmlns:a16="http://schemas.microsoft.com/office/drawing/2014/main" id="{B95D2405-1425-407C-9747-A6DCFA13325A}"/>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F240BA6-4E35-4771-ACD1-D01E95203032}"/>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n8hpfsgtoih">
            <a:extLst xmlns:a="http://schemas.openxmlformats.org/drawingml/2006/main">
              <a:ext uri="{FF2B5EF4-FFF2-40B4-BE49-F238E27FC236}">
                <a16:creationId xmlns:a16="http://schemas.microsoft.com/office/drawing/2014/main" id="{B8E30F32-0099-406C-A58A-D17E943B0950}"/>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Economics</a:t>
            </a:r>
          </a:p>
        </p:txBody>
      </p:sp>
      <p:sp>
        <p:nvSpPr>
          <p:cNvPr id="23" name="text-dlkdy7qs94a">
            <a:extLst xmlns:a="http://schemas.openxmlformats.org/drawingml/2006/main">
              <a:ext uri="{FF2B5EF4-FFF2-40B4-BE49-F238E27FC236}">
                <a16:creationId xmlns:a16="http://schemas.microsoft.com/office/drawing/2014/main" id="{03C6DAC0-18CB-43BB-A557-553D20417932}"/>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Total cost, scenarios and process redesign.</a:t>
            </a:r>
          </a:p>
        </p:txBody>
      </p:sp>
    </p:spTree>
    <p:extLst>
      <p:ext uri="{BB962C8B-B14F-4D97-AF65-F5344CB8AC3E}">
        <p14:creationId xmlns:p14="http://schemas.microsoft.com/office/powerpoint/2010/main" val="1735438819"/>
      </p:ext>
    </p:extLst>
  </p:cSld>
</p:sld>
</file>

<file path=ppt/slides/slide4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187BF80-7670-4E96-BF76-16AB934D2442}"/>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i1tp517if8j">
            <a:extLst xmlns:a="http://schemas.openxmlformats.org/drawingml/2006/main">
              <a:ext uri="{FF2B5EF4-FFF2-40B4-BE49-F238E27FC236}">
                <a16:creationId xmlns:a16="http://schemas.microsoft.com/office/drawing/2014/main" id="{EA78D3CD-7AB7-44BB-A379-38EB8AEF793C}"/>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a5am1wtzny">
            <a:extLst xmlns:a="http://schemas.openxmlformats.org/drawingml/2006/main">
              <a:ext uri="{FF2B5EF4-FFF2-40B4-BE49-F238E27FC236}">
                <a16:creationId xmlns:a16="http://schemas.microsoft.com/office/drawing/2014/main" id="{81F30291-BC17-4C4C-86F4-AF11013721D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Chinese vocabulary helps interpret technology discussions</a:t>
            </a:r>
          </a:p>
        </p:txBody>
      </p:sp>
      <p:sp>
        <p:nvSpPr>
          <p:cNvPr id="4" name="text-8d0zlywdbpo">
            <a:extLst xmlns:a="http://schemas.openxmlformats.org/drawingml/2006/main">
              <a:ext uri="{FF2B5EF4-FFF2-40B4-BE49-F238E27FC236}">
                <a16:creationId xmlns:a16="http://schemas.microsoft.com/office/drawing/2014/main" id="{AE805001-299D-468B-B91E-FB1FF450FBC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Research, engineering and policy concepts.</a:t>
            </a:r>
          </a:p>
        </p:txBody>
      </p:sp>
      <p:sp>
        <p:nvSpPr>
          <p:cNvPr id="5" name="">
            <a:extLst xmlns:a="http://schemas.openxmlformats.org/drawingml/2006/main">
              <a:ext uri="{FF2B5EF4-FFF2-40B4-BE49-F238E27FC236}">
                <a16:creationId xmlns:a16="http://schemas.microsoft.com/office/drawing/2014/main" id="{FDEEAD50-7EB1-4E78-83B5-2379AB6105C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dljut1txmk8">
            <a:extLst xmlns:a="http://schemas.openxmlformats.org/drawingml/2006/main">
              <a:ext uri="{FF2B5EF4-FFF2-40B4-BE49-F238E27FC236}">
                <a16:creationId xmlns:a16="http://schemas.microsoft.com/office/drawing/2014/main" id="{78E1D791-7E06-49DC-A607-E8DD7262F9B9}"/>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6nbtq2nwotp">
            <a:extLst xmlns:a="http://schemas.openxmlformats.org/drawingml/2006/main">
              <a:ext uri="{FF2B5EF4-FFF2-40B4-BE49-F238E27FC236}">
                <a16:creationId xmlns:a16="http://schemas.microsoft.com/office/drawing/2014/main" id="{DCB659EE-6BD1-4C4D-AF65-98C8D1F65C33}"/>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43</a:t>
            </a:r>
          </a:p>
        </p:txBody>
      </p:sp>
      <p:sp>
        <p:nvSpPr>
          <p:cNvPr id="8" name="text-f8imesvo175">
            <a:extLst xmlns:a="http://schemas.openxmlformats.org/drawingml/2006/main">
              <a:ext uri="{FF2B5EF4-FFF2-40B4-BE49-F238E27FC236}">
                <a16:creationId xmlns:a16="http://schemas.microsoft.com/office/drawing/2014/main" id="{E9452D37-8E30-4970-BC66-003C2223D015}"/>
              </a:ext>
            </a:extLst>
          </p:cNvPr>
          <p:cNvSpPr>
            <a:spLocks xmlns:a="http://schemas.openxmlformats.org/drawingml/2006/main" noGrp="1"/>
          </p:cNvSpPr>
          <p:nvPr/>
        </p:nvSpPr>
        <p:spPr>
          <a:xfrm xmlns:a="http://schemas.openxmlformats.org/drawingml/2006/main">
            <a:off x="609600" y="25241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87D78"/>
                </a:solidFill>
                <a:latin typeface="Noto Sans SC"/>
                <a:ea typeface="Noto Sans SC"/>
                <a:cs typeface="Noto Sans SC"/>
              </a:defRPr>
            </a:defPPr>
            <a:lvl1pPr algn="l">
              <a:defRPr sz="2625" b="0">
                <a:solidFill>
                  <a:srgbClr val="087D78"/>
                </a:solidFill>
                <a:latin typeface="Noto Sans SC"/>
                <a:ea typeface="Noto Sans SC"/>
                <a:cs typeface="Noto Sans SC"/>
              </a:defRPr>
            </a:lvl1pPr>
            <a:lvl2pPr algn="l">
              <a:defRPr sz="2625" b="0">
                <a:solidFill>
                  <a:srgbClr val="087D78"/>
                </a:solidFill>
                <a:latin typeface="Noto Sans SC"/>
                <a:ea typeface="Noto Sans SC"/>
                <a:cs typeface="Noto Sans SC"/>
              </a:defRPr>
            </a:lvl2pPr>
            <a:lvl3pPr algn="l">
              <a:defRPr sz="2625" b="0">
                <a:solidFill>
                  <a:srgbClr val="087D78"/>
                </a:solidFill>
                <a:latin typeface="Noto Sans SC"/>
                <a:ea typeface="Noto Sans SC"/>
                <a:cs typeface="Noto Sans SC"/>
              </a:defRPr>
            </a:lvl3pPr>
            <a:lvl4pPr algn="l">
              <a:defRPr sz="2625" b="0">
                <a:solidFill>
                  <a:srgbClr val="087D78"/>
                </a:solidFill>
                <a:latin typeface="Noto Sans SC"/>
                <a:ea typeface="Noto Sans SC"/>
                <a:cs typeface="Noto Sans SC"/>
              </a:defRPr>
            </a:lvl4pPr>
            <a:lvl5pPr algn="l">
              <a:defRPr sz="2625" b="0">
                <a:solidFill>
                  <a:srgbClr val="087D78"/>
                </a:solidFill>
                <a:latin typeface="Noto Sans SC"/>
                <a:ea typeface="Noto Sans SC"/>
                <a:cs typeface="Noto Sans SC"/>
              </a:defRPr>
            </a:lvl5pPr>
            <a:lvl6pPr algn="l">
              <a:defRPr sz="2625" b="0">
                <a:solidFill>
                  <a:srgbClr val="087D78"/>
                </a:solidFill>
                <a:latin typeface="Noto Sans SC"/>
                <a:ea typeface="Noto Sans SC"/>
                <a:cs typeface="Noto Sans SC"/>
              </a:defRPr>
            </a:lvl6pPr>
            <a:lvl7pPr algn="l">
              <a:defRPr sz="2625" b="0">
                <a:solidFill>
                  <a:srgbClr val="087D78"/>
                </a:solidFill>
                <a:latin typeface="Noto Sans SC"/>
                <a:ea typeface="Noto Sans SC"/>
                <a:cs typeface="Noto Sans SC"/>
              </a:defRPr>
            </a:lvl7pPr>
            <a:lvl8pPr algn="l">
              <a:defRPr sz="2625" b="0">
                <a:solidFill>
                  <a:srgbClr val="087D78"/>
                </a:solidFill>
                <a:latin typeface="Noto Sans SC"/>
                <a:ea typeface="Noto Sans SC"/>
                <a:cs typeface="Noto Sans SC"/>
              </a:defRPr>
            </a:lvl8pPr>
            <a:lvl9pPr algn="l">
              <a:defRPr sz="2625" b="0">
                <a:solidFill>
                  <a:srgbClr val="087D78"/>
                </a:solidFill>
                <a:latin typeface="Noto Sans SC"/>
                <a:ea typeface="Noto Sans SC"/>
                <a:cs typeface="Noto Sans SC"/>
              </a:defRPr>
            </a:lvl9pPr>
          </a:lstStyle>
          <a:p xmlns:a="http://schemas.openxmlformats.org/drawingml/2006/main">
            <a:pPr algn="l">
              <a:lnSpc>
                <a:spcPct val="112000"/>
              </a:lnSpc>
              <a:buNone/>
              <a:defRPr sz="2625" b="0">
                <a:solidFill>
                  <a:srgbClr val="087D78"/>
                </a:solidFill>
                <a:latin typeface="Noto Sans SC"/>
                <a:ea typeface="Noto Sans SC"/>
                <a:cs typeface="Noto Sans SC"/>
              </a:defRPr>
            </a:pPr>
            <a:r>
              <a:rPr sz="2625" b="0">
                <a:solidFill>
                  <a:srgbClr val="087D78"/>
                </a:solidFill>
                <a:latin typeface="Noto Sans SC"/>
                <a:ea typeface="Noto Sans SC"/>
                <a:cs typeface="Noto Sans SC"/>
              </a:rPr>
              <a:t>具身智能</a:t>
            </a:r>
          </a:p>
        </p:txBody>
      </p:sp>
      <p:sp>
        <p:nvSpPr>
          <p:cNvPr id="9" name="text-pfcxllw7kpc">
            <a:extLst xmlns:a="http://schemas.openxmlformats.org/drawingml/2006/main">
              <a:ext uri="{FF2B5EF4-FFF2-40B4-BE49-F238E27FC236}">
                <a16:creationId xmlns:a16="http://schemas.microsoft.com/office/drawing/2014/main" id="{72B9DF55-0FCB-4CB3-B333-64D980F1F60E}"/>
              </a:ext>
            </a:extLst>
          </p:cNvPr>
          <p:cNvSpPr>
            <a:spLocks xmlns:a="http://schemas.openxmlformats.org/drawingml/2006/main" noGrp="1"/>
          </p:cNvSpPr>
          <p:nvPr/>
        </p:nvSpPr>
        <p:spPr>
          <a:xfrm xmlns:a="http://schemas.openxmlformats.org/drawingml/2006/main">
            <a:off x="3714750" y="25908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42B"/>
                </a:solidFill>
                <a:latin typeface="DejaVu Sans"/>
                <a:ea typeface="DejaVu Sans"/>
                <a:cs typeface="DejaVu Sans"/>
              </a:defRPr>
            </a:defPPr>
            <a:lvl1pPr algn="l">
              <a:defRPr sz="1725" b="0">
                <a:solidFill>
                  <a:srgbClr val="10242B"/>
                </a:solidFill>
                <a:latin typeface="DejaVu Sans"/>
                <a:ea typeface="DejaVu Sans"/>
                <a:cs typeface="DejaVu Sans"/>
              </a:defRPr>
            </a:lvl1pPr>
            <a:lvl2pPr algn="l">
              <a:defRPr sz="1725" b="0">
                <a:solidFill>
                  <a:srgbClr val="10242B"/>
                </a:solidFill>
                <a:latin typeface="DejaVu Sans"/>
                <a:ea typeface="DejaVu Sans"/>
                <a:cs typeface="DejaVu Sans"/>
              </a:defRPr>
            </a:lvl2pPr>
            <a:lvl3pPr algn="l">
              <a:defRPr sz="1725" b="0">
                <a:solidFill>
                  <a:srgbClr val="10242B"/>
                </a:solidFill>
                <a:latin typeface="DejaVu Sans"/>
                <a:ea typeface="DejaVu Sans"/>
                <a:cs typeface="DejaVu Sans"/>
              </a:defRPr>
            </a:lvl3pPr>
            <a:lvl4pPr algn="l">
              <a:defRPr sz="1725" b="0">
                <a:solidFill>
                  <a:srgbClr val="10242B"/>
                </a:solidFill>
                <a:latin typeface="DejaVu Sans"/>
                <a:ea typeface="DejaVu Sans"/>
                <a:cs typeface="DejaVu Sans"/>
              </a:defRPr>
            </a:lvl4pPr>
            <a:lvl5pPr algn="l">
              <a:defRPr sz="1725" b="0">
                <a:solidFill>
                  <a:srgbClr val="10242B"/>
                </a:solidFill>
                <a:latin typeface="DejaVu Sans"/>
                <a:ea typeface="DejaVu Sans"/>
                <a:cs typeface="DejaVu Sans"/>
              </a:defRPr>
            </a:lvl5pPr>
            <a:lvl6pPr algn="l">
              <a:defRPr sz="1725" b="0">
                <a:solidFill>
                  <a:srgbClr val="10242B"/>
                </a:solidFill>
                <a:latin typeface="DejaVu Sans"/>
                <a:ea typeface="DejaVu Sans"/>
                <a:cs typeface="DejaVu Sans"/>
              </a:defRPr>
            </a:lvl6pPr>
            <a:lvl7pPr algn="l">
              <a:defRPr sz="1725" b="0">
                <a:solidFill>
                  <a:srgbClr val="10242B"/>
                </a:solidFill>
                <a:latin typeface="DejaVu Sans"/>
                <a:ea typeface="DejaVu Sans"/>
                <a:cs typeface="DejaVu Sans"/>
              </a:defRPr>
            </a:lvl7pPr>
            <a:lvl8pPr algn="l">
              <a:defRPr sz="1725" b="0">
                <a:solidFill>
                  <a:srgbClr val="10242B"/>
                </a:solidFill>
                <a:latin typeface="DejaVu Sans"/>
                <a:ea typeface="DejaVu Sans"/>
                <a:cs typeface="DejaVu Sans"/>
              </a:defRPr>
            </a:lvl8pPr>
            <a:lvl9pPr algn="l">
              <a:defRPr sz="1725" b="0">
                <a:solidFill>
                  <a:srgbClr val="10242B"/>
                </a:solidFill>
                <a:latin typeface="DejaVu Sans"/>
                <a:ea typeface="DejaVu Sans"/>
                <a:cs typeface="DejaVu Sans"/>
              </a:defRPr>
            </a:lvl9pPr>
          </a:lstStyle>
          <a:p xmlns:a="http://schemas.openxmlformats.org/drawingml/2006/main">
            <a:pPr algn="l">
              <a:lnSpc>
                <a:spcPct val="112000"/>
              </a:lnSpc>
              <a:buNone/>
              <a:defRPr sz="1725" b="0">
                <a:solidFill>
                  <a:srgbClr val="10242B"/>
                </a:solidFill>
                <a:latin typeface="DejaVu Sans"/>
                <a:ea typeface="DejaVu Sans"/>
                <a:cs typeface="DejaVu Sans"/>
              </a:defRPr>
            </a:pPr>
            <a:r>
              <a:rPr sz="1725" b="0">
                <a:solidFill>
                  <a:srgbClr val="10242B"/>
                </a:solidFill>
                <a:latin typeface="DejaVu Sans"/>
                <a:ea typeface="DejaVu Sans"/>
                <a:cs typeface="DejaVu Sans"/>
              </a:rPr>
              <a:t>jùshēn zhìnéng</a:t>
            </a:r>
          </a:p>
        </p:txBody>
      </p:sp>
      <p:sp>
        <p:nvSpPr>
          <p:cNvPr id="10" name="text-i5z3sy6k07e">
            <a:extLst xmlns:a="http://schemas.openxmlformats.org/drawingml/2006/main">
              <a:ext uri="{FF2B5EF4-FFF2-40B4-BE49-F238E27FC236}">
                <a16:creationId xmlns:a16="http://schemas.microsoft.com/office/drawing/2014/main" id="{94DF6D2A-2940-4BA6-818D-9F5BB5C15ECE}"/>
              </a:ext>
            </a:extLst>
          </p:cNvPr>
          <p:cNvSpPr>
            <a:spLocks xmlns:a="http://schemas.openxmlformats.org/drawingml/2006/main" noGrp="1"/>
          </p:cNvSpPr>
          <p:nvPr/>
        </p:nvSpPr>
        <p:spPr>
          <a:xfrm xmlns:a="http://schemas.openxmlformats.org/drawingml/2006/main">
            <a:off x="7524750" y="25908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Embodied intelligence</a:t>
            </a:r>
          </a:p>
        </p:txBody>
      </p:sp>
      <p:sp>
        <p:nvSpPr>
          <p:cNvPr id="11" name="">
            <a:extLst xmlns:a="http://schemas.openxmlformats.org/drawingml/2006/main">
              <a:ext uri="{FF2B5EF4-FFF2-40B4-BE49-F238E27FC236}">
                <a16:creationId xmlns:a16="http://schemas.microsoft.com/office/drawing/2014/main" id="{B104E02C-59D0-4CC9-85C5-33111375CCCE}"/>
              </a:ext>
            </a:extLst>
          </p:cNvPr>
          <p:cNvSpPr>
            <a:spLocks xmlns:a="http://schemas.openxmlformats.org/drawingml/2006/main" noGrp="1"/>
          </p:cNvSpPr>
          <p:nvPr/>
        </p:nvSpPr>
        <p:spPr>
          <a:xfrm xmlns:a="http://schemas.openxmlformats.org/drawingml/2006/main">
            <a:off x="609600" y="31051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2" name="text-r3r7ojnlkbr">
            <a:extLst xmlns:a="http://schemas.openxmlformats.org/drawingml/2006/main">
              <a:ext uri="{FF2B5EF4-FFF2-40B4-BE49-F238E27FC236}">
                <a16:creationId xmlns:a16="http://schemas.microsoft.com/office/drawing/2014/main" id="{379FE9CE-2469-46D4-B44F-B871DFF337BF}"/>
              </a:ext>
            </a:extLst>
          </p:cNvPr>
          <p:cNvSpPr>
            <a:spLocks xmlns:a="http://schemas.openxmlformats.org/drawingml/2006/main" noGrp="1"/>
          </p:cNvSpPr>
          <p:nvPr/>
        </p:nvSpPr>
        <p:spPr>
          <a:xfrm xmlns:a="http://schemas.openxmlformats.org/drawingml/2006/main">
            <a:off x="609600" y="31908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87D78"/>
                </a:solidFill>
                <a:latin typeface="Noto Sans SC"/>
                <a:ea typeface="Noto Sans SC"/>
                <a:cs typeface="Noto Sans SC"/>
              </a:defRPr>
            </a:defPPr>
            <a:lvl1pPr algn="l">
              <a:defRPr sz="2625" b="0">
                <a:solidFill>
                  <a:srgbClr val="087D78"/>
                </a:solidFill>
                <a:latin typeface="Noto Sans SC"/>
                <a:ea typeface="Noto Sans SC"/>
                <a:cs typeface="Noto Sans SC"/>
              </a:defRPr>
            </a:lvl1pPr>
            <a:lvl2pPr algn="l">
              <a:defRPr sz="2625" b="0">
                <a:solidFill>
                  <a:srgbClr val="087D78"/>
                </a:solidFill>
                <a:latin typeface="Noto Sans SC"/>
                <a:ea typeface="Noto Sans SC"/>
                <a:cs typeface="Noto Sans SC"/>
              </a:defRPr>
            </a:lvl2pPr>
            <a:lvl3pPr algn="l">
              <a:defRPr sz="2625" b="0">
                <a:solidFill>
                  <a:srgbClr val="087D78"/>
                </a:solidFill>
                <a:latin typeface="Noto Sans SC"/>
                <a:ea typeface="Noto Sans SC"/>
                <a:cs typeface="Noto Sans SC"/>
              </a:defRPr>
            </a:lvl3pPr>
            <a:lvl4pPr algn="l">
              <a:defRPr sz="2625" b="0">
                <a:solidFill>
                  <a:srgbClr val="087D78"/>
                </a:solidFill>
                <a:latin typeface="Noto Sans SC"/>
                <a:ea typeface="Noto Sans SC"/>
                <a:cs typeface="Noto Sans SC"/>
              </a:defRPr>
            </a:lvl4pPr>
            <a:lvl5pPr algn="l">
              <a:defRPr sz="2625" b="0">
                <a:solidFill>
                  <a:srgbClr val="087D78"/>
                </a:solidFill>
                <a:latin typeface="Noto Sans SC"/>
                <a:ea typeface="Noto Sans SC"/>
                <a:cs typeface="Noto Sans SC"/>
              </a:defRPr>
            </a:lvl5pPr>
            <a:lvl6pPr algn="l">
              <a:defRPr sz="2625" b="0">
                <a:solidFill>
                  <a:srgbClr val="087D78"/>
                </a:solidFill>
                <a:latin typeface="Noto Sans SC"/>
                <a:ea typeface="Noto Sans SC"/>
                <a:cs typeface="Noto Sans SC"/>
              </a:defRPr>
            </a:lvl6pPr>
            <a:lvl7pPr algn="l">
              <a:defRPr sz="2625" b="0">
                <a:solidFill>
                  <a:srgbClr val="087D78"/>
                </a:solidFill>
                <a:latin typeface="Noto Sans SC"/>
                <a:ea typeface="Noto Sans SC"/>
                <a:cs typeface="Noto Sans SC"/>
              </a:defRPr>
            </a:lvl7pPr>
            <a:lvl8pPr algn="l">
              <a:defRPr sz="2625" b="0">
                <a:solidFill>
                  <a:srgbClr val="087D78"/>
                </a:solidFill>
                <a:latin typeface="Noto Sans SC"/>
                <a:ea typeface="Noto Sans SC"/>
                <a:cs typeface="Noto Sans SC"/>
              </a:defRPr>
            </a:lvl8pPr>
            <a:lvl9pPr algn="l">
              <a:defRPr sz="2625" b="0">
                <a:solidFill>
                  <a:srgbClr val="087D78"/>
                </a:solidFill>
                <a:latin typeface="Noto Sans SC"/>
                <a:ea typeface="Noto Sans SC"/>
                <a:cs typeface="Noto Sans SC"/>
              </a:defRPr>
            </a:lvl9pPr>
          </a:lstStyle>
          <a:p xmlns:a="http://schemas.openxmlformats.org/drawingml/2006/main">
            <a:pPr algn="l">
              <a:lnSpc>
                <a:spcPct val="112000"/>
              </a:lnSpc>
              <a:buNone/>
              <a:defRPr sz="2625" b="0">
                <a:solidFill>
                  <a:srgbClr val="087D78"/>
                </a:solidFill>
                <a:latin typeface="Noto Sans SC"/>
                <a:ea typeface="Noto Sans SC"/>
                <a:cs typeface="Noto Sans SC"/>
              </a:defRPr>
            </a:pPr>
            <a:r>
              <a:rPr sz="2625" b="0">
                <a:solidFill>
                  <a:srgbClr val="087D78"/>
                </a:solidFill>
                <a:latin typeface="Noto Sans SC"/>
                <a:ea typeface="Noto Sans SC"/>
                <a:cs typeface="Noto Sans SC"/>
              </a:rPr>
              <a:t>数据飞轮</a:t>
            </a:r>
          </a:p>
        </p:txBody>
      </p:sp>
      <p:sp>
        <p:nvSpPr>
          <p:cNvPr id="13" name="text-r4bw8b9bcli">
            <a:extLst xmlns:a="http://schemas.openxmlformats.org/drawingml/2006/main">
              <a:ext uri="{FF2B5EF4-FFF2-40B4-BE49-F238E27FC236}">
                <a16:creationId xmlns:a16="http://schemas.microsoft.com/office/drawing/2014/main" id="{914B2125-0F47-4F93-9162-0141D0E9841F}"/>
              </a:ext>
            </a:extLst>
          </p:cNvPr>
          <p:cNvSpPr>
            <a:spLocks xmlns:a="http://schemas.openxmlformats.org/drawingml/2006/main" noGrp="1"/>
          </p:cNvSpPr>
          <p:nvPr/>
        </p:nvSpPr>
        <p:spPr>
          <a:xfrm xmlns:a="http://schemas.openxmlformats.org/drawingml/2006/main">
            <a:off x="3714750" y="32575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42B"/>
                </a:solidFill>
                <a:latin typeface="DejaVu Sans"/>
                <a:ea typeface="DejaVu Sans"/>
                <a:cs typeface="DejaVu Sans"/>
              </a:defRPr>
            </a:defPPr>
            <a:lvl1pPr algn="l">
              <a:defRPr sz="1725" b="0">
                <a:solidFill>
                  <a:srgbClr val="10242B"/>
                </a:solidFill>
                <a:latin typeface="DejaVu Sans"/>
                <a:ea typeface="DejaVu Sans"/>
                <a:cs typeface="DejaVu Sans"/>
              </a:defRPr>
            </a:lvl1pPr>
            <a:lvl2pPr algn="l">
              <a:defRPr sz="1725" b="0">
                <a:solidFill>
                  <a:srgbClr val="10242B"/>
                </a:solidFill>
                <a:latin typeface="DejaVu Sans"/>
                <a:ea typeface="DejaVu Sans"/>
                <a:cs typeface="DejaVu Sans"/>
              </a:defRPr>
            </a:lvl2pPr>
            <a:lvl3pPr algn="l">
              <a:defRPr sz="1725" b="0">
                <a:solidFill>
                  <a:srgbClr val="10242B"/>
                </a:solidFill>
                <a:latin typeface="DejaVu Sans"/>
                <a:ea typeface="DejaVu Sans"/>
                <a:cs typeface="DejaVu Sans"/>
              </a:defRPr>
            </a:lvl3pPr>
            <a:lvl4pPr algn="l">
              <a:defRPr sz="1725" b="0">
                <a:solidFill>
                  <a:srgbClr val="10242B"/>
                </a:solidFill>
                <a:latin typeface="DejaVu Sans"/>
                <a:ea typeface="DejaVu Sans"/>
                <a:cs typeface="DejaVu Sans"/>
              </a:defRPr>
            </a:lvl4pPr>
            <a:lvl5pPr algn="l">
              <a:defRPr sz="1725" b="0">
                <a:solidFill>
                  <a:srgbClr val="10242B"/>
                </a:solidFill>
                <a:latin typeface="DejaVu Sans"/>
                <a:ea typeface="DejaVu Sans"/>
                <a:cs typeface="DejaVu Sans"/>
              </a:defRPr>
            </a:lvl5pPr>
            <a:lvl6pPr algn="l">
              <a:defRPr sz="1725" b="0">
                <a:solidFill>
                  <a:srgbClr val="10242B"/>
                </a:solidFill>
                <a:latin typeface="DejaVu Sans"/>
                <a:ea typeface="DejaVu Sans"/>
                <a:cs typeface="DejaVu Sans"/>
              </a:defRPr>
            </a:lvl6pPr>
            <a:lvl7pPr algn="l">
              <a:defRPr sz="1725" b="0">
                <a:solidFill>
                  <a:srgbClr val="10242B"/>
                </a:solidFill>
                <a:latin typeface="DejaVu Sans"/>
                <a:ea typeface="DejaVu Sans"/>
                <a:cs typeface="DejaVu Sans"/>
              </a:defRPr>
            </a:lvl7pPr>
            <a:lvl8pPr algn="l">
              <a:defRPr sz="1725" b="0">
                <a:solidFill>
                  <a:srgbClr val="10242B"/>
                </a:solidFill>
                <a:latin typeface="DejaVu Sans"/>
                <a:ea typeface="DejaVu Sans"/>
                <a:cs typeface="DejaVu Sans"/>
              </a:defRPr>
            </a:lvl8pPr>
            <a:lvl9pPr algn="l">
              <a:defRPr sz="1725" b="0">
                <a:solidFill>
                  <a:srgbClr val="10242B"/>
                </a:solidFill>
                <a:latin typeface="DejaVu Sans"/>
                <a:ea typeface="DejaVu Sans"/>
                <a:cs typeface="DejaVu Sans"/>
              </a:defRPr>
            </a:lvl9pPr>
          </a:lstStyle>
          <a:p xmlns:a="http://schemas.openxmlformats.org/drawingml/2006/main">
            <a:pPr algn="l">
              <a:lnSpc>
                <a:spcPct val="112000"/>
              </a:lnSpc>
              <a:buNone/>
              <a:defRPr sz="1725" b="0">
                <a:solidFill>
                  <a:srgbClr val="10242B"/>
                </a:solidFill>
                <a:latin typeface="DejaVu Sans"/>
                <a:ea typeface="DejaVu Sans"/>
                <a:cs typeface="DejaVu Sans"/>
              </a:defRPr>
            </a:pPr>
            <a:r>
              <a:rPr sz="1725" b="0">
                <a:solidFill>
                  <a:srgbClr val="10242B"/>
                </a:solidFill>
                <a:latin typeface="DejaVu Sans"/>
                <a:ea typeface="DejaVu Sans"/>
                <a:cs typeface="DejaVu Sans"/>
              </a:rPr>
              <a:t>shùjù fēilún</a:t>
            </a:r>
          </a:p>
        </p:txBody>
      </p:sp>
      <p:sp>
        <p:nvSpPr>
          <p:cNvPr id="14" name="text-tzy55okieff">
            <a:extLst xmlns:a="http://schemas.openxmlformats.org/drawingml/2006/main">
              <a:ext uri="{FF2B5EF4-FFF2-40B4-BE49-F238E27FC236}">
                <a16:creationId xmlns:a16="http://schemas.microsoft.com/office/drawing/2014/main" id="{28A07B98-AE48-416B-AC0F-FB17E5C07B89}"/>
              </a:ext>
            </a:extLst>
          </p:cNvPr>
          <p:cNvSpPr>
            <a:spLocks xmlns:a="http://schemas.openxmlformats.org/drawingml/2006/main" noGrp="1"/>
          </p:cNvSpPr>
          <p:nvPr/>
        </p:nvSpPr>
        <p:spPr>
          <a:xfrm xmlns:a="http://schemas.openxmlformats.org/drawingml/2006/main">
            <a:off x="7524750" y="32575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Data flywheel</a:t>
            </a:r>
          </a:p>
        </p:txBody>
      </p:sp>
      <p:sp>
        <p:nvSpPr>
          <p:cNvPr id="15" name="">
            <a:extLst xmlns:a="http://schemas.openxmlformats.org/drawingml/2006/main">
              <a:ext uri="{FF2B5EF4-FFF2-40B4-BE49-F238E27FC236}">
                <a16:creationId xmlns:a16="http://schemas.microsoft.com/office/drawing/2014/main" id="{72073634-8F95-4317-B64D-5E7ED44C97E5}"/>
              </a:ext>
            </a:extLst>
          </p:cNvPr>
          <p:cNvSpPr>
            <a:spLocks xmlns:a="http://schemas.openxmlformats.org/drawingml/2006/main" noGrp="1"/>
          </p:cNvSpPr>
          <p:nvPr/>
        </p:nvSpPr>
        <p:spPr>
          <a:xfrm xmlns:a="http://schemas.openxmlformats.org/drawingml/2006/main">
            <a:off x="609600" y="377190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6" name="text-dzb9769jirf">
            <a:extLst xmlns:a="http://schemas.openxmlformats.org/drawingml/2006/main">
              <a:ext uri="{FF2B5EF4-FFF2-40B4-BE49-F238E27FC236}">
                <a16:creationId xmlns:a16="http://schemas.microsoft.com/office/drawing/2014/main" id="{16102FB1-7104-42FB-B943-103D869AEB9D}"/>
              </a:ext>
            </a:extLst>
          </p:cNvPr>
          <p:cNvSpPr>
            <a:spLocks xmlns:a="http://schemas.openxmlformats.org/drawingml/2006/main" noGrp="1"/>
          </p:cNvSpPr>
          <p:nvPr/>
        </p:nvSpPr>
        <p:spPr>
          <a:xfrm xmlns:a="http://schemas.openxmlformats.org/drawingml/2006/main">
            <a:off x="609600" y="38576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87D78"/>
                </a:solidFill>
                <a:latin typeface="Noto Sans SC"/>
                <a:ea typeface="Noto Sans SC"/>
                <a:cs typeface="Noto Sans SC"/>
              </a:defRPr>
            </a:defPPr>
            <a:lvl1pPr algn="l">
              <a:defRPr sz="2625" b="0">
                <a:solidFill>
                  <a:srgbClr val="087D78"/>
                </a:solidFill>
                <a:latin typeface="Noto Sans SC"/>
                <a:ea typeface="Noto Sans SC"/>
                <a:cs typeface="Noto Sans SC"/>
              </a:defRPr>
            </a:lvl1pPr>
            <a:lvl2pPr algn="l">
              <a:defRPr sz="2625" b="0">
                <a:solidFill>
                  <a:srgbClr val="087D78"/>
                </a:solidFill>
                <a:latin typeface="Noto Sans SC"/>
                <a:ea typeface="Noto Sans SC"/>
                <a:cs typeface="Noto Sans SC"/>
              </a:defRPr>
            </a:lvl2pPr>
            <a:lvl3pPr algn="l">
              <a:defRPr sz="2625" b="0">
                <a:solidFill>
                  <a:srgbClr val="087D78"/>
                </a:solidFill>
                <a:latin typeface="Noto Sans SC"/>
                <a:ea typeface="Noto Sans SC"/>
                <a:cs typeface="Noto Sans SC"/>
              </a:defRPr>
            </a:lvl3pPr>
            <a:lvl4pPr algn="l">
              <a:defRPr sz="2625" b="0">
                <a:solidFill>
                  <a:srgbClr val="087D78"/>
                </a:solidFill>
                <a:latin typeface="Noto Sans SC"/>
                <a:ea typeface="Noto Sans SC"/>
                <a:cs typeface="Noto Sans SC"/>
              </a:defRPr>
            </a:lvl4pPr>
            <a:lvl5pPr algn="l">
              <a:defRPr sz="2625" b="0">
                <a:solidFill>
                  <a:srgbClr val="087D78"/>
                </a:solidFill>
                <a:latin typeface="Noto Sans SC"/>
                <a:ea typeface="Noto Sans SC"/>
                <a:cs typeface="Noto Sans SC"/>
              </a:defRPr>
            </a:lvl5pPr>
            <a:lvl6pPr algn="l">
              <a:defRPr sz="2625" b="0">
                <a:solidFill>
                  <a:srgbClr val="087D78"/>
                </a:solidFill>
                <a:latin typeface="Noto Sans SC"/>
                <a:ea typeface="Noto Sans SC"/>
                <a:cs typeface="Noto Sans SC"/>
              </a:defRPr>
            </a:lvl6pPr>
            <a:lvl7pPr algn="l">
              <a:defRPr sz="2625" b="0">
                <a:solidFill>
                  <a:srgbClr val="087D78"/>
                </a:solidFill>
                <a:latin typeface="Noto Sans SC"/>
                <a:ea typeface="Noto Sans SC"/>
                <a:cs typeface="Noto Sans SC"/>
              </a:defRPr>
            </a:lvl7pPr>
            <a:lvl8pPr algn="l">
              <a:defRPr sz="2625" b="0">
                <a:solidFill>
                  <a:srgbClr val="087D78"/>
                </a:solidFill>
                <a:latin typeface="Noto Sans SC"/>
                <a:ea typeface="Noto Sans SC"/>
                <a:cs typeface="Noto Sans SC"/>
              </a:defRPr>
            </a:lvl8pPr>
            <a:lvl9pPr algn="l">
              <a:defRPr sz="2625" b="0">
                <a:solidFill>
                  <a:srgbClr val="087D78"/>
                </a:solidFill>
                <a:latin typeface="Noto Sans SC"/>
                <a:ea typeface="Noto Sans SC"/>
                <a:cs typeface="Noto Sans SC"/>
              </a:defRPr>
            </a:lvl9pPr>
          </a:lstStyle>
          <a:p xmlns:a="http://schemas.openxmlformats.org/drawingml/2006/main">
            <a:pPr algn="l">
              <a:lnSpc>
                <a:spcPct val="112000"/>
              </a:lnSpc>
              <a:buNone/>
              <a:defRPr sz="2625" b="0">
                <a:solidFill>
                  <a:srgbClr val="087D78"/>
                </a:solidFill>
                <a:latin typeface="Noto Sans SC"/>
                <a:ea typeface="Noto Sans SC"/>
                <a:cs typeface="Noto Sans SC"/>
              </a:defRPr>
            </a:pPr>
            <a:r>
              <a:rPr sz="2625" b="0">
                <a:solidFill>
                  <a:srgbClr val="087D78"/>
                </a:solidFill>
                <a:latin typeface="Noto Sans SC"/>
                <a:ea typeface="Noto Sans SC"/>
                <a:cs typeface="Noto Sans SC"/>
              </a:rPr>
              <a:t>端到端</a:t>
            </a:r>
          </a:p>
        </p:txBody>
      </p:sp>
      <p:sp>
        <p:nvSpPr>
          <p:cNvPr id="17" name="text-gd0pc6n9no5">
            <a:extLst xmlns:a="http://schemas.openxmlformats.org/drawingml/2006/main">
              <a:ext uri="{FF2B5EF4-FFF2-40B4-BE49-F238E27FC236}">
                <a16:creationId xmlns:a16="http://schemas.microsoft.com/office/drawing/2014/main" id="{4080369A-7940-46E4-A7B1-DA4FAE34568C}"/>
              </a:ext>
            </a:extLst>
          </p:cNvPr>
          <p:cNvSpPr>
            <a:spLocks xmlns:a="http://schemas.openxmlformats.org/drawingml/2006/main" noGrp="1"/>
          </p:cNvSpPr>
          <p:nvPr/>
        </p:nvSpPr>
        <p:spPr>
          <a:xfrm xmlns:a="http://schemas.openxmlformats.org/drawingml/2006/main">
            <a:off x="3714750" y="39243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42B"/>
                </a:solidFill>
                <a:latin typeface="DejaVu Sans"/>
                <a:ea typeface="DejaVu Sans"/>
                <a:cs typeface="DejaVu Sans"/>
              </a:defRPr>
            </a:defPPr>
            <a:lvl1pPr algn="l">
              <a:defRPr sz="1725" b="0">
                <a:solidFill>
                  <a:srgbClr val="10242B"/>
                </a:solidFill>
                <a:latin typeface="DejaVu Sans"/>
                <a:ea typeface="DejaVu Sans"/>
                <a:cs typeface="DejaVu Sans"/>
              </a:defRPr>
            </a:lvl1pPr>
            <a:lvl2pPr algn="l">
              <a:defRPr sz="1725" b="0">
                <a:solidFill>
                  <a:srgbClr val="10242B"/>
                </a:solidFill>
                <a:latin typeface="DejaVu Sans"/>
                <a:ea typeface="DejaVu Sans"/>
                <a:cs typeface="DejaVu Sans"/>
              </a:defRPr>
            </a:lvl2pPr>
            <a:lvl3pPr algn="l">
              <a:defRPr sz="1725" b="0">
                <a:solidFill>
                  <a:srgbClr val="10242B"/>
                </a:solidFill>
                <a:latin typeface="DejaVu Sans"/>
                <a:ea typeface="DejaVu Sans"/>
                <a:cs typeface="DejaVu Sans"/>
              </a:defRPr>
            </a:lvl3pPr>
            <a:lvl4pPr algn="l">
              <a:defRPr sz="1725" b="0">
                <a:solidFill>
                  <a:srgbClr val="10242B"/>
                </a:solidFill>
                <a:latin typeface="DejaVu Sans"/>
                <a:ea typeface="DejaVu Sans"/>
                <a:cs typeface="DejaVu Sans"/>
              </a:defRPr>
            </a:lvl4pPr>
            <a:lvl5pPr algn="l">
              <a:defRPr sz="1725" b="0">
                <a:solidFill>
                  <a:srgbClr val="10242B"/>
                </a:solidFill>
                <a:latin typeface="DejaVu Sans"/>
                <a:ea typeface="DejaVu Sans"/>
                <a:cs typeface="DejaVu Sans"/>
              </a:defRPr>
            </a:lvl5pPr>
            <a:lvl6pPr algn="l">
              <a:defRPr sz="1725" b="0">
                <a:solidFill>
                  <a:srgbClr val="10242B"/>
                </a:solidFill>
                <a:latin typeface="DejaVu Sans"/>
                <a:ea typeface="DejaVu Sans"/>
                <a:cs typeface="DejaVu Sans"/>
              </a:defRPr>
            </a:lvl6pPr>
            <a:lvl7pPr algn="l">
              <a:defRPr sz="1725" b="0">
                <a:solidFill>
                  <a:srgbClr val="10242B"/>
                </a:solidFill>
                <a:latin typeface="DejaVu Sans"/>
                <a:ea typeface="DejaVu Sans"/>
                <a:cs typeface="DejaVu Sans"/>
              </a:defRPr>
            </a:lvl7pPr>
            <a:lvl8pPr algn="l">
              <a:defRPr sz="1725" b="0">
                <a:solidFill>
                  <a:srgbClr val="10242B"/>
                </a:solidFill>
                <a:latin typeface="DejaVu Sans"/>
                <a:ea typeface="DejaVu Sans"/>
                <a:cs typeface="DejaVu Sans"/>
              </a:defRPr>
            </a:lvl8pPr>
            <a:lvl9pPr algn="l">
              <a:defRPr sz="1725" b="0">
                <a:solidFill>
                  <a:srgbClr val="10242B"/>
                </a:solidFill>
                <a:latin typeface="DejaVu Sans"/>
                <a:ea typeface="DejaVu Sans"/>
                <a:cs typeface="DejaVu Sans"/>
              </a:defRPr>
            </a:lvl9pPr>
          </a:lstStyle>
          <a:p xmlns:a="http://schemas.openxmlformats.org/drawingml/2006/main">
            <a:pPr algn="l">
              <a:lnSpc>
                <a:spcPct val="112000"/>
              </a:lnSpc>
              <a:buNone/>
              <a:defRPr sz="1725" b="0">
                <a:solidFill>
                  <a:srgbClr val="10242B"/>
                </a:solidFill>
                <a:latin typeface="DejaVu Sans"/>
                <a:ea typeface="DejaVu Sans"/>
                <a:cs typeface="DejaVu Sans"/>
              </a:defRPr>
            </a:pPr>
            <a:r>
              <a:rPr sz="1725" b="0">
                <a:solidFill>
                  <a:srgbClr val="10242B"/>
                </a:solidFill>
                <a:latin typeface="DejaVu Sans"/>
                <a:ea typeface="DejaVu Sans"/>
                <a:cs typeface="DejaVu Sans"/>
              </a:rPr>
              <a:t>duān dào duān</a:t>
            </a:r>
          </a:p>
        </p:txBody>
      </p:sp>
      <p:sp>
        <p:nvSpPr>
          <p:cNvPr id="18" name="text-rbdw7jor49e">
            <a:extLst xmlns:a="http://schemas.openxmlformats.org/drawingml/2006/main">
              <a:ext uri="{FF2B5EF4-FFF2-40B4-BE49-F238E27FC236}">
                <a16:creationId xmlns:a16="http://schemas.microsoft.com/office/drawing/2014/main" id="{FA05D311-709C-4D32-8A86-616BAD61CE71}"/>
              </a:ext>
            </a:extLst>
          </p:cNvPr>
          <p:cNvSpPr>
            <a:spLocks xmlns:a="http://schemas.openxmlformats.org/drawingml/2006/main" noGrp="1"/>
          </p:cNvSpPr>
          <p:nvPr/>
        </p:nvSpPr>
        <p:spPr>
          <a:xfrm xmlns:a="http://schemas.openxmlformats.org/drawingml/2006/main">
            <a:off x="7524750" y="39243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End-to-end</a:t>
            </a:r>
          </a:p>
        </p:txBody>
      </p:sp>
      <p:sp>
        <p:nvSpPr>
          <p:cNvPr id="19" name="">
            <a:extLst xmlns:a="http://schemas.openxmlformats.org/drawingml/2006/main">
              <a:ext uri="{FF2B5EF4-FFF2-40B4-BE49-F238E27FC236}">
                <a16:creationId xmlns:a16="http://schemas.microsoft.com/office/drawing/2014/main" id="{F805F8AC-5EDA-4556-A55C-723EDC596F02}"/>
              </a:ext>
            </a:extLst>
          </p:cNvPr>
          <p:cNvSpPr>
            <a:spLocks xmlns:a="http://schemas.openxmlformats.org/drawingml/2006/main" noGrp="1"/>
          </p:cNvSpPr>
          <p:nvPr/>
        </p:nvSpPr>
        <p:spPr>
          <a:xfrm xmlns:a="http://schemas.openxmlformats.org/drawingml/2006/main">
            <a:off x="609600" y="44386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20" name="text-zuhw7nxix4">
            <a:extLst xmlns:a="http://schemas.openxmlformats.org/drawingml/2006/main">
              <a:ext uri="{FF2B5EF4-FFF2-40B4-BE49-F238E27FC236}">
                <a16:creationId xmlns:a16="http://schemas.microsoft.com/office/drawing/2014/main" id="{EA9B06BE-F026-42EC-96C8-5CBD14FEB275}"/>
              </a:ext>
            </a:extLst>
          </p:cNvPr>
          <p:cNvSpPr>
            <a:spLocks xmlns:a="http://schemas.openxmlformats.org/drawingml/2006/main" noGrp="1"/>
          </p:cNvSpPr>
          <p:nvPr/>
        </p:nvSpPr>
        <p:spPr>
          <a:xfrm xmlns:a="http://schemas.openxmlformats.org/drawingml/2006/main">
            <a:off x="609600" y="45243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87D78"/>
                </a:solidFill>
                <a:latin typeface="Noto Sans SC"/>
                <a:ea typeface="Noto Sans SC"/>
                <a:cs typeface="Noto Sans SC"/>
              </a:defRPr>
            </a:defPPr>
            <a:lvl1pPr algn="l">
              <a:defRPr sz="2625" b="0">
                <a:solidFill>
                  <a:srgbClr val="087D78"/>
                </a:solidFill>
                <a:latin typeface="Noto Sans SC"/>
                <a:ea typeface="Noto Sans SC"/>
                <a:cs typeface="Noto Sans SC"/>
              </a:defRPr>
            </a:lvl1pPr>
            <a:lvl2pPr algn="l">
              <a:defRPr sz="2625" b="0">
                <a:solidFill>
                  <a:srgbClr val="087D78"/>
                </a:solidFill>
                <a:latin typeface="Noto Sans SC"/>
                <a:ea typeface="Noto Sans SC"/>
                <a:cs typeface="Noto Sans SC"/>
              </a:defRPr>
            </a:lvl2pPr>
            <a:lvl3pPr algn="l">
              <a:defRPr sz="2625" b="0">
                <a:solidFill>
                  <a:srgbClr val="087D78"/>
                </a:solidFill>
                <a:latin typeface="Noto Sans SC"/>
                <a:ea typeface="Noto Sans SC"/>
                <a:cs typeface="Noto Sans SC"/>
              </a:defRPr>
            </a:lvl3pPr>
            <a:lvl4pPr algn="l">
              <a:defRPr sz="2625" b="0">
                <a:solidFill>
                  <a:srgbClr val="087D78"/>
                </a:solidFill>
                <a:latin typeface="Noto Sans SC"/>
                <a:ea typeface="Noto Sans SC"/>
                <a:cs typeface="Noto Sans SC"/>
              </a:defRPr>
            </a:lvl4pPr>
            <a:lvl5pPr algn="l">
              <a:defRPr sz="2625" b="0">
                <a:solidFill>
                  <a:srgbClr val="087D78"/>
                </a:solidFill>
                <a:latin typeface="Noto Sans SC"/>
                <a:ea typeface="Noto Sans SC"/>
                <a:cs typeface="Noto Sans SC"/>
              </a:defRPr>
            </a:lvl5pPr>
            <a:lvl6pPr algn="l">
              <a:defRPr sz="2625" b="0">
                <a:solidFill>
                  <a:srgbClr val="087D78"/>
                </a:solidFill>
                <a:latin typeface="Noto Sans SC"/>
                <a:ea typeface="Noto Sans SC"/>
                <a:cs typeface="Noto Sans SC"/>
              </a:defRPr>
            </a:lvl6pPr>
            <a:lvl7pPr algn="l">
              <a:defRPr sz="2625" b="0">
                <a:solidFill>
                  <a:srgbClr val="087D78"/>
                </a:solidFill>
                <a:latin typeface="Noto Sans SC"/>
                <a:ea typeface="Noto Sans SC"/>
                <a:cs typeface="Noto Sans SC"/>
              </a:defRPr>
            </a:lvl7pPr>
            <a:lvl8pPr algn="l">
              <a:defRPr sz="2625" b="0">
                <a:solidFill>
                  <a:srgbClr val="087D78"/>
                </a:solidFill>
                <a:latin typeface="Noto Sans SC"/>
                <a:ea typeface="Noto Sans SC"/>
                <a:cs typeface="Noto Sans SC"/>
              </a:defRPr>
            </a:lvl8pPr>
            <a:lvl9pPr algn="l">
              <a:defRPr sz="2625" b="0">
                <a:solidFill>
                  <a:srgbClr val="087D78"/>
                </a:solidFill>
                <a:latin typeface="Noto Sans SC"/>
                <a:ea typeface="Noto Sans SC"/>
                <a:cs typeface="Noto Sans SC"/>
              </a:defRPr>
            </a:lvl9pPr>
          </a:lstStyle>
          <a:p xmlns:a="http://schemas.openxmlformats.org/drawingml/2006/main">
            <a:pPr algn="l">
              <a:lnSpc>
                <a:spcPct val="112000"/>
              </a:lnSpc>
              <a:buNone/>
              <a:defRPr sz="2625" b="0">
                <a:solidFill>
                  <a:srgbClr val="087D78"/>
                </a:solidFill>
                <a:latin typeface="Noto Sans SC"/>
                <a:ea typeface="Noto Sans SC"/>
                <a:cs typeface="Noto Sans SC"/>
              </a:defRPr>
            </a:pPr>
            <a:r>
              <a:rPr sz="2625" b="0">
                <a:solidFill>
                  <a:srgbClr val="087D78"/>
                </a:solidFill>
                <a:latin typeface="Noto Sans SC"/>
                <a:ea typeface="Noto Sans SC"/>
                <a:cs typeface="Noto Sans SC"/>
              </a:rPr>
              <a:t>新质生产力</a:t>
            </a:r>
          </a:p>
        </p:txBody>
      </p:sp>
      <p:sp>
        <p:nvSpPr>
          <p:cNvPr id="21" name="text-ogyetzhszn">
            <a:extLst xmlns:a="http://schemas.openxmlformats.org/drawingml/2006/main">
              <a:ext uri="{FF2B5EF4-FFF2-40B4-BE49-F238E27FC236}">
                <a16:creationId xmlns:a16="http://schemas.microsoft.com/office/drawing/2014/main" id="{B85535BD-690E-40ED-8E1C-B2B61FD01E6F}"/>
              </a:ext>
            </a:extLst>
          </p:cNvPr>
          <p:cNvSpPr>
            <a:spLocks xmlns:a="http://schemas.openxmlformats.org/drawingml/2006/main" noGrp="1"/>
          </p:cNvSpPr>
          <p:nvPr/>
        </p:nvSpPr>
        <p:spPr>
          <a:xfrm xmlns:a="http://schemas.openxmlformats.org/drawingml/2006/main">
            <a:off x="3714750" y="45910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42B"/>
                </a:solidFill>
                <a:latin typeface="DejaVu Sans"/>
                <a:ea typeface="DejaVu Sans"/>
                <a:cs typeface="DejaVu Sans"/>
              </a:defRPr>
            </a:defPPr>
            <a:lvl1pPr algn="l">
              <a:defRPr sz="1725" b="0">
                <a:solidFill>
                  <a:srgbClr val="10242B"/>
                </a:solidFill>
                <a:latin typeface="DejaVu Sans"/>
                <a:ea typeface="DejaVu Sans"/>
                <a:cs typeface="DejaVu Sans"/>
              </a:defRPr>
            </a:lvl1pPr>
            <a:lvl2pPr algn="l">
              <a:defRPr sz="1725" b="0">
                <a:solidFill>
                  <a:srgbClr val="10242B"/>
                </a:solidFill>
                <a:latin typeface="DejaVu Sans"/>
                <a:ea typeface="DejaVu Sans"/>
                <a:cs typeface="DejaVu Sans"/>
              </a:defRPr>
            </a:lvl2pPr>
            <a:lvl3pPr algn="l">
              <a:defRPr sz="1725" b="0">
                <a:solidFill>
                  <a:srgbClr val="10242B"/>
                </a:solidFill>
                <a:latin typeface="DejaVu Sans"/>
                <a:ea typeface="DejaVu Sans"/>
                <a:cs typeface="DejaVu Sans"/>
              </a:defRPr>
            </a:lvl3pPr>
            <a:lvl4pPr algn="l">
              <a:defRPr sz="1725" b="0">
                <a:solidFill>
                  <a:srgbClr val="10242B"/>
                </a:solidFill>
                <a:latin typeface="DejaVu Sans"/>
                <a:ea typeface="DejaVu Sans"/>
                <a:cs typeface="DejaVu Sans"/>
              </a:defRPr>
            </a:lvl4pPr>
            <a:lvl5pPr algn="l">
              <a:defRPr sz="1725" b="0">
                <a:solidFill>
                  <a:srgbClr val="10242B"/>
                </a:solidFill>
                <a:latin typeface="DejaVu Sans"/>
                <a:ea typeface="DejaVu Sans"/>
                <a:cs typeface="DejaVu Sans"/>
              </a:defRPr>
            </a:lvl5pPr>
            <a:lvl6pPr algn="l">
              <a:defRPr sz="1725" b="0">
                <a:solidFill>
                  <a:srgbClr val="10242B"/>
                </a:solidFill>
                <a:latin typeface="DejaVu Sans"/>
                <a:ea typeface="DejaVu Sans"/>
                <a:cs typeface="DejaVu Sans"/>
              </a:defRPr>
            </a:lvl6pPr>
            <a:lvl7pPr algn="l">
              <a:defRPr sz="1725" b="0">
                <a:solidFill>
                  <a:srgbClr val="10242B"/>
                </a:solidFill>
                <a:latin typeface="DejaVu Sans"/>
                <a:ea typeface="DejaVu Sans"/>
                <a:cs typeface="DejaVu Sans"/>
              </a:defRPr>
            </a:lvl7pPr>
            <a:lvl8pPr algn="l">
              <a:defRPr sz="1725" b="0">
                <a:solidFill>
                  <a:srgbClr val="10242B"/>
                </a:solidFill>
                <a:latin typeface="DejaVu Sans"/>
                <a:ea typeface="DejaVu Sans"/>
                <a:cs typeface="DejaVu Sans"/>
              </a:defRPr>
            </a:lvl8pPr>
            <a:lvl9pPr algn="l">
              <a:defRPr sz="1725" b="0">
                <a:solidFill>
                  <a:srgbClr val="10242B"/>
                </a:solidFill>
                <a:latin typeface="DejaVu Sans"/>
                <a:ea typeface="DejaVu Sans"/>
                <a:cs typeface="DejaVu Sans"/>
              </a:defRPr>
            </a:lvl9pPr>
          </a:lstStyle>
          <a:p xmlns:a="http://schemas.openxmlformats.org/drawingml/2006/main">
            <a:pPr algn="l">
              <a:lnSpc>
                <a:spcPct val="112000"/>
              </a:lnSpc>
              <a:buNone/>
              <a:defRPr sz="1725" b="0">
                <a:solidFill>
                  <a:srgbClr val="10242B"/>
                </a:solidFill>
                <a:latin typeface="DejaVu Sans"/>
                <a:ea typeface="DejaVu Sans"/>
                <a:cs typeface="DejaVu Sans"/>
              </a:defRPr>
            </a:pPr>
            <a:r>
              <a:rPr sz="1725" b="0">
                <a:solidFill>
                  <a:srgbClr val="10242B"/>
                </a:solidFill>
                <a:latin typeface="DejaVu Sans"/>
                <a:ea typeface="DejaVu Sans"/>
                <a:cs typeface="DejaVu Sans"/>
              </a:rPr>
              <a:t>xīn zhì shēngchǎn lì</a:t>
            </a:r>
          </a:p>
        </p:txBody>
      </p:sp>
      <p:sp>
        <p:nvSpPr>
          <p:cNvPr id="22" name="text-2lgk9jtgdk4">
            <a:extLst xmlns:a="http://schemas.openxmlformats.org/drawingml/2006/main">
              <a:ext uri="{FF2B5EF4-FFF2-40B4-BE49-F238E27FC236}">
                <a16:creationId xmlns:a16="http://schemas.microsoft.com/office/drawing/2014/main" id="{79BD3837-E42A-4035-B4E3-53BB37D03587}"/>
              </a:ext>
            </a:extLst>
          </p:cNvPr>
          <p:cNvSpPr>
            <a:spLocks xmlns:a="http://schemas.openxmlformats.org/drawingml/2006/main" noGrp="1"/>
          </p:cNvSpPr>
          <p:nvPr/>
        </p:nvSpPr>
        <p:spPr>
          <a:xfrm xmlns:a="http://schemas.openxmlformats.org/drawingml/2006/main">
            <a:off x="7524750" y="45910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New quality productive forces</a:t>
            </a:r>
          </a:p>
        </p:txBody>
      </p:sp>
      <p:sp>
        <p:nvSpPr>
          <p:cNvPr id="23" name="">
            <a:extLst xmlns:a="http://schemas.openxmlformats.org/drawingml/2006/main">
              <a:ext uri="{FF2B5EF4-FFF2-40B4-BE49-F238E27FC236}">
                <a16:creationId xmlns:a16="http://schemas.microsoft.com/office/drawing/2014/main" id="{94590607-E9CB-4AD8-BC91-9B44DF4078D8}"/>
              </a:ext>
            </a:extLst>
          </p:cNvPr>
          <p:cNvSpPr>
            <a:spLocks xmlns:a="http://schemas.openxmlformats.org/drawingml/2006/main" noGrp="1"/>
          </p:cNvSpPr>
          <p:nvPr/>
        </p:nvSpPr>
        <p:spPr>
          <a:xfrm xmlns:a="http://schemas.openxmlformats.org/drawingml/2006/main">
            <a:off x="609600" y="510540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24" name="text-1xzj8o5ibc7">
            <a:extLst xmlns:a="http://schemas.openxmlformats.org/drawingml/2006/main">
              <a:ext uri="{FF2B5EF4-FFF2-40B4-BE49-F238E27FC236}">
                <a16:creationId xmlns:a16="http://schemas.microsoft.com/office/drawing/2014/main" id="{5AE62544-9ECA-4D73-B835-815E1FE509C8}"/>
              </a:ext>
            </a:extLst>
          </p:cNvPr>
          <p:cNvSpPr>
            <a:spLocks xmlns:a="http://schemas.openxmlformats.org/drawingml/2006/main" noGrp="1"/>
          </p:cNvSpPr>
          <p:nvPr/>
        </p:nvSpPr>
        <p:spPr>
          <a:xfrm xmlns:a="http://schemas.openxmlformats.org/drawingml/2006/main">
            <a:off x="609600" y="51911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87D78"/>
                </a:solidFill>
                <a:latin typeface="Noto Sans SC"/>
                <a:ea typeface="Noto Sans SC"/>
                <a:cs typeface="Noto Sans SC"/>
              </a:defRPr>
            </a:defPPr>
            <a:lvl1pPr algn="l">
              <a:defRPr sz="2625" b="0">
                <a:solidFill>
                  <a:srgbClr val="087D78"/>
                </a:solidFill>
                <a:latin typeface="Noto Sans SC"/>
                <a:ea typeface="Noto Sans SC"/>
                <a:cs typeface="Noto Sans SC"/>
              </a:defRPr>
            </a:lvl1pPr>
            <a:lvl2pPr algn="l">
              <a:defRPr sz="2625" b="0">
                <a:solidFill>
                  <a:srgbClr val="087D78"/>
                </a:solidFill>
                <a:latin typeface="Noto Sans SC"/>
                <a:ea typeface="Noto Sans SC"/>
                <a:cs typeface="Noto Sans SC"/>
              </a:defRPr>
            </a:lvl2pPr>
            <a:lvl3pPr algn="l">
              <a:defRPr sz="2625" b="0">
                <a:solidFill>
                  <a:srgbClr val="087D78"/>
                </a:solidFill>
                <a:latin typeface="Noto Sans SC"/>
                <a:ea typeface="Noto Sans SC"/>
                <a:cs typeface="Noto Sans SC"/>
              </a:defRPr>
            </a:lvl3pPr>
            <a:lvl4pPr algn="l">
              <a:defRPr sz="2625" b="0">
                <a:solidFill>
                  <a:srgbClr val="087D78"/>
                </a:solidFill>
                <a:latin typeface="Noto Sans SC"/>
                <a:ea typeface="Noto Sans SC"/>
                <a:cs typeface="Noto Sans SC"/>
              </a:defRPr>
            </a:lvl4pPr>
            <a:lvl5pPr algn="l">
              <a:defRPr sz="2625" b="0">
                <a:solidFill>
                  <a:srgbClr val="087D78"/>
                </a:solidFill>
                <a:latin typeface="Noto Sans SC"/>
                <a:ea typeface="Noto Sans SC"/>
                <a:cs typeface="Noto Sans SC"/>
              </a:defRPr>
            </a:lvl5pPr>
            <a:lvl6pPr algn="l">
              <a:defRPr sz="2625" b="0">
                <a:solidFill>
                  <a:srgbClr val="087D78"/>
                </a:solidFill>
                <a:latin typeface="Noto Sans SC"/>
                <a:ea typeface="Noto Sans SC"/>
                <a:cs typeface="Noto Sans SC"/>
              </a:defRPr>
            </a:lvl6pPr>
            <a:lvl7pPr algn="l">
              <a:defRPr sz="2625" b="0">
                <a:solidFill>
                  <a:srgbClr val="087D78"/>
                </a:solidFill>
                <a:latin typeface="Noto Sans SC"/>
                <a:ea typeface="Noto Sans SC"/>
                <a:cs typeface="Noto Sans SC"/>
              </a:defRPr>
            </a:lvl7pPr>
            <a:lvl8pPr algn="l">
              <a:defRPr sz="2625" b="0">
                <a:solidFill>
                  <a:srgbClr val="087D78"/>
                </a:solidFill>
                <a:latin typeface="Noto Sans SC"/>
                <a:ea typeface="Noto Sans SC"/>
                <a:cs typeface="Noto Sans SC"/>
              </a:defRPr>
            </a:lvl8pPr>
            <a:lvl9pPr algn="l">
              <a:defRPr sz="2625" b="0">
                <a:solidFill>
                  <a:srgbClr val="087D78"/>
                </a:solidFill>
                <a:latin typeface="Noto Sans SC"/>
                <a:ea typeface="Noto Sans SC"/>
                <a:cs typeface="Noto Sans SC"/>
              </a:defRPr>
            </a:lvl9pPr>
          </a:lstStyle>
          <a:p xmlns:a="http://schemas.openxmlformats.org/drawingml/2006/main">
            <a:pPr algn="l">
              <a:lnSpc>
                <a:spcPct val="112000"/>
              </a:lnSpc>
              <a:buNone/>
              <a:defRPr sz="2625" b="0">
                <a:solidFill>
                  <a:srgbClr val="087D78"/>
                </a:solidFill>
                <a:latin typeface="Noto Sans SC"/>
                <a:ea typeface="Noto Sans SC"/>
                <a:cs typeface="Noto Sans SC"/>
              </a:defRPr>
            </a:pPr>
            <a:r>
              <a:rPr sz="2625" b="0">
                <a:solidFill>
                  <a:srgbClr val="087D78"/>
                </a:solidFill>
                <a:latin typeface="Noto Sans SC"/>
                <a:ea typeface="Noto Sans SC"/>
                <a:cs typeface="Noto Sans SC"/>
              </a:rPr>
              <a:t>机器人红利</a:t>
            </a:r>
          </a:p>
        </p:txBody>
      </p:sp>
      <p:sp>
        <p:nvSpPr>
          <p:cNvPr id="25" name="text-o1vo8010szg">
            <a:extLst xmlns:a="http://schemas.openxmlformats.org/drawingml/2006/main">
              <a:ext uri="{FF2B5EF4-FFF2-40B4-BE49-F238E27FC236}">
                <a16:creationId xmlns:a16="http://schemas.microsoft.com/office/drawing/2014/main" id="{BCDECC2E-C19A-4F95-91C0-74AC82AEABAA}"/>
              </a:ext>
            </a:extLst>
          </p:cNvPr>
          <p:cNvSpPr>
            <a:spLocks xmlns:a="http://schemas.openxmlformats.org/drawingml/2006/main" noGrp="1"/>
          </p:cNvSpPr>
          <p:nvPr/>
        </p:nvSpPr>
        <p:spPr>
          <a:xfrm xmlns:a="http://schemas.openxmlformats.org/drawingml/2006/main">
            <a:off x="3714750" y="52578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0242B"/>
                </a:solidFill>
                <a:latin typeface="DejaVu Sans"/>
                <a:ea typeface="DejaVu Sans"/>
                <a:cs typeface="DejaVu Sans"/>
              </a:defRPr>
            </a:defPPr>
            <a:lvl1pPr algn="l">
              <a:defRPr sz="1725" b="0">
                <a:solidFill>
                  <a:srgbClr val="10242B"/>
                </a:solidFill>
                <a:latin typeface="DejaVu Sans"/>
                <a:ea typeface="DejaVu Sans"/>
                <a:cs typeface="DejaVu Sans"/>
              </a:defRPr>
            </a:lvl1pPr>
            <a:lvl2pPr algn="l">
              <a:defRPr sz="1725" b="0">
                <a:solidFill>
                  <a:srgbClr val="10242B"/>
                </a:solidFill>
                <a:latin typeface="DejaVu Sans"/>
                <a:ea typeface="DejaVu Sans"/>
                <a:cs typeface="DejaVu Sans"/>
              </a:defRPr>
            </a:lvl2pPr>
            <a:lvl3pPr algn="l">
              <a:defRPr sz="1725" b="0">
                <a:solidFill>
                  <a:srgbClr val="10242B"/>
                </a:solidFill>
                <a:latin typeface="DejaVu Sans"/>
                <a:ea typeface="DejaVu Sans"/>
                <a:cs typeface="DejaVu Sans"/>
              </a:defRPr>
            </a:lvl3pPr>
            <a:lvl4pPr algn="l">
              <a:defRPr sz="1725" b="0">
                <a:solidFill>
                  <a:srgbClr val="10242B"/>
                </a:solidFill>
                <a:latin typeface="DejaVu Sans"/>
                <a:ea typeface="DejaVu Sans"/>
                <a:cs typeface="DejaVu Sans"/>
              </a:defRPr>
            </a:lvl4pPr>
            <a:lvl5pPr algn="l">
              <a:defRPr sz="1725" b="0">
                <a:solidFill>
                  <a:srgbClr val="10242B"/>
                </a:solidFill>
                <a:latin typeface="DejaVu Sans"/>
                <a:ea typeface="DejaVu Sans"/>
                <a:cs typeface="DejaVu Sans"/>
              </a:defRPr>
            </a:lvl5pPr>
            <a:lvl6pPr algn="l">
              <a:defRPr sz="1725" b="0">
                <a:solidFill>
                  <a:srgbClr val="10242B"/>
                </a:solidFill>
                <a:latin typeface="DejaVu Sans"/>
                <a:ea typeface="DejaVu Sans"/>
                <a:cs typeface="DejaVu Sans"/>
              </a:defRPr>
            </a:lvl6pPr>
            <a:lvl7pPr algn="l">
              <a:defRPr sz="1725" b="0">
                <a:solidFill>
                  <a:srgbClr val="10242B"/>
                </a:solidFill>
                <a:latin typeface="DejaVu Sans"/>
                <a:ea typeface="DejaVu Sans"/>
                <a:cs typeface="DejaVu Sans"/>
              </a:defRPr>
            </a:lvl7pPr>
            <a:lvl8pPr algn="l">
              <a:defRPr sz="1725" b="0">
                <a:solidFill>
                  <a:srgbClr val="10242B"/>
                </a:solidFill>
                <a:latin typeface="DejaVu Sans"/>
                <a:ea typeface="DejaVu Sans"/>
                <a:cs typeface="DejaVu Sans"/>
              </a:defRPr>
            </a:lvl8pPr>
            <a:lvl9pPr algn="l">
              <a:defRPr sz="1725" b="0">
                <a:solidFill>
                  <a:srgbClr val="10242B"/>
                </a:solidFill>
                <a:latin typeface="DejaVu Sans"/>
                <a:ea typeface="DejaVu Sans"/>
                <a:cs typeface="DejaVu Sans"/>
              </a:defRPr>
            </a:lvl9pPr>
          </a:lstStyle>
          <a:p xmlns:a="http://schemas.openxmlformats.org/drawingml/2006/main">
            <a:pPr algn="l">
              <a:lnSpc>
                <a:spcPct val="112000"/>
              </a:lnSpc>
              <a:buNone/>
              <a:defRPr sz="1725" b="0">
                <a:solidFill>
                  <a:srgbClr val="10242B"/>
                </a:solidFill>
                <a:latin typeface="DejaVu Sans"/>
                <a:ea typeface="DejaVu Sans"/>
                <a:cs typeface="DejaVu Sans"/>
              </a:defRPr>
            </a:pPr>
            <a:r>
              <a:rPr sz="1725" b="0">
                <a:solidFill>
                  <a:srgbClr val="10242B"/>
                </a:solidFill>
                <a:latin typeface="DejaVu Sans"/>
                <a:ea typeface="DejaVu Sans"/>
                <a:cs typeface="DejaVu Sans"/>
              </a:rPr>
              <a:t>jīqìrén hónglì</a:t>
            </a:r>
          </a:p>
        </p:txBody>
      </p:sp>
      <p:sp>
        <p:nvSpPr>
          <p:cNvPr id="26" name="text-y505c3ddrrr">
            <a:extLst xmlns:a="http://schemas.openxmlformats.org/drawingml/2006/main">
              <a:ext uri="{FF2B5EF4-FFF2-40B4-BE49-F238E27FC236}">
                <a16:creationId xmlns:a16="http://schemas.microsoft.com/office/drawing/2014/main" id="{F958F9F2-DAB5-4A80-8074-24CFB8613763}"/>
              </a:ext>
            </a:extLst>
          </p:cNvPr>
          <p:cNvSpPr>
            <a:spLocks xmlns:a="http://schemas.openxmlformats.org/drawingml/2006/main" noGrp="1"/>
          </p:cNvSpPr>
          <p:nvPr/>
        </p:nvSpPr>
        <p:spPr>
          <a:xfrm xmlns:a="http://schemas.openxmlformats.org/drawingml/2006/main">
            <a:off x="7524750" y="52578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Robotic dividend (metaphor)</a:t>
            </a:r>
          </a:p>
        </p:txBody>
      </p:sp>
    </p:spTree>
    <p:extLst>
      <p:ext uri="{BB962C8B-B14F-4D97-AF65-F5344CB8AC3E}">
        <p14:creationId xmlns:p14="http://schemas.microsoft.com/office/powerpoint/2010/main" val="1582220664"/>
      </p:ext>
    </p:extLst>
  </p:cSld>
</p:sld>
</file>

<file path=ppt/slides/slide4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3FA29E2-586F-424D-B995-E58CD997A0E0}"/>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u62bziqv11q">
            <a:extLst xmlns:a="http://schemas.openxmlformats.org/drawingml/2006/main">
              <a:ext uri="{FF2B5EF4-FFF2-40B4-BE49-F238E27FC236}">
                <a16:creationId xmlns:a16="http://schemas.microsoft.com/office/drawing/2014/main" id="{CA1FAAEF-201B-46D7-AF9C-1A38C9BBD2BD}"/>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dgkdhjxzss">
            <a:extLst xmlns:a="http://schemas.openxmlformats.org/drawingml/2006/main">
              <a:ext uri="{FF2B5EF4-FFF2-40B4-BE49-F238E27FC236}">
                <a16:creationId xmlns:a16="http://schemas.microsoft.com/office/drawing/2014/main" id="{78AEAE0D-A77B-4008-AC4B-F39245C479A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The workshop asks for a decision supported by assumptions</a:t>
            </a:r>
          </a:p>
        </p:txBody>
      </p:sp>
      <p:sp>
        <p:nvSpPr>
          <p:cNvPr id="4" name="text-7iqwpfekrd8">
            <a:extLst xmlns:a="http://schemas.openxmlformats.org/drawingml/2006/main">
              <a:ext uri="{FF2B5EF4-FFF2-40B4-BE49-F238E27FC236}">
                <a16:creationId xmlns:a16="http://schemas.microsoft.com/office/drawing/2014/main" id="{2133C095-7B30-4E01-83EB-3BDED136A035}"/>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Compare two scenarios using the lab.</a:t>
            </a:r>
          </a:p>
        </p:txBody>
      </p:sp>
      <p:sp>
        <p:nvSpPr>
          <p:cNvPr id="5" name="">
            <a:extLst xmlns:a="http://schemas.openxmlformats.org/drawingml/2006/main">
              <a:ext uri="{FF2B5EF4-FFF2-40B4-BE49-F238E27FC236}">
                <a16:creationId xmlns:a16="http://schemas.microsoft.com/office/drawing/2014/main" id="{3104C6AE-907A-4B19-897E-E5BF718333E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u8w0t4irhq">
            <a:extLst xmlns:a="http://schemas.openxmlformats.org/drawingml/2006/main">
              <a:ext uri="{FF2B5EF4-FFF2-40B4-BE49-F238E27FC236}">
                <a16:creationId xmlns:a16="http://schemas.microsoft.com/office/drawing/2014/main" id="{446FE560-F9B0-4486-9E0C-BCD3BDBF053C}"/>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ufzvht0mezj">
            <a:extLst xmlns:a="http://schemas.openxmlformats.org/drawingml/2006/main">
              <a:ext uri="{FF2B5EF4-FFF2-40B4-BE49-F238E27FC236}">
                <a16:creationId xmlns:a16="http://schemas.microsoft.com/office/drawing/2014/main" id="{56A04CB4-44A4-4574-A227-377F2547E923}"/>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44</a:t>
            </a:r>
          </a:p>
        </p:txBody>
      </p:sp>
      <p:sp>
        <p:nvSpPr>
          <p:cNvPr id="8" name="text-ycxcuhor0nk">
            <a:extLst xmlns:a="http://schemas.openxmlformats.org/drawingml/2006/main">
              <a:ext uri="{FF2B5EF4-FFF2-40B4-BE49-F238E27FC236}">
                <a16:creationId xmlns:a16="http://schemas.microsoft.com/office/drawing/2014/main" id="{DEA6DC7F-4CE1-4F1E-A50D-34FEB433FBB5}"/>
              </a:ext>
            </a:extLst>
          </p:cNvPr>
          <p:cNvSpPr>
            <a:spLocks xmlns:a="http://schemas.openxmlformats.org/drawingml/2006/main" noGrp="1"/>
          </p:cNvSpPr>
          <p:nvPr/>
        </p:nvSpPr>
        <p:spPr>
          <a:xfrm xmlns:a="http://schemas.openxmlformats.org/drawingml/2006/main">
            <a:off x="628650" y="26289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01</a:t>
            </a:r>
          </a:p>
        </p:txBody>
      </p:sp>
      <p:sp>
        <p:nvSpPr>
          <p:cNvPr id="9" name="text-rv3cfk7zwnf">
            <a:extLst xmlns:a="http://schemas.openxmlformats.org/drawingml/2006/main">
              <a:ext uri="{FF2B5EF4-FFF2-40B4-BE49-F238E27FC236}">
                <a16:creationId xmlns:a16="http://schemas.microsoft.com/office/drawing/2014/main" id="{FCD1D1FF-DA21-43E4-8E1F-4D51B73279E8}"/>
              </a:ext>
            </a:extLst>
          </p:cNvPr>
          <p:cNvSpPr>
            <a:spLocks xmlns:a="http://schemas.openxmlformats.org/drawingml/2006/main" noGrp="1"/>
          </p:cNvSpPr>
          <p:nvPr/>
        </p:nvSpPr>
        <p:spPr>
          <a:xfrm xmlns:a="http://schemas.openxmlformats.org/drawingml/2006/main">
            <a:off x="1238250" y="26193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Hypothesis</a:t>
            </a:r>
          </a:p>
        </p:txBody>
      </p:sp>
      <p:sp>
        <p:nvSpPr>
          <p:cNvPr id="10" name="text-jrajnzhr9m">
            <a:extLst xmlns:a="http://schemas.openxmlformats.org/drawingml/2006/main">
              <a:ext uri="{FF2B5EF4-FFF2-40B4-BE49-F238E27FC236}">
                <a16:creationId xmlns:a16="http://schemas.microsoft.com/office/drawing/2014/main" id="{5996258E-45ED-41B8-8D90-B1F72356EF4E}"/>
              </a:ext>
            </a:extLst>
          </p:cNvPr>
          <p:cNvSpPr>
            <a:spLocks xmlns:a="http://schemas.openxmlformats.org/drawingml/2006/main" noGrp="1"/>
          </p:cNvSpPr>
          <p:nvPr/>
        </p:nvSpPr>
        <p:spPr>
          <a:xfrm xmlns:a="http://schemas.openxmlformats.org/drawingml/2006/main">
            <a:off x="4095750" y="26193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“More speed reduces cost per valid task.”</a:t>
            </a:r>
          </a:p>
        </p:txBody>
      </p:sp>
      <p:sp>
        <p:nvSpPr>
          <p:cNvPr id="11" name="">
            <a:extLst xmlns:a="http://schemas.openxmlformats.org/drawingml/2006/main">
              <a:ext uri="{FF2B5EF4-FFF2-40B4-BE49-F238E27FC236}">
                <a16:creationId xmlns:a16="http://schemas.microsoft.com/office/drawing/2014/main" id="{1723AEE0-F56E-4D86-BC4B-C848144EF8B8}"/>
              </a:ext>
            </a:extLst>
          </p:cNvPr>
          <p:cNvSpPr>
            <a:spLocks xmlns:a="http://schemas.openxmlformats.org/drawingml/2006/main" noGrp="1"/>
          </p:cNvSpPr>
          <p:nvPr/>
        </p:nvSpPr>
        <p:spPr>
          <a:xfrm xmlns:a="http://schemas.openxmlformats.org/drawingml/2006/main">
            <a:off x="1238250" y="338137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2" name="text-tfiqupxex">
            <a:extLst xmlns:a="http://schemas.openxmlformats.org/drawingml/2006/main">
              <a:ext uri="{FF2B5EF4-FFF2-40B4-BE49-F238E27FC236}">
                <a16:creationId xmlns:a16="http://schemas.microsoft.com/office/drawing/2014/main" id="{26235E63-5AA4-4F03-92EB-58520F022E41}"/>
              </a:ext>
            </a:extLst>
          </p:cNvPr>
          <p:cNvSpPr>
            <a:spLocks xmlns:a="http://schemas.openxmlformats.org/drawingml/2006/main" noGrp="1"/>
          </p:cNvSpPr>
          <p:nvPr/>
        </p:nvSpPr>
        <p:spPr>
          <a:xfrm xmlns:a="http://schemas.openxmlformats.org/drawingml/2006/main">
            <a:off x="628650" y="35242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02</a:t>
            </a:r>
          </a:p>
        </p:txBody>
      </p:sp>
      <p:sp>
        <p:nvSpPr>
          <p:cNvPr id="13" name="text-rac7fraton">
            <a:extLst xmlns:a="http://schemas.openxmlformats.org/drawingml/2006/main">
              <a:ext uri="{FF2B5EF4-FFF2-40B4-BE49-F238E27FC236}">
                <a16:creationId xmlns:a16="http://schemas.microsoft.com/office/drawing/2014/main" id="{A4CED064-18DD-473D-B523-3A3E3D70C7E0}"/>
              </a:ext>
            </a:extLst>
          </p:cNvPr>
          <p:cNvSpPr>
            <a:spLocks xmlns:a="http://schemas.openxmlformats.org/drawingml/2006/main" noGrp="1"/>
          </p:cNvSpPr>
          <p:nvPr/>
        </p:nvSpPr>
        <p:spPr>
          <a:xfrm xmlns:a="http://schemas.openxmlformats.org/drawingml/2006/main">
            <a:off x="1238250" y="35147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Experiment</a:t>
            </a:r>
          </a:p>
        </p:txBody>
      </p:sp>
      <p:sp>
        <p:nvSpPr>
          <p:cNvPr id="14" name="text-e51ye4zzx8t">
            <a:extLst xmlns:a="http://schemas.openxmlformats.org/drawingml/2006/main">
              <a:ext uri="{FF2B5EF4-FFF2-40B4-BE49-F238E27FC236}">
                <a16:creationId xmlns:a16="http://schemas.microsoft.com/office/drawing/2014/main" id="{56E960C3-CF11-4B36-9721-7CD1FC150607}"/>
              </a:ext>
            </a:extLst>
          </p:cNvPr>
          <p:cNvSpPr>
            <a:spLocks xmlns:a="http://schemas.openxmlformats.org/drawingml/2006/main" noGrp="1"/>
          </p:cNvSpPr>
          <p:nvPr/>
        </p:nvSpPr>
        <p:spPr>
          <a:xfrm xmlns:a="http://schemas.openxmlformats.org/drawingml/2006/main">
            <a:off x="4095750" y="35147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Change speed and then success rate, one variable at a time.</a:t>
            </a:r>
          </a:p>
        </p:txBody>
      </p:sp>
      <p:sp>
        <p:nvSpPr>
          <p:cNvPr id="15" name="">
            <a:extLst xmlns:a="http://schemas.openxmlformats.org/drawingml/2006/main">
              <a:ext uri="{FF2B5EF4-FFF2-40B4-BE49-F238E27FC236}">
                <a16:creationId xmlns:a16="http://schemas.microsoft.com/office/drawing/2014/main" id="{51EF64BD-07F6-4C57-9B8D-3353393244A6}"/>
              </a:ext>
            </a:extLst>
          </p:cNvPr>
          <p:cNvSpPr>
            <a:spLocks xmlns:a="http://schemas.openxmlformats.org/drawingml/2006/main" noGrp="1"/>
          </p:cNvSpPr>
          <p:nvPr/>
        </p:nvSpPr>
        <p:spPr>
          <a:xfrm xmlns:a="http://schemas.openxmlformats.org/drawingml/2006/main">
            <a:off x="1238250" y="427672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6" name="text-7r7a14vdsj3">
            <a:extLst xmlns:a="http://schemas.openxmlformats.org/drawingml/2006/main">
              <a:ext uri="{FF2B5EF4-FFF2-40B4-BE49-F238E27FC236}">
                <a16:creationId xmlns:a16="http://schemas.microsoft.com/office/drawing/2014/main" id="{36ECFA3C-D7D3-4C38-88D9-760C0BC46A07}"/>
              </a:ext>
            </a:extLst>
          </p:cNvPr>
          <p:cNvSpPr>
            <a:spLocks xmlns:a="http://schemas.openxmlformats.org/drawingml/2006/main" noGrp="1"/>
          </p:cNvSpPr>
          <p:nvPr/>
        </p:nvSpPr>
        <p:spPr>
          <a:xfrm xmlns:a="http://schemas.openxmlformats.org/drawingml/2006/main">
            <a:off x="628650" y="44196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03</a:t>
            </a:r>
          </a:p>
        </p:txBody>
      </p:sp>
      <p:sp>
        <p:nvSpPr>
          <p:cNvPr id="17" name="text-2lh333dlc44">
            <a:extLst xmlns:a="http://schemas.openxmlformats.org/drawingml/2006/main">
              <a:ext uri="{FF2B5EF4-FFF2-40B4-BE49-F238E27FC236}">
                <a16:creationId xmlns:a16="http://schemas.microsoft.com/office/drawing/2014/main" id="{77C6AD0B-C7E7-4A42-B366-AFD654B215C6}"/>
              </a:ext>
            </a:extLst>
          </p:cNvPr>
          <p:cNvSpPr>
            <a:spLocks xmlns:a="http://schemas.openxmlformats.org/drawingml/2006/main" noGrp="1"/>
          </p:cNvSpPr>
          <p:nvPr/>
        </p:nvSpPr>
        <p:spPr>
          <a:xfrm xmlns:a="http://schemas.openxmlformats.org/drawingml/2006/main">
            <a:off x="1238250" y="44100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Evidence</a:t>
            </a:r>
          </a:p>
        </p:txBody>
      </p:sp>
      <p:sp>
        <p:nvSpPr>
          <p:cNvPr id="18" name="text-qq79srvg3sg">
            <a:extLst xmlns:a="http://schemas.openxmlformats.org/drawingml/2006/main">
              <a:ext uri="{FF2B5EF4-FFF2-40B4-BE49-F238E27FC236}">
                <a16:creationId xmlns:a16="http://schemas.microsoft.com/office/drawing/2014/main" id="{1A6A6FE9-07F2-475C-ACA2-605E5D8164F5}"/>
              </a:ext>
            </a:extLst>
          </p:cNvPr>
          <p:cNvSpPr>
            <a:spLocks xmlns:a="http://schemas.openxmlformats.org/drawingml/2006/main" noGrp="1"/>
          </p:cNvSpPr>
          <p:nvPr/>
        </p:nvSpPr>
        <p:spPr>
          <a:xfrm xmlns:a="http://schemas.openxmlformats.org/drawingml/2006/main">
            <a:off x="4095750" y="44100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Save A and B, export CSV and explain the result.</a:t>
            </a:r>
          </a:p>
        </p:txBody>
      </p:sp>
      <p:sp>
        <p:nvSpPr>
          <p:cNvPr id="19" name="">
            <a:extLst xmlns:a="http://schemas.openxmlformats.org/drawingml/2006/main">
              <a:ext uri="{FF2B5EF4-FFF2-40B4-BE49-F238E27FC236}">
                <a16:creationId xmlns:a16="http://schemas.microsoft.com/office/drawing/2014/main" id="{8C09EF13-D858-4360-9361-54C0F51F4D63}"/>
              </a:ext>
            </a:extLst>
          </p:cNvPr>
          <p:cNvSpPr>
            <a:spLocks xmlns:a="http://schemas.openxmlformats.org/drawingml/2006/main" noGrp="1"/>
          </p:cNvSpPr>
          <p:nvPr/>
        </p:nvSpPr>
        <p:spPr>
          <a:xfrm xmlns:a="http://schemas.openxmlformats.org/drawingml/2006/main">
            <a:off x="1238250" y="517207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20" name="text-jf823sltewn">
            <a:extLst xmlns:a="http://schemas.openxmlformats.org/drawingml/2006/main">
              <a:ext uri="{FF2B5EF4-FFF2-40B4-BE49-F238E27FC236}">
                <a16:creationId xmlns:a16="http://schemas.microsoft.com/office/drawing/2014/main" id="{B0E22A48-B3EE-465B-909E-232A4812EC50}"/>
              </a:ext>
            </a:extLst>
          </p:cNvPr>
          <p:cNvSpPr>
            <a:spLocks xmlns:a="http://schemas.openxmlformats.org/drawingml/2006/main" noGrp="1"/>
          </p:cNvSpPr>
          <p:nvPr/>
        </p:nvSpPr>
        <p:spPr>
          <a:xfrm xmlns:a="http://schemas.openxmlformats.org/drawingml/2006/main">
            <a:off x="628650" y="53149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04</a:t>
            </a:r>
          </a:p>
        </p:txBody>
      </p:sp>
      <p:sp>
        <p:nvSpPr>
          <p:cNvPr id="21" name="text-0in93jxk2lg">
            <a:extLst xmlns:a="http://schemas.openxmlformats.org/drawingml/2006/main">
              <a:ext uri="{FF2B5EF4-FFF2-40B4-BE49-F238E27FC236}">
                <a16:creationId xmlns:a16="http://schemas.microsoft.com/office/drawing/2014/main" id="{A9E654AB-A6EB-4026-B28A-A7141F0ECC7E}"/>
              </a:ext>
            </a:extLst>
          </p:cNvPr>
          <p:cNvSpPr>
            <a:spLocks xmlns:a="http://schemas.openxmlformats.org/drawingml/2006/main" noGrp="1"/>
          </p:cNvSpPr>
          <p:nvPr/>
        </p:nvSpPr>
        <p:spPr>
          <a:xfrm xmlns:a="http://schemas.openxmlformats.org/drawingml/2006/main">
            <a:off x="1238250" y="53054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Limit</a:t>
            </a:r>
          </a:p>
        </p:txBody>
      </p:sp>
      <p:sp>
        <p:nvSpPr>
          <p:cNvPr id="22" name="text-v5wsztx43f">
            <a:extLst xmlns:a="http://schemas.openxmlformats.org/drawingml/2006/main">
              <a:ext uri="{FF2B5EF4-FFF2-40B4-BE49-F238E27FC236}">
                <a16:creationId xmlns:a16="http://schemas.microsoft.com/office/drawing/2014/main" id="{9B0AB137-4DA2-4D23-865C-0A8C13A28A0F}"/>
              </a:ext>
            </a:extLst>
          </p:cNvPr>
          <p:cNvSpPr>
            <a:spLocks xmlns:a="http://schemas.openxmlformats.org/drawingml/2006/main" noGrp="1"/>
          </p:cNvSpPr>
          <p:nvPr/>
        </p:nvSpPr>
        <p:spPr>
          <a:xfrm xmlns:a="http://schemas.openxmlformats.org/drawingml/2006/main">
            <a:off x="4095750" y="53054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State what must be measured before applying it in a factory.</a:t>
            </a:r>
          </a:p>
        </p:txBody>
      </p:sp>
    </p:spTree>
    <p:extLst>
      <p:ext uri="{BB962C8B-B14F-4D97-AF65-F5344CB8AC3E}">
        <p14:creationId xmlns:p14="http://schemas.microsoft.com/office/powerpoint/2010/main" val="822128443"/>
      </p:ext>
    </p:extLst>
  </p:cSld>
</p:sld>
</file>

<file path=ppt/slides/slide45.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029181B-6EC7-4099-B830-BDBE45BBC4BC}"/>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c77lmi09k5">
            <a:extLst xmlns:a="http://schemas.openxmlformats.org/drawingml/2006/main">
              <a:ext uri="{FF2B5EF4-FFF2-40B4-BE49-F238E27FC236}">
                <a16:creationId xmlns:a16="http://schemas.microsoft.com/office/drawing/2014/main" id="{1F9B1A68-461D-4CE9-BEE5-3EFD5244D785}"/>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y9sj43imqgs">
            <a:extLst xmlns:a="http://schemas.openxmlformats.org/drawingml/2006/main">
              <a:ext uri="{FF2B5EF4-FFF2-40B4-BE49-F238E27FC236}">
                <a16:creationId xmlns:a16="http://schemas.microsoft.com/office/drawing/2014/main" id="{91882BCA-7B95-414E-B83B-33F25439EFD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The portal connects decks, lab and videos</a:t>
            </a:r>
          </a:p>
        </p:txBody>
      </p:sp>
      <p:sp>
        <p:nvSpPr>
          <p:cNvPr id="4" name="text-q6swc58ov4n">
            <a:extLst xmlns:a="http://schemas.openxmlformats.org/drawingml/2006/main">
              <a:ext uri="{FF2B5EF4-FFF2-40B4-BE49-F238E27FC236}">
                <a16:creationId xmlns:a16="http://schemas.microsoft.com/office/drawing/2014/main" id="{9041052B-D4B6-4284-B6CC-FF9ED296EE93}"/>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Local study materials with external links for further reading.</a:t>
            </a:r>
          </a:p>
        </p:txBody>
      </p:sp>
      <p:sp>
        <p:nvSpPr>
          <p:cNvPr id="5" name="">
            <a:extLst xmlns:a="http://schemas.openxmlformats.org/drawingml/2006/main">
              <a:ext uri="{FF2B5EF4-FFF2-40B4-BE49-F238E27FC236}">
                <a16:creationId xmlns:a16="http://schemas.microsoft.com/office/drawing/2014/main" id="{AB294593-7E3D-4A82-9C00-3690D180177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odw1qz64yz">
            <a:extLst xmlns:a="http://schemas.openxmlformats.org/drawingml/2006/main">
              <a:ext uri="{FF2B5EF4-FFF2-40B4-BE49-F238E27FC236}">
                <a16:creationId xmlns:a16="http://schemas.microsoft.com/office/drawing/2014/main" id="{6DD2A75C-75DB-4F8D-8152-49D2618E2E5A}"/>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yp0sb24ane">
            <a:extLst xmlns:a="http://schemas.openxmlformats.org/drawingml/2006/main">
              <a:ext uri="{FF2B5EF4-FFF2-40B4-BE49-F238E27FC236}">
                <a16:creationId xmlns:a16="http://schemas.microsoft.com/office/drawing/2014/main" id="{E5A80130-1A59-4009-A3A0-2A1B8B6BDE3B}"/>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45</a:t>
            </a:r>
          </a:p>
        </p:txBody>
      </p:sp>
      <p:sp>
        <p:nvSpPr>
          <p:cNvPr id="8" name="">
            <a:extLst xmlns:a="http://schemas.openxmlformats.org/drawingml/2006/main">
              <a:ext uri="{FF2B5EF4-FFF2-40B4-BE49-F238E27FC236}">
                <a16:creationId xmlns:a16="http://schemas.microsoft.com/office/drawing/2014/main" id="{2BEDE95B-D72D-417A-8A41-31353BB30D19}"/>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47B3F9C-6BCF-41FC-9AD5-3FF6A259B97C}"/>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pihacs8hlvr">
            <a:extLst xmlns:a="http://schemas.openxmlformats.org/drawingml/2006/main">
              <a:ext uri="{FF2B5EF4-FFF2-40B4-BE49-F238E27FC236}">
                <a16:creationId xmlns:a16="http://schemas.microsoft.com/office/drawing/2014/main" id="{3861C7CC-3913-4E7E-ACA6-9E1C9E8A7BF6}"/>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Presentations</a:t>
            </a:r>
          </a:p>
        </p:txBody>
      </p:sp>
      <p:sp>
        <p:nvSpPr>
          <p:cNvPr id="11" name="text-i1gsansbsy">
            <a:extLst xmlns:a="http://schemas.openxmlformats.org/drawingml/2006/main">
              <a:ext uri="{FF2B5EF4-FFF2-40B4-BE49-F238E27FC236}">
                <a16:creationId xmlns:a16="http://schemas.microsoft.com/office/drawing/2014/main" id="{454769A8-499A-47D0-97AD-2D9C7E6662B0}"/>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Editable PPTX, PDF and a reader with notes and search.</a:t>
            </a:r>
          </a:p>
        </p:txBody>
      </p:sp>
      <p:sp>
        <p:nvSpPr>
          <p:cNvPr id="12" name="">
            <a:extLst xmlns:a="http://schemas.openxmlformats.org/drawingml/2006/main">
              <a:ext uri="{FF2B5EF4-FFF2-40B4-BE49-F238E27FC236}">
                <a16:creationId xmlns:a16="http://schemas.microsoft.com/office/drawing/2014/main" id="{03147B73-3784-4682-A121-A79AE7181BB0}"/>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4ED3E4C-703A-4C21-BAE1-A9C57645278C}"/>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f8guzc7au4h">
            <a:extLst xmlns:a="http://schemas.openxmlformats.org/drawingml/2006/main">
              <a:ext uri="{FF2B5EF4-FFF2-40B4-BE49-F238E27FC236}">
                <a16:creationId xmlns:a16="http://schemas.microsoft.com/office/drawing/2014/main" id="{6E942908-CB52-4D4D-8C3B-285F675FFF7A}"/>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Lab</a:t>
            </a:r>
          </a:p>
        </p:txBody>
      </p:sp>
      <p:sp>
        <p:nvSpPr>
          <p:cNvPr id="15" name="text-5kxth7g2hac">
            <a:extLst xmlns:a="http://schemas.openxmlformats.org/drawingml/2006/main">
              <a:ext uri="{FF2B5EF4-FFF2-40B4-BE49-F238E27FC236}">
                <a16:creationId xmlns:a16="http://schemas.microsoft.com/office/drawing/2014/main" id="{D13F80E6-E9F9-4DD5-9A62-BC3DD462F971}"/>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Energy, operations and an agent workflow.</a:t>
            </a:r>
          </a:p>
        </p:txBody>
      </p:sp>
      <p:sp>
        <p:nvSpPr>
          <p:cNvPr id="16" name="">
            <a:extLst xmlns:a="http://schemas.openxmlformats.org/drawingml/2006/main">
              <a:ext uri="{FF2B5EF4-FFF2-40B4-BE49-F238E27FC236}">
                <a16:creationId xmlns:a16="http://schemas.microsoft.com/office/drawing/2014/main" id="{A0978488-7150-4507-A64C-02F6F86F2D2A}"/>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13F4C63-CC05-4729-A95A-A494F9F9519F}"/>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zkb0swiftvl">
            <a:extLst xmlns:a="http://schemas.openxmlformats.org/drawingml/2006/main">
              <a:ext uri="{FF2B5EF4-FFF2-40B4-BE49-F238E27FC236}">
                <a16:creationId xmlns:a16="http://schemas.microsoft.com/office/drawing/2014/main" id="{EEDEEFE7-7C17-4095-865C-387965AF9445}"/>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Videos</a:t>
            </a:r>
          </a:p>
        </p:txBody>
      </p:sp>
      <p:sp>
        <p:nvSpPr>
          <p:cNvPr id="19" name="text-0se7a1qhyk4c">
            <a:extLst xmlns:a="http://schemas.openxmlformats.org/drawingml/2006/main">
              <a:ext uri="{FF2B5EF4-FFF2-40B4-BE49-F238E27FC236}">
                <a16:creationId xmlns:a16="http://schemas.microsoft.com/office/drawing/2014/main" id="{740F9C9D-7312-4FD9-9D43-C309DBE47F77}"/>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Dedicated page with access to the repository VideoLab.</a:t>
            </a:r>
          </a:p>
        </p:txBody>
      </p:sp>
      <p:sp>
        <p:nvSpPr>
          <p:cNvPr id="20" name="">
            <a:extLst xmlns:a="http://schemas.openxmlformats.org/drawingml/2006/main">
              <a:ext uri="{FF2B5EF4-FFF2-40B4-BE49-F238E27FC236}">
                <a16:creationId xmlns:a16="http://schemas.microsoft.com/office/drawing/2014/main" id="{A3F012AB-2A11-439C-A878-EA900D70898B}"/>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B4870D5-335D-4F4D-B770-56423DBD055E}"/>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elfm5yfo4v7">
            <a:extLst xmlns:a="http://schemas.openxmlformats.org/drawingml/2006/main">
              <a:ext uri="{FF2B5EF4-FFF2-40B4-BE49-F238E27FC236}">
                <a16:creationId xmlns:a16="http://schemas.microsoft.com/office/drawing/2014/main" id="{DFDB2C2B-0836-44A9-9485-436BC09E53BB}"/>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Teaching guide</a:t>
            </a:r>
          </a:p>
        </p:txBody>
      </p:sp>
      <p:sp>
        <p:nvSpPr>
          <p:cNvPr id="23" name="text-36zyse6wxes">
            <a:extLst xmlns:a="http://schemas.openxmlformats.org/drawingml/2006/main">
              <a:ext uri="{FF2B5EF4-FFF2-40B4-BE49-F238E27FC236}">
                <a16:creationId xmlns:a16="http://schemas.microsoft.com/office/drawing/2014/main" id="{3BED13BE-3E1C-464F-AE8A-CE237A8F67CC}"/>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60-minute route, answers and extensions.</a:t>
            </a:r>
          </a:p>
        </p:txBody>
      </p:sp>
    </p:spTree>
    <p:extLst>
      <p:ext uri="{BB962C8B-B14F-4D97-AF65-F5344CB8AC3E}">
        <p14:creationId xmlns:p14="http://schemas.microsoft.com/office/powerpoint/2010/main" val="1323899715"/>
      </p:ext>
    </p:extLst>
  </p:cSld>
</p:sld>
</file>

<file path=ppt/slides/slide46.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034E96C-D845-47CF-A39D-608BF86CA96A}"/>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xt83nes9q0b">
            <a:extLst xmlns:a="http://schemas.openxmlformats.org/drawingml/2006/main">
              <a:ext uri="{FF2B5EF4-FFF2-40B4-BE49-F238E27FC236}">
                <a16:creationId xmlns:a16="http://schemas.microsoft.com/office/drawing/2014/main" id="{1294CBB7-FEF2-40FA-9EA5-509A825EBE16}"/>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67nkvn5qpw9">
            <a:extLst xmlns:a="http://schemas.openxmlformats.org/drawingml/2006/main">
              <a:ext uri="{FF2B5EF4-FFF2-40B4-BE49-F238E27FC236}">
                <a16:creationId xmlns:a16="http://schemas.microsoft.com/office/drawing/2014/main" id="{D775EC57-EEF6-4FC8-B954-EFE41FB1CA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Evidence connects models, agents and productivity</a:t>
            </a:r>
          </a:p>
        </p:txBody>
      </p:sp>
      <p:sp>
        <p:nvSpPr>
          <p:cNvPr id="4" name="text-rwdjcfpovz">
            <a:extLst xmlns:a="http://schemas.openxmlformats.org/drawingml/2006/main">
              <a:ext uri="{FF2B5EF4-FFF2-40B4-BE49-F238E27FC236}">
                <a16:creationId xmlns:a16="http://schemas.microsoft.com/office/drawing/2014/main" id="{39F22763-0AEB-4393-A8F5-062EE634B83C}"/>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The relevant outcome is a useful, repeatable and economically justified task.</a:t>
            </a:r>
          </a:p>
        </p:txBody>
      </p:sp>
      <p:sp>
        <p:nvSpPr>
          <p:cNvPr id="5" name="">
            <a:extLst xmlns:a="http://schemas.openxmlformats.org/drawingml/2006/main">
              <a:ext uri="{FF2B5EF4-FFF2-40B4-BE49-F238E27FC236}">
                <a16:creationId xmlns:a16="http://schemas.microsoft.com/office/drawing/2014/main" id="{CED6EFF4-D274-4105-95B5-3E6BB127600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zgu1ehw3iv">
            <a:extLst xmlns:a="http://schemas.openxmlformats.org/drawingml/2006/main">
              <a:ext uri="{FF2B5EF4-FFF2-40B4-BE49-F238E27FC236}">
                <a16:creationId xmlns:a16="http://schemas.microsoft.com/office/drawing/2014/main" id="{B77DA513-2A4E-442D-A404-EF7DC7BB1FC9}"/>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dxx1c52kq16">
            <a:extLst xmlns:a="http://schemas.openxmlformats.org/drawingml/2006/main">
              <a:ext uri="{FF2B5EF4-FFF2-40B4-BE49-F238E27FC236}">
                <a16:creationId xmlns:a16="http://schemas.microsoft.com/office/drawing/2014/main" id="{88AA5403-83BB-4761-923F-0A65A220F25B}"/>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46</a:t>
            </a:r>
          </a:p>
        </p:txBody>
      </p:sp>
      <p:sp>
        <p:nvSpPr>
          <p:cNvPr id="8" name="text-ovd3m6kw63r">
            <a:extLst xmlns:a="http://schemas.openxmlformats.org/drawingml/2006/main">
              <a:ext uri="{FF2B5EF4-FFF2-40B4-BE49-F238E27FC236}">
                <a16:creationId xmlns:a16="http://schemas.microsoft.com/office/drawing/2014/main" id="{FD488D81-7F32-4581-A826-2AF62FA3954B}"/>
              </a:ext>
            </a:extLst>
          </p:cNvPr>
          <p:cNvSpPr>
            <a:spLocks xmlns:a="http://schemas.openxmlformats.org/drawingml/2006/main" noGrp="1"/>
          </p:cNvSpPr>
          <p:nvPr/>
        </p:nvSpPr>
        <p:spPr>
          <a:xfrm xmlns:a="http://schemas.openxmlformats.org/drawingml/2006/main">
            <a:off x="60960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01</a:t>
            </a:r>
          </a:p>
        </p:txBody>
      </p:sp>
      <p:sp>
        <p:nvSpPr>
          <p:cNvPr id="9" name="text-bxlm2bqxv98">
            <a:extLst xmlns:a="http://schemas.openxmlformats.org/drawingml/2006/main">
              <a:ext uri="{FF2B5EF4-FFF2-40B4-BE49-F238E27FC236}">
                <a16:creationId xmlns:a16="http://schemas.microsoft.com/office/drawing/2014/main" id="{17D6E201-5347-4E3F-BF9C-BDF1F15DA0F2}"/>
              </a:ext>
            </a:extLst>
          </p:cNvPr>
          <p:cNvSpPr>
            <a:spLocks xmlns:a="http://schemas.openxmlformats.org/drawingml/2006/main" noGrp="1"/>
          </p:cNvSpPr>
          <p:nvPr/>
        </p:nvSpPr>
        <p:spPr>
          <a:xfrm xmlns:a="http://schemas.openxmlformats.org/drawingml/2006/main">
            <a:off x="60960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Model</a:t>
            </a:r>
          </a:p>
        </p:txBody>
      </p:sp>
      <p:sp>
        <p:nvSpPr>
          <p:cNvPr id="10" name="text-sau63lffsb">
            <a:extLst xmlns:a="http://schemas.openxmlformats.org/drawingml/2006/main">
              <a:ext uri="{FF2B5EF4-FFF2-40B4-BE49-F238E27FC236}">
                <a16:creationId xmlns:a16="http://schemas.microsoft.com/office/drawing/2014/main" id="{B73DBAF3-5F53-4B41-B1BB-F05B98AE030C}"/>
              </a:ext>
            </a:extLst>
          </p:cNvPr>
          <p:cNvSpPr>
            <a:spLocks xmlns:a="http://schemas.openxmlformats.org/drawingml/2006/main" noGrp="1"/>
          </p:cNvSpPr>
          <p:nvPr/>
        </p:nvSpPr>
        <p:spPr>
          <a:xfrm xmlns:a="http://schemas.openxmlformats.org/drawingml/2006/main">
            <a:off x="60960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What it can produce.</a:t>
            </a:r>
          </a:p>
        </p:txBody>
      </p:sp>
      <p:sp>
        <p:nvSpPr>
          <p:cNvPr id="11" name="text-qa43lbpj4h">
            <a:extLst xmlns:a="http://schemas.openxmlformats.org/drawingml/2006/main">
              <a:ext uri="{FF2B5EF4-FFF2-40B4-BE49-F238E27FC236}">
                <a16:creationId xmlns:a16="http://schemas.microsoft.com/office/drawing/2014/main" id="{4CA39625-5B56-4FCD-8C96-D29DC862F8B5}"/>
              </a:ext>
            </a:extLst>
          </p:cNvPr>
          <p:cNvSpPr>
            <a:spLocks xmlns:a="http://schemas.openxmlformats.org/drawingml/2006/main" noGrp="1"/>
          </p:cNvSpPr>
          <p:nvPr/>
        </p:nvSpPr>
        <p:spPr>
          <a:xfrm xmlns:a="http://schemas.openxmlformats.org/drawingml/2006/main">
            <a:off x="340995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02</a:t>
            </a:r>
          </a:p>
        </p:txBody>
      </p:sp>
      <p:sp>
        <p:nvSpPr>
          <p:cNvPr id="12" name="text-dtmn0fvqgu5">
            <a:extLst xmlns:a="http://schemas.openxmlformats.org/drawingml/2006/main">
              <a:ext uri="{FF2B5EF4-FFF2-40B4-BE49-F238E27FC236}">
                <a16:creationId xmlns:a16="http://schemas.microsoft.com/office/drawing/2014/main" id="{3F974018-CCBC-4B98-A729-0B71E7FEDB15}"/>
              </a:ext>
            </a:extLst>
          </p:cNvPr>
          <p:cNvSpPr>
            <a:spLocks xmlns:a="http://schemas.openxmlformats.org/drawingml/2006/main" noGrp="1"/>
          </p:cNvSpPr>
          <p:nvPr/>
        </p:nvSpPr>
        <p:spPr>
          <a:xfrm xmlns:a="http://schemas.openxmlformats.org/drawingml/2006/main">
            <a:off x="340995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Agent</a:t>
            </a:r>
          </a:p>
        </p:txBody>
      </p:sp>
      <p:sp>
        <p:nvSpPr>
          <p:cNvPr id="13" name="text-9hcxhuxspnj">
            <a:extLst xmlns:a="http://schemas.openxmlformats.org/drawingml/2006/main">
              <a:ext uri="{FF2B5EF4-FFF2-40B4-BE49-F238E27FC236}">
                <a16:creationId xmlns:a16="http://schemas.microsoft.com/office/drawing/2014/main" id="{BCD274EA-EAA4-40FE-A30E-BC6DF74E193B}"/>
              </a:ext>
            </a:extLst>
          </p:cNvPr>
          <p:cNvSpPr>
            <a:spLocks xmlns:a="http://schemas.openxmlformats.org/drawingml/2006/main" noGrp="1"/>
          </p:cNvSpPr>
          <p:nvPr/>
        </p:nvSpPr>
        <p:spPr>
          <a:xfrm xmlns:a="http://schemas.openxmlformats.org/drawingml/2006/main">
            <a:off x="340995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What it can execute and verify.</a:t>
            </a:r>
          </a:p>
        </p:txBody>
      </p:sp>
      <p:sp>
        <p:nvSpPr>
          <p:cNvPr id="14" name="text-3ot3kqb8j86">
            <a:extLst xmlns:a="http://schemas.openxmlformats.org/drawingml/2006/main">
              <a:ext uri="{FF2B5EF4-FFF2-40B4-BE49-F238E27FC236}">
                <a16:creationId xmlns:a16="http://schemas.microsoft.com/office/drawing/2014/main" id="{7E55C9A0-E563-48DB-9AC2-66A99F76212D}"/>
              </a:ext>
            </a:extLst>
          </p:cNvPr>
          <p:cNvSpPr>
            <a:spLocks xmlns:a="http://schemas.openxmlformats.org/drawingml/2006/main" noGrp="1"/>
          </p:cNvSpPr>
          <p:nvPr/>
        </p:nvSpPr>
        <p:spPr>
          <a:xfrm xmlns:a="http://schemas.openxmlformats.org/drawingml/2006/main">
            <a:off x="621030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03</a:t>
            </a:r>
          </a:p>
        </p:txBody>
      </p:sp>
      <p:sp>
        <p:nvSpPr>
          <p:cNvPr id="15" name="text-7o2bf2coxg">
            <a:extLst xmlns:a="http://schemas.openxmlformats.org/drawingml/2006/main">
              <a:ext uri="{FF2B5EF4-FFF2-40B4-BE49-F238E27FC236}">
                <a16:creationId xmlns:a16="http://schemas.microsoft.com/office/drawing/2014/main" id="{08E18B70-3C69-4CB6-A00D-1167D845E1D5}"/>
              </a:ext>
            </a:extLst>
          </p:cNvPr>
          <p:cNvSpPr>
            <a:spLocks xmlns:a="http://schemas.openxmlformats.org/drawingml/2006/main" noGrp="1"/>
          </p:cNvSpPr>
          <p:nvPr/>
        </p:nvSpPr>
        <p:spPr>
          <a:xfrm xmlns:a="http://schemas.openxmlformats.org/drawingml/2006/main">
            <a:off x="621030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Robot</a:t>
            </a:r>
          </a:p>
        </p:txBody>
      </p:sp>
      <p:sp>
        <p:nvSpPr>
          <p:cNvPr id="16" name="text-kh6ii7vnqp">
            <a:extLst xmlns:a="http://schemas.openxmlformats.org/drawingml/2006/main">
              <a:ext uri="{FF2B5EF4-FFF2-40B4-BE49-F238E27FC236}">
                <a16:creationId xmlns:a16="http://schemas.microsoft.com/office/drawing/2014/main" id="{765810A9-BBF9-42BF-8E91-49A61C711861}"/>
              </a:ext>
            </a:extLst>
          </p:cNvPr>
          <p:cNvSpPr>
            <a:spLocks xmlns:a="http://schemas.openxmlformats.org/drawingml/2006/main" noGrp="1"/>
          </p:cNvSpPr>
          <p:nvPr/>
        </p:nvSpPr>
        <p:spPr>
          <a:xfrm xmlns:a="http://schemas.openxmlformats.org/drawingml/2006/main">
            <a:off x="621030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What it can perform physically.</a:t>
            </a:r>
          </a:p>
        </p:txBody>
      </p:sp>
      <p:sp>
        <p:nvSpPr>
          <p:cNvPr id="17" name="text-hquizpie8d">
            <a:extLst xmlns:a="http://schemas.openxmlformats.org/drawingml/2006/main">
              <a:ext uri="{FF2B5EF4-FFF2-40B4-BE49-F238E27FC236}">
                <a16:creationId xmlns:a16="http://schemas.microsoft.com/office/drawing/2014/main" id="{543DCEBC-AC43-4787-BFCD-BD9E3D19DB28}"/>
              </a:ext>
            </a:extLst>
          </p:cNvPr>
          <p:cNvSpPr>
            <a:spLocks xmlns:a="http://schemas.openxmlformats.org/drawingml/2006/main" noGrp="1"/>
          </p:cNvSpPr>
          <p:nvPr/>
        </p:nvSpPr>
        <p:spPr>
          <a:xfrm xmlns:a="http://schemas.openxmlformats.org/drawingml/2006/main">
            <a:off x="901065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04</a:t>
            </a:r>
          </a:p>
        </p:txBody>
      </p:sp>
      <p:sp>
        <p:nvSpPr>
          <p:cNvPr id="18" name="text-gs2zbol9tyn">
            <a:extLst xmlns:a="http://schemas.openxmlformats.org/drawingml/2006/main">
              <a:ext uri="{FF2B5EF4-FFF2-40B4-BE49-F238E27FC236}">
                <a16:creationId xmlns:a16="http://schemas.microsoft.com/office/drawing/2014/main" id="{D326693F-B2CD-40C4-A396-6F74A854B887}"/>
              </a:ext>
            </a:extLst>
          </p:cNvPr>
          <p:cNvSpPr>
            <a:spLocks xmlns:a="http://schemas.openxmlformats.org/drawingml/2006/main" noGrp="1"/>
          </p:cNvSpPr>
          <p:nvPr/>
        </p:nvSpPr>
        <p:spPr>
          <a:xfrm xmlns:a="http://schemas.openxmlformats.org/drawingml/2006/main">
            <a:off x="901065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Economics</a:t>
            </a:r>
          </a:p>
        </p:txBody>
      </p:sp>
      <p:sp>
        <p:nvSpPr>
          <p:cNvPr id="19" name="text-0qmlbxy5jg8">
            <a:extLst xmlns:a="http://schemas.openxmlformats.org/drawingml/2006/main">
              <a:ext uri="{FF2B5EF4-FFF2-40B4-BE49-F238E27FC236}">
                <a16:creationId xmlns:a16="http://schemas.microsoft.com/office/drawing/2014/main" id="{DF43C3D4-BEC6-42D5-9ED8-5C3C48EB311E}"/>
              </a:ext>
            </a:extLst>
          </p:cNvPr>
          <p:cNvSpPr>
            <a:spLocks xmlns:a="http://schemas.openxmlformats.org/drawingml/2006/main" noGrp="1"/>
          </p:cNvSpPr>
          <p:nvPr/>
        </p:nvSpPr>
        <p:spPr>
          <a:xfrm xmlns:a="http://schemas.openxmlformats.org/drawingml/2006/main">
            <a:off x="901065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What value remains after all costs.</a:t>
            </a:r>
          </a:p>
        </p:txBody>
      </p:sp>
    </p:spTree>
    <p:extLst>
      <p:ext uri="{BB962C8B-B14F-4D97-AF65-F5344CB8AC3E}">
        <p14:creationId xmlns:p14="http://schemas.microsoft.com/office/powerpoint/2010/main" val="2310132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2026-10-25T20:56:21.9530000Z</dcterms:created>
  <dcterms:modified xsi:type="dcterms:W3CDTF">2026-10-25T20:56:21.9530000Z</dcterms:modified>
</coreProperties>
</file>