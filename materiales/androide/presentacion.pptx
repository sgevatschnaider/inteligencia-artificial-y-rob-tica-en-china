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Presentar la metáfora: el androide no representa solamente a un robot; representa la empresa tecnológica china, que convierte ciencia e ingeniería en modelos, hardware, productos, servicios y despliegues. La escritura correcta de robot humanoide en chino simplificado es 人形机器人 (rénxíng jīqìrén); 机器人 significa robot genérico. La imagen es una ilustración conceptual generada con inteligencia artificial.</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
            </a:r>
          </a:p>
          <a:p>
            <a:r>
              <a:rPr lang="es-AR" sz="1100">
                <a:latin typeface="Aptos"/>
                <a:ea typeface="Noto Sans SC"/>
              </a:rPr>
              <a:t/>
            </a:r>
          </a:p>
          <a:p>
            <a:r>
              <a:rPr lang="es-AR" sz="1100">
                <a:latin typeface="Aptos"/>
                <a:ea typeface="Noto Sans SC"/>
              </a:rPr>
              <a:t>Guía docente</a:t>
            </a:r>
          </a:p>
          <a:p>
            <a:r>
              <a:rPr lang="es-AR" sz="1100">
                <a:latin typeface="Aptos"/>
                <a:ea typeface="Noto Sans SC"/>
              </a:rPr>
              <a:t>Pregunta de apertura: ¿qué decisiones toma una empresa entre una investigación prometedora y un producto que un cliente acepta pagar? Presentar el humanoide como símbolo de un ecosistema que también incluye software, aceleradores, nube y servicios.</a:t>
            </a:r>
          </a:p>
          <a:p>
            <a:r>
              <a:rPr lang="es-AR" sz="1100">
                <a:latin typeface="Aptos"/>
                <a:ea typeface="Noto Sans SC"/>
              </a:rPr>
              <a:t/>
            </a:r>
          </a:p>
          <a:p>
            <a:r>
              <a:rPr lang="es-AR" sz="1100">
                <a:latin typeface="Aptos"/>
                <a:ea typeface="Noto Sans SC"/>
              </a:rPr>
              <a:t>Terminología complementaria: 人工智能 (réngōng zhìnéng) significa inteligencia artificial y 科技企业 (kējì qǐyè), empresas tecnológicas.</a:t>
            </a:r>
          </a:p>
          <a:p>
            <a:r>
              <a:rPr lang="es-AR" sz="1100">
                <a:latin typeface="Aptos"/>
                <a:ea typeface="Noto Sans SC"/>
              </a:rPr>
              <a:t/>
            </a:r>
          </a:p>
          <a:p>
            <a:r>
              <a:rPr lang="es-AR" sz="1100">
                <a:latin typeface="Aptos"/>
                <a:ea typeface="Noto Sans SC"/>
              </a:rPr>
              <a:t>Ilustración: escena conceptual generada con IA. No representa un producto, una empresa ni un despliegue real.</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人形机器人创新发展指导意见</a:t>
            </a:r>
          </a:p>
          <a:p>
            <a:r>
              <a:rPr lang="es-AR" sz="1100">
                <a:latin typeface="Aptos"/>
                <a:ea typeface="Noto Sans SC"/>
              </a:rPr>
              <a:t>https://www.ncsti.gov.cn/zcfg/zcwj/202311/P020231103482413965397.pdf</a:t>
            </a:r>
          </a:p>
          <a:p>
            <a:r>
              <a:rPr lang="es-AR" sz="1100">
                <a:latin typeface="Aptos"/>
                <a:ea typeface="Noto Sans SC"/>
              </a:rPr>
              <a:t/>
            </a:r>
          </a:p>
          <a:p>
            <a:r>
              <a:rPr lang="es-AR" sz="1100">
                <a:latin typeface="Aptos"/>
                <a:ea typeface="Noto Sans SC"/>
              </a:rPr>
              <a:t>An Yang et al. (2025). Qwen3 Technical Report</a:t>
            </a:r>
          </a:p>
          <a:p>
            <a:r>
              <a:rPr lang="es-AR" sz="1100">
                <a:latin typeface="Aptos"/>
                <a:ea typeface="Noto Sans SC"/>
              </a:rPr>
              <a:t>https://arxiv.org/abs/2505.09388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El androide es una metáfora de las organizaciones innovadoras: capital humano, laboratorios, ingeniería, mercados, proveedores, software y capacidad de ejecución. Evitar equivalencia estricta entre androide y todo el sector: es un recurso visual. El módulo aborda IA generativa, cómputo, robótica y movilidad.</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
            </a:r>
          </a:p>
          <a:p>
            <a:r>
              <a:rPr lang="es-AR" sz="1100">
                <a:latin typeface="Aptos"/>
                <a:ea typeface="Noto Sans SC"/>
              </a:rPr>
              <a:t/>
            </a:r>
          </a:p>
          <a:p>
            <a:r>
              <a:rPr lang="es-AR" sz="1100">
                <a:latin typeface="Aptos"/>
                <a:ea typeface="Noto Sans SC"/>
              </a:rPr>
              <a:t>Guía docente</a:t>
            </a:r>
          </a:p>
          <a:p>
            <a:r>
              <a:rPr lang="es-AR" sz="1100">
                <a:latin typeface="Aptos"/>
                <a:ea typeface="Noto Sans SC"/>
              </a:rPr>
              <a:t>Pedir un ejemplo de una capacidad interna de la empresa y otro de una dependencia externa. Distinguir decisión empresarial, incentivos públicos y demanda de clientes.</a:t>
            </a:r>
          </a:p>
          <a:p>
            <a:r>
              <a:rPr lang="es-AR" sz="1100">
                <a:latin typeface="Aptos"/>
                <a:ea typeface="Noto Sans SC"/>
              </a:rPr>
              <a:t/>
            </a:r>
          </a:p>
          <a:p>
            <a:r>
              <a:rPr lang="es-AR" sz="1100">
                <a:latin typeface="Aptos"/>
                <a:ea typeface="Noto Sans SC"/>
              </a:rPr>
              <a:t>Ilustración: escena conceptual generada con IA. No representa un producto, una empresa ni un despliegue real.</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ByteDance y Tsinghua AIR (2024). Joint Research Center on Scalable Intelligent Model Technology</a:t>
            </a:r>
          </a:p>
          <a:p>
            <a:r>
              <a:rPr lang="es-AR" sz="1100">
                <a:latin typeface="Aptos"/>
                <a:ea typeface="Noto Sans SC"/>
              </a:rPr>
              <a:t>https://seed.bytedance.com/en/blog/bytedance-and-tsinghua-air-establish-joint-research-center-to-advance-industry-academia-research-collaboration-on-large-models</a:t>
            </a:r>
          </a:p>
          <a:p>
            <a:r>
              <a:rPr lang="es-AR" sz="1100">
                <a:latin typeface="Aptos"/>
                <a:ea typeface="Noto Sans SC"/>
              </a:rPr>
              <a:t/>
            </a:r>
          </a:p>
          <a:p>
            <a:r>
              <a:rPr lang="es-AR" sz="1100">
                <a:latin typeface="Aptos"/>
                <a:ea typeface="Noto Sans SC"/>
              </a:rPr>
              <a:t>华为 (2025). 华为宣布开源盘古7B稠密和72B混合专家模型</a:t>
            </a:r>
          </a:p>
          <a:p>
            <a:r>
              <a:rPr lang="es-AR" sz="1100">
                <a:latin typeface="Aptos"/>
                <a:ea typeface="Noto Sans SC"/>
              </a:rPr>
              <a:t>https://www.huawei.com/cn/news/2025/7/pangu-opensource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机器人 significa robot. 人形机器人 significa robot humanoide (literalmente robot de forma humana). 仿生人 puede usarse en contextos de androides/biónica, aunque los usos varían: no confundir con el sistema operativo Android, llamado 安卓. El término apropiado para Unitree G1, Walker S2 y similares es 人形机器人.</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机器人 (jīqìrén) es el término general. 人形机器人 (rénxíng jīqìrén) se utiliza en documentación técnica china para robot humanoide. 仿生人 (fǎngshēngrén) evoca una persona artificial o androide y depende del contexto; no es una categoría estadística de IFR. En este curso, el androide funciona como símbolo visual de empresas que abarcan software, aceleradores, servicios y robots. La forma del cuerpo no determina por sí sola la autonomía, la función o el mercado.</a:t>
            </a:r>
          </a:p>
          <a:p>
            <a:r>
              <a:rPr lang="es-AR" sz="1100">
                <a:latin typeface="Aptos"/>
                <a:ea typeface="Noto Sans SC"/>
              </a:rPr>
              <a:t/>
            </a:r>
          </a:p>
          <a:p>
            <a:r>
              <a:rPr lang="es-AR" sz="1100">
                <a:latin typeface="Aptos"/>
                <a:ea typeface="Noto Sans SC"/>
              </a:rPr>
              <a:t>Guía docente</a:t>
            </a:r>
          </a:p>
          <a:p>
            <a:r>
              <a:rPr lang="es-AR" sz="1100">
                <a:latin typeface="Aptos"/>
                <a:ea typeface="Noto Sans SC"/>
              </a:rPr>
              <a:t>Pronunciar jīqìrén y rénxíng jīqìrén. Explicar que 人形 describe la forma humana y que 仿生人 tiene usos narrativos o contextuales. No es una clasificación estadística de robots.</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Standardization: robot definitions at ISO</a:t>
            </a:r>
          </a:p>
          <a:p>
            <a:r>
              <a:rPr lang="es-AR" sz="1100">
                <a:latin typeface="Aptos"/>
                <a:ea typeface="Noto Sans SC"/>
              </a:rPr>
              <a:t>https://ifr.org/standardisation</a:t>
            </a:r>
          </a:p>
          <a:p>
            <a:r>
              <a:rPr lang="es-AR" sz="1100">
                <a:latin typeface="Aptos"/>
                <a:ea typeface="Noto Sans SC"/>
              </a:rPr>
              <a:t/>
            </a:r>
          </a:p>
          <a:p>
            <a:r>
              <a:rPr lang="es-AR" sz="1100">
                <a:latin typeface="Aptos"/>
                <a:ea typeface="Noto Sans SC"/>
              </a:rPr>
              <a:t>人形机器人 G1: 产品参数</a:t>
            </a:r>
          </a:p>
          <a:p>
            <a:r>
              <a:rPr lang="es-AR" sz="1100">
                <a:latin typeface="Aptos"/>
                <a:ea typeface="Noto Sans SC"/>
              </a:rPr>
              <a:t>https://www.unitree.com/cn/g1/</a:t>
            </a:r>
          </a:p>
          <a:p>
            <a:r>
              <a:rPr lang="es-AR" sz="1100">
                <a:latin typeface="Aptos"/>
                <a:ea typeface="Noto Sans SC"/>
              </a:rPr>
              <a:t/>
            </a:r>
          </a:p>
          <a:p>
            <a:r>
              <a:rPr lang="es-AR" sz="1100">
                <a:latin typeface="Aptos"/>
                <a:ea typeface="Noto Sans SC"/>
              </a:rPr>
              <a:t>人形机器人创新发展指导意见</a:t>
            </a:r>
          </a:p>
          <a:p>
            <a:r>
              <a:rPr lang="es-AR" sz="1100">
                <a:latin typeface="Aptos"/>
                <a:ea typeface="Noto Sans SC"/>
              </a:rPr>
              <a:t>https://www.ncsti.gov.cn/zcfg/zcwj/202311/P020231103482413965397.pdf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Explicar que el estado da objetivos e incentivos, las empresas responden mediante rivalidad, experimentos, errores y comercialización; la infraestructura y los proveedores hacen posible producir y escalar. La causalidad no es automática: hay sobrecapacidad, fallas, dependencia tecnológica y diferencias sectoriales.</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
            </a:r>
          </a:p>
          <a:p>
            <a:r>
              <a:rPr lang="es-AR" sz="1100">
                <a:latin typeface="Aptos"/>
                <a:ea typeface="Noto Sans SC"/>
              </a:rPr>
              <a:t/>
            </a:r>
          </a:p>
          <a:p>
            <a:r>
              <a:rPr lang="es-AR" sz="1100">
                <a:latin typeface="Aptos"/>
                <a:ea typeface="Noto Sans SC"/>
              </a:rPr>
              <a:t>Guía docente</a:t>
            </a:r>
          </a:p>
          <a:p>
            <a:r>
              <a:rPr lang="es-AR" sz="1100">
                <a:latin typeface="Aptos"/>
                <a:ea typeface="Noto Sans SC"/>
              </a:rPr>
              <a:t>El diagrama es un marco analítico del curso, no una estimación causal. Una misma empresa puede cooperar con un gobierno local, competir con otras firmas y depender de proveedores extranjeros.</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人形机器人创新发展指导意见</a:t>
            </a:r>
          </a:p>
          <a:p>
            <a:r>
              <a:rPr lang="es-AR" sz="1100">
                <a:latin typeface="Aptos"/>
                <a:ea typeface="Noto Sans SC"/>
              </a:rPr>
              <a:t>https://www.ncsti.gov.cn/zcfg/zcwj/202311/P020231103482413965397.pdf</a:t>
            </a:r>
          </a:p>
          <a:p>
            <a:r>
              <a:rPr lang="es-AR" sz="1100">
                <a:latin typeface="Aptos"/>
                <a:ea typeface="Noto Sans SC"/>
              </a:rPr>
              <a:t/>
            </a:r>
          </a:p>
          <a:p>
            <a:r>
              <a:rPr lang="es-AR" sz="1100">
                <a:latin typeface="Aptos"/>
                <a:ea typeface="Noto Sans SC"/>
              </a:rPr>
              <a:t>ByteDance y Tsinghua AIR (2024). Joint Research Center on Scalable Intelligent Model Technology</a:t>
            </a:r>
          </a:p>
          <a:p>
            <a:r>
              <a:rPr lang="es-AR" sz="1100">
                <a:latin typeface="Aptos"/>
                <a:ea typeface="Noto Sans SC"/>
              </a:rPr>
              <a:t>https://seed.bytedance.com/en/blog/bytedance-and-tsinghua-air-establish-joint-research-center-to-advance-industry-academia-research-collaboration-on-large-models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Separar modelo fundacional, infraestructura computacional, distribución, productos y control físico. Los nombres son ejemplos ilustrativos; no significan que todos operen exclusivamente en una capa. Mostrar dependencias de chips, nube, SDK, datos y clientes. No confundir base abierta por pesos con código fuente totalmente abierto.</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Las cinco capas son un mapa funcional, no categorías empresariales exclusivas. Un proveedor puede desarrollar modelos, ofrecer cómputo e integrar aplicaciones a la vez. Ascend identifica cómputo y software asociado; Pangu identifica modelos de Huawei. Qwen y DeepSeek ilustran modelos fundacionales. La nube conecta capacidades con clientes y herramientas, pero la monetización exige resolver una necesidad concreta y cubrir costos. Para analizar una firma, preguntar qué desarrolla, qué compra, cómo distribuye su oferta y quién paga. En cada modelo con pesos accesibles se debe consultar la licencia concreta y distinguir pesos, código de inferencia, código de entrenamiento y datos. El módulo no atribuye autosuficiencia tecnológica a ninguna empresa.</a:t>
            </a:r>
          </a:p>
          <a:p>
            <a:r>
              <a:rPr lang="es-AR" sz="1100">
                <a:latin typeface="Aptos"/>
                <a:ea typeface="Noto Sans SC"/>
              </a:rPr>
              <a:t/>
            </a:r>
          </a:p>
          <a:p>
            <a:r>
              <a:rPr lang="es-AR" sz="1100">
                <a:latin typeface="Aptos"/>
                <a:ea typeface="Noto Sans SC"/>
              </a:rPr>
              <a:t>Guía docente</a:t>
            </a:r>
          </a:p>
          <a:p>
            <a:r>
              <a:rPr lang="es-AR" sz="1100">
                <a:latin typeface="Aptos"/>
                <a:ea typeface="Noto Sans SC"/>
              </a:rPr>
              <a:t>Recorrer una aplicación desde su cliente hasta el modelo, la nube y el acelerador. Diferenciar capacidades propias, compras a proveedores y vías de distribución. El código disponible, los pesos y los datos de entrenamiento requieren revisiones de licencia distintas.</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An Yang et al. (2025). Qwen3 Technical Report</a:t>
            </a:r>
          </a:p>
          <a:p>
            <a:r>
              <a:rPr lang="es-AR" sz="1100">
                <a:latin typeface="Aptos"/>
                <a:ea typeface="Noto Sans SC"/>
              </a:rPr>
              <a:t>https://arxiv.org/abs/2505.09388</a:t>
            </a:r>
          </a:p>
          <a:p>
            <a:r>
              <a:rPr lang="es-AR" sz="1100">
                <a:latin typeface="Aptos"/>
                <a:ea typeface="Noto Sans SC"/>
              </a:rPr>
              <a:t/>
            </a:r>
          </a:p>
          <a:p>
            <a:r>
              <a:rPr lang="es-AR" sz="1100">
                <a:latin typeface="Aptos"/>
                <a:ea typeface="Noto Sans SC"/>
              </a:rPr>
              <a:t>华为 (2025). 华为宣布开源盘古7B稠密和72B混合专家模型</a:t>
            </a:r>
          </a:p>
          <a:p>
            <a:r>
              <a:rPr lang="es-AR" sz="1100">
                <a:latin typeface="Aptos"/>
                <a:ea typeface="Noto Sans SC"/>
              </a:rPr>
              <a:t>https://www.huawei.com/cn/news/2025/7/pangu-opensource</a:t>
            </a:r>
          </a:p>
          <a:p>
            <a:r>
              <a:rPr lang="es-AR" sz="1100">
                <a:latin typeface="Aptos"/>
                <a:ea typeface="Noto Sans SC"/>
              </a:rPr>
              <a:t/>
            </a:r>
          </a:p>
          <a:p>
            <a:r>
              <a:rPr lang="es-AR" sz="1100">
                <a:latin typeface="Aptos"/>
                <a:ea typeface="Noto Sans SC"/>
              </a:rPr>
              <a:t>新松机器人: 产品与解决方案</a:t>
            </a:r>
          </a:p>
          <a:p>
            <a:r>
              <a:rPr lang="es-AR" sz="1100">
                <a:latin typeface="Aptos"/>
                <a:ea typeface="Noto Sans SC"/>
              </a:rPr>
              <a:t>https://www.siasun.com/</a:t>
            </a:r>
          </a:p>
          <a:p>
            <a:r>
              <a:rPr lang="es-AR" sz="1100">
                <a:latin typeface="Aptos"/>
                <a:ea typeface="Noto Sans SC"/>
              </a:rPr>
              <a:t/>
            </a:r>
          </a:p>
          <a:p>
            <a:r>
              <a:rPr lang="es-AR" sz="1100">
                <a:latin typeface="Aptos"/>
                <a:ea typeface="Noto Sans SC"/>
              </a:rPr>
              <a:t>工业自动化: 汇川技术产品</a:t>
            </a:r>
          </a:p>
          <a:p>
            <a:r>
              <a:rPr lang="es-AR" sz="1100">
                <a:latin typeface="Aptos"/>
                <a:ea typeface="Noto Sans SC"/>
              </a:rPr>
              <a:t>https://www.inovance.com/product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Comparar objetivos estratégicos de diversas empresas. DeepSeek se hizo conocido por razonamiento RL; Alibaba Qwen modelos multilingües y oferta abierta en variantes; ByteDance integra IA en plataformas; Huawei combina Ascend con modelos sectoriales. No dar una clasificación numérica sin benchmark concreto, fecha y metodología.</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El cuadro ofrece ejemplos y no un ranking ni una descripción exhaustiva del mercado a octubre de 2026. DeepSeek y Qwen tienen informes técnicos propios; GLM, Kimi y MiniMax también publican investigación sobre modelos y agentes. ByteDance combina el equipo Seed y productos como Doubao con colaboración académica, documentada en SIA Lab con Tsinghua AIR. Tencent enlaza Hunyuan, nube y herramientas de contenido y aplicaciones. Huawei articula Pangu con Ascend. Las etiquetas de la lámina resumen estrategias y permiten comparar capas de negocio. No implican que cada firma actúe en una sola capa ni prueban éxito económico. Ejercicio: elegir dos actores y distinguir laboratorio, modelo, API, aplicación y canal de distribución. Las métricas comerciales de comunicados deben presentarse como declaraciones de la empresa.</a:t>
            </a:r>
          </a:p>
          <a:p>
            <a:r>
              <a:rPr lang="es-AR" sz="1100">
                <a:latin typeface="Aptos"/>
                <a:ea typeface="Noto Sans SC"/>
              </a:rPr>
              <a:t/>
            </a:r>
          </a:p>
          <a:p>
            <a:r>
              <a:rPr lang="es-AR" sz="1100">
                <a:latin typeface="Aptos"/>
                <a:ea typeface="Noto Sans SC"/>
              </a:rPr>
              <a:t>Guía docente</a:t>
            </a:r>
          </a:p>
          <a:p>
            <a:r>
              <a:rPr lang="es-AR" sz="1100">
                <a:latin typeface="Aptos"/>
                <a:ea typeface="Noto Sans SC"/>
              </a:rPr>
              <a:t>Comparar dos firmas por laboratorio, familia de modelos, API, aplicación y canal de distribución. Los informes citados son casos fechados, no una lista de las versiones más recientes ni un ranking del mercado.</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DeepSeek-AI (2025). DeepSeek-R1: Incentivizing Reasoning Capability in LLMs via Reinforcement Learning</a:t>
            </a:r>
          </a:p>
          <a:p>
            <a:r>
              <a:rPr lang="es-AR" sz="1100">
                <a:latin typeface="Aptos"/>
                <a:ea typeface="Noto Sans SC"/>
              </a:rPr>
              <a:t>https://arxiv.org/abs/2501.12948v1</a:t>
            </a:r>
          </a:p>
          <a:p>
            <a:r>
              <a:rPr lang="es-AR" sz="1100">
                <a:latin typeface="Aptos"/>
                <a:ea typeface="Noto Sans SC"/>
              </a:rPr>
              <a:t/>
            </a:r>
          </a:p>
          <a:p>
            <a:r>
              <a:rPr lang="es-AR" sz="1100">
                <a:latin typeface="Aptos"/>
                <a:ea typeface="Noto Sans SC"/>
              </a:rPr>
              <a:t>An Yang et al. (2025). Qwen3 Technical Report</a:t>
            </a:r>
          </a:p>
          <a:p>
            <a:r>
              <a:rPr lang="es-AR" sz="1100">
                <a:latin typeface="Aptos"/>
                <a:ea typeface="Noto Sans SC"/>
              </a:rPr>
              <a:t>https://arxiv.org/abs/2505.09388</a:t>
            </a:r>
          </a:p>
          <a:p>
            <a:r>
              <a:rPr lang="es-AR" sz="1100">
                <a:latin typeface="Aptos"/>
                <a:ea typeface="Noto Sans SC"/>
              </a:rPr>
              <a:t/>
            </a:r>
          </a:p>
          <a:p>
            <a:r>
              <a:rPr lang="es-AR" sz="1100">
                <a:latin typeface="Aptos"/>
                <a:ea typeface="Noto Sans SC"/>
              </a:rPr>
              <a:t>ByteDance y Tsinghua AIR (2024). Joint Research Center on Scalable Intelligent Model Technology</a:t>
            </a:r>
          </a:p>
          <a:p>
            <a:r>
              <a:rPr lang="es-AR" sz="1100">
                <a:latin typeface="Aptos"/>
                <a:ea typeface="Noto Sans SC"/>
              </a:rPr>
              <a:t>https://seed.bytedance.com/en/blog/bytedance-and-tsinghua-air-establish-joint-research-center-to-advance-industry-academia-research-collaboration-on-large-models</a:t>
            </a:r>
          </a:p>
          <a:p>
            <a:r>
              <a:rPr lang="es-AR" sz="1100">
                <a:latin typeface="Aptos"/>
                <a:ea typeface="Noto Sans SC"/>
              </a:rPr>
              <a:t/>
            </a:r>
          </a:p>
          <a:p>
            <a:r>
              <a:rPr lang="es-AR" sz="1100">
                <a:latin typeface="Aptos"/>
                <a:ea typeface="Noto Sans SC"/>
              </a:rPr>
              <a:t>GLM-4.5 Team, Aohan Zeng et al. (2025). GLM-4.5: Agentic, Reasoning, and Coding (ARC) Foundation Models</a:t>
            </a:r>
          </a:p>
          <a:p>
            <a:r>
              <a:rPr lang="es-AR" sz="1100">
                <a:latin typeface="Aptos"/>
                <a:ea typeface="Noto Sans SC"/>
              </a:rPr>
              <a:t>https://arxiv.org/abs/2508.06471</a:t>
            </a:r>
          </a:p>
          <a:p>
            <a:r>
              <a:rPr lang="es-AR" sz="1100">
                <a:latin typeface="Aptos"/>
                <a:ea typeface="Noto Sans SC"/>
              </a:rPr>
              <a:t/>
            </a:r>
          </a:p>
          <a:p>
            <a:r>
              <a:rPr lang="es-AR" sz="1100">
                <a:latin typeface="Aptos"/>
                <a:ea typeface="Noto Sans SC"/>
              </a:rPr>
              <a:t>Tencent (2025). Global Rollout of Scenario-Based AI Capabilities</a:t>
            </a:r>
          </a:p>
          <a:p>
            <a:r>
              <a:rPr lang="es-AR" sz="1100">
                <a:latin typeface="Aptos"/>
                <a:ea typeface="Noto Sans SC"/>
              </a:rPr>
              <a:t>https://www.tencent.com/tencent-announces-global-rollout-of-scenario-based-ai-capabilities-to-accelerate-industrial-efficiency/</a:t>
            </a:r>
          </a:p>
          <a:p>
            <a:r>
              <a:rPr lang="es-AR" sz="1100">
                <a:latin typeface="Aptos"/>
                <a:ea typeface="Noto Sans SC"/>
              </a:rPr>
              <a:t/>
            </a:r>
          </a:p>
          <a:p>
            <a:r>
              <a:rPr lang="es-AR" sz="1100">
                <a:latin typeface="Aptos"/>
                <a:ea typeface="Noto Sans SC"/>
              </a:rPr>
              <a:t>Kimi Team (2025). Kimi K2: Open Agentic Intelligence</a:t>
            </a:r>
          </a:p>
          <a:p>
            <a:r>
              <a:rPr lang="es-AR" sz="1100">
                <a:latin typeface="Aptos"/>
                <a:ea typeface="Noto Sans SC"/>
              </a:rPr>
              <a:t>https://arxiv.org/abs/2507.20534</a:t>
            </a:r>
          </a:p>
          <a:p>
            <a:r>
              <a:rPr lang="es-AR" sz="1100">
                <a:latin typeface="Aptos"/>
                <a:ea typeface="Noto Sans SC"/>
              </a:rPr>
              <a:t/>
            </a:r>
          </a:p>
          <a:p>
            <a:r>
              <a:rPr lang="es-AR" sz="1100">
                <a:latin typeface="Aptos"/>
                <a:ea typeface="Noto Sans SC"/>
              </a:rPr>
              <a:t>MiniMax (2025). MiniMax-M1: Scaling Test-Time Compute Efficiently with Lightning Attention</a:t>
            </a:r>
          </a:p>
          <a:p>
            <a:r>
              <a:rPr lang="es-AR" sz="1100">
                <a:latin typeface="Aptos"/>
                <a:ea typeface="Noto Sans SC"/>
              </a:rPr>
              <a:t>https://arxiv.org/abs/2506.13585</a:t>
            </a:r>
          </a:p>
          <a:p>
            <a:r>
              <a:rPr lang="es-AR" sz="1100">
                <a:latin typeface="Aptos"/>
                <a:ea typeface="Noto Sans SC"/>
              </a:rPr>
              <a:t/>
            </a:r>
          </a:p>
          <a:p>
            <a:r>
              <a:rPr lang="es-AR" sz="1100">
                <a:latin typeface="Aptos"/>
                <a:ea typeface="Noto Sans SC"/>
              </a:rPr>
              <a:t>MiniMax. Modelos y productos multimodales, consulta 20 de octubre de 2026</a:t>
            </a:r>
          </a:p>
          <a:p>
            <a:r>
              <a:rPr lang="es-AR" sz="1100">
                <a:latin typeface="Aptos"/>
                <a:ea typeface="Noto Sans SC"/>
              </a:rPr>
              <a:t>https://www.minimax.io/</a:t>
            </a:r>
          </a:p>
          <a:p>
            <a:r>
              <a:rPr lang="es-AR" sz="1100">
                <a:latin typeface="Aptos"/>
                <a:ea typeface="Noto Sans SC"/>
              </a:rPr>
              <a:t/>
            </a:r>
          </a:p>
          <a:p>
            <a:r>
              <a:rPr lang="es-AR" sz="1100">
                <a:latin typeface="Aptos"/>
                <a:ea typeface="Noto Sans SC"/>
              </a:rPr>
              <a:t>华为 (2025). 华为宣布开源盘古7B稠密和72B混合专家模型</a:t>
            </a:r>
          </a:p>
          <a:p>
            <a:r>
              <a:rPr lang="es-AR" sz="1100">
                <a:latin typeface="Aptos"/>
                <a:ea typeface="Noto Sans SC"/>
              </a:rPr>
              <a:t>https://www.huawei.com/cn/news/2025/7/pangu-opensource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R1-Zero documenta capacidades emergentes por reinforcement learning en tareas de razonamiento, con limitaciones de legibilidad; R1 combina varias etapas. Qwen3 incorpora modelos densos y MoE. Ninguna afirmación implica que una familia supere otra en toda evaluación. Citar informes técnicos, conservar fechas y edición.</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Se comparan dos publicaciones de 2025 como casos del proceso de innovación, sin presentarlas como las versiones más recientes. DeepSeek-R1-Zero aplica RL a una base ya preentrenada sin una fase inicial de ajuste supervisado. R1 añade datos de arranque y etapas adicionales. La experiencia explora cómo diseñar recompensas y aprovechar modelos previos. El informe Qwen3 documenta modelos densos y MoE y decisiones sobre razonamiento y distribución. MoE significa que se activa una parte de los expertos por token; parámetros totales y activos no son equivalentes. Un puntaje debe acompañarse de tarea, versión y protocolo. La publicación de pesos facilita ciertos usos y replicaciones, pero no reproduce por sí sola todos los datos y costos de entrenamiento. Pregunta: ¿qué decisiones de investigación cambian la capacidad y cuáles cambian la adopción del producto?</a:t>
            </a:r>
          </a:p>
          <a:p>
            <a:r>
              <a:rPr lang="es-AR" sz="1100">
                <a:latin typeface="Aptos"/>
                <a:ea typeface="Noto Sans SC"/>
              </a:rPr>
              <a:t/>
            </a:r>
          </a:p>
          <a:p>
            <a:r>
              <a:rPr lang="es-AR" sz="1100">
                <a:latin typeface="Aptos"/>
                <a:ea typeface="Noto Sans SC"/>
              </a:rPr>
              <a:t>Guía docente</a:t>
            </a:r>
          </a:p>
          <a:p>
            <a:r>
              <a:rPr lang="es-AR" sz="1100">
                <a:latin typeface="Aptos"/>
                <a:ea typeface="Noto Sans SC"/>
              </a:rPr>
              <a:t>RL significa aprendizaje por refuerzo. En R1-Zero parte de una base ya preentrenada. MoE significa mezcla de expertos: un mecanismo de arquitectura, no una garantía automática de menor costo en toda configuración.</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DeepSeek-AI (2025). DeepSeek-R1: Incentivizing Reasoning Capability in LLMs via Reinforcement Learning</a:t>
            </a:r>
          </a:p>
          <a:p>
            <a:r>
              <a:rPr lang="es-AR" sz="1100">
                <a:latin typeface="Aptos"/>
                <a:ea typeface="Noto Sans SC"/>
              </a:rPr>
              <a:t>https://arxiv.org/abs/2501.12948v1</a:t>
            </a:r>
          </a:p>
          <a:p>
            <a:r>
              <a:rPr lang="es-AR" sz="1100">
                <a:latin typeface="Aptos"/>
                <a:ea typeface="Noto Sans SC"/>
              </a:rPr>
              <a:t/>
            </a:r>
          </a:p>
          <a:p>
            <a:r>
              <a:rPr lang="es-AR" sz="1100">
                <a:latin typeface="Aptos"/>
                <a:ea typeface="Noto Sans SC"/>
              </a:rPr>
              <a:t>An Yang et al. (2025). Qwen3 Technical Report</a:t>
            </a:r>
          </a:p>
          <a:p>
            <a:r>
              <a:rPr lang="es-AR" sz="1100">
                <a:latin typeface="Aptos"/>
                <a:ea typeface="Noto Sans SC"/>
              </a:rPr>
              <a:t>https://arxiv.org/abs/2505.09388</a:t>
            </a:r>
          </a:p>
          <a:p>
            <a:r>
              <a:rPr lang="es-AR" sz="1100">
                <a:latin typeface="Aptos"/>
                <a:ea typeface="Noto Sans SC"/>
              </a:rPr>
              <a:t/>
            </a:r>
          </a:p>
          <a:p>
            <a:r>
              <a:rPr lang="es-AR" sz="1100">
                <a:latin typeface="Aptos"/>
                <a:ea typeface="Noto Sans SC"/>
              </a:rPr>
              <a:t>DeepSeek-AI et al. (2025). DeepSeek-R1 incentivizes reasoning in LLMs through reinforcement learning. Nature 645, 633–638</a:t>
            </a:r>
          </a:p>
          <a:p>
            <a:r>
              <a:rPr lang="es-AR" sz="1100">
                <a:latin typeface="Aptos"/>
                <a:ea typeface="Noto Sans SC"/>
              </a:rPr>
              <a:t>https://doi.org/10.1038/s41586-025-09422-z</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World Robotics 2026 informa unas 354 mil instalaciones industriales en China durante 2025, 59% de nuevas instalaciones mundiales y 55% del mercado doméstico abastecido por empresas chinas. El parque acumulado y la cantidad de humanoides son indicadores distintos. No atribuir este flujo a Unitree, UBTECH o robots humanoides.</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Los tres indicadores describen el flujo de instalaciones industriales de 2025 publicado por IFR el 24/09/2026: aproximadamente 354.000 en China, 59% del total mundial y 55% de cuota de proveedores nacionales dentro de China. Los dos porcentajes tienen denominadores distintos. No representan parque acumulado, número de humanoides o ventas de un fabricante particular. Para analizar política industrial, separar la estadística observada de las interpretaciones causales o expectativas que acompañan el comunicado.</a:t>
            </a:r>
          </a:p>
          <a:p>
            <a:r>
              <a:rPr lang="es-AR" sz="1100">
                <a:latin typeface="Aptos"/>
                <a:ea typeface="Noto Sans SC"/>
              </a:rPr>
              <a:t/>
            </a:r>
          </a:p>
          <a:p>
            <a:r>
              <a:rPr lang="es-AR" sz="1100">
                <a:latin typeface="Aptos"/>
                <a:ea typeface="Noto Sans SC"/>
              </a:rPr>
              <a:t>Guía docente</a:t>
            </a:r>
          </a:p>
          <a:p>
            <a:r>
              <a:rPr lang="es-AR" sz="1100">
                <a:latin typeface="Aptos"/>
                <a:ea typeface="Noto Sans SC"/>
              </a:rPr>
              <a:t>Los porcentajes tienen denominadores distintos: 59 % compara China con el mundo, mientras 55 % compara proveedores nacionales con todas las instalaciones dentro de China. Las tres cifras corresponden a 2025 y su publicación a 2026.</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China Installs 59 Percent of World's Industrial Robots</a:t>
            </a:r>
          </a:p>
          <a:p>
            <a:r>
              <a:rPr lang="es-AR" sz="1100">
                <a:latin typeface="Aptos"/>
                <a:ea typeface="Noto Sans SC"/>
              </a:rPr>
              <a:t>https://ifr.org/downloads/press_docs/EN-2026-SEP-24-IFR_Press_Release_WR-CHINA.pdf</a:t>
            </a:r>
          </a:p>
          <a:p>
            <a:r>
              <a:rPr lang="es-AR" sz="1100">
                <a:latin typeface="Aptos"/>
                <a:ea typeface="Noto Sans SC"/>
              </a:rPr>
              <a:t/>
            </a:r>
          </a:p>
          <a:p>
            <a:r>
              <a:rPr lang="es-AR" sz="1100">
                <a:latin typeface="Aptos"/>
                <a:ea typeface="Noto Sans SC"/>
              </a:rPr>
              <a:t>Five Million Robots now Operate in Factories Globally</a:t>
            </a:r>
          </a:p>
          <a:p>
            <a:r>
              <a:rPr lang="es-AR" sz="1100">
                <a:latin typeface="Aptos"/>
                <a:ea typeface="Noto Sans SC"/>
              </a:rPr>
              <a:t>https://ifr.org/ifr-press-releases/news/five-million-robots-now-operate-in-factories-globally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Los indicadores de robots industriales IFR son más comparables; unidades de robots de servicios, cuadrúpedos y humanoides son heterogéneas. Algunos robots móviles se comercializan por flota y servicio. No inferir autonomía general desde locomoción o del video de demostración.</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Las cuatro familias ayudan a comparar aplicaciones, pero no constituyen una taxonomía ISO excluyente. Industrial alude a la aplicación y la manipulación; móvil, al desplazamiento; cuadrúpedo o humanoide, a la morfología. Un manipulador industrial puede instalarse sobre una base móvil. Galbot G1 ilustra manipulación móvil con ruedas, mientras que Fourier GR-3 expresa una orientación a la interacción. Comparar unidades requiere igualar período, función, modalidad de entrega y criterios de seguridad.</a:t>
            </a:r>
          </a:p>
          <a:p>
            <a:r>
              <a:rPr lang="es-AR" sz="1100">
                <a:latin typeface="Aptos"/>
                <a:ea typeface="Noto Sans SC"/>
              </a:rPr>
              <a:t/>
            </a:r>
          </a:p>
          <a:p>
            <a:r>
              <a:rPr lang="es-AR" sz="1100">
                <a:latin typeface="Aptos"/>
                <a:ea typeface="Noto Sans SC"/>
              </a:rPr>
              <a:t>Guía docente</a:t>
            </a:r>
          </a:p>
          <a:p>
            <a:r>
              <a:rPr lang="es-AR" sz="1100">
                <a:latin typeface="Aptos"/>
                <a:ea typeface="Noto Sans SC"/>
              </a:rPr>
              <a:t>Aplicación industrial, base móvil y morfología son ejes que pueden superponerse. Un manipulador industrial puede estar montado sobre una base móvil. Las cuatro agrupaciones son didácticas, no clases ISO mutuamente excluyentes.</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Standardization: robot definitions at ISO</a:t>
            </a:r>
          </a:p>
          <a:p>
            <a:r>
              <a:rPr lang="es-AR" sz="1100">
                <a:latin typeface="Aptos"/>
                <a:ea typeface="Noto Sans SC"/>
              </a:rPr>
              <a:t>https://ifr.org/standardisation</a:t>
            </a:r>
          </a:p>
          <a:p>
            <a:r>
              <a:rPr lang="es-AR" sz="1100">
                <a:latin typeface="Aptos"/>
                <a:ea typeface="Noto Sans SC"/>
              </a:rPr>
              <a:t/>
            </a:r>
          </a:p>
          <a:p>
            <a:r>
              <a:rPr lang="es-AR" sz="1100">
                <a:latin typeface="Aptos"/>
                <a:ea typeface="Noto Sans SC"/>
              </a:rPr>
              <a:t>新松机器人: 产品与解决方案</a:t>
            </a:r>
          </a:p>
          <a:p>
            <a:r>
              <a:rPr lang="es-AR" sz="1100">
                <a:latin typeface="Aptos"/>
                <a:ea typeface="Noto Sans SC"/>
              </a:rPr>
              <a:t>https://www.siasun.com/</a:t>
            </a:r>
          </a:p>
          <a:p>
            <a:r>
              <a:rPr lang="es-AR" sz="1100">
                <a:latin typeface="Aptos"/>
                <a:ea typeface="Noto Sans SC"/>
              </a:rPr>
              <a:t/>
            </a:r>
          </a:p>
          <a:p>
            <a:r>
              <a:rPr lang="es-AR" sz="1100">
                <a:latin typeface="Aptos"/>
                <a:ea typeface="Noto Sans SC"/>
              </a:rPr>
              <a:t>Galbot G1: 可泛化操作的具身大模型机器人</a:t>
            </a:r>
          </a:p>
          <a:p>
            <a:r>
              <a:rPr lang="es-AR" sz="1100">
                <a:latin typeface="Aptos"/>
                <a:ea typeface="Noto Sans SC"/>
              </a:rPr>
              <a:t>https://www.galbot.com/g1/</a:t>
            </a:r>
          </a:p>
          <a:p>
            <a:r>
              <a:rPr lang="es-AR" sz="1100">
                <a:latin typeface="Aptos"/>
                <a:ea typeface="Noto Sans SC"/>
              </a:rPr>
              <a:t/>
            </a:r>
          </a:p>
          <a:p>
            <a:r>
              <a:rPr lang="es-AR" sz="1100">
                <a:latin typeface="Aptos"/>
                <a:ea typeface="Noto Sans SC"/>
              </a:rPr>
              <a:t>Fourier GR-3: Robot Overview</a:t>
            </a:r>
          </a:p>
          <a:p>
            <a:r>
              <a:rPr lang="es-AR" sz="1100">
                <a:latin typeface="Aptos"/>
                <a:ea typeface="Noto Sans SC"/>
              </a:rPr>
              <a:t>https://support.fftai.com/en/gr3/getting-started/general-information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Introducir la diferencia entre predecir secuencias digitales y actuar con sensores, fuerza, equilibrio, torques, latencia y riesgos físicos. Los LLM pueden apoyar planificación semántica, pero no reemplazan el control motor y la verificación de seguridad.</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La interacción física introduce observaciones incompletas, latencias y consecuencias materiales. Un robot debe estimar su situación y ejecutar acciones bajo límites de movimiento, fuerza, estabilidad y espacio. El modelo que entiende una instrucción puede proponer una tarea, mientras otros componentes realizan trayectorias y correcciones. Una salida verbal plausible no prueba que una pieza pueda agarrarse sin colisión. Para evaluar el sistema se deben definir tarea, objeto, entorno y asistencia humana. Esta lámina es una comparación didáctica, no una afirmación de que toda arquitectura robótica tenga los mismos módulos. La investigación VLA aporta una vía para relacionar instrucciones con control visuomotor, con evaluaciones delimitadas.</a:t>
            </a:r>
          </a:p>
          <a:p>
            <a:r>
              <a:rPr lang="es-AR" sz="1100">
                <a:latin typeface="Aptos"/>
                <a:ea typeface="Noto Sans SC"/>
              </a:rPr>
              <a:t/>
            </a:r>
          </a:p>
          <a:p>
            <a:r>
              <a:rPr lang="es-AR" sz="1100">
                <a:latin typeface="Aptos"/>
                <a:ea typeface="Noto Sans SC"/>
              </a:rPr>
              <a:t>Guía docente</a:t>
            </a:r>
          </a:p>
          <a:p>
            <a:r>
              <a:rPr lang="es-AR" sz="1100">
                <a:latin typeface="Aptos"/>
                <a:ea typeface="Noto Sans SC"/>
              </a:rPr>
              <a:t>Usar el ejemplo de tomar una pieza resbaladiza. Una instrucción verbal puede definir la meta, pero el robot necesita estimación del estado, control de fuerzas, límites mecánicos y respuesta a fallos.</a:t>
            </a:r>
          </a:p>
          <a:p>
            <a:r>
              <a:rPr lang="es-AR" sz="1100">
                <a:latin typeface="Aptos"/>
                <a:ea typeface="Noto Sans SC"/>
              </a:rPr>
              <a:t/>
            </a:r>
          </a:p>
          <a:p>
            <a:r>
              <a:rPr lang="es-AR" sz="1100">
                <a:latin typeface="Aptos"/>
                <a:ea typeface="Noto Sans SC"/>
              </a:rPr>
              <a:t>Ilustración: escena conceptual generada con IA. No representa un producto, una empresa ni un despliegue real.</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Moo Jin Kim et al. (2024). OpenVLA: An Open-Source Vision-Language-Action Model</a:t>
            </a:r>
          </a:p>
          <a:p>
            <a:r>
              <a:rPr lang="es-AR" sz="1100">
                <a:latin typeface="Aptos"/>
                <a:ea typeface="Noto Sans SC"/>
              </a:rPr>
              <a:t>https://arxiv.org/abs/2406.09246</a:t>
            </a:r>
          </a:p>
          <a:p>
            <a:r>
              <a:rPr lang="es-AR" sz="1100">
                <a:latin typeface="Aptos"/>
                <a:ea typeface="Noto Sans SC"/>
              </a:rPr>
              <a:t/>
            </a:r>
          </a:p>
          <a:p>
            <a:r>
              <a:rPr lang="es-AR" sz="1100">
                <a:latin typeface="Aptos"/>
                <a:ea typeface="Noto Sans SC"/>
              </a:rPr>
              <a:t>Songming Liu et al. (2024/2025). RDT-1B: a Diffusion Foundation Model for Bimanual Manipulation. ICLR 2025</a:t>
            </a:r>
          </a:p>
          <a:p>
            <a:r>
              <a:rPr lang="es-AR" sz="1100">
                <a:latin typeface="Aptos"/>
                <a:ea typeface="Noto Sans SC"/>
              </a:rPr>
              <a:t>https://proceedings.iclr.cc/paper_files/paper/2025/hash/49f80e4d2471ad4f2edf4f5f1ab62339-Abstract-Conference.html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Unitree G1 es una plataforma destacada por movilidad y experimentación; UBTECH Walker S2 incorpora batería intercambiable y flujos fabriles; AgiBot anuncia mayor escala manufacturera; XPENG desarrolla el humanoide IRON. Estos ejemplos deben leerse según evidencia disponible, sin concluir que todos resuelven tareas generales de forma autónoma.</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Los cuatro casos no agotan el sector. Unitree, UBTECH, AGIBOT y XPENG representan estrategias diferentes; Galbot y Fourier amplían el análisis a manipulación móvil e interacción. El 08/09/2026 XPENG anunció una línea de IRON y proyectó producción masiva para finales de 2026 y entregas para 2027. Al corte del módulo, esos planes siguen siendo futuros. La comparación debe preguntar por tareas, clientes, fallas, costos y condiciones de operación, sin convertir nombres de productos en un ranking de autonomía.</a:t>
            </a:r>
          </a:p>
          <a:p>
            <a:r>
              <a:rPr lang="es-AR" sz="1100">
                <a:latin typeface="Aptos"/>
                <a:ea typeface="Noto Sans SC"/>
              </a:rPr>
              <a:t/>
            </a:r>
          </a:p>
          <a:p>
            <a:r>
              <a:rPr lang="es-AR" sz="1100">
                <a:latin typeface="Aptos"/>
                <a:ea typeface="Noto Sans SC"/>
              </a:rPr>
              <a:t>Guía docente</a:t>
            </a:r>
          </a:p>
          <a:p>
            <a:r>
              <a:rPr lang="es-AR" sz="1100">
                <a:latin typeface="Aptos"/>
                <a:ea typeface="Noto Sans SC"/>
              </a:rPr>
              <a:t>Los cuatro casos no agotan el sector. Galbot ilustra manipulación con base de ruedas y Fourier otra orientación hacia interacción y acompañamiento. La forma comercial del producto no acredita autonomía general ni eficacia en todos los entornos.</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Unitree G1: official specifications</a:t>
            </a:r>
          </a:p>
          <a:p>
            <a:r>
              <a:rPr lang="es-AR" sz="1100">
                <a:latin typeface="Aptos"/>
                <a:ea typeface="Noto Sans SC"/>
              </a:rPr>
              <a:t>https://www.unitree.com/g1/</a:t>
            </a:r>
          </a:p>
          <a:p>
            <a:r>
              <a:rPr lang="es-AR" sz="1100">
                <a:latin typeface="Aptos"/>
                <a:ea typeface="Noto Sans SC"/>
              </a:rPr>
              <a:t/>
            </a:r>
          </a:p>
          <a:p>
            <a:r>
              <a:rPr lang="es-AR" sz="1100">
                <a:latin typeface="Aptos"/>
                <a:ea typeface="Noto Sans SC"/>
              </a:rPr>
              <a:t>UBTECH Walker S2: Autonomous Battery Swapping</a:t>
            </a:r>
          </a:p>
          <a:p>
            <a:r>
              <a:rPr lang="es-AR" sz="1100">
                <a:latin typeface="Aptos"/>
                <a:ea typeface="Noto Sans SC"/>
              </a:rPr>
              <a:t>https://www.ubtrobot.com/en/humanoid/products/walker-s2</a:t>
            </a:r>
          </a:p>
          <a:p>
            <a:r>
              <a:rPr lang="es-AR" sz="1100">
                <a:latin typeface="Aptos"/>
                <a:ea typeface="Noto Sans SC"/>
              </a:rPr>
              <a:t/>
            </a:r>
          </a:p>
          <a:p>
            <a:r>
              <a:rPr lang="es-AR" sz="1100">
                <a:latin typeface="Aptos"/>
                <a:ea typeface="Noto Sans SC"/>
              </a:rPr>
              <a:t>AGIBOT's 15,000th Robot Rolls Off the Production Line</a:t>
            </a:r>
          </a:p>
          <a:p>
            <a:r>
              <a:rPr lang="es-AR" sz="1100">
                <a:latin typeface="Aptos"/>
                <a:ea typeface="Noto Sans SC"/>
              </a:rPr>
              <a:t>https://www.agibot.com/article/231/detail/82.html</a:t>
            </a:r>
          </a:p>
          <a:p>
            <a:r>
              <a:rPr lang="es-AR" sz="1100">
                <a:latin typeface="Aptos"/>
                <a:ea typeface="Noto Sans SC"/>
              </a:rPr>
              <a:t/>
            </a:r>
          </a:p>
          <a:p>
            <a:r>
              <a:rPr lang="es-AR" sz="1100">
                <a:latin typeface="Aptos"/>
                <a:ea typeface="Noto Sans SC"/>
              </a:rPr>
              <a:t>IRON rolls off XPENG's new production line</a:t>
            </a:r>
          </a:p>
          <a:p>
            <a:r>
              <a:rPr lang="es-AR" sz="1100">
                <a:latin typeface="Aptos"/>
                <a:ea typeface="Noto Sans SC"/>
              </a:rPr>
              <a:t>https://www.xpeng.com/news/01a080371029a057bc8e8a02a2c6012b</a:t>
            </a:r>
          </a:p>
          <a:p>
            <a:r>
              <a:rPr lang="es-AR" sz="1100">
                <a:latin typeface="Aptos"/>
                <a:ea typeface="Noto Sans SC"/>
              </a:rPr>
              <a:t/>
            </a:r>
          </a:p>
          <a:p>
            <a:r>
              <a:rPr lang="es-AR" sz="1100">
                <a:latin typeface="Aptos"/>
                <a:ea typeface="Noto Sans SC"/>
              </a:rPr>
              <a:t>Galbot G1: 可泛化操作的具身大模型机器人</a:t>
            </a:r>
          </a:p>
          <a:p>
            <a:r>
              <a:rPr lang="es-AR" sz="1100">
                <a:latin typeface="Aptos"/>
                <a:ea typeface="Noto Sans SC"/>
              </a:rPr>
              <a:t>https://www.galbot.com/g1/</a:t>
            </a:r>
          </a:p>
          <a:p>
            <a:r>
              <a:rPr lang="es-AR" sz="1100">
                <a:latin typeface="Aptos"/>
                <a:ea typeface="Noto Sans SC"/>
              </a:rPr>
              <a:t/>
            </a:r>
          </a:p>
          <a:p>
            <a:r>
              <a:rPr lang="es-AR" sz="1100">
                <a:latin typeface="Aptos"/>
                <a:ea typeface="Noto Sans SC"/>
              </a:rPr>
              <a:t>Fourier GR-3: Robot Overview</a:t>
            </a:r>
          </a:p>
          <a:p>
            <a:r>
              <a:rPr lang="es-AR" sz="1100">
                <a:latin typeface="Aptos"/>
                <a:ea typeface="Noto Sans SC"/>
              </a:rPr>
              <a:t>https://support.fftai.com/en/gr3/getting-started/general-information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La ficha de Unitree describe G1 como un robot humanoide de aproximadamente 132 cm y 35 kg, con 23 a 43 grados de libertad según versión. La plataforma destaca locomoción y capacidades para investigación. Explicar por qué equilibrio dinámico y tareas de manipulación fina son desafíos diferentes: dedos, tacto, objeto, fricción, tolerancias, tiempos de ciclo.</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La ficha distingue G1 de G1 EDU: 23 frente a 23–43 grados de libertad según opciones. La altura es 1320 mm y el peso aproximado es 35 kg; el EDU puede pesar más. Son valores de configuración comercial. Las capacidades de las demostraciones no equivalen a todas las funciones incluidas en el producto. Unitree advierte que algunas siguen en desarrollo y prueba. Para estudiar manipulación, pedir precisión, tolerancias, tipo de objeto, rozamiento, tiempo de ciclo y registro de intervenciones humanas.</a:t>
            </a:r>
          </a:p>
          <a:p>
            <a:r>
              <a:rPr lang="es-AR" sz="1100">
                <a:latin typeface="Aptos"/>
                <a:ea typeface="Noto Sans SC"/>
              </a:rPr>
              <a:t/>
            </a:r>
          </a:p>
          <a:p>
            <a:r>
              <a:rPr lang="es-AR" sz="1100">
                <a:latin typeface="Aptos"/>
                <a:ea typeface="Noto Sans SC"/>
              </a:rPr>
              <a:t>Guía docente</a:t>
            </a:r>
          </a:p>
          <a:p>
            <a:r>
              <a:rPr lang="es-AR" sz="1100">
                <a:latin typeface="Aptos"/>
                <a:ea typeface="Noto Sans SC"/>
              </a:rPr>
              <a:t>La imagen final corresponde a un recurso oficial del G1, con derechos del fabricante. G1 base: 23 grados de libertad y aproximadamente 35 kg con batería. G1 EDU: 23–43 grados y aproximadamente 35 kg o más según configuración. La altura anunciada es 132 cm. La ficha advierte sobre funciones de muestra aún en desarrollo.</a:t>
            </a:r>
          </a:p>
          <a:p>
            <a:r>
              <a:rPr lang="es-AR" sz="1100">
                <a:latin typeface="Aptos"/>
                <a:ea typeface="Noto Sans SC"/>
              </a:rPr>
              <a:t/>
            </a:r>
          </a:p>
          <a:p>
            <a:r>
              <a:rPr lang="es-AR" sz="1100">
                <a:latin typeface="Aptos"/>
                <a:ea typeface="Noto Sans SC"/>
              </a:rPr>
              <a:t>Imagen: Unitree Robotics. Recurso de producto obtenido de su ficha oficial G1. Derechos del fabricante. El recurso no queda cubierto por la licencia CC BY del texto docente.</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Unitree G1: official specifications</a:t>
            </a:r>
          </a:p>
          <a:p>
            <a:r>
              <a:rPr lang="es-AR" sz="1100">
                <a:latin typeface="Aptos"/>
                <a:ea typeface="Noto Sans SC"/>
              </a:rPr>
              <a:t>https://www.unitree.com/g1/</a:t>
            </a:r>
          </a:p>
          <a:p>
            <a:r>
              <a:rPr lang="es-AR" sz="1100">
                <a:latin typeface="Aptos"/>
                <a:ea typeface="Noto Sans SC"/>
              </a:rPr>
              <a:t/>
            </a:r>
          </a:p>
          <a:p>
            <a:r>
              <a:rPr lang="es-AR" sz="1100">
                <a:latin typeface="Aptos"/>
                <a:ea typeface="Noto Sans SC"/>
              </a:rPr>
              <a:t>人形机器人 G1: 产品参数</a:t>
            </a:r>
          </a:p>
          <a:p>
            <a:r>
              <a:rPr lang="es-AR" sz="1100">
                <a:latin typeface="Aptos"/>
                <a:ea typeface="Noto Sans SC"/>
              </a:rPr>
              <a:t>https://www.unitree.com/cn/g1/</a:t>
            </a:r>
          </a:p>
          <a:p>
            <a:r>
              <a:rPr lang="es-AR" sz="1100">
                <a:latin typeface="Aptos"/>
                <a:ea typeface="Noto Sans SC"/>
              </a:rPr>
              <a:t/>
            </a:r>
          </a:p>
          <a:p>
            <a:r>
              <a:rPr lang="es-AR" sz="1100">
                <a:latin typeface="Aptos"/>
                <a:ea typeface="Noto Sans SC"/>
              </a:rPr>
              <a:t>Unitree Robotics: imagen oficial del humanoide G1</a:t>
            </a:r>
          </a:p>
          <a:p>
            <a:r>
              <a:rPr lang="es-AR" sz="1100">
                <a:latin typeface="Aptos"/>
                <a:ea typeface="Noto Sans SC"/>
              </a:rPr>
              <a:t>https://www.unitree.com/g1/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UBTECH presenta Walker S2 con tecnología de cambio autónomo de batería en unos tres minutos, capacidad de manipulación anunciada de hasta 15 kg y visión estéreo binocular RGB. Son afirmaciones de producto de la empresa y deben diferenciarse de estudios independientes de disponibilidad, número de intervenciones, seguridad y costo. Su informe anual también describe la evolución del robot.</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UBTECH declara para Walker S2 un intercambio autónomo de batería dentro de tres minutos y manipulación de carga de hasta 15 kg. La ficha industrial describe visión estéreo binocular RGB y no afirma 15 kg por cada brazo. El manual de la variante EDU especifica 15 kg como carga máxima conjunta de ambos brazos; no trasladar las demás especificaciones de esa variante al modelo industrial. La gestión energética resuelve una restricción operativa, mientras que fiabilidad, mantenimiento, seguridad y supervisión determinan la disponibilidad del sistema completo.</a:t>
            </a:r>
          </a:p>
          <a:p>
            <a:r>
              <a:rPr lang="es-AR" sz="1100">
                <a:latin typeface="Aptos"/>
                <a:ea typeface="Noto Sans SC"/>
              </a:rPr>
              <a:t/>
            </a:r>
          </a:p>
          <a:p>
            <a:r>
              <a:rPr lang="es-AR" sz="1100">
                <a:latin typeface="Aptos"/>
                <a:ea typeface="Noto Sans SC"/>
              </a:rPr>
              <a:t>Guía docente</a:t>
            </a:r>
          </a:p>
          <a:p>
            <a:r>
              <a:rPr lang="es-AR" sz="1100">
                <a:latin typeface="Aptos"/>
                <a:ea typeface="Noto Sans SC"/>
              </a:rPr>
              <a:t>La ficha industrial declara hasta 15 kg de carga manipulada y cambio de batería dentro de tres minutos. No convertir esa cifra en 15 kg por brazo. La capacidad y el procedimiento deben cotejarse con la versión del producto. Estas prestaciones declaradas no prueban productividad sostenida durante 24 horas.</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UBTECH Walker S2: Autonomous Battery Swapping</a:t>
            </a:r>
          </a:p>
          <a:p>
            <a:r>
              <a:rPr lang="es-AR" sz="1100">
                <a:latin typeface="Aptos"/>
                <a:ea typeface="Noto Sans SC"/>
              </a:rPr>
              <a:t>https://www.ubtrobot.com/en/humanoid/products/walker-s2</a:t>
            </a:r>
          </a:p>
          <a:p>
            <a:r>
              <a:rPr lang="es-AR" sz="1100">
                <a:latin typeface="Aptos"/>
                <a:ea typeface="Noto Sans SC"/>
              </a:rPr>
              <a:t/>
            </a:r>
          </a:p>
          <a:p>
            <a:r>
              <a:rPr lang="es-AR" sz="1100">
                <a:latin typeface="Aptos"/>
                <a:ea typeface="Noto Sans SC"/>
              </a:rPr>
              <a:t>Walker S2: 工业人形机器人</a:t>
            </a:r>
          </a:p>
          <a:p>
            <a:r>
              <a:rPr lang="es-AR" sz="1100">
                <a:latin typeface="Aptos"/>
                <a:ea typeface="Noto Sans SC"/>
              </a:rPr>
              <a:t>https://www.ubtrobot.com/cn/humanoid/products/walker-s2</a:t>
            </a:r>
          </a:p>
          <a:p>
            <a:r>
              <a:rPr lang="es-AR" sz="1100">
                <a:latin typeface="Aptos"/>
                <a:ea typeface="Noto Sans SC"/>
              </a:rPr>
              <a:t/>
            </a:r>
          </a:p>
          <a:p>
            <a:r>
              <a:rPr lang="es-AR" sz="1100">
                <a:latin typeface="Aptos"/>
                <a:ea typeface="Noto Sans SC"/>
              </a:rPr>
              <a:t>UBTECH Robotics: Annual Report 2025</a:t>
            </a:r>
          </a:p>
          <a:p>
            <a:r>
              <a:rPr lang="es-AR" sz="1100">
                <a:latin typeface="Aptos"/>
                <a:ea typeface="Noto Sans SC"/>
              </a:rPr>
              <a:t>https://owebsite-cdn.ubtrobot.com/resources/file/2026/04/21/797179114676293.pdf</a:t>
            </a:r>
          </a:p>
          <a:p>
            <a:r>
              <a:rPr lang="es-AR" sz="1100">
                <a:latin typeface="Aptos"/>
                <a:ea typeface="Noto Sans SC"/>
              </a:rPr>
              <a:t/>
            </a:r>
          </a:p>
          <a:p>
            <a:r>
              <a:rPr lang="es-AR" sz="1100">
                <a:latin typeface="Aptos"/>
                <a:ea typeface="Noto Sans SC"/>
              </a:rPr>
              <a:t>Walker S2 EDU: 5. 产品组成</a:t>
            </a:r>
          </a:p>
          <a:p>
            <a:r>
              <a:rPr lang="es-AR" sz="1100">
                <a:latin typeface="Aptos"/>
                <a:ea typeface="Noto Sans SC"/>
              </a:rPr>
              <a:t>https://docs.ubtrobot.com/walker-s2-edu/docs/user-guide/6/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La empresa anunció que su unidad robot número 15.000 salió de producción el 28 de junio de 2026. También informó resultados de una transmisión de prueba fabril de varios días. Es necesario distinguir un anuncio empresarial de producción acumulada, ventas, aceptación por clientes, disponibilidad productiva y costos reales. Las métricas declaradas de pruebas no son validación independiente.</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AGIBOT anunció el 28/06/2026 que un G2 fue su unidad número 15.000. Es un hito acumulado de fabricación de su portafolio, que no equivale a 15.000 G2, ventas cobradas o robots instalados operativamente. El comunicado del 29/06 describe seis días de transmisión en Longcheer, Nanchang, con métricas de éxito declaradas por la empresa. Conviene conservar la atribución y exigir diseño de prueba, denominador, paradas y supervisión para comparar con la automatización convencional.</a:t>
            </a:r>
          </a:p>
          <a:p>
            <a:r>
              <a:rPr lang="es-AR" sz="1100">
                <a:latin typeface="Aptos"/>
                <a:ea typeface="Noto Sans SC"/>
              </a:rPr>
              <a:t/>
            </a:r>
          </a:p>
          <a:p>
            <a:r>
              <a:rPr lang="es-AR" sz="1100">
                <a:latin typeface="Aptos"/>
                <a:ea typeface="Noto Sans SC"/>
              </a:rPr>
              <a:t>Guía docente</a:t>
            </a:r>
          </a:p>
          <a:p>
            <a:r>
              <a:rPr lang="es-AR" sz="1100">
                <a:latin typeface="Aptos"/>
                <a:ea typeface="Noto Sans SC"/>
              </a:rPr>
              <a:t>El hito corresponde a la unidad acumulada número 15.000 del fabricante y su portafolio. La unidad del anuncio es un G2, pero ello no significa 15.000 G2, ni 15.000 bípedos, ni ventas cobradas o parque operativo auditado. La transmisión de seis días se describe en un comunicado del 29 de junio de 2026 y sigue siendo una declaración empresarial.</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AGIBOT's 15,000th Robot Rolls Off the Production Line</a:t>
            </a:r>
          </a:p>
          <a:p>
            <a:r>
              <a:rPr lang="es-AR" sz="1100">
                <a:latin typeface="Aptos"/>
                <a:ea typeface="Noto Sans SC"/>
              </a:rPr>
              <a:t>https://www.agibot.com/article/231/detail/82.html</a:t>
            </a:r>
          </a:p>
          <a:p>
            <a:r>
              <a:rPr lang="es-AR" sz="1100">
                <a:latin typeface="Aptos"/>
                <a:ea typeface="Noto Sans SC"/>
              </a:rPr>
              <a:t/>
            </a:r>
          </a:p>
          <a:p>
            <a:r>
              <a:rPr lang="es-AR" sz="1100">
                <a:latin typeface="Aptos"/>
                <a:ea typeface="Noto Sans SC"/>
              </a:rPr>
              <a:t>AGIBOT Concludes Six-Day Real Factory Livestream</a:t>
            </a:r>
          </a:p>
          <a:p>
            <a:r>
              <a:rPr lang="es-AR" sz="1100">
                <a:latin typeface="Aptos"/>
                <a:ea typeface="Noto Sans SC"/>
              </a:rPr>
              <a:t>https://www.agibot.com/article/231/detail/83.html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Los robots no operan únicamente con un modelo lingüístico. La pila de control incluye sensores de visión y propiocepción, estimación del estado, planificación de tareas, planificación motora, control en lazo cerrado y actuadores mecánicos. La conectividad, la seguridad funcional y la supervisión humana atraviesan todas las capas.</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Las cinco capas descomponen funciones para estudiarlas. No describen un único diseño obligatorio. La percepción integra observaciones y estima aspectos relevantes del entorno; la planificación expresa acciones compatibles con una meta; el control ajusta su ejecución y los actuadores producen fuerzas y movimiento. Algunas arquitecturas aprendidas integran varias funciones y otras las separan. InternVLA-N1 es un ejemplo de separación entre planificación y ejecución en navegación. RDT-1B estudia otra arquitectura para manipulación bimanual. Seguridad y supervisión atraviesan el sistema completo. Ejercicio: identificar qué componente puede fallar si el robot reconoce la pieza correcta pero se le cae al levantarla. La solución puede exigir mejor agarre, sensado o control, además de mejorar el modelo semántico.</a:t>
            </a:r>
          </a:p>
          <a:p>
            <a:r>
              <a:rPr lang="es-AR" sz="1100">
                <a:latin typeface="Aptos"/>
                <a:ea typeface="Noto Sans SC"/>
              </a:rPr>
              <a:t/>
            </a:r>
          </a:p>
          <a:p>
            <a:r>
              <a:rPr lang="es-AR" sz="1100">
                <a:latin typeface="Aptos"/>
                <a:ea typeface="Noto Sans SC"/>
              </a:rPr>
              <a:t>Guía docente</a:t>
            </a:r>
          </a:p>
          <a:p>
            <a:r>
              <a:rPr lang="es-AR" sz="1100">
                <a:latin typeface="Aptos"/>
                <a:ea typeface="Noto Sans SC"/>
              </a:rPr>
              <a:t>La descomposición es funcional y didáctica. Algunas políticas integran varias funciones de percepción y decisión. Los actuadores, la latencia, la incertidumbre y los requisitos de seguridad mantienen consecuencias físicas aunque una política se entrene de extremo a extremo.</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Moo Jin Kim et al. (2024). OpenVLA: An Open-Source Vision-Language-Action Model</a:t>
            </a:r>
          </a:p>
          <a:p>
            <a:r>
              <a:rPr lang="es-AR" sz="1100">
                <a:latin typeface="Aptos"/>
                <a:ea typeface="Noto Sans SC"/>
              </a:rPr>
              <a:t>https://arxiv.org/abs/2406.09246</a:t>
            </a:r>
          </a:p>
          <a:p>
            <a:r>
              <a:rPr lang="es-AR" sz="1100">
                <a:latin typeface="Aptos"/>
                <a:ea typeface="Noto Sans SC"/>
              </a:rPr>
              <a:t/>
            </a:r>
          </a:p>
          <a:p>
            <a:r>
              <a:rPr lang="es-AR" sz="1100">
                <a:latin typeface="Aptos"/>
                <a:ea typeface="Noto Sans SC"/>
              </a:rPr>
              <a:t>Songming Liu et al. (2024/2025). RDT-1B: a Diffusion Foundation Model for Bimanual Manipulation. ICLR 2025</a:t>
            </a:r>
          </a:p>
          <a:p>
            <a:r>
              <a:rPr lang="es-AR" sz="1100">
                <a:latin typeface="Aptos"/>
                <a:ea typeface="Noto Sans SC"/>
              </a:rPr>
              <a:t>https://proceedings.iclr.cc/paper_files/paper/2025/hash/49f80e4d2471ad4f2edf4f5f1ab62339-Abstract-Conference.html</a:t>
            </a:r>
          </a:p>
          <a:p>
            <a:r>
              <a:rPr lang="es-AR" sz="1100">
                <a:latin typeface="Aptos"/>
                <a:ea typeface="Noto Sans SC"/>
              </a:rPr>
              <a:t/>
            </a:r>
          </a:p>
          <a:p>
            <a:r>
              <a:rPr lang="es-AR" sz="1100">
                <a:latin typeface="Aptos"/>
                <a:ea typeface="Noto Sans SC"/>
              </a:rPr>
              <a:t>人形机器人创新发展指导意见</a:t>
            </a:r>
          </a:p>
          <a:p>
            <a:r>
              <a:rPr lang="es-AR" sz="1100">
                <a:latin typeface="Aptos"/>
                <a:ea typeface="Noto Sans SC"/>
              </a:rPr>
              <a:t>https://www.ncsti.gov.cn/zcfg/zcwj/202311/P020231103482413965397.pdf</a:t>
            </a:r>
          </a:p>
          <a:p>
            <a:r>
              <a:rPr lang="es-AR" sz="1100">
                <a:latin typeface="Aptos"/>
                <a:ea typeface="Noto Sans SC"/>
              </a:rPr>
              <a:t/>
            </a:r>
          </a:p>
          <a:p>
            <a:r>
              <a:rPr lang="es-AR" sz="1100">
                <a:latin typeface="Aptos"/>
                <a:ea typeface="Noto Sans SC"/>
              </a:rPr>
              <a:t>工业自动化: 汇川技术产品</a:t>
            </a:r>
          </a:p>
          <a:p>
            <a:r>
              <a:rPr lang="es-AR" sz="1100">
                <a:latin typeface="Aptos"/>
                <a:ea typeface="Noto Sans SC"/>
              </a:rPr>
              <a:t>https://www.inovance.com/product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A diferencia de generar texto o video, el control robótico es interactivo: el sistema observa, ejecuta un comando, mide consecuencias y corrige. El éxito depende de distancias, fricción, fuerza, latencia, precisión y seguridad. 具身智能 (jùshēn zhìnéng) es inteligencia encarnada.</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具身智能 se lee jùshēn zhìnéng y se traduce aquí como inteligencia encarnada. El lazo de interacción vincula observación, acción y corrección. La acción altera el entorno y genera evidencia nueva para ajustar la siguiente decisión. Importa distinguir el entrenamiento de una política de su ejecución: durante entrenamiento se optimizan parámetros; durante operación se toman decisiones con información corriente. Los experimentos en navegación y manipulación permiten medir éxito y errores en condiciones concretas. Un ejemplo simple es desplazar un objeto y volver a localizarlo antes del siguiente movimiento. Un ensayo con un escenario acotado no establece desempeño en todas las superficies, cargas o iluminaciones.</a:t>
            </a:r>
          </a:p>
          <a:p>
            <a:r>
              <a:rPr lang="es-AR" sz="1100">
                <a:latin typeface="Aptos"/>
                <a:ea typeface="Noto Sans SC"/>
              </a:rPr>
              <a:t/>
            </a:r>
          </a:p>
          <a:p>
            <a:r>
              <a:rPr lang="es-AR" sz="1100">
                <a:latin typeface="Aptos"/>
                <a:ea typeface="Noto Sans SC"/>
              </a:rPr>
              <a:t>Guía docente</a:t>
            </a:r>
          </a:p>
          <a:p>
            <a:r>
              <a:rPr lang="es-AR" sz="1100">
                <a:latin typeface="Aptos"/>
                <a:ea typeface="Noto Sans SC"/>
              </a:rPr>
              <a:t>Seguir el retorno del resultado de una acción hasta una nueva observación. El lazo de control no es una secuencia que termine en mover un motor: el sistema mide consecuencias y corrige. InternVLA-N1 aborda navegación y A1 manipulación, según el laboratorio.</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Moo Jin Kim et al. (2024). OpenVLA: An Open-Source Vision-Language-Action Model</a:t>
            </a:r>
          </a:p>
          <a:p>
            <a:r>
              <a:rPr lang="es-AR" sz="1100">
                <a:latin typeface="Aptos"/>
                <a:ea typeface="Noto Sans SC"/>
              </a:rPr>
              <a:t>https://arxiv.org/abs/2406.09246</a:t>
            </a:r>
          </a:p>
          <a:p>
            <a:r>
              <a:rPr lang="es-AR" sz="1100">
                <a:latin typeface="Aptos"/>
                <a:ea typeface="Noto Sans SC"/>
              </a:rPr>
              <a:t/>
            </a:r>
          </a:p>
          <a:p>
            <a:r>
              <a:rPr lang="es-AR" sz="1100">
                <a:latin typeface="Aptos"/>
                <a:ea typeface="Noto Sans SC"/>
              </a:rPr>
              <a:t>上海人工智能实验室 (2025). 具身智能开源周：导航、操作、运动大模型及数据集批量上线</a:t>
            </a:r>
          </a:p>
          <a:p>
            <a:r>
              <a:rPr lang="es-AR" sz="1100">
                <a:latin typeface="Aptos"/>
                <a:ea typeface="Noto Sans SC"/>
              </a:rPr>
              <a:t>https://www.shlab.org.cn/news/5444209</a:t>
            </a:r>
          </a:p>
          <a:p>
            <a:r>
              <a:rPr lang="es-AR" sz="1100">
                <a:latin typeface="Aptos"/>
                <a:ea typeface="Noto Sans SC"/>
              </a:rPr>
              <a:t/>
            </a:r>
          </a:p>
          <a:p>
            <a:r>
              <a:rPr lang="es-AR" sz="1100">
                <a:latin typeface="Aptos"/>
                <a:ea typeface="Noto Sans SC"/>
              </a:rPr>
              <a:t>Intern Robotics / Shanghai AI Laboratory (2025). InternVLA-N1: An Open Dual-System Vision-Language Navigation Foundation Model with Learned Latent Plans</a:t>
            </a:r>
          </a:p>
          <a:p>
            <a:r>
              <a:rPr lang="es-AR" sz="1100">
                <a:latin typeface="Aptos"/>
                <a:ea typeface="Noto Sans SC"/>
              </a:rPr>
              <a:t>https://internrobotics.github.io/internvla-n1.github.io/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VLA significa Vision–Language–Action. Aprende a asociar señales visuales y lenguaje con acciones físicas, usualmente a partir de demostraciones y afinación. OpenVLA es una referencia internacional para explicar la técnica; no es una tecnología exclusivamente china. El aprendizaje de la política y la ejecución segura de bajo nivel son problemas distintos.</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VLA corresponde a Vision–Language–Action. El concepto vincula información visual e instrucciones con acciones de una política robótica. Las entradas concretas varían por arquitectura. OpenVLA es un antecedente internacional y no debe atribuirse a China. Como caso de investigación china, RDT-1B del equipo de Tsinghua condiciona una política de difusión con imágenes, lenguaje y propiocepción para manipulación bimanual. Su preprint apareció en2024 y la conferencia ICLR lo publicó en2025. InternVLA-N1 trata navegación; el anuncio chino de Shanghai AI Laboratory distingue A1 para manipulación. El diagrama de la lámina resume funciones y no describe literalmente cada modelo citado. Evaluar un VLA requiere especificar robot, tarea, acciones, datos y protocolo. Aprender una política no certifica seguridad funcional ni garantiza generalización fuera del ensayo.</a:t>
            </a:r>
          </a:p>
          <a:p>
            <a:r>
              <a:rPr lang="es-AR" sz="1100">
                <a:latin typeface="Aptos"/>
                <a:ea typeface="Noto Sans SC"/>
              </a:rPr>
              <a:t/>
            </a:r>
          </a:p>
          <a:p>
            <a:r>
              <a:rPr lang="es-AR" sz="1100">
                <a:latin typeface="Aptos"/>
                <a:ea typeface="Noto Sans SC"/>
              </a:rPr>
              <a:t>Guía docente</a:t>
            </a:r>
          </a:p>
          <a:p>
            <a:r>
              <a:rPr lang="es-AR" sz="1100">
                <a:latin typeface="Aptos"/>
                <a:ea typeface="Noto Sans SC"/>
              </a:rPr>
              <a:t>Un esquema genérico puede incluir imágenes y propiocepción según la arquitectura. OpenVLA es un antecedente internacional, mientras RDT-1B ofrece un ejemplo de Tsinghua para manipulación bimanual. Predicción de acciones, control motor y validación de seguridad son niveles diferentes.</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Moo Jin Kim et al. (2024). OpenVLA: An Open-Source Vision-Language-Action Model</a:t>
            </a:r>
          </a:p>
          <a:p>
            <a:r>
              <a:rPr lang="es-AR" sz="1100">
                <a:latin typeface="Aptos"/>
                <a:ea typeface="Noto Sans SC"/>
              </a:rPr>
              <a:t>https://arxiv.org/abs/2406.09246</a:t>
            </a:r>
          </a:p>
          <a:p>
            <a:r>
              <a:rPr lang="es-AR" sz="1100">
                <a:latin typeface="Aptos"/>
                <a:ea typeface="Noto Sans SC"/>
              </a:rPr>
              <a:t/>
            </a:r>
          </a:p>
          <a:p>
            <a:r>
              <a:rPr lang="es-AR" sz="1100">
                <a:latin typeface="Aptos"/>
                <a:ea typeface="Noto Sans SC"/>
              </a:rPr>
              <a:t>Songming Liu et al. (2024/2025). RDT-1B: a Diffusion Foundation Model for Bimanual Manipulation. ICLR 2025</a:t>
            </a:r>
          </a:p>
          <a:p>
            <a:r>
              <a:rPr lang="es-AR" sz="1100">
                <a:latin typeface="Aptos"/>
                <a:ea typeface="Noto Sans SC"/>
              </a:rPr>
              <a:t>https://proceedings.iclr.cc/paper_files/paper/2025/hash/49f80e4d2471ad4f2edf4f5f1ab62339-Abstract-Conference.html</a:t>
            </a:r>
          </a:p>
          <a:p>
            <a:r>
              <a:rPr lang="es-AR" sz="1100">
                <a:latin typeface="Aptos"/>
                <a:ea typeface="Noto Sans SC"/>
              </a:rPr>
              <a:t/>
            </a:r>
          </a:p>
          <a:p>
            <a:r>
              <a:rPr lang="es-AR" sz="1100">
                <a:latin typeface="Aptos"/>
                <a:ea typeface="Noto Sans SC"/>
              </a:rPr>
              <a:t>上海人工智能实验室 (2025). 具身智能开源周：导航、操作、运动大模型及数据集批量上线</a:t>
            </a:r>
          </a:p>
          <a:p>
            <a:r>
              <a:rPr lang="es-AR" sz="1100">
                <a:latin typeface="Aptos"/>
                <a:ea typeface="Noto Sans SC"/>
              </a:rPr>
              <a:t>https://www.shlab.org.cn/news/5444209</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Un robot necesita datos que vinculen percepción del mundo, acción ejecutada y su efecto. Las fuentes pueden ser demostraciones teleoperadas, simulación, video, datos sintéticos validados y operación real. Los datos visualmente plausibles no necesariamente codifican fuerzas o contactos correctos. La convergencia con generación de video es prometedora, pero hay una brecha entre plausibilidad y física. Remitir al simulador de data flywheel del curso.</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Los datos útiles vinculan lo observado, la acción y sus consecuencias. La imitación aprende de demostraciones; el aprendizaje por refuerzo ajusta una política a partir de recompensas y experiencias. La simulación puede producir interacción controlada, pero su transferencia depende de representar suficientemente los aspectos relevantes del mundo real. Un modelo del mundo aprendido predice consecuencias a partir de observaciones y acciones. La fidelidad visual y la consistencia física son criterios distintos. RoboScape investiga cómo incorporar conocimiento físico a la generación; la v1 deja más pruebas en robots reales como trabajo futuro. La página china de Tsinghua y los recursos de Shanghai permiten discutir estas diferencias desde investigación local. Más datos pueden reforzar sesgos o errores si no se evalúan diversidad, calidad y transferencia. El Data Flywheel del curso es un modelo didáctico, no validación de una fábrica.</a:t>
            </a:r>
          </a:p>
          <a:p>
            <a:r>
              <a:rPr lang="es-AR" sz="1100">
                <a:latin typeface="Aptos"/>
                <a:ea typeface="Noto Sans SC"/>
              </a:rPr>
              <a:t/>
            </a:r>
          </a:p>
          <a:p>
            <a:r>
              <a:rPr lang="es-AR" sz="1100">
                <a:latin typeface="Aptos"/>
                <a:ea typeface="Noto Sans SC"/>
              </a:rPr>
              <a:t>Guía docente</a:t>
            </a:r>
          </a:p>
          <a:p>
            <a:r>
              <a:rPr lang="es-AR" sz="1100">
                <a:latin typeface="Aptos"/>
                <a:ea typeface="Noto Sans SC"/>
              </a:rPr>
              <a:t>La imitación aprende de demostraciones; el refuerzo utiliza recompensas y exploración. La simulación aporta transiciones controladas y los datos sintéticos requieren evaluar fidelidad, contactos y transferencia. Los modelos del mundo pueden predecir consecuencias condicionadas por acciones. Un video visualmente plausible no equivale por sí mismo a una simulación física válida.</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Intern Robotics / Shanghai AI Laboratory (2025). InternVLA-N1: An Open Dual-System Vision-Language Navigation Foundation Model with Learned Latent Plans</a:t>
            </a:r>
          </a:p>
          <a:p>
            <a:r>
              <a:rPr lang="es-AR" sz="1100">
                <a:latin typeface="Aptos"/>
                <a:ea typeface="Noto Sans SC"/>
              </a:rPr>
              <a:t>https://internrobotics.github.io/internvla-n1.github.io/</a:t>
            </a:r>
          </a:p>
          <a:p>
            <a:r>
              <a:rPr lang="es-AR" sz="1100">
                <a:latin typeface="Aptos"/>
                <a:ea typeface="Noto Sans SC"/>
              </a:rPr>
              <a:t/>
            </a:r>
          </a:p>
          <a:p>
            <a:r>
              <a:rPr lang="es-AR" sz="1100">
                <a:latin typeface="Aptos"/>
                <a:ea typeface="Noto Sans SC"/>
              </a:rPr>
              <a:t>Songming Liu et al. (2024/2025). RDT-1B: a Diffusion Foundation Model for Bimanual Manipulation. ICLR 2025</a:t>
            </a:r>
          </a:p>
          <a:p>
            <a:r>
              <a:rPr lang="es-AR" sz="1100">
                <a:latin typeface="Aptos"/>
                <a:ea typeface="Noto Sans SC"/>
              </a:rPr>
              <a:t>https://proceedings.iclr.cc/paper_files/paper/2025/hash/49f80e4d2471ad4f2edf4f5f1ab62339-Abstract-Conference.html</a:t>
            </a:r>
          </a:p>
          <a:p>
            <a:r>
              <a:rPr lang="es-AR" sz="1100">
                <a:latin typeface="Aptos"/>
                <a:ea typeface="Noto Sans SC"/>
              </a:rPr>
              <a:t/>
            </a:r>
          </a:p>
          <a:p>
            <a:r>
              <a:rPr lang="es-AR" sz="1100">
                <a:latin typeface="Aptos"/>
                <a:ea typeface="Noto Sans SC"/>
              </a:rPr>
              <a:t>Yu Shang et al. (2025). RoboScape: Physics-informed Embodied World Model</a:t>
            </a:r>
          </a:p>
          <a:p>
            <a:r>
              <a:rPr lang="es-AR" sz="1100">
                <a:latin typeface="Aptos"/>
                <a:ea typeface="Noto Sans SC"/>
              </a:rPr>
              <a:t>https://arxiv.org/abs/2506.23135</a:t>
            </a:r>
          </a:p>
          <a:p>
            <a:r>
              <a:rPr lang="es-AR" sz="1100">
                <a:latin typeface="Aptos"/>
                <a:ea typeface="Noto Sans SC"/>
              </a:rPr>
              <a:t/>
            </a:r>
          </a:p>
          <a:p>
            <a:r>
              <a:rPr lang="es-AR" sz="1100">
                <a:latin typeface="Aptos"/>
                <a:ea typeface="Noto Sans SC"/>
              </a:rPr>
              <a:t>清华大学 Future Intelligence Lab (2025). 理解世界还是预测未来？世界模型全面综述</a:t>
            </a:r>
          </a:p>
          <a:p>
            <a:r>
              <a:rPr lang="es-AR" sz="1100">
                <a:latin typeface="Aptos"/>
                <a:ea typeface="Noto Sans SC"/>
              </a:rPr>
              <a:t>https://fi.ee.tsinghua.edu.cn/news/20/</a:t>
            </a:r>
          </a:p>
          <a:p>
            <a:r>
              <a:rPr lang="es-AR" sz="1100">
                <a:latin typeface="Aptos"/>
                <a:ea typeface="Noto Sans SC"/>
              </a:rPr>
              <a:t/>
            </a:r>
          </a:p>
          <a:p>
            <a:r>
              <a:rPr lang="es-AR" sz="1100">
                <a:latin typeface="Aptos"/>
                <a:ea typeface="Noto Sans SC"/>
              </a:rPr>
              <a:t>RobotLab del curso: laboratorio didáctico de robótica humanoide</a:t>
            </a:r>
          </a:p>
          <a:p>
            <a:r>
              <a:rPr lang="es-AR" sz="1100">
                <a:latin typeface="Aptos"/>
                <a:ea typeface="Noto Sans SC"/>
              </a:rPr>
              <a:t>https://sgevatschnaider.github.io/Inteligencia-Artificial-y-Rob-tica-en-China/robotlab/</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Distinguir clips empresariales, pruebas en laboratorio, pilotos industriales, despliegue y productividad comprobada. Para hablar de adopción real, solicitar tasas de éxito, tareas por hora, intervención humana, paradas, incidentes, duración, costo total y evaluación independiente. Esto aplica también a los vídeos del propio VideoLab.</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La secuencia de cinco niveles es una guía didáctica del curso, no un estándar IFR o una certificación de seguridad. Una grabación puede incluir teleoperación, selección de tomas o un entorno preparado. Un piloto aporta mejor evidencia si explica tarea, duración, tasas de error, intervenciones y costos. Incluso cuando existe operación repetida, inferir productividad requiere un comparador, mediciones de calidad, paradas y mantenimiento.</a:t>
            </a:r>
          </a:p>
          <a:p>
            <a:r>
              <a:rPr lang="es-AR" sz="1100">
                <a:latin typeface="Aptos"/>
                <a:ea typeface="Noto Sans SC"/>
              </a:rPr>
              <a:t/>
            </a:r>
          </a:p>
          <a:p>
            <a:r>
              <a:rPr lang="es-AR" sz="1100">
                <a:latin typeface="Aptos"/>
                <a:ea typeface="Noto Sans SC"/>
              </a:rPr>
              <a:t>Guía docente</a:t>
            </a:r>
          </a:p>
          <a:p>
            <a:r>
              <a:rPr lang="es-AR" sz="1100">
                <a:latin typeface="Aptos"/>
                <a:ea typeface="Noto Sans SC"/>
              </a:rPr>
              <a:t>Proponer que el alumnado clasifique un video del curso. Solicitar tarea, duración, tasa de éxito, intervenciones humanas, incidentes, tiempo de ciclo, disponibilidad y costo total. Un ensayo puede ser útil sin constituir todavía una evaluación económica independiente.</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Standardization: robot definitions at ISO</a:t>
            </a:r>
          </a:p>
          <a:p>
            <a:r>
              <a:rPr lang="es-AR" sz="1100">
                <a:latin typeface="Aptos"/>
                <a:ea typeface="Noto Sans SC"/>
              </a:rPr>
              <a:t>https://ifr.org/standardisation</a:t>
            </a:r>
          </a:p>
          <a:p>
            <a:r>
              <a:rPr lang="es-AR" sz="1100">
                <a:latin typeface="Aptos"/>
                <a:ea typeface="Noto Sans SC"/>
              </a:rPr>
              <a:t/>
            </a:r>
          </a:p>
          <a:p>
            <a:r>
              <a:rPr lang="es-AR" sz="1100">
                <a:latin typeface="Aptos"/>
                <a:ea typeface="Noto Sans SC"/>
              </a:rPr>
              <a:t>AGIBOT Concludes Six-Day Real Factory Livestream</a:t>
            </a:r>
          </a:p>
          <a:p>
            <a:r>
              <a:rPr lang="es-AR" sz="1100">
                <a:latin typeface="Aptos"/>
                <a:ea typeface="Noto Sans SC"/>
              </a:rPr>
              <a:t>https://www.agibot.com/article/231/detail/83.html</a:t>
            </a:r>
          </a:p>
          <a:p>
            <a:r>
              <a:rPr lang="es-AR" sz="1100">
                <a:latin typeface="Aptos"/>
                <a:ea typeface="Noto Sans SC"/>
              </a:rPr>
              <a:t/>
            </a:r>
          </a:p>
          <a:p>
            <a:r>
              <a:rPr lang="es-AR" sz="1100">
                <a:latin typeface="Aptos"/>
                <a:ea typeface="Noto Sans SC"/>
              </a:rPr>
              <a:t>UBTECH Robotics: Annual Report 2025</a:t>
            </a:r>
          </a:p>
          <a:p>
            <a:r>
              <a:rPr lang="es-AR" sz="1100">
                <a:latin typeface="Aptos"/>
                <a:ea typeface="Noto Sans SC"/>
              </a:rPr>
              <a:t>https://owebsite-cdn.ubtrobot.com/resources/file/2026/04/21/797179114676293.pdf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La frontera tecnológica se vincula con infraestructura: acceso a aceleradores, software, cadenas de motores y sensores, sistemas de calidad, líneas de producción y clientes industriales. Un algoritmo o robot no produce valor económico por sí solo. Conectar con el siguiente módulo de infraestructura.</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Los casos anteriores permiten relacionar investigación con organización industrial. Los informes de modelos muestran decisiones técnicas; los servicios de nube muestran vías de distribución; las colaboraciones documentan vínculos entre universidades y empresas. Huawei aporta un caso de articulación entre modelo y cómputo, y el acuerdo de ByteDance con Tsinghua AIR ofrece un ejemplo verificable de relación entre investigación e ingeniería empresarial. Esto apoya estudiar mecanismos, no una causalidad automática entre política, inversión y ventas. Para cada proyecto, reconstruir proveedores, insumos, talento, clientes e integración. Pregunta para la transición al módulo siguiente: ¿qué infraestructura y capacidades industriales necesita esta innovación para operar de forma repetida? El módulo futuro puede mencionarse como continuidad docente sin crear un enlace a contenido inexistente.</a:t>
            </a:r>
          </a:p>
          <a:p>
            <a:r>
              <a:rPr lang="es-AR" sz="1100">
                <a:latin typeface="Aptos"/>
                <a:ea typeface="Noto Sans SC"/>
              </a:rPr>
              <a:t/>
            </a:r>
          </a:p>
          <a:p>
            <a:r>
              <a:rPr lang="es-AR" sz="1100">
                <a:latin typeface="Aptos"/>
                <a:ea typeface="Noto Sans SC"/>
              </a:rPr>
              <a:t>Los casos de humanoides forman parte de un ecosistema mayor. SIASUN ofrece robots industriales, móviles y sistemas de integración; ESTUN combina robots y automatización; Inovance provee servodrives, servomotores, PLC y otros componentes. Por eso conviene estudiar proveedores, integradores y clientes junto con el modelo de IA. La presencia de un componente en un catálogo no demuestra su uso en un robot particular: esa relación necesita evidencia concreta.</a:t>
            </a:r>
          </a:p>
          <a:p>
            <a:r>
              <a:rPr lang="es-AR" sz="1100">
                <a:latin typeface="Aptos"/>
                <a:ea typeface="Noto Sans SC"/>
              </a:rPr>
              <a:t/>
            </a:r>
          </a:p>
          <a:p>
            <a:r>
              <a:rPr lang="es-AR" sz="1100">
                <a:latin typeface="Aptos"/>
                <a:ea typeface="Noto Sans SC"/>
              </a:rPr>
              <a:t>Guía docente</a:t>
            </a:r>
          </a:p>
          <a:p>
            <a:r>
              <a:rPr lang="es-AR" sz="1100">
                <a:latin typeface="Aptos"/>
                <a:ea typeface="Noto Sans SC"/>
              </a:rPr>
              <a:t>Incluir proveedores de automatización como SIASUN y ESTUN y de servos, variadores y control como Inovance. No afirmar que un componente concreto esté instalado en un robot del módulo sin documentación de su integración.</a:t>
            </a:r>
          </a:p>
          <a:p>
            <a:r>
              <a:rPr lang="es-AR" sz="1100">
                <a:latin typeface="Aptos"/>
                <a:ea typeface="Noto Sans SC"/>
              </a:rPr>
              <a:t/>
            </a:r>
          </a:p>
          <a:p>
            <a:r>
              <a:rPr lang="es-AR" sz="1100">
                <a:latin typeface="Aptos"/>
                <a:ea typeface="Noto Sans SC"/>
              </a:rPr>
              <a:t>Ilustración: escena conceptual generada con IA. No representa un producto, una empresa ni un despliegue real.</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华为 (2025). 华为宣布开源盘古7B稠密和72B混合专家模型</a:t>
            </a:r>
          </a:p>
          <a:p>
            <a:r>
              <a:rPr lang="es-AR" sz="1100">
                <a:latin typeface="Aptos"/>
                <a:ea typeface="Noto Sans SC"/>
              </a:rPr>
              <a:t>https://www.huawei.com/cn/news/2025/7/pangu-opensource</a:t>
            </a:r>
          </a:p>
          <a:p>
            <a:r>
              <a:rPr lang="es-AR" sz="1100">
                <a:latin typeface="Aptos"/>
                <a:ea typeface="Noto Sans SC"/>
              </a:rPr>
              <a:t/>
            </a:r>
          </a:p>
          <a:p>
            <a:r>
              <a:rPr lang="es-AR" sz="1100">
                <a:latin typeface="Aptos"/>
                <a:ea typeface="Noto Sans SC"/>
              </a:rPr>
              <a:t>ByteDance y Tsinghua AIR (2024). Joint Research Center on Scalable Intelligent Model Technology</a:t>
            </a:r>
          </a:p>
          <a:p>
            <a:r>
              <a:rPr lang="es-AR" sz="1100">
                <a:latin typeface="Aptos"/>
                <a:ea typeface="Noto Sans SC"/>
              </a:rPr>
              <a:t>https://seed.bytedance.com/en/blog/bytedance-and-tsinghua-air-establish-joint-research-center-to-advance-industry-academia-research-collaboration-on-large-models</a:t>
            </a:r>
          </a:p>
          <a:p>
            <a:r>
              <a:rPr lang="es-AR" sz="1100">
                <a:latin typeface="Aptos"/>
                <a:ea typeface="Noto Sans SC"/>
              </a:rPr>
              <a:t/>
            </a:r>
          </a:p>
          <a:p>
            <a:r>
              <a:rPr lang="es-AR" sz="1100">
                <a:latin typeface="Aptos"/>
                <a:ea typeface="Noto Sans SC"/>
              </a:rPr>
              <a:t>新松机器人: 产品与解决方案</a:t>
            </a:r>
          </a:p>
          <a:p>
            <a:r>
              <a:rPr lang="es-AR" sz="1100">
                <a:latin typeface="Aptos"/>
                <a:ea typeface="Noto Sans SC"/>
              </a:rPr>
              <a:t>https://www.siasun.com/</a:t>
            </a:r>
          </a:p>
          <a:p>
            <a:r>
              <a:rPr lang="es-AR" sz="1100">
                <a:latin typeface="Aptos"/>
                <a:ea typeface="Noto Sans SC"/>
              </a:rPr>
              <a:t/>
            </a:r>
          </a:p>
          <a:p>
            <a:r>
              <a:rPr lang="es-AR" sz="1100">
                <a:latin typeface="Aptos"/>
                <a:ea typeface="Noto Sans SC"/>
              </a:rPr>
              <a:t>ESTUN industrial robots and automation portfolio</a:t>
            </a:r>
          </a:p>
          <a:p>
            <a:r>
              <a:rPr lang="es-AR" sz="1100">
                <a:latin typeface="Aptos"/>
                <a:ea typeface="Noto Sans SC"/>
              </a:rPr>
              <a:t>https://en.estun.com/</a:t>
            </a:r>
          </a:p>
          <a:p>
            <a:r>
              <a:rPr lang="es-AR" sz="1100">
                <a:latin typeface="Aptos"/>
                <a:ea typeface="Noto Sans SC"/>
              </a:rPr>
              <a:t/>
            </a:r>
          </a:p>
          <a:p>
            <a:r>
              <a:rPr lang="es-AR" sz="1100">
                <a:latin typeface="Aptos"/>
                <a:ea typeface="Noto Sans SC"/>
              </a:rPr>
              <a:t>工业自动化: 汇川技术产品</a:t>
            </a:r>
          </a:p>
          <a:p>
            <a:r>
              <a:rPr lang="es-AR" sz="1100">
                <a:latin typeface="Aptos"/>
                <a:ea typeface="Noto Sans SC"/>
              </a:rPr>
              <a:t>https://www.inovance.com/product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Evaluar a las empresas de forma crítica: competir y anunciar demuestra actividad, no necesariamente rentabilidad ni productividad. La manufactura china permite prototipar rápido en ciertos sectores; existen dependencias en chips, sensores, software y baterías. Los humanoides enfrentan obstáculos en habilidad manual, datos, seguridad, mantenimiento e integración.</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Esta lámina reúne mecanismos y desafíos, no una medición uniforme del desempeño de todas las empresas chinas. Las publicaciones técnicas describen resultados de investigación; los catálogos describen ofertas y los comunicados institucionales explican estrategias. Ninguno prueba por sí solo rentabilidad o productividad agregada. La existencia de inversión y competencia permite formular hipótesis sobre velocidad de iteración, pero su efecto económico requiere evidencia adicional. En robótica, revisar datos físicos, seguridad, mantenimiento e integración antes de extrapolar un piloto. Los obstáculos cambian por tarea y cadena de proveedores. Ejercicio: convertir cada fortaleza y cada límite en una pregunta verificable y especificar qué datos de operación o de costos harían falta para responderla.</a:t>
            </a:r>
          </a:p>
          <a:p>
            <a:r>
              <a:rPr lang="es-AR" sz="1100">
                <a:latin typeface="Aptos"/>
                <a:ea typeface="Noto Sans SC"/>
              </a:rPr>
              <a:t/>
            </a:r>
          </a:p>
          <a:p>
            <a:r>
              <a:rPr lang="es-AR" sz="1100">
                <a:latin typeface="Aptos"/>
                <a:ea typeface="Noto Sans SC"/>
              </a:rPr>
              <a:t>El crecimiento agregado de instalaciones industriales no certifica el modelo de negocio de un humanoide. En las fichas técnicas, las capacidades dependen de postura, carga, entorno y configuración. La escala empresarial requiere repetibilidad, servicio posventa, suministro de componentes y criterios de evaluación. Evitar generalizar dependencias de chips, sensores o baterías a todo el sector: la exposición varía según el producto y la empresa.</a:t>
            </a:r>
          </a:p>
          <a:p>
            <a:r>
              <a:rPr lang="es-AR" sz="1100">
                <a:latin typeface="Aptos"/>
                <a:ea typeface="Noto Sans SC"/>
              </a:rPr>
              <a:t/>
            </a:r>
          </a:p>
          <a:p>
            <a:r>
              <a:rPr lang="es-AR" sz="1100">
                <a:latin typeface="Aptos"/>
                <a:ea typeface="Noto Sans SC"/>
              </a:rPr>
              <a:t>Guía docente</a:t>
            </a:r>
          </a:p>
          <a:p>
            <a:r>
              <a:rPr lang="es-AR" sz="1100">
                <a:latin typeface="Aptos"/>
                <a:ea typeface="Noto Sans SC"/>
              </a:rPr>
              <a:t>Las fortalezas y los límites son una síntesis de mecanismos. El módulo no ofrece cuentas económicas comparables ni una estimación causal del efecto de competir. Formular sobreinversión y rentabilidad como riesgos a evaluar por sector y empresa, sin atribuir pérdidas a una firma sin sus resultados financieros.</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China Installs 59 Percent of World's Industrial Robots</a:t>
            </a:r>
          </a:p>
          <a:p>
            <a:r>
              <a:rPr lang="es-AR" sz="1100">
                <a:latin typeface="Aptos"/>
                <a:ea typeface="Noto Sans SC"/>
              </a:rPr>
              <a:t>https://ifr.org/downloads/press_docs/EN-2026-SEP-24-IFR_Press_Release_WR-CHINA.pdf</a:t>
            </a:r>
          </a:p>
          <a:p>
            <a:r>
              <a:rPr lang="es-AR" sz="1100">
                <a:latin typeface="Aptos"/>
                <a:ea typeface="Noto Sans SC"/>
              </a:rPr>
              <a:t/>
            </a:r>
          </a:p>
          <a:p>
            <a:r>
              <a:rPr lang="es-AR" sz="1100">
                <a:latin typeface="Aptos"/>
                <a:ea typeface="Noto Sans SC"/>
              </a:rPr>
              <a:t>Moo Jin Kim et al. (2024). OpenVLA: An Open-Source Vision-Language-Action Model</a:t>
            </a:r>
          </a:p>
          <a:p>
            <a:r>
              <a:rPr lang="es-AR" sz="1100">
                <a:latin typeface="Aptos"/>
                <a:ea typeface="Noto Sans SC"/>
              </a:rPr>
              <a:t>https://arxiv.org/abs/2406.09246</a:t>
            </a:r>
          </a:p>
          <a:p>
            <a:r>
              <a:rPr lang="es-AR" sz="1100">
                <a:latin typeface="Aptos"/>
                <a:ea typeface="Noto Sans SC"/>
              </a:rPr>
              <a:t/>
            </a:r>
          </a:p>
          <a:p>
            <a:r>
              <a:rPr lang="es-AR" sz="1100">
                <a:latin typeface="Aptos"/>
                <a:ea typeface="Noto Sans SC"/>
              </a:rPr>
              <a:t>Yu Shang et al. (2025). RoboScape: Physics-informed Embodied World Model</a:t>
            </a:r>
          </a:p>
          <a:p>
            <a:r>
              <a:rPr lang="es-AR" sz="1100">
                <a:latin typeface="Aptos"/>
                <a:ea typeface="Noto Sans SC"/>
              </a:rPr>
              <a:t>https://arxiv.org/abs/2506.23135</a:t>
            </a:r>
          </a:p>
          <a:p>
            <a:r>
              <a:rPr lang="es-AR" sz="1100">
                <a:latin typeface="Aptos"/>
                <a:ea typeface="Noto Sans SC"/>
              </a:rPr>
              <a:t/>
            </a:r>
          </a:p>
          <a:p>
            <a:r>
              <a:rPr lang="es-AR" sz="1100">
                <a:latin typeface="Aptos"/>
                <a:ea typeface="Noto Sans SC"/>
              </a:rPr>
              <a:t>UBTECH Robotics: Annual Report 2025</a:t>
            </a:r>
          </a:p>
          <a:p>
            <a:r>
              <a:rPr lang="es-AR" sz="1100">
                <a:latin typeface="Aptos"/>
                <a:ea typeface="Noto Sans SC"/>
              </a:rPr>
              <a:t>https://owebsite-cdn.ubtrobot.com/resources/file/2026/04/21/797179114676293.pdf</a:t>
            </a:r>
          </a:p>
          <a:p>
            <a:r>
              <a:rPr lang="es-AR" sz="1100">
                <a:latin typeface="Aptos"/>
                <a:ea typeface="Noto Sans SC"/>
              </a:rPr>
              <a:t/>
            </a:r>
          </a:p>
          <a:p>
            <a:r>
              <a:rPr lang="es-AR" sz="1100">
                <a:latin typeface="Aptos"/>
                <a:ea typeface="Noto Sans SC"/>
              </a:rPr>
              <a:t>Fourier GR-3: Robot Overview</a:t>
            </a:r>
          </a:p>
          <a:p>
            <a:r>
              <a:rPr lang="es-AR" sz="1100">
                <a:latin typeface="Aptos"/>
                <a:ea typeface="Noto Sans SC"/>
              </a:rPr>
              <a:t>https://support.fftai.com/en/gr3/getting-started/general-information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Cierre: las empresas innovadoras son el segundo pilar junto al Estado y la infraestructura. Los modelos de IA y los robots humanoides ilustran capacidades muy dinámicas, pero su valor depende de la adopción y fiabilidad. El siguiente módulo estudia fábricas, proveedores, energía, logística, chips y centros de datos.</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
            </a:r>
          </a:p>
          <a:p>
            <a:r>
              <a:rPr lang="es-AR" sz="1100">
                <a:latin typeface="Aptos"/>
                <a:ea typeface="Noto Sans SC"/>
              </a:rPr>
              <a:t/>
            </a:r>
          </a:p>
          <a:p>
            <a:r>
              <a:rPr lang="es-AR" sz="1100">
                <a:latin typeface="Aptos"/>
                <a:ea typeface="Noto Sans SC"/>
              </a:rPr>
              <a:t>Guía docente</a:t>
            </a:r>
          </a:p>
          <a:p>
            <a:r>
              <a:rPr lang="es-AR" sz="1100">
                <a:latin typeface="Aptos"/>
                <a:ea typeface="Noto Sans SC"/>
              </a:rPr>
              <a:t>Volver a la pregunta inicial: ¿qué prueba falta entre una demostración y una tecnología operativa que crea valor? El siguiente módulo se menciona como continuidad conceptual y no ofrece un enlace activo.</a:t>
            </a:r>
          </a:p>
          <a:p>
            <a:r>
              <a:rPr lang="es-AR" sz="1100">
                <a:latin typeface="Aptos"/>
                <a:ea typeface="Noto Sans SC"/>
              </a:rPr>
              <a:t/>
            </a:r>
          </a:p>
          <a:p>
            <a:r>
              <a:rPr lang="es-AR" sz="1100">
                <a:latin typeface="Aptos"/>
                <a:ea typeface="Noto Sans SC"/>
              </a:rPr>
              <a:t>Ilustración: escena conceptual generada con IA. No representa un producto, una empresa ni un despliegue real.</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An Yang et al. (2025). Qwen3 Technical Report</a:t>
            </a:r>
          </a:p>
          <a:p>
            <a:r>
              <a:rPr lang="es-AR" sz="1100">
                <a:latin typeface="Aptos"/>
                <a:ea typeface="Noto Sans SC"/>
              </a:rPr>
              <a:t>https://arxiv.org/abs/2505.09388</a:t>
            </a:r>
          </a:p>
          <a:p>
            <a:r>
              <a:rPr lang="es-AR" sz="1100">
                <a:latin typeface="Aptos"/>
                <a:ea typeface="Noto Sans SC"/>
              </a:rPr>
              <a:t/>
            </a:r>
          </a:p>
          <a:p>
            <a:r>
              <a:rPr lang="es-AR" sz="1100">
                <a:latin typeface="Aptos"/>
                <a:ea typeface="Noto Sans SC"/>
              </a:rPr>
              <a:t>China Installs 59 Percent of World's Industrial Robots</a:t>
            </a:r>
          </a:p>
          <a:p>
            <a:r>
              <a:rPr lang="es-AR" sz="1100">
                <a:latin typeface="Aptos"/>
                <a:ea typeface="Noto Sans SC"/>
              </a:rPr>
              <a:t>https://ifr.org/downloads/press_docs/EN-2026-SEP-24-IFR_Press_Release_WR-CHINA.pdf</a:t>
            </a:r>
          </a:p>
          <a:p>
            <a:r>
              <a:rPr lang="es-AR" sz="1100">
                <a:latin typeface="Aptos"/>
                <a:ea typeface="Noto Sans SC"/>
              </a:rPr>
              <a:t/>
            </a:r>
          </a:p>
          <a:p>
            <a:r>
              <a:rPr lang="es-AR" sz="1100">
                <a:latin typeface="Aptos"/>
                <a:ea typeface="Noto Sans SC"/>
              </a:rPr>
              <a:t>AGIBOT Concludes Six-Day Real Factory Livestream</a:t>
            </a:r>
          </a:p>
          <a:p>
            <a:r>
              <a:rPr lang="es-AR" sz="1100">
                <a:latin typeface="Aptos"/>
                <a:ea typeface="Noto Sans SC"/>
              </a:rPr>
              <a:t>https://www.agibot.com/article/231/detail/83.html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Lista de referencia para consulta directa. IFR informa robots industriales, mientras que las cifras Unitree/UBTECH/AgiBot son anuncios o fichas empresariales. Esto es esencial para no confundir fuentes comerciales con evaluación independiente. Los enlaces se incluyen en las notas y en la versión de acompañamiento.</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Este registro distingue estadísticas sectoriales de prestaciones y comunicados empresariales. IFR aporta instalaciones y definiciones. En los fabricantes, pedidos, capacidad, fabricación, entregas y parque operativo son magnitudes diferentes. Mantener la fecha original de los datos y el enlace a la fuente correspondiente.</a:t>
            </a:r>
          </a:p>
          <a:p>
            <a:r>
              <a:rPr lang="es-AR" sz="1100">
                <a:latin typeface="Aptos"/>
                <a:ea typeface="Noto Sans SC"/>
              </a:rPr>
              <a:t/>
            </a:r>
          </a:p>
          <a:p>
            <a:r>
              <a:rPr lang="es-AR" sz="1100">
                <a:latin typeface="Aptos"/>
                <a:ea typeface="Noto Sans SC"/>
              </a:rPr>
              <a:t>Guía docente</a:t>
            </a:r>
          </a:p>
          <a:p>
            <a:r>
              <a:rPr lang="es-AR" sz="1100">
                <a:latin typeface="Aptos"/>
                <a:ea typeface="Noto Sans SC"/>
              </a:rPr>
              <a:t>Separar una estadística sectorial de una ficha de producto, un anuncio de fabricación y una evaluación independiente. Abrir el documento correspondiente al indicador concreto y conservar año, definición y denominador.</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China Installs 59 Percent of World's Industrial Robots</a:t>
            </a:r>
          </a:p>
          <a:p>
            <a:r>
              <a:rPr lang="es-AR" sz="1100">
                <a:latin typeface="Aptos"/>
                <a:ea typeface="Noto Sans SC"/>
              </a:rPr>
              <a:t>https://ifr.org/downloads/press_docs/EN-2026-SEP-24-IFR_Press_Release_WR-CHINA.pdf</a:t>
            </a:r>
          </a:p>
          <a:p>
            <a:r>
              <a:rPr lang="es-AR" sz="1100">
                <a:latin typeface="Aptos"/>
                <a:ea typeface="Noto Sans SC"/>
              </a:rPr>
              <a:t/>
            </a:r>
          </a:p>
          <a:p>
            <a:r>
              <a:rPr lang="es-AR" sz="1100">
                <a:latin typeface="Aptos"/>
                <a:ea typeface="Noto Sans SC"/>
              </a:rPr>
              <a:t>Standardization: robot definitions at ISO</a:t>
            </a:r>
          </a:p>
          <a:p>
            <a:r>
              <a:rPr lang="es-AR" sz="1100">
                <a:latin typeface="Aptos"/>
                <a:ea typeface="Noto Sans SC"/>
              </a:rPr>
              <a:t>https://ifr.org/standardisation</a:t>
            </a:r>
          </a:p>
          <a:p>
            <a:r>
              <a:rPr lang="es-AR" sz="1100">
                <a:latin typeface="Aptos"/>
                <a:ea typeface="Noto Sans SC"/>
              </a:rPr>
              <a:t/>
            </a:r>
          </a:p>
          <a:p>
            <a:r>
              <a:rPr lang="es-AR" sz="1100">
                <a:latin typeface="Aptos"/>
                <a:ea typeface="Noto Sans SC"/>
              </a:rPr>
              <a:t>Unitree G1: official specifications</a:t>
            </a:r>
          </a:p>
          <a:p>
            <a:r>
              <a:rPr lang="es-AR" sz="1100">
                <a:latin typeface="Aptos"/>
                <a:ea typeface="Noto Sans SC"/>
              </a:rPr>
              <a:t>https://www.unitree.com/g1/</a:t>
            </a:r>
          </a:p>
          <a:p>
            <a:r>
              <a:rPr lang="es-AR" sz="1100">
                <a:latin typeface="Aptos"/>
                <a:ea typeface="Noto Sans SC"/>
              </a:rPr>
              <a:t/>
            </a:r>
          </a:p>
          <a:p>
            <a:r>
              <a:rPr lang="es-AR" sz="1100">
                <a:latin typeface="Aptos"/>
                <a:ea typeface="Noto Sans SC"/>
              </a:rPr>
              <a:t>UBTECH Walker S2: Autonomous Battery Swapping</a:t>
            </a:r>
          </a:p>
          <a:p>
            <a:r>
              <a:rPr lang="es-AR" sz="1100">
                <a:latin typeface="Aptos"/>
                <a:ea typeface="Noto Sans SC"/>
              </a:rPr>
              <a:t>https://www.ubtrobot.com/en/humanoid/products/walker-s2</a:t>
            </a:r>
          </a:p>
          <a:p>
            <a:r>
              <a:rPr lang="es-AR" sz="1100">
                <a:latin typeface="Aptos"/>
                <a:ea typeface="Noto Sans SC"/>
              </a:rPr>
              <a:t/>
            </a:r>
          </a:p>
          <a:p>
            <a:r>
              <a:rPr lang="es-AR" sz="1100">
                <a:latin typeface="Aptos"/>
                <a:ea typeface="Noto Sans SC"/>
              </a:rPr>
              <a:t>AGIBOT's 15,000th Robot Rolls Off the Production Line</a:t>
            </a:r>
          </a:p>
          <a:p>
            <a:r>
              <a:rPr lang="es-AR" sz="1100">
                <a:latin typeface="Aptos"/>
                <a:ea typeface="Noto Sans SC"/>
              </a:rPr>
              <a:t>https://www.agibot.com/article/231/detail/82.html</a:t>
            </a:r>
          </a:p>
          <a:p>
            <a:r>
              <a:rPr lang="es-AR" sz="1100">
                <a:latin typeface="Aptos"/>
                <a:ea typeface="Noto Sans SC"/>
              </a:rPr>
              <a:t/>
            </a:r>
          </a:p>
          <a:p>
            <a:r>
              <a:rPr lang="es-AR" sz="1100">
                <a:latin typeface="Aptos"/>
                <a:ea typeface="Noto Sans SC"/>
              </a:rPr>
              <a:t>AGIBOT Concludes Six-Day Real Factory Livestream</a:t>
            </a:r>
          </a:p>
          <a:p>
            <a:r>
              <a:rPr lang="es-AR" sz="1100">
                <a:latin typeface="Aptos"/>
                <a:ea typeface="Noto Sans SC"/>
              </a:rPr>
              <a:t>https://www.agibot.com/article/231/detail/83.html</a:t>
            </a:r>
          </a:p>
          <a:p>
            <a:r>
              <a:rPr lang="es-AR" sz="1100">
                <a:latin typeface="Aptos"/>
                <a:ea typeface="Noto Sans SC"/>
              </a:rPr>
              <a:t/>
            </a:r>
          </a:p>
          <a:p>
            <a:r>
              <a:rPr lang="es-AR" sz="1100">
                <a:latin typeface="Aptos"/>
                <a:ea typeface="Noto Sans SC"/>
              </a:rPr>
              <a:t>IRON rolls off XPENG's new production line</a:t>
            </a:r>
          </a:p>
          <a:p>
            <a:r>
              <a:rPr lang="es-AR" sz="1100">
                <a:latin typeface="Aptos"/>
                <a:ea typeface="Noto Sans SC"/>
              </a:rPr>
              <a:t>https://www.xpeng.com/news/01a080371029a057bc8e8a02a2c6012b</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100">
                <a:latin typeface="Aptos"/>
                <a:ea typeface="Noto Sans SC"/>
              </a:rPr>
              <a:t>Concepto y contexto</a:t>
            </a:r>
          </a:p>
          <a:p>
            <a:r>
              <a:rPr lang="es-AR" sz="1100">
                <a:latin typeface="Aptos"/>
                <a:ea typeface="Noto Sans SC"/>
              </a:rPr>
              <a:t>Cierre bibliográfico: DeepSeek R1 y Qwen3 son informes de modelos fundacionales chinos; OpenVLA es un antecedente internacional de Vision-Language-Action, no debe atribuirse a un laboratorio chino. Shanghai AI Laboratory desarrolla investigación relevante en IA encarnada. RobotLab del curso es simulación educativa, no hardware. Material docente preparado a octubre de 2026.</a:t>
            </a:r>
          </a:p>
          <a:p>
            <a:r>
              <a:rPr lang="es-AR" sz="1100">
                <a:latin typeface="Aptos"/>
                <a:ea typeface="Noto Sans SC"/>
              </a:rPr>
              <a:t/>
            </a:r>
          </a:p>
          <a:p>
            <a:r>
              <a:rPr lang="es-AR" sz="1100">
                <a:latin typeface="Aptos"/>
                <a:ea typeface="Noto Sans SC"/>
              </a:rPr>
              <a:t>Precisiones y evidencia</a:t>
            </a:r>
          </a:p>
          <a:p>
            <a:r>
              <a:rPr lang="es-AR" sz="1100">
                <a:latin typeface="Aptos"/>
                <a:ea typeface="Noto Sans SC"/>
              </a:rPr>
              <a:t>Referencias científicas principales: DeepSeek-AI(2025), Qwen3 de An Yang et al.(2025) y OpenVLA de Moo Jin Kim et al.(2024). La referencia de DeepSeek original usa autor corporativo; no debe citarse como Ren et al. Las notas amplían investigación china con RDT-1B de Tsinghua, publicado en ICLR2025, y RoboScape, además de la documentación de InternVLA-N1 y A1 de Shanghai AI Laboratory. Diferenciar informes técnicos, artículos de conferencia y anuncios institucionales. En todos los casos se conservan fechas de las investigaciones y se evita convertir resultados de laboratorio en adopción comercial. RobotLab ofrece simulación educativa del curso y no representa un robot real. Las referencias originales conservan la atribución de sus investigadores, instituciones y empresas.</a:t>
            </a:r>
          </a:p>
          <a:p>
            <a:r>
              <a:rPr lang="es-AR" sz="1100">
                <a:latin typeface="Aptos"/>
                <a:ea typeface="Noto Sans SC"/>
              </a:rPr>
              <a:t/>
            </a:r>
          </a:p>
          <a:p>
            <a:r>
              <a:rPr lang="es-AR" sz="1100">
                <a:latin typeface="Aptos"/>
                <a:ea typeface="Noto Sans SC"/>
              </a:rPr>
              <a:t>Guía docente</a:t>
            </a:r>
          </a:p>
          <a:p>
            <a:r>
              <a:rPr lang="es-AR" sz="1100">
                <a:latin typeface="Aptos"/>
                <a:ea typeface="Noto Sans SC"/>
              </a:rPr>
              <a:t>Corregir la atribución original de DeepSeek-R1: la referencia de enero de 2025 identifica a DeepSeek-AI. Qwen3 corresponde a An Yang y colaboradores y OpenVLA a Moo Jin Kim y colaboradores. Distinguir informes técnicos, artículos de conferencia y comunicaciones institucionales. RobotLab es un recurso didáctico del curso.</a:t>
            </a:r>
          </a:p>
          <a:p>
            <a:r>
              <a:rPr lang="es-AR" sz="1100">
                <a:latin typeface="Aptos"/>
                <a:ea typeface="Noto Sans SC"/>
              </a:rPr>
              <a:t/>
            </a:r>
          </a:p>
          <a:p>
            <a:r>
              <a:rPr lang="es-AR" sz="1100">
                <a:latin typeface="Aptos"/>
                <a:ea typeface="Noto Sans SC"/>
              </a:rPr>
              <a:t>Fuentes originales (corte: 20 de octubre de 2026)</a:t>
            </a:r>
          </a:p>
          <a:p>
            <a:r>
              <a:rPr lang="es-AR" sz="1100">
                <a:latin typeface="Aptos"/>
                <a:ea typeface="Noto Sans SC"/>
              </a:rPr>
              <a:t>DeepSeek-AI (2025). DeepSeek-R1: Incentivizing Reasoning Capability in LLMs via Reinforcement Learning</a:t>
            </a:r>
          </a:p>
          <a:p>
            <a:r>
              <a:rPr lang="es-AR" sz="1100">
                <a:latin typeface="Aptos"/>
                <a:ea typeface="Noto Sans SC"/>
              </a:rPr>
              <a:t>https://arxiv.org/abs/2501.12948v1</a:t>
            </a:r>
          </a:p>
          <a:p>
            <a:r>
              <a:rPr lang="es-AR" sz="1100">
                <a:latin typeface="Aptos"/>
                <a:ea typeface="Noto Sans SC"/>
              </a:rPr>
              <a:t/>
            </a:r>
          </a:p>
          <a:p>
            <a:r>
              <a:rPr lang="es-AR" sz="1100">
                <a:latin typeface="Aptos"/>
                <a:ea typeface="Noto Sans SC"/>
              </a:rPr>
              <a:t>An Yang et al. (2025). Qwen3 Technical Report</a:t>
            </a:r>
          </a:p>
          <a:p>
            <a:r>
              <a:rPr lang="es-AR" sz="1100">
                <a:latin typeface="Aptos"/>
                <a:ea typeface="Noto Sans SC"/>
              </a:rPr>
              <a:t>https://arxiv.org/abs/2505.09388</a:t>
            </a:r>
          </a:p>
          <a:p>
            <a:r>
              <a:rPr lang="es-AR" sz="1100">
                <a:latin typeface="Aptos"/>
                <a:ea typeface="Noto Sans SC"/>
              </a:rPr>
              <a:t/>
            </a:r>
          </a:p>
          <a:p>
            <a:r>
              <a:rPr lang="es-AR" sz="1100">
                <a:latin typeface="Aptos"/>
                <a:ea typeface="Noto Sans SC"/>
              </a:rPr>
              <a:t>Moo Jin Kim et al. (2024). OpenVLA: An Open-Source Vision-Language-Action Model</a:t>
            </a:r>
          </a:p>
          <a:p>
            <a:r>
              <a:rPr lang="es-AR" sz="1100">
                <a:latin typeface="Aptos"/>
                <a:ea typeface="Noto Sans SC"/>
              </a:rPr>
              <a:t>https://arxiv.org/abs/2406.09246</a:t>
            </a:r>
          </a:p>
          <a:p>
            <a:r>
              <a:rPr lang="es-AR" sz="1100">
                <a:latin typeface="Aptos"/>
                <a:ea typeface="Noto Sans SC"/>
              </a:rPr>
              <a:t/>
            </a:r>
          </a:p>
          <a:p>
            <a:r>
              <a:rPr lang="es-AR" sz="1100">
                <a:latin typeface="Aptos"/>
                <a:ea typeface="Noto Sans SC"/>
              </a:rPr>
              <a:t>上海人工智能实验室 (2025). 具身智能开源周：导航、操作、运动大模型及数据集批量上线</a:t>
            </a:r>
          </a:p>
          <a:p>
            <a:r>
              <a:rPr lang="es-AR" sz="1100">
                <a:latin typeface="Aptos"/>
                <a:ea typeface="Noto Sans SC"/>
              </a:rPr>
              <a:t>https://www.shlab.org.cn/news/5444209</a:t>
            </a:r>
          </a:p>
          <a:p>
            <a:r>
              <a:rPr lang="es-AR" sz="1100">
                <a:latin typeface="Aptos"/>
                <a:ea typeface="Noto Sans SC"/>
              </a:rPr>
              <a:t/>
            </a:r>
          </a:p>
          <a:p>
            <a:r>
              <a:rPr lang="es-AR" sz="1100">
                <a:latin typeface="Aptos"/>
                <a:ea typeface="Noto Sans SC"/>
              </a:rPr>
              <a:t>Songming Liu et al. (2024/2025). RDT-1B: a Diffusion Foundation Model for Bimanual Manipulation. ICLR 2025</a:t>
            </a:r>
          </a:p>
          <a:p>
            <a:r>
              <a:rPr lang="es-AR" sz="1100">
                <a:latin typeface="Aptos"/>
                <a:ea typeface="Noto Sans SC"/>
              </a:rPr>
              <a:t>https://proceedings.iclr.cc/paper_files/paper/2025/hash/49f80e4d2471ad4f2edf4f5f1ab62339-Abstract-Conference.html</a:t>
            </a:r>
          </a:p>
          <a:p>
            <a:r>
              <a:rPr lang="es-AR" sz="1100">
                <a:latin typeface="Aptos"/>
                <a:ea typeface="Noto Sans SC"/>
              </a:rPr>
              <a:t/>
            </a:r>
          </a:p>
          <a:p>
            <a:r>
              <a:rPr lang="es-AR" sz="1100">
                <a:latin typeface="Aptos"/>
                <a:ea typeface="Noto Sans SC"/>
              </a:rPr>
              <a:t>Yu Shang et al. (2025). RoboScape: Physics-informed Embodied World Model</a:t>
            </a:r>
          </a:p>
          <a:p>
            <a:r>
              <a:rPr lang="es-AR" sz="1100">
                <a:latin typeface="Aptos"/>
                <a:ea typeface="Noto Sans SC"/>
              </a:rPr>
              <a:t>https://arxiv.org/abs/2506.23135</a:t>
            </a:r>
          </a:p>
          <a:p>
            <a:r>
              <a:rPr lang="es-AR" sz="1100">
                <a:latin typeface="Aptos"/>
                <a:ea typeface="Noto Sans SC"/>
              </a:rPr>
              <a:t/>
            </a:r>
          </a:p>
          <a:p>
            <a:r>
              <a:rPr lang="es-AR" sz="1100">
                <a:latin typeface="Aptos"/>
                <a:ea typeface="Noto Sans SC"/>
              </a:rPr>
              <a:t>清华大学 Future Intelligence Lab (2025). 理解世界还是预测未来？世界模型全面综述</a:t>
            </a:r>
          </a:p>
          <a:p>
            <a:r>
              <a:rPr lang="es-AR" sz="1100">
                <a:latin typeface="Aptos"/>
                <a:ea typeface="Noto Sans SC"/>
              </a:rPr>
              <a:t>https://fi.ee.tsinghua.edu.cn/news/20/</a:t>
            </a:r>
          </a:p>
          <a:p>
            <a:r>
              <a:rPr lang="es-AR" sz="1100">
                <a:latin typeface="Aptos"/>
                <a:ea typeface="Noto Sans SC"/>
              </a:rPr>
              <a:t/>
            </a:r>
          </a:p>
          <a:p>
            <a:r>
              <a:rPr lang="es-AR" sz="1100">
                <a:latin typeface="Aptos"/>
                <a:ea typeface="Noto Sans SC"/>
              </a:rPr>
              <a:t>RobotLab del curso: laboratorio didáctico de robótica humanoide</a:t>
            </a:r>
          </a:p>
          <a:p>
            <a:r>
              <a:rPr lang="es-AR" sz="1100">
                <a:latin typeface="Aptos"/>
                <a:ea typeface="Noto Sans SC"/>
              </a:rPr>
              <a:t>https://sgevatschnaider.github.io/Inteligencia-Artificial-y-Rob-tica-en-China/robotlab/</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unitree-g1-official.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ifr.org/downloads/press_docs/EN-2026-SEP-24-IFR_Press_Release_WR-CHINA.pdf" TargetMode="External"/><Relationship Id="rId2" Type="http://schemas.openxmlformats.org/officeDocument/2006/relationships/hyperlink" Target="https://www.unitree.com/g1/" TargetMode="External"/><Relationship Id="rId3" Type="http://schemas.openxmlformats.org/officeDocument/2006/relationships/hyperlink" Target="https://www.ubtrobot.com/en/humanoid/products/walker-s2" TargetMode="External"/><Relationship Id="rId4" Type="http://schemas.openxmlformats.org/officeDocument/2006/relationships/hyperlink" Target="https://www.agibot.com/article/231/detail/82.html" TargetMode="External"/><Relationship Id="rId5" Type="http://schemas.openxmlformats.org/officeDocument/2006/relationships/hyperlink" Target="https://www.agibot.com/article/231/detail/83.html" TargetMode="External"/><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rxiv.org/abs/2501.12948" TargetMode="External"/><Relationship Id="rId2" Type="http://schemas.openxmlformats.org/officeDocument/2006/relationships/hyperlink" Target="https://arxiv.org/abs/2505.09388" TargetMode="External"/><Relationship Id="rId3" Type="http://schemas.openxmlformats.org/officeDocument/2006/relationships/hyperlink" Target="https://arxiv.org/abs/2406.09246" TargetMode="External"/><Relationship Id="rId4" Type="http://schemas.openxmlformats.org/officeDocument/2006/relationships/hyperlink" Target="https://www.shlab.org.cn/news/5444209" TargetMode="External"/><Relationship Id="rId5" Type="http://schemas.openxmlformats.org/officeDocument/2006/relationships/hyperlink" Target="https://sgevatschnaider.github.io/Inteligencia-Artificial-y-Rob-tica-en-China/robotlab/" TargetMode="External"/><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lustración conceptual generada con inteligencia artificial. No representa productos ni despliegues reales.">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7132320" cy="6858000"/>
          </a:xfrm>
          <a:prstGeom prst="rect">
            <a:avLst/>
          </a:prstGeom>
          <a:solidFill>
            <a:srgbClr val="061320">
              <a:alpha val="75000"/>
            </a:srgbClr>
          </a:solidFill>
          <a:ln w="12700">
            <a:solidFill>
              <a:srgbClr val="061320">
                <a:alpha val="0"/>
              </a:srgbClr>
            </a:solidFill>
            <a:prstDash val="solid"/>
          </a:ln>
        </p:spPr>
      </p:sp>
      <p:sp>
        <p:nvSpPr>
          <p:cNvPr id="4" name="Shape 1"/>
          <p:cNvSpPr/>
          <p:nvPr/>
        </p:nvSpPr>
        <p:spPr>
          <a:xfrm>
            <a:off x="548640" y="621792"/>
            <a:ext cx="3154680" cy="0"/>
          </a:xfrm>
          <a:prstGeom prst="line">
            <a:avLst/>
          </a:prstGeom>
          <a:noFill/>
          <a:ln w="25400">
            <a:solidFill>
              <a:srgbClr val="F3C56C"/>
            </a:solidFill>
            <a:prstDash val="solid"/>
          </a:ln>
        </p:spPr>
      </p:sp>
      <p:sp>
        <p:nvSpPr>
          <p:cNvPr id="5" name="Text 2"/>
          <p:cNvSpPr/>
          <p:nvPr/>
        </p:nvSpPr>
        <p:spPr>
          <a:xfrm>
            <a:off x="585216" y="329184"/>
            <a:ext cx="5486400" cy="246888"/>
          </a:xfrm>
          <a:prstGeom prst="rect">
            <a:avLst/>
          </a:prstGeom>
          <a:noFill/>
          <a:ln/>
        </p:spPr>
        <p:txBody>
          <a:bodyPr wrap="square" lIns="0" tIns="0" rIns="0" bIns="0" rtlCol="0" anchor="ctr" vert="horz">
            <a:normAutofit/>
          </a:bodyPr>
          <a:lstStyle/>
          <a:p>
            <a:pPr algn="l" indent="0" marL="0">
              <a:buNone/>
            </a:pPr>
            <a:r>
              <a:rPr lang="en-US" sz="1100" b="1" spc="180" kern="0" dirty="0">
                <a:solidFill>
                  <a:srgbClr val="F3C56C"/>
                </a:solidFill>
                <a:latin typeface="Aptos" pitchFamily="34" charset="0"/>
                <a:ea typeface="Aptos" pitchFamily="34" charset="-122"/>
                <a:cs typeface="Aptos" pitchFamily="34" charset="-120"/>
              </a:rPr>
              <a:t>CHINA TECNOLÓGICA  ·  MÓDULO 02</a:t>
            </a:r>
            <a:endParaRPr lang="en-US" sz="1100" dirty="0"/>
          </a:p>
        </p:txBody>
      </p:sp>
      <p:sp>
        <p:nvSpPr>
          <p:cNvPr id="6" name="Text 3"/>
          <p:cNvSpPr/>
          <p:nvPr/>
        </p:nvSpPr>
        <p:spPr>
          <a:xfrm>
            <a:off x="548640" y="960120"/>
            <a:ext cx="7223760" cy="1024128"/>
          </a:xfrm>
          <a:prstGeom prst="rect">
            <a:avLst/>
          </a:prstGeom>
          <a:noFill/>
          <a:ln/>
        </p:spPr>
        <p:txBody>
          <a:bodyPr wrap="square" lIns="0" tIns="0" rIns="0" bIns="0" rtlCol="0" anchor="ctr" vert="horz">
            <a:normAutofit/>
          </a:bodyPr>
          <a:lstStyle/>
          <a:p>
            <a:pPr algn="l" indent="0" marL="0">
              <a:buNone/>
            </a:pPr>
            <a:r>
              <a:rPr lang="en-US" sz="5300" dirty="0">
                <a:solidFill>
                  <a:srgbClr val="F6EEDF"/>
                </a:solidFill>
                <a:latin typeface="Georgia" pitchFamily="34" charset="0"/>
                <a:ea typeface="Georgia" pitchFamily="34" charset="-122"/>
                <a:cs typeface="Georgia" pitchFamily="34" charset="-120"/>
              </a:rPr>
              <a:t>EL ANDROIDE</a:t>
            </a:r>
            <a:endParaRPr lang="en-US" sz="5300" dirty="0"/>
          </a:p>
        </p:txBody>
      </p:sp>
      <p:sp>
        <p:nvSpPr>
          <p:cNvPr id="1001" name="Verified editable Chinese title">
            <a:extLst>
              <a:ext uri="{FF2B5EF4-FFF2-40B4-BE49-F238E27FC236}">
                <a16:creationId xmlns:a16="http://schemas.microsoft.com/office/drawing/2014/main" id="{E688DA8A-6BF9-4F1B-9247-81B7C72005EB}"/>
              </a:ext>
            </a:extLst>
          </p:cNvPr>
          <p:cNvSpPr>
            <a:spLocks noGrp="1"/>
          </p:cNvSpPr>
          <p:nvPr/>
        </p:nvSpPr>
        <p:spPr>
          <a:xfrm>
            <a:off x="649224" y="1984248"/>
            <a:ext cx="5806440" cy="932688"/>
          </a:xfrm>
          <a:prstGeom prst="rect">
            <a:avLst/>
          </a:prstGeom>
          <a:noFill/>
          <a:ln w="0">
            <a:noFill/>
            <a:prstDash val="solid"/>
          </a:ln>
        </p:spPr>
        <p:txBody>
          <a:bodyPr anchor="ctr"/>
          <a:lstStyle>
            <a:defPPr algn="ctr">
              <a:defRPr sz="5400">
                <a:solidFill>
                  <a:srgbClr val="F6CC70"/>
                </a:solidFill>
              </a:defRPr>
            </a:defPPr>
            <a:lvl1pPr algn="ctr">
              <a:defRPr sz="5400">
                <a:solidFill>
                  <a:srgbClr val="F6CC70"/>
                </a:solidFill>
              </a:defRPr>
            </a:lvl1pPr>
            <a:lvl2pPr algn="ctr">
              <a:defRPr sz="5400">
                <a:solidFill>
                  <a:srgbClr val="F6CC70"/>
                </a:solidFill>
              </a:defRPr>
            </a:lvl2pPr>
            <a:lvl3pPr algn="ctr">
              <a:defRPr sz="5400">
                <a:solidFill>
                  <a:srgbClr val="F6CC70"/>
                </a:solidFill>
              </a:defRPr>
            </a:lvl3pPr>
            <a:lvl4pPr algn="ctr">
              <a:defRPr sz="5400">
                <a:solidFill>
                  <a:srgbClr val="F6CC70"/>
                </a:solidFill>
              </a:defRPr>
            </a:lvl4pPr>
            <a:lvl5pPr algn="ctr">
              <a:defRPr sz="5400">
                <a:solidFill>
                  <a:srgbClr val="F6CC70"/>
                </a:solidFill>
              </a:defRPr>
            </a:lvl5pPr>
            <a:lvl6pPr algn="ctr">
              <a:defRPr sz="5400">
                <a:solidFill>
                  <a:srgbClr val="F6CC70"/>
                </a:solidFill>
              </a:defRPr>
            </a:lvl6pPr>
            <a:lvl7pPr algn="ctr">
              <a:defRPr sz="5400">
                <a:solidFill>
                  <a:srgbClr val="F6CC70"/>
                </a:solidFill>
              </a:defRPr>
            </a:lvl7pPr>
            <a:lvl8pPr algn="ctr">
              <a:defRPr sz="5400">
                <a:solidFill>
                  <a:srgbClr val="F6CC70"/>
                </a:solidFill>
              </a:defRPr>
            </a:lvl8pPr>
            <a:lvl9pPr algn="ctr">
              <a:defRPr sz="5400">
                <a:solidFill>
                  <a:srgbClr val="F6CC70"/>
                </a:solidFill>
              </a:defRPr>
            </a:lvl9pPr>
          </a:lstStyle>
          <a:p>
            <a:pPr algn="ctr">
              <a:defRPr sz="5400">
                <a:solidFill>
                  <a:srgbClr val="F6CC70"/>
                </a:solidFill>
              </a:defRPr>
            </a:pPr>
            <a:r>
              <a:rPr sz="5400">
                <a:solidFill>
                  <a:srgbClr val="F6CC70"/>
                </a:solidFill>
                <a:ea typeface="Noto Sans SC"/>
              </a:rPr>
              <a:t>人形机器人</a:t>
            </a:r>
          </a:p>
        </p:txBody>
      </p:sp>
      <p:sp>
        <p:nvSpPr>
          <p:cNvPr id="8" name="Text 4"/>
          <p:cNvSpPr/>
          <p:nvPr/>
        </p:nvSpPr>
        <p:spPr>
          <a:xfrm>
            <a:off x="640080" y="2953512"/>
            <a:ext cx="6126480" cy="292608"/>
          </a:xfrm>
          <a:prstGeom prst="rect">
            <a:avLst/>
          </a:prstGeom>
          <a:noFill/>
          <a:ln/>
        </p:spPr>
        <p:txBody>
          <a:bodyPr wrap="square" lIns="0" tIns="0" rIns="0" bIns="0" rtlCol="0" anchor="ctr" vert="horz">
            <a:normAutofit/>
          </a:bodyPr>
          <a:lstStyle/>
          <a:p>
            <a:pPr algn="l" indent="0" marL="0">
              <a:buNone/>
            </a:pPr>
            <a:r>
              <a:rPr lang="en-US" sz="1340" b="1" spc="50" kern="0" dirty="0">
                <a:solidFill>
                  <a:srgbClr val="67CADA"/>
                </a:solidFill>
                <a:latin typeface="Aptos" pitchFamily="34" charset="0"/>
                <a:ea typeface="Aptos" pitchFamily="34" charset="-122"/>
                <a:cs typeface="Aptos" pitchFamily="34" charset="-120"/>
              </a:rPr>
              <a:t>RÉNXÍNG JĪQÌRÉN  ·  ROBOT HUMANOIDE</a:t>
            </a:r>
            <a:endParaRPr lang="en-US" sz="1340" dirty="0"/>
          </a:p>
        </p:txBody>
      </p:sp>
      <p:sp>
        <p:nvSpPr>
          <p:cNvPr id="9" name="Shape 5"/>
          <p:cNvSpPr/>
          <p:nvPr/>
        </p:nvSpPr>
        <p:spPr>
          <a:xfrm>
            <a:off x="621792" y="3438144"/>
            <a:ext cx="4361688" cy="0"/>
          </a:xfrm>
          <a:prstGeom prst="line">
            <a:avLst/>
          </a:prstGeom>
          <a:noFill/>
          <a:ln w="38100">
            <a:solidFill>
              <a:srgbClr val="D8524B"/>
            </a:solidFill>
            <a:prstDash val="solid"/>
          </a:ln>
        </p:spPr>
      </p:sp>
      <p:sp>
        <p:nvSpPr>
          <p:cNvPr id="10" name="Text 6"/>
          <p:cNvSpPr/>
          <p:nvPr/>
        </p:nvSpPr>
        <p:spPr>
          <a:xfrm>
            <a:off x="630936" y="3611880"/>
            <a:ext cx="6035040" cy="1280160"/>
          </a:xfrm>
          <a:prstGeom prst="rect">
            <a:avLst/>
          </a:prstGeom>
          <a:noFill/>
          <a:ln/>
        </p:spPr>
        <p:txBody>
          <a:bodyPr wrap="square" lIns="0" tIns="0" rIns="0" bIns="0" rtlCol="0" anchor="ctr" vert="horz">
            <a:normAutofit/>
          </a:bodyPr>
          <a:lstStyle/>
          <a:p>
            <a:pPr algn="l" indent="0" marL="0">
              <a:buNone/>
            </a:pPr>
            <a:r>
              <a:rPr lang="en-US" sz="2600" dirty="0">
                <a:solidFill>
                  <a:srgbClr val="F6EEDF"/>
                </a:solidFill>
                <a:latin typeface="Georgia" pitchFamily="34" charset="0"/>
                <a:ea typeface="Georgia" pitchFamily="34" charset="-122"/>
                <a:cs typeface="Georgia" pitchFamily="34" charset="-120"/>
              </a:rPr>
              <a:t>Las empresas tecnológicas y la transformación de la inteligencia artificial en China</a:t>
            </a:r>
            <a:endParaRPr lang="en-US" sz="2600" dirty="0"/>
          </a:p>
        </p:txBody>
      </p:sp>
      <p:sp>
        <p:nvSpPr>
          <p:cNvPr id="11" name="Shape 7"/>
          <p:cNvSpPr/>
          <p:nvPr/>
        </p:nvSpPr>
        <p:spPr>
          <a:xfrm>
            <a:off x="630936" y="5230368"/>
            <a:ext cx="6071616" cy="448056"/>
          </a:xfrm>
          <a:prstGeom prst="roundRect">
            <a:avLst/>
          </a:prstGeom>
          <a:solidFill>
            <a:srgbClr val="102B3B"/>
          </a:solidFill>
          <a:ln w="10160">
            <a:solidFill>
              <a:srgbClr val="365061"/>
            </a:solidFill>
            <a:prstDash val="solid"/>
          </a:ln>
        </p:spPr>
      </p:sp>
      <p:sp>
        <p:nvSpPr>
          <p:cNvPr id="12" name="Text 8"/>
          <p:cNvSpPr/>
          <p:nvPr/>
        </p:nvSpPr>
        <p:spPr>
          <a:xfrm>
            <a:off x="841248" y="5349240"/>
            <a:ext cx="5733288" cy="210312"/>
          </a:xfrm>
          <a:prstGeom prst="rect">
            <a:avLst/>
          </a:prstGeom>
          <a:noFill/>
          <a:ln/>
        </p:spPr>
        <p:txBody>
          <a:bodyPr wrap="square" lIns="0" tIns="0" rIns="0" bIns="0" rtlCol="0" anchor="ctr" vert="horz">
            <a:normAutofit/>
          </a:bodyPr>
          <a:lstStyle/>
          <a:p>
            <a:pPr algn="l" indent="0" marL="0">
              <a:buNone/>
            </a:pPr>
            <a:r>
              <a:rPr lang="en-US" sz="1230" b="1" dirty="0">
                <a:solidFill>
                  <a:srgbClr val="F3C56C"/>
                </a:solidFill>
                <a:latin typeface="Aptos" pitchFamily="34" charset="0"/>
                <a:ea typeface="Aptos" pitchFamily="34" charset="-122"/>
                <a:cs typeface="Aptos" pitchFamily="34" charset="-120"/>
              </a:rPr>
              <a:t>Material elaborado por el profesor Sergio Gevatschnaider</a:t>
            </a:r>
            <a:endParaRPr lang="en-US" sz="1230" dirty="0"/>
          </a:p>
        </p:txBody>
      </p:sp>
      <p:sp>
        <p:nvSpPr>
          <p:cNvPr id="13" name="Text 9"/>
          <p:cNvSpPr/>
          <p:nvPr/>
        </p:nvSpPr>
        <p:spPr>
          <a:xfrm>
            <a:off x="630936" y="6080760"/>
            <a:ext cx="6583680" cy="228600"/>
          </a:xfrm>
          <a:prstGeom prst="rect">
            <a:avLst/>
          </a:prstGeom>
          <a:noFill/>
          <a:ln/>
        </p:spPr>
        <p:txBody>
          <a:bodyPr wrap="square" lIns="0" tIns="0" rIns="0" bIns="0" rtlCol="0" anchor="ctr" vert="horz">
            <a:normAutofit/>
          </a:bodyPr>
          <a:lstStyle/>
          <a:p>
            <a:pPr algn="l" indent="0" marL="0">
              <a:buNone/>
            </a:pPr>
            <a:r>
              <a:rPr lang="en-US" sz="1120" dirty="0">
                <a:solidFill>
                  <a:srgbClr val="A8C0CD"/>
                </a:solidFill>
                <a:latin typeface="Aptos" pitchFamily="34" charset="0"/>
                <a:ea typeface="Aptos" pitchFamily="34" charset="-122"/>
                <a:cs typeface="Aptos" pitchFamily="34" charset="-120"/>
              </a:rPr>
              <a:t>OCTUBRE DE 2026  ·  ILUSTRACIÓN CONCEPTUAL CON IA</a:t>
            </a:r>
            <a:endParaRPr lang="en-US" sz="11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Ilustración conceptual generada con inteligencia artificial. No representa productos ni despliegues reales.">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61320">
              <a:alpha val="77000"/>
            </a:srgbClr>
          </a:solidFill>
          <a:ln w="12700">
            <a:solidFill>
              <a:srgbClr val="061320">
                <a:alpha val="0"/>
              </a:srgbClr>
            </a:solidFill>
            <a:prstDash val="solid"/>
          </a:ln>
        </p:spPr>
      </p:sp>
      <p:sp>
        <p:nvSpPr>
          <p:cNvPr id="4" name="Shape 1"/>
          <p:cNvSpPr/>
          <p:nvPr/>
        </p:nvSpPr>
        <p:spPr>
          <a:xfrm>
            <a:off x="0" y="0"/>
            <a:ext cx="6711696" cy="6858000"/>
          </a:xfrm>
          <a:prstGeom prst="rect">
            <a:avLst/>
          </a:prstGeom>
          <a:solidFill>
            <a:srgbClr val="061320">
              <a:alpha val="86000"/>
            </a:srgbClr>
          </a:solidFill>
          <a:ln w="12700">
            <a:solidFill>
              <a:srgbClr val="061320">
                <a:alpha val="0"/>
              </a:srgbClr>
            </a:solidFill>
            <a:prstDash val="solid"/>
          </a:ln>
        </p:spPr>
      </p:sp>
      <p:sp>
        <p:nvSpPr>
          <p:cNvPr id="5" name="Text 2"/>
          <p:cNvSpPr/>
          <p:nvPr/>
        </p:nvSpPr>
        <p:spPr>
          <a:xfrm>
            <a:off x="566928" y="411480"/>
            <a:ext cx="3657600" cy="274320"/>
          </a:xfrm>
          <a:prstGeom prst="rect">
            <a:avLst/>
          </a:prstGeom>
          <a:noFill/>
          <a:ln/>
        </p:spPr>
        <p:txBody>
          <a:bodyPr wrap="square" lIns="0" tIns="0" rIns="0" bIns="0" rtlCol="0" anchor="ctr" vert="horz">
            <a:normAutofit/>
          </a:bodyPr>
          <a:lstStyle/>
          <a:p>
            <a:pPr algn="l" indent="0" marL="0">
              <a:buNone/>
            </a:pPr>
            <a:r>
              <a:rPr lang="en-US" sz="1100" b="1" spc="240" kern="0" dirty="0">
                <a:solidFill>
                  <a:srgbClr val="F3C56C"/>
                </a:solidFill>
                <a:latin typeface="Aptos" pitchFamily="34" charset="0"/>
                <a:ea typeface="Aptos" pitchFamily="34" charset="-122"/>
                <a:cs typeface="Aptos" pitchFamily="34" charset="-120"/>
              </a:rPr>
              <a:t>MÓDULO 02</a:t>
            </a:r>
            <a:endParaRPr lang="en-US" sz="1100" dirty="0"/>
          </a:p>
        </p:txBody>
      </p:sp>
      <p:sp>
        <p:nvSpPr>
          <p:cNvPr id="6" name="Text 3"/>
          <p:cNvSpPr/>
          <p:nvPr/>
        </p:nvSpPr>
        <p:spPr>
          <a:xfrm>
            <a:off x="11119104" y="365760"/>
            <a:ext cx="548640" cy="310896"/>
          </a:xfrm>
          <a:prstGeom prst="rect">
            <a:avLst/>
          </a:prstGeom>
          <a:noFill/>
          <a:ln/>
        </p:spPr>
        <p:txBody>
          <a:bodyPr wrap="square" lIns="0" tIns="0" rIns="0" bIns="0" rtlCol="0" anchor="ctr" vert="horz">
            <a:normAutofit/>
          </a:bodyPr>
          <a:lstStyle/>
          <a:p>
            <a:pPr algn="r" indent="0" marL="0">
              <a:buNone/>
            </a:pPr>
            <a:r>
              <a:rPr lang="en-US" sz="1700" dirty="0">
                <a:solidFill>
                  <a:srgbClr val="F3C56C"/>
                </a:solidFill>
                <a:latin typeface="Georgia" pitchFamily="34" charset="0"/>
                <a:ea typeface="Georgia" pitchFamily="34" charset="-122"/>
                <a:cs typeface="Georgia" pitchFamily="34" charset="-120"/>
              </a:rPr>
              <a:t>02</a:t>
            </a:r>
            <a:endParaRPr lang="en-US" sz="1700" dirty="0"/>
          </a:p>
        </p:txBody>
      </p:sp>
      <p:sp>
        <p:nvSpPr>
          <p:cNvPr id="7" name="Text 4"/>
          <p:cNvSpPr/>
          <p:nvPr/>
        </p:nvSpPr>
        <p:spPr>
          <a:xfrm>
            <a:off x="576072" y="1005840"/>
            <a:ext cx="7406640" cy="1517904"/>
          </a:xfrm>
          <a:prstGeom prst="rect">
            <a:avLst/>
          </a:prstGeom>
          <a:noFill/>
          <a:ln/>
        </p:spPr>
        <p:txBody>
          <a:bodyPr wrap="square" lIns="0" tIns="0" rIns="0" bIns="0" rtlCol="0" anchor="ctr" vert="horz">
            <a:normAutofit/>
          </a:bodyPr>
          <a:lstStyle/>
          <a:p>
            <a:pPr algn="l" indent="0" marL="0">
              <a:buNone/>
            </a:pPr>
            <a:r>
              <a:rPr lang="en-US" sz="3900" dirty="0">
                <a:solidFill>
                  <a:srgbClr val="F6EEDF"/>
                </a:solidFill>
                <a:latin typeface="Georgia" pitchFamily="34" charset="0"/>
                <a:ea typeface="Georgia" pitchFamily="34" charset="-122"/>
                <a:cs typeface="Georgia" pitchFamily="34" charset="-120"/>
              </a:rPr>
              <a:t>¿Qué representa</a:t>
            </a:r>
            <a:endParaRPr lang="en-US" sz="3900" dirty="0"/>
          </a:p>
          <a:p>
            <a:pPr algn="l" indent="0" marL="0">
              <a:buNone/>
            </a:pPr>
            <a:r>
              <a:rPr lang="en-US" sz="3900" dirty="0">
                <a:solidFill>
                  <a:srgbClr val="F6EEDF"/>
                </a:solidFill>
                <a:latin typeface="Georgia" pitchFamily="34" charset="0"/>
                <a:ea typeface="Georgia" pitchFamily="34" charset="-122"/>
                <a:cs typeface="Georgia" pitchFamily="34" charset="-120"/>
              </a:rPr>
              <a:t>el androide?</a:t>
            </a:r>
            <a:endParaRPr lang="en-US" sz="3900" dirty="0"/>
          </a:p>
        </p:txBody>
      </p:sp>
      <p:sp>
        <p:nvSpPr>
          <p:cNvPr id="8" name="Shape 5"/>
          <p:cNvSpPr/>
          <p:nvPr/>
        </p:nvSpPr>
        <p:spPr>
          <a:xfrm>
            <a:off x="612648" y="2834640"/>
            <a:ext cx="3959352" cy="0"/>
          </a:xfrm>
          <a:prstGeom prst="line">
            <a:avLst/>
          </a:prstGeom>
          <a:noFill/>
          <a:ln w="38100">
            <a:solidFill>
              <a:srgbClr val="D8524B"/>
            </a:solidFill>
            <a:prstDash val="solid"/>
          </a:ln>
        </p:spPr>
      </p:sp>
      <p:sp>
        <p:nvSpPr>
          <p:cNvPr id="9" name="Text 6"/>
          <p:cNvSpPr/>
          <p:nvPr/>
        </p:nvSpPr>
        <p:spPr>
          <a:xfrm>
            <a:off x="658368" y="3090672"/>
            <a:ext cx="5303520" cy="338328"/>
          </a:xfrm>
          <a:prstGeom prst="rect">
            <a:avLst/>
          </a:prstGeom>
          <a:noFill/>
          <a:ln/>
        </p:spPr>
        <p:txBody>
          <a:bodyPr wrap="square" lIns="0" tIns="0" rIns="0" bIns="0" rtlCol="0" anchor="ctr" vert="horz">
            <a:normAutofit/>
          </a:bodyPr>
          <a:lstStyle/>
          <a:p>
            <a:pPr algn="l" indent="0" marL="0">
              <a:buNone/>
            </a:pPr>
            <a:r>
              <a:rPr lang="en-US" sz="2150" b="1" dirty="0">
                <a:solidFill>
                  <a:srgbClr val="F3C56C"/>
                </a:solidFill>
                <a:latin typeface="Aptos" pitchFamily="34" charset="0"/>
                <a:ea typeface="Aptos" pitchFamily="34" charset="-122"/>
                <a:cs typeface="Aptos" pitchFamily="34" charset="-120"/>
              </a:rPr>
              <a:t>No solo robots humanoides:</a:t>
            </a:r>
            <a:endParaRPr lang="en-US" sz="2150" dirty="0"/>
          </a:p>
        </p:txBody>
      </p:sp>
      <p:sp>
        <p:nvSpPr>
          <p:cNvPr id="10" name="Text 7"/>
          <p:cNvSpPr/>
          <p:nvPr/>
        </p:nvSpPr>
        <p:spPr>
          <a:xfrm>
            <a:off x="649224" y="3575304"/>
            <a:ext cx="5486400" cy="1463040"/>
          </a:xfrm>
          <a:prstGeom prst="rect">
            <a:avLst/>
          </a:prstGeom>
          <a:noFill/>
          <a:ln/>
        </p:spPr>
        <p:txBody>
          <a:bodyPr wrap="square" lIns="0" tIns="0" rIns="0" bIns="0" rtlCol="0" anchor="ctr" vert="horz">
            <a:normAutofit/>
          </a:bodyPr>
          <a:lstStyle/>
          <a:p>
            <a:pPr algn="l" indent="0" marL="0">
              <a:buNone/>
            </a:pPr>
            <a:r>
              <a:rPr lang="en-US" sz="2150" dirty="0">
                <a:solidFill>
                  <a:srgbClr val="F6EEDF"/>
                </a:solidFill>
                <a:latin typeface="Aptos" pitchFamily="34" charset="0"/>
                <a:ea typeface="Aptos" pitchFamily="34" charset="-122"/>
                <a:cs typeface="Aptos" pitchFamily="34" charset="-120"/>
              </a:rPr>
              <a:t>empresas que diseñan modelos de IA, fabrican robots y chips, compiten, comercializan y aprenden de su operación.</a:t>
            </a:r>
            <a:endParaRPr lang="en-US" sz="2150" dirty="0"/>
          </a:p>
        </p:txBody>
      </p:sp>
      <p:sp>
        <p:nvSpPr>
          <p:cNvPr id="11" name="Shape 8"/>
          <p:cNvSpPr/>
          <p:nvPr/>
        </p:nvSpPr>
        <p:spPr>
          <a:xfrm>
            <a:off x="658368" y="5532120"/>
            <a:ext cx="1755648" cy="347472"/>
          </a:xfrm>
          <a:prstGeom prst="roundRect">
            <a:avLst/>
          </a:prstGeom>
          <a:solidFill>
            <a:srgbClr val="061320"/>
          </a:solidFill>
          <a:ln w="10160">
            <a:solidFill>
              <a:srgbClr val="67CADA"/>
            </a:solidFill>
            <a:prstDash val="solid"/>
          </a:ln>
        </p:spPr>
      </p:sp>
      <p:sp>
        <p:nvSpPr>
          <p:cNvPr id="12" name="Text 9"/>
          <p:cNvSpPr/>
          <p:nvPr/>
        </p:nvSpPr>
        <p:spPr>
          <a:xfrm>
            <a:off x="704088" y="5577840"/>
            <a:ext cx="1664208" cy="237744"/>
          </a:xfrm>
          <a:prstGeom prst="rect">
            <a:avLst/>
          </a:prstGeom>
          <a:noFill/>
          <a:ln/>
        </p:spPr>
        <p:txBody>
          <a:bodyPr wrap="square" lIns="0" tIns="0" rIns="0" bIns="0" rtlCol="0" anchor="ctr" vert="horz">
            <a:normAutofit/>
          </a:bodyPr>
          <a:lstStyle/>
          <a:p>
            <a:pPr algn="ctr" indent="0" marL="0">
              <a:buNone/>
            </a:pPr>
            <a:r>
              <a:rPr lang="en-US" sz="1130" b="1" dirty="0">
                <a:solidFill>
                  <a:srgbClr val="67CADA"/>
                </a:solidFill>
                <a:latin typeface="Aptos" pitchFamily="34" charset="0"/>
                <a:ea typeface="Aptos" pitchFamily="34" charset="-122"/>
                <a:cs typeface="Aptos" pitchFamily="34" charset="-120"/>
              </a:rPr>
              <a:t>INNOVACIÓN</a:t>
            </a:r>
            <a:endParaRPr lang="en-US" sz="1130" dirty="0"/>
          </a:p>
        </p:txBody>
      </p:sp>
      <p:sp>
        <p:nvSpPr>
          <p:cNvPr id="13" name="Shape 10"/>
          <p:cNvSpPr/>
          <p:nvPr/>
        </p:nvSpPr>
        <p:spPr>
          <a:xfrm>
            <a:off x="2542032" y="5532120"/>
            <a:ext cx="1938528" cy="347472"/>
          </a:xfrm>
          <a:prstGeom prst="roundRect">
            <a:avLst/>
          </a:prstGeom>
          <a:solidFill>
            <a:srgbClr val="061320"/>
          </a:solidFill>
          <a:ln w="10160">
            <a:solidFill>
              <a:srgbClr val="F3C56C"/>
            </a:solidFill>
            <a:prstDash val="solid"/>
          </a:ln>
        </p:spPr>
      </p:sp>
      <p:sp>
        <p:nvSpPr>
          <p:cNvPr id="14" name="Text 11"/>
          <p:cNvSpPr/>
          <p:nvPr/>
        </p:nvSpPr>
        <p:spPr>
          <a:xfrm>
            <a:off x="2587752" y="5577840"/>
            <a:ext cx="1847088" cy="237744"/>
          </a:xfrm>
          <a:prstGeom prst="rect">
            <a:avLst/>
          </a:prstGeom>
          <a:noFill/>
          <a:ln/>
        </p:spPr>
        <p:txBody>
          <a:bodyPr wrap="square" lIns="0" tIns="0" rIns="0" bIns="0" rtlCol="0" anchor="ctr" vert="horz">
            <a:normAutofit/>
          </a:bodyPr>
          <a:lstStyle/>
          <a:p>
            <a:pPr algn="ctr" indent="0" marL="0">
              <a:buNone/>
            </a:pPr>
            <a:r>
              <a:rPr lang="en-US" sz="1130" b="1" dirty="0">
                <a:solidFill>
                  <a:srgbClr val="F3C56C"/>
                </a:solidFill>
                <a:latin typeface="Aptos" pitchFamily="34" charset="0"/>
                <a:ea typeface="Aptos" pitchFamily="34" charset="-122"/>
                <a:cs typeface="Aptos" pitchFamily="34" charset="-120"/>
              </a:rPr>
              <a:t>COMPETENCIA</a:t>
            </a:r>
            <a:endParaRPr lang="en-US" sz="1130" dirty="0"/>
          </a:p>
        </p:txBody>
      </p:sp>
      <p:sp>
        <p:nvSpPr>
          <p:cNvPr id="15" name="Shape 12"/>
          <p:cNvSpPr/>
          <p:nvPr/>
        </p:nvSpPr>
        <p:spPr>
          <a:xfrm>
            <a:off x="4608576" y="5532120"/>
            <a:ext cx="1920240" cy="347472"/>
          </a:xfrm>
          <a:prstGeom prst="roundRect">
            <a:avLst/>
          </a:prstGeom>
          <a:solidFill>
            <a:srgbClr val="061320"/>
          </a:solidFill>
          <a:ln w="10160">
            <a:solidFill>
              <a:srgbClr val="70C9AD"/>
            </a:solidFill>
            <a:prstDash val="solid"/>
          </a:ln>
        </p:spPr>
      </p:sp>
      <p:sp>
        <p:nvSpPr>
          <p:cNvPr id="16" name="Text 13"/>
          <p:cNvSpPr/>
          <p:nvPr/>
        </p:nvSpPr>
        <p:spPr>
          <a:xfrm>
            <a:off x="4654296" y="5577840"/>
            <a:ext cx="1828800" cy="237744"/>
          </a:xfrm>
          <a:prstGeom prst="rect">
            <a:avLst/>
          </a:prstGeom>
          <a:noFill/>
          <a:ln/>
        </p:spPr>
        <p:txBody>
          <a:bodyPr wrap="square" lIns="0" tIns="0" rIns="0" bIns="0" rtlCol="0" anchor="ctr" vert="horz">
            <a:normAutofit/>
          </a:bodyPr>
          <a:lstStyle/>
          <a:p>
            <a:pPr algn="ctr" indent="0" marL="0">
              <a:buNone/>
            </a:pPr>
            <a:r>
              <a:rPr lang="en-US" sz="1130" b="1" dirty="0">
                <a:solidFill>
                  <a:srgbClr val="70C9AD"/>
                </a:solidFill>
                <a:latin typeface="Aptos" pitchFamily="34" charset="0"/>
                <a:ea typeface="Aptos" pitchFamily="34" charset="-122"/>
                <a:cs typeface="Aptos" pitchFamily="34" charset="-120"/>
              </a:rPr>
              <a:t>APRENDIZAJE</a:t>
            </a:r>
            <a:endParaRPr lang="en-US" sz="1130" dirty="0"/>
          </a:p>
        </p:txBody>
      </p:sp>
      <p:sp>
        <p:nvSpPr>
          <p:cNvPr id="17" name="Shape 14"/>
          <p:cNvSpPr/>
          <p:nvPr/>
        </p:nvSpPr>
        <p:spPr>
          <a:xfrm>
            <a:off x="502920" y="6483096"/>
            <a:ext cx="11201400" cy="0"/>
          </a:xfrm>
          <a:prstGeom prst="line">
            <a:avLst/>
          </a:prstGeom>
          <a:noFill/>
          <a:ln w="8890">
            <a:solidFill>
              <a:srgbClr val="365061"/>
            </a:solidFill>
            <a:prstDash val="solid"/>
          </a:ln>
        </p:spPr>
      </p:sp>
      <p:sp>
        <p:nvSpPr>
          <p:cNvPr id="18" name="Text 15"/>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9" name="Text 16"/>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METÁFORA CONCEPTUAL</a:t>
            </a:r>
            <a:endParaRPr lang="en-US" sz="720" dirty="0"/>
          </a:p>
        </p:txBody>
      </p:sp>
      <p:sp>
        <p:nvSpPr>
          <p:cNvPr id="20" name="Text 17"/>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02</a:t>
            </a:r>
            <a:endParaRPr lang="en-US" sz="1100" dirty="0"/>
          </a:p>
        </p:txBody>
      </p:sp>
      <p:sp>
        <p:nvSpPr>
          <p:cNvPr id="1002" name="Conceptual illustration disclosure">
            <a:extLst>
              <a:ext uri="{FF2B5EF4-FFF2-40B4-BE49-F238E27FC236}">
                <a16:creationId xmlns:a16="http://schemas.microsoft.com/office/drawing/2014/main" id="{4A569EEE-21E2-4117-9F3B-45359515E188}"/>
              </a:ext>
            </a:extLst>
          </p:cNvPr>
          <p:cNvSpPr>
            <a:spLocks noGrp="1"/>
          </p:cNvSpPr>
          <p:nvPr/>
        </p:nvSpPr>
        <p:spPr>
          <a:xfrm>
            <a:off x="609600" y="6191250"/>
            <a:ext cx="5905500" cy="209550"/>
          </a:xfrm>
          <a:prstGeom prst="rect">
            <a:avLst/>
          </a:prstGeom>
          <a:noFill/>
          <a:ln w="0">
            <a:noFill/>
            <a:prstDash val="solid"/>
          </a:ln>
        </p:spPr>
        <p:txBody>
          <a:bodyPr/>
          <a:lstStyle>
            <a:defPPr>
              <a:defRPr sz="975">
                <a:solidFill>
                  <a:srgbClr val="ADC8D2"/>
                </a:solidFill>
              </a:defRPr>
            </a:defPPr>
            <a:lvl1pPr>
              <a:defRPr sz="975">
                <a:solidFill>
                  <a:srgbClr val="ADC8D2"/>
                </a:solidFill>
              </a:defRPr>
            </a:lvl1pPr>
            <a:lvl2pPr>
              <a:defRPr sz="975">
                <a:solidFill>
                  <a:srgbClr val="ADC8D2"/>
                </a:solidFill>
              </a:defRPr>
            </a:lvl2pPr>
            <a:lvl3pPr>
              <a:defRPr sz="975">
                <a:solidFill>
                  <a:srgbClr val="ADC8D2"/>
                </a:solidFill>
              </a:defRPr>
            </a:lvl3pPr>
            <a:lvl4pPr>
              <a:defRPr sz="975">
                <a:solidFill>
                  <a:srgbClr val="ADC8D2"/>
                </a:solidFill>
              </a:defRPr>
            </a:lvl4pPr>
            <a:lvl5pPr>
              <a:defRPr sz="975">
                <a:solidFill>
                  <a:srgbClr val="ADC8D2"/>
                </a:solidFill>
              </a:defRPr>
            </a:lvl5pPr>
            <a:lvl6pPr>
              <a:defRPr sz="975">
                <a:solidFill>
                  <a:srgbClr val="ADC8D2"/>
                </a:solidFill>
              </a:defRPr>
            </a:lvl6pPr>
            <a:lvl7pPr>
              <a:defRPr sz="975">
                <a:solidFill>
                  <a:srgbClr val="ADC8D2"/>
                </a:solidFill>
              </a:defRPr>
            </a:lvl7pPr>
            <a:lvl8pPr>
              <a:defRPr sz="975">
                <a:solidFill>
                  <a:srgbClr val="ADC8D2"/>
                </a:solidFill>
              </a:defRPr>
            </a:lvl8pPr>
            <a:lvl9pPr>
              <a:defRPr sz="975">
                <a:solidFill>
                  <a:srgbClr val="ADC8D2"/>
                </a:solidFill>
              </a:defRPr>
            </a:lvl9pPr>
          </a:lstStyle>
          <a:p>
            <a:pPr>
              <a:defRPr sz="975">
                <a:solidFill>
                  <a:srgbClr val="ADC8D2"/>
                </a:solidFill>
              </a:defRPr>
            </a:pPr>
            <a:r>
              <a:rPr sz="975">
                <a:solidFill>
                  <a:srgbClr val="ADC8D2"/>
                </a:solidFill>
              </a:rPr>
              <a:t>Ilustración conceptual generada con 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LENGUAJE Y PRECISIÓN</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No todos los “robots” son lo mismo</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Tres términos chinos para tres conceptos distintos</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LENGUAJE Y PRECISIÓN</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03</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Lingüística y documentación de producto</a:t>
            </a:r>
            <a:endParaRPr lang="en-US" sz="800" dirty="0"/>
          </a:p>
        </p:txBody>
      </p:sp>
      <p:sp>
        <p:nvSpPr>
          <p:cNvPr id="13" name="Shape 11"/>
          <p:cNvSpPr/>
          <p:nvPr/>
        </p:nvSpPr>
        <p:spPr>
          <a:xfrm>
            <a:off x="9692640" y="347472"/>
            <a:ext cx="22860" cy="22860"/>
          </a:xfrm>
          <a:prstGeom prst="ellipse">
            <a:avLst/>
          </a:prstGeom>
          <a:solidFill>
            <a:srgbClr val="67CADA"/>
          </a:solidFill>
          <a:ln w="12700">
            <a:solidFill>
              <a:srgbClr val="67CADA">
                <a:alpha val="0"/>
              </a:srgbClr>
            </a:solidFill>
            <a:prstDash val="solid"/>
          </a:ln>
        </p:spPr>
      </p:sp>
      <p:sp>
        <p:nvSpPr>
          <p:cNvPr id="14" name="Shape 12"/>
          <p:cNvSpPr/>
          <p:nvPr/>
        </p:nvSpPr>
        <p:spPr>
          <a:xfrm>
            <a:off x="9875520" y="347472"/>
            <a:ext cx="22860" cy="22860"/>
          </a:xfrm>
          <a:prstGeom prst="ellipse">
            <a:avLst/>
          </a:prstGeom>
          <a:solidFill>
            <a:srgbClr val="365061"/>
          </a:solidFill>
          <a:ln w="12700">
            <a:solidFill>
              <a:srgbClr val="365061">
                <a:alpha val="0"/>
              </a:srgbClr>
            </a:solidFill>
            <a:prstDash val="solid"/>
          </a:ln>
        </p:spPr>
      </p:sp>
      <p:sp>
        <p:nvSpPr>
          <p:cNvPr id="15" name="Shape 13"/>
          <p:cNvSpPr/>
          <p:nvPr/>
        </p:nvSpPr>
        <p:spPr>
          <a:xfrm>
            <a:off x="10058400" y="347472"/>
            <a:ext cx="22860" cy="22860"/>
          </a:xfrm>
          <a:prstGeom prst="ellipse">
            <a:avLst/>
          </a:prstGeom>
          <a:solidFill>
            <a:srgbClr val="365061"/>
          </a:solidFill>
          <a:ln w="12700">
            <a:solidFill>
              <a:srgbClr val="365061">
                <a:alpha val="0"/>
              </a:srgbClr>
            </a:solidFill>
            <a:prstDash val="solid"/>
          </a:ln>
        </p:spPr>
      </p:sp>
      <p:sp>
        <p:nvSpPr>
          <p:cNvPr id="16" name="Shape 14"/>
          <p:cNvSpPr/>
          <p:nvPr/>
        </p:nvSpPr>
        <p:spPr>
          <a:xfrm>
            <a:off x="10241280" y="347472"/>
            <a:ext cx="22860" cy="22860"/>
          </a:xfrm>
          <a:prstGeom prst="ellipse">
            <a:avLst/>
          </a:prstGeom>
          <a:solidFill>
            <a:srgbClr val="67CADA"/>
          </a:solidFill>
          <a:ln w="12700">
            <a:solidFill>
              <a:srgbClr val="67CADA">
                <a:alpha val="0"/>
              </a:srgbClr>
            </a:solidFill>
            <a:prstDash val="solid"/>
          </a:ln>
        </p:spPr>
      </p:sp>
      <p:sp>
        <p:nvSpPr>
          <p:cNvPr id="17" name="Shape 15"/>
          <p:cNvSpPr/>
          <p:nvPr/>
        </p:nvSpPr>
        <p:spPr>
          <a:xfrm>
            <a:off x="10424160" y="347472"/>
            <a:ext cx="22860" cy="22860"/>
          </a:xfrm>
          <a:prstGeom prst="ellipse">
            <a:avLst/>
          </a:prstGeom>
          <a:solidFill>
            <a:srgbClr val="365061"/>
          </a:solidFill>
          <a:ln w="12700">
            <a:solidFill>
              <a:srgbClr val="365061">
                <a:alpha val="0"/>
              </a:srgbClr>
            </a:solidFill>
            <a:prstDash val="solid"/>
          </a:ln>
        </p:spPr>
      </p:sp>
      <p:sp>
        <p:nvSpPr>
          <p:cNvPr id="18" name="Shape 16"/>
          <p:cNvSpPr/>
          <p:nvPr/>
        </p:nvSpPr>
        <p:spPr>
          <a:xfrm>
            <a:off x="10607040" y="347472"/>
            <a:ext cx="22860" cy="22860"/>
          </a:xfrm>
          <a:prstGeom prst="ellipse">
            <a:avLst/>
          </a:prstGeom>
          <a:solidFill>
            <a:srgbClr val="365061"/>
          </a:solidFill>
          <a:ln w="12700">
            <a:solidFill>
              <a:srgbClr val="365061">
                <a:alpha val="0"/>
              </a:srgbClr>
            </a:solidFill>
            <a:prstDash val="solid"/>
          </a:ln>
        </p:spPr>
      </p:sp>
      <p:sp>
        <p:nvSpPr>
          <p:cNvPr id="19" name="Shape 17"/>
          <p:cNvSpPr/>
          <p:nvPr/>
        </p:nvSpPr>
        <p:spPr>
          <a:xfrm>
            <a:off x="10789920" y="347472"/>
            <a:ext cx="22860" cy="22860"/>
          </a:xfrm>
          <a:prstGeom prst="ellipse">
            <a:avLst/>
          </a:prstGeom>
          <a:solidFill>
            <a:srgbClr val="67CADA"/>
          </a:solidFill>
          <a:ln w="12700">
            <a:solidFill>
              <a:srgbClr val="67CADA">
                <a:alpha val="0"/>
              </a:srgbClr>
            </a:solidFill>
            <a:prstDash val="solid"/>
          </a:ln>
        </p:spPr>
      </p:sp>
      <p:sp>
        <p:nvSpPr>
          <p:cNvPr id="20" name="Shape 18"/>
          <p:cNvSpPr/>
          <p:nvPr/>
        </p:nvSpPr>
        <p:spPr>
          <a:xfrm>
            <a:off x="10972800" y="347472"/>
            <a:ext cx="22860" cy="22860"/>
          </a:xfrm>
          <a:prstGeom prst="ellipse">
            <a:avLst/>
          </a:prstGeom>
          <a:solidFill>
            <a:srgbClr val="365061"/>
          </a:solidFill>
          <a:ln w="12700">
            <a:solidFill>
              <a:srgbClr val="365061">
                <a:alpha val="0"/>
              </a:srgbClr>
            </a:solidFill>
            <a:prstDash val="solid"/>
          </a:ln>
        </p:spPr>
      </p:sp>
      <p:sp>
        <p:nvSpPr>
          <p:cNvPr id="21" name="Shape 19"/>
          <p:cNvSpPr/>
          <p:nvPr/>
        </p:nvSpPr>
        <p:spPr>
          <a:xfrm>
            <a:off x="11155680" y="347472"/>
            <a:ext cx="22860" cy="22860"/>
          </a:xfrm>
          <a:prstGeom prst="ellipse">
            <a:avLst/>
          </a:prstGeom>
          <a:solidFill>
            <a:srgbClr val="365061"/>
          </a:solidFill>
          <a:ln w="12700">
            <a:solidFill>
              <a:srgbClr val="365061">
                <a:alpha val="0"/>
              </a:srgbClr>
            </a:solidFill>
            <a:prstDash val="solid"/>
          </a:ln>
        </p:spPr>
      </p:sp>
      <p:sp>
        <p:nvSpPr>
          <p:cNvPr id="22" name="Shape 20"/>
          <p:cNvSpPr/>
          <p:nvPr/>
        </p:nvSpPr>
        <p:spPr>
          <a:xfrm>
            <a:off x="9692640" y="512064"/>
            <a:ext cx="22860" cy="22860"/>
          </a:xfrm>
          <a:prstGeom prst="ellipse">
            <a:avLst/>
          </a:prstGeom>
          <a:solidFill>
            <a:srgbClr val="365061"/>
          </a:solidFill>
          <a:ln w="12700">
            <a:solidFill>
              <a:srgbClr val="365061">
                <a:alpha val="0"/>
              </a:srgbClr>
            </a:solidFill>
            <a:prstDash val="solid"/>
          </a:ln>
        </p:spPr>
      </p:sp>
      <p:sp>
        <p:nvSpPr>
          <p:cNvPr id="23" name="Shape 21"/>
          <p:cNvSpPr/>
          <p:nvPr/>
        </p:nvSpPr>
        <p:spPr>
          <a:xfrm>
            <a:off x="9875520" y="512064"/>
            <a:ext cx="22860" cy="22860"/>
          </a:xfrm>
          <a:prstGeom prst="ellipse">
            <a:avLst/>
          </a:prstGeom>
          <a:solidFill>
            <a:srgbClr val="365061"/>
          </a:solidFill>
          <a:ln w="12700">
            <a:solidFill>
              <a:srgbClr val="365061">
                <a:alpha val="0"/>
              </a:srgbClr>
            </a:solidFill>
            <a:prstDash val="solid"/>
          </a:ln>
        </p:spPr>
      </p:sp>
      <p:sp>
        <p:nvSpPr>
          <p:cNvPr id="24" name="Shape 22"/>
          <p:cNvSpPr/>
          <p:nvPr/>
        </p:nvSpPr>
        <p:spPr>
          <a:xfrm>
            <a:off x="10058400" y="512064"/>
            <a:ext cx="22860" cy="22860"/>
          </a:xfrm>
          <a:prstGeom prst="ellipse">
            <a:avLst/>
          </a:prstGeom>
          <a:solidFill>
            <a:srgbClr val="67CADA"/>
          </a:solidFill>
          <a:ln w="12700">
            <a:solidFill>
              <a:srgbClr val="67CADA">
                <a:alpha val="0"/>
              </a:srgbClr>
            </a:solidFill>
            <a:prstDash val="solid"/>
          </a:ln>
        </p:spPr>
      </p:sp>
      <p:sp>
        <p:nvSpPr>
          <p:cNvPr id="25" name="Shape 23"/>
          <p:cNvSpPr/>
          <p:nvPr/>
        </p:nvSpPr>
        <p:spPr>
          <a:xfrm>
            <a:off x="10241280" y="512064"/>
            <a:ext cx="22860" cy="22860"/>
          </a:xfrm>
          <a:prstGeom prst="ellipse">
            <a:avLst/>
          </a:prstGeom>
          <a:solidFill>
            <a:srgbClr val="365061"/>
          </a:solidFill>
          <a:ln w="12700">
            <a:solidFill>
              <a:srgbClr val="365061">
                <a:alpha val="0"/>
              </a:srgbClr>
            </a:solidFill>
            <a:prstDash val="solid"/>
          </a:ln>
        </p:spPr>
      </p:sp>
      <p:sp>
        <p:nvSpPr>
          <p:cNvPr id="26" name="Shape 24"/>
          <p:cNvSpPr/>
          <p:nvPr/>
        </p:nvSpPr>
        <p:spPr>
          <a:xfrm>
            <a:off x="10424160" y="512064"/>
            <a:ext cx="22860" cy="22860"/>
          </a:xfrm>
          <a:prstGeom prst="ellipse">
            <a:avLst/>
          </a:prstGeom>
          <a:solidFill>
            <a:srgbClr val="365061"/>
          </a:solidFill>
          <a:ln w="12700">
            <a:solidFill>
              <a:srgbClr val="365061">
                <a:alpha val="0"/>
              </a:srgbClr>
            </a:solidFill>
            <a:prstDash val="solid"/>
          </a:ln>
        </p:spPr>
      </p:sp>
      <p:sp>
        <p:nvSpPr>
          <p:cNvPr id="27" name="Shape 25"/>
          <p:cNvSpPr/>
          <p:nvPr/>
        </p:nvSpPr>
        <p:spPr>
          <a:xfrm>
            <a:off x="10607040" y="512064"/>
            <a:ext cx="22860" cy="22860"/>
          </a:xfrm>
          <a:prstGeom prst="ellipse">
            <a:avLst/>
          </a:prstGeom>
          <a:solidFill>
            <a:srgbClr val="67CADA"/>
          </a:solidFill>
          <a:ln w="12700">
            <a:solidFill>
              <a:srgbClr val="67CADA">
                <a:alpha val="0"/>
              </a:srgbClr>
            </a:solidFill>
            <a:prstDash val="solid"/>
          </a:ln>
        </p:spPr>
      </p:sp>
      <p:sp>
        <p:nvSpPr>
          <p:cNvPr id="28" name="Shape 26"/>
          <p:cNvSpPr/>
          <p:nvPr/>
        </p:nvSpPr>
        <p:spPr>
          <a:xfrm>
            <a:off x="10789920" y="512064"/>
            <a:ext cx="22860" cy="22860"/>
          </a:xfrm>
          <a:prstGeom prst="ellipse">
            <a:avLst/>
          </a:prstGeom>
          <a:solidFill>
            <a:srgbClr val="365061"/>
          </a:solidFill>
          <a:ln w="12700">
            <a:solidFill>
              <a:srgbClr val="365061">
                <a:alpha val="0"/>
              </a:srgbClr>
            </a:solidFill>
            <a:prstDash val="solid"/>
          </a:ln>
        </p:spPr>
      </p:sp>
      <p:sp>
        <p:nvSpPr>
          <p:cNvPr id="29" name="Shape 27"/>
          <p:cNvSpPr/>
          <p:nvPr/>
        </p:nvSpPr>
        <p:spPr>
          <a:xfrm>
            <a:off x="10972800" y="512064"/>
            <a:ext cx="22860" cy="22860"/>
          </a:xfrm>
          <a:prstGeom prst="ellipse">
            <a:avLst/>
          </a:prstGeom>
          <a:solidFill>
            <a:srgbClr val="365061"/>
          </a:solidFill>
          <a:ln w="12700">
            <a:solidFill>
              <a:srgbClr val="365061">
                <a:alpha val="0"/>
              </a:srgbClr>
            </a:solidFill>
            <a:prstDash val="solid"/>
          </a:ln>
        </p:spPr>
      </p:sp>
      <p:sp>
        <p:nvSpPr>
          <p:cNvPr id="30" name="Shape 28"/>
          <p:cNvSpPr/>
          <p:nvPr/>
        </p:nvSpPr>
        <p:spPr>
          <a:xfrm>
            <a:off x="11155680" y="512064"/>
            <a:ext cx="22860" cy="22860"/>
          </a:xfrm>
          <a:prstGeom prst="ellipse">
            <a:avLst/>
          </a:prstGeom>
          <a:solidFill>
            <a:srgbClr val="67CADA"/>
          </a:solidFill>
          <a:ln w="12700">
            <a:solidFill>
              <a:srgbClr val="67CADA">
                <a:alpha val="0"/>
              </a:srgbClr>
            </a:solidFill>
            <a:prstDash val="solid"/>
          </a:ln>
        </p:spPr>
      </p:sp>
      <p:sp>
        <p:nvSpPr>
          <p:cNvPr id="31" name="Shape 29"/>
          <p:cNvSpPr/>
          <p:nvPr/>
        </p:nvSpPr>
        <p:spPr>
          <a:xfrm>
            <a:off x="9692640" y="676656"/>
            <a:ext cx="22860" cy="22860"/>
          </a:xfrm>
          <a:prstGeom prst="ellipse">
            <a:avLst/>
          </a:prstGeom>
          <a:solidFill>
            <a:srgbClr val="365061"/>
          </a:solidFill>
          <a:ln w="12700">
            <a:solidFill>
              <a:srgbClr val="365061">
                <a:alpha val="0"/>
              </a:srgbClr>
            </a:solidFill>
            <a:prstDash val="solid"/>
          </a:ln>
        </p:spPr>
      </p:sp>
      <p:sp>
        <p:nvSpPr>
          <p:cNvPr id="32" name="Shape 30"/>
          <p:cNvSpPr/>
          <p:nvPr/>
        </p:nvSpPr>
        <p:spPr>
          <a:xfrm>
            <a:off x="9875520" y="676656"/>
            <a:ext cx="22860" cy="22860"/>
          </a:xfrm>
          <a:prstGeom prst="ellipse">
            <a:avLst/>
          </a:prstGeom>
          <a:solidFill>
            <a:srgbClr val="67CADA"/>
          </a:solidFill>
          <a:ln w="12700">
            <a:solidFill>
              <a:srgbClr val="67CADA">
                <a:alpha val="0"/>
              </a:srgbClr>
            </a:solidFill>
            <a:prstDash val="solid"/>
          </a:ln>
        </p:spPr>
      </p:sp>
      <p:sp>
        <p:nvSpPr>
          <p:cNvPr id="33" name="Shape 31"/>
          <p:cNvSpPr/>
          <p:nvPr/>
        </p:nvSpPr>
        <p:spPr>
          <a:xfrm>
            <a:off x="10058400" y="676656"/>
            <a:ext cx="22860" cy="22860"/>
          </a:xfrm>
          <a:prstGeom prst="ellipse">
            <a:avLst/>
          </a:prstGeom>
          <a:solidFill>
            <a:srgbClr val="365061"/>
          </a:solidFill>
          <a:ln w="12700">
            <a:solidFill>
              <a:srgbClr val="365061">
                <a:alpha val="0"/>
              </a:srgbClr>
            </a:solidFill>
            <a:prstDash val="solid"/>
          </a:ln>
        </p:spPr>
      </p:sp>
      <p:sp>
        <p:nvSpPr>
          <p:cNvPr id="34" name="Shape 32"/>
          <p:cNvSpPr/>
          <p:nvPr/>
        </p:nvSpPr>
        <p:spPr>
          <a:xfrm>
            <a:off x="10241280" y="676656"/>
            <a:ext cx="22860" cy="22860"/>
          </a:xfrm>
          <a:prstGeom prst="ellipse">
            <a:avLst/>
          </a:prstGeom>
          <a:solidFill>
            <a:srgbClr val="365061"/>
          </a:solidFill>
          <a:ln w="12700">
            <a:solidFill>
              <a:srgbClr val="365061">
                <a:alpha val="0"/>
              </a:srgbClr>
            </a:solidFill>
            <a:prstDash val="solid"/>
          </a:ln>
        </p:spPr>
      </p:sp>
      <p:sp>
        <p:nvSpPr>
          <p:cNvPr id="35" name="Shape 33"/>
          <p:cNvSpPr/>
          <p:nvPr/>
        </p:nvSpPr>
        <p:spPr>
          <a:xfrm>
            <a:off x="10424160" y="676656"/>
            <a:ext cx="22860" cy="22860"/>
          </a:xfrm>
          <a:prstGeom prst="ellipse">
            <a:avLst/>
          </a:prstGeom>
          <a:solidFill>
            <a:srgbClr val="67CADA"/>
          </a:solidFill>
          <a:ln w="12700">
            <a:solidFill>
              <a:srgbClr val="67CADA">
                <a:alpha val="0"/>
              </a:srgbClr>
            </a:solidFill>
            <a:prstDash val="solid"/>
          </a:ln>
        </p:spPr>
      </p:sp>
      <p:sp>
        <p:nvSpPr>
          <p:cNvPr id="36" name="Shape 34"/>
          <p:cNvSpPr/>
          <p:nvPr/>
        </p:nvSpPr>
        <p:spPr>
          <a:xfrm>
            <a:off x="10607040" y="676656"/>
            <a:ext cx="22860" cy="22860"/>
          </a:xfrm>
          <a:prstGeom prst="ellipse">
            <a:avLst/>
          </a:prstGeom>
          <a:solidFill>
            <a:srgbClr val="365061"/>
          </a:solidFill>
          <a:ln w="12700">
            <a:solidFill>
              <a:srgbClr val="365061">
                <a:alpha val="0"/>
              </a:srgbClr>
            </a:solidFill>
            <a:prstDash val="solid"/>
          </a:ln>
        </p:spPr>
      </p:sp>
      <p:sp>
        <p:nvSpPr>
          <p:cNvPr id="37" name="Shape 35"/>
          <p:cNvSpPr/>
          <p:nvPr/>
        </p:nvSpPr>
        <p:spPr>
          <a:xfrm>
            <a:off x="10789920" y="676656"/>
            <a:ext cx="22860" cy="22860"/>
          </a:xfrm>
          <a:prstGeom prst="ellipse">
            <a:avLst/>
          </a:prstGeom>
          <a:solidFill>
            <a:srgbClr val="365061"/>
          </a:solidFill>
          <a:ln w="12700">
            <a:solidFill>
              <a:srgbClr val="365061">
                <a:alpha val="0"/>
              </a:srgbClr>
            </a:solidFill>
            <a:prstDash val="solid"/>
          </a:ln>
        </p:spPr>
      </p:sp>
      <p:sp>
        <p:nvSpPr>
          <p:cNvPr id="38" name="Shape 36"/>
          <p:cNvSpPr/>
          <p:nvPr/>
        </p:nvSpPr>
        <p:spPr>
          <a:xfrm>
            <a:off x="10972800" y="676656"/>
            <a:ext cx="22860" cy="22860"/>
          </a:xfrm>
          <a:prstGeom prst="ellipse">
            <a:avLst/>
          </a:prstGeom>
          <a:solidFill>
            <a:srgbClr val="67CADA"/>
          </a:solidFill>
          <a:ln w="12700">
            <a:solidFill>
              <a:srgbClr val="67CADA">
                <a:alpha val="0"/>
              </a:srgbClr>
            </a:solidFill>
            <a:prstDash val="solid"/>
          </a:ln>
        </p:spPr>
      </p:sp>
      <p:sp>
        <p:nvSpPr>
          <p:cNvPr id="39" name="Shape 37"/>
          <p:cNvSpPr/>
          <p:nvPr/>
        </p:nvSpPr>
        <p:spPr>
          <a:xfrm>
            <a:off x="11155680" y="676656"/>
            <a:ext cx="22860" cy="22860"/>
          </a:xfrm>
          <a:prstGeom prst="ellipse">
            <a:avLst/>
          </a:prstGeom>
          <a:solidFill>
            <a:srgbClr val="365061"/>
          </a:solidFill>
          <a:ln w="12700">
            <a:solidFill>
              <a:srgbClr val="365061">
                <a:alpha val="0"/>
              </a:srgbClr>
            </a:solidFill>
            <a:prstDash val="solid"/>
          </a:ln>
        </p:spPr>
      </p:sp>
      <p:sp>
        <p:nvSpPr>
          <p:cNvPr id="40" name="Shape 38"/>
          <p:cNvSpPr/>
          <p:nvPr/>
        </p:nvSpPr>
        <p:spPr>
          <a:xfrm>
            <a:off x="9692640" y="841248"/>
            <a:ext cx="22860" cy="22860"/>
          </a:xfrm>
          <a:prstGeom prst="ellipse">
            <a:avLst/>
          </a:prstGeom>
          <a:solidFill>
            <a:srgbClr val="67CADA"/>
          </a:solidFill>
          <a:ln w="12700">
            <a:solidFill>
              <a:srgbClr val="67CADA">
                <a:alpha val="0"/>
              </a:srgbClr>
            </a:solidFill>
            <a:prstDash val="solid"/>
          </a:ln>
        </p:spPr>
      </p:sp>
      <p:sp>
        <p:nvSpPr>
          <p:cNvPr id="41" name="Shape 39"/>
          <p:cNvSpPr/>
          <p:nvPr/>
        </p:nvSpPr>
        <p:spPr>
          <a:xfrm>
            <a:off x="9875520" y="841248"/>
            <a:ext cx="22860" cy="22860"/>
          </a:xfrm>
          <a:prstGeom prst="ellipse">
            <a:avLst/>
          </a:prstGeom>
          <a:solidFill>
            <a:srgbClr val="365061"/>
          </a:solidFill>
          <a:ln w="12700">
            <a:solidFill>
              <a:srgbClr val="365061">
                <a:alpha val="0"/>
              </a:srgbClr>
            </a:solidFill>
            <a:prstDash val="solid"/>
          </a:ln>
        </p:spPr>
      </p:sp>
      <p:sp>
        <p:nvSpPr>
          <p:cNvPr id="42" name="Shape 40"/>
          <p:cNvSpPr/>
          <p:nvPr/>
        </p:nvSpPr>
        <p:spPr>
          <a:xfrm>
            <a:off x="10058400" y="841248"/>
            <a:ext cx="22860" cy="22860"/>
          </a:xfrm>
          <a:prstGeom prst="ellipse">
            <a:avLst/>
          </a:prstGeom>
          <a:solidFill>
            <a:srgbClr val="365061"/>
          </a:solidFill>
          <a:ln w="12700">
            <a:solidFill>
              <a:srgbClr val="365061">
                <a:alpha val="0"/>
              </a:srgbClr>
            </a:solidFill>
            <a:prstDash val="solid"/>
          </a:ln>
        </p:spPr>
      </p:sp>
      <p:sp>
        <p:nvSpPr>
          <p:cNvPr id="43" name="Shape 41"/>
          <p:cNvSpPr/>
          <p:nvPr/>
        </p:nvSpPr>
        <p:spPr>
          <a:xfrm>
            <a:off x="10241280" y="841248"/>
            <a:ext cx="22860" cy="22860"/>
          </a:xfrm>
          <a:prstGeom prst="ellipse">
            <a:avLst/>
          </a:prstGeom>
          <a:solidFill>
            <a:srgbClr val="67CADA"/>
          </a:solidFill>
          <a:ln w="12700">
            <a:solidFill>
              <a:srgbClr val="67CADA">
                <a:alpha val="0"/>
              </a:srgbClr>
            </a:solidFill>
            <a:prstDash val="solid"/>
          </a:ln>
        </p:spPr>
      </p:sp>
      <p:sp>
        <p:nvSpPr>
          <p:cNvPr id="44" name="Shape 42"/>
          <p:cNvSpPr/>
          <p:nvPr/>
        </p:nvSpPr>
        <p:spPr>
          <a:xfrm>
            <a:off x="10424160" y="841248"/>
            <a:ext cx="22860" cy="22860"/>
          </a:xfrm>
          <a:prstGeom prst="ellipse">
            <a:avLst/>
          </a:prstGeom>
          <a:solidFill>
            <a:srgbClr val="365061"/>
          </a:solidFill>
          <a:ln w="12700">
            <a:solidFill>
              <a:srgbClr val="365061">
                <a:alpha val="0"/>
              </a:srgbClr>
            </a:solidFill>
            <a:prstDash val="solid"/>
          </a:ln>
        </p:spPr>
      </p:sp>
      <p:sp>
        <p:nvSpPr>
          <p:cNvPr id="45" name="Shape 43"/>
          <p:cNvSpPr/>
          <p:nvPr/>
        </p:nvSpPr>
        <p:spPr>
          <a:xfrm>
            <a:off x="10607040" y="841248"/>
            <a:ext cx="22860" cy="22860"/>
          </a:xfrm>
          <a:prstGeom prst="ellipse">
            <a:avLst/>
          </a:prstGeom>
          <a:solidFill>
            <a:srgbClr val="365061"/>
          </a:solidFill>
          <a:ln w="12700">
            <a:solidFill>
              <a:srgbClr val="365061">
                <a:alpha val="0"/>
              </a:srgbClr>
            </a:solidFill>
            <a:prstDash val="solid"/>
          </a:ln>
        </p:spPr>
      </p:sp>
      <p:sp>
        <p:nvSpPr>
          <p:cNvPr id="46" name="Shape 44"/>
          <p:cNvSpPr/>
          <p:nvPr/>
        </p:nvSpPr>
        <p:spPr>
          <a:xfrm>
            <a:off x="10789920" y="841248"/>
            <a:ext cx="22860" cy="22860"/>
          </a:xfrm>
          <a:prstGeom prst="ellipse">
            <a:avLst/>
          </a:prstGeom>
          <a:solidFill>
            <a:srgbClr val="67CADA"/>
          </a:solidFill>
          <a:ln w="12700">
            <a:solidFill>
              <a:srgbClr val="67CADA">
                <a:alpha val="0"/>
              </a:srgbClr>
            </a:solidFill>
            <a:prstDash val="solid"/>
          </a:ln>
        </p:spPr>
      </p:sp>
      <p:sp>
        <p:nvSpPr>
          <p:cNvPr id="47" name="Shape 45"/>
          <p:cNvSpPr/>
          <p:nvPr/>
        </p:nvSpPr>
        <p:spPr>
          <a:xfrm>
            <a:off x="10972800" y="841248"/>
            <a:ext cx="22860" cy="22860"/>
          </a:xfrm>
          <a:prstGeom prst="ellipse">
            <a:avLst/>
          </a:prstGeom>
          <a:solidFill>
            <a:srgbClr val="365061"/>
          </a:solidFill>
          <a:ln w="12700">
            <a:solidFill>
              <a:srgbClr val="365061">
                <a:alpha val="0"/>
              </a:srgbClr>
            </a:solidFill>
            <a:prstDash val="solid"/>
          </a:ln>
        </p:spPr>
      </p:sp>
      <p:sp>
        <p:nvSpPr>
          <p:cNvPr id="48" name="Shape 46"/>
          <p:cNvSpPr/>
          <p:nvPr/>
        </p:nvSpPr>
        <p:spPr>
          <a:xfrm>
            <a:off x="11155680" y="841248"/>
            <a:ext cx="22860" cy="22860"/>
          </a:xfrm>
          <a:prstGeom prst="ellipse">
            <a:avLst/>
          </a:prstGeom>
          <a:solidFill>
            <a:srgbClr val="365061"/>
          </a:solidFill>
          <a:ln w="12700">
            <a:solidFill>
              <a:srgbClr val="365061">
                <a:alpha val="0"/>
              </a:srgbClr>
            </a:solidFill>
            <a:prstDash val="solid"/>
          </a:ln>
        </p:spPr>
      </p:sp>
      <p:sp>
        <p:nvSpPr>
          <p:cNvPr id="49" name="Shape 47"/>
          <p:cNvSpPr/>
          <p:nvPr/>
        </p:nvSpPr>
        <p:spPr>
          <a:xfrm>
            <a:off x="9692640" y="1005840"/>
            <a:ext cx="22860" cy="22860"/>
          </a:xfrm>
          <a:prstGeom prst="ellipse">
            <a:avLst/>
          </a:prstGeom>
          <a:solidFill>
            <a:srgbClr val="365061"/>
          </a:solidFill>
          <a:ln w="12700">
            <a:solidFill>
              <a:srgbClr val="365061">
                <a:alpha val="0"/>
              </a:srgbClr>
            </a:solidFill>
            <a:prstDash val="solid"/>
          </a:ln>
        </p:spPr>
      </p:sp>
      <p:sp>
        <p:nvSpPr>
          <p:cNvPr id="50" name="Shape 48"/>
          <p:cNvSpPr/>
          <p:nvPr/>
        </p:nvSpPr>
        <p:spPr>
          <a:xfrm>
            <a:off x="9875520" y="1005840"/>
            <a:ext cx="22860" cy="22860"/>
          </a:xfrm>
          <a:prstGeom prst="ellipse">
            <a:avLst/>
          </a:prstGeom>
          <a:solidFill>
            <a:srgbClr val="365061"/>
          </a:solidFill>
          <a:ln w="12700">
            <a:solidFill>
              <a:srgbClr val="365061">
                <a:alpha val="0"/>
              </a:srgbClr>
            </a:solidFill>
            <a:prstDash val="solid"/>
          </a:ln>
        </p:spPr>
      </p:sp>
      <p:sp>
        <p:nvSpPr>
          <p:cNvPr id="51" name="Shape 49"/>
          <p:cNvSpPr/>
          <p:nvPr/>
        </p:nvSpPr>
        <p:spPr>
          <a:xfrm>
            <a:off x="10058400" y="1005840"/>
            <a:ext cx="22860" cy="22860"/>
          </a:xfrm>
          <a:prstGeom prst="ellipse">
            <a:avLst/>
          </a:prstGeom>
          <a:solidFill>
            <a:srgbClr val="67CADA"/>
          </a:solidFill>
          <a:ln w="12700">
            <a:solidFill>
              <a:srgbClr val="67CADA">
                <a:alpha val="0"/>
              </a:srgbClr>
            </a:solidFill>
            <a:prstDash val="solid"/>
          </a:ln>
        </p:spPr>
      </p:sp>
      <p:sp>
        <p:nvSpPr>
          <p:cNvPr id="52" name="Shape 50"/>
          <p:cNvSpPr/>
          <p:nvPr/>
        </p:nvSpPr>
        <p:spPr>
          <a:xfrm>
            <a:off x="10241280" y="1005840"/>
            <a:ext cx="22860" cy="22860"/>
          </a:xfrm>
          <a:prstGeom prst="ellipse">
            <a:avLst/>
          </a:prstGeom>
          <a:solidFill>
            <a:srgbClr val="365061"/>
          </a:solidFill>
          <a:ln w="12700">
            <a:solidFill>
              <a:srgbClr val="365061">
                <a:alpha val="0"/>
              </a:srgbClr>
            </a:solidFill>
            <a:prstDash val="solid"/>
          </a:ln>
        </p:spPr>
      </p:sp>
      <p:sp>
        <p:nvSpPr>
          <p:cNvPr id="53" name="Shape 51"/>
          <p:cNvSpPr/>
          <p:nvPr/>
        </p:nvSpPr>
        <p:spPr>
          <a:xfrm>
            <a:off x="10424160" y="1005840"/>
            <a:ext cx="22860" cy="22860"/>
          </a:xfrm>
          <a:prstGeom prst="ellipse">
            <a:avLst/>
          </a:prstGeom>
          <a:solidFill>
            <a:srgbClr val="365061"/>
          </a:solidFill>
          <a:ln w="12700">
            <a:solidFill>
              <a:srgbClr val="365061">
                <a:alpha val="0"/>
              </a:srgbClr>
            </a:solidFill>
            <a:prstDash val="solid"/>
          </a:ln>
        </p:spPr>
      </p:sp>
      <p:sp>
        <p:nvSpPr>
          <p:cNvPr id="54" name="Shape 52"/>
          <p:cNvSpPr/>
          <p:nvPr/>
        </p:nvSpPr>
        <p:spPr>
          <a:xfrm>
            <a:off x="10607040" y="1005840"/>
            <a:ext cx="22860" cy="22860"/>
          </a:xfrm>
          <a:prstGeom prst="ellipse">
            <a:avLst/>
          </a:prstGeom>
          <a:solidFill>
            <a:srgbClr val="67CADA"/>
          </a:solidFill>
          <a:ln w="12700">
            <a:solidFill>
              <a:srgbClr val="67CADA">
                <a:alpha val="0"/>
              </a:srgbClr>
            </a:solidFill>
            <a:prstDash val="solid"/>
          </a:ln>
        </p:spPr>
      </p:sp>
      <p:sp>
        <p:nvSpPr>
          <p:cNvPr id="55" name="Shape 53"/>
          <p:cNvSpPr/>
          <p:nvPr/>
        </p:nvSpPr>
        <p:spPr>
          <a:xfrm>
            <a:off x="10789920" y="1005840"/>
            <a:ext cx="22860" cy="22860"/>
          </a:xfrm>
          <a:prstGeom prst="ellipse">
            <a:avLst/>
          </a:prstGeom>
          <a:solidFill>
            <a:srgbClr val="365061"/>
          </a:solidFill>
          <a:ln w="12700">
            <a:solidFill>
              <a:srgbClr val="365061">
                <a:alpha val="0"/>
              </a:srgbClr>
            </a:solidFill>
            <a:prstDash val="solid"/>
          </a:ln>
        </p:spPr>
      </p:sp>
      <p:sp>
        <p:nvSpPr>
          <p:cNvPr id="56" name="Shape 54"/>
          <p:cNvSpPr/>
          <p:nvPr/>
        </p:nvSpPr>
        <p:spPr>
          <a:xfrm>
            <a:off x="10972800" y="1005840"/>
            <a:ext cx="22860" cy="22860"/>
          </a:xfrm>
          <a:prstGeom prst="ellipse">
            <a:avLst/>
          </a:prstGeom>
          <a:solidFill>
            <a:srgbClr val="365061"/>
          </a:solidFill>
          <a:ln w="12700">
            <a:solidFill>
              <a:srgbClr val="365061">
                <a:alpha val="0"/>
              </a:srgbClr>
            </a:solidFill>
            <a:prstDash val="solid"/>
          </a:ln>
        </p:spPr>
      </p:sp>
      <p:sp>
        <p:nvSpPr>
          <p:cNvPr id="57" name="Shape 55"/>
          <p:cNvSpPr/>
          <p:nvPr/>
        </p:nvSpPr>
        <p:spPr>
          <a:xfrm>
            <a:off x="11155680" y="1005840"/>
            <a:ext cx="22860" cy="22860"/>
          </a:xfrm>
          <a:prstGeom prst="ellipse">
            <a:avLst/>
          </a:prstGeom>
          <a:solidFill>
            <a:srgbClr val="67CADA"/>
          </a:solidFill>
          <a:ln w="12700">
            <a:solidFill>
              <a:srgbClr val="67CADA">
                <a:alpha val="0"/>
              </a:srgbClr>
            </a:solidFill>
            <a:prstDash val="solid"/>
          </a:ln>
        </p:spPr>
      </p:sp>
      <p:sp>
        <p:nvSpPr>
          <p:cNvPr id="58" name="Shape 56"/>
          <p:cNvSpPr/>
          <p:nvPr/>
        </p:nvSpPr>
        <p:spPr>
          <a:xfrm>
            <a:off x="603504" y="2377440"/>
            <a:ext cx="3621024" cy="3383280"/>
          </a:xfrm>
          <a:prstGeom prst="roundRect">
            <a:avLst/>
          </a:prstGeom>
          <a:solidFill>
            <a:srgbClr val="102B3B"/>
          </a:solidFill>
          <a:ln w="10160">
            <a:solidFill>
              <a:srgbClr val="365061"/>
            </a:solidFill>
            <a:prstDash val="solid"/>
          </a:ln>
        </p:spPr>
      </p:sp>
      <p:sp>
        <p:nvSpPr>
          <p:cNvPr id="59" name="Shape 57"/>
          <p:cNvSpPr/>
          <p:nvPr/>
        </p:nvSpPr>
        <p:spPr>
          <a:xfrm>
            <a:off x="850392" y="2670048"/>
            <a:ext cx="329184" cy="329184"/>
          </a:xfrm>
          <a:prstGeom prst="ellipse">
            <a:avLst/>
          </a:prstGeom>
          <a:solidFill>
            <a:srgbClr val="061320"/>
          </a:solidFill>
          <a:ln w="10160">
            <a:solidFill>
              <a:srgbClr val="67CADA"/>
            </a:solidFill>
            <a:prstDash val="solid"/>
          </a:ln>
        </p:spPr>
      </p:sp>
      <p:sp>
        <p:nvSpPr>
          <p:cNvPr id="60" name="Text 58"/>
          <p:cNvSpPr/>
          <p:nvPr/>
        </p:nvSpPr>
        <p:spPr>
          <a:xfrm>
            <a:off x="877824" y="2734056"/>
            <a:ext cx="283464" cy="146304"/>
          </a:xfrm>
          <a:prstGeom prst="rect">
            <a:avLst/>
          </a:prstGeom>
          <a:noFill/>
          <a:ln/>
        </p:spPr>
        <p:txBody>
          <a:bodyPr wrap="square" lIns="0" tIns="0" rIns="0" bIns="0" rtlCol="0" anchor="ctr" vert="horz">
            <a:normAutofit/>
          </a:bodyPr>
          <a:lstStyle/>
          <a:p>
            <a:pPr algn="ctr" indent="0" marL="0">
              <a:buNone/>
            </a:pPr>
            <a:r>
              <a:rPr lang="en-US" sz="1100" b="1" dirty="0">
                <a:solidFill>
                  <a:srgbClr val="67CADA"/>
                </a:solidFill>
                <a:latin typeface="Aptos" pitchFamily="34" charset="0"/>
                <a:ea typeface="Aptos" pitchFamily="34" charset="-122"/>
                <a:cs typeface="Aptos" pitchFamily="34" charset="-120"/>
              </a:rPr>
              <a:t>01</a:t>
            </a:r>
            <a:endParaRPr lang="en-US" sz="1100" dirty="0"/>
          </a:p>
        </p:txBody>
      </p:sp>
      <p:sp>
        <p:nvSpPr>
          <p:cNvPr id="61" name="Text 59"/>
          <p:cNvSpPr/>
          <p:nvPr/>
        </p:nvSpPr>
        <p:spPr>
          <a:xfrm>
            <a:off x="886968" y="3072384"/>
            <a:ext cx="3063240" cy="630936"/>
          </a:xfrm>
          <a:prstGeom prst="rect">
            <a:avLst/>
          </a:prstGeom>
          <a:noFill/>
          <a:ln/>
        </p:spPr>
        <p:txBody>
          <a:bodyPr wrap="square" lIns="0" tIns="0" rIns="0" bIns="0" rtlCol="0" anchor="ctr" vert="horz">
            <a:normAutofit/>
          </a:bodyPr>
          <a:lstStyle/>
          <a:p>
            <a:pPr algn="l" indent="0" marL="0">
              <a:buNone/>
            </a:pPr>
            <a:r>
              <a:rPr lang="en-US" sz="3000" b="1" dirty="0">
                <a:solidFill>
                  <a:srgbClr val="67CADA"/>
                </a:solidFill>
                <a:latin typeface="Microsoft YaHei" pitchFamily="34" charset="0"/>
                <a:ea typeface="Noto Sans SC" pitchFamily="34" charset="-122"/>
                <a:cs typeface="Microsoft YaHei" pitchFamily="34" charset="-120"/>
              </a:rPr>
              <a:t>机器人</a:t>
            </a:r>
            <a:endParaRPr lang="en-US" sz="3000" dirty="0"/>
          </a:p>
        </p:txBody>
      </p:sp>
      <p:sp>
        <p:nvSpPr>
          <p:cNvPr id="62" name="Text 60"/>
          <p:cNvSpPr/>
          <p:nvPr/>
        </p:nvSpPr>
        <p:spPr>
          <a:xfrm>
            <a:off x="886968" y="3767328"/>
            <a:ext cx="3017520" cy="292608"/>
          </a:xfrm>
          <a:prstGeom prst="rect">
            <a:avLst/>
          </a:prstGeom>
          <a:noFill/>
          <a:ln/>
        </p:spPr>
        <p:txBody>
          <a:bodyPr wrap="square" lIns="0" tIns="0" rIns="0" bIns="0" rtlCol="0" anchor="ctr" vert="horz">
            <a:normAutofit/>
          </a:bodyPr>
          <a:lstStyle/>
          <a:p>
            <a:pPr algn="l" indent="0" marL="0">
              <a:buNone/>
            </a:pPr>
            <a:r>
              <a:rPr lang="en-US" sz="1400" b="1" dirty="0">
                <a:solidFill>
                  <a:srgbClr val="F6EEDF"/>
                </a:solidFill>
                <a:latin typeface="Aptos" pitchFamily="34" charset="0"/>
                <a:ea typeface="Aptos" pitchFamily="34" charset="-122"/>
                <a:cs typeface="Aptos" pitchFamily="34" charset="-120"/>
              </a:rPr>
              <a:t>jīqìrén</a:t>
            </a:r>
            <a:endParaRPr lang="en-US" sz="1400" dirty="0"/>
          </a:p>
        </p:txBody>
      </p:sp>
      <p:sp>
        <p:nvSpPr>
          <p:cNvPr id="63" name="Shape 61"/>
          <p:cNvSpPr/>
          <p:nvPr/>
        </p:nvSpPr>
        <p:spPr>
          <a:xfrm>
            <a:off x="877824" y="4215384"/>
            <a:ext cx="2999232" cy="0"/>
          </a:xfrm>
          <a:prstGeom prst="line">
            <a:avLst/>
          </a:prstGeom>
          <a:noFill/>
          <a:ln w="8890">
            <a:solidFill>
              <a:srgbClr val="365061"/>
            </a:solidFill>
            <a:prstDash val="solid"/>
          </a:ln>
        </p:spPr>
      </p:sp>
      <p:sp>
        <p:nvSpPr>
          <p:cNvPr id="64" name="Text 62"/>
          <p:cNvSpPr/>
          <p:nvPr/>
        </p:nvSpPr>
        <p:spPr>
          <a:xfrm>
            <a:off x="886968" y="4443984"/>
            <a:ext cx="2999232" cy="941832"/>
          </a:xfrm>
          <a:prstGeom prst="rect">
            <a:avLst/>
          </a:prstGeom>
          <a:noFill/>
          <a:ln/>
        </p:spPr>
        <p:txBody>
          <a:bodyPr wrap="square" lIns="0" tIns="0" rIns="0" bIns="0" rtlCol="0" anchor="t" vert="horz">
            <a:normAutofit/>
          </a:bodyPr>
          <a:lstStyle/>
          <a:p>
            <a:pPr algn="l" indent="0" marL="0">
              <a:buNone/>
            </a:pPr>
            <a:r>
              <a:rPr lang="en-US" sz="1600" dirty="0">
                <a:solidFill>
                  <a:srgbClr val="A8C0CD"/>
                </a:solidFill>
                <a:latin typeface="Aptos" pitchFamily="34" charset="0"/>
                <a:ea typeface="Aptos" pitchFamily="34" charset="-122"/>
                <a:cs typeface="Aptos" pitchFamily="34" charset="-120"/>
              </a:rPr>
              <a:t>Robot, término general: brazo industrial, móvil, cuadrúpedo o humanoide.</a:t>
            </a:r>
            <a:endParaRPr lang="en-US" sz="1600" dirty="0"/>
          </a:p>
        </p:txBody>
      </p:sp>
      <p:sp>
        <p:nvSpPr>
          <p:cNvPr id="65" name="Shape 63"/>
          <p:cNvSpPr/>
          <p:nvPr/>
        </p:nvSpPr>
        <p:spPr>
          <a:xfrm>
            <a:off x="4416552" y="2377440"/>
            <a:ext cx="3621024" cy="3383280"/>
          </a:xfrm>
          <a:prstGeom prst="roundRect">
            <a:avLst/>
          </a:prstGeom>
          <a:solidFill>
            <a:srgbClr val="102B3B"/>
          </a:solidFill>
          <a:ln w="10160">
            <a:solidFill>
              <a:srgbClr val="365061"/>
            </a:solidFill>
            <a:prstDash val="solid"/>
          </a:ln>
        </p:spPr>
      </p:sp>
      <p:sp>
        <p:nvSpPr>
          <p:cNvPr id="66" name="Shape 64"/>
          <p:cNvSpPr/>
          <p:nvPr/>
        </p:nvSpPr>
        <p:spPr>
          <a:xfrm>
            <a:off x="4663440" y="2670048"/>
            <a:ext cx="329184" cy="329184"/>
          </a:xfrm>
          <a:prstGeom prst="ellipse">
            <a:avLst/>
          </a:prstGeom>
          <a:solidFill>
            <a:srgbClr val="061320"/>
          </a:solidFill>
          <a:ln w="10160">
            <a:solidFill>
              <a:srgbClr val="F3C56C"/>
            </a:solidFill>
            <a:prstDash val="solid"/>
          </a:ln>
        </p:spPr>
      </p:sp>
      <p:sp>
        <p:nvSpPr>
          <p:cNvPr id="67" name="Text 65"/>
          <p:cNvSpPr/>
          <p:nvPr/>
        </p:nvSpPr>
        <p:spPr>
          <a:xfrm>
            <a:off x="4690872" y="2734056"/>
            <a:ext cx="283464" cy="146304"/>
          </a:xfrm>
          <a:prstGeom prst="rect">
            <a:avLst/>
          </a:prstGeom>
          <a:noFill/>
          <a:ln/>
        </p:spPr>
        <p:txBody>
          <a:bodyPr wrap="square" lIns="0" tIns="0" rIns="0" bIns="0" rtlCol="0" anchor="ctr" vert="horz">
            <a:normAutofit/>
          </a:bodyPr>
          <a:lstStyle/>
          <a:p>
            <a:pPr algn="ctr" indent="0" marL="0">
              <a:buNone/>
            </a:pPr>
            <a:r>
              <a:rPr lang="en-US" sz="1100" b="1" dirty="0">
                <a:solidFill>
                  <a:srgbClr val="F3C56C"/>
                </a:solidFill>
                <a:latin typeface="Aptos" pitchFamily="34" charset="0"/>
                <a:ea typeface="Aptos" pitchFamily="34" charset="-122"/>
                <a:cs typeface="Aptos" pitchFamily="34" charset="-120"/>
              </a:rPr>
              <a:t>02</a:t>
            </a:r>
            <a:endParaRPr lang="en-US" sz="1100" dirty="0"/>
          </a:p>
        </p:txBody>
      </p:sp>
      <p:sp>
        <p:nvSpPr>
          <p:cNvPr id="68" name="Text 66"/>
          <p:cNvSpPr/>
          <p:nvPr/>
        </p:nvSpPr>
        <p:spPr>
          <a:xfrm>
            <a:off x="4700016" y="3072384"/>
            <a:ext cx="3063240" cy="630936"/>
          </a:xfrm>
          <a:prstGeom prst="rect">
            <a:avLst/>
          </a:prstGeom>
          <a:noFill/>
          <a:ln/>
        </p:spPr>
        <p:txBody>
          <a:bodyPr wrap="square" lIns="0" tIns="0" rIns="0" bIns="0" rtlCol="0" anchor="ctr" vert="horz">
            <a:normAutofit/>
          </a:bodyPr>
          <a:lstStyle/>
          <a:p>
            <a:pPr algn="l" indent="0" marL="0">
              <a:buNone/>
            </a:pPr>
            <a:r>
              <a:rPr lang="en-US" sz="3000" b="1" dirty="0">
                <a:solidFill>
                  <a:srgbClr val="F3C56C"/>
                </a:solidFill>
                <a:latin typeface="Microsoft YaHei" pitchFamily="34" charset="0"/>
                <a:ea typeface="Noto Sans SC" pitchFamily="34" charset="-122"/>
                <a:cs typeface="Microsoft YaHei" pitchFamily="34" charset="-120"/>
              </a:rPr>
              <a:t>人形机器人</a:t>
            </a:r>
            <a:endParaRPr lang="en-US" sz="3000" dirty="0"/>
          </a:p>
        </p:txBody>
      </p:sp>
      <p:sp>
        <p:nvSpPr>
          <p:cNvPr id="69" name="Text 67"/>
          <p:cNvSpPr/>
          <p:nvPr/>
        </p:nvSpPr>
        <p:spPr>
          <a:xfrm>
            <a:off x="4700016" y="3767328"/>
            <a:ext cx="3017520" cy="292608"/>
          </a:xfrm>
          <a:prstGeom prst="rect">
            <a:avLst/>
          </a:prstGeom>
          <a:noFill/>
          <a:ln/>
        </p:spPr>
        <p:txBody>
          <a:bodyPr wrap="square" lIns="0" tIns="0" rIns="0" bIns="0" rtlCol="0" anchor="ctr" vert="horz">
            <a:normAutofit/>
          </a:bodyPr>
          <a:lstStyle/>
          <a:p>
            <a:pPr algn="l" indent="0" marL="0">
              <a:buNone/>
            </a:pPr>
            <a:r>
              <a:rPr lang="en-US" sz="1400" b="1" dirty="0">
                <a:solidFill>
                  <a:srgbClr val="F6EEDF"/>
                </a:solidFill>
                <a:latin typeface="Aptos" pitchFamily="34" charset="0"/>
                <a:ea typeface="Aptos" pitchFamily="34" charset="-122"/>
                <a:cs typeface="Aptos" pitchFamily="34" charset="-120"/>
              </a:rPr>
              <a:t>rénxíng jīqìrén</a:t>
            </a:r>
            <a:endParaRPr lang="en-US" sz="1400" dirty="0"/>
          </a:p>
        </p:txBody>
      </p:sp>
      <p:sp>
        <p:nvSpPr>
          <p:cNvPr id="70" name="Shape 68"/>
          <p:cNvSpPr/>
          <p:nvPr/>
        </p:nvSpPr>
        <p:spPr>
          <a:xfrm>
            <a:off x="4690872" y="4215384"/>
            <a:ext cx="2999232" cy="0"/>
          </a:xfrm>
          <a:prstGeom prst="line">
            <a:avLst/>
          </a:prstGeom>
          <a:noFill/>
          <a:ln w="8890">
            <a:solidFill>
              <a:srgbClr val="365061"/>
            </a:solidFill>
            <a:prstDash val="solid"/>
          </a:ln>
        </p:spPr>
      </p:sp>
      <p:sp>
        <p:nvSpPr>
          <p:cNvPr id="71" name="Text 69"/>
          <p:cNvSpPr/>
          <p:nvPr/>
        </p:nvSpPr>
        <p:spPr>
          <a:xfrm>
            <a:off x="4700016" y="4443984"/>
            <a:ext cx="2999232" cy="941832"/>
          </a:xfrm>
          <a:prstGeom prst="rect">
            <a:avLst/>
          </a:prstGeom>
          <a:noFill/>
          <a:ln/>
        </p:spPr>
        <p:txBody>
          <a:bodyPr wrap="square" lIns="0" tIns="0" rIns="0" bIns="0" rtlCol="0" anchor="t" vert="horz">
            <a:normAutofit/>
          </a:bodyPr>
          <a:lstStyle/>
          <a:p>
            <a:pPr algn="l" indent="0" marL="0">
              <a:buNone/>
            </a:pPr>
            <a:r>
              <a:rPr lang="en-US" sz="1600" dirty="0">
                <a:solidFill>
                  <a:srgbClr val="A8C0CD"/>
                </a:solidFill>
                <a:latin typeface="Aptos" pitchFamily="34" charset="0"/>
                <a:ea typeface="Aptos" pitchFamily="34" charset="-122"/>
                <a:cs typeface="Aptos" pitchFamily="34" charset="-120"/>
              </a:rPr>
              <a:t>Robot humanoide: morfología inspirada en el cuerpo humano.</a:t>
            </a:r>
            <a:endParaRPr lang="en-US" sz="1600" dirty="0"/>
          </a:p>
        </p:txBody>
      </p:sp>
      <p:sp>
        <p:nvSpPr>
          <p:cNvPr id="72" name="Shape 70"/>
          <p:cNvSpPr/>
          <p:nvPr/>
        </p:nvSpPr>
        <p:spPr>
          <a:xfrm>
            <a:off x="8229600" y="2377440"/>
            <a:ext cx="3621024" cy="3383280"/>
          </a:xfrm>
          <a:prstGeom prst="roundRect">
            <a:avLst/>
          </a:prstGeom>
          <a:solidFill>
            <a:srgbClr val="102B3B"/>
          </a:solidFill>
          <a:ln w="10160">
            <a:solidFill>
              <a:srgbClr val="365061"/>
            </a:solidFill>
            <a:prstDash val="solid"/>
          </a:ln>
        </p:spPr>
      </p:sp>
      <p:sp>
        <p:nvSpPr>
          <p:cNvPr id="73" name="Shape 71"/>
          <p:cNvSpPr/>
          <p:nvPr/>
        </p:nvSpPr>
        <p:spPr>
          <a:xfrm>
            <a:off x="8476488" y="2670048"/>
            <a:ext cx="329184" cy="329184"/>
          </a:xfrm>
          <a:prstGeom prst="ellipse">
            <a:avLst/>
          </a:prstGeom>
          <a:solidFill>
            <a:srgbClr val="061320"/>
          </a:solidFill>
          <a:ln w="10160">
            <a:solidFill>
              <a:srgbClr val="D8524B"/>
            </a:solidFill>
            <a:prstDash val="solid"/>
          </a:ln>
        </p:spPr>
      </p:sp>
      <p:sp>
        <p:nvSpPr>
          <p:cNvPr id="74" name="Text 72"/>
          <p:cNvSpPr/>
          <p:nvPr/>
        </p:nvSpPr>
        <p:spPr>
          <a:xfrm>
            <a:off x="8503920" y="2734056"/>
            <a:ext cx="283464" cy="146304"/>
          </a:xfrm>
          <a:prstGeom prst="rect">
            <a:avLst/>
          </a:prstGeom>
          <a:noFill/>
          <a:ln/>
        </p:spPr>
        <p:txBody>
          <a:bodyPr wrap="square" lIns="0" tIns="0" rIns="0" bIns="0" rtlCol="0" anchor="ctr" vert="horz">
            <a:normAutofit/>
          </a:bodyPr>
          <a:lstStyle/>
          <a:p>
            <a:pPr algn="ctr" indent="0" marL="0">
              <a:buNone/>
            </a:pPr>
            <a:r>
              <a:rPr lang="en-US" sz="1100" b="1" dirty="0">
                <a:solidFill>
                  <a:srgbClr val="D8524B"/>
                </a:solidFill>
                <a:latin typeface="Aptos" pitchFamily="34" charset="0"/>
                <a:ea typeface="Aptos" pitchFamily="34" charset="-122"/>
                <a:cs typeface="Aptos" pitchFamily="34" charset="-120"/>
              </a:rPr>
              <a:t>03</a:t>
            </a:r>
            <a:endParaRPr lang="en-US" sz="1100" dirty="0"/>
          </a:p>
        </p:txBody>
      </p:sp>
      <p:sp>
        <p:nvSpPr>
          <p:cNvPr id="75" name="Text 73"/>
          <p:cNvSpPr/>
          <p:nvPr/>
        </p:nvSpPr>
        <p:spPr>
          <a:xfrm>
            <a:off x="8513064" y="3072384"/>
            <a:ext cx="3063240" cy="630936"/>
          </a:xfrm>
          <a:prstGeom prst="rect">
            <a:avLst/>
          </a:prstGeom>
          <a:noFill/>
          <a:ln/>
        </p:spPr>
        <p:txBody>
          <a:bodyPr wrap="square" lIns="0" tIns="0" rIns="0" bIns="0" rtlCol="0" anchor="ctr" vert="horz">
            <a:normAutofit/>
          </a:bodyPr>
          <a:lstStyle/>
          <a:p>
            <a:pPr algn="l" indent="0" marL="0">
              <a:buNone/>
            </a:pPr>
            <a:r>
              <a:rPr lang="en-US" sz="3000" b="1" dirty="0">
                <a:solidFill>
                  <a:srgbClr val="D8524B"/>
                </a:solidFill>
                <a:latin typeface="Microsoft YaHei" pitchFamily="34" charset="0"/>
                <a:ea typeface="Noto Sans SC" pitchFamily="34" charset="-122"/>
                <a:cs typeface="Microsoft YaHei" pitchFamily="34" charset="-120"/>
              </a:rPr>
              <a:t>仿生人</a:t>
            </a:r>
            <a:endParaRPr lang="en-US" sz="3000" dirty="0"/>
          </a:p>
        </p:txBody>
      </p:sp>
      <p:sp>
        <p:nvSpPr>
          <p:cNvPr id="76" name="Text 74"/>
          <p:cNvSpPr/>
          <p:nvPr/>
        </p:nvSpPr>
        <p:spPr>
          <a:xfrm>
            <a:off x="8513064" y="3767328"/>
            <a:ext cx="3017520" cy="292608"/>
          </a:xfrm>
          <a:prstGeom prst="rect">
            <a:avLst/>
          </a:prstGeom>
          <a:noFill/>
          <a:ln/>
        </p:spPr>
        <p:txBody>
          <a:bodyPr wrap="square" lIns="0" tIns="0" rIns="0" bIns="0" rtlCol="0" anchor="ctr" vert="horz">
            <a:normAutofit/>
          </a:bodyPr>
          <a:lstStyle/>
          <a:p>
            <a:pPr algn="l" indent="0" marL="0">
              <a:buNone/>
            </a:pPr>
            <a:r>
              <a:rPr lang="en-US" sz="1400" b="1" dirty="0">
                <a:solidFill>
                  <a:srgbClr val="F6EEDF"/>
                </a:solidFill>
                <a:latin typeface="Aptos" pitchFamily="34" charset="0"/>
                <a:ea typeface="Aptos" pitchFamily="34" charset="-122"/>
                <a:cs typeface="Aptos" pitchFamily="34" charset="-120"/>
              </a:rPr>
              <a:t>fǎngshēngrén</a:t>
            </a:r>
            <a:endParaRPr lang="en-US" sz="1400" dirty="0"/>
          </a:p>
        </p:txBody>
      </p:sp>
      <p:sp>
        <p:nvSpPr>
          <p:cNvPr id="77" name="Shape 75"/>
          <p:cNvSpPr/>
          <p:nvPr/>
        </p:nvSpPr>
        <p:spPr>
          <a:xfrm>
            <a:off x="8503920" y="4215384"/>
            <a:ext cx="2999232" cy="0"/>
          </a:xfrm>
          <a:prstGeom prst="line">
            <a:avLst/>
          </a:prstGeom>
          <a:noFill/>
          <a:ln w="8890">
            <a:solidFill>
              <a:srgbClr val="365061"/>
            </a:solidFill>
            <a:prstDash val="solid"/>
          </a:ln>
        </p:spPr>
      </p:sp>
      <p:sp>
        <p:nvSpPr>
          <p:cNvPr id="78" name="Text 76"/>
          <p:cNvSpPr/>
          <p:nvPr/>
        </p:nvSpPr>
        <p:spPr>
          <a:xfrm>
            <a:off x="8513064" y="4443984"/>
            <a:ext cx="2999232" cy="941832"/>
          </a:xfrm>
          <a:prstGeom prst="rect">
            <a:avLst/>
          </a:prstGeom>
          <a:noFill/>
          <a:ln/>
        </p:spPr>
        <p:txBody>
          <a:bodyPr wrap="square" lIns="0" tIns="0" rIns="0" bIns="0" rtlCol="0" anchor="t" vert="horz">
            <a:normAutofit/>
          </a:bodyPr>
          <a:lstStyle/>
          <a:p>
            <a:pPr algn="l" indent="0" marL="0">
              <a:buNone/>
            </a:pPr>
            <a:r>
              <a:rPr lang="en-US" sz="1600" dirty="0">
                <a:solidFill>
                  <a:srgbClr val="A8C0CD"/>
                </a:solidFill>
                <a:latin typeface="Aptos" pitchFamily="34" charset="0"/>
                <a:ea typeface="Aptos" pitchFamily="34" charset="-122"/>
                <a:cs typeface="Aptos" pitchFamily="34" charset="-120"/>
              </a:rPr>
              <a:t>Androide o ser humano artificial, habitual como idea narrativa o de ciencia ficción.</a:t>
            </a:r>
            <a:endParaRPr lang="en-US" sz="1600" dirty="0"/>
          </a:p>
        </p:txBody>
      </p:sp>
      <p:sp>
        <p:nvSpPr>
          <p:cNvPr id="79" name="Text 77"/>
          <p:cNvSpPr/>
          <p:nvPr/>
        </p:nvSpPr>
        <p:spPr>
          <a:xfrm>
            <a:off x="777240" y="5916168"/>
            <a:ext cx="10789920" cy="310896"/>
          </a:xfrm>
          <a:prstGeom prst="rect">
            <a:avLst/>
          </a:prstGeom>
          <a:noFill/>
          <a:ln/>
        </p:spPr>
        <p:txBody>
          <a:bodyPr wrap="square" lIns="0" tIns="0" rIns="0" bIns="0" rtlCol="0" anchor="ctr" vert="horz">
            <a:normAutofit/>
          </a:bodyPr>
          <a:lstStyle/>
          <a:p>
            <a:pPr algn="ctr" indent="0" marL="0">
              <a:buNone/>
            </a:pPr>
            <a:r>
              <a:rPr lang="en-US" sz="1740" dirty="0">
                <a:solidFill>
                  <a:srgbClr val="F3C56C"/>
                </a:solidFill>
                <a:latin typeface="Aptos" pitchFamily="34" charset="0"/>
                <a:ea typeface="Noto Sans SC" pitchFamily="34" charset="-122"/>
                <a:cs typeface="Aptos" pitchFamily="34" charset="-120"/>
              </a:rPr>
              <a:t>Para este módulo: «EL ANDROIDE» es la metáfora; 人形机器人 identifica el tipo de robot.</a:t>
            </a:r>
            <a:endParaRPr lang="en-US" sz="17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EL MAPA DEL CURSO</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Tres pilares, un sistema tecnológico</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En este módulo hacemos zoom sobre las empresas</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EL MAPA DEL CURSO</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04</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Marco conceptual del curso</a:t>
            </a:r>
            <a:endParaRPr lang="en-US" sz="800" dirty="0"/>
          </a:p>
        </p:txBody>
      </p:sp>
      <p:sp>
        <p:nvSpPr>
          <p:cNvPr id="13" name="Shape 11"/>
          <p:cNvSpPr/>
          <p:nvPr/>
        </p:nvSpPr>
        <p:spPr>
          <a:xfrm>
            <a:off x="658368" y="2551176"/>
            <a:ext cx="3474720" cy="2715768"/>
          </a:xfrm>
          <a:prstGeom prst="roundRect">
            <a:avLst/>
          </a:prstGeom>
          <a:solidFill>
            <a:srgbClr val="102B3B"/>
          </a:solidFill>
          <a:ln w="10160">
            <a:solidFill>
              <a:srgbClr val="F3C56C"/>
            </a:solidFill>
            <a:prstDash val="solid"/>
          </a:ln>
        </p:spPr>
      </p:sp>
      <p:sp>
        <p:nvSpPr>
          <p:cNvPr id="14" name="Text 12"/>
          <p:cNvSpPr/>
          <p:nvPr/>
        </p:nvSpPr>
        <p:spPr>
          <a:xfrm>
            <a:off x="868680" y="2743200"/>
            <a:ext cx="502920" cy="411480"/>
          </a:xfrm>
          <a:prstGeom prst="rect">
            <a:avLst/>
          </a:prstGeom>
          <a:noFill/>
          <a:ln/>
        </p:spPr>
        <p:txBody>
          <a:bodyPr wrap="square" lIns="0" tIns="0" rIns="0" bIns="0" rtlCol="0" anchor="ctr" vert="horz">
            <a:normAutofit/>
          </a:bodyPr>
          <a:lstStyle/>
          <a:p>
            <a:pPr algn="l" indent="0" marL="0">
              <a:buNone/>
            </a:pPr>
            <a:r>
              <a:rPr lang="en-US" sz="2900" dirty="0">
                <a:solidFill>
                  <a:srgbClr val="F3C56C"/>
                </a:solidFill>
                <a:latin typeface="Georgia" pitchFamily="34" charset="0"/>
                <a:ea typeface="Georgia" pitchFamily="34" charset="-122"/>
                <a:cs typeface="Georgia" pitchFamily="34" charset="-120"/>
              </a:rPr>
              <a:t>01</a:t>
            </a:r>
            <a:endParaRPr lang="en-US" sz="2900" dirty="0"/>
          </a:p>
        </p:txBody>
      </p:sp>
      <p:sp>
        <p:nvSpPr>
          <p:cNvPr id="15" name="Text 13"/>
          <p:cNvSpPr/>
          <p:nvPr/>
        </p:nvSpPr>
        <p:spPr>
          <a:xfrm>
            <a:off x="868680" y="3264408"/>
            <a:ext cx="3008376" cy="347472"/>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EL DRAGÓN</a:t>
            </a:r>
            <a:endParaRPr lang="en-US" sz="1830" dirty="0"/>
          </a:p>
        </p:txBody>
      </p:sp>
      <p:sp>
        <p:nvSpPr>
          <p:cNvPr id="16" name="Text 14"/>
          <p:cNvSpPr/>
          <p:nvPr/>
        </p:nvSpPr>
        <p:spPr>
          <a:xfrm>
            <a:off x="868680" y="3758184"/>
            <a:ext cx="2999232" cy="347472"/>
          </a:xfrm>
          <a:prstGeom prst="rect">
            <a:avLst/>
          </a:prstGeom>
          <a:noFill/>
          <a:ln/>
        </p:spPr>
        <p:txBody>
          <a:bodyPr wrap="square" lIns="0" tIns="0" rIns="0" bIns="0" rtlCol="0" anchor="ctr" vert="horz">
            <a:normAutofit/>
          </a:bodyPr>
          <a:lstStyle/>
          <a:p>
            <a:pPr algn="l" indent="0" marL="0">
              <a:buNone/>
            </a:pPr>
            <a:r>
              <a:rPr lang="en-US" sz="1700" dirty="0">
                <a:solidFill>
                  <a:srgbClr val="F3C56C"/>
                </a:solidFill>
                <a:latin typeface="Aptos" pitchFamily="34" charset="0"/>
                <a:ea typeface="Aptos" pitchFamily="34" charset="-122"/>
                <a:cs typeface="Aptos" pitchFamily="34" charset="-120"/>
              </a:rPr>
              <a:t>Estado estratégico</a:t>
            </a:r>
            <a:endParaRPr lang="en-US" sz="1700" dirty="0"/>
          </a:p>
        </p:txBody>
      </p:sp>
      <p:sp>
        <p:nvSpPr>
          <p:cNvPr id="17" name="Shape 15"/>
          <p:cNvSpPr/>
          <p:nvPr/>
        </p:nvSpPr>
        <p:spPr>
          <a:xfrm>
            <a:off x="877824" y="4224528"/>
            <a:ext cx="2999232" cy="0"/>
          </a:xfrm>
          <a:prstGeom prst="line">
            <a:avLst/>
          </a:prstGeom>
          <a:noFill/>
          <a:ln w="10160">
            <a:solidFill>
              <a:srgbClr val="365061"/>
            </a:solidFill>
            <a:prstDash val="solid"/>
          </a:ln>
        </p:spPr>
      </p:sp>
      <p:sp>
        <p:nvSpPr>
          <p:cNvPr id="18" name="Text 16"/>
          <p:cNvSpPr/>
          <p:nvPr/>
        </p:nvSpPr>
        <p:spPr>
          <a:xfrm>
            <a:off x="868680" y="4462272"/>
            <a:ext cx="3017520" cy="393192"/>
          </a:xfrm>
          <a:prstGeom prst="rect">
            <a:avLst/>
          </a:prstGeom>
          <a:noFill/>
          <a:ln/>
        </p:spPr>
        <p:txBody>
          <a:bodyPr wrap="square" lIns="0" tIns="0" rIns="0" bIns="0" rtlCol="0" anchor="ctr" vert="horz">
            <a:normAutofit/>
          </a:bodyPr>
          <a:lstStyle/>
          <a:p>
            <a:pPr algn="l" indent="0" marL="0">
              <a:buNone/>
            </a:pPr>
            <a:r>
              <a:rPr lang="en-US" sz="1620" dirty="0">
                <a:solidFill>
                  <a:srgbClr val="A8C0CD"/>
                </a:solidFill>
                <a:latin typeface="Aptos" pitchFamily="34" charset="0"/>
                <a:ea typeface="Aptos" pitchFamily="34" charset="-122"/>
                <a:cs typeface="Aptos" pitchFamily="34" charset="-120"/>
              </a:rPr>
              <a:t>Orienta prioridades</a:t>
            </a:r>
            <a:endParaRPr lang="en-US" sz="1620" dirty="0"/>
          </a:p>
        </p:txBody>
      </p:sp>
      <p:sp>
        <p:nvSpPr>
          <p:cNvPr id="19" name="Shape 17"/>
          <p:cNvSpPr/>
          <p:nvPr/>
        </p:nvSpPr>
        <p:spPr>
          <a:xfrm>
            <a:off x="4334256" y="2551176"/>
            <a:ext cx="3474720" cy="2715768"/>
          </a:xfrm>
          <a:prstGeom prst="roundRect">
            <a:avLst/>
          </a:prstGeom>
          <a:solidFill>
            <a:srgbClr val="173347"/>
          </a:solidFill>
          <a:ln w="10160">
            <a:solidFill>
              <a:srgbClr val="67CADA"/>
            </a:solidFill>
            <a:prstDash val="solid"/>
          </a:ln>
        </p:spPr>
      </p:sp>
      <p:sp>
        <p:nvSpPr>
          <p:cNvPr id="20" name="Text 18"/>
          <p:cNvSpPr/>
          <p:nvPr/>
        </p:nvSpPr>
        <p:spPr>
          <a:xfrm>
            <a:off x="4544568" y="2743200"/>
            <a:ext cx="502920" cy="411480"/>
          </a:xfrm>
          <a:prstGeom prst="rect">
            <a:avLst/>
          </a:prstGeom>
          <a:noFill/>
          <a:ln/>
        </p:spPr>
        <p:txBody>
          <a:bodyPr wrap="square" lIns="0" tIns="0" rIns="0" bIns="0" rtlCol="0" anchor="ctr" vert="horz">
            <a:normAutofit/>
          </a:bodyPr>
          <a:lstStyle/>
          <a:p>
            <a:pPr algn="l" indent="0" marL="0">
              <a:buNone/>
            </a:pPr>
            <a:r>
              <a:rPr lang="en-US" sz="2900" dirty="0">
                <a:solidFill>
                  <a:srgbClr val="67CADA"/>
                </a:solidFill>
                <a:latin typeface="Georgia" pitchFamily="34" charset="0"/>
                <a:ea typeface="Georgia" pitchFamily="34" charset="-122"/>
                <a:cs typeface="Georgia" pitchFamily="34" charset="-120"/>
              </a:rPr>
              <a:t>02</a:t>
            </a:r>
            <a:endParaRPr lang="en-US" sz="2900" dirty="0"/>
          </a:p>
        </p:txBody>
      </p:sp>
      <p:sp>
        <p:nvSpPr>
          <p:cNvPr id="21" name="Text 19"/>
          <p:cNvSpPr/>
          <p:nvPr/>
        </p:nvSpPr>
        <p:spPr>
          <a:xfrm>
            <a:off x="4544568" y="3264408"/>
            <a:ext cx="3008376" cy="347472"/>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EL ANDROIDE</a:t>
            </a:r>
            <a:endParaRPr lang="en-US" sz="1830" dirty="0"/>
          </a:p>
        </p:txBody>
      </p:sp>
      <p:sp>
        <p:nvSpPr>
          <p:cNvPr id="22" name="Text 20"/>
          <p:cNvSpPr/>
          <p:nvPr/>
        </p:nvSpPr>
        <p:spPr>
          <a:xfrm>
            <a:off x="4544568" y="3758184"/>
            <a:ext cx="2999232" cy="347472"/>
          </a:xfrm>
          <a:prstGeom prst="rect">
            <a:avLst/>
          </a:prstGeom>
          <a:noFill/>
          <a:ln/>
        </p:spPr>
        <p:txBody>
          <a:bodyPr wrap="square" lIns="0" tIns="0" rIns="0" bIns="0" rtlCol="0" anchor="ctr" vert="horz">
            <a:normAutofit/>
          </a:bodyPr>
          <a:lstStyle/>
          <a:p>
            <a:pPr algn="l" indent="0" marL="0">
              <a:buNone/>
            </a:pPr>
            <a:r>
              <a:rPr lang="en-US" sz="1700" dirty="0">
                <a:solidFill>
                  <a:srgbClr val="67CADA"/>
                </a:solidFill>
                <a:latin typeface="Aptos" pitchFamily="34" charset="0"/>
                <a:ea typeface="Aptos" pitchFamily="34" charset="-122"/>
                <a:cs typeface="Aptos" pitchFamily="34" charset="-120"/>
              </a:rPr>
              <a:t>Empresas tecnológicas</a:t>
            </a:r>
            <a:endParaRPr lang="en-US" sz="1700" dirty="0"/>
          </a:p>
        </p:txBody>
      </p:sp>
      <p:sp>
        <p:nvSpPr>
          <p:cNvPr id="23" name="Shape 21"/>
          <p:cNvSpPr/>
          <p:nvPr/>
        </p:nvSpPr>
        <p:spPr>
          <a:xfrm>
            <a:off x="4553712" y="4224528"/>
            <a:ext cx="2999232" cy="0"/>
          </a:xfrm>
          <a:prstGeom prst="line">
            <a:avLst/>
          </a:prstGeom>
          <a:noFill/>
          <a:ln w="10160">
            <a:solidFill>
              <a:srgbClr val="365061"/>
            </a:solidFill>
            <a:prstDash val="solid"/>
          </a:ln>
        </p:spPr>
      </p:sp>
      <p:sp>
        <p:nvSpPr>
          <p:cNvPr id="24" name="Text 22"/>
          <p:cNvSpPr/>
          <p:nvPr/>
        </p:nvSpPr>
        <p:spPr>
          <a:xfrm>
            <a:off x="4544568" y="4462272"/>
            <a:ext cx="3017520" cy="393192"/>
          </a:xfrm>
          <a:prstGeom prst="rect">
            <a:avLst/>
          </a:prstGeom>
          <a:noFill/>
          <a:ln/>
        </p:spPr>
        <p:txBody>
          <a:bodyPr wrap="square" lIns="0" tIns="0" rIns="0" bIns="0" rtlCol="0" anchor="ctr" vert="horz">
            <a:normAutofit/>
          </a:bodyPr>
          <a:lstStyle/>
          <a:p>
            <a:pPr algn="l" indent="0" marL="0">
              <a:buNone/>
            </a:pPr>
            <a:r>
              <a:rPr lang="en-US" sz="1620" dirty="0">
                <a:solidFill>
                  <a:srgbClr val="A8C0CD"/>
                </a:solidFill>
                <a:latin typeface="Aptos" pitchFamily="34" charset="0"/>
                <a:ea typeface="Aptos" pitchFamily="34" charset="-122"/>
                <a:cs typeface="Aptos" pitchFamily="34" charset="-120"/>
              </a:rPr>
              <a:t>Investigan e innovan</a:t>
            </a:r>
            <a:endParaRPr lang="en-US" sz="1620" dirty="0"/>
          </a:p>
        </p:txBody>
      </p:sp>
      <p:sp>
        <p:nvSpPr>
          <p:cNvPr id="25" name="Shape 23"/>
          <p:cNvSpPr/>
          <p:nvPr/>
        </p:nvSpPr>
        <p:spPr>
          <a:xfrm>
            <a:off x="8010144" y="2551176"/>
            <a:ext cx="3474720" cy="2715768"/>
          </a:xfrm>
          <a:prstGeom prst="roundRect">
            <a:avLst/>
          </a:prstGeom>
          <a:solidFill>
            <a:srgbClr val="102B3B"/>
          </a:solidFill>
          <a:ln w="10160">
            <a:solidFill>
              <a:srgbClr val="70C9AD"/>
            </a:solidFill>
            <a:prstDash val="solid"/>
          </a:ln>
        </p:spPr>
      </p:sp>
      <p:sp>
        <p:nvSpPr>
          <p:cNvPr id="26" name="Text 24"/>
          <p:cNvSpPr/>
          <p:nvPr/>
        </p:nvSpPr>
        <p:spPr>
          <a:xfrm>
            <a:off x="8220456" y="2743200"/>
            <a:ext cx="502920" cy="411480"/>
          </a:xfrm>
          <a:prstGeom prst="rect">
            <a:avLst/>
          </a:prstGeom>
          <a:noFill/>
          <a:ln/>
        </p:spPr>
        <p:txBody>
          <a:bodyPr wrap="square" lIns="0" tIns="0" rIns="0" bIns="0" rtlCol="0" anchor="ctr" vert="horz">
            <a:normAutofit/>
          </a:bodyPr>
          <a:lstStyle/>
          <a:p>
            <a:pPr algn="l" indent="0" marL="0">
              <a:buNone/>
            </a:pPr>
            <a:r>
              <a:rPr lang="en-US" sz="2900" dirty="0">
                <a:solidFill>
                  <a:srgbClr val="70C9AD"/>
                </a:solidFill>
                <a:latin typeface="Georgia" pitchFamily="34" charset="0"/>
                <a:ea typeface="Georgia" pitchFamily="34" charset="-122"/>
                <a:cs typeface="Georgia" pitchFamily="34" charset="-120"/>
              </a:rPr>
              <a:t>03</a:t>
            </a:r>
            <a:endParaRPr lang="en-US" sz="2900" dirty="0"/>
          </a:p>
        </p:txBody>
      </p:sp>
      <p:sp>
        <p:nvSpPr>
          <p:cNvPr id="27" name="Text 25"/>
          <p:cNvSpPr/>
          <p:nvPr/>
        </p:nvSpPr>
        <p:spPr>
          <a:xfrm>
            <a:off x="8220456" y="3264408"/>
            <a:ext cx="3008376" cy="347472"/>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LA INFRAESTRUCTURA</a:t>
            </a:r>
            <a:endParaRPr lang="en-US" sz="1830" dirty="0"/>
          </a:p>
        </p:txBody>
      </p:sp>
      <p:sp>
        <p:nvSpPr>
          <p:cNvPr id="28" name="Text 26"/>
          <p:cNvSpPr/>
          <p:nvPr/>
        </p:nvSpPr>
        <p:spPr>
          <a:xfrm>
            <a:off x="8220456" y="3758184"/>
            <a:ext cx="2999232" cy="347472"/>
          </a:xfrm>
          <a:prstGeom prst="rect">
            <a:avLst/>
          </a:prstGeom>
          <a:noFill/>
          <a:ln/>
        </p:spPr>
        <p:txBody>
          <a:bodyPr wrap="square" lIns="0" tIns="0" rIns="0" bIns="0" rtlCol="0" anchor="ctr" vert="horz">
            <a:normAutofit/>
          </a:bodyPr>
          <a:lstStyle/>
          <a:p>
            <a:pPr algn="l" indent="0" marL="0">
              <a:buNone/>
            </a:pPr>
            <a:r>
              <a:rPr lang="en-US" sz="1700" dirty="0">
                <a:solidFill>
                  <a:srgbClr val="70C9AD"/>
                </a:solidFill>
                <a:latin typeface="Aptos" pitchFamily="34" charset="0"/>
                <a:ea typeface="Aptos" pitchFamily="34" charset="-122"/>
                <a:cs typeface="Aptos" pitchFamily="34" charset="-120"/>
              </a:rPr>
              <a:t>Ecosistema material</a:t>
            </a:r>
            <a:endParaRPr lang="en-US" sz="1700" dirty="0"/>
          </a:p>
        </p:txBody>
      </p:sp>
      <p:sp>
        <p:nvSpPr>
          <p:cNvPr id="29" name="Shape 27"/>
          <p:cNvSpPr/>
          <p:nvPr/>
        </p:nvSpPr>
        <p:spPr>
          <a:xfrm>
            <a:off x="8229600" y="4224528"/>
            <a:ext cx="2999232" cy="0"/>
          </a:xfrm>
          <a:prstGeom prst="line">
            <a:avLst/>
          </a:prstGeom>
          <a:noFill/>
          <a:ln w="10160">
            <a:solidFill>
              <a:srgbClr val="365061"/>
            </a:solidFill>
            <a:prstDash val="solid"/>
          </a:ln>
        </p:spPr>
      </p:sp>
      <p:sp>
        <p:nvSpPr>
          <p:cNvPr id="30" name="Text 28"/>
          <p:cNvSpPr/>
          <p:nvPr/>
        </p:nvSpPr>
        <p:spPr>
          <a:xfrm>
            <a:off x="8220456" y="4462272"/>
            <a:ext cx="3017520" cy="393192"/>
          </a:xfrm>
          <a:prstGeom prst="rect">
            <a:avLst/>
          </a:prstGeom>
          <a:noFill/>
          <a:ln/>
        </p:spPr>
        <p:txBody>
          <a:bodyPr wrap="square" lIns="0" tIns="0" rIns="0" bIns="0" rtlCol="0" anchor="ctr" vert="horz">
            <a:normAutofit/>
          </a:bodyPr>
          <a:lstStyle/>
          <a:p>
            <a:pPr algn="l" indent="0" marL="0">
              <a:buNone/>
            </a:pPr>
            <a:r>
              <a:rPr lang="en-US" sz="1620" dirty="0">
                <a:solidFill>
                  <a:srgbClr val="A8C0CD"/>
                </a:solidFill>
                <a:latin typeface="Aptos" pitchFamily="34" charset="0"/>
                <a:ea typeface="Aptos" pitchFamily="34" charset="-122"/>
                <a:cs typeface="Aptos" pitchFamily="34" charset="-120"/>
              </a:rPr>
              <a:t>Permite fabricar y escalar</a:t>
            </a:r>
            <a:endParaRPr lang="en-US" sz="1620" dirty="0"/>
          </a:p>
        </p:txBody>
      </p:sp>
      <p:sp>
        <p:nvSpPr>
          <p:cNvPr id="31" name="Shape 29"/>
          <p:cNvSpPr/>
          <p:nvPr/>
        </p:nvSpPr>
        <p:spPr>
          <a:xfrm>
            <a:off x="4151376" y="3767328"/>
            <a:ext cx="164592" cy="0"/>
          </a:xfrm>
          <a:prstGeom prst="line">
            <a:avLst/>
          </a:prstGeom>
          <a:noFill/>
          <a:ln w="38100">
            <a:solidFill>
              <a:srgbClr val="F3C56C"/>
            </a:solidFill>
            <a:prstDash val="solid"/>
          </a:ln>
        </p:spPr>
      </p:sp>
      <p:sp>
        <p:nvSpPr>
          <p:cNvPr id="32" name="Shape 30"/>
          <p:cNvSpPr/>
          <p:nvPr/>
        </p:nvSpPr>
        <p:spPr>
          <a:xfrm>
            <a:off x="7836408" y="3767328"/>
            <a:ext cx="164592" cy="0"/>
          </a:xfrm>
          <a:prstGeom prst="line">
            <a:avLst/>
          </a:prstGeom>
          <a:noFill/>
          <a:ln w="38100">
            <a:solidFill>
              <a:srgbClr val="F3C56C"/>
            </a:solidFill>
            <a:prstDash val="solid"/>
          </a:ln>
        </p:spPr>
      </p:sp>
      <p:sp>
        <p:nvSpPr>
          <p:cNvPr id="33" name="Text 31"/>
          <p:cNvSpPr/>
          <p:nvPr/>
        </p:nvSpPr>
        <p:spPr>
          <a:xfrm>
            <a:off x="841248" y="5705856"/>
            <a:ext cx="10561320" cy="411480"/>
          </a:xfrm>
          <a:prstGeom prst="rect">
            <a:avLst/>
          </a:prstGeom>
          <a:noFill/>
          <a:ln/>
        </p:spPr>
        <p:txBody>
          <a:bodyPr wrap="square" lIns="0" tIns="0" rIns="0" bIns="0" rtlCol="0" anchor="ctr" vert="horz">
            <a:normAutofit/>
          </a:bodyPr>
          <a:lstStyle/>
          <a:p>
            <a:pPr algn="ctr" indent="0" marL="0">
              <a:buNone/>
            </a:pPr>
            <a:r>
              <a:rPr lang="en-US" sz="2000" dirty="0">
                <a:solidFill>
                  <a:srgbClr val="F6EEDF"/>
                </a:solidFill>
                <a:latin typeface="Georgia" pitchFamily="34" charset="0"/>
                <a:ea typeface="Georgia" pitchFamily="34" charset="-122"/>
                <a:cs typeface="Georgia" pitchFamily="34" charset="-120"/>
              </a:rPr>
              <a:t>La innovación surge de la interacción entre Estado, competencia empresarial y capacidades industriales.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ARQUITECTURA INDUSTRIAL</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Cinco capas de la empresa tecnológica</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Una firma puede liderar una capa y depender de otra</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ARQUITECTURA INDUSTRIAL</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05</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Mapa analítico de la cadena de valor</a:t>
            </a:r>
            <a:endParaRPr lang="en-US" sz="800" dirty="0"/>
          </a:p>
        </p:txBody>
      </p:sp>
      <p:sp>
        <p:nvSpPr>
          <p:cNvPr id="13" name="Shape 11"/>
          <p:cNvSpPr/>
          <p:nvPr/>
        </p:nvSpPr>
        <p:spPr>
          <a:xfrm>
            <a:off x="987552" y="2295144"/>
            <a:ext cx="10149840" cy="576072"/>
          </a:xfrm>
          <a:prstGeom prst="roundRect">
            <a:avLst/>
          </a:prstGeom>
          <a:solidFill>
            <a:srgbClr val="102B3B"/>
          </a:solidFill>
          <a:ln w="10160">
            <a:solidFill>
              <a:srgbClr val="365061"/>
            </a:solidFill>
            <a:prstDash val="solid"/>
          </a:ln>
        </p:spPr>
      </p:sp>
      <p:sp>
        <p:nvSpPr>
          <p:cNvPr id="14" name="Shape 12"/>
          <p:cNvSpPr/>
          <p:nvPr/>
        </p:nvSpPr>
        <p:spPr>
          <a:xfrm>
            <a:off x="987552" y="2295144"/>
            <a:ext cx="82296" cy="576072"/>
          </a:xfrm>
          <a:prstGeom prst="rect">
            <a:avLst/>
          </a:prstGeom>
          <a:solidFill>
            <a:srgbClr val="F3C56C"/>
          </a:solidFill>
          <a:ln w="12700">
            <a:solidFill>
              <a:srgbClr val="F3C56C">
                <a:alpha val="0"/>
              </a:srgbClr>
            </a:solidFill>
            <a:prstDash val="solid"/>
          </a:ln>
        </p:spPr>
      </p:sp>
      <p:sp>
        <p:nvSpPr>
          <p:cNvPr id="15" name="Text 13"/>
          <p:cNvSpPr/>
          <p:nvPr/>
        </p:nvSpPr>
        <p:spPr>
          <a:xfrm>
            <a:off x="1243584" y="2386584"/>
            <a:ext cx="3310128" cy="283464"/>
          </a:xfrm>
          <a:prstGeom prst="rect">
            <a:avLst/>
          </a:prstGeom>
          <a:noFill/>
          <a:ln/>
        </p:spPr>
        <p:txBody>
          <a:bodyPr wrap="square" lIns="0" tIns="0" rIns="0" bIns="0" rtlCol="0" anchor="ctr" vert="horz">
            <a:normAutofit/>
          </a:bodyPr>
          <a:lstStyle/>
          <a:p>
            <a:pPr algn="l" indent="0" marL="0">
              <a:buNone/>
            </a:pPr>
            <a:r>
              <a:rPr lang="en-US" sz="1440" b="1" dirty="0">
                <a:solidFill>
                  <a:srgbClr val="F3C56C"/>
                </a:solidFill>
                <a:latin typeface="Aptos" pitchFamily="34" charset="0"/>
                <a:ea typeface="Aptos" pitchFamily="34" charset="-122"/>
                <a:cs typeface="Aptos" pitchFamily="34" charset="-120"/>
              </a:rPr>
              <a:t>MODELOS FUNDACIONALES</a:t>
            </a:r>
            <a:endParaRPr lang="en-US" sz="1440" dirty="0"/>
          </a:p>
        </p:txBody>
      </p:sp>
      <p:sp>
        <p:nvSpPr>
          <p:cNvPr id="16" name="Text 14"/>
          <p:cNvSpPr/>
          <p:nvPr/>
        </p:nvSpPr>
        <p:spPr>
          <a:xfrm>
            <a:off x="4608576" y="2386584"/>
            <a:ext cx="2834640" cy="283464"/>
          </a:xfrm>
          <a:prstGeom prst="rect">
            <a:avLst/>
          </a:prstGeom>
          <a:noFill/>
          <a:ln/>
        </p:spPr>
        <p:txBody>
          <a:bodyPr wrap="square" lIns="0" tIns="0" rIns="0" bIns="0" rtlCol="0" anchor="ctr" vert="horz">
            <a:normAutofit/>
          </a:bodyPr>
          <a:lstStyle/>
          <a:p>
            <a:pPr algn="l" indent="0" marL="0">
              <a:buNone/>
            </a:pPr>
            <a:r>
              <a:rPr lang="en-US" sz="1320" b="1" dirty="0">
                <a:solidFill>
                  <a:srgbClr val="F6EEDF"/>
                </a:solidFill>
                <a:latin typeface="Aptos" pitchFamily="34" charset="0"/>
                <a:ea typeface="Aptos" pitchFamily="34" charset="-122"/>
                <a:cs typeface="Aptos" pitchFamily="34" charset="-120"/>
              </a:rPr>
              <a:t>DeepSeek · Qwen · GLM</a:t>
            </a:r>
            <a:endParaRPr lang="en-US" sz="1320" dirty="0"/>
          </a:p>
        </p:txBody>
      </p:sp>
      <p:sp>
        <p:nvSpPr>
          <p:cNvPr id="17" name="Text 15"/>
          <p:cNvSpPr/>
          <p:nvPr/>
        </p:nvSpPr>
        <p:spPr>
          <a:xfrm>
            <a:off x="7726680" y="2386584"/>
            <a:ext cx="3063240" cy="301752"/>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Algoritmos, datos, entrenamiento</a:t>
            </a:r>
            <a:endParaRPr lang="en-US" sz="1270" dirty="0"/>
          </a:p>
        </p:txBody>
      </p:sp>
      <p:sp>
        <p:nvSpPr>
          <p:cNvPr id="18" name="Shape 16"/>
          <p:cNvSpPr/>
          <p:nvPr/>
        </p:nvSpPr>
        <p:spPr>
          <a:xfrm>
            <a:off x="987552" y="2971800"/>
            <a:ext cx="10149840" cy="576072"/>
          </a:xfrm>
          <a:prstGeom prst="roundRect">
            <a:avLst/>
          </a:prstGeom>
          <a:solidFill>
            <a:srgbClr val="102B3B"/>
          </a:solidFill>
          <a:ln w="10160">
            <a:solidFill>
              <a:srgbClr val="365061"/>
            </a:solidFill>
            <a:prstDash val="solid"/>
          </a:ln>
        </p:spPr>
      </p:sp>
      <p:sp>
        <p:nvSpPr>
          <p:cNvPr id="19" name="Shape 17"/>
          <p:cNvSpPr/>
          <p:nvPr/>
        </p:nvSpPr>
        <p:spPr>
          <a:xfrm>
            <a:off x="987552" y="2971800"/>
            <a:ext cx="82296" cy="576072"/>
          </a:xfrm>
          <a:prstGeom prst="rect">
            <a:avLst/>
          </a:prstGeom>
          <a:solidFill>
            <a:srgbClr val="D8524B"/>
          </a:solidFill>
          <a:ln w="12700">
            <a:solidFill>
              <a:srgbClr val="D8524B">
                <a:alpha val="0"/>
              </a:srgbClr>
            </a:solidFill>
            <a:prstDash val="solid"/>
          </a:ln>
        </p:spPr>
      </p:sp>
      <p:sp>
        <p:nvSpPr>
          <p:cNvPr id="20" name="Text 18"/>
          <p:cNvSpPr/>
          <p:nvPr/>
        </p:nvSpPr>
        <p:spPr>
          <a:xfrm>
            <a:off x="1243584" y="3063240"/>
            <a:ext cx="3310128" cy="283464"/>
          </a:xfrm>
          <a:prstGeom prst="rect">
            <a:avLst/>
          </a:prstGeom>
          <a:noFill/>
          <a:ln/>
        </p:spPr>
        <p:txBody>
          <a:bodyPr wrap="square" lIns="0" tIns="0" rIns="0" bIns="0" rtlCol="0" anchor="ctr" vert="horz">
            <a:normAutofit/>
          </a:bodyPr>
          <a:lstStyle/>
          <a:p>
            <a:pPr algn="l" indent="0" marL="0">
              <a:buNone/>
            </a:pPr>
            <a:r>
              <a:rPr lang="en-US" sz="1440" b="1" dirty="0">
                <a:solidFill>
                  <a:srgbClr val="D8524B"/>
                </a:solidFill>
                <a:latin typeface="Aptos" pitchFamily="34" charset="0"/>
                <a:ea typeface="Aptos" pitchFamily="34" charset="-122"/>
                <a:cs typeface="Aptos" pitchFamily="34" charset="-120"/>
              </a:rPr>
              <a:t>CHIPS Y CÓMPUTO</a:t>
            </a:r>
            <a:endParaRPr lang="en-US" sz="1440" dirty="0"/>
          </a:p>
        </p:txBody>
      </p:sp>
      <p:sp>
        <p:nvSpPr>
          <p:cNvPr id="21" name="Text 19"/>
          <p:cNvSpPr/>
          <p:nvPr/>
        </p:nvSpPr>
        <p:spPr>
          <a:xfrm>
            <a:off x="4608576" y="3063240"/>
            <a:ext cx="2834640" cy="283464"/>
          </a:xfrm>
          <a:prstGeom prst="rect">
            <a:avLst/>
          </a:prstGeom>
          <a:noFill/>
          <a:ln/>
        </p:spPr>
        <p:txBody>
          <a:bodyPr wrap="square" lIns="0" tIns="0" rIns="0" bIns="0" rtlCol="0" anchor="ctr" vert="horz">
            <a:normAutofit/>
          </a:bodyPr>
          <a:lstStyle/>
          <a:p>
            <a:pPr algn="l" indent="0" marL="0">
              <a:buNone/>
            </a:pPr>
            <a:r>
              <a:rPr lang="en-US" sz="1320" b="1" dirty="0">
                <a:solidFill>
                  <a:srgbClr val="F6EEDF"/>
                </a:solidFill>
                <a:latin typeface="Aptos" pitchFamily="34" charset="0"/>
                <a:ea typeface="Aptos" pitchFamily="34" charset="-122"/>
                <a:cs typeface="Aptos" pitchFamily="34" charset="-120"/>
              </a:rPr>
              <a:t>Huawei Ascend · Cambricon</a:t>
            </a:r>
            <a:endParaRPr lang="en-US" sz="1320" dirty="0"/>
          </a:p>
        </p:txBody>
      </p:sp>
      <p:sp>
        <p:nvSpPr>
          <p:cNvPr id="22" name="Text 20"/>
          <p:cNvSpPr/>
          <p:nvPr/>
        </p:nvSpPr>
        <p:spPr>
          <a:xfrm>
            <a:off x="7726680" y="3063240"/>
            <a:ext cx="3063240" cy="301752"/>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Aceleradores, memoria, interconexión</a:t>
            </a:r>
            <a:endParaRPr lang="en-US" sz="1270" dirty="0"/>
          </a:p>
        </p:txBody>
      </p:sp>
      <p:sp>
        <p:nvSpPr>
          <p:cNvPr id="23" name="Shape 21"/>
          <p:cNvSpPr/>
          <p:nvPr/>
        </p:nvSpPr>
        <p:spPr>
          <a:xfrm>
            <a:off x="987552" y="3648456"/>
            <a:ext cx="10149840" cy="576072"/>
          </a:xfrm>
          <a:prstGeom prst="roundRect">
            <a:avLst/>
          </a:prstGeom>
          <a:solidFill>
            <a:srgbClr val="102B3B"/>
          </a:solidFill>
          <a:ln w="10160">
            <a:solidFill>
              <a:srgbClr val="365061"/>
            </a:solidFill>
            <a:prstDash val="solid"/>
          </a:ln>
        </p:spPr>
      </p:sp>
      <p:sp>
        <p:nvSpPr>
          <p:cNvPr id="24" name="Shape 22"/>
          <p:cNvSpPr/>
          <p:nvPr/>
        </p:nvSpPr>
        <p:spPr>
          <a:xfrm>
            <a:off x="987552" y="3648456"/>
            <a:ext cx="82296" cy="576072"/>
          </a:xfrm>
          <a:prstGeom prst="rect">
            <a:avLst/>
          </a:prstGeom>
          <a:solidFill>
            <a:srgbClr val="67CADA"/>
          </a:solidFill>
          <a:ln w="12700">
            <a:solidFill>
              <a:srgbClr val="67CADA">
                <a:alpha val="0"/>
              </a:srgbClr>
            </a:solidFill>
            <a:prstDash val="solid"/>
          </a:ln>
        </p:spPr>
      </p:sp>
      <p:sp>
        <p:nvSpPr>
          <p:cNvPr id="25" name="Text 23"/>
          <p:cNvSpPr/>
          <p:nvPr/>
        </p:nvSpPr>
        <p:spPr>
          <a:xfrm>
            <a:off x="1243584" y="3739896"/>
            <a:ext cx="3310128" cy="283464"/>
          </a:xfrm>
          <a:prstGeom prst="rect">
            <a:avLst/>
          </a:prstGeom>
          <a:noFill/>
          <a:ln/>
        </p:spPr>
        <p:txBody>
          <a:bodyPr wrap="square" lIns="0" tIns="0" rIns="0" bIns="0" rtlCol="0" anchor="ctr" vert="horz">
            <a:normAutofit/>
          </a:bodyPr>
          <a:lstStyle/>
          <a:p>
            <a:pPr algn="l" indent="0" marL="0">
              <a:buNone/>
            </a:pPr>
            <a:r>
              <a:rPr lang="en-US" sz="1440" b="1" dirty="0">
                <a:solidFill>
                  <a:srgbClr val="67CADA"/>
                </a:solidFill>
                <a:latin typeface="Aptos" pitchFamily="34" charset="0"/>
                <a:ea typeface="Aptos" pitchFamily="34" charset="-122"/>
                <a:cs typeface="Aptos" pitchFamily="34" charset="-120"/>
              </a:rPr>
              <a:t>NUBE Y PLATAFORMAS</a:t>
            </a:r>
            <a:endParaRPr lang="en-US" sz="1440" dirty="0"/>
          </a:p>
        </p:txBody>
      </p:sp>
      <p:sp>
        <p:nvSpPr>
          <p:cNvPr id="26" name="Text 24"/>
          <p:cNvSpPr/>
          <p:nvPr/>
        </p:nvSpPr>
        <p:spPr>
          <a:xfrm>
            <a:off x="4608576" y="3739896"/>
            <a:ext cx="2834640" cy="283464"/>
          </a:xfrm>
          <a:prstGeom prst="rect">
            <a:avLst/>
          </a:prstGeom>
          <a:noFill/>
          <a:ln/>
        </p:spPr>
        <p:txBody>
          <a:bodyPr wrap="square" lIns="0" tIns="0" rIns="0" bIns="0" rtlCol="0" anchor="ctr" vert="horz">
            <a:normAutofit/>
          </a:bodyPr>
          <a:lstStyle/>
          <a:p>
            <a:pPr algn="l" indent="0" marL="0">
              <a:buNone/>
            </a:pPr>
            <a:r>
              <a:rPr lang="en-US" sz="1320" b="1" dirty="0">
                <a:solidFill>
                  <a:srgbClr val="F6EEDF"/>
                </a:solidFill>
                <a:latin typeface="Aptos" pitchFamily="34" charset="0"/>
                <a:ea typeface="Aptos" pitchFamily="34" charset="-122"/>
                <a:cs typeface="Aptos" pitchFamily="34" charset="-120"/>
              </a:rPr>
              <a:t>Alibaba Cloud · Tencent Cloud</a:t>
            </a:r>
            <a:endParaRPr lang="en-US" sz="1320" dirty="0"/>
          </a:p>
        </p:txBody>
      </p:sp>
      <p:sp>
        <p:nvSpPr>
          <p:cNvPr id="27" name="Text 25"/>
          <p:cNvSpPr/>
          <p:nvPr/>
        </p:nvSpPr>
        <p:spPr>
          <a:xfrm>
            <a:off x="7726680" y="3739896"/>
            <a:ext cx="3063240" cy="301752"/>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Servicios, distribución, herramientas</a:t>
            </a:r>
            <a:endParaRPr lang="en-US" sz="1270" dirty="0"/>
          </a:p>
        </p:txBody>
      </p:sp>
      <p:sp>
        <p:nvSpPr>
          <p:cNvPr id="28" name="Shape 26"/>
          <p:cNvSpPr/>
          <p:nvPr/>
        </p:nvSpPr>
        <p:spPr>
          <a:xfrm>
            <a:off x="987552" y="4325112"/>
            <a:ext cx="10149840" cy="576072"/>
          </a:xfrm>
          <a:prstGeom prst="roundRect">
            <a:avLst/>
          </a:prstGeom>
          <a:solidFill>
            <a:srgbClr val="102B3B"/>
          </a:solidFill>
          <a:ln w="10160">
            <a:solidFill>
              <a:srgbClr val="365061"/>
            </a:solidFill>
            <a:prstDash val="solid"/>
          </a:ln>
        </p:spPr>
      </p:sp>
      <p:sp>
        <p:nvSpPr>
          <p:cNvPr id="29" name="Shape 27"/>
          <p:cNvSpPr/>
          <p:nvPr/>
        </p:nvSpPr>
        <p:spPr>
          <a:xfrm>
            <a:off x="987552" y="4325112"/>
            <a:ext cx="82296" cy="576072"/>
          </a:xfrm>
          <a:prstGeom prst="rect">
            <a:avLst/>
          </a:prstGeom>
          <a:solidFill>
            <a:srgbClr val="70C9AD"/>
          </a:solidFill>
          <a:ln w="12700">
            <a:solidFill>
              <a:srgbClr val="70C9AD">
                <a:alpha val="0"/>
              </a:srgbClr>
            </a:solidFill>
            <a:prstDash val="solid"/>
          </a:ln>
        </p:spPr>
      </p:sp>
      <p:sp>
        <p:nvSpPr>
          <p:cNvPr id="30" name="Text 28"/>
          <p:cNvSpPr/>
          <p:nvPr/>
        </p:nvSpPr>
        <p:spPr>
          <a:xfrm>
            <a:off x="1243584" y="4416552"/>
            <a:ext cx="3310128" cy="283464"/>
          </a:xfrm>
          <a:prstGeom prst="rect">
            <a:avLst/>
          </a:prstGeom>
          <a:noFill/>
          <a:ln/>
        </p:spPr>
        <p:txBody>
          <a:bodyPr wrap="square" lIns="0" tIns="0" rIns="0" bIns="0" rtlCol="0" anchor="ctr" vert="horz">
            <a:normAutofit/>
          </a:bodyPr>
          <a:lstStyle/>
          <a:p>
            <a:pPr algn="l" indent="0" marL="0">
              <a:buNone/>
            </a:pPr>
            <a:r>
              <a:rPr lang="en-US" sz="1440" b="1" dirty="0">
                <a:solidFill>
                  <a:srgbClr val="70C9AD"/>
                </a:solidFill>
                <a:latin typeface="Aptos" pitchFamily="34" charset="0"/>
                <a:ea typeface="Aptos" pitchFamily="34" charset="-122"/>
                <a:cs typeface="Aptos" pitchFamily="34" charset="-120"/>
              </a:rPr>
              <a:t>PRODUCTOS Y SERVICIOS</a:t>
            </a:r>
            <a:endParaRPr lang="en-US" sz="1440" dirty="0"/>
          </a:p>
        </p:txBody>
      </p:sp>
      <p:sp>
        <p:nvSpPr>
          <p:cNvPr id="31" name="Text 29"/>
          <p:cNvSpPr/>
          <p:nvPr/>
        </p:nvSpPr>
        <p:spPr>
          <a:xfrm>
            <a:off x="4608576" y="4416552"/>
            <a:ext cx="2834640" cy="283464"/>
          </a:xfrm>
          <a:prstGeom prst="rect">
            <a:avLst/>
          </a:prstGeom>
          <a:noFill/>
          <a:ln/>
        </p:spPr>
        <p:txBody>
          <a:bodyPr wrap="square" lIns="0" tIns="0" rIns="0" bIns="0" rtlCol="0" anchor="ctr" vert="horz">
            <a:normAutofit/>
          </a:bodyPr>
          <a:lstStyle/>
          <a:p>
            <a:pPr algn="l" indent="0" marL="0">
              <a:buNone/>
            </a:pPr>
            <a:r>
              <a:rPr lang="en-US" sz="1320" b="1" dirty="0">
                <a:solidFill>
                  <a:srgbClr val="F6EEDF"/>
                </a:solidFill>
                <a:latin typeface="Aptos" pitchFamily="34" charset="0"/>
                <a:ea typeface="Aptos" pitchFamily="34" charset="-122"/>
                <a:cs typeface="Aptos" pitchFamily="34" charset="-120"/>
              </a:rPr>
              <a:t>Asistentes · industria · movilidad</a:t>
            </a:r>
            <a:endParaRPr lang="en-US" sz="1320" dirty="0"/>
          </a:p>
        </p:txBody>
      </p:sp>
      <p:sp>
        <p:nvSpPr>
          <p:cNvPr id="32" name="Text 30"/>
          <p:cNvSpPr/>
          <p:nvPr/>
        </p:nvSpPr>
        <p:spPr>
          <a:xfrm>
            <a:off x="7726680" y="4416552"/>
            <a:ext cx="3063240" cy="301752"/>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Integración y monetización</a:t>
            </a:r>
            <a:endParaRPr lang="en-US" sz="1270" dirty="0"/>
          </a:p>
        </p:txBody>
      </p:sp>
      <p:sp>
        <p:nvSpPr>
          <p:cNvPr id="33" name="Shape 31"/>
          <p:cNvSpPr/>
          <p:nvPr/>
        </p:nvSpPr>
        <p:spPr>
          <a:xfrm>
            <a:off x="987552" y="5001768"/>
            <a:ext cx="10149840" cy="576072"/>
          </a:xfrm>
          <a:prstGeom prst="roundRect">
            <a:avLst/>
          </a:prstGeom>
          <a:solidFill>
            <a:srgbClr val="102B3B"/>
          </a:solidFill>
          <a:ln w="10160">
            <a:solidFill>
              <a:srgbClr val="365061"/>
            </a:solidFill>
            <a:prstDash val="solid"/>
          </a:ln>
        </p:spPr>
      </p:sp>
      <p:sp>
        <p:nvSpPr>
          <p:cNvPr id="34" name="Shape 32"/>
          <p:cNvSpPr/>
          <p:nvPr/>
        </p:nvSpPr>
        <p:spPr>
          <a:xfrm>
            <a:off x="987552" y="5001768"/>
            <a:ext cx="82296" cy="576072"/>
          </a:xfrm>
          <a:prstGeom prst="rect">
            <a:avLst/>
          </a:prstGeom>
          <a:solidFill>
            <a:srgbClr val="F3C56C"/>
          </a:solidFill>
          <a:ln w="12700">
            <a:solidFill>
              <a:srgbClr val="F3C56C">
                <a:alpha val="0"/>
              </a:srgbClr>
            </a:solidFill>
            <a:prstDash val="solid"/>
          </a:ln>
        </p:spPr>
      </p:sp>
      <p:sp>
        <p:nvSpPr>
          <p:cNvPr id="35" name="Text 33"/>
          <p:cNvSpPr/>
          <p:nvPr/>
        </p:nvSpPr>
        <p:spPr>
          <a:xfrm>
            <a:off x="1243584" y="5093208"/>
            <a:ext cx="3310128" cy="283464"/>
          </a:xfrm>
          <a:prstGeom prst="rect">
            <a:avLst/>
          </a:prstGeom>
          <a:noFill/>
          <a:ln/>
        </p:spPr>
        <p:txBody>
          <a:bodyPr wrap="square" lIns="0" tIns="0" rIns="0" bIns="0" rtlCol="0" anchor="ctr" vert="horz">
            <a:normAutofit/>
          </a:bodyPr>
          <a:lstStyle/>
          <a:p>
            <a:pPr algn="l" indent="0" marL="0">
              <a:buNone/>
            </a:pPr>
            <a:r>
              <a:rPr lang="en-US" sz="1440" b="1" dirty="0">
                <a:solidFill>
                  <a:srgbClr val="F3C56C"/>
                </a:solidFill>
                <a:latin typeface="Aptos" pitchFamily="34" charset="0"/>
                <a:ea typeface="Aptos" pitchFamily="34" charset="-122"/>
                <a:cs typeface="Aptos" pitchFamily="34" charset="-120"/>
              </a:rPr>
              <a:t>IA FÍSICA / ROBÓTICA</a:t>
            </a:r>
            <a:endParaRPr lang="en-US" sz="1440" dirty="0"/>
          </a:p>
        </p:txBody>
      </p:sp>
      <p:sp>
        <p:nvSpPr>
          <p:cNvPr id="36" name="Text 34"/>
          <p:cNvSpPr/>
          <p:nvPr/>
        </p:nvSpPr>
        <p:spPr>
          <a:xfrm>
            <a:off x="4608576" y="5093208"/>
            <a:ext cx="2834640" cy="283464"/>
          </a:xfrm>
          <a:prstGeom prst="rect">
            <a:avLst/>
          </a:prstGeom>
          <a:noFill/>
          <a:ln/>
        </p:spPr>
        <p:txBody>
          <a:bodyPr wrap="square" lIns="0" tIns="0" rIns="0" bIns="0" rtlCol="0" anchor="ctr" vert="horz">
            <a:normAutofit/>
          </a:bodyPr>
          <a:lstStyle/>
          <a:p>
            <a:pPr algn="l" indent="0" marL="0">
              <a:buNone/>
            </a:pPr>
            <a:r>
              <a:rPr lang="en-US" sz="1320" b="1" dirty="0">
                <a:solidFill>
                  <a:srgbClr val="F6EEDF"/>
                </a:solidFill>
                <a:latin typeface="Aptos" pitchFamily="34" charset="0"/>
                <a:ea typeface="Aptos" pitchFamily="34" charset="-122"/>
                <a:cs typeface="Aptos" pitchFamily="34" charset="-120"/>
              </a:rPr>
              <a:t>Unitree · UBTECH · AgiBot</a:t>
            </a:r>
            <a:endParaRPr lang="en-US" sz="1320" dirty="0"/>
          </a:p>
        </p:txBody>
      </p:sp>
      <p:sp>
        <p:nvSpPr>
          <p:cNvPr id="37" name="Text 35"/>
          <p:cNvSpPr/>
          <p:nvPr/>
        </p:nvSpPr>
        <p:spPr>
          <a:xfrm>
            <a:off x="7726680" y="5093208"/>
            <a:ext cx="3063240" cy="301752"/>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Percepción, acción y despliegue</a:t>
            </a:r>
            <a:endParaRPr lang="en-US" sz="1270" dirty="0"/>
          </a:p>
        </p:txBody>
      </p:sp>
      <p:sp>
        <p:nvSpPr>
          <p:cNvPr id="38" name="Text 36"/>
          <p:cNvSpPr/>
          <p:nvPr/>
        </p:nvSpPr>
        <p:spPr>
          <a:xfrm>
            <a:off x="1188720" y="5897880"/>
            <a:ext cx="9875520" cy="274320"/>
          </a:xfrm>
          <a:prstGeom prst="rect">
            <a:avLst/>
          </a:prstGeom>
          <a:noFill/>
          <a:ln/>
        </p:spPr>
        <p:txBody>
          <a:bodyPr wrap="square" lIns="0" tIns="0" rIns="0" bIns="0" rtlCol="0" anchor="ctr" vert="horz">
            <a:normAutofit/>
          </a:bodyPr>
          <a:lstStyle/>
          <a:p>
            <a:pPr algn="ctr" indent="0" marL="0">
              <a:buNone/>
            </a:pPr>
            <a:r>
              <a:rPr lang="en-US" sz="1700" b="1" dirty="0">
                <a:solidFill>
                  <a:srgbClr val="F3C56C"/>
                </a:solidFill>
                <a:latin typeface="Aptos" pitchFamily="34" charset="0"/>
                <a:ea typeface="Aptos" pitchFamily="34" charset="-122"/>
                <a:cs typeface="Aptos" pitchFamily="34" charset="-120"/>
              </a:rPr>
              <a:t>LIDERAZGO EN UNA CAPA ≠ AUTONOMÍA EN TODA LA CADENA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EMPRESAS Y PLATAFORMAS</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China no tiene una sola “IA”</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Estrategias distintas en un mercado muy competitivo</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EMPRESAS Y PLATAFORMAS</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06</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FUENTES: informes técnicos y documentación oficial, 2024–2026</a:t>
            </a:r>
            <a:endParaRPr lang="en-US" sz="800" dirty="0"/>
          </a:p>
        </p:txBody>
      </p:sp>
      <p:sp>
        <p:nvSpPr>
          <p:cNvPr id="13" name="Shape 11"/>
          <p:cNvSpPr/>
          <p:nvPr/>
        </p:nvSpPr>
        <p:spPr>
          <a:xfrm>
            <a:off x="610591" y="2414016"/>
            <a:ext cx="2606040" cy="1353312"/>
          </a:xfrm>
          <a:prstGeom prst="roundRect">
            <a:avLst/>
          </a:prstGeom>
          <a:solidFill>
            <a:srgbClr val="102B3B"/>
          </a:solidFill>
          <a:ln w="10160">
            <a:solidFill>
              <a:srgbClr val="365061"/>
            </a:solidFill>
            <a:prstDash val="solid"/>
          </a:ln>
        </p:spPr>
      </p:sp>
      <p:sp>
        <p:nvSpPr>
          <p:cNvPr id="14" name="Shape 12"/>
          <p:cNvSpPr/>
          <p:nvPr/>
        </p:nvSpPr>
        <p:spPr>
          <a:xfrm>
            <a:off x="801700" y="2596896"/>
            <a:ext cx="460400" cy="50292"/>
          </a:xfrm>
          <a:prstGeom prst="rect">
            <a:avLst/>
          </a:prstGeom>
          <a:solidFill>
            <a:srgbClr val="F3C56C"/>
          </a:solidFill>
          <a:ln w="12700">
            <a:solidFill>
              <a:srgbClr val="F3C56C">
                <a:alpha val="0"/>
              </a:srgbClr>
            </a:solidFill>
            <a:prstDash val="solid"/>
          </a:ln>
        </p:spPr>
      </p:sp>
      <p:sp>
        <p:nvSpPr>
          <p:cNvPr id="15" name="Text 13"/>
          <p:cNvSpPr/>
          <p:nvPr/>
        </p:nvSpPr>
        <p:spPr>
          <a:xfrm>
            <a:off x="801700" y="2834640"/>
            <a:ext cx="2232508" cy="384048"/>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DeepSeek</a:t>
            </a:r>
            <a:endParaRPr lang="en-US" sz="1830" dirty="0"/>
          </a:p>
        </p:txBody>
      </p:sp>
      <p:sp>
        <p:nvSpPr>
          <p:cNvPr id="16" name="Text 14"/>
          <p:cNvSpPr/>
          <p:nvPr/>
        </p:nvSpPr>
        <p:spPr>
          <a:xfrm>
            <a:off x="801700" y="3300984"/>
            <a:ext cx="2171700" cy="338328"/>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Razonamiento + eficiencia</a:t>
            </a:r>
            <a:endParaRPr lang="en-US" sz="1270" dirty="0"/>
          </a:p>
        </p:txBody>
      </p:sp>
      <p:sp>
        <p:nvSpPr>
          <p:cNvPr id="17" name="Shape 15"/>
          <p:cNvSpPr/>
          <p:nvPr/>
        </p:nvSpPr>
        <p:spPr>
          <a:xfrm>
            <a:off x="3372993" y="2414016"/>
            <a:ext cx="2606040" cy="1353312"/>
          </a:xfrm>
          <a:prstGeom prst="roundRect">
            <a:avLst/>
          </a:prstGeom>
          <a:solidFill>
            <a:srgbClr val="102B3B"/>
          </a:solidFill>
          <a:ln w="10160">
            <a:solidFill>
              <a:srgbClr val="365061"/>
            </a:solidFill>
            <a:prstDash val="solid"/>
          </a:ln>
        </p:spPr>
      </p:sp>
      <p:sp>
        <p:nvSpPr>
          <p:cNvPr id="18" name="Shape 16"/>
          <p:cNvSpPr/>
          <p:nvPr/>
        </p:nvSpPr>
        <p:spPr>
          <a:xfrm>
            <a:off x="3564103" y="2596896"/>
            <a:ext cx="460400" cy="50292"/>
          </a:xfrm>
          <a:prstGeom prst="rect">
            <a:avLst/>
          </a:prstGeom>
          <a:solidFill>
            <a:srgbClr val="67CADA"/>
          </a:solidFill>
          <a:ln w="12700">
            <a:solidFill>
              <a:srgbClr val="67CADA">
                <a:alpha val="0"/>
              </a:srgbClr>
            </a:solidFill>
            <a:prstDash val="solid"/>
          </a:ln>
        </p:spPr>
      </p:sp>
      <p:sp>
        <p:nvSpPr>
          <p:cNvPr id="19" name="Text 17"/>
          <p:cNvSpPr/>
          <p:nvPr/>
        </p:nvSpPr>
        <p:spPr>
          <a:xfrm>
            <a:off x="3564103" y="2834640"/>
            <a:ext cx="2232508" cy="384048"/>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Alibaba · Qwen</a:t>
            </a:r>
            <a:endParaRPr lang="en-US" sz="1830" dirty="0"/>
          </a:p>
        </p:txBody>
      </p:sp>
      <p:sp>
        <p:nvSpPr>
          <p:cNvPr id="20" name="Text 18"/>
          <p:cNvSpPr/>
          <p:nvPr/>
        </p:nvSpPr>
        <p:spPr>
          <a:xfrm>
            <a:off x="3564103" y="3300984"/>
            <a:ext cx="2171700" cy="338328"/>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Modelos + nube + apertura</a:t>
            </a:r>
            <a:endParaRPr lang="en-US" sz="1270" dirty="0"/>
          </a:p>
        </p:txBody>
      </p:sp>
      <p:sp>
        <p:nvSpPr>
          <p:cNvPr id="21" name="Shape 19"/>
          <p:cNvSpPr/>
          <p:nvPr/>
        </p:nvSpPr>
        <p:spPr>
          <a:xfrm>
            <a:off x="6135395" y="2414016"/>
            <a:ext cx="2606040" cy="1353312"/>
          </a:xfrm>
          <a:prstGeom prst="roundRect">
            <a:avLst/>
          </a:prstGeom>
          <a:solidFill>
            <a:srgbClr val="102B3B"/>
          </a:solidFill>
          <a:ln w="10160">
            <a:solidFill>
              <a:srgbClr val="365061"/>
            </a:solidFill>
            <a:prstDash val="solid"/>
          </a:ln>
        </p:spPr>
      </p:sp>
      <p:sp>
        <p:nvSpPr>
          <p:cNvPr id="22" name="Shape 20"/>
          <p:cNvSpPr/>
          <p:nvPr/>
        </p:nvSpPr>
        <p:spPr>
          <a:xfrm>
            <a:off x="6326505" y="2596896"/>
            <a:ext cx="460400" cy="50292"/>
          </a:xfrm>
          <a:prstGeom prst="rect">
            <a:avLst/>
          </a:prstGeom>
          <a:solidFill>
            <a:srgbClr val="70C9AD"/>
          </a:solidFill>
          <a:ln w="12700">
            <a:solidFill>
              <a:srgbClr val="70C9AD">
                <a:alpha val="0"/>
              </a:srgbClr>
            </a:solidFill>
            <a:prstDash val="solid"/>
          </a:ln>
        </p:spPr>
      </p:sp>
      <p:sp>
        <p:nvSpPr>
          <p:cNvPr id="23" name="Text 21"/>
          <p:cNvSpPr/>
          <p:nvPr/>
        </p:nvSpPr>
        <p:spPr>
          <a:xfrm>
            <a:off x="6326505" y="2834640"/>
            <a:ext cx="2232508" cy="384048"/>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ByteDance · Seed / Doubao</a:t>
            </a:r>
            <a:endParaRPr lang="en-US" sz="1830" dirty="0"/>
          </a:p>
        </p:txBody>
      </p:sp>
      <p:sp>
        <p:nvSpPr>
          <p:cNvPr id="24" name="Text 22"/>
          <p:cNvSpPr/>
          <p:nvPr/>
        </p:nvSpPr>
        <p:spPr>
          <a:xfrm>
            <a:off x="6326505" y="3300984"/>
            <a:ext cx="2171700" cy="338328"/>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Investigación + plataformas</a:t>
            </a:r>
            <a:endParaRPr lang="en-US" sz="1270" dirty="0"/>
          </a:p>
        </p:txBody>
      </p:sp>
      <p:sp>
        <p:nvSpPr>
          <p:cNvPr id="25" name="Shape 23"/>
          <p:cNvSpPr/>
          <p:nvPr/>
        </p:nvSpPr>
        <p:spPr>
          <a:xfrm>
            <a:off x="8897798" y="2414016"/>
            <a:ext cx="2606040" cy="1353312"/>
          </a:xfrm>
          <a:prstGeom prst="roundRect">
            <a:avLst/>
          </a:prstGeom>
          <a:solidFill>
            <a:srgbClr val="102B3B"/>
          </a:solidFill>
          <a:ln w="10160">
            <a:solidFill>
              <a:srgbClr val="365061"/>
            </a:solidFill>
            <a:prstDash val="solid"/>
          </a:ln>
        </p:spPr>
      </p:sp>
      <p:sp>
        <p:nvSpPr>
          <p:cNvPr id="26" name="Shape 24"/>
          <p:cNvSpPr/>
          <p:nvPr/>
        </p:nvSpPr>
        <p:spPr>
          <a:xfrm>
            <a:off x="9088907" y="2596896"/>
            <a:ext cx="460400" cy="50292"/>
          </a:xfrm>
          <a:prstGeom prst="rect">
            <a:avLst/>
          </a:prstGeom>
          <a:solidFill>
            <a:srgbClr val="F3C56C"/>
          </a:solidFill>
          <a:ln w="12700">
            <a:solidFill>
              <a:srgbClr val="F3C56C">
                <a:alpha val="0"/>
              </a:srgbClr>
            </a:solidFill>
            <a:prstDash val="solid"/>
          </a:ln>
        </p:spPr>
      </p:sp>
      <p:sp>
        <p:nvSpPr>
          <p:cNvPr id="27" name="Text 25"/>
          <p:cNvSpPr/>
          <p:nvPr/>
        </p:nvSpPr>
        <p:spPr>
          <a:xfrm>
            <a:off x="9088907" y="2834640"/>
            <a:ext cx="2232508" cy="384048"/>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Zhipu · GLM</a:t>
            </a:r>
            <a:endParaRPr lang="en-US" sz="1830" dirty="0"/>
          </a:p>
        </p:txBody>
      </p:sp>
      <p:sp>
        <p:nvSpPr>
          <p:cNvPr id="28" name="Text 26"/>
          <p:cNvSpPr/>
          <p:nvPr/>
        </p:nvSpPr>
        <p:spPr>
          <a:xfrm>
            <a:off x="9088907" y="3300984"/>
            <a:ext cx="2171700" cy="338328"/>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Modelos + servicios empresariales</a:t>
            </a:r>
            <a:endParaRPr lang="en-US" sz="1270" dirty="0"/>
          </a:p>
        </p:txBody>
      </p:sp>
      <p:sp>
        <p:nvSpPr>
          <p:cNvPr id="29" name="Shape 27"/>
          <p:cNvSpPr/>
          <p:nvPr/>
        </p:nvSpPr>
        <p:spPr>
          <a:xfrm>
            <a:off x="610591" y="3959352"/>
            <a:ext cx="2606040" cy="1353312"/>
          </a:xfrm>
          <a:prstGeom prst="roundRect">
            <a:avLst/>
          </a:prstGeom>
          <a:solidFill>
            <a:srgbClr val="102B3B"/>
          </a:solidFill>
          <a:ln w="10160">
            <a:solidFill>
              <a:srgbClr val="365061"/>
            </a:solidFill>
            <a:prstDash val="solid"/>
          </a:ln>
        </p:spPr>
      </p:sp>
      <p:sp>
        <p:nvSpPr>
          <p:cNvPr id="30" name="Shape 28"/>
          <p:cNvSpPr/>
          <p:nvPr/>
        </p:nvSpPr>
        <p:spPr>
          <a:xfrm>
            <a:off x="801700" y="4142232"/>
            <a:ext cx="460400" cy="50292"/>
          </a:xfrm>
          <a:prstGeom prst="rect">
            <a:avLst/>
          </a:prstGeom>
          <a:solidFill>
            <a:srgbClr val="67CADA"/>
          </a:solidFill>
          <a:ln w="12700">
            <a:solidFill>
              <a:srgbClr val="67CADA">
                <a:alpha val="0"/>
              </a:srgbClr>
            </a:solidFill>
            <a:prstDash val="solid"/>
          </a:ln>
        </p:spPr>
      </p:sp>
      <p:sp>
        <p:nvSpPr>
          <p:cNvPr id="31" name="Text 29"/>
          <p:cNvSpPr/>
          <p:nvPr/>
        </p:nvSpPr>
        <p:spPr>
          <a:xfrm>
            <a:off x="801700" y="4379976"/>
            <a:ext cx="2232508" cy="384048"/>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Tencent · Hunyuan</a:t>
            </a:r>
            <a:endParaRPr lang="en-US" sz="1830" dirty="0"/>
          </a:p>
        </p:txBody>
      </p:sp>
      <p:sp>
        <p:nvSpPr>
          <p:cNvPr id="32" name="Text 30"/>
          <p:cNvSpPr/>
          <p:nvPr/>
        </p:nvSpPr>
        <p:spPr>
          <a:xfrm>
            <a:off x="801700" y="4846320"/>
            <a:ext cx="2171700" cy="338328"/>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Plataformas + contenido</a:t>
            </a:r>
            <a:endParaRPr lang="en-US" sz="1270" dirty="0"/>
          </a:p>
        </p:txBody>
      </p:sp>
      <p:sp>
        <p:nvSpPr>
          <p:cNvPr id="33" name="Shape 31"/>
          <p:cNvSpPr/>
          <p:nvPr/>
        </p:nvSpPr>
        <p:spPr>
          <a:xfrm>
            <a:off x="3372993" y="3959352"/>
            <a:ext cx="2606040" cy="1353312"/>
          </a:xfrm>
          <a:prstGeom prst="roundRect">
            <a:avLst/>
          </a:prstGeom>
          <a:solidFill>
            <a:srgbClr val="102B3B"/>
          </a:solidFill>
          <a:ln w="10160">
            <a:solidFill>
              <a:srgbClr val="365061"/>
            </a:solidFill>
            <a:prstDash val="solid"/>
          </a:ln>
        </p:spPr>
      </p:sp>
      <p:sp>
        <p:nvSpPr>
          <p:cNvPr id="34" name="Shape 32"/>
          <p:cNvSpPr/>
          <p:nvPr/>
        </p:nvSpPr>
        <p:spPr>
          <a:xfrm>
            <a:off x="3564103" y="4142232"/>
            <a:ext cx="460400" cy="50292"/>
          </a:xfrm>
          <a:prstGeom prst="rect">
            <a:avLst/>
          </a:prstGeom>
          <a:solidFill>
            <a:srgbClr val="70C9AD"/>
          </a:solidFill>
          <a:ln w="12700">
            <a:solidFill>
              <a:srgbClr val="70C9AD">
                <a:alpha val="0"/>
              </a:srgbClr>
            </a:solidFill>
            <a:prstDash val="solid"/>
          </a:ln>
        </p:spPr>
      </p:sp>
      <p:sp>
        <p:nvSpPr>
          <p:cNvPr id="35" name="Text 33"/>
          <p:cNvSpPr/>
          <p:nvPr/>
        </p:nvSpPr>
        <p:spPr>
          <a:xfrm>
            <a:off x="3564103" y="4379976"/>
            <a:ext cx="2232508" cy="384048"/>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Moonshot · Kimi</a:t>
            </a:r>
            <a:endParaRPr lang="en-US" sz="1830" dirty="0"/>
          </a:p>
        </p:txBody>
      </p:sp>
      <p:sp>
        <p:nvSpPr>
          <p:cNvPr id="36" name="Text 34"/>
          <p:cNvSpPr/>
          <p:nvPr/>
        </p:nvSpPr>
        <p:spPr>
          <a:xfrm>
            <a:off x="3564103" y="4846320"/>
            <a:ext cx="2171700" cy="338328"/>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Asistentes y agentes</a:t>
            </a:r>
            <a:endParaRPr lang="en-US" sz="1270" dirty="0"/>
          </a:p>
        </p:txBody>
      </p:sp>
      <p:sp>
        <p:nvSpPr>
          <p:cNvPr id="37" name="Shape 35"/>
          <p:cNvSpPr/>
          <p:nvPr/>
        </p:nvSpPr>
        <p:spPr>
          <a:xfrm>
            <a:off x="6135395" y="3959352"/>
            <a:ext cx="2606040" cy="1353312"/>
          </a:xfrm>
          <a:prstGeom prst="roundRect">
            <a:avLst/>
          </a:prstGeom>
          <a:solidFill>
            <a:srgbClr val="102B3B"/>
          </a:solidFill>
          <a:ln w="10160">
            <a:solidFill>
              <a:srgbClr val="365061"/>
            </a:solidFill>
            <a:prstDash val="solid"/>
          </a:ln>
        </p:spPr>
      </p:sp>
      <p:sp>
        <p:nvSpPr>
          <p:cNvPr id="38" name="Shape 36"/>
          <p:cNvSpPr/>
          <p:nvPr/>
        </p:nvSpPr>
        <p:spPr>
          <a:xfrm>
            <a:off x="6326505" y="4142232"/>
            <a:ext cx="460400" cy="50292"/>
          </a:xfrm>
          <a:prstGeom prst="rect">
            <a:avLst/>
          </a:prstGeom>
          <a:solidFill>
            <a:srgbClr val="F3C56C"/>
          </a:solidFill>
          <a:ln w="12700">
            <a:solidFill>
              <a:srgbClr val="F3C56C">
                <a:alpha val="0"/>
              </a:srgbClr>
            </a:solidFill>
            <a:prstDash val="solid"/>
          </a:ln>
        </p:spPr>
      </p:sp>
      <p:sp>
        <p:nvSpPr>
          <p:cNvPr id="39" name="Text 37"/>
          <p:cNvSpPr/>
          <p:nvPr/>
        </p:nvSpPr>
        <p:spPr>
          <a:xfrm>
            <a:off x="6326505" y="4379976"/>
            <a:ext cx="2232508" cy="384048"/>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MiniMax</a:t>
            </a:r>
            <a:endParaRPr lang="en-US" sz="1830" dirty="0"/>
          </a:p>
        </p:txBody>
      </p:sp>
      <p:sp>
        <p:nvSpPr>
          <p:cNvPr id="40" name="Text 38"/>
          <p:cNvSpPr/>
          <p:nvPr/>
        </p:nvSpPr>
        <p:spPr>
          <a:xfrm>
            <a:off x="6326505" y="4846320"/>
            <a:ext cx="2171700" cy="338328"/>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Texto, voz, música y video</a:t>
            </a:r>
            <a:endParaRPr lang="en-US" sz="1270" dirty="0"/>
          </a:p>
        </p:txBody>
      </p:sp>
      <p:sp>
        <p:nvSpPr>
          <p:cNvPr id="41" name="Shape 39"/>
          <p:cNvSpPr/>
          <p:nvPr/>
        </p:nvSpPr>
        <p:spPr>
          <a:xfrm>
            <a:off x="8897798" y="3959352"/>
            <a:ext cx="2606040" cy="1353312"/>
          </a:xfrm>
          <a:prstGeom prst="roundRect">
            <a:avLst/>
          </a:prstGeom>
          <a:solidFill>
            <a:srgbClr val="102B3B"/>
          </a:solidFill>
          <a:ln w="10160">
            <a:solidFill>
              <a:srgbClr val="365061"/>
            </a:solidFill>
            <a:prstDash val="solid"/>
          </a:ln>
        </p:spPr>
      </p:sp>
      <p:sp>
        <p:nvSpPr>
          <p:cNvPr id="42" name="Shape 40"/>
          <p:cNvSpPr/>
          <p:nvPr/>
        </p:nvSpPr>
        <p:spPr>
          <a:xfrm>
            <a:off x="9088907" y="4142232"/>
            <a:ext cx="460400" cy="50292"/>
          </a:xfrm>
          <a:prstGeom prst="rect">
            <a:avLst/>
          </a:prstGeom>
          <a:solidFill>
            <a:srgbClr val="67CADA"/>
          </a:solidFill>
          <a:ln w="12700">
            <a:solidFill>
              <a:srgbClr val="67CADA">
                <a:alpha val="0"/>
              </a:srgbClr>
            </a:solidFill>
            <a:prstDash val="solid"/>
          </a:ln>
        </p:spPr>
      </p:sp>
      <p:sp>
        <p:nvSpPr>
          <p:cNvPr id="43" name="Text 41"/>
          <p:cNvSpPr/>
          <p:nvPr/>
        </p:nvSpPr>
        <p:spPr>
          <a:xfrm>
            <a:off x="9088907" y="4379976"/>
            <a:ext cx="2232508" cy="384048"/>
          </a:xfrm>
          <a:prstGeom prst="rect">
            <a:avLst/>
          </a:prstGeom>
          <a:noFill/>
          <a:ln/>
        </p:spPr>
        <p:txBody>
          <a:bodyPr wrap="square" lIns="0" tIns="0" rIns="0" bIns="0" rtlCol="0" anchor="ctr" vert="horz">
            <a:normAutofit/>
          </a:bodyPr>
          <a:lstStyle/>
          <a:p>
            <a:pPr algn="l" indent="0" marL="0">
              <a:buNone/>
            </a:pPr>
            <a:r>
              <a:rPr lang="en-US" sz="1830" b="1" dirty="0">
                <a:solidFill>
                  <a:srgbClr val="F6EEDF"/>
                </a:solidFill>
                <a:latin typeface="Aptos" pitchFamily="34" charset="0"/>
                <a:ea typeface="Aptos" pitchFamily="34" charset="-122"/>
                <a:cs typeface="Aptos" pitchFamily="34" charset="-120"/>
              </a:rPr>
              <a:t>Huawei · Pangu</a:t>
            </a:r>
            <a:endParaRPr lang="en-US" sz="1830" dirty="0"/>
          </a:p>
        </p:txBody>
      </p:sp>
      <p:sp>
        <p:nvSpPr>
          <p:cNvPr id="44" name="Text 42"/>
          <p:cNvSpPr/>
          <p:nvPr/>
        </p:nvSpPr>
        <p:spPr>
          <a:xfrm>
            <a:off x="9088907" y="4846320"/>
            <a:ext cx="2171700" cy="338328"/>
          </a:xfrm>
          <a:prstGeom prst="rect">
            <a:avLst/>
          </a:prstGeom>
          <a:noFill/>
          <a:ln/>
        </p:spPr>
        <p:txBody>
          <a:bodyPr wrap="square" lIns="0" tIns="0" rIns="0" bIns="0" rtlCol="0" anchor="ctr" vert="horz">
            <a:normAutofit/>
          </a:bodyPr>
          <a:lstStyle/>
          <a:p>
            <a:pPr algn="l" indent="0" marL="0">
              <a:buNone/>
            </a:pPr>
            <a:r>
              <a:rPr lang="en-US" sz="1270" dirty="0">
                <a:solidFill>
                  <a:srgbClr val="A8C0CD"/>
                </a:solidFill>
                <a:latin typeface="Aptos" pitchFamily="34" charset="0"/>
                <a:ea typeface="Aptos" pitchFamily="34" charset="-122"/>
                <a:cs typeface="Aptos" pitchFamily="34" charset="-120"/>
              </a:rPr>
              <a:t>IA sectorial + cómputo</a:t>
            </a:r>
            <a:endParaRPr lang="en-US" sz="1270" dirty="0"/>
          </a:p>
        </p:txBody>
      </p:sp>
      <p:sp>
        <p:nvSpPr>
          <p:cNvPr id="45" name="Text 43"/>
          <p:cNvSpPr/>
          <p:nvPr/>
        </p:nvSpPr>
        <p:spPr>
          <a:xfrm>
            <a:off x="868680" y="5888736"/>
            <a:ext cx="10460736" cy="338328"/>
          </a:xfrm>
          <a:prstGeom prst="rect">
            <a:avLst/>
          </a:prstGeom>
          <a:noFill/>
          <a:ln/>
        </p:spPr>
        <p:txBody>
          <a:bodyPr wrap="square" lIns="0" tIns="0" rIns="0" bIns="0" rtlCol="0" anchor="ctr" vert="horz">
            <a:normAutofit/>
          </a:bodyPr>
          <a:lstStyle/>
          <a:p>
            <a:pPr algn="ctr" indent="0" marL="0">
              <a:buNone/>
            </a:pPr>
            <a:r>
              <a:rPr lang="en-US" sz="1540" dirty="0">
                <a:solidFill>
                  <a:srgbClr val="F3C56C"/>
                </a:solidFill>
                <a:latin typeface="Aptos" pitchFamily="34" charset="0"/>
                <a:ea typeface="Aptos" pitchFamily="34" charset="-122"/>
                <a:cs typeface="Aptos" pitchFamily="34" charset="-120"/>
              </a:rPr>
              <a:t>Un nombre comercial no equivale a una posición de liderazgo reproducible en todos los benchmarks.</a:t>
            </a:r>
            <a:endParaRPr lang="en-US" sz="15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MODELOS FUNDACIONALES</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DeepSeek y Qwen: dos respuestas a la competencia</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Modelos y entrenamiento, no solo chatbots</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MODELOS FUNDACIONALES</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07</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DeepSeek-R1 2025 · Qwen3 2025</a:t>
            </a:r>
            <a:endParaRPr lang="en-US" sz="800" dirty="0"/>
          </a:p>
        </p:txBody>
      </p:sp>
      <p:sp>
        <p:nvSpPr>
          <p:cNvPr id="13" name="Shape 11"/>
          <p:cNvSpPr/>
          <p:nvPr/>
        </p:nvSpPr>
        <p:spPr>
          <a:xfrm>
            <a:off x="685800" y="2423160"/>
            <a:ext cx="5257800" cy="2889504"/>
          </a:xfrm>
          <a:prstGeom prst="roundRect">
            <a:avLst/>
          </a:prstGeom>
          <a:solidFill>
            <a:srgbClr val="102B3B"/>
          </a:solidFill>
          <a:ln w="10160">
            <a:solidFill>
              <a:srgbClr val="365061"/>
            </a:solidFill>
            <a:prstDash val="solid"/>
          </a:ln>
        </p:spPr>
      </p:sp>
      <p:sp>
        <p:nvSpPr>
          <p:cNvPr id="14" name="Shape 12"/>
          <p:cNvSpPr/>
          <p:nvPr/>
        </p:nvSpPr>
        <p:spPr>
          <a:xfrm>
            <a:off x="832104" y="2651760"/>
            <a:ext cx="50292" cy="365760"/>
          </a:xfrm>
          <a:prstGeom prst="rect">
            <a:avLst/>
          </a:prstGeom>
          <a:solidFill>
            <a:srgbClr val="F3C56C"/>
          </a:solidFill>
          <a:ln w="12700">
            <a:solidFill>
              <a:srgbClr val="F3C56C">
                <a:alpha val="0"/>
              </a:srgbClr>
            </a:solidFill>
            <a:prstDash val="solid"/>
          </a:ln>
        </p:spPr>
      </p:sp>
      <p:sp>
        <p:nvSpPr>
          <p:cNvPr id="15" name="Text 13"/>
          <p:cNvSpPr/>
          <p:nvPr/>
        </p:nvSpPr>
        <p:spPr>
          <a:xfrm>
            <a:off x="1005840" y="2606040"/>
            <a:ext cx="4782312" cy="411480"/>
          </a:xfrm>
          <a:prstGeom prst="rect">
            <a:avLst/>
          </a:prstGeom>
          <a:noFill/>
          <a:ln/>
        </p:spPr>
        <p:txBody>
          <a:bodyPr wrap="square" lIns="0" tIns="0" rIns="0" bIns="0" rtlCol="0" anchor="ctr" vert="horz">
            <a:normAutofit/>
          </a:bodyPr>
          <a:lstStyle/>
          <a:p>
            <a:pPr algn="l" indent="0" marL="0">
              <a:buNone/>
            </a:pPr>
            <a:r>
              <a:rPr lang="en-US" sz="2200" b="1" dirty="0">
                <a:solidFill>
                  <a:srgbClr val="F6EEDF"/>
                </a:solidFill>
                <a:latin typeface="Aptos" pitchFamily="34" charset="0"/>
                <a:ea typeface="Aptos" pitchFamily="34" charset="-122"/>
                <a:cs typeface="Aptos" pitchFamily="34" charset="-120"/>
              </a:rPr>
              <a:t>DEEPSEEK · R1</a:t>
            </a:r>
            <a:endParaRPr lang="en-US" sz="2200" dirty="0"/>
          </a:p>
        </p:txBody>
      </p:sp>
      <p:sp>
        <p:nvSpPr>
          <p:cNvPr id="16" name="Text 14"/>
          <p:cNvSpPr/>
          <p:nvPr/>
        </p:nvSpPr>
        <p:spPr>
          <a:xfrm>
            <a:off x="969264" y="3182112"/>
            <a:ext cx="4718304" cy="1993392"/>
          </a:xfrm>
          <a:prstGeom prst="rect">
            <a:avLst/>
          </a:prstGeom>
          <a:noFill/>
          <a:ln/>
        </p:spPr>
        <p:txBody>
          <a:bodyPr wrap="square" lIns="0" tIns="0" rIns="0" bIns="0" rtlCol="0" anchor="t" vert="horz">
            <a:normAutofit/>
          </a:bodyPr>
          <a:lstStyle/>
          <a:p>
            <a:pPr algn="l" indent="0" marL="0">
              <a:buNone/>
            </a:pPr>
            <a:r>
              <a:rPr lang="en-US" sz="1630" dirty="0">
                <a:solidFill>
                  <a:srgbClr val="A8C0CD"/>
                </a:solidFill>
                <a:latin typeface="Aptos" pitchFamily="34" charset="0"/>
                <a:ea typeface="Aptos" pitchFamily="34" charset="-122"/>
                <a:cs typeface="Aptos" pitchFamily="34" charset="-120"/>
              </a:rPr>
              <a:t>Razonamiento con aprendizaje por refuerzo. R1-Zero aplica RL a una base preentrenada, sin ajuste supervisado inicial. R1 añade datos de arranque y varias etapas. Pesos publicados.</a:t>
            </a:r>
            <a:endParaRPr lang="en-US" sz="1630" dirty="0"/>
          </a:p>
        </p:txBody>
      </p:sp>
      <p:sp>
        <p:nvSpPr>
          <p:cNvPr id="17" name="Shape 15"/>
          <p:cNvSpPr/>
          <p:nvPr/>
        </p:nvSpPr>
        <p:spPr>
          <a:xfrm>
            <a:off x="6217920" y="2423160"/>
            <a:ext cx="5257800" cy="2889504"/>
          </a:xfrm>
          <a:prstGeom prst="roundRect">
            <a:avLst/>
          </a:prstGeom>
          <a:solidFill>
            <a:srgbClr val="102B3B"/>
          </a:solidFill>
          <a:ln w="10160">
            <a:solidFill>
              <a:srgbClr val="365061"/>
            </a:solidFill>
            <a:prstDash val="solid"/>
          </a:ln>
        </p:spPr>
      </p:sp>
      <p:sp>
        <p:nvSpPr>
          <p:cNvPr id="18" name="Shape 16"/>
          <p:cNvSpPr/>
          <p:nvPr/>
        </p:nvSpPr>
        <p:spPr>
          <a:xfrm>
            <a:off x="6364224" y="2651760"/>
            <a:ext cx="50292" cy="365760"/>
          </a:xfrm>
          <a:prstGeom prst="rect">
            <a:avLst/>
          </a:prstGeom>
          <a:solidFill>
            <a:srgbClr val="67CADA"/>
          </a:solidFill>
          <a:ln w="12700">
            <a:solidFill>
              <a:srgbClr val="67CADA">
                <a:alpha val="0"/>
              </a:srgbClr>
            </a:solidFill>
            <a:prstDash val="solid"/>
          </a:ln>
        </p:spPr>
      </p:sp>
      <p:sp>
        <p:nvSpPr>
          <p:cNvPr id="19" name="Text 17"/>
          <p:cNvSpPr/>
          <p:nvPr/>
        </p:nvSpPr>
        <p:spPr>
          <a:xfrm>
            <a:off x="6537960" y="2606040"/>
            <a:ext cx="4782312" cy="411480"/>
          </a:xfrm>
          <a:prstGeom prst="rect">
            <a:avLst/>
          </a:prstGeom>
          <a:noFill/>
          <a:ln/>
        </p:spPr>
        <p:txBody>
          <a:bodyPr wrap="square" lIns="0" tIns="0" rIns="0" bIns="0" rtlCol="0" anchor="ctr" vert="horz">
            <a:normAutofit/>
          </a:bodyPr>
          <a:lstStyle/>
          <a:p>
            <a:pPr algn="l" indent="0" marL="0">
              <a:buNone/>
            </a:pPr>
            <a:r>
              <a:rPr lang="en-US" sz="2200" b="1" dirty="0">
                <a:solidFill>
                  <a:srgbClr val="F6EEDF"/>
                </a:solidFill>
                <a:latin typeface="Aptos" pitchFamily="34" charset="0"/>
                <a:ea typeface="Aptos" pitchFamily="34" charset="-122"/>
                <a:cs typeface="Aptos" pitchFamily="34" charset="-120"/>
              </a:rPr>
              <a:t>ALIBABA · QWEN3</a:t>
            </a:r>
            <a:endParaRPr lang="en-US" sz="2200" dirty="0"/>
          </a:p>
        </p:txBody>
      </p:sp>
      <p:sp>
        <p:nvSpPr>
          <p:cNvPr id="20" name="Text 18"/>
          <p:cNvSpPr/>
          <p:nvPr/>
        </p:nvSpPr>
        <p:spPr>
          <a:xfrm>
            <a:off x="6501384" y="3182112"/>
            <a:ext cx="4718304" cy="1993392"/>
          </a:xfrm>
          <a:prstGeom prst="rect">
            <a:avLst/>
          </a:prstGeom>
          <a:noFill/>
          <a:ln/>
        </p:spPr>
        <p:txBody>
          <a:bodyPr wrap="square" lIns="0" tIns="0" rIns="0" bIns="0" rtlCol="0" anchor="t" vert="horz">
            <a:normAutofit/>
          </a:bodyPr>
          <a:lstStyle/>
          <a:p>
            <a:pPr algn="l" indent="0" marL="0">
              <a:buNone/>
            </a:pPr>
            <a:r>
              <a:rPr lang="en-US" sz="1630" dirty="0">
                <a:solidFill>
                  <a:srgbClr val="A8C0CD"/>
                </a:solidFill>
                <a:latin typeface="Aptos" pitchFamily="34" charset="0"/>
                <a:ea typeface="Aptos" pitchFamily="34" charset="-122"/>
                <a:cs typeface="Aptos" pitchFamily="34" charset="-120"/>
              </a:rPr>
              <a:t>Familia densa y Mixture-of-Experts (MoE). Estrategia multilingüe, razonamiento y distribución mediante nube, API y versiones con pesos accesibles.</a:t>
            </a:r>
            <a:endParaRPr lang="en-US" sz="1630" dirty="0"/>
          </a:p>
        </p:txBody>
      </p:sp>
      <p:sp>
        <p:nvSpPr>
          <p:cNvPr id="21" name="Shape 19"/>
          <p:cNvSpPr/>
          <p:nvPr/>
        </p:nvSpPr>
        <p:spPr>
          <a:xfrm>
            <a:off x="2066544" y="5660136"/>
            <a:ext cx="2267712" cy="347472"/>
          </a:xfrm>
          <a:prstGeom prst="roundRect">
            <a:avLst/>
          </a:prstGeom>
          <a:solidFill>
            <a:srgbClr val="061320"/>
          </a:solidFill>
          <a:ln w="10160">
            <a:solidFill>
              <a:srgbClr val="F3C56C"/>
            </a:solidFill>
            <a:prstDash val="solid"/>
          </a:ln>
        </p:spPr>
      </p:sp>
      <p:sp>
        <p:nvSpPr>
          <p:cNvPr id="22" name="Text 20"/>
          <p:cNvSpPr/>
          <p:nvPr/>
        </p:nvSpPr>
        <p:spPr>
          <a:xfrm>
            <a:off x="2112264" y="5705856"/>
            <a:ext cx="2176272" cy="237744"/>
          </a:xfrm>
          <a:prstGeom prst="rect">
            <a:avLst/>
          </a:prstGeom>
          <a:noFill/>
          <a:ln/>
        </p:spPr>
        <p:txBody>
          <a:bodyPr wrap="square" lIns="0" tIns="0" rIns="0" bIns="0" rtlCol="0" anchor="ctr" vert="horz">
            <a:normAutofit/>
          </a:bodyPr>
          <a:lstStyle/>
          <a:p>
            <a:pPr algn="ctr" indent="0" marL="0">
              <a:buNone/>
            </a:pPr>
            <a:r>
              <a:rPr lang="en-US" sz="1130" b="1" dirty="0">
                <a:solidFill>
                  <a:srgbClr val="F3C56C"/>
                </a:solidFill>
                <a:latin typeface="Aptos" pitchFamily="34" charset="0"/>
                <a:ea typeface="Aptos" pitchFamily="34" charset="-122"/>
                <a:cs typeface="Aptos" pitchFamily="34" charset="-120"/>
              </a:rPr>
              <a:t>RL · RAZONAMIENTO</a:t>
            </a:r>
            <a:endParaRPr lang="en-US" sz="1130" dirty="0"/>
          </a:p>
        </p:txBody>
      </p:sp>
      <p:sp>
        <p:nvSpPr>
          <p:cNvPr id="23" name="Shape 21"/>
          <p:cNvSpPr/>
          <p:nvPr/>
        </p:nvSpPr>
        <p:spPr>
          <a:xfrm>
            <a:off x="7214616" y="5660136"/>
            <a:ext cx="2377440" cy="347472"/>
          </a:xfrm>
          <a:prstGeom prst="roundRect">
            <a:avLst/>
          </a:prstGeom>
          <a:solidFill>
            <a:srgbClr val="061320"/>
          </a:solidFill>
          <a:ln w="10160">
            <a:solidFill>
              <a:srgbClr val="67CADA"/>
            </a:solidFill>
            <a:prstDash val="solid"/>
          </a:ln>
        </p:spPr>
      </p:sp>
      <p:sp>
        <p:nvSpPr>
          <p:cNvPr id="24" name="Text 22"/>
          <p:cNvSpPr/>
          <p:nvPr/>
        </p:nvSpPr>
        <p:spPr>
          <a:xfrm>
            <a:off x="7260336" y="5705856"/>
            <a:ext cx="2286000" cy="237744"/>
          </a:xfrm>
          <a:prstGeom prst="rect">
            <a:avLst/>
          </a:prstGeom>
          <a:noFill/>
          <a:ln/>
        </p:spPr>
        <p:txBody>
          <a:bodyPr wrap="square" lIns="0" tIns="0" rIns="0" bIns="0" rtlCol="0" anchor="ctr" vert="horz">
            <a:normAutofit/>
          </a:bodyPr>
          <a:lstStyle/>
          <a:p>
            <a:pPr algn="ctr" indent="0" marL="0">
              <a:buNone/>
            </a:pPr>
            <a:r>
              <a:rPr lang="en-US" sz="1130" b="1" dirty="0">
                <a:solidFill>
                  <a:srgbClr val="67CADA"/>
                </a:solidFill>
                <a:latin typeface="Aptos" pitchFamily="34" charset="0"/>
                <a:ea typeface="Aptos" pitchFamily="34" charset="-122"/>
                <a:cs typeface="Aptos" pitchFamily="34" charset="-120"/>
              </a:rPr>
              <a:t>MoE · MULTILINGÜISMO</a:t>
            </a:r>
            <a:endParaRPr lang="en-US" sz="11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ROBÓTICA INDUSTRIAL</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El gran salto de escala es verificable</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Datos de instalaciones, no de ventas de humanoides</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ROBÓTICA INDUSTRIAL</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08</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IFR · World Robotics 2026, datos de 2025</a:t>
            </a:r>
            <a:endParaRPr lang="en-US" sz="800" dirty="0"/>
          </a:p>
        </p:txBody>
      </p:sp>
      <p:sp>
        <p:nvSpPr>
          <p:cNvPr id="13" name="Shape 11"/>
          <p:cNvSpPr/>
          <p:nvPr/>
        </p:nvSpPr>
        <p:spPr>
          <a:xfrm>
            <a:off x="688772" y="2551176"/>
            <a:ext cx="3457346" cy="2432304"/>
          </a:xfrm>
          <a:prstGeom prst="roundRect">
            <a:avLst/>
          </a:prstGeom>
          <a:solidFill>
            <a:srgbClr val="102B3B"/>
          </a:solidFill>
          <a:ln w="10160">
            <a:solidFill>
              <a:srgbClr val="365061"/>
            </a:solidFill>
            <a:prstDash val="solid"/>
          </a:ln>
        </p:spPr>
      </p:sp>
      <p:sp>
        <p:nvSpPr>
          <p:cNvPr id="14" name="Text 12"/>
          <p:cNvSpPr/>
          <p:nvPr/>
        </p:nvSpPr>
        <p:spPr>
          <a:xfrm>
            <a:off x="914629" y="2871216"/>
            <a:ext cx="3066440" cy="886968"/>
          </a:xfrm>
          <a:prstGeom prst="rect">
            <a:avLst/>
          </a:prstGeom>
          <a:noFill/>
          <a:ln/>
        </p:spPr>
        <p:txBody>
          <a:bodyPr wrap="square" lIns="0" tIns="0" rIns="0" bIns="0" rtlCol="0" anchor="ctr" vert="horz">
            <a:normAutofit/>
          </a:bodyPr>
          <a:lstStyle/>
          <a:p>
            <a:pPr algn="ctr" indent="0" marL="0">
              <a:buNone/>
            </a:pPr>
            <a:r>
              <a:rPr lang="en-US" sz="3900" b="1" dirty="0">
                <a:solidFill>
                  <a:srgbClr val="F3C56C"/>
                </a:solidFill>
                <a:latin typeface="Georgia" pitchFamily="34" charset="0"/>
                <a:ea typeface="Georgia" pitchFamily="34" charset="-122"/>
                <a:cs typeface="Georgia" pitchFamily="34" charset="-120"/>
              </a:rPr>
              <a:t>354.000</a:t>
            </a:r>
            <a:endParaRPr lang="en-US" sz="3900" dirty="0"/>
          </a:p>
        </p:txBody>
      </p:sp>
      <p:sp>
        <p:nvSpPr>
          <p:cNvPr id="15" name="Shape 13"/>
          <p:cNvSpPr/>
          <p:nvPr/>
        </p:nvSpPr>
        <p:spPr>
          <a:xfrm>
            <a:off x="984123" y="3995928"/>
            <a:ext cx="2849270" cy="0"/>
          </a:xfrm>
          <a:prstGeom prst="line">
            <a:avLst/>
          </a:prstGeom>
          <a:noFill/>
          <a:ln w="12700">
            <a:solidFill>
              <a:srgbClr val="365061"/>
            </a:solidFill>
            <a:prstDash val="solid"/>
          </a:ln>
        </p:spPr>
      </p:sp>
      <p:sp>
        <p:nvSpPr>
          <p:cNvPr id="16" name="Text 14"/>
          <p:cNvSpPr/>
          <p:nvPr/>
        </p:nvSpPr>
        <p:spPr>
          <a:xfrm>
            <a:off x="992810" y="4160520"/>
            <a:ext cx="2884018" cy="658368"/>
          </a:xfrm>
          <a:prstGeom prst="rect">
            <a:avLst/>
          </a:prstGeom>
          <a:noFill/>
          <a:ln/>
        </p:spPr>
        <p:txBody>
          <a:bodyPr wrap="square" lIns="0" tIns="0" rIns="0" bIns="0" rtlCol="0" anchor="ctr" vert="horz">
            <a:normAutofit/>
          </a:bodyPr>
          <a:lstStyle/>
          <a:p>
            <a:pPr algn="ctr" indent="0" marL="0">
              <a:buNone/>
            </a:pPr>
            <a:r>
              <a:rPr lang="en-US" sz="1570" dirty="0">
                <a:solidFill>
                  <a:srgbClr val="F6EEDF"/>
                </a:solidFill>
                <a:latin typeface="Aptos" pitchFamily="34" charset="0"/>
                <a:ea typeface="Aptos" pitchFamily="34" charset="-122"/>
                <a:cs typeface="Aptos" pitchFamily="34" charset="-120"/>
              </a:rPr>
              <a:t>robots industriales instalados en China en 2025</a:t>
            </a:r>
            <a:endParaRPr lang="en-US" sz="1570" dirty="0"/>
          </a:p>
        </p:txBody>
      </p:sp>
      <p:sp>
        <p:nvSpPr>
          <p:cNvPr id="17" name="Shape 15"/>
          <p:cNvSpPr/>
          <p:nvPr/>
        </p:nvSpPr>
        <p:spPr>
          <a:xfrm>
            <a:off x="4328541" y="2551176"/>
            <a:ext cx="3457346" cy="2432304"/>
          </a:xfrm>
          <a:prstGeom prst="roundRect">
            <a:avLst/>
          </a:prstGeom>
          <a:solidFill>
            <a:srgbClr val="102B3B"/>
          </a:solidFill>
          <a:ln w="10160">
            <a:solidFill>
              <a:srgbClr val="365061"/>
            </a:solidFill>
            <a:prstDash val="solid"/>
          </a:ln>
        </p:spPr>
      </p:sp>
      <p:sp>
        <p:nvSpPr>
          <p:cNvPr id="18" name="Text 16"/>
          <p:cNvSpPr/>
          <p:nvPr/>
        </p:nvSpPr>
        <p:spPr>
          <a:xfrm>
            <a:off x="4554398" y="2871216"/>
            <a:ext cx="3066440" cy="886968"/>
          </a:xfrm>
          <a:prstGeom prst="rect">
            <a:avLst/>
          </a:prstGeom>
          <a:noFill/>
          <a:ln/>
        </p:spPr>
        <p:txBody>
          <a:bodyPr wrap="square" lIns="0" tIns="0" rIns="0" bIns="0" rtlCol="0" anchor="ctr" vert="horz">
            <a:normAutofit/>
          </a:bodyPr>
          <a:lstStyle/>
          <a:p>
            <a:pPr algn="ctr" indent="0" marL="0">
              <a:buNone/>
            </a:pPr>
            <a:r>
              <a:rPr lang="en-US" sz="4700" b="1" dirty="0">
                <a:solidFill>
                  <a:srgbClr val="67CADA"/>
                </a:solidFill>
                <a:latin typeface="Georgia" pitchFamily="34" charset="0"/>
                <a:ea typeface="Georgia" pitchFamily="34" charset="-122"/>
                <a:cs typeface="Georgia" pitchFamily="34" charset="-120"/>
              </a:rPr>
              <a:t>59 %</a:t>
            </a:r>
            <a:endParaRPr lang="en-US" sz="4700" dirty="0"/>
          </a:p>
        </p:txBody>
      </p:sp>
      <p:sp>
        <p:nvSpPr>
          <p:cNvPr id="19" name="Shape 17"/>
          <p:cNvSpPr/>
          <p:nvPr/>
        </p:nvSpPr>
        <p:spPr>
          <a:xfrm>
            <a:off x="4623892" y="3995928"/>
            <a:ext cx="2849270" cy="0"/>
          </a:xfrm>
          <a:prstGeom prst="line">
            <a:avLst/>
          </a:prstGeom>
          <a:noFill/>
          <a:ln w="12700">
            <a:solidFill>
              <a:srgbClr val="365061"/>
            </a:solidFill>
            <a:prstDash val="solid"/>
          </a:ln>
        </p:spPr>
      </p:sp>
      <p:sp>
        <p:nvSpPr>
          <p:cNvPr id="20" name="Text 18"/>
          <p:cNvSpPr/>
          <p:nvPr/>
        </p:nvSpPr>
        <p:spPr>
          <a:xfrm>
            <a:off x="4632579" y="4160520"/>
            <a:ext cx="2884018" cy="658368"/>
          </a:xfrm>
          <a:prstGeom prst="rect">
            <a:avLst/>
          </a:prstGeom>
          <a:noFill/>
          <a:ln/>
        </p:spPr>
        <p:txBody>
          <a:bodyPr wrap="square" lIns="0" tIns="0" rIns="0" bIns="0" rtlCol="0" anchor="ctr" vert="horz">
            <a:normAutofit/>
          </a:bodyPr>
          <a:lstStyle/>
          <a:p>
            <a:pPr algn="ctr" indent="0" marL="0">
              <a:buNone/>
            </a:pPr>
            <a:r>
              <a:rPr lang="en-US" sz="1570" dirty="0">
                <a:solidFill>
                  <a:srgbClr val="F6EEDF"/>
                </a:solidFill>
                <a:latin typeface="Aptos" pitchFamily="34" charset="0"/>
                <a:ea typeface="Aptos" pitchFamily="34" charset="-122"/>
                <a:cs typeface="Aptos" pitchFamily="34" charset="-120"/>
              </a:rPr>
              <a:t>de las instalaciones mundiales en 2025</a:t>
            </a:r>
            <a:endParaRPr lang="en-US" sz="1570" dirty="0"/>
          </a:p>
        </p:txBody>
      </p:sp>
      <p:sp>
        <p:nvSpPr>
          <p:cNvPr id="21" name="Shape 19"/>
          <p:cNvSpPr/>
          <p:nvPr/>
        </p:nvSpPr>
        <p:spPr>
          <a:xfrm>
            <a:off x="7968310" y="2551176"/>
            <a:ext cx="3457346" cy="2432304"/>
          </a:xfrm>
          <a:prstGeom prst="roundRect">
            <a:avLst/>
          </a:prstGeom>
          <a:solidFill>
            <a:srgbClr val="102B3B"/>
          </a:solidFill>
          <a:ln w="10160">
            <a:solidFill>
              <a:srgbClr val="365061"/>
            </a:solidFill>
            <a:prstDash val="solid"/>
          </a:ln>
        </p:spPr>
      </p:sp>
      <p:sp>
        <p:nvSpPr>
          <p:cNvPr id="22" name="Text 20"/>
          <p:cNvSpPr/>
          <p:nvPr/>
        </p:nvSpPr>
        <p:spPr>
          <a:xfrm>
            <a:off x="8194167" y="2871216"/>
            <a:ext cx="3066440" cy="886968"/>
          </a:xfrm>
          <a:prstGeom prst="rect">
            <a:avLst/>
          </a:prstGeom>
          <a:noFill/>
          <a:ln/>
        </p:spPr>
        <p:txBody>
          <a:bodyPr wrap="square" lIns="0" tIns="0" rIns="0" bIns="0" rtlCol="0" anchor="ctr" vert="horz">
            <a:normAutofit/>
          </a:bodyPr>
          <a:lstStyle/>
          <a:p>
            <a:pPr algn="ctr" indent="0" marL="0">
              <a:buNone/>
            </a:pPr>
            <a:r>
              <a:rPr lang="en-US" sz="4700" b="1" dirty="0">
                <a:solidFill>
                  <a:srgbClr val="70C9AD"/>
                </a:solidFill>
                <a:latin typeface="Georgia" pitchFamily="34" charset="0"/>
                <a:ea typeface="Georgia" pitchFamily="34" charset="-122"/>
                <a:cs typeface="Georgia" pitchFamily="34" charset="-120"/>
              </a:rPr>
              <a:t>55 %</a:t>
            </a:r>
            <a:endParaRPr lang="en-US" sz="4700" dirty="0"/>
          </a:p>
        </p:txBody>
      </p:sp>
      <p:sp>
        <p:nvSpPr>
          <p:cNvPr id="23" name="Shape 21"/>
          <p:cNvSpPr/>
          <p:nvPr/>
        </p:nvSpPr>
        <p:spPr>
          <a:xfrm>
            <a:off x="8263661" y="3995928"/>
            <a:ext cx="2849270" cy="0"/>
          </a:xfrm>
          <a:prstGeom prst="line">
            <a:avLst/>
          </a:prstGeom>
          <a:noFill/>
          <a:ln w="12700">
            <a:solidFill>
              <a:srgbClr val="365061"/>
            </a:solidFill>
            <a:prstDash val="solid"/>
          </a:ln>
        </p:spPr>
      </p:sp>
      <p:sp>
        <p:nvSpPr>
          <p:cNvPr id="24" name="Text 22"/>
          <p:cNvSpPr/>
          <p:nvPr/>
        </p:nvSpPr>
        <p:spPr>
          <a:xfrm>
            <a:off x="8272348" y="4160520"/>
            <a:ext cx="2884018" cy="658368"/>
          </a:xfrm>
          <a:prstGeom prst="rect">
            <a:avLst/>
          </a:prstGeom>
          <a:noFill/>
          <a:ln/>
        </p:spPr>
        <p:txBody>
          <a:bodyPr wrap="square" lIns="0" tIns="0" rIns="0" bIns="0" rtlCol="0" anchor="ctr" vert="horz">
            <a:normAutofit/>
          </a:bodyPr>
          <a:lstStyle/>
          <a:p>
            <a:pPr algn="ctr" indent="0" marL="0">
              <a:buNone/>
            </a:pPr>
            <a:r>
              <a:rPr lang="en-US" sz="1570" dirty="0">
                <a:solidFill>
                  <a:srgbClr val="F6EEDF"/>
                </a:solidFill>
                <a:latin typeface="Aptos" pitchFamily="34" charset="0"/>
                <a:ea typeface="Aptos" pitchFamily="34" charset="-122"/>
                <a:cs typeface="Aptos" pitchFamily="34" charset="-120"/>
              </a:rPr>
              <a:t>cuota de proveedores chinos en su mercado interno</a:t>
            </a:r>
            <a:endParaRPr lang="en-US" sz="1570" dirty="0"/>
          </a:p>
        </p:txBody>
      </p:sp>
      <p:sp>
        <p:nvSpPr>
          <p:cNvPr id="25" name="Shape 23"/>
          <p:cNvSpPr/>
          <p:nvPr/>
        </p:nvSpPr>
        <p:spPr>
          <a:xfrm>
            <a:off x="1298448" y="5394960"/>
            <a:ext cx="9619488" cy="566928"/>
          </a:xfrm>
          <a:prstGeom prst="roundRect">
            <a:avLst/>
          </a:prstGeom>
          <a:solidFill>
            <a:srgbClr val="061320"/>
          </a:solidFill>
          <a:ln w="10160">
            <a:solidFill>
              <a:srgbClr val="D8524B"/>
            </a:solidFill>
            <a:prstDash val="solid"/>
          </a:ln>
        </p:spPr>
      </p:sp>
      <p:sp>
        <p:nvSpPr>
          <p:cNvPr id="26" name="Text 24"/>
          <p:cNvSpPr/>
          <p:nvPr/>
        </p:nvSpPr>
        <p:spPr>
          <a:xfrm>
            <a:off x="1572768" y="5536692"/>
            <a:ext cx="9052560" cy="246888"/>
          </a:xfrm>
          <a:prstGeom prst="rect">
            <a:avLst/>
          </a:prstGeom>
          <a:noFill/>
          <a:ln/>
        </p:spPr>
        <p:txBody>
          <a:bodyPr wrap="square" lIns="0" tIns="0" rIns="0" bIns="0" rtlCol="0" anchor="ctr" vert="horz">
            <a:normAutofit/>
          </a:bodyPr>
          <a:lstStyle/>
          <a:p>
            <a:pPr algn="ctr" indent="0" marL="0">
              <a:buNone/>
            </a:pPr>
            <a:r>
              <a:rPr lang="en-US" sz="1620" b="1" dirty="0">
                <a:solidFill>
                  <a:srgbClr val="F6EEDF"/>
                </a:solidFill>
                <a:latin typeface="Aptos" pitchFamily="34" charset="0"/>
                <a:ea typeface="Aptos" pitchFamily="34" charset="-122"/>
                <a:cs typeface="Aptos" pitchFamily="34" charset="-120"/>
              </a:rPr>
              <a:t>Robot industrial ≠ robot humanoide: los mercados y las métricas no son intercambiables.</a:t>
            </a:r>
            <a:endParaRPr lang="en-US" sz="16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TAXONOMÍA</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Cuatro mercados que no debemos confundir</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Tipología didáctica: aplicación, movilidad y morfología</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TAXONOMÍA</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09</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IFR · Unidad y denominador importan</a:t>
            </a:r>
            <a:endParaRPr lang="en-US" sz="800" dirty="0"/>
          </a:p>
        </p:txBody>
      </p:sp>
      <p:sp>
        <p:nvSpPr>
          <p:cNvPr id="13" name="Shape 11"/>
          <p:cNvSpPr/>
          <p:nvPr/>
        </p:nvSpPr>
        <p:spPr>
          <a:xfrm>
            <a:off x="645338" y="2459736"/>
            <a:ext cx="5298948" cy="1453896"/>
          </a:xfrm>
          <a:prstGeom prst="roundRect">
            <a:avLst/>
          </a:prstGeom>
          <a:solidFill>
            <a:srgbClr val="102B3B"/>
          </a:solidFill>
          <a:ln w="10160">
            <a:solidFill>
              <a:srgbClr val="365061"/>
            </a:solidFill>
            <a:prstDash val="solid"/>
          </a:ln>
        </p:spPr>
      </p:sp>
      <p:sp>
        <p:nvSpPr>
          <p:cNvPr id="14" name="Shape 12"/>
          <p:cNvSpPr/>
          <p:nvPr/>
        </p:nvSpPr>
        <p:spPr>
          <a:xfrm>
            <a:off x="784327" y="2688336"/>
            <a:ext cx="47777" cy="365760"/>
          </a:xfrm>
          <a:prstGeom prst="rect">
            <a:avLst/>
          </a:prstGeom>
          <a:solidFill>
            <a:srgbClr val="F3C56C"/>
          </a:solidFill>
          <a:ln w="12700">
            <a:solidFill>
              <a:srgbClr val="F3C56C">
                <a:alpha val="0"/>
              </a:srgbClr>
            </a:solidFill>
            <a:prstDash val="solid"/>
          </a:ln>
        </p:spPr>
      </p:sp>
      <p:sp>
        <p:nvSpPr>
          <p:cNvPr id="15" name="Text 13"/>
          <p:cNvSpPr/>
          <p:nvPr/>
        </p:nvSpPr>
        <p:spPr>
          <a:xfrm>
            <a:off x="949376" y="2642616"/>
            <a:ext cx="4847234" cy="411480"/>
          </a:xfrm>
          <a:prstGeom prst="rect">
            <a:avLst/>
          </a:prstGeom>
          <a:noFill/>
          <a:ln/>
        </p:spPr>
        <p:txBody>
          <a:bodyPr wrap="square" lIns="0" tIns="0" rIns="0" bIns="0" rtlCol="0" anchor="ctr" vert="horz">
            <a:normAutofit/>
          </a:bodyPr>
          <a:lstStyle/>
          <a:p>
            <a:pPr algn="l" indent="0" marL="0">
              <a:buNone/>
            </a:pPr>
            <a:r>
              <a:rPr lang="en-US" sz="1740" b="1" dirty="0">
                <a:solidFill>
                  <a:srgbClr val="F6EEDF"/>
                </a:solidFill>
                <a:latin typeface="Aptos" pitchFamily="34" charset="0"/>
                <a:ea typeface="Aptos" pitchFamily="34" charset="-122"/>
                <a:cs typeface="Aptos" pitchFamily="34" charset="-120"/>
              </a:rPr>
              <a:t>BRAZOS INDUSTRIALES</a:t>
            </a:r>
            <a:endParaRPr lang="en-US" sz="1740" dirty="0"/>
          </a:p>
        </p:txBody>
      </p:sp>
      <p:sp>
        <p:nvSpPr>
          <p:cNvPr id="16" name="Text 14"/>
          <p:cNvSpPr/>
          <p:nvPr/>
        </p:nvSpPr>
        <p:spPr>
          <a:xfrm>
            <a:off x="914629" y="3218688"/>
            <a:ext cx="4786427" cy="557784"/>
          </a:xfrm>
          <a:prstGeom prst="rect">
            <a:avLst/>
          </a:prstGeom>
          <a:noFill/>
          <a:ln/>
        </p:spPr>
        <p:txBody>
          <a:bodyPr wrap="square" lIns="0" tIns="0" rIns="0" bIns="0" rtlCol="0" anchor="t" vert="horz">
            <a:normAutofit/>
          </a:bodyPr>
          <a:lstStyle/>
          <a:p>
            <a:pPr algn="l" indent="0" marL="0">
              <a:buNone/>
            </a:pPr>
            <a:r>
              <a:rPr lang="en-US" sz="1410" dirty="0">
                <a:solidFill>
                  <a:srgbClr val="A8C0CD"/>
                </a:solidFill>
                <a:latin typeface="Aptos" pitchFamily="34" charset="0"/>
                <a:ea typeface="Aptos" pitchFamily="34" charset="-122"/>
                <a:cs typeface="Aptos" pitchFamily="34" charset="-120"/>
              </a:rPr>
              <a:t>Soldar, ensamblar, pintar, paletizar</a:t>
            </a:r>
            <a:endParaRPr lang="en-US" sz="1410" dirty="0"/>
          </a:p>
          <a:p>
            <a:pPr algn="l" indent="0" marL="0">
              <a:buNone/>
            </a:pPr>
            <a:r>
              <a:rPr lang="en-US" sz="1410" dirty="0">
                <a:solidFill>
                  <a:srgbClr val="A8C0CD"/>
                </a:solidFill>
                <a:latin typeface="Aptos" pitchFamily="34" charset="0"/>
                <a:ea typeface="Aptos" pitchFamily="34" charset="-122"/>
                <a:cs typeface="Aptos" pitchFamily="34" charset="-120"/>
              </a:rPr>
              <a:t>Celdas y robots de posición fija</a:t>
            </a:r>
            <a:endParaRPr lang="en-US" sz="1410" dirty="0"/>
          </a:p>
        </p:txBody>
      </p:sp>
      <p:sp>
        <p:nvSpPr>
          <p:cNvPr id="17" name="Shape 15"/>
          <p:cNvSpPr/>
          <p:nvPr/>
        </p:nvSpPr>
        <p:spPr>
          <a:xfrm>
            <a:off x="6222263" y="2459736"/>
            <a:ext cx="5298948" cy="1453896"/>
          </a:xfrm>
          <a:prstGeom prst="roundRect">
            <a:avLst/>
          </a:prstGeom>
          <a:solidFill>
            <a:srgbClr val="102B3B"/>
          </a:solidFill>
          <a:ln w="10160">
            <a:solidFill>
              <a:srgbClr val="365061"/>
            </a:solidFill>
            <a:prstDash val="solid"/>
          </a:ln>
        </p:spPr>
      </p:sp>
      <p:sp>
        <p:nvSpPr>
          <p:cNvPr id="18" name="Shape 16"/>
          <p:cNvSpPr/>
          <p:nvPr/>
        </p:nvSpPr>
        <p:spPr>
          <a:xfrm>
            <a:off x="6361252" y="2688336"/>
            <a:ext cx="47777" cy="365760"/>
          </a:xfrm>
          <a:prstGeom prst="rect">
            <a:avLst/>
          </a:prstGeom>
          <a:solidFill>
            <a:srgbClr val="70C9AD"/>
          </a:solidFill>
          <a:ln w="12700">
            <a:solidFill>
              <a:srgbClr val="70C9AD">
                <a:alpha val="0"/>
              </a:srgbClr>
            </a:solidFill>
            <a:prstDash val="solid"/>
          </a:ln>
        </p:spPr>
      </p:sp>
      <p:sp>
        <p:nvSpPr>
          <p:cNvPr id="19" name="Text 17"/>
          <p:cNvSpPr/>
          <p:nvPr/>
        </p:nvSpPr>
        <p:spPr>
          <a:xfrm>
            <a:off x="6526301" y="2642616"/>
            <a:ext cx="4847234" cy="411480"/>
          </a:xfrm>
          <a:prstGeom prst="rect">
            <a:avLst/>
          </a:prstGeom>
          <a:noFill/>
          <a:ln/>
        </p:spPr>
        <p:txBody>
          <a:bodyPr wrap="square" lIns="0" tIns="0" rIns="0" bIns="0" rtlCol="0" anchor="ctr" vert="horz">
            <a:normAutofit/>
          </a:bodyPr>
          <a:lstStyle/>
          <a:p>
            <a:pPr algn="l" indent="0" marL="0">
              <a:buNone/>
            </a:pPr>
            <a:r>
              <a:rPr lang="en-US" sz="1740" b="1" dirty="0">
                <a:solidFill>
                  <a:srgbClr val="F6EEDF"/>
                </a:solidFill>
                <a:latin typeface="Aptos" pitchFamily="34" charset="0"/>
                <a:ea typeface="Aptos" pitchFamily="34" charset="-122"/>
                <a:cs typeface="Aptos" pitchFamily="34" charset="-120"/>
              </a:rPr>
              <a:t>MÓVILES / SERVICIO</a:t>
            </a:r>
            <a:endParaRPr lang="en-US" sz="1740" dirty="0"/>
          </a:p>
        </p:txBody>
      </p:sp>
      <p:sp>
        <p:nvSpPr>
          <p:cNvPr id="20" name="Text 18"/>
          <p:cNvSpPr/>
          <p:nvPr/>
        </p:nvSpPr>
        <p:spPr>
          <a:xfrm>
            <a:off x="6491554" y="3218688"/>
            <a:ext cx="4786427" cy="557784"/>
          </a:xfrm>
          <a:prstGeom prst="rect">
            <a:avLst/>
          </a:prstGeom>
          <a:noFill/>
          <a:ln/>
        </p:spPr>
        <p:txBody>
          <a:bodyPr wrap="square" lIns="0" tIns="0" rIns="0" bIns="0" rtlCol="0" anchor="t" vert="horz">
            <a:normAutofit/>
          </a:bodyPr>
          <a:lstStyle/>
          <a:p>
            <a:pPr algn="l" indent="0" marL="0">
              <a:buNone/>
            </a:pPr>
            <a:r>
              <a:rPr lang="en-US" sz="1410" dirty="0">
                <a:solidFill>
                  <a:srgbClr val="A8C0CD"/>
                </a:solidFill>
                <a:latin typeface="Aptos" pitchFamily="34" charset="0"/>
                <a:ea typeface="Aptos" pitchFamily="34" charset="-122"/>
                <a:cs typeface="Aptos" pitchFamily="34" charset="-120"/>
              </a:rPr>
              <a:t>Almacenes, inspección, limpieza</a:t>
            </a:r>
            <a:endParaRPr lang="en-US" sz="1410" dirty="0"/>
          </a:p>
          <a:p>
            <a:pPr algn="l" indent="0" marL="0">
              <a:buNone/>
            </a:pPr>
            <a:r>
              <a:rPr lang="en-US" sz="1410" dirty="0">
                <a:solidFill>
                  <a:srgbClr val="A8C0CD"/>
                </a:solidFill>
                <a:latin typeface="Aptos" pitchFamily="34" charset="0"/>
                <a:ea typeface="Aptos" pitchFamily="34" charset="-122"/>
                <a:cs typeface="Aptos" pitchFamily="34" charset="-120"/>
              </a:rPr>
              <a:t>AMR, logística y robots de servicio</a:t>
            </a:r>
            <a:endParaRPr lang="en-US" sz="1410" dirty="0"/>
          </a:p>
        </p:txBody>
      </p:sp>
      <p:sp>
        <p:nvSpPr>
          <p:cNvPr id="21" name="Shape 19"/>
          <p:cNvSpPr/>
          <p:nvPr/>
        </p:nvSpPr>
        <p:spPr>
          <a:xfrm>
            <a:off x="645338" y="4087368"/>
            <a:ext cx="5298948" cy="1453896"/>
          </a:xfrm>
          <a:prstGeom prst="roundRect">
            <a:avLst/>
          </a:prstGeom>
          <a:solidFill>
            <a:srgbClr val="102B3B"/>
          </a:solidFill>
          <a:ln w="10160">
            <a:solidFill>
              <a:srgbClr val="365061"/>
            </a:solidFill>
            <a:prstDash val="solid"/>
          </a:ln>
        </p:spPr>
      </p:sp>
      <p:sp>
        <p:nvSpPr>
          <p:cNvPr id="22" name="Shape 20"/>
          <p:cNvSpPr/>
          <p:nvPr/>
        </p:nvSpPr>
        <p:spPr>
          <a:xfrm>
            <a:off x="784327" y="4315968"/>
            <a:ext cx="47777" cy="365760"/>
          </a:xfrm>
          <a:prstGeom prst="rect">
            <a:avLst/>
          </a:prstGeom>
          <a:solidFill>
            <a:srgbClr val="67CADA"/>
          </a:solidFill>
          <a:ln w="12700">
            <a:solidFill>
              <a:srgbClr val="67CADA">
                <a:alpha val="0"/>
              </a:srgbClr>
            </a:solidFill>
            <a:prstDash val="solid"/>
          </a:ln>
        </p:spPr>
      </p:sp>
      <p:sp>
        <p:nvSpPr>
          <p:cNvPr id="23" name="Text 21"/>
          <p:cNvSpPr/>
          <p:nvPr/>
        </p:nvSpPr>
        <p:spPr>
          <a:xfrm>
            <a:off x="949376" y="4270248"/>
            <a:ext cx="4847234" cy="411480"/>
          </a:xfrm>
          <a:prstGeom prst="rect">
            <a:avLst/>
          </a:prstGeom>
          <a:noFill/>
          <a:ln/>
        </p:spPr>
        <p:txBody>
          <a:bodyPr wrap="square" lIns="0" tIns="0" rIns="0" bIns="0" rtlCol="0" anchor="ctr" vert="horz">
            <a:normAutofit/>
          </a:bodyPr>
          <a:lstStyle/>
          <a:p>
            <a:pPr algn="l" indent="0" marL="0">
              <a:buNone/>
            </a:pPr>
            <a:r>
              <a:rPr lang="en-US" sz="1740" b="1" dirty="0">
                <a:solidFill>
                  <a:srgbClr val="F6EEDF"/>
                </a:solidFill>
                <a:latin typeface="Aptos" pitchFamily="34" charset="0"/>
                <a:ea typeface="Aptos" pitchFamily="34" charset="-122"/>
                <a:cs typeface="Aptos" pitchFamily="34" charset="-120"/>
              </a:rPr>
              <a:t>CUADRÚPEDOS</a:t>
            </a:r>
            <a:endParaRPr lang="en-US" sz="1740" dirty="0"/>
          </a:p>
        </p:txBody>
      </p:sp>
      <p:sp>
        <p:nvSpPr>
          <p:cNvPr id="24" name="Text 22"/>
          <p:cNvSpPr/>
          <p:nvPr/>
        </p:nvSpPr>
        <p:spPr>
          <a:xfrm>
            <a:off x="914629" y="4846320"/>
            <a:ext cx="4786427" cy="557784"/>
          </a:xfrm>
          <a:prstGeom prst="rect">
            <a:avLst/>
          </a:prstGeom>
          <a:noFill/>
          <a:ln/>
        </p:spPr>
        <p:txBody>
          <a:bodyPr wrap="square" lIns="0" tIns="0" rIns="0" bIns="0" rtlCol="0" anchor="t" vert="horz">
            <a:normAutofit/>
          </a:bodyPr>
          <a:lstStyle/>
          <a:p>
            <a:pPr algn="l" indent="0" marL="0">
              <a:buNone/>
            </a:pPr>
            <a:r>
              <a:rPr lang="en-US" sz="1410" dirty="0">
                <a:solidFill>
                  <a:srgbClr val="A8C0CD"/>
                </a:solidFill>
                <a:latin typeface="Aptos" pitchFamily="34" charset="0"/>
                <a:ea typeface="Aptos" pitchFamily="34" charset="-122"/>
                <a:cs typeface="Aptos" pitchFamily="34" charset="-120"/>
              </a:rPr>
              <a:t>Inspección, seguridad, terrenos difíciles</a:t>
            </a:r>
            <a:endParaRPr lang="en-US" sz="1410" dirty="0"/>
          </a:p>
          <a:p>
            <a:pPr algn="l" indent="0" marL="0">
              <a:buNone/>
            </a:pPr>
            <a:r>
              <a:rPr lang="en-US" sz="1410" dirty="0">
                <a:solidFill>
                  <a:srgbClr val="A8C0CD"/>
                </a:solidFill>
                <a:latin typeface="Aptos" pitchFamily="34" charset="0"/>
                <a:ea typeface="Aptos" pitchFamily="34" charset="-122"/>
                <a:cs typeface="Aptos" pitchFamily="34" charset="-120"/>
              </a:rPr>
              <a:t>Locomoción y sensores de campo</a:t>
            </a:r>
            <a:endParaRPr lang="en-US" sz="1410" dirty="0"/>
          </a:p>
        </p:txBody>
      </p:sp>
      <p:sp>
        <p:nvSpPr>
          <p:cNvPr id="25" name="Shape 23"/>
          <p:cNvSpPr/>
          <p:nvPr/>
        </p:nvSpPr>
        <p:spPr>
          <a:xfrm>
            <a:off x="6222263" y="4087368"/>
            <a:ext cx="5298948" cy="1453896"/>
          </a:xfrm>
          <a:prstGeom prst="roundRect">
            <a:avLst/>
          </a:prstGeom>
          <a:solidFill>
            <a:srgbClr val="102B3B"/>
          </a:solidFill>
          <a:ln w="10160">
            <a:solidFill>
              <a:srgbClr val="365061"/>
            </a:solidFill>
            <a:prstDash val="solid"/>
          </a:ln>
        </p:spPr>
      </p:sp>
      <p:sp>
        <p:nvSpPr>
          <p:cNvPr id="26" name="Shape 24"/>
          <p:cNvSpPr/>
          <p:nvPr/>
        </p:nvSpPr>
        <p:spPr>
          <a:xfrm>
            <a:off x="6361252" y="4315968"/>
            <a:ext cx="47777" cy="365760"/>
          </a:xfrm>
          <a:prstGeom prst="rect">
            <a:avLst/>
          </a:prstGeom>
          <a:solidFill>
            <a:srgbClr val="D8524B"/>
          </a:solidFill>
          <a:ln w="12700">
            <a:solidFill>
              <a:srgbClr val="D8524B">
                <a:alpha val="0"/>
              </a:srgbClr>
            </a:solidFill>
            <a:prstDash val="solid"/>
          </a:ln>
        </p:spPr>
      </p:sp>
      <p:sp>
        <p:nvSpPr>
          <p:cNvPr id="27" name="Text 25"/>
          <p:cNvSpPr/>
          <p:nvPr/>
        </p:nvSpPr>
        <p:spPr>
          <a:xfrm>
            <a:off x="6526301" y="4270248"/>
            <a:ext cx="4847234" cy="411480"/>
          </a:xfrm>
          <a:prstGeom prst="rect">
            <a:avLst/>
          </a:prstGeom>
          <a:noFill/>
          <a:ln/>
        </p:spPr>
        <p:txBody>
          <a:bodyPr wrap="square" lIns="0" tIns="0" rIns="0" bIns="0" rtlCol="0" anchor="ctr" vert="horz">
            <a:normAutofit/>
          </a:bodyPr>
          <a:lstStyle/>
          <a:p>
            <a:pPr algn="l" indent="0" marL="0">
              <a:buNone/>
            </a:pPr>
            <a:r>
              <a:rPr lang="en-US" sz="1740" b="1" dirty="0">
                <a:solidFill>
                  <a:srgbClr val="F6EEDF"/>
                </a:solidFill>
                <a:latin typeface="Aptos" pitchFamily="34" charset="0"/>
                <a:ea typeface="Aptos" pitchFamily="34" charset="-122"/>
                <a:cs typeface="Aptos" pitchFamily="34" charset="-120"/>
              </a:rPr>
              <a:t>HUMANOIDES</a:t>
            </a:r>
            <a:endParaRPr lang="en-US" sz="1740" dirty="0"/>
          </a:p>
        </p:txBody>
      </p:sp>
      <p:sp>
        <p:nvSpPr>
          <p:cNvPr id="28" name="Text 26"/>
          <p:cNvSpPr/>
          <p:nvPr/>
        </p:nvSpPr>
        <p:spPr>
          <a:xfrm>
            <a:off x="6491554" y="4846320"/>
            <a:ext cx="4786427" cy="557784"/>
          </a:xfrm>
          <a:prstGeom prst="rect">
            <a:avLst/>
          </a:prstGeom>
          <a:noFill/>
          <a:ln/>
        </p:spPr>
        <p:txBody>
          <a:bodyPr wrap="square" lIns="0" tIns="0" rIns="0" bIns="0" rtlCol="0" anchor="t" vert="horz">
            <a:normAutofit/>
          </a:bodyPr>
          <a:lstStyle/>
          <a:p>
            <a:pPr algn="l" indent="0" marL="0">
              <a:buNone/>
            </a:pPr>
            <a:r>
              <a:rPr lang="en-US" sz="1410" dirty="0">
                <a:solidFill>
                  <a:srgbClr val="A8C0CD"/>
                </a:solidFill>
                <a:latin typeface="Aptos" pitchFamily="34" charset="0"/>
                <a:ea typeface="Aptos" pitchFamily="34" charset="-122"/>
                <a:cs typeface="Aptos" pitchFamily="34" charset="-120"/>
              </a:rPr>
              <a:t>Bipedestación, manos y tareas generales</a:t>
            </a:r>
            <a:endParaRPr lang="en-US" sz="1410" dirty="0"/>
          </a:p>
          <a:p>
            <a:pPr algn="l" indent="0" marL="0">
              <a:buNone/>
            </a:pPr>
            <a:r>
              <a:rPr lang="en-US" sz="1410" dirty="0">
                <a:solidFill>
                  <a:srgbClr val="A8C0CD"/>
                </a:solidFill>
                <a:latin typeface="Aptos" pitchFamily="34" charset="0"/>
                <a:ea typeface="Aptos" pitchFamily="34" charset="-122"/>
                <a:cs typeface="Aptos" pitchFamily="34" charset="-120"/>
              </a:rPr>
              <a:t>Manipulación todavía en validación</a:t>
            </a:r>
            <a:endParaRPr lang="en-US" sz="1410" dirty="0"/>
          </a:p>
        </p:txBody>
      </p:sp>
      <p:sp>
        <p:nvSpPr>
          <p:cNvPr id="29" name="Text 27"/>
          <p:cNvSpPr/>
          <p:nvPr/>
        </p:nvSpPr>
        <p:spPr>
          <a:xfrm>
            <a:off x="832104" y="5980176"/>
            <a:ext cx="10497312" cy="274320"/>
          </a:xfrm>
          <a:prstGeom prst="rect">
            <a:avLst/>
          </a:prstGeom>
          <a:noFill/>
          <a:ln/>
        </p:spPr>
        <p:txBody>
          <a:bodyPr wrap="square" lIns="0" tIns="0" rIns="0" bIns="0" rtlCol="0" anchor="ctr" vert="horz">
            <a:normAutofit/>
          </a:bodyPr>
          <a:lstStyle/>
          <a:p>
            <a:pPr algn="ctr" indent="0" marL="0">
              <a:buNone/>
            </a:pPr>
            <a:r>
              <a:rPr lang="en-US" sz="1610" dirty="0">
                <a:solidFill>
                  <a:srgbClr val="F3C56C"/>
                </a:solidFill>
                <a:latin typeface="Aptos" pitchFamily="34" charset="0"/>
                <a:ea typeface="Aptos" pitchFamily="34" charset="-122"/>
                <a:cs typeface="Aptos" pitchFamily="34" charset="-120"/>
              </a:rPr>
              <a:t>No sumar “unidades” sin definir qué categoría, tarea, precio y contexto representan.</a:t>
            </a:r>
            <a:endParaRPr lang="en-US" sz="16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Ilustración conceptual generada con inteligencia artificial. No representa productos ni despliegues reales.">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7315200" cy="6858000"/>
          </a:xfrm>
          <a:prstGeom prst="rect">
            <a:avLst/>
          </a:prstGeom>
          <a:solidFill>
            <a:srgbClr val="071923">
              <a:alpha val="86000"/>
            </a:srgbClr>
          </a:solidFill>
          <a:ln w="12700">
            <a:solidFill>
              <a:srgbClr val="071923">
                <a:alpha val="0"/>
              </a:srgbClr>
            </a:solidFill>
            <a:prstDash val="solid"/>
          </a:ln>
        </p:spPr>
      </p:sp>
      <p:sp>
        <p:nvSpPr>
          <p:cNvPr id="4" name="Text 1"/>
          <p:cNvSpPr/>
          <p:nvPr/>
        </p:nvSpPr>
        <p:spPr>
          <a:xfrm>
            <a:off x="566928" y="411480"/>
            <a:ext cx="3657600" cy="274320"/>
          </a:xfrm>
          <a:prstGeom prst="rect">
            <a:avLst/>
          </a:prstGeom>
          <a:noFill/>
          <a:ln/>
        </p:spPr>
        <p:txBody>
          <a:bodyPr wrap="square" lIns="0" tIns="0" rIns="0" bIns="0" rtlCol="0" anchor="ctr" vert="horz">
            <a:normAutofit/>
          </a:bodyPr>
          <a:lstStyle/>
          <a:p>
            <a:pPr algn="l" indent="0" marL="0">
              <a:buNone/>
            </a:pPr>
            <a:r>
              <a:rPr lang="en-US" sz="1100" b="1" spc="240" kern="0" dirty="0">
                <a:solidFill>
                  <a:srgbClr val="F3C56C"/>
                </a:solidFill>
                <a:latin typeface="Aptos" pitchFamily="34" charset="0"/>
                <a:ea typeface="Aptos" pitchFamily="34" charset="-122"/>
                <a:cs typeface="Aptos" pitchFamily="34" charset="-120"/>
              </a:rPr>
              <a:t>DEL SOFTWARE AL MUNDO FÍSICO</a:t>
            </a:r>
            <a:endParaRPr lang="en-US" sz="1100" dirty="0"/>
          </a:p>
        </p:txBody>
      </p:sp>
      <p:sp>
        <p:nvSpPr>
          <p:cNvPr id="5" name="Text 2"/>
          <p:cNvSpPr/>
          <p:nvPr/>
        </p:nvSpPr>
        <p:spPr>
          <a:xfrm>
            <a:off x="11119104" y="365760"/>
            <a:ext cx="548640" cy="310896"/>
          </a:xfrm>
          <a:prstGeom prst="rect">
            <a:avLst/>
          </a:prstGeom>
          <a:noFill/>
          <a:ln/>
        </p:spPr>
        <p:txBody>
          <a:bodyPr wrap="square" lIns="0" tIns="0" rIns="0" bIns="0" rtlCol="0" anchor="ctr" vert="horz">
            <a:normAutofit/>
          </a:bodyPr>
          <a:lstStyle/>
          <a:p>
            <a:pPr algn="r" indent="0" marL="0">
              <a:buNone/>
            </a:pPr>
            <a:r>
              <a:rPr lang="en-US" sz="1700" dirty="0">
                <a:solidFill>
                  <a:srgbClr val="F3C56C"/>
                </a:solidFill>
                <a:latin typeface="Georgia" pitchFamily="34" charset="0"/>
                <a:ea typeface="Georgia" pitchFamily="34" charset="-122"/>
                <a:cs typeface="Georgia" pitchFamily="34" charset="-120"/>
              </a:rPr>
              <a:t>10</a:t>
            </a:r>
            <a:endParaRPr lang="en-US" sz="1700" dirty="0"/>
          </a:p>
        </p:txBody>
      </p:sp>
      <p:sp>
        <p:nvSpPr>
          <p:cNvPr id="6" name="Text 3"/>
          <p:cNvSpPr/>
          <p:nvPr/>
        </p:nvSpPr>
        <p:spPr>
          <a:xfrm>
            <a:off x="630936" y="1325880"/>
            <a:ext cx="7040880" cy="2834640"/>
          </a:xfrm>
          <a:prstGeom prst="rect">
            <a:avLst/>
          </a:prstGeom>
          <a:noFill/>
          <a:ln/>
        </p:spPr>
        <p:txBody>
          <a:bodyPr wrap="square" lIns="0" tIns="0" rIns="0" bIns="0" rtlCol="0" anchor="ctr" vert="horz">
            <a:normAutofit/>
          </a:bodyPr>
          <a:lstStyle/>
          <a:p>
            <a:pPr algn="l" indent="0" marL="0">
              <a:buNone/>
            </a:pPr>
            <a:r>
              <a:rPr lang="en-US" sz="4600" dirty="0">
                <a:solidFill>
                  <a:srgbClr val="F6EEDF"/>
                </a:solidFill>
                <a:latin typeface="Georgia" pitchFamily="34" charset="0"/>
                <a:ea typeface="Georgia" pitchFamily="34" charset="-122"/>
                <a:cs typeface="Georgia" pitchFamily="34" charset="-120"/>
              </a:rPr>
              <a:t>Un humanoide</a:t>
            </a:r>
            <a:endParaRPr lang="en-US" sz="4600" dirty="0"/>
          </a:p>
          <a:p>
            <a:pPr algn="l" indent="0" marL="0">
              <a:buNone/>
            </a:pPr>
            <a:r>
              <a:rPr lang="en-US" sz="4600" dirty="0">
                <a:solidFill>
                  <a:srgbClr val="F6EEDF"/>
                </a:solidFill>
                <a:latin typeface="Georgia" pitchFamily="34" charset="0"/>
                <a:ea typeface="Georgia" pitchFamily="34" charset="-122"/>
                <a:cs typeface="Georgia" pitchFamily="34" charset="-120"/>
              </a:rPr>
              <a:t>no es un chatbot</a:t>
            </a:r>
            <a:endParaRPr lang="en-US" sz="4600" dirty="0"/>
          </a:p>
          <a:p>
            <a:pPr algn="l" indent="0" marL="0">
              <a:buNone/>
            </a:pPr>
            <a:r>
              <a:rPr lang="en-US" sz="4600" dirty="0">
                <a:solidFill>
                  <a:srgbClr val="F6EEDF"/>
                </a:solidFill>
                <a:latin typeface="Georgia" pitchFamily="34" charset="0"/>
                <a:ea typeface="Georgia" pitchFamily="34" charset="-122"/>
                <a:cs typeface="Georgia" pitchFamily="34" charset="-120"/>
              </a:rPr>
              <a:t>con piernas.</a:t>
            </a:r>
            <a:endParaRPr lang="en-US" sz="4600" dirty="0"/>
          </a:p>
        </p:txBody>
      </p:sp>
      <p:sp>
        <p:nvSpPr>
          <p:cNvPr id="7" name="Shape 4"/>
          <p:cNvSpPr/>
          <p:nvPr/>
        </p:nvSpPr>
        <p:spPr>
          <a:xfrm>
            <a:off x="676656" y="4517136"/>
            <a:ext cx="4169664" cy="0"/>
          </a:xfrm>
          <a:prstGeom prst="line">
            <a:avLst/>
          </a:prstGeom>
          <a:noFill/>
          <a:ln w="38100">
            <a:solidFill>
              <a:srgbClr val="D8524B"/>
            </a:solidFill>
            <a:prstDash val="solid"/>
          </a:ln>
        </p:spPr>
      </p:sp>
      <p:sp>
        <p:nvSpPr>
          <p:cNvPr id="8" name="Text 5"/>
          <p:cNvSpPr/>
          <p:nvPr/>
        </p:nvSpPr>
        <p:spPr>
          <a:xfrm>
            <a:off x="685800" y="4818888"/>
            <a:ext cx="6172200" cy="914400"/>
          </a:xfrm>
          <a:prstGeom prst="rect">
            <a:avLst/>
          </a:prstGeom>
          <a:noFill/>
          <a:ln/>
        </p:spPr>
        <p:txBody>
          <a:bodyPr wrap="square" lIns="0" tIns="0" rIns="0" bIns="0" rtlCol="0" anchor="ctr" vert="horz">
            <a:normAutofit/>
          </a:bodyPr>
          <a:lstStyle/>
          <a:p>
            <a:pPr algn="l" indent="0" marL="0">
              <a:buNone/>
            </a:pPr>
            <a:r>
              <a:rPr lang="en-US" sz="2130" dirty="0">
                <a:solidFill>
                  <a:srgbClr val="F3C56C"/>
                </a:solidFill>
                <a:latin typeface="Aptos" pitchFamily="34" charset="0"/>
                <a:ea typeface="Aptos" pitchFamily="34" charset="-122"/>
                <a:cs typeface="Aptos" pitchFamily="34" charset="-120"/>
              </a:rPr>
              <a:t>Debe percibir, decidir y actuar bajo límites físicos y de seguridad.</a:t>
            </a:r>
            <a:endParaRPr lang="en-US" sz="2130" dirty="0"/>
          </a:p>
        </p:txBody>
      </p:sp>
      <p:sp>
        <p:nvSpPr>
          <p:cNvPr id="9" name="Shape 6"/>
          <p:cNvSpPr/>
          <p:nvPr/>
        </p:nvSpPr>
        <p:spPr>
          <a:xfrm>
            <a:off x="502920" y="6483096"/>
            <a:ext cx="11201400" cy="0"/>
          </a:xfrm>
          <a:prstGeom prst="line">
            <a:avLst/>
          </a:prstGeom>
          <a:noFill/>
          <a:ln w="8890">
            <a:solidFill>
              <a:srgbClr val="365061"/>
            </a:solidFill>
            <a:prstDash val="solid"/>
          </a:ln>
        </p:spPr>
      </p:sp>
      <p:sp>
        <p:nvSpPr>
          <p:cNvPr id="10"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1"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INTELIGENCIA ENCARNADA</a:t>
            </a:r>
            <a:endParaRPr lang="en-US" sz="720" dirty="0"/>
          </a:p>
        </p:txBody>
      </p:sp>
      <p:sp>
        <p:nvSpPr>
          <p:cNvPr id="12"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10</a:t>
            </a:r>
            <a:endParaRPr lang="en-US" sz="1100" dirty="0"/>
          </a:p>
        </p:txBody>
      </p:sp>
      <p:sp>
        <p:nvSpPr>
          <p:cNvPr id="1002" name="Conceptual illustration disclosure">
            <a:extLst>
              <a:ext uri="{FF2B5EF4-FFF2-40B4-BE49-F238E27FC236}">
                <a16:creationId xmlns:a16="http://schemas.microsoft.com/office/drawing/2014/main" id="{BFE6E117-6461-48DA-84CC-0B63742CDA4E}"/>
              </a:ext>
            </a:extLst>
          </p:cNvPr>
          <p:cNvSpPr>
            <a:spLocks noGrp="1"/>
          </p:cNvSpPr>
          <p:nvPr/>
        </p:nvSpPr>
        <p:spPr>
          <a:xfrm>
            <a:off x="609600" y="6191250"/>
            <a:ext cx="5905500" cy="209550"/>
          </a:xfrm>
          <a:prstGeom prst="rect">
            <a:avLst/>
          </a:prstGeom>
          <a:noFill/>
          <a:ln w="0">
            <a:noFill/>
            <a:prstDash val="solid"/>
          </a:ln>
        </p:spPr>
        <p:txBody>
          <a:bodyPr/>
          <a:lstStyle>
            <a:defPPr>
              <a:defRPr sz="975">
                <a:solidFill>
                  <a:srgbClr val="ADC8D2"/>
                </a:solidFill>
              </a:defRPr>
            </a:defPPr>
            <a:lvl1pPr>
              <a:defRPr sz="975">
                <a:solidFill>
                  <a:srgbClr val="ADC8D2"/>
                </a:solidFill>
              </a:defRPr>
            </a:lvl1pPr>
            <a:lvl2pPr>
              <a:defRPr sz="975">
                <a:solidFill>
                  <a:srgbClr val="ADC8D2"/>
                </a:solidFill>
              </a:defRPr>
            </a:lvl2pPr>
            <a:lvl3pPr>
              <a:defRPr sz="975">
                <a:solidFill>
                  <a:srgbClr val="ADC8D2"/>
                </a:solidFill>
              </a:defRPr>
            </a:lvl3pPr>
            <a:lvl4pPr>
              <a:defRPr sz="975">
                <a:solidFill>
                  <a:srgbClr val="ADC8D2"/>
                </a:solidFill>
              </a:defRPr>
            </a:lvl4pPr>
            <a:lvl5pPr>
              <a:defRPr sz="975">
                <a:solidFill>
                  <a:srgbClr val="ADC8D2"/>
                </a:solidFill>
              </a:defRPr>
            </a:lvl5pPr>
            <a:lvl6pPr>
              <a:defRPr sz="975">
                <a:solidFill>
                  <a:srgbClr val="ADC8D2"/>
                </a:solidFill>
              </a:defRPr>
            </a:lvl6pPr>
            <a:lvl7pPr>
              <a:defRPr sz="975">
                <a:solidFill>
                  <a:srgbClr val="ADC8D2"/>
                </a:solidFill>
              </a:defRPr>
            </a:lvl7pPr>
            <a:lvl8pPr>
              <a:defRPr sz="975">
                <a:solidFill>
                  <a:srgbClr val="ADC8D2"/>
                </a:solidFill>
              </a:defRPr>
            </a:lvl8pPr>
            <a:lvl9pPr>
              <a:defRPr sz="975">
                <a:solidFill>
                  <a:srgbClr val="ADC8D2"/>
                </a:solidFill>
              </a:defRPr>
            </a:lvl9pPr>
          </a:lstStyle>
          <a:p>
            <a:pPr>
              <a:defRPr sz="975">
                <a:solidFill>
                  <a:srgbClr val="ADC8D2"/>
                </a:solidFill>
              </a:defRPr>
            </a:pPr>
            <a:r>
              <a:rPr sz="975">
                <a:solidFill>
                  <a:srgbClr val="ADC8D2"/>
                </a:solidFill>
              </a:rPr>
              <a:t>Ilustración conceptual generada con IA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ACTORES DE IA FÍSICA</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Cuatro empresas, cuatro apuestas distintas</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Marcas emblemáticas, no un ranking de madurez</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ACTORES DE IA FÍSICA</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11</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Fichas oficiales consultadas en octubre de 2026</a:t>
            </a:r>
            <a:endParaRPr lang="en-US" sz="800" dirty="0"/>
          </a:p>
        </p:txBody>
      </p:sp>
      <p:sp>
        <p:nvSpPr>
          <p:cNvPr id="13" name="Shape 11"/>
          <p:cNvSpPr/>
          <p:nvPr/>
        </p:nvSpPr>
        <p:spPr>
          <a:xfrm>
            <a:off x="654025" y="2432304"/>
            <a:ext cx="5298948" cy="1453896"/>
          </a:xfrm>
          <a:prstGeom prst="roundRect">
            <a:avLst/>
          </a:prstGeom>
          <a:solidFill>
            <a:srgbClr val="102B3B"/>
          </a:solidFill>
          <a:ln w="10160">
            <a:solidFill>
              <a:srgbClr val="365061"/>
            </a:solidFill>
            <a:prstDash val="solid"/>
          </a:ln>
        </p:spPr>
      </p:sp>
      <p:sp>
        <p:nvSpPr>
          <p:cNvPr id="14" name="Shape 12"/>
          <p:cNvSpPr/>
          <p:nvPr/>
        </p:nvSpPr>
        <p:spPr>
          <a:xfrm>
            <a:off x="793013" y="2660904"/>
            <a:ext cx="47777" cy="365760"/>
          </a:xfrm>
          <a:prstGeom prst="rect">
            <a:avLst/>
          </a:prstGeom>
          <a:solidFill>
            <a:srgbClr val="F3C56C"/>
          </a:solidFill>
          <a:ln w="12700">
            <a:solidFill>
              <a:srgbClr val="F3C56C">
                <a:alpha val="0"/>
              </a:srgbClr>
            </a:solidFill>
            <a:prstDash val="solid"/>
          </a:ln>
        </p:spPr>
      </p:sp>
      <p:sp>
        <p:nvSpPr>
          <p:cNvPr id="15" name="Text 13"/>
          <p:cNvSpPr/>
          <p:nvPr/>
        </p:nvSpPr>
        <p:spPr>
          <a:xfrm>
            <a:off x="958063" y="2615184"/>
            <a:ext cx="4847234" cy="411480"/>
          </a:xfrm>
          <a:prstGeom prst="rect">
            <a:avLst/>
          </a:prstGeom>
          <a:noFill/>
          <a:ln/>
        </p:spPr>
        <p:txBody>
          <a:bodyPr wrap="square" lIns="0" tIns="0" rIns="0" bIns="0" rtlCol="0" anchor="ctr" vert="horz">
            <a:normAutofit/>
          </a:bodyPr>
          <a:lstStyle/>
          <a:p>
            <a:pPr algn="l" indent="0" marL="0">
              <a:buNone/>
            </a:pPr>
            <a:r>
              <a:rPr lang="en-US" sz="1800" b="1" dirty="0">
                <a:solidFill>
                  <a:srgbClr val="F6EEDF"/>
                </a:solidFill>
                <a:latin typeface="Aptos" pitchFamily="34" charset="0"/>
                <a:ea typeface="Noto Sans SC" pitchFamily="34" charset="-122"/>
                <a:cs typeface="Aptos" pitchFamily="34" charset="-120"/>
              </a:rPr>
              <a:t>UNITREE / 宇树</a:t>
            </a:r>
            <a:endParaRPr lang="en-US" sz="1800" dirty="0"/>
          </a:p>
        </p:txBody>
      </p:sp>
      <p:sp>
        <p:nvSpPr>
          <p:cNvPr id="16" name="Text 14"/>
          <p:cNvSpPr/>
          <p:nvPr/>
        </p:nvSpPr>
        <p:spPr>
          <a:xfrm>
            <a:off x="923315" y="3191256"/>
            <a:ext cx="4786427" cy="557784"/>
          </a:xfrm>
          <a:prstGeom prst="rect">
            <a:avLst/>
          </a:prstGeom>
          <a:noFill/>
          <a:ln/>
        </p:spPr>
        <p:txBody>
          <a:bodyPr wrap="square" lIns="0" tIns="0" rIns="0" bIns="0" rtlCol="0" anchor="t" vert="horz">
            <a:normAutofit/>
          </a:bodyPr>
          <a:lstStyle/>
          <a:p>
            <a:pPr algn="l" indent="0" marL="0">
              <a:buNone/>
            </a:pPr>
            <a:r>
              <a:rPr lang="en-US" sz="1520" dirty="0">
                <a:solidFill>
                  <a:srgbClr val="A8C0CD"/>
                </a:solidFill>
                <a:latin typeface="Aptos" pitchFamily="34" charset="0"/>
                <a:ea typeface="Aptos" pitchFamily="34" charset="-122"/>
                <a:cs typeface="Aptos" pitchFamily="34" charset="-120"/>
              </a:rPr>
              <a:t>G1: agilidad, plataforma humanoide e investigación</a:t>
            </a:r>
            <a:endParaRPr lang="en-US" sz="1520" dirty="0"/>
          </a:p>
        </p:txBody>
      </p:sp>
      <p:sp>
        <p:nvSpPr>
          <p:cNvPr id="17" name="Shape 15"/>
          <p:cNvSpPr/>
          <p:nvPr/>
        </p:nvSpPr>
        <p:spPr>
          <a:xfrm>
            <a:off x="6265697" y="2432304"/>
            <a:ext cx="5298948" cy="1453896"/>
          </a:xfrm>
          <a:prstGeom prst="roundRect">
            <a:avLst/>
          </a:prstGeom>
          <a:solidFill>
            <a:srgbClr val="102B3B"/>
          </a:solidFill>
          <a:ln w="10160">
            <a:solidFill>
              <a:srgbClr val="365061"/>
            </a:solidFill>
            <a:prstDash val="solid"/>
          </a:ln>
        </p:spPr>
      </p:sp>
      <p:sp>
        <p:nvSpPr>
          <p:cNvPr id="18" name="Shape 16"/>
          <p:cNvSpPr/>
          <p:nvPr/>
        </p:nvSpPr>
        <p:spPr>
          <a:xfrm>
            <a:off x="6404686" y="2660904"/>
            <a:ext cx="47777" cy="365760"/>
          </a:xfrm>
          <a:prstGeom prst="rect">
            <a:avLst/>
          </a:prstGeom>
          <a:solidFill>
            <a:srgbClr val="67CADA"/>
          </a:solidFill>
          <a:ln w="12700">
            <a:solidFill>
              <a:srgbClr val="67CADA">
                <a:alpha val="0"/>
              </a:srgbClr>
            </a:solidFill>
            <a:prstDash val="solid"/>
          </a:ln>
        </p:spPr>
      </p:sp>
      <p:sp>
        <p:nvSpPr>
          <p:cNvPr id="19" name="Text 17"/>
          <p:cNvSpPr/>
          <p:nvPr/>
        </p:nvSpPr>
        <p:spPr>
          <a:xfrm>
            <a:off x="6569735" y="2615184"/>
            <a:ext cx="4847234" cy="411480"/>
          </a:xfrm>
          <a:prstGeom prst="rect">
            <a:avLst/>
          </a:prstGeom>
          <a:noFill/>
          <a:ln/>
        </p:spPr>
        <p:txBody>
          <a:bodyPr wrap="square" lIns="0" tIns="0" rIns="0" bIns="0" rtlCol="0" anchor="ctr" vert="horz">
            <a:normAutofit/>
          </a:bodyPr>
          <a:lstStyle/>
          <a:p>
            <a:pPr algn="l" indent="0" marL="0">
              <a:buNone/>
            </a:pPr>
            <a:r>
              <a:rPr lang="en-US" sz="1800" b="1" dirty="0">
                <a:solidFill>
                  <a:srgbClr val="F6EEDF"/>
                </a:solidFill>
                <a:latin typeface="Aptos" pitchFamily="34" charset="0"/>
                <a:ea typeface="Noto Sans SC" pitchFamily="34" charset="-122"/>
                <a:cs typeface="Aptos" pitchFamily="34" charset="-120"/>
              </a:rPr>
              <a:t>UBTECH / 优必选</a:t>
            </a:r>
            <a:endParaRPr lang="en-US" sz="1800" dirty="0"/>
          </a:p>
        </p:txBody>
      </p:sp>
      <p:sp>
        <p:nvSpPr>
          <p:cNvPr id="20" name="Text 18"/>
          <p:cNvSpPr/>
          <p:nvPr/>
        </p:nvSpPr>
        <p:spPr>
          <a:xfrm>
            <a:off x="6534988" y="3191256"/>
            <a:ext cx="4786427" cy="557784"/>
          </a:xfrm>
          <a:prstGeom prst="rect">
            <a:avLst/>
          </a:prstGeom>
          <a:noFill/>
          <a:ln/>
        </p:spPr>
        <p:txBody>
          <a:bodyPr wrap="square" lIns="0" tIns="0" rIns="0" bIns="0" rtlCol="0" anchor="t" vert="horz">
            <a:normAutofit/>
          </a:bodyPr>
          <a:lstStyle/>
          <a:p>
            <a:pPr algn="l" indent="0" marL="0">
              <a:buNone/>
            </a:pPr>
            <a:r>
              <a:rPr lang="en-US" sz="1520" dirty="0">
                <a:solidFill>
                  <a:srgbClr val="A8C0CD"/>
                </a:solidFill>
                <a:latin typeface="Aptos" pitchFamily="34" charset="0"/>
                <a:ea typeface="Aptos" pitchFamily="34" charset="-122"/>
                <a:cs typeface="Aptos" pitchFamily="34" charset="-120"/>
              </a:rPr>
              <a:t>Walker S2: integración en escenarios industriales</a:t>
            </a:r>
            <a:endParaRPr lang="en-US" sz="1520" dirty="0"/>
          </a:p>
        </p:txBody>
      </p:sp>
      <p:sp>
        <p:nvSpPr>
          <p:cNvPr id="21" name="Shape 19"/>
          <p:cNvSpPr/>
          <p:nvPr/>
        </p:nvSpPr>
        <p:spPr>
          <a:xfrm>
            <a:off x="654025" y="4050792"/>
            <a:ext cx="5298948" cy="1453896"/>
          </a:xfrm>
          <a:prstGeom prst="roundRect">
            <a:avLst/>
          </a:prstGeom>
          <a:solidFill>
            <a:srgbClr val="102B3B"/>
          </a:solidFill>
          <a:ln w="10160">
            <a:solidFill>
              <a:srgbClr val="365061"/>
            </a:solidFill>
            <a:prstDash val="solid"/>
          </a:ln>
        </p:spPr>
      </p:sp>
      <p:sp>
        <p:nvSpPr>
          <p:cNvPr id="22" name="Shape 20"/>
          <p:cNvSpPr/>
          <p:nvPr/>
        </p:nvSpPr>
        <p:spPr>
          <a:xfrm>
            <a:off x="793013" y="4279392"/>
            <a:ext cx="47777" cy="365760"/>
          </a:xfrm>
          <a:prstGeom prst="rect">
            <a:avLst/>
          </a:prstGeom>
          <a:solidFill>
            <a:srgbClr val="70C9AD"/>
          </a:solidFill>
          <a:ln w="12700">
            <a:solidFill>
              <a:srgbClr val="70C9AD">
                <a:alpha val="0"/>
              </a:srgbClr>
            </a:solidFill>
            <a:prstDash val="solid"/>
          </a:ln>
        </p:spPr>
      </p:sp>
      <p:sp>
        <p:nvSpPr>
          <p:cNvPr id="23" name="Text 21"/>
          <p:cNvSpPr/>
          <p:nvPr/>
        </p:nvSpPr>
        <p:spPr>
          <a:xfrm>
            <a:off x="958063" y="4233672"/>
            <a:ext cx="4847234" cy="411480"/>
          </a:xfrm>
          <a:prstGeom prst="rect">
            <a:avLst/>
          </a:prstGeom>
          <a:noFill/>
          <a:ln/>
        </p:spPr>
        <p:txBody>
          <a:bodyPr wrap="square" lIns="0" tIns="0" rIns="0" bIns="0" rtlCol="0" anchor="ctr" vert="horz">
            <a:normAutofit/>
          </a:bodyPr>
          <a:lstStyle/>
          <a:p>
            <a:pPr algn="l" indent="0" marL="0">
              <a:buNone/>
            </a:pPr>
            <a:r>
              <a:rPr lang="en-US" sz="1800" b="1" dirty="0">
                <a:solidFill>
                  <a:srgbClr val="F6EEDF"/>
                </a:solidFill>
                <a:latin typeface="Aptos" pitchFamily="34" charset="0"/>
                <a:ea typeface="Noto Sans SC" pitchFamily="34" charset="-122"/>
                <a:cs typeface="Aptos" pitchFamily="34" charset="-120"/>
              </a:rPr>
              <a:t>AGIBOT / 智元</a:t>
            </a:r>
            <a:endParaRPr lang="en-US" sz="1800" dirty="0"/>
          </a:p>
        </p:txBody>
      </p:sp>
      <p:sp>
        <p:nvSpPr>
          <p:cNvPr id="24" name="Text 22"/>
          <p:cNvSpPr/>
          <p:nvPr/>
        </p:nvSpPr>
        <p:spPr>
          <a:xfrm>
            <a:off x="923315" y="4809744"/>
            <a:ext cx="4786427" cy="557784"/>
          </a:xfrm>
          <a:prstGeom prst="rect">
            <a:avLst/>
          </a:prstGeom>
          <a:noFill/>
          <a:ln/>
        </p:spPr>
        <p:txBody>
          <a:bodyPr wrap="square" lIns="0" tIns="0" rIns="0" bIns="0" rtlCol="0" anchor="t" vert="horz">
            <a:normAutofit/>
          </a:bodyPr>
          <a:lstStyle/>
          <a:p>
            <a:pPr algn="l" indent="0" marL="0">
              <a:buNone/>
            </a:pPr>
            <a:r>
              <a:rPr lang="en-US" sz="1520" dirty="0">
                <a:solidFill>
                  <a:srgbClr val="A8C0CD"/>
                </a:solidFill>
                <a:latin typeface="Aptos" pitchFamily="34" charset="0"/>
                <a:ea typeface="Aptos" pitchFamily="34" charset="-122"/>
                <a:cs typeface="Aptos" pitchFamily="34" charset="-120"/>
              </a:rPr>
              <a:t>G2: fabricación y pruebas en líneas productivas</a:t>
            </a:r>
            <a:endParaRPr lang="en-US" sz="1520" dirty="0"/>
          </a:p>
        </p:txBody>
      </p:sp>
      <p:sp>
        <p:nvSpPr>
          <p:cNvPr id="25" name="Shape 23"/>
          <p:cNvSpPr/>
          <p:nvPr/>
        </p:nvSpPr>
        <p:spPr>
          <a:xfrm>
            <a:off x="6265697" y="4050792"/>
            <a:ext cx="5298948" cy="1453896"/>
          </a:xfrm>
          <a:prstGeom prst="roundRect">
            <a:avLst/>
          </a:prstGeom>
          <a:solidFill>
            <a:srgbClr val="102B3B"/>
          </a:solidFill>
          <a:ln w="10160">
            <a:solidFill>
              <a:srgbClr val="365061"/>
            </a:solidFill>
            <a:prstDash val="solid"/>
          </a:ln>
        </p:spPr>
      </p:sp>
      <p:sp>
        <p:nvSpPr>
          <p:cNvPr id="26" name="Shape 24"/>
          <p:cNvSpPr/>
          <p:nvPr/>
        </p:nvSpPr>
        <p:spPr>
          <a:xfrm>
            <a:off x="6404686" y="4279392"/>
            <a:ext cx="47777" cy="365760"/>
          </a:xfrm>
          <a:prstGeom prst="rect">
            <a:avLst/>
          </a:prstGeom>
          <a:solidFill>
            <a:srgbClr val="D8524B"/>
          </a:solidFill>
          <a:ln w="12700">
            <a:solidFill>
              <a:srgbClr val="D8524B">
                <a:alpha val="0"/>
              </a:srgbClr>
            </a:solidFill>
            <a:prstDash val="solid"/>
          </a:ln>
        </p:spPr>
      </p:sp>
      <p:sp>
        <p:nvSpPr>
          <p:cNvPr id="27" name="Text 25"/>
          <p:cNvSpPr/>
          <p:nvPr/>
        </p:nvSpPr>
        <p:spPr>
          <a:xfrm>
            <a:off x="6569735" y="4233672"/>
            <a:ext cx="4847234" cy="411480"/>
          </a:xfrm>
          <a:prstGeom prst="rect">
            <a:avLst/>
          </a:prstGeom>
          <a:noFill/>
          <a:ln/>
        </p:spPr>
        <p:txBody>
          <a:bodyPr wrap="square" lIns="0" tIns="0" rIns="0" bIns="0" rtlCol="0" anchor="ctr" vert="horz">
            <a:normAutofit/>
          </a:bodyPr>
          <a:lstStyle/>
          <a:p>
            <a:pPr algn="l" indent="0" marL="0">
              <a:buNone/>
            </a:pPr>
            <a:r>
              <a:rPr lang="en-US" sz="1800" b="1" dirty="0">
                <a:solidFill>
                  <a:srgbClr val="F6EEDF"/>
                </a:solidFill>
                <a:latin typeface="Aptos" pitchFamily="34" charset="0"/>
                <a:ea typeface="Aptos" pitchFamily="34" charset="-122"/>
                <a:cs typeface="Aptos" pitchFamily="34" charset="-120"/>
              </a:rPr>
              <a:t>XPENG ROBOTICS</a:t>
            </a:r>
            <a:endParaRPr lang="en-US" sz="1800" dirty="0"/>
          </a:p>
        </p:txBody>
      </p:sp>
      <p:sp>
        <p:nvSpPr>
          <p:cNvPr id="28" name="Text 26"/>
          <p:cNvSpPr/>
          <p:nvPr/>
        </p:nvSpPr>
        <p:spPr>
          <a:xfrm>
            <a:off x="6534988" y="4809744"/>
            <a:ext cx="4786427" cy="557784"/>
          </a:xfrm>
          <a:prstGeom prst="rect">
            <a:avLst/>
          </a:prstGeom>
          <a:noFill/>
          <a:ln/>
        </p:spPr>
        <p:txBody>
          <a:bodyPr wrap="square" lIns="0" tIns="0" rIns="0" bIns="0" rtlCol="0" anchor="t" vert="horz">
            <a:normAutofit/>
          </a:bodyPr>
          <a:lstStyle/>
          <a:p>
            <a:pPr algn="l" indent="0" marL="0">
              <a:buNone/>
            </a:pPr>
            <a:r>
              <a:rPr lang="en-US" sz="1520" dirty="0">
                <a:solidFill>
                  <a:srgbClr val="A8C0CD"/>
                </a:solidFill>
                <a:latin typeface="Aptos" pitchFamily="34" charset="0"/>
                <a:ea typeface="Aptos" pitchFamily="34" charset="-122"/>
                <a:cs typeface="Aptos" pitchFamily="34" charset="-120"/>
              </a:rPr>
              <a:t>IRON: apuesta de IA física vinculada al ecosistema de movilidad</a:t>
            </a:r>
            <a:endParaRPr lang="en-US" sz="1520" dirty="0"/>
          </a:p>
        </p:txBody>
      </p:sp>
      <p:sp>
        <p:nvSpPr>
          <p:cNvPr id="29" name="Text 27"/>
          <p:cNvSpPr/>
          <p:nvPr/>
        </p:nvSpPr>
        <p:spPr>
          <a:xfrm>
            <a:off x="749808" y="5989320"/>
            <a:ext cx="10716768" cy="265176"/>
          </a:xfrm>
          <a:prstGeom prst="rect">
            <a:avLst/>
          </a:prstGeom>
          <a:noFill/>
          <a:ln/>
        </p:spPr>
        <p:txBody>
          <a:bodyPr wrap="square" lIns="0" tIns="0" rIns="0" bIns="0" rtlCol="0" anchor="ctr" vert="horz">
            <a:normAutofit/>
          </a:bodyPr>
          <a:lstStyle/>
          <a:p>
            <a:pPr algn="ctr" indent="0" marL="0">
              <a:buNone/>
            </a:pPr>
            <a:r>
              <a:rPr lang="en-US" sz="1480" dirty="0">
                <a:solidFill>
                  <a:srgbClr val="F3C56C"/>
                </a:solidFill>
                <a:latin typeface="Aptos" pitchFamily="34" charset="0"/>
                <a:ea typeface="Aptos" pitchFamily="34" charset="-122"/>
                <a:cs typeface="Aptos" pitchFamily="34" charset="-120"/>
              </a:rPr>
              <a:t>Una ficha comercial describe una propuesta; no prueba productividad sostenida ni generalización.</a:t>
            </a:r>
            <a:endParaRPr lang="en-US" sz="14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CASO EMPRESARIAL · 01</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Unitree G1: movilidad no equivale a oficio</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Noto Sans SC" pitchFamily="34" charset="-122"/>
                <a:cs typeface="Aptos" pitchFamily="34" charset="-120"/>
              </a:rPr>
              <a:t>宇树科技 · Un producto humanoide para desarrollar capacidades</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CASO EMPRESARIAL · 01</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12</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Unitree · ficha de G1</a:t>
            </a:r>
            <a:endParaRPr lang="en-US" sz="800" dirty="0"/>
          </a:p>
        </p:txBody>
      </p:sp>
      <p:pic>
        <p:nvPicPr>
          <p:cNvPr id="13" name="Image 0" descr="Unitree G1. Imagen oficial de producto. Derechos: Unitree Robotics. Fuente: https://www.unitree.com/g1/">    </p:cNvPr>
          <p:cNvPicPr>
            <a:picLocks noChangeAspect="1"/>
          </p:cNvPicPr>
          <p:nvPr/>
        </p:nvPicPr>
        <p:blipFill>
          <a:blip r:embed="rId1"/>
          <a:stretch>
            <a:fillRect/>
          </a:stretch>
        </p:blipFill>
        <p:spPr>
          <a:xfrm>
            <a:off x="6638544" y="2409825"/>
            <a:ext cx="4928616" cy="3095625"/>
          </a:xfrm>
          <a:prstGeom prst="rect">
            <a:avLst/>
          </a:prstGeom>
        </p:spPr>
      </p:pic>
      <p:sp>
        <p:nvSpPr>
          <p:cNvPr id="15" name="Shape 12"/>
          <p:cNvSpPr/>
          <p:nvPr/>
        </p:nvSpPr>
        <p:spPr>
          <a:xfrm>
            <a:off x="722376" y="2514600"/>
            <a:ext cx="5440680" cy="804672"/>
          </a:xfrm>
          <a:prstGeom prst="roundRect">
            <a:avLst/>
          </a:prstGeom>
          <a:solidFill>
            <a:srgbClr val="102B3B"/>
          </a:solidFill>
          <a:ln w="10160">
            <a:solidFill>
              <a:srgbClr val="365061"/>
            </a:solidFill>
            <a:prstDash val="solid"/>
          </a:ln>
        </p:spPr>
      </p:sp>
      <p:sp>
        <p:nvSpPr>
          <p:cNvPr id="16" name="Text 13"/>
          <p:cNvSpPr/>
          <p:nvPr/>
        </p:nvSpPr>
        <p:spPr>
          <a:xfrm>
            <a:off x="914400" y="2633472"/>
            <a:ext cx="1920240" cy="338328"/>
          </a:xfrm>
          <a:prstGeom prst="rect">
            <a:avLst/>
          </a:prstGeom>
          <a:noFill/>
          <a:ln/>
        </p:spPr>
        <p:txBody>
          <a:bodyPr wrap="square" lIns="0" tIns="0" rIns="0" bIns="0" rtlCol="0" anchor="ctr" vert="horz">
            <a:normAutofit/>
          </a:bodyPr>
          <a:lstStyle/>
          <a:p>
            <a:pPr algn="l" indent="0" marL="0">
              <a:buNone/>
            </a:pPr>
            <a:r>
              <a:rPr lang="en-US" sz="2400" b="1" dirty="0">
                <a:solidFill>
                  <a:srgbClr val="F3C56C"/>
                </a:solidFill>
                <a:latin typeface="Aptos" pitchFamily="34" charset="0"/>
                <a:ea typeface="Aptos" pitchFamily="34" charset="-122"/>
                <a:cs typeface="Aptos" pitchFamily="34" charset="-120"/>
              </a:rPr>
              <a:t>≈132 cm</a:t>
            </a:r>
            <a:endParaRPr lang="en-US" sz="2400" dirty="0"/>
          </a:p>
        </p:txBody>
      </p:sp>
      <p:sp>
        <p:nvSpPr>
          <p:cNvPr id="17" name="Text 14"/>
          <p:cNvSpPr/>
          <p:nvPr/>
        </p:nvSpPr>
        <p:spPr>
          <a:xfrm>
            <a:off x="2788920" y="2642616"/>
            <a:ext cx="3026664" cy="338328"/>
          </a:xfrm>
          <a:prstGeom prst="rect">
            <a:avLst/>
          </a:prstGeom>
          <a:noFill/>
          <a:ln/>
        </p:spPr>
        <p:txBody>
          <a:bodyPr wrap="square" lIns="0" tIns="0" rIns="0" bIns="0" rtlCol="0" anchor="ctr" vert="horz">
            <a:normAutofit/>
          </a:bodyPr>
          <a:lstStyle/>
          <a:p>
            <a:pPr algn="l" indent="0" marL="0">
              <a:buNone/>
            </a:pPr>
            <a:r>
              <a:rPr lang="en-US" sz="1530" dirty="0">
                <a:solidFill>
                  <a:srgbClr val="F6EEDF"/>
                </a:solidFill>
                <a:latin typeface="Aptos" pitchFamily="34" charset="0"/>
                <a:ea typeface="Aptos" pitchFamily="34" charset="-122"/>
                <a:cs typeface="Aptos" pitchFamily="34" charset="-120"/>
              </a:rPr>
              <a:t>Altura anunciada</a:t>
            </a:r>
            <a:endParaRPr lang="en-US" sz="1530" dirty="0"/>
          </a:p>
        </p:txBody>
      </p:sp>
      <p:sp>
        <p:nvSpPr>
          <p:cNvPr id="18" name="Shape 15"/>
          <p:cNvSpPr/>
          <p:nvPr/>
        </p:nvSpPr>
        <p:spPr>
          <a:xfrm>
            <a:off x="722376" y="3465576"/>
            <a:ext cx="5440680" cy="804672"/>
          </a:xfrm>
          <a:prstGeom prst="roundRect">
            <a:avLst/>
          </a:prstGeom>
          <a:solidFill>
            <a:srgbClr val="102B3B"/>
          </a:solidFill>
          <a:ln w="10160">
            <a:solidFill>
              <a:srgbClr val="365061"/>
            </a:solidFill>
            <a:prstDash val="solid"/>
          </a:ln>
        </p:spPr>
      </p:sp>
      <p:sp>
        <p:nvSpPr>
          <p:cNvPr id="19" name="Text 16"/>
          <p:cNvSpPr/>
          <p:nvPr/>
        </p:nvSpPr>
        <p:spPr>
          <a:xfrm>
            <a:off x="914400" y="3584448"/>
            <a:ext cx="1920240" cy="338328"/>
          </a:xfrm>
          <a:prstGeom prst="rect">
            <a:avLst/>
          </a:prstGeom>
          <a:noFill/>
          <a:ln/>
        </p:spPr>
        <p:txBody>
          <a:bodyPr wrap="square" lIns="0" tIns="0" rIns="0" bIns="0" rtlCol="0" anchor="ctr" vert="horz">
            <a:normAutofit/>
          </a:bodyPr>
          <a:lstStyle/>
          <a:p>
            <a:pPr algn="l" indent="0" marL="0">
              <a:buNone/>
            </a:pPr>
            <a:r>
              <a:rPr lang="en-US" sz="2400" b="1" dirty="0">
                <a:solidFill>
                  <a:srgbClr val="F3C56C"/>
                </a:solidFill>
                <a:latin typeface="Aptos" pitchFamily="34" charset="0"/>
                <a:ea typeface="Aptos" pitchFamily="34" charset="-122"/>
                <a:cs typeface="Aptos" pitchFamily="34" charset="-120"/>
              </a:rPr>
              <a:t>≈35 kg</a:t>
            </a:r>
            <a:endParaRPr lang="en-US" sz="2400" dirty="0"/>
          </a:p>
        </p:txBody>
      </p:sp>
      <p:sp>
        <p:nvSpPr>
          <p:cNvPr id="20" name="Text 17"/>
          <p:cNvSpPr/>
          <p:nvPr/>
        </p:nvSpPr>
        <p:spPr>
          <a:xfrm>
            <a:off x="2788920" y="3593592"/>
            <a:ext cx="3026664" cy="338328"/>
          </a:xfrm>
          <a:prstGeom prst="rect">
            <a:avLst/>
          </a:prstGeom>
          <a:noFill/>
          <a:ln/>
        </p:spPr>
        <p:txBody>
          <a:bodyPr wrap="square" lIns="0" tIns="0" rIns="0" bIns="0" rtlCol="0" anchor="ctr" vert="horz">
            <a:normAutofit/>
          </a:bodyPr>
          <a:lstStyle/>
          <a:p>
            <a:pPr algn="l" indent="0" marL="0">
              <a:buNone/>
            </a:pPr>
            <a:r>
              <a:rPr lang="en-US" sz="1530" dirty="0">
                <a:solidFill>
                  <a:srgbClr val="F6EEDF"/>
                </a:solidFill>
                <a:latin typeface="Aptos" pitchFamily="34" charset="0"/>
                <a:ea typeface="Aptos" pitchFamily="34" charset="-122"/>
                <a:cs typeface="Aptos" pitchFamily="34" charset="-120"/>
              </a:rPr>
              <a:t>G1; EDU: ≈35 kg o más</a:t>
            </a:r>
            <a:endParaRPr lang="en-US" sz="1530" dirty="0"/>
          </a:p>
        </p:txBody>
      </p:sp>
      <p:sp>
        <p:nvSpPr>
          <p:cNvPr id="21" name="Shape 18"/>
          <p:cNvSpPr/>
          <p:nvPr/>
        </p:nvSpPr>
        <p:spPr>
          <a:xfrm>
            <a:off x="722376" y="4416552"/>
            <a:ext cx="5440680" cy="804672"/>
          </a:xfrm>
          <a:prstGeom prst="roundRect">
            <a:avLst/>
          </a:prstGeom>
          <a:solidFill>
            <a:srgbClr val="102B3B"/>
          </a:solidFill>
          <a:ln w="10160">
            <a:solidFill>
              <a:srgbClr val="365061"/>
            </a:solidFill>
            <a:prstDash val="solid"/>
          </a:ln>
        </p:spPr>
      </p:sp>
      <p:sp>
        <p:nvSpPr>
          <p:cNvPr id="22" name="Text 19"/>
          <p:cNvSpPr/>
          <p:nvPr/>
        </p:nvSpPr>
        <p:spPr>
          <a:xfrm>
            <a:off x="914400" y="4535424"/>
            <a:ext cx="1920240" cy="338328"/>
          </a:xfrm>
          <a:prstGeom prst="rect">
            <a:avLst/>
          </a:prstGeom>
          <a:noFill/>
          <a:ln/>
        </p:spPr>
        <p:txBody>
          <a:bodyPr wrap="square" lIns="0" tIns="0" rIns="0" bIns="0" rtlCol="0" anchor="ctr" vert="horz">
            <a:normAutofit/>
          </a:bodyPr>
          <a:lstStyle/>
          <a:p>
            <a:pPr algn="l" indent="0" marL="0">
              <a:buNone/>
            </a:pPr>
            <a:r>
              <a:rPr lang="en-US" sz="2400" b="1" dirty="0">
                <a:solidFill>
                  <a:srgbClr val="F3C56C"/>
                </a:solidFill>
                <a:latin typeface="Aptos" pitchFamily="34" charset="0"/>
                <a:ea typeface="Aptos" pitchFamily="34" charset="-122"/>
                <a:cs typeface="Aptos" pitchFamily="34" charset="-120"/>
              </a:rPr>
              <a:t>23 / 23–43</a:t>
            </a:r>
            <a:endParaRPr lang="en-US" sz="2400" dirty="0"/>
          </a:p>
        </p:txBody>
      </p:sp>
      <p:sp>
        <p:nvSpPr>
          <p:cNvPr id="23" name="Text 20"/>
          <p:cNvSpPr/>
          <p:nvPr/>
        </p:nvSpPr>
        <p:spPr>
          <a:xfrm>
            <a:off x="2788920" y="4544568"/>
            <a:ext cx="3026664" cy="338328"/>
          </a:xfrm>
          <a:prstGeom prst="rect">
            <a:avLst/>
          </a:prstGeom>
          <a:noFill/>
          <a:ln/>
        </p:spPr>
        <p:txBody>
          <a:bodyPr wrap="square" lIns="0" tIns="0" rIns="0" bIns="0" rtlCol="0" anchor="ctr" vert="horz">
            <a:normAutofit/>
          </a:bodyPr>
          <a:lstStyle/>
          <a:p>
            <a:pPr algn="l" indent="0" marL="0">
              <a:buNone/>
            </a:pPr>
            <a:r>
              <a:rPr lang="en-US" sz="1530" dirty="0">
                <a:solidFill>
                  <a:srgbClr val="F6EEDF"/>
                </a:solidFill>
                <a:latin typeface="Aptos" pitchFamily="34" charset="0"/>
                <a:ea typeface="Aptos" pitchFamily="34" charset="-122"/>
                <a:cs typeface="Aptos" pitchFamily="34" charset="-120"/>
              </a:rPr>
              <a:t>G1 / G1 EDU (DoF)</a:t>
            </a:r>
            <a:endParaRPr lang="en-US" sz="1530" dirty="0"/>
          </a:p>
        </p:txBody>
      </p:sp>
      <p:sp>
        <p:nvSpPr>
          <p:cNvPr id="24" name="Shape 21"/>
          <p:cNvSpPr/>
          <p:nvPr/>
        </p:nvSpPr>
        <p:spPr>
          <a:xfrm>
            <a:off x="6638544" y="5638800"/>
            <a:ext cx="4928616" cy="333375"/>
          </a:xfrm>
          <a:prstGeom prst="roundRect">
            <a:avLst/>
          </a:prstGeom>
          <a:solidFill>
            <a:srgbClr val="071923"/>
          </a:solidFill>
          <a:ln w="10160">
            <a:solidFill>
              <a:srgbClr val="D8524B"/>
            </a:solidFill>
            <a:prstDash val="solid"/>
          </a:ln>
        </p:spPr>
      </p:sp>
      <p:sp>
        <p:nvSpPr>
          <p:cNvPr id="25" name="Text 22"/>
          <p:cNvSpPr/>
          <p:nvPr/>
        </p:nvSpPr>
        <p:spPr>
          <a:xfrm>
            <a:off x="6753225" y="5705475"/>
            <a:ext cx="4705350" cy="228600"/>
          </a:xfrm>
          <a:prstGeom prst="rect">
            <a:avLst/>
          </a:prstGeom>
          <a:noFill/>
          <a:ln/>
        </p:spPr>
        <p:txBody>
          <a:bodyPr wrap="square" lIns="0" tIns="0" rIns="0" bIns="0" rtlCol="0" anchor="ctr" vert="horz">
            <a:normAutofit/>
          </a:bodyPr>
          <a:lstStyle/>
          <a:p>
            <a:pPr algn="ctr" indent="0" marL="0">
              <a:buNone/>
            </a:pPr>
            <a:r>
              <a:rPr lang="en-US" sz="1350" b="1" dirty="0">
                <a:solidFill>
                  <a:srgbClr val="F3C56C"/>
                </a:solidFill>
                <a:latin typeface="Aptos" pitchFamily="34" charset="0"/>
                <a:ea typeface="Aptos" pitchFamily="34" charset="-122"/>
                <a:cs typeface="Aptos" pitchFamily="34" charset="-120"/>
              </a:rPr>
              <a:t>Imagen de producto: Unitree Robotics</a:t>
            </a:r>
            <a:endParaRPr lang="en-US" sz="1620" dirty="0"/>
          </a:p>
        </p:txBody>
      </p:sp>
      <p:sp>
        <p:nvSpPr>
          <p:cNvPr id="26" name="Text 23"/>
          <p:cNvSpPr/>
          <p:nvPr/>
        </p:nvSpPr>
        <p:spPr>
          <a:xfrm>
            <a:off x="786384" y="6117336"/>
            <a:ext cx="10424160" cy="192024"/>
          </a:xfrm>
          <a:prstGeom prst="rect">
            <a:avLst/>
          </a:prstGeom>
          <a:noFill/>
          <a:ln/>
        </p:spPr>
        <p:txBody>
          <a:bodyPr wrap="square" lIns="0" tIns="0" rIns="0" bIns="0" rtlCol="0" anchor="ctr" vert="horz">
            <a:normAutofit/>
          </a:bodyPr>
          <a:lstStyle/>
          <a:p>
            <a:pPr algn="l" indent="0" marL="0">
              <a:buNone/>
            </a:pPr>
            <a:r>
              <a:rPr lang="en-US" sz="1240" dirty="0">
                <a:solidFill>
                  <a:srgbClr val="A8C0CD"/>
                </a:solidFill>
                <a:latin typeface="Aptos" pitchFamily="34" charset="0"/>
                <a:ea typeface="Aptos" pitchFamily="34" charset="-122"/>
                <a:cs typeface="Aptos" pitchFamily="34" charset="-120"/>
              </a:rPr>
              <a:t>Datos declarados por el fabricante; verificar la configuración específica.</a:t>
            </a:r>
            <a:endParaRPr lang="en-US" sz="12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CASO EMPRESARIAL · 02</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UBTECH Walker S2: robot integrado en la fábrica</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Noto Sans SC" pitchFamily="34" charset="-122"/>
                <a:cs typeface="Aptos" pitchFamily="34" charset="-120"/>
              </a:rPr>
              <a:t>优必选 · Energía, visión, manipulación y flujos industriales</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CASO EMPRESARIAL · 02</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13</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UBTECH · ficha oficial 2026</a:t>
            </a:r>
            <a:endParaRPr lang="en-US" sz="800" dirty="0"/>
          </a:p>
        </p:txBody>
      </p:sp>
      <p:sp>
        <p:nvSpPr>
          <p:cNvPr id="13" name="Shape 11"/>
          <p:cNvSpPr/>
          <p:nvPr/>
        </p:nvSpPr>
        <p:spPr>
          <a:xfrm>
            <a:off x="688772" y="2615184"/>
            <a:ext cx="3457346" cy="2103120"/>
          </a:xfrm>
          <a:prstGeom prst="roundRect">
            <a:avLst/>
          </a:prstGeom>
          <a:solidFill>
            <a:srgbClr val="102B3B"/>
          </a:solidFill>
          <a:ln w="10160">
            <a:solidFill>
              <a:srgbClr val="365061"/>
            </a:solidFill>
            <a:prstDash val="solid"/>
          </a:ln>
        </p:spPr>
      </p:sp>
      <p:sp>
        <p:nvSpPr>
          <p:cNvPr id="14" name="Text 12"/>
          <p:cNvSpPr/>
          <p:nvPr/>
        </p:nvSpPr>
        <p:spPr>
          <a:xfrm>
            <a:off x="845134" y="2871216"/>
            <a:ext cx="3127248" cy="548640"/>
          </a:xfrm>
          <a:prstGeom prst="rect">
            <a:avLst/>
          </a:prstGeom>
          <a:noFill/>
          <a:ln/>
        </p:spPr>
        <p:txBody>
          <a:bodyPr wrap="square" lIns="0" tIns="0" rIns="0" bIns="0" rtlCol="0" anchor="ctr" vert="horz">
            <a:normAutofit/>
          </a:bodyPr>
          <a:lstStyle/>
          <a:p>
            <a:pPr algn="ctr" indent="0" marL="0">
              <a:buNone/>
            </a:pPr>
            <a:r>
              <a:rPr lang="en-US" sz="3100" b="1" dirty="0">
                <a:solidFill>
                  <a:srgbClr val="F3C56C"/>
                </a:solidFill>
                <a:latin typeface="Aptos" pitchFamily="34" charset="0"/>
                <a:ea typeface="Aptos" pitchFamily="34" charset="-122"/>
                <a:cs typeface="Aptos" pitchFamily="34" charset="-120"/>
              </a:rPr>
              <a:t>≤3 min</a:t>
            </a:r>
            <a:endParaRPr lang="en-US" sz="3100" dirty="0"/>
          </a:p>
        </p:txBody>
      </p:sp>
      <p:sp>
        <p:nvSpPr>
          <p:cNvPr id="15" name="Shape 13"/>
          <p:cNvSpPr/>
          <p:nvPr/>
        </p:nvSpPr>
        <p:spPr>
          <a:xfrm>
            <a:off x="992810" y="3557016"/>
            <a:ext cx="2840584" cy="0"/>
          </a:xfrm>
          <a:prstGeom prst="line">
            <a:avLst/>
          </a:prstGeom>
          <a:noFill/>
          <a:ln w="10160">
            <a:solidFill>
              <a:srgbClr val="365061"/>
            </a:solidFill>
            <a:prstDash val="solid"/>
          </a:ln>
        </p:spPr>
      </p:sp>
      <p:sp>
        <p:nvSpPr>
          <p:cNvPr id="16" name="Text 14"/>
          <p:cNvSpPr/>
          <p:nvPr/>
        </p:nvSpPr>
        <p:spPr>
          <a:xfrm>
            <a:off x="897255" y="3721608"/>
            <a:ext cx="3031693" cy="576072"/>
          </a:xfrm>
          <a:prstGeom prst="rect">
            <a:avLst/>
          </a:prstGeom>
          <a:noFill/>
          <a:ln/>
        </p:spPr>
        <p:txBody>
          <a:bodyPr wrap="square" lIns="0" tIns="0" rIns="0" bIns="0" rtlCol="0" anchor="ctr" vert="horz">
            <a:normAutofit/>
          </a:bodyPr>
          <a:lstStyle/>
          <a:p>
            <a:pPr algn="ctr" indent="0" marL="0">
              <a:buNone/>
            </a:pPr>
            <a:r>
              <a:rPr lang="en-US" sz="1530" dirty="0">
                <a:solidFill>
                  <a:srgbClr val="F6EEDF"/>
                </a:solidFill>
                <a:latin typeface="Aptos" pitchFamily="34" charset="0"/>
                <a:ea typeface="Aptos" pitchFamily="34" charset="-122"/>
                <a:cs typeface="Aptos" pitchFamily="34" charset="-120"/>
              </a:rPr>
              <a:t>Cambio autónomo de batería declarado</a:t>
            </a:r>
            <a:endParaRPr lang="en-US" sz="1530" dirty="0"/>
          </a:p>
        </p:txBody>
      </p:sp>
      <p:sp>
        <p:nvSpPr>
          <p:cNvPr id="17" name="Shape 15"/>
          <p:cNvSpPr/>
          <p:nvPr/>
        </p:nvSpPr>
        <p:spPr>
          <a:xfrm>
            <a:off x="4354601" y="2615184"/>
            <a:ext cx="3457346" cy="2103120"/>
          </a:xfrm>
          <a:prstGeom prst="roundRect">
            <a:avLst/>
          </a:prstGeom>
          <a:solidFill>
            <a:srgbClr val="102B3B"/>
          </a:solidFill>
          <a:ln w="10160">
            <a:solidFill>
              <a:srgbClr val="365061"/>
            </a:solidFill>
            <a:prstDash val="solid"/>
          </a:ln>
        </p:spPr>
      </p:sp>
      <p:sp>
        <p:nvSpPr>
          <p:cNvPr id="18" name="Text 16"/>
          <p:cNvSpPr/>
          <p:nvPr/>
        </p:nvSpPr>
        <p:spPr>
          <a:xfrm>
            <a:off x="4510964" y="2871216"/>
            <a:ext cx="3127248" cy="548640"/>
          </a:xfrm>
          <a:prstGeom prst="rect">
            <a:avLst/>
          </a:prstGeom>
          <a:noFill/>
          <a:ln/>
        </p:spPr>
        <p:txBody>
          <a:bodyPr wrap="square" lIns="0" tIns="0" rIns="0" bIns="0" rtlCol="0" anchor="ctr" vert="horz">
            <a:normAutofit/>
          </a:bodyPr>
          <a:lstStyle/>
          <a:p>
            <a:pPr algn="ctr" indent="0" marL="0">
              <a:buNone/>
            </a:pPr>
            <a:r>
              <a:rPr lang="en-US" sz="3100" b="1" dirty="0">
                <a:solidFill>
                  <a:srgbClr val="67CADA"/>
                </a:solidFill>
                <a:latin typeface="Aptos" pitchFamily="34" charset="0"/>
                <a:ea typeface="Aptos" pitchFamily="34" charset="-122"/>
                <a:cs typeface="Aptos" pitchFamily="34" charset="-120"/>
              </a:rPr>
              <a:t>15 kg</a:t>
            </a:r>
            <a:endParaRPr lang="en-US" sz="3100" dirty="0"/>
          </a:p>
        </p:txBody>
      </p:sp>
      <p:sp>
        <p:nvSpPr>
          <p:cNvPr id="19" name="Shape 17"/>
          <p:cNvSpPr/>
          <p:nvPr/>
        </p:nvSpPr>
        <p:spPr>
          <a:xfrm>
            <a:off x="4658639" y="3557016"/>
            <a:ext cx="2840584" cy="0"/>
          </a:xfrm>
          <a:prstGeom prst="line">
            <a:avLst/>
          </a:prstGeom>
          <a:noFill/>
          <a:ln w="10160">
            <a:solidFill>
              <a:srgbClr val="365061"/>
            </a:solidFill>
            <a:prstDash val="solid"/>
          </a:ln>
        </p:spPr>
      </p:sp>
      <p:sp>
        <p:nvSpPr>
          <p:cNvPr id="20" name="Text 18"/>
          <p:cNvSpPr/>
          <p:nvPr/>
        </p:nvSpPr>
        <p:spPr>
          <a:xfrm>
            <a:off x="4563085" y="3721608"/>
            <a:ext cx="3031693" cy="576072"/>
          </a:xfrm>
          <a:prstGeom prst="rect">
            <a:avLst/>
          </a:prstGeom>
          <a:noFill/>
          <a:ln/>
        </p:spPr>
        <p:txBody>
          <a:bodyPr wrap="square" lIns="0" tIns="0" rIns="0" bIns="0" rtlCol="0" anchor="ctr" vert="horz">
            <a:normAutofit/>
          </a:bodyPr>
          <a:lstStyle/>
          <a:p>
            <a:pPr algn="ctr" indent="0" marL="0">
              <a:buNone/>
            </a:pPr>
            <a:r>
              <a:rPr lang="en-US" sz="1530" dirty="0">
                <a:solidFill>
                  <a:srgbClr val="F6EEDF"/>
                </a:solidFill>
                <a:latin typeface="Aptos" pitchFamily="34" charset="0"/>
                <a:ea typeface="Aptos" pitchFamily="34" charset="-122"/>
                <a:cs typeface="Aptos" pitchFamily="34" charset="-120"/>
              </a:rPr>
              <a:t>Carga manipulada declarada</a:t>
            </a:r>
            <a:endParaRPr lang="en-US" sz="1530" dirty="0"/>
          </a:p>
        </p:txBody>
      </p:sp>
      <p:sp>
        <p:nvSpPr>
          <p:cNvPr id="21" name="Shape 19"/>
          <p:cNvSpPr/>
          <p:nvPr/>
        </p:nvSpPr>
        <p:spPr>
          <a:xfrm>
            <a:off x="8020431" y="2615184"/>
            <a:ext cx="3457346" cy="2103120"/>
          </a:xfrm>
          <a:prstGeom prst="roundRect">
            <a:avLst/>
          </a:prstGeom>
          <a:solidFill>
            <a:srgbClr val="102B3B"/>
          </a:solidFill>
          <a:ln w="10160">
            <a:solidFill>
              <a:srgbClr val="365061"/>
            </a:solidFill>
            <a:prstDash val="solid"/>
          </a:ln>
        </p:spPr>
      </p:sp>
      <p:sp>
        <p:nvSpPr>
          <p:cNvPr id="22" name="Text 20"/>
          <p:cNvSpPr/>
          <p:nvPr/>
        </p:nvSpPr>
        <p:spPr>
          <a:xfrm>
            <a:off x="8176793" y="2871216"/>
            <a:ext cx="3127248" cy="548640"/>
          </a:xfrm>
          <a:prstGeom prst="rect">
            <a:avLst/>
          </a:prstGeom>
          <a:noFill/>
          <a:ln/>
        </p:spPr>
        <p:txBody>
          <a:bodyPr wrap="square" lIns="0" tIns="0" rIns="0" bIns="0" rtlCol="0" anchor="ctr" vert="horz">
            <a:normAutofit/>
          </a:bodyPr>
          <a:lstStyle/>
          <a:p>
            <a:pPr algn="ctr" indent="0" marL="0">
              <a:buNone/>
            </a:pPr>
            <a:r>
              <a:rPr lang="en-US" sz="2300" b="1" dirty="0">
                <a:solidFill>
                  <a:srgbClr val="70C9AD"/>
                </a:solidFill>
                <a:latin typeface="Aptos" pitchFamily="34" charset="0"/>
                <a:ea typeface="Aptos" pitchFamily="34" charset="-122"/>
                <a:cs typeface="Aptos" pitchFamily="34" charset="-120"/>
              </a:rPr>
              <a:t>Visión estéreo</a:t>
            </a:r>
            <a:endParaRPr lang="en-US" sz="2300" dirty="0"/>
          </a:p>
        </p:txBody>
      </p:sp>
      <p:sp>
        <p:nvSpPr>
          <p:cNvPr id="23" name="Shape 21"/>
          <p:cNvSpPr/>
          <p:nvPr/>
        </p:nvSpPr>
        <p:spPr>
          <a:xfrm>
            <a:off x="8324469" y="3557016"/>
            <a:ext cx="2840584" cy="0"/>
          </a:xfrm>
          <a:prstGeom prst="line">
            <a:avLst/>
          </a:prstGeom>
          <a:noFill/>
          <a:ln w="10160">
            <a:solidFill>
              <a:srgbClr val="365061"/>
            </a:solidFill>
            <a:prstDash val="solid"/>
          </a:ln>
        </p:spPr>
      </p:sp>
      <p:sp>
        <p:nvSpPr>
          <p:cNvPr id="24" name="Text 22"/>
          <p:cNvSpPr/>
          <p:nvPr/>
        </p:nvSpPr>
        <p:spPr>
          <a:xfrm>
            <a:off x="8228914" y="3721608"/>
            <a:ext cx="3031693" cy="576072"/>
          </a:xfrm>
          <a:prstGeom prst="rect">
            <a:avLst/>
          </a:prstGeom>
          <a:noFill/>
          <a:ln/>
        </p:spPr>
        <p:txBody>
          <a:bodyPr wrap="square" lIns="0" tIns="0" rIns="0" bIns="0" rtlCol="0" anchor="ctr" vert="horz">
            <a:normAutofit/>
          </a:bodyPr>
          <a:lstStyle/>
          <a:p>
            <a:pPr algn="ctr" indent="0" marL="0">
              <a:buNone/>
            </a:pPr>
            <a:r>
              <a:rPr lang="en-US" sz="1530" dirty="0">
                <a:solidFill>
                  <a:srgbClr val="F6EEDF"/>
                </a:solidFill>
                <a:latin typeface="Aptos" pitchFamily="34" charset="0"/>
                <a:ea typeface="Aptos" pitchFamily="34" charset="-122"/>
                <a:cs typeface="Aptos" pitchFamily="34" charset="-120"/>
              </a:rPr>
              <a:t>Percepción binocular RGB según la empresa</a:t>
            </a:r>
            <a:endParaRPr lang="en-US" sz="1530" dirty="0"/>
          </a:p>
        </p:txBody>
      </p:sp>
      <p:sp>
        <p:nvSpPr>
          <p:cNvPr id="25" name="Shape 23"/>
          <p:cNvSpPr/>
          <p:nvPr/>
        </p:nvSpPr>
        <p:spPr>
          <a:xfrm>
            <a:off x="1157859" y="5230368"/>
            <a:ext cx="9260129" cy="557784"/>
          </a:xfrm>
          <a:prstGeom prst="roundRect">
            <a:avLst/>
          </a:prstGeom>
          <a:solidFill>
            <a:srgbClr val="061320"/>
          </a:solidFill>
          <a:ln w="10160">
            <a:solidFill>
              <a:srgbClr val="D8524B"/>
            </a:solidFill>
            <a:prstDash val="solid"/>
          </a:ln>
        </p:spPr>
      </p:sp>
      <p:sp>
        <p:nvSpPr>
          <p:cNvPr id="26" name="Text 24"/>
          <p:cNvSpPr/>
          <p:nvPr/>
        </p:nvSpPr>
        <p:spPr>
          <a:xfrm>
            <a:off x="1353312" y="5358384"/>
            <a:ext cx="9345168" cy="283464"/>
          </a:xfrm>
          <a:prstGeom prst="rect">
            <a:avLst/>
          </a:prstGeom>
          <a:noFill/>
          <a:ln/>
        </p:spPr>
        <p:txBody>
          <a:bodyPr wrap="square" lIns="0" tIns="0" rIns="0" bIns="0" rtlCol="0" anchor="ctr" vert="horz">
            <a:normAutofit/>
          </a:bodyPr>
          <a:lstStyle/>
          <a:p>
            <a:pPr algn="ctr" indent="0" marL="0">
              <a:buNone/>
            </a:pPr>
            <a:r>
              <a:rPr lang="en-US" sz="1520" dirty="0">
                <a:solidFill>
                  <a:srgbClr val="F6EEDF"/>
                </a:solidFill>
                <a:latin typeface="Aptos" pitchFamily="34" charset="0"/>
                <a:ea typeface="Aptos" pitchFamily="34" charset="-122"/>
                <a:cs typeface="Aptos" pitchFamily="34" charset="-120"/>
              </a:rPr>
              <a:t>Un cambio de batería no demuestra operación autónoma y productiva 24/7 sin asistencia.</a:t>
            </a:r>
            <a:endParaRPr lang="en-US" sz="15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CASO EMPRESARIAL · 03</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AgiBot: del prototipo al volumen anunciado</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Noto Sans SC" pitchFamily="34" charset="-122"/>
                <a:cs typeface="Aptos" pitchFamily="34" charset="-120"/>
              </a:rPr>
              <a:t>智元机器人 · Cómo interpretar un hito de fabricación</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CASO EMPRESARIAL · 03</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14</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AgiBot · comunicaciones oficiales, junio 2026</a:t>
            </a:r>
            <a:endParaRPr lang="en-US" sz="800" dirty="0"/>
          </a:p>
        </p:txBody>
      </p:sp>
      <p:sp>
        <p:nvSpPr>
          <p:cNvPr id="13" name="Shape 11"/>
          <p:cNvSpPr/>
          <p:nvPr/>
        </p:nvSpPr>
        <p:spPr>
          <a:xfrm>
            <a:off x="749808" y="2468880"/>
            <a:ext cx="5779008" cy="3163824"/>
          </a:xfrm>
          <a:prstGeom prst="roundRect">
            <a:avLst/>
          </a:prstGeom>
          <a:solidFill>
            <a:srgbClr val="102B3B"/>
          </a:solidFill>
          <a:ln w="10160">
            <a:solidFill>
              <a:srgbClr val="365061"/>
            </a:solidFill>
            <a:prstDash val="solid"/>
          </a:ln>
        </p:spPr>
      </p:sp>
      <p:sp>
        <p:nvSpPr>
          <p:cNvPr id="14" name="Text 12"/>
          <p:cNvSpPr/>
          <p:nvPr/>
        </p:nvSpPr>
        <p:spPr>
          <a:xfrm>
            <a:off x="1124712" y="2743200"/>
            <a:ext cx="4892040" cy="941832"/>
          </a:xfrm>
          <a:prstGeom prst="rect">
            <a:avLst/>
          </a:prstGeom>
          <a:noFill/>
          <a:ln/>
        </p:spPr>
        <p:txBody>
          <a:bodyPr wrap="square" lIns="0" tIns="0" rIns="0" bIns="0" rtlCol="0" anchor="ctr" vert="horz">
            <a:normAutofit/>
          </a:bodyPr>
          <a:lstStyle/>
          <a:p>
            <a:pPr algn="ctr" indent="0" marL="0">
              <a:buNone/>
            </a:pPr>
            <a:r>
              <a:rPr lang="en-US" sz="5700" dirty="0">
                <a:solidFill>
                  <a:srgbClr val="F3C56C"/>
                </a:solidFill>
                <a:latin typeface="Georgia" pitchFamily="34" charset="0"/>
                <a:ea typeface="Georgia" pitchFamily="34" charset="-122"/>
                <a:cs typeface="Georgia" pitchFamily="34" charset="-120"/>
              </a:rPr>
              <a:t>15.000</a:t>
            </a:r>
            <a:endParaRPr lang="en-US" sz="5700" dirty="0"/>
          </a:p>
        </p:txBody>
      </p:sp>
      <p:sp>
        <p:nvSpPr>
          <p:cNvPr id="15" name="Text 13"/>
          <p:cNvSpPr/>
          <p:nvPr/>
        </p:nvSpPr>
        <p:spPr>
          <a:xfrm>
            <a:off x="1143000" y="3840480"/>
            <a:ext cx="4974336" cy="804672"/>
          </a:xfrm>
          <a:prstGeom prst="rect">
            <a:avLst/>
          </a:prstGeom>
          <a:noFill/>
          <a:ln/>
        </p:spPr>
        <p:txBody>
          <a:bodyPr wrap="square" lIns="0" tIns="0" rIns="0" bIns="0" rtlCol="0" anchor="ctr" vert="horz">
            <a:normAutofit/>
          </a:bodyPr>
          <a:lstStyle/>
          <a:p>
            <a:pPr algn="ctr" indent="0" marL="0">
              <a:buNone/>
            </a:pPr>
            <a:r>
              <a:rPr lang="en-US" sz="1900" dirty="0">
                <a:solidFill>
                  <a:srgbClr val="F6EEDF"/>
                </a:solidFill>
                <a:latin typeface="Aptos" pitchFamily="34" charset="0"/>
                <a:ea typeface="Aptos" pitchFamily="34" charset="-122"/>
                <a:cs typeface="Aptos" pitchFamily="34" charset="-120"/>
              </a:rPr>
              <a:t>robot número 15.000 producido,</a:t>
            </a:r>
            <a:endParaRPr lang="en-US" sz="1900" dirty="0"/>
          </a:p>
          <a:p>
            <a:pPr algn="ctr" indent="0" marL="0">
              <a:buNone/>
            </a:pPr>
            <a:r>
              <a:rPr lang="en-US" sz="1900" dirty="0">
                <a:solidFill>
                  <a:srgbClr val="F6EEDF"/>
                </a:solidFill>
                <a:latin typeface="Aptos" pitchFamily="34" charset="0"/>
                <a:ea typeface="Aptos" pitchFamily="34" charset="-122"/>
                <a:cs typeface="Aptos" pitchFamily="34" charset="-120"/>
              </a:rPr>
              <a:t>según anuncio empresarial del 28/06/2026</a:t>
            </a:r>
            <a:endParaRPr lang="en-US" sz="1900" dirty="0"/>
          </a:p>
        </p:txBody>
      </p:sp>
      <p:sp>
        <p:nvSpPr>
          <p:cNvPr id="16" name="Shape 14"/>
          <p:cNvSpPr/>
          <p:nvPr/>
        </p:nvSpPr>
        <p:spPr>
          <a:xfrm>
            <a:off x="6821424" y="2459736"/>
            <a:ext cx="4572000" cy="1435608"/>
          </a:xfrm>
          <a:prstGeom prst="roundRect">
            <a:avLst/>
          </a:prstGeom>
          <a:solidFill>
            <a:srgbClr val="102B3B"/>
          </a:solidFill>
          <a:ln w="10160">
            <a:solidFill>
              <a:srgbClr val="365061"/>
            </a:solidFill>
            <a:prstDash val="solid"/>
          </a:ln>
        </p:spPr>
      </p:sp>
      <p:sp>
        <p:nvSpPr>
          <p:cNvPr id="17" name="Shape 15"/>
          <p:cNvSpPr/>
          <p:nvPr/>
        </p:nvSpPr>
        <p:spPr>
          <a:xfrm>
            <a:off x="6967728" y="2688336"/>
            <a:ext cx="50292" cy="365760"/>
          </a:xfrm>
          <a:prstGeom prst="rect">
            <a:avLst/>
          </a:prstGeom>
          <a:solidFill>
            <a:srgbClr val="67CADA"/>
          </a:solidFill>
          <a:ln w="12700">
            <a:solidFill>
              <a:srgbClr val="67CADA">
                <a:alpha val="0"/>
              </a:srgbClr>
            </a:solidFill>
            <a:prstDash val="solid"/>
          </a:ln>
        </p:spPr>
      </p:sp>
      <p:sp>
        <p:nvSpPr>
          <p:cNvPr id="18" name="Text 16"/>
          <p:cNvSpPr/>
          <p:nvPr/>
        </p:nvSpPr>
        <p:spPr>
          <a:xfrm>
            <a:off x="7141464" y="2642616"/>
            <a:ext cx="4096512" cy="411480"/>
          </a:xfrm>
          <a:prstGeom prst="rect">
            <a:avLst/>
          </a:prstGeom>
          <a:noFill/>
          <a:ln/>
        </p:spPr>
        <p:txBody>
          <a:bodyPr wrap="square" lIns="0" tIns="0" rIns="0" bIns="0" rtlCol="0" anchor="ctr" vert="horz">
            <a:normAutofit/>
          </a:bodyPr>
          <a:lstStyle/>
          <a:p>
            <a:pPr algn="l" indent="0" marL="0">
              <a:buNone/>
            </a:pPr>
            <a:r>
              <a:rPr lang="en-US" sz="1700" b="1" dirty="0">
                <a:solidFill>
                  <a:srgbClr val="F6EEDF"/>
                </a:solidFill>
                <a:latin typeface="Aptos" pitchFamily="34" charset="0"/>
                <a:ea typeface="Aptos" pitchFamily="34" charset="-122"/>
                <a:cs typeface="Aptos" pitchFamily="34" charset="-120"/>
              </a:rPr>
              <a:t>PRODUCIDO ≠ VENDIDO</a:t>
            </a:r>
            <a:endParaRPr lang="en-US" sz="1700" dirty="0"/>
          </a:p>
        </p:txBody>
      </p:sp>
      <p:sp>
        <p:nvSpPr>
          <p:cNvPr id="19" name="Text 17"/>
          <p:cNvSpPr/>
          <p:nvPr/>
        </p:nvSpPr>
        <p:spPr>
          <a:xfrm>
            <a:off x="7104888" y="3218688"/>
            <a:ext cx="4032504" cy="539496"/>
          </a:xfrm>
          <a:prstGeom prst="rect">
            <a:avLst/>
          </a:prstGeom>
          <a:noFill/>
          <a:ln/>
        </p:spPr>
        <p:txBody>
          <a:bodyPr wrap="square" lIns="0" tIns="0" rIns="0" bIns="0" rtlCol="0" anchor="t" vert="horz">
            <a:normAutofit/>
          </a:bodyPr>
          <a:lstStyle/>
          <a:p>
            <a:pPr algn="l" indent="0" marL="0">
              <a:buNone/>
            </a:pPr>
            <a:r>
              <a:rPr lang="en-US" sz="1400" dirty="0">
                <a:solidFill>
                  <a:srgbClr val="A8C0CD"/>
                </a:solidFill>
                <a:latin typeface="Aptos" pitchFamily="34" charset="0"/>
                <a:ea typeface="Aptos" pitchFamily="34" charset="-122"/>
                <a:cs typeface="Aptos" pitchFamily="34" charset="-120"/>
              </a:rPr>
              <a:t>Unidades fabricadas no prueban ventas cobradas ni uso productivo.</a:t>
            </a:r>
            <a:endParaRPr lang="en-US" sz="1400" dirty="0"/>
          </a:p>
        </p:txBody>
      </p:sp>
      <p:sp>
        <p:nvSpPr>
          <p:cNvPr id="20" name="Shape 18"/>
          <p:cNvSpPr/>
          <p:nvPr/>
        </p:nvSpPr>
        <p:spPr>
          <a:xfrm>
            <a:off x="6821424" y="4123944"/>
            <a:ext cx="4572000" cy="1435608"/>
          </a:xfrm>
          <a:prstGeom prst="roundRect">
            <a:avLst/>
          </a:prstGeom>
          <a:solidFill>
            <a:srgbClr val="102B3B"/>
          </a:solidFill>
          <a:ln w="10160">
            <a:solidFill>
              <a:srgbClr val="365061"/>
            </a:solidFill>
            <a:prstDash val="solid"/>
          </a:ln>
        </p:spPr>
      </p:sp>
      <p:sp>
        <p:nvSpPr>
          <p:cNvPr id="21" name="Shape 19"/>
          <p:cNvSpPr/>
          <p:nvPr/>
        </p:nvSpPr>
        <p:spPr>
          <a:xfrm>
            <a:off x="6967728" y="4352544"/>
            <a:ext cx="50292" cy="365760"/>
          </a:xfrm>
          <a:prstGeom prst="rect">
            <a:avLst/>
          </a:prstGeom>
          <a:solidFill>
            <a:srgbClr val="D8524B"/>
          </a:solidFill>
          <a:ln w="12700">
            <a:solidFill>
              <a:srgbClr val="D8524B">
                <a:alpha val="0"/>
              </a:srgbClr>
            </a:solidFill>
            <a:prstDash val="solid"/>
          </a:ln>
        </p:spPr>
      </p:sp>
      <p:sp>
        <p:nvSpPr>
          <p:cNvPr id="22" name="Text 20"/>
          <p:cNvSpPr/>
          <p:nvPr/>
        </p:nvSpPr>
        <p:spPr>
          <a:xfrm>
            <a:off x="7141464" y="4306824"/>
            <a:ext cx="4096512" cy="411480"/>
          </a:xfrm>
          <a:prstGeom prst="rect">
            <a:avLst/>
          </a:prstGeom>
          <a:noFill/>
          <a:ln/>
        </p:spPr>
        <p:txBody>
          <a:bodyPr wrap="square" lIns="0" tIns="0" rIns="0" bIns="0" rtlCol="0" anchor="ctr" vert="horz">
            <a:normAutofit/>
          </a:bodyPr>
          <a:lstStyle/>
          <a:p>
            <a:pPr algn="l" indent="0" marL="0">
              <a:buNone/>
            </a:pPr>
            <a:r>
              <a:rPr lang="en-US" sz="1700" b="1" dirty="0">
                <a:solidFill>
                  <a:srgbClr val="F6EEDF"/>
                </a:solidFill>
                <a:latin typeface="Aptos" pitchFamily="34" charset="0"/>
                <a:ea typeface="Aptos" pitchFamily="34" charset="-122"/>
                <a:cs typeface="Aptos" pitchFamily="34" charset="-120"/>
              </a:rPr>
              <a:t>PILOTO ≠ DESPLIEGUE</a:t>
            </a:r>
            <a:endParaRPr lang="en-US" sz="1700" dirty="0"/>
          </a:p>
        </p:txBody>
      </p:sp>
      <p:sp>
        <p:nvSpPr>
          <p:cNvPr id="23" name="Text 21"/>
          <p:cNvSpPr/>
          <p:nvPr/>
        </p:nvSpPr>
        <p:spPr>
          <a:xfrm>
            <a:off x="7104888" y="4882896"/>
            <a:ext cx="4032504" cy="539496"/>
          </a:xfrm>
          <a:prstGeom prst="rect">
            <a:avLst/>
          </a:prstGeom>
          <a:noFill/>
          <a:ln/>
        </p:spPr>
        <p:txBody>
          <a:bodyPr wrap="square" lIns="0" tIns="0" rIns="0" bIns="0" rtlCol="0" anchor="t" vert="horz">
            <a:normAutofit/>
          </a:bodyPr>
          <a:lstStyle/>
          <a:p>
            <a:pPr algn="l" indent="0" marL="0">
              <a:buNone/>
            </a:pPr>
            <a:r>
              <a:rPr lang="en-US" sz="1400" dirty="0">
                <a:solidFill>
                  <a:srgbClr val="A8C0CD"/>
                </a:solidFill>
                <a:latin typeface="Aptos" pitchFamily="34" charset="0"/>
                <a:ea typeface="Aptos" pitchFamily="34" charset="-122"/>
                <a:cs typeface="Aptos" pitchFamily="34" charset="-120"/>
              </a:rPr>
              <a:t>Una prueba fabril requiere mediciones independientes y repetición.</a:t>
            </a:r>
            <a:endParaRPr lang="en-US" sz="1400" dirty="0"/>
          </a:p>
        </p:txBody>
      </p:sp>
      <p:sp>
        <p:nvSpPr>
          <p:cNvPr id="24" name="Text 22"/>
          <p:cNvSpPr/>
          <p:nvPr/>
        </p:nvSpPr>
        <p:spPr>
          <a:xfrm>
            <a:off x="704088" y="5998464"/>
            <a:ext cx="10863072" cy="274320"/>
          </a:xfrm>
          <a:prstGeom prst="rect">
            <a:avLst/>
          </a:prstGeom>
          <a:noFill/>
          <a:ln/>
        </p:spPr>
        <p:txBody>
          <a:bodyPr wrap="square" lIns="0" tIns="0" rIns="0" bIns="0" rtlCol="0" anchor="ctr" vert="horz">
            <a:normAutofit/>
          </a:bodyPr>
          <a:lstStyle/>
          <a:p>
            <a:pPr algn="ctr" indent="0" marL="0">
              <a:buNone/>
            </a:pPr>
            <a:r>
              <a:rPr lang="en-US" sz="1410" dirty="0">
                <a:solidFill>
                  <a:srgbClr val="F3C56C"/>
                </a:solidFill>
                <a:latin typeface="Aptos" pitchFamily="34" charset="0"/>
                <a:ea typeface="Aptos" pitchFamily="34" charset="-122"/>
                <a:cs typeface="Aptos" pitchFamily="34" charset="-120"/>
              </a:rPr>
              <a:t>La cifra es una declaración del fabricante: no mezclar producción, entregas y parque operativo.</a:t>
            </a:r>
            <a:endParaRPr lang="en-US" sz="141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ANATOMÍA DE UN SISTEMA</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Cinco capas dentro de un humanoide</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La autonomía emerge de sistemas integrados, no de un único modelo</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ANATOMÍA DE UN SISTEMA</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15</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Esquema didáctico de arquitectura robótica</a:t>
            </a:r>
            <a:endParaRPr lang="en-US" sz="800" dirty="0"/>
          </a:p>
        </p:txBody>
      </p:sp>
      <p:sp>
        <p:nvSpPr>
          <p:cNvPr id="13" name="Shape 11"/>
          <p:cNvSpPr/>
          <p:nvPr/>
        </p:nvSpPr>
        <p:spPr>
          <a:xfrm>
            <a:off x="1005840" y="2331720"/>
            <a:ext cx="10241280" cy="566928"/>
          </a:xfrm>
          <a:prstGeom prst="roundRect">
            <a:avLst/>
          </a:prstGeom>
          <a:solidFill>
            <a:srgbClr val="102B3B"/>
          </a:solidFill>
          <a:ln w="10160">
            <a:solidFill>
              <a:srgbClr val="365061"/>
            </a:solidFill>
            <a:prstDash val="solid"/>
          </a:ln>
        </p:spPr>
      </p:sp>
      <p:sp>
        <p:nvSpPr>
          <p:cNvPr id="14" name="Shape 12"/>
          <p:cNvSpPr/>
          <p:nvPr/>
        </p:nvSpPr>
        <p:spPr>
          <a:xfrm>
            <a:off x="1188720" y="2441448"/>
            <a:ext cx="356616" cy="356616"/>
          </a:xfrm>
          <a:prstGeom prst="ellipse">
            <a:avLst/>
          </a:prstGeom>
          <a:solidFill>
            <a:srgbClr val="061320"/>
          </a:solidFill>
          <a:ln w="10160">
            <a:solidFill>
              <a:srgbClr val="67CADA"/>
            </a:solidFill>
            <a:prstDash val="solid"/>
          </a:ln>
        </p:spPr>
      </p:sp>
      <p:sp>
        <p:nvSpPr>
          <p:cNvPr id="15" name="Text 13"/>
          <p:cNvSpPr/>
          <p:nvPr/>
        </p:nvSpPr>
        <p:spPr>
          <a:xfrm>
            <a:off x="1234440" y="2528316"/>
            <a:ext cx="256032" cy="164592"/>
          </a:xfrm>
          <a:prstGeom prst="rect">
            <a:avLst/>
          </a:prstGeom>
          <a:noFill/>
          <a:ln/>
        </p:spPr>
        <p:txBody>
          <a:bodyPr wrap="square" lIns="0" tIns="0" rIns="0" bIns="0" rtlCol="0" anchor="ctr" vert="horz">
            <a:normAutofit/>
          </a:bodyPr>
          <a:lstStyle/>
          <a:p>
            <a:pPr algn="ctr" indent="0" marL="0">
              <a:buNone/>
            </a:pPr>
            <a:r>
              <a:rPr lang="en-US" sz="930" b="1" dirty="0">
                <a:solidFill>
                  <a:srgbClr val="67CADA"/>
                </a:solidFill>
                <a:latin typeface="Aptos" pitchFamily="34" charset="0"/>
                <a:ea typeface="Aptos" pitchFamily="34" charset="-122"/>
                <a:cs typeface="Aptos" pitchFamily="34" charset="-120"/>
              </a:rPr>
              <a:t>01</a:t>
            </a:r>
            <a:endParaRPr lang="en-US" sz="930" dirty="0"/>
          </a:p>
        </p:txBody>
      </p:sp>
      <p:sp>
        <p:nvSpPr>
          <p:cNvPr id="16" name="Text 14"/>
          <p:cNvSpPr/>
          <p:nvPr/>
        </p:nvSpPr>
        <p:spPr>
          <a:xfrm>
            <a:off x="1746504" y="2459736"/>
            <a:ext cx="2478024" cy="292608"/>
          </a:xfrm>
          <a:prstGeom prst="rect">
            <a:avLst/>
          </a:prstGeom>
          <a:noFill/>
          <a:ln/>
        </p:spPr>
        <p:txBody>
          <a:bodyPr wrap="square" lIns="0" tIns="0" rIns="0" bIns="0" rtlCol="0" anchor="ctr" vert="horz">
            <a:normAutofit/>
          </a:bodyPr>
          <a:lstStyle/>
          <a:p>
            <a:pPr algn="l" indent="0" marL="0">
              <a:buNone/>
            </a:pPr>
            <a:r>
              <a:rPr lang="en-US" sz="1660" b="1" dirty="0">
                <a:solidFill>
                  <a:srgbClr val="67CADA"/>
                </a:solidFill>
                <a:latin typeface="Aptos" pitchFamily="34" charset="0"/>
                <a:ea typeface="Aptos" pitchFamily="34" charset="-122"/>
                <a:cs typeface="Aptos" pitchFamily="34" charset="-120"/>
              </a:rPr>
              <a:t>SENTIDOS</a:t>
            </a:r>
            <a:endParaRPr lang="en-US" sz="1660" dirty="0"/>
          </a:p>
        </p:txBody>
      </p:sp>
      <p:sp>
        <p:nvSpPr>
          <p:cNvPr id="17" name="Text 15"/>
          <p:cNvSpPr/>
          <p:nvPr/>
        </p:nvSpPr>
        <p:spPr>
          <a:xfrm>
            <a:off x="4325112" y="2468880"/>
            <a:ext cx="6126480" cy="283464"/>
          </a:xfrm>
          <a:prstGeom prst="rect">
            <a:avLst/>
          </a:prstGeom>
          <a:noFill/>
          <a:ln/>
        </p:spPr>
        <p:txBody>
          <a:bodyPr wrap="square" lIns="0" tIns="0" rIns="0" bIns="0" rtlCol="0" anchor="ctr" vert="horz">
            <a:normAutofit/>
          </a:bodyPr>
          <a:lstStyle/>
          <a:p>
            <a:pPr algn="l" indent="0" marL="0">
              <a:buNone/>
            </a:pPr>
            <a:r>
              <a:rPr lang="en-US" sz="1560" dirty="0">
                <a:solidFill>
                  <a:srgbClr val="F6EEDF"/>
                </a:solidFill>
                <a:latin typeface="Aptos" pitchFamily="34" charset="0"/>
                <a:ea typeface="Aptos" pitchFamily="34" charset="-122"/>
                <a:cs typeface="Aptos" pitchFamily="34" charset="-120"/>
              </a:rPr>
              <a:t>Cámaras, profundidad, IMU, fuerza</a:t>
            </a:r>
            <a:endParaRPr lang="en-US" sz="1560" dirty="0"/>
          </a:p>
        </p:txBody>
      </p:sp>
      <p:sp>
        <p:nvSpPr>
          <p:cNvPr id="18" name="Shape 16"/>
          <p:cNvSpPr/>
          <p:nvPr/>
        </p:nvSpPr>
        <p:spPr>
          <a:xfrm>
            <a:off x="1353312" y="2898648"/>
            <a:ext cx="0" cy="100584"/>
          </a:xfrm>
          <a:prstGeom prst="line">
            <a:avLst/>
          </a:prstGeom>
          <a:noFill/>
          <a:ln w="15240">
            <a:solidFill>
              <a:srgbClr val="F3C56C"/>
            </a:solidFill>
            <a:prstDash val="solid"/>
          </a:ln>
        </p:spPr>
      </p:sp>
      <p:sp>
        <p:nvSpPr>
          <p:cNvPr id="19" name="Shape 17"/>
          <p:cNvSpPr/>
          <p:nvPr/>
        </p:nvSpPr>
        <p:spPr>
          <a:xfrm>
            <a:off x="1005840" y="2999232"/>
            <a:ext cx="10241280" cy="566928"/>
          </a:xfrm>
          <a:prstGeom prst="roundRect">
            <a:avLst/>
          </a:prstGeom>
          <a:solidFill>
            <a:srgbClr val="102B3B"/>
          </a:solidFill>
          <a:ln w="10160">
            <a:solidFill>
              <a:srgbClr val="365061"/>
            </a:solidFill>
            <a:prstDash val="solid"/>
          </a:ln>
        </p:spPr>
      </p:sp>
      <p:sp>
        <p:nvSpPr>
          <p:cNvPr id="20" name="Shape 18"/>
          <p:cNvSpPr/>
          <p:nvPr/>
        </p:nvSpPr>
        <p:spPr>
          <a:xfrm>
            <a:off x="1188720" y="3108960"/>
            <a:ext cx="356616" cy="356616"/>
          </a:xfrm>
          <a:prstGeom prst="ellipse">
            <a:avLst/>
          </a:prstGeom>
          <a:solidFill>
            <a:srgbClr val="061320"/>
          </a:solidFill>
          <a:ln w="10160">
            <a:solidFill>
              <a:srgbClr val="F3C56C"/>
            </a:solidFill>
            <a:prstDash val="solid"/>
          </a:ln>
        </p:spPr>
      </p:sp>
      <p:sp>
        <p:nvSpPr>
          <p:cNvPr id="21" name="Text 19"/>
          <p:cNvSpPr/>
          <p:nvPr/>
        </p:nvSpPr>
        <p:spPr>
          <a:xfrm>
            <a:off x="1234440" y="3195828"/>
            <a:ext cx="256032" cy="164592"/>
          </a:xfrm>
          <a:prstGeom prst="rect">
            <a:avLst/>
          </a:prstGeom>
          <a:noFill/>
          <a:ln/>
        </p:spPr>
        <p:txBody>
          <a:bodyPr wrap="square" lIns="0" tIns="0" rIns="0" bIns="0" rtlCol="0" anchor="ctr" vert="horz">
            <a:normAutofit/>
          </a:bodyPr>
          <a:lstStyle/>
          <a:p>
            <a:pPr algn="ctr" indent="0" marL="0">
              <a:buNone/>
            </a:pPr>
            <a:r>
              <a:rPr lang="en-US" sz="930" b="1" dirty="0">
                <a:solidFill>
                  <a:srgbClr val="F3C56C"/>
                </a:solidFill>
                <a:latin typeface="Aptos" pitchFamily="34" charset="0"/>
                <a:ea typeface="Aptos" pitchFamily="34" charset="-122"/>
                <a:cs typeface="Aptos" pitchFamily="34" charset="-120"/>
              </a:rPr>
              <a:t>02</a:t>
            </a:r>
            <a:endParaRPr lang="en-US" sz="930" dirty="0"/>
          </a:p>
        </p:txBody>
      </p:sp>
      <p:sp>
        <p:nvSpPr>
          <p:cNvPr id="22" name="Text 20"/>
          <p:cNvSpPr/>
          <p:nvPr/>
        </p:nvSpPr>
        <p:spPr>
          <a:xfrm>
            <a:off x="1746504" y="3127248"/>
            <a:ext cx="2478024" cy="292608"/>
          </a:xfrm>
          <a:prstGeom prst="rect">
            <a:avLst/>
          </a:prstGeom>
          <a:noFill/>
          <a:ln/>
        </p:spPr>
        <p:txBody>
          <a:bodyPr wrap="square" lIns="0" tIns="0" rIns="0" bIns="0" rtlCol="0" anchor="ctr" vert="horz">
            <a:normAutofit/>
          </a:bodyPr>
          <a:lstStyle/>
          <a:p>
            <a:pPr algn="l" indent="0" marL="0">
              <a:buNone/>
            </a:pPr>
            <a:r>
              <a:rPr lang="en-US" sz="1660" b="1" dirty="0">
                <a:solidFill>
                  <a:srgbClr val="F3C56C"/>
                </a:solidFill>
                <a:latin typeface="Aptos" pitchFamily="34" charset="0"/>
                <a:ea typeface="Aptos" pitchFamily="34" charset="-122"/>
                <a:cs typeface="Aptos" pitchFamily="34" charset="-120"/>
              </a:rPr>
              <a:t>PERCEPCIÓN</a:t>
            </a:r>
            <a:endParaRPr lang="en-US" sz="1660" dirty="0"/>
          </a:p>
        </p:txBody>
      </p:sp>
      <p:sp>
        <p:nvSpPr>
          <p:cNvPr id="23" name="Text 21"/>
          <p:cNvSpPr/>
          <p:nvPr/>
        </p:nvSpPr>
        <p:spPr>
          <a:xfrm>
            <a:off x="4325112" y="3136392"/>
            <a:ext cx="6126480" cy="283464"/>
          </a:xfrm>
          <a:prstGeom prst="rect">
            <a:avLst/>
          </a:prstGeom>
          <a:noFill/>
          <a:ln/>
        </p:spPr>
        <p:txBody>
          <a:bodyPr wrap="square" lIns="0" tIns="0" rIns="0" bIns="0" rtlCol="0" anchor="ctr" vert="horz">
            <a:normAutofit/>
          </a:bodyPr>
          <a:lstStyle/>
          <a:p>
            <a:pPr algn="l" indent="0" marL="0">
              <a:buNone/>
            </a:pPr>
            <a:r>
              <a:rPr lang="en-US" sz="1560" dirty="0">
                <a:solidFill>
                  <a:srgbClr val="F6EEDF"/>
                </a:solidFill>
                <a:latin typeface="Aptos" pitchFamily="34" charset="0"/>
                <a:ea typeface="Aptos" pitchFamily="34" charset="-122"/>
                <a:cs typeface="Aptos" pitchFamily="34" charset="-120"/>
              </a:rPr>
              <a:t>Objetos, geometría, estado y contexto</a:t>
            </a:r>
            <a:endParaRPr lang="en-US" sz="1560" dirty="0"/>
          </a:p>
        </p:txBody>
      </p:sp>
      <p:sp>
        <p:nvSpPr>
          <p:cNvPr id="24" name="Shape 22"/>
          <p:cNvSpPr/>
          <p:nvPr/>
        </p:nvSpPr>
        <p:spPr>
          <a:xfrm>
            <a:off x="1353312" y="3566160"/>
            <a:ext cx="0" cy="100584"/>
          </a:xfrm>
          <a:prstGeom prst="line">
            <a:avLst/>
          </a:prstGeom>
          <a:noFill/>
          <a:ln w="15240">
            <a:solidFill>
              <a:srgbClr val="F3C56C"/>
            </a:solidFill>
            <a:prstDash val="solid"/>
          </a:ln>
        </p:spPr>
      </p:sp>
      <p:sp>
        <p:nvSpPr>
          <p:cNvPr id="25" name="Shape 23"/>
          <p:cNvSpPr/>
          <p:nvPr/>
        </p:nvSpPr>
        <p:spPr>
          <a:xfrm>
            <a:off x="1005840" y="3666744"/>
            <a:ext cx="10241280" cy="566928"/>
          </a:xfrm>
          <a:prstGeom prst="roundRect">
            <a:avLst/>
          </a:prstGeom>
          <a:solidFill>
            <a:srgbClr val="102B3B"/>
          </a:solidFill>
          <a:ln w="10160">
            <a:solidFill>
              <a:srgbClr val="365061"/>
            </a:solidFill>
            <a:prstDash val="solid"/>
          </a:ln>
        </p:spPr>
      </p:sp>
      <p:sp>
        <p:nvSpPr>
          <p:cNvPr id="26" name="Shape 24"/>
          <p:cNvSpPr/>
          <p:nvPr/>
        </p:nvSpPr>
        <p:spPr>
          <a:xfrm>
            <a:off x="1188720" y="3776472"/>
            <a:ext cx="356616" cy="356616"/>
          </a:xfrm>
          <a:prstGeom prst="ellipse">
            <a:avLst/>
          </a:prstGeom>
          <a:solidFill>
            <a:srgbClr val="061320"/>
          </a:solidFill>
          <a:ln w="10160">
            <a:solidFill>
              <a:srgbClr val="70C9AD"/>
            </a:solidFill>
            <a:prstDash val="solid"/>
          </a:ln>
        </p:spPr>
      </p:sp>
      <p:sp>
        <p:nvSpPr>
          <p:cNvPr id="27" name="Text 25"/>
          <p:cNvSpPr/>
          <p:nvPr/>
        </p:nvSpPr>
        <p:spPr>
          <a:xfrm>
            <a:off x="1234440" y="3863340"/>
            <a:ext cx="256032" cy="164592"/>
          </a:xfrm>
          <a:prstGeom prst="rect">
            <a:avLst/>
          </a:prstGeom>
          <a:noFill/>
          <a:ln/>
        </p:spPr>
        <p:txBody>
          <a:bodyPr wrap="square" lIns="0" tIns="0" rIns="0" bIns="0" rtlCol="0" anchor="ctr" vert="horz">
            <a:normAutofit/>
          </a:bodyPr>
          <a:lstStyle/>
          <a:p>
            <a:pPr algn="ctr" indent="0" marL="0">
              <a:buNone/>
            </a:pPr>
            <a:r>
              <a:rPr lang="en-US" sz="930" b="1" dirty="0">
                <a:solidFill>
                  <a:srgbClr val="70C9AD"/>
                </a:solidFill>
                <a:latin typeface="Aptos" pitchFamily="34" charset="0"/>
                <a:ea typeface="Aptos" pitchFamily="34" charset="-122"/>
                <a:cs typeface="Aptos" pitchFamily="34" charset="-120"/>
              </a:rPr>
              <a:t>03</a:t>
            </a:r>
            <a:endParaRPr lang="en-US" sz="930" dirty="0"/>
          </a:p>
        </p:txBody>
      </p:sp>
      <p:sp>
        <p:nvSpPr>
          <p:cNvPr id="28" name="Text 26"/>
          <p:cNvSpPr/>
          <p:nvPr/>
        </p:nvSpPr>
        <p:spPr>
          <a:xfrm>
            <a:off x="1746504" y="3794760"/>
            <a:ext cx="2478024" cy="292608"/>
          </a:xfrm>
          <a:prstGeom prst="rect">
            <a:avLst/>
          </a:prstGeom>
          <a:noFill/>
          <a:ln/>
        </p:spPr>
        <p:txBody>
          <a:bodyPr wrap="square" lIns="0" tIns="0" rIns="0" bIns="0" rtlCol="0" anchor="ctr" vert="horz">
            <a:normAutofit/>
          </a:bodyPr>
          <a:lstStyle/>
          <a:p>
            <a:pPr algn="l" indent="0" marL="0">
              <a:buNone/>
            </a:pPr>
            <a:r>
              <a:rPr lang="en-US" sz="1660" b="1" dirty="0">
                <a:solidFill>
                  <a:srgbClr val="70C9AD"/>
                </a:solidFill>
                <a:latin typeface="Aptos" pitchFamily="34" charset="0"/>
                <a:ea typeface="Aptos" pitchFamily="34" charset="-122"/>
                <a:cs typeface="Aptos" pitchFamily="34" charset="-120"/>
              </a:rPr>
              <a:t>PLANIFICACIÓN</a:t>
            </a:r>
            <a:endParaRPr lang="en-US" sz="1660" dirty="0"/>
          </a:p>
        </p:txBody>
      </p:sp>
      <p:sp>
        <p:nvSpPr>
          <p:cNvPr id="29" name="Text 27"/>
          <p:cNvSpPr/>
          <p:nvPr/>
        </p:nvSpPr>
        <p:spPr>
          <a:xfrm>
            <a:off x="4325112" y="3803904"/>
            <a:ext cx="6126480" cy="283464"/>
          </a:xfrm>
          <a:prstGeom prst="rect">
            <a:avLst/>
          </a:prstGeom>
          <a:noFill/>
          <a:ln/>
        </p:spPr>
        <p:txBody>
          <a:bodyPr wrap="square" lIns="0" tIns="0" rIns="0" bIns="0" rtlCol="0" anchor="ctr" vert="horz">
            <a:normAutofit/>
          </a:bodyPr>
          <a:lstStyle/>
          <a:p>
            <a:pPr algn="l" indent="0" marL="0">
              <a:buNone/>
            </a:pPr>
            <a:r>
              <a:rPr lang="en-US" sz="1560" dirty="0">
                <a:solidFill>
                  <a:srgbClr val="F6EEDF"/>
                </a:solidFill>
                <a:latin typeface="Aptos" pitchFamily="34" charset="0"/>
                <a:ea typeface="Aptos" pitchFamily="34" charset="-122"/>
                <a:cs typeface="Aptos" pitchFamily="34" charset="-120"/>
              </a:rPr>
              <a:t>Metas, rutas, secuencias y restricciones</a:t>
            </a:r>
            <a:endParaRPr lang="en-US" sz="1560" dirty="0"/>
          </a:p>
        </p:txBody>
      </p:sp>
      <p:sp>
        <p:nvSpPr>
          <p:cNvPr id="30" name="Shape 28"/>
          <p:cNvSpPr/>
          <p:nvPr/>
        </p:nvSpPr>
        <p:spPr>
          <a:xfrm>
            <a:off x="1353312" y="4233672"/>
            <a:ext cx="0" cy="100584"/>
          </a:xfrm>
          <a:prstGeom prst="line">
            <a:avLst/>
          </a:prstGeom>
          <a:noFill/>
          <a:ln w="15240">
            <a:solidFill>
              <a:srgbClr val="F3C56C"/>
            </a:solidFill>
            <a:prstDash val="solid"/>
          </a:ln>
        </p:spPr>
      </p:sp>
      <p:sp>
        <p:nvSpPr>
          <p:cNvPr id="31" name="Shape 29"/>
          <p:cNvSpPr/>
          <p:nvPr/>
        </p:nvSpPr>
        <p:spPr>
          <a:xfrm>
            <a:off x="1005840" y="4334256"/>
            <a:ext cx="10241280" cy="566928"/>
          </a:xfrm>
          <a:prstGeom prst="roundRect">
            <a:avLst/>
          </a:prstGeom>
          <a:solidFill>
            <a:srgbClr val="102B3B"/>
          </a:solidFill>
          <a:ln w="10160">
            <a:solidFill>
              <a:srgbClr val="365061"/>
            </a:solidFill>
            <a:prstDash val="solid"/>
          </a:ln>
        </p:spPr>
      </p:sp>
      <p:sp>
        <p:nvSpPr>
          <p:cNvPr id="32" name="Shape 30"/>
          <p:cNvSpPr/>
          <p:nvPr/>
        </p:nvSpPr>
        <p:spPr>
          <a:xfrm>
            <a:off x="1188720" y="4443984"/>
            <a:ext cx="356616" cy="356616"/>
          </a:xfrm>
          <a:prstGeom prst="ellipse">
            <a:avLst/>
          </a:prstGeom>
          <a:solidFill>
            <a:srgbClr val="061320"/>
          </a:solidFill>
          <a:ln w="10160">
            <a:solidFill>
              <a:srgbClr val="D8524B"/>
            </a:solidFill>
            <a:prstDash val="solid"/>
          </a:ln>
        </p:spPr>
      </p:sp>
      <p:sp>
        <p:nvSpPr>
          <p:cNvPr id="33" name="Text 31"/>
          <p:cNvSpPr/>
          <p:nvPr/>
        </p:nvSpPr>
        <p:spPr>
          <a:xfrm>
            <a:off x="1234440" y="4530852"/>
            <a:ext cx="256032" cy="164592"/>
          </a:xfrm>
          <a:prstGeom prst="rect">
            <a:avLst/>
          </a:prstGeom>
          <a:noFill/>
          <a:ln/>
        </p:spPr>
        <p:txBody>
          <a:bodyPr wrap="square" lIns="0" tIns="0" rIns="0" bIns="0" rtlCol="0" anchor="ctr" vert="horz">
            <a:normAutofit/>
          </a:bodyPr>
          <a:lstStyle/>
          <a:p>
            <a:pPr algn="ctr" indent="0" marL="0">
              <a:buNone/>
            </a:pPr>
            <a:r>
              <a:rPr lang="en-US" sz="930" b="1" dirty="0">
                <a:solidFill>
                  <a:srgbClr val="D8524B"/>
                </a:solidFill>
                <a:latin typeface="Aptos" pitchFamily="34" charset="0"/>
                <a:ea typeface="Aptos" pitchFamily="34" charset="-122"/>
                <a:cs typeface="Aptos" pitchFamily="34" charset="-120"/>
              </a:rPr>
              <a:t>04</a:t>
            </a:r>
            <a:endParaRPr lang="en-US" sz="930" dirty="0"/>
          </a:p>
        </p:txBody>
      </p:sp>
      <p:sp>
        <p:nvSpPr>
          <p:cNvPr id="34" name="Text 32"/>
          <p:cNvSpPr/>
          <p:nvPr/>
        </p:nvSpPr>
        <p:spPr>
          <a:xfrm>
            <a:off x="1746504" y="4462272"/>
            <a:ext cx="2478024" cy="292608"/>
          </a:xfrm>
          <a:prstGeom prst="rect">
            <a:avLst/>
          </a:prstGeom>
          <a:noFill/>
          <a:ln/>
        </p:spPr>
        <p:txBody>
          <a:bodyPr wrap="square" lIns="0" tIns="0" rIns="0" bIns="0" rtlCol="0" anchor="ctr" vert="horz">
            <a:normAutofit/>
          </a:bodyPr>
          <a:lstStyle/>
          <a:p>
            <a:pPr algn="l" indent="0" marL="0">
              <a:buNone/>
            </a:pPr>
            <a:r>
              <a:rPr lang="en-US" sz="1660" b="1" dirty="0">
                <a:solidFill>
                  <a:srgbClr val="D8524B"/>
                </a:solidFill>
                <a:latin typeface="Aptos" pitchFamily="34" charset="0"/>
                <a:ea typeface="Aptos" pitchFamily="34" charset="-122"/>
                <a:cs typeface="Aptos" pitchFamily="34" charset="-120"/>
              </a:rPr>
              <a:t>CONTROL</a:t>
            </a:r>
            <a:endParaRPr lang="en-US" sz="1660" dirty="0"/>
          </a:p>
        </p:txBody>
      </p:sp>
      <p:sp>
        <p:nvSpPr>
          <p:cNvPr id="35" name="Text 33"/>
          <p:cNvSpPr/>
          <p:nvPr/>
        </p:nvSpPr>
        <p:spPr>
          <a:xfrm>
            <a:off x="4325112" y="4471416"/>
            <a:ext cx="6126480" cy="283464"/>
          </a:xfrm>
          <a:prstGeom prst="rect">
            <a:avLst/>
          </a:prstGeom>
          <a:noFill/>
          <a:ln/>
        </p:spPr>
        <p:txBody>
          <a:bodyPr wrap="square" lIns="0" tIns="0" rIns="0" bIns="0" rtlCol="0" anchor="ctr" vert="horz">
            <a:normAutofit/>
          </a:bodyPr>
          <a:lstStyle/>
          <a:p>
            <a:pPr algn="l" indent="0" marL="0">
              <a:buNone/>
            </a:pPr>
            <a:r>
              <a:rPr lang="en-US" sz="1560" dirty="0">
                <a:solidFill>
                  <a:srgbClr val="F6EEDF"/>
                </a:solidFill>
                <a:latin typeface="Aptos" pitchFamily="34" charset="0"/>
                <a:ea typeface="Aptos" pitchFamily="34" charset="-122"/>
                <a:cs typeface="Aptos" pitchFamily="34" charset="-120"/>
              </a:rPr>
              <a:t>Políticas de movimiento y correcciones</a:t>
            </a:r>
            <a:endParaRPr lang="en-US" sz="1560" dirty="0"/>
          </a:p>
        </p:txBody>
      </p:sp>
      <p:sp>
        <p:nvSpPr>
          <p:cNvPr id="36" name="Shape 34"/>
          <p:cNvSpPr/>
          <p:nvPr/>
        </p:nvSpPr>
        <p:spPr>
          <a:xfrm>
            <a:off x="1353312" y="4901184"/>
            <a:ext cx="0" cy="100584"/>
          </a:xfrm>
          <a:prstGeom prst="line">
            <a:avLst/>
          </a:prstGeom>
          <a:noFill/>
          <a:ln w="15240">
            <a:solidFill>
              <a:srgbClr val="F3C56C"/>
            </a:solidFill>
            <a:prstDash val="solid"/>
          </a:ln>
        </p:spPr>
      </p:sp>
      <p:sp>
        <p:nvSpPr>
          <p:cNvPr id="37" name="Shape 35"/>
          <p:cNvSpPr/>
          <p:nvPr/>
        </p:nvSpPr>
        <p:spPr>
          <a:xfrm>
            <a:off x="1005840" y="5001768"/>
            <a:ext cx="10241280" cy="566928"/>
          </a:xfrm>
          <a:prstGeom prst="roundRect">
            <a:avLst/>
          </a:prstGeom>
          <a:solidFill>
            <a:srgbClr val="102B3B"/>
          </a:solidFill>
          <a:ln w="10160">
            <a:solidFill>
              <a:srgbClr val="365061"/>
            </a:solidFill>
            <a:prstDash val="solid"/>
          </a:ln>
        </p:spPr>
      </p:sp>
      <p:sp>
        <p:nvSpPr>
          <p:cNvPr id="38" name="Shape 36"/>
          <p:cNvSpPr/>
          <p:nvPr/>
        </p:nvSpPr>
        <p:spPr>
          <a:xfrm>
            <a:off x="1188720" y="5111496"/>
            <a:ext cx="356616" cy="356616"/>
          </a:xfrm>
          <a:prstGeom prst="ellipse">
            <a:avLst/>
          </a:prstGeom>
          <a:solidFill>
            <a:srgbClr val="061320"/>
          </a:solidFill>
          <a:ln w="10160">
            <a:solidFill>
              <a:srgbClr val="67CADA"/>
            </a:solidFill>
            <a:prstDash val="solid"/>
          </a:ln>
        </p:spPr>
      </p:sp>
      <p:sp>
        <p:nvSpPr>
          <p:cNvPr id="39" name="Text 37"/>
          <p:cNvSpPr/>
          <p:nvPr/>
        </p:nvSpPr>
        <p:spPr>
          <a:xfrm>
            <a:off x="1234440" y="5198364"/>
            <a:ext cx="256032" cy="164592"/>
          </a:xfrm>
          <a:prstGeom prst="rect">
            <a:avLst/>
          </a:prstGeom>
          <a:noFill/>
          <a:ln/>
        </p:spPr>
        <p:txBody>
          <a:bodyPr wrap="square" lIns="0" tIns="0" rIns="0" bIns="0" rtlCol="0" anchor="ctr" vert="horz">
            <a:normAutofit/>
          </a:bodyPr>
          <a:lstStyle/>
          <a:p>
            <a:pPr algn="ctr" indent="0" marL="0">
              <a:buNone/>
            </a:pPr>
            <a:r>
              <a:rPr lang="en-US" sz="930" b="1" dirty="0">
                <a:solidFill>
                  <a:srgbClr val="67CADA"/>
                </a:solidFill>
                <a:latin typeface="Aptos" pitchFamily="34" charset="0"/>
                <a:ea typeface="Aptos" pitchFamily="34" charset="-122"/>
                <a:cs typeface="Aptos" pitchFamily="34" charset="-120"/>
              </a:rPr>
              <a:t>05</a:t>
            </a:r>
            <a:endParaRPr lang="en-US" sz="930" dirty="0"/>
          </a:p>
        </p:txBody>
      </p:sp>
      <p:sp>
        <p:nvSpPr>
          <p:cNvPr id="40" name="Text 38"/>
          <p:cNvSpPr/>
          <p:nvPr/>
        </p:nvSpPr>
        <p:spPr>
          <a:xfrm>
            <a:off x="1746504" y="5129784"/>
            <a:ext cx="2478024" cy="292608"/>
          </a:xfrm>
          <a:prstGeom prst="rect">
            <a:avLst/>
          </a:prstGeom>
          <a:noFill/>
          <a:ln/>
        </p:spPr>
        <p:txBody>
          <a:bodyPr wrap="square" lIns="0" tIns="0" rIns="0" bIns="0" rtlCol="0" anchor="ctr" vert="horz">
            <a:normAutofit/>
          </a:bodyPr>
          <a:lstStyle/>
          <a:p>
            <a:pPr algn="l" indent="0" marL="0">
              <a:buNone/>
            </a:pPr>
            <a:r>
              <a:rPr lang="en-US" sz="1660" b="1" dirty="0">
                <a:solidFill>
                  <a:srgbClr val="67CADA"/>
                </a:solidFill>
                <a:latin typeface="Aptos" pitchFamily="34" charset="0"/>
                <a:ea typeface="Aptos" pitchFamily="34" charset="-122"/>
                <a:cs typeface="Aptos" pitchFamily="34" charset="-120"/>
              </a:rPr>
              <a:t>ACTUADORES</a:t>
            </a:r>
            <a:endParaRPr lang="en-US" sz="1660" dirty="0"/>
          </a:p>
        </p:txBody>
      </p:sp>
      <p:sp>
        <p:nvSpPr>
          <p:cNvPr id="41" name="Text 39"/>
          <p:cNvSpPr/>
          <p:nvPr/>
        </p:nvSpPr>
        <p:spPr>
          <a:xfrm>
            <a:off x="4325112" y="5138928"/>
            <a:ext cx="6126480" cy="283464"/>
          </a:xfrm>
          <a:prstGeom prst="rect">
            <a:avLst/>
          </a:prstGeom>
          <a:noFill/>
          <a:ln/>
        </p:spPr>
        <p:txBody>
          <a:bodyPr wrap="square" lIns="0" tIns="0" rIns="0" bIns="0" rtlCol="0" anchor="ctr" vert="horz">
            <a:normAutofit/>
          </a:bodyPr>
          <a:lstStyle/>
          <a:p>
            <a:pPr algn="l" indent="0" marL="0">
              <a:buNone/>
            </a:pPr>
            <a:r>
              <a:rPr lang="en-US" sz="1560" dirty="0">
                <a:solidFill>
                  <a:srgbClr val="F6EEDF"/>
                </a:solidFill>
                <a:latin typeface="Aptos" pitchFamily="34" charset="0"/>
                <a:ea typeface="Aptos" pitchFamily="34" charset="-122"/>
                <a:cs typeface="Aptos" pitchFamily="34" charset="-120"/>
              </a:rPr>
              <a:t>Motores, reductores, pinzas y manos</a:t>
            </a:r>
            <a:endParaRPr lang="en-US" sz="1560" dirty="0"/>
          </a:p>
        </p:txBody>
      </p:sp>
      <p:sp>
        <p:nvSpPr>
          <p:cNvPr id="42" name="Text 40"/>
          <p:cNvSpPr/>
          <p:nvPr/>
        </p:nvSpPr>
        <p:spPr>
          <a:xfrm>
            <a:off x="969264" y="5943600"/>
            <a:ext cx="10369296" cy="283464"/>
          </a:xfrm>
          <a:prstGeom prst="rect">
            <a:avLst/>
          </a:prstGeom>
          <a:noFill/>
          <a:ln/>
        </p:spPr>
        <p:txBody>
          <a:bodyPr wrap="square" lIns="0" tIns="0" rIns="0" bIns="0" rtlCol="0" anchor="ctr" vert="horz">
            <a:normAutofit/>
          </a:bodyPr>
          <a:lstStyle/>
          <a:p>
            <a:pPr algn="ctr" indent="0" marL="0">
              <a:buNone/>
            </a:pPr>
            <a:r>
              <a:rPr lang="en-US" sz="1580" dirty="0">
                <a:solidFill>
                  <a:srgbClr val="F3C56C"/>
                </a:solidFill>
                <a:latin typeface="Aptos" pitchFamily="34" charset="0"/>
                <a:ea typeface="Aptos" pitchFamily="34" charset="-122"/>
                <a:cs typeface="Aptos" pitchFamily="34" charset="-120"/>
              </a:rPr>
              <a:t>Cada capa tiene latencia, incertidumbre, riesgos y requisitos de seguridad propios.</a:t>
            </a:r>
            <a:endParaRPr lang="en-US" sz="15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Noto Sans SC" pitchFamily="34" charset="-122"/>
                <a:cs typeface="Aptos" pitchFamily="34" charset="-120"/>
              </a:rPr>
              <a:t>INTELIGENCIA ENCARNADA · 具身智能</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Percibir → decidir → actuar → comprobar</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El movimiento transforma el entorno y genera observaciones nuevas</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Noto Sans SC" pitchFamily="34" charset="-122"/>
                <a:cs typeface="Aptos" pitchFamily="34" charset="-120"/>
              </a:rPr>
              <a:t>INTELIGENCIA ENCARNADA · 具身智能</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16</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Esquema pedagógico · OpenVLA 2024</a:t>
            </a:r>
            <a:endParaRPr lang="en-US" sz="800" dirty="0"/>
          </a:p>
        </p:txBody>
      </p:sp>
      <p:sp>
        <p:nvSpPr>
          <p:cNvPr id="13" name="Shape 11"/>
          <p:cNvSpPr/>
          <p:nvPr/>
        </p:nvSpPr>
        <p:spPr>
          <a:xfrm>
            <a:off x="567157" y="2880360"/>
            <a:ext cx="2501798" cy="1682496"/>
          </a:xfrm>
          <a:prstGeom prst="roundRect">
            <a:avLst/>
          </a:prstGeom>
          <a:solidFill>
            <a:srgbClr val="102B3B"/>
          </a:solidFill>
          <a:ln w="10160">
            <a:solidFill>
              <a:srgbClr val="365061"/>
            </a:solidFill>
            <a:prstDash val="solid"/>
          </a:ln>
        </p:spPr>
      </p:sp>
      <p:sp>
        <p:nvSpPr>
          <p:cNvPr id="14" name="Shape 12"/>
          <p:cNvSpPr/>
          <p:nvPr/>
        </p:nvSpPr>
        <p:spPr>
          <a:xfrm>
            <a:off x="1505331" y="2450592"/>
            <a:ext cx="555955" cy="585216"/>
          </a:xfrm>
          <a:prstGeom prst="ellipse">
            <a:avLst/>
          </a:prstGeom>
          <a:solidFill>
            <a:srgbClr val="061320"/>
          </a:solidFill>
          <a:ln w="10160">
            <a:solidFill>
              <a:srgbClr val="67CADA"/>
            </a:solidFill>
            <a:prstDash val="solid"/>
          </a:ln>
        </p:spPr>
      </p:sp>
      <p:sp>
        <p:nvSpPr>
          <p:cNvPr id="15" name="Text 13"/>
          <p:cNvSpPr/>
          <p:nvPr/>
        </p:nvSpPr>
        <p:spPr>
          <a:xfrm>
            <a:off x="1653007" y="2596896"/>
            <a:ext cx="260604" cy="265176"/>
          </a:xfrm>
          <a:prstGeom prst="rect">
            <a:avLst/>
          </a:prstGeom>
          <a:noFill/>
          <a:ln/>
        </p:spPr>
        <p:txBody>
          <a:bodyPr wrap="square" lIns="0" tIns="0" rIns="0" bIns="0" rtlCol="0" anchor="ctr" vert="horz">
            <a:normAutofit/>
          </a:bodyPr>
          <a:lstStyle/>
          <a:p>
            <a:pPr algn="ctr" indent="0" marL="0">
              <a:buNone/>
            </a:pPr>
            <a:r>
              <a:rPr lang="en-US" sz="1800" b="1" dirty="0">
                <a:solidFill>
                  <a:srgbClr val="67CADA"/>
                </a:solidFill>
                <a:latin typeface="Aptos" pitchFamily="34" charset="0"/>
                <a:ea typeface="Aptos" pitchFamily="34" charset="-122"/>
                <a:cs typeface="Aptos" pitchFamily="34" charset="-120"/>
              </a:rPr>
              <a:t>1</a:t>
            </a:r>
            <a:endParaRPr lang="en-US" sz="1800" dirty="0"/>
          </a:p>
        </p:txBody>
      </p:sp>
      <p:sp>
        <p:nvSpPr>
          <p:cNvPr id="16" name="Text 14"/>
          <p:cNvSpPr/>
          <p:nvPr/>
        </p:nvSpPr>
        <p:spPr>
          <a:xfrm>
            <a:off x="723519" y="3255264"/>
            <a:ext cx="2206447" cy="329184"/>
          </a:xfrm>
          <a:prstGeom prst="rect">
            <a:avLst/>
          </a:prstGeom>
          <a:noFill/>
          <a:ln/>
        </p:spPr>
        <p:txBody>
          <a:bodyPr wrap="square" lIns="0" tIns="0" rIns="0" bIns="0" rtlCol="0" anchor="ctr" vert="horz">
            <a:normAutofit/>
          </a:bodyPr>
          <a:lstStyle/>
          <a:p>
            <a:pPr algn="ctr" indent="0" marL="0">
              <a:buNone/>
            </a:pPr>
            <a:r>
              <a:rPr lang="en-US" sz="1910" b="1" dirty="0">
                <a:solidFill>
                  <a:srgbClr val="67CADA"/>
                </a:solidFill>
                <a:latin typeface="Aptos" pitchFamily="34" charset="0"/>
                <a:ea typeface="Aptos" pitchFamily="34" charset="-122"/>
                <a:cs typeface="Aptos" pitchFamily="34" charset="-120"/>
              </a:rPr>
              <a:t>OBSERVAR</a:t>
            </a:r>
            <a:endParaRPr lang="en-US" sz="1910" dirty="0"/>
          </a:p>
        </p:txBody>
      </p:sp>
      <p:sp>
        <p:nvSpPr>
          <p:cNvPr id="17" name="Text 15"/>
          <p:cNvSpPr/>
          <p:nvPr/>
        </p:nvSpPr>
        <p:spPr>
          <a:xfrm>
            <a:off x="732206" y="3803904"/>
            <a:ext cx="2163013" cy="365760"/>
          </a:xfrm>
          <a:prstGeom prst="rect">
            <a:avLst/>
          </a:prstGeom>
          <a:noFill/>
          <a:ln/>
        </p:spPr>
        <p:txBody>
          <a:bodyPr wrap="square" lIns="0" tIns="0" rIns="0" bIns="0" rtlCol="0" anchor="ctr" vert="horz">
            <a:normAutofit/>
          </a:bodyPr>
          <a:lstStyle/>
          <a:p>
            <a:pPr algn="ctr" indent="0" marL="0">
              <a:buNone/>
            </a:pPr>
            <a:r>
              <a:rPr lang="en-US" sz="1500" dirty="0">
                <a:solidFill>
                  <a:srgbClr val="F6EEDF"/>
                </a:solidFill>
                <a:latin typeface="Aptos" pitchFamily="34" charset="0"/>
                <a:ea typeface="Aptos" pitchFamily="34" charset="-122"/>
                <a:cs typeface="Aptos" pitchFamily="34" charset="-120"/>
              </a:rPr>
              <a:t>Cámaras y sensores</a:t>
            </a:r>
            <a:endParaRPr lang="en-US" sz="1500" dirty="0"/>
          </a:p>
        </p:txBody>
      </p:sp>
      <p:sp>
        <p:nvSpPr>
          <p:cNvPr id="18" name="Text 16"/>
          <p:cNvSpPr/>
          <p:nvPr/>
        </p:nvSpPr>
        <p:spPr>
          <a:xfrm>
            <a:off x="3077642" y="3374136"/>
            <a:ext cx="295351" cy="384048"/>
          </a:xfrm>
          <a:prstGeom prst="rect">
            <a:avLst/>
          </a:prstGeom>
          <a:noFill/>
          <a:ln/>
        </p:spPr>
        <p:txBody>
          <a:bodyPr wrap="square" lIns="0" tIns="0" rIns="0" bIns="0" rtlCol="0" anchor="ctr" vert="horz">
            <a:normAutofit/>
          </a:bodyPr>
          <a:lstStyle/>
          <a:p>
            <a:pPr algn="ctr" indent="0" marL="0">
              <a:buNone/>
            </a:pPr>
            <a:r>
              <a:rPr lang="en-US" sz="2600" b="1" dirty="0">
                <a:solidFill>
                  <a:srgbClr val="F3C56C"/>
                </a:solidFill>
                <a:latin typeface="Aptos" pitchFamily="34" charset="0"/>
                <a:ea typeface="Aptos" pitchFamily="34" charset="-122"/>
                <a:cs typeface="Aptos" pitchFamily="34" charset="-120"/>
              </a:rPr>
              <a:t>→</a:t>
            </a:r>
            <a:endParaRPr lang="en-US" sz="2600" dirty="0"/>
          </a:p>
        </p:txBody>
      </p:sp>
      <p:sp>
        <p:nvSpPr>
          <p:cNvPr id="19" name="Shape 17"/>
          <p:cNvSpPr/>
          <p:nvPr/>
        </p:nvSpPr>
        <p:spPr>
          <a:xfrm>
            <a:off x="3390367" y="2880360"/>
            <a:ext cx="2501798" cy="1682496"/>
          </a:xfrm>
          <a:prstGeom prst="roundRect">
            <a:avLst/>
          </a:prstGeom>
          <a:solidFill>
            <a:srgbClr val="102B3B"/>
          </a:solidFill>
          <a:ln w="10160">
            <a:solidFill>
              <a:srgbClr val="365061"/>
            </a:solidFill>
            <a:prstDash val="solid"/>
          </a:ln>
        </p:spPr>
      </p:sp>
      <p:sp>
        <p:nvSpPr>
          <p:cNvPr id="20" name="Shape 18"/>
          <p:cNvSpPr/>
          <p:nvPr/>
        </p:nvSpPr>
        <p:spPr>
          <a:xfrm>
            <a:off x="4328541" y="2450592"/>
            <a:ext cx="555955" cy="585216"/>
          </a:xfrm>
          <a:prstGeom prst="ellipse">
            <a:avLst/>
          </a:prstGeom>
          <a:solidFill>
            <a:srgbClr val="061320"/>
          </a:solidFill>
          <a:ln w="10160">
            <a:solidFill>
              <a:srgbClr val="F3C56C"/>
            </a:solidFill>
            <a:prstDash val="solid"/>
          </a:ln>
        </p:spPr>
      </p:sp>
      <p:sp>
        <p:nvSpPr>
          <p:cNvPr id="21" name="Text 19"/>
          <p:cNvSpPr/>
          <p:nvPr/>
        </p:nvSpPr>
        <p:spPr>
          <a:xfrm>
            <a:off x="4476217" y="2596896"/>
            <a:ext cx="260604" cy="265176"/>
          </a:xfrm>
          <a:prstGeom prst="rect">
            <a:avLst/>
          </a:prstGeom>
          <a:noFill/>
          <a:ln/>
        </p:spPr>
        <p:txBody>
          <a:bodyPr wrap="square" lIns="0" tIns="0" rIns="0" bIns="0" rtlCol="0" anchor="ctr" vert="horz">
            <a:normAutofit/>
          </a:bodyPr>
          <a:lstStyle/>
          <a:p>
            <a:pPr algn="ctr" indent="0" marL="0">
              <a:buNone/>
            </a:pPr>
            <a:r>
              <a:rPr lang="en-US" sz="1800" b="1" dirty="0">
                <a:solidFill>
                  <a:srgbClr val="F3C56C"/>
                </a:solidFill>
                <a:latin typeface="Aptos" pitchFamily="34" charset="0"/>
                <a:ea typeface="Aptos" pitchFamily="34" charset="-122"/>
                <a:cs typeface="Aptos" pitchFamily="34" charset="-120"/>
              </a:rPr>
              <a:t>2</a:t>
            </a:r>
            <a:endParaRPr lang="en-US" sz="1800" dirty="0"/>
          </a:p>
        </p:txBody>
      </p:sp>
      <p:sp>
        <p:nvSpPr>
          <p:cNvPr id="22" name="Text 20"/>
          <p:cNvSpPr/>
          <p:nvPr/>
        </p:nvSpPr>
        <p:spPr>
          <a:xfrm>
            <a:off x="3546729" y="3255264"/>
            <a:ext cx="2206447" cy="329184"/>
          </a:xfrm>
          <a:prstGeom prst="rect">
            <a:avLst/>
          </a:prstGeom>
          <a:noFill/>
          <a:ln/>
        </p:spPr>
        <p:txBody>
          <a:bodyPr wrap="square" lIns="0" tIns="0" rIns="0" bIns="0" rtlCol="0" anchor="ctr" vert="horz">
            <a:normAutofit/>
          </a:bodyPr>
          <a:lstStyle/>
          <a:p>
            <a:pPr algn="ctr" indent="0" marL="0">
              <a:buNone/>
            </a:pPr>
            <a:r>
              <a:rPr lang="en-US" sz="1910" b="1" dirty="0">
                <a:solidFill>
                  <a:srgbClr val="F3C56C"/>
                </a:solidFill>
                <a:latin typeface="Aptos" pitchFamily="34" charset="0"/>
                <a:ea typeface="Aptos" pitchFamily="34" charset="-122"/>
                <a:cs typeface="Aptos" pitchFamily="34" charset="-120"/>
              </a:rPr>
              <a:t>INTERPRETAR</a:t>
            </a:r>
            <a:endParaRPr lang="en-US" sz="1910" dirty="0"/>
          </a:p>
        </p:txBody>
      </p:sp>
      <p:sp>
        <p:nvSpPr>
          <p:cNvPr id="23" name="Text 21"/>
          <p:cNvSpPr/>
          <p:nvPr/>
        </p:nvSpPr>
        <p:spPr>
          <a:xfrm>
            <a:off x="3555416" y="3803904"/>
            <a:ext cx="2163013" cy="365760"/>
          </a:xfrm>
          <a:prstGeom prst="rect">
            <a:avLst/>
          </a:prstGeom>
          <a:noFill/>
          <a:ln/>
        </p:spPr>
        <p:txBody>
          <a:bodyPr wrap="square" lIns="0" tIns="0" rIns="0" bIns="0" rtlCol="0" anchor="ctr" vert="horz">
            <a:normAutofit/>
          </a:bodyPr>
          <a:lstStyle/>
          <a:p>
            <a:pPr algn="ctr" indent="0" marL="0">
              <a:buNone/>
            </a:pPr>
            <a:r>
              <a:rPr lang="en-US" sz="1500" dirty="0">
                <a:solidFill>
                  <a:srgbClr val="F6EEDF"/>
                </a:solidFill>
                <a:latin typeface="Aptos" pitchFamily="34" charset="0"/>
                <a:ea typeface="Aptos" pitchFamily="34" charset="-122"/>
                <a:cs typeface="Aptos" pitchFamily="34" charset="-120"/>
              </a:rPr>
              <a:t>Estado del entorno</a:t>
            </a:r>
            <a:endParaRPr lang="en-US" sz="1500" dirty="0"/>
          </a:p>
        </p:txBody>
      </p:sp>
      <p:sp>
        <p:nvSpPr>
          <p:cNvPr id="24" name="Text 22"/>
          <p:cNvSpPr/>
          <p:nvPr/>
        </p:nvSpPr>
        <p:spPr>
          <a:xfrm>
            <a:off x="5900852" y="3374136"/>
            <a:ext cx="295351" cy="384048"/>
          </a:xfrm>
          <a:prstGeom prst="rect">
            <a:avLst/>
          </a:prstGeom>
          <a:noFill/>
          <a:ln/>
        </p:spPr>
        <p:txBody>
          <a:bodyPr wrap="square" lIns="0" tIns="0" rIns="0" bIns="0" rtlCol="0" anchor="ctr" vert="horz">
            <a:normAutofit/>
          </a:bodyPr>
          <a:lstStyle/>
          <a:p>
            <a:pPr algn="ctr" indent="0" marL="0">
              <a:buNone/>
            </a:pPr>
            <a:r>
              <a:rPr lang="en-US" sz="2600" b="1" dirty="0">
                <a:solidFill>
                  <a:srgbClr val="F3C56C"/>
                </a:solidFill>
                <a:latin typeface="Aptos" pitchFamily="34" charset="0"/>
                <a:ea typeface="Aptos" pitchFamily="34" charset="-122"/>
                <a:cs typeface="Aptos" pitchFamily="34" charset="-120"/>
              </a:rPr>
              <a:t>→</a:t>
            </a:r>
            <a:endParaRPr lang="en-US" sz="2600" dirty="0"/>
          </a:p>
        </p:txBody>
      </p:sp>
      <p:sp>
        <p:nvSpPr>
          <p:cNvPr id="25" name="Shape 23"/>
          <p:cNvSpPr/>
          <p:nvPr/>
        </p:nvSpPr>
        <p:spPr>
          <a:xfrm>
            <a:off x="6213577" y="2880360"/>
            <a:ext cx="2501798" cy="1682496"/>
          </a:xfrm>
          <a:prstGeom prst="roundRect">
            <a:avLst/>
          </a:prstGeom>
          <a:solidFill>
            <a:srgbClr val="102B3B"/>
          </a:solidFill>
          <a:ln w="10160">
            <a:solidFill>
              <a:srgbClr val="365061"/>
            </a:solidFill>
            <a:prstDash val="solid"/>
          </a:ln>
        </p:spPr>
      </p:sp>
      <p:sp>
        <p:nvSpPr>
          <p:cNvPr id="26" name="Shape 24"/>
          <p:cNvSpPr/>
          <p:nvPr/>
        </p:nvSpPr>
        <p:spPr>
          <a:xfrm>
            <a:off x="7151751" y="2450592"/>
            <a:ext cx="555955" cy="585216"/>
          </a:xfrm>
          <a:prstGeom prst="ellipse">
            <a:avLst/>
          </a:prstGeom>
          <a:solidFill>
            <a:srgbClr val="061320"/>
          </a:solidFill>
          <a:ln w="10160">
            <a:solidFill>
              <a:srgbClr val="70C9AD"/>
            </a:solidFill>
            <a:prstDash val="solid"/>
          </a:ln>
        </p:spPr>
      </p:sp>
      <p:sp>
        <p:nvSpPr>
          <p:cNvPr id="27" name="Text 25"/>
          <p:cNvSpPr/>
          <p:nvPr/>
        </p:nvSpPr>
        <p:spPr>
          <a:xfrm>
            <a:off x="7299427" y="2596896"/>
            <a:ext cx="260604" cy="265176"/>
          </a:xfrm>
          <a:prstGeom prst="rect">
            <a:avLst/>
          </a:prstGeom>
          <a:noFill/>
          <a:ln/>
        </p:spPr>
        <p:txBody>
          <a:bodyPr wrap="square" lIns="0" tIns="0" rIns="0" bIns="0" rtlCol="0" anchor="ctr" vert="horz">
            <a:normAutofit/>
          </a:bodyPr>
          <a:lstStyle/>
          <a:p>
            <a:pPr algn="ctr" indent="0" marL="0">
              <a:buNone/>
            </a:pPr>
            <a:r>
              <a:rPr lang="en-US" sz="1800" b="1" dirty="0">
                <a:solidFill>
                  <a:srgbClr val="70C9AD"/>
                </a:solidFill>
                <a:latin typeface="Aptos" pitchFamily="34" charset="0"/>
                <a:ea typeface="Aptos" pitchFamily="34" charset="-122"/>
                <a:cs typeface="Aptos" pitchFamily="34" charset="-120"/>
              </a:rPr>
              <a:t>3</a:t>
            </a:r>
            <a:endParaRPr lang="en-US" sz="1800" dirty="0"/>
          </a:p>
        </p:txBody>
      </p:sp>
      <p:sp>
        <p:nvSpPr>
          <p:cNvPr id="28" name="Text 26"/>
          <p:cNvSpPr/>
          <p:nvPr/>
        </p:nvSpPr>
        <p:spPr>
          <a:xfrm>
            <a:off x="6369939" y="3255264"/>
            <a:ext cx="2206447" cy="329184"/>
          </a:xfrm>
          <a:prstGeom prst="rect">
            <a:avLst/>
          </a:prstGeom>
          <a:noFill/>
          <a:ln/>
        </p:spPr>
        <p:txBody>
          <a:bodyPr wrap="square" lIns="0" tIns="0" rIns="0" bIns="0" rtlCol="0" anchor="ctr" vert="horz">
            <a:normAutofit/>
          </a:bodyPr>
          <a:lstStyle/>
          <a:p>
            <a:pPr algn="ctr" indent="0" marL="0">
              <a:buNone/>
            </a:pPr>
            <a:r>
              <a:rPr lang="en-US" sz="1910" b="1" dirty="0">
                <a:solidFill>
                  <a:srgbClr val="70C9AD"/>
                </a:solidFill>
                <a:latin typeface="Aptos" pitchFamily="34" charset="0"/>
                <a:ea typeface="Aptos" pitchFamily="34" charset="-122"/>
                <a:cs typeface="Aptos" pitchFamily="34" charset="-120"/>
              </a:rPr>
              <a:t>ACTUAR</a:t>
            </a:r>
            <a:endParaRPr lang="en-US" sz="1910" dirty="0"/>
          </a:p>
        </p:txBody>
      </p:sp>
      <p:sp>
        <p:nvSpPr>
          <p:cNvPr id="29" name="Text 27"/>
          <p:cNvSpPr/>
          <p:nvPr/>
        </p:nvSpPr>
        <p:spPr>
          <a:xfrm>
            <a:off x="6378626" y="3803904"/>
            <a:ext cx="2163013" cy="365760"/>
          </a:xfrm>
          <a:prstGeom prst="rect">
            <a:avLst/>
          </a:prstGeom>
          <a:noFill/>
          <a:ln/>
        </p:spPr>
        <p:txBody>
          <a:bodyPr wrap="square" lIns="0" tIns="0" rIns="0" bIns="0" rtlCol="0" anchor="ctr" vert="horz">
            <a:normAutofit/>
          </a:bodyPr>
          <a:lstStyle/>
          <a:p>
            <a:pPr algn="ctr" indent="0" marL="0">
              <a:buNone/>
            </a:pPr>
            <a:r>
              <a:rPr lang="en-US" sz="1500" dirty="0">
                <a:solidFill>
                  <a:srgbClr val="F6EEDF"/>
                </a:solidFill>
                <a:latin typeface="Aptos" pitchFamily="34" charset="0"/>
                <a:ea typeface="Aptos" pitchFamily="34" charset="-122"/>
                <a:cs typeface="Aptos" pitchFamily="34" charset="-120"/>
              </a:rPr>
              <a:t>Política + control</a:t>
            </a:r>
            <a:endParaRPr lang="en-US" sz="1500" dirty="0"/>
          </a:p>
        </p:txBody>
      </p:sp>
      <p:sp>
        <p:nvSpPr>
          <p:cNvPr id="30" name="Text 28"/>
          <p:cNvSpPr/>
          <p:nvPr/>
        </p:nvSpPr>
        <p:spPr>
          <a:xfrm>
            <a:off x="8724062" y="3374136"/>
            <a:ext cx="295351" cy="384048"/>
          </a:xfrm>
          <a:prstGeom prst="rect">
            <a:avLst/>
          </a:prstGeom>
          <a:noFill/>
          <a:ln/>
        </p:spPr>
        <p:txBody>
          <a:bodyPr wrap="square" lIns="0" tIns="0" rIns="0" bIns="0" rtlCol="0" anchor="ctr" vert="horz">
            <a:normAutofit/>
          </a:bodyPr>
          <a:lstStyle/>
          <a:p>
            <a:pPr algn="ctr" indent="0" marL="0">
              <a:buNone/>
            </a:pPr>
            <a:r>
              <a:rPr lang="en-US" sz="2600" b="1" dirty="0">
                <a:solidFill>
                  <a:srgbClr val="F3C56C"/>
                </a:solidFill>
                <a:latin typeface="Aptos" pitchFamily="34" charset="0"/>
                <a:ea typeface="Aptos" pitchFamily="34" charset="-122"/>
                <a:cs typeface="Aptos" pitchFamily="34" charset="-120"/>
              </a:rPr>
              <a:t>→</a:t>
            </a:r>
            <a:endParaRPr lang="en-US" sz="2600" dirty="0"/>
          </a:p>
        </p:txBody>
      </p:sp>
      <p:sp>
        <p:nvSpPr>
          <p:cNvPr id="31" name="Shape 29"/>
          <p:cNvSpPr/>
          <p:nvPr/>
        </p:nvSpPr>
        <p:spPr>
          <a:xfrm>
            <a:off x="9036787" y="2880360"/>
            <a:ext cx="2501798" cy="1682496"/>
          </a:xfrm>
          <a:prstGeom prst="roundRect">
            <a:avLst/>
          </a:prstGeom>
          <a:solidFill>
            <a:srgbClr val="102B3B"/>
          </a:solidFill>
          <a:ln w="10160">
            <a:solidFill>
              <a:srgbClr val="365061"/>
            </a:solidFill>
            <a:prstDash val="solid"/>
          </a:ln>
        </p:spPr>
      </p:sp>
      <p:sp>
        <p:nvSpPr>
          <p:cNvPr id="32" name="Shape 30"/>
          <p:cNvSpPr/>
          <p:nvPr/>
        </p:nvSpPr>
        <p:spPr>
          <a:xfrm>
            <a:off x="9974961" y="2450592"/>
            <a:ext cx="555955" cy="585216"/>
          </a:xfrm>
          <a:prstGeom prst="ellipse">
            <a:avLst/>
          </a:prstGeom>
          <a:solidFill>
            <a:srgbClr val="061320"/>
          </a:solidFill>
          <a:ln w="10160">
            <a:solidFill>
              <a:srgbClr val="D8524B"/>
            </a:solidFill>
            <a:prstDash val="solid"/>
          </a:ln>
        </p:spPr>
      </p:sp>
      <p:sp>
        <p:nvSpPr>
          <p:cNvPr id="33" name="Text 31"/>
          <p:cNvSpPr/>
          <p:nvPr/>
        </p:nvSpPr>
        <p:spPr>
          <a:xfrm>
            <a:off x="10122637" y="2596896"/>
            <a:ext cx="260604" cy="265176"/>
          </a:xfrm>
          <a:prstGeom prst="rect">
            <a:avLst/>
          </a:prstGeom>
          <a:noFill/>
          <a:ln/>
        </p:spPr>
        <p:txBody>
          <a:bodyPr wrap="square" lIns="0" tIns="0" rIns="0" bIns="0" rtlCol="0" anchor="ctr" vert="horz">
            <a:normAutofit/>
          </a:bodyPr>
          <a:lstStyle/>
          <a:p>
            <a:pPr algn="ctr" indent="0" marL="0">
              <a:buNone/>
            </a:pPr>
            <a:r>
              <a:rPr lang="en-US" sz="1800" b="1" dirty="0">
                <a:solidFill>
                  <a:srgbClr val="D8524B"/>
                </a:solidFill>
                <a:latin typeface="Aptos" pitchFamily="34" charset="0"/>
                <a:ea typeface="Aptos" pitchFamily="34" charset="-122"/>
                <a:cs typeface="Aptos" pitchFamily="34" charset="-120"/>
              </a:rPr>
              <a:t>4</a:t>
            </a:r>
            <a:endParaRPr lang="en-US" sz="1800" dirty="0"/>
          </a:p>
        </p:txBody>
      </p:sp>
      <p:sp>
        <p:nvSpPr>
          <p:cNvPr id="34" name="Text 32"/>
          <p:cNvSpPr/>
          <p:nvPr/>
        </p:nvSpPr>
        <p:spPr>
          <a:xfrm>
            <a:off x="9193149" y="3255264"/>
            <a:ext cx="2206447" cy="329184"/>
          </a:xfrm>
          <a:prstGeom prst="rect">
            <a:avLst/>
          </a:prstGeom>
          <a:noFill/>
          <a:ln/>
        </p:spPr>
        <p:txBody>
          <a:bodyPr wrap="square" lIns="0" tIns="0" rIns="0" bIns="0" rtlCol="0" anchor="ctr" vert="horz">
            <a:normAutofit/>
          </a:bodyPr>
          <a:lstStyle/>
          <a:p>
            <a:pPr algn="ctr" indent="0" marL="0">
              <a:buNone/>
            </a:pPr>
            <a:r>
              <a:rPr lang="en-US" sz="1910" b="1" dirty="0">
                <a:solidFill>
                  <a:srgbClr val="D8524B"/>
                </a:solidFill>
                <a:latin typeface="Aptos" pitchFamily="34" charset="0"/>
                <a:ea typeface="Aptos" pitchFamily="34" charset="-122"/>
                <a:cs typeface="Aptos" pitchFamily="34" charset="-120"/>
              </a:rPr>
              <a:t>VERIFICAR</a:t>
            </a:r>
            <a:endParaRPr lang="en-US" sz="1910" dirty="0"/>
          </a:p>
        </p:txBody>
      </p:sp>
      <p:sp>
        <p:nvSpPr>
          <p:cNvPr id="35" name="Text 33"/>
          <p:cNvSpPr/>
          <p:nvPr/>
        </p:nvSpPr>
        <p:spPr>
          <a:xfrm>
            <a:off x="9201836" y="3803904"/>
            <a:ext cx="2163013" cy="365760"/>
          </a:xfrm>
          <a:prstGeom prst="rect">
            <a:avLst/>
          </a:prstGeom>
          <a:noFill/>
          <a:ln/>
        </p:spPr>
        <p:txBody>
          <a:bodyPr wrap="square" lIns="0" tIns="0" rIns="0" bIns="0" rtlCol="0" anchor="ctr" vert="horz">
            <a:normAutofit/>
          </a:bodyPr>
          <a:lstStyle/>
          <a:p>
            <a:pPr algn="ctr" indent="0" marL="0">
              <a:buNone/>
            </a:pPr>
            <a:r>
              <a:rPr lang="en-US" sz="1500" dirty="0">
                <a:solidFill>
                  <a:srgbClr val="F6EEDF"/>
                </a:solidFill>
                <a:latin typeface="Aptos" pitchFamily="34" charset="0"/>
                <a:ea typeface="Aptos" pitchFamily="34" charset="-122"/>
                <a:cs typeface="Aptos" pitchFamily="34" charset="-120"/>
              </a:rPr>
              <a:t>¿Funcionó la tarea?</a:t>
            </a:r>
            <a:endParaRPr lang="en-US" sz="1500" dirty="0"/>
          </a:p>
        </p:txBody>
      </p:sp>
      <p:sp>
        <p:nvSpPr>
          <p:cNvPr id="39" name="Text 37"/>
          <p:cNvSpPr/>
          <p:nvPr/>
        </p:nvSpPr>
        <p:spPr>
          <a:xfrm>
            <a:off x="1929384" y="5513832"/>
            <a:ext cx="8458200" cy="310896"/>
          </a:xfrm>
          <a:prstGeom prst="rect">
            <a:avLst/>
          </a:prstGeom>
          <a:noFill/>
          <a:ln/>
        </p:spPr>
        <p:txBody>
          <a:bodyPr wrap="square" lIns="0" tIns="0" rIns="0" bIns="0" rtlCol="0" anchor="ctr" vert="horz">
            <a:normAutofit/>
          </a:bodyPr>
          <a:lstStyle/>
          <a:p>
            <a:pPr algn="ctr" indent="0" marL="0">
              <a:buNone/>
            </a:pPr>
            <a:r>
              <a:rPr lang="en-US" sz="1540" b="1" dirty="0">
                <a:solidFill>
                  <a:srgbClr val="F3C56C"/>
                </a:solidFill>
                <a:latin typeface="Aptos" pitchFamily="34" charset="0"/>
                <a:ea typeface="Aptos" pitchFamily="34" charset="-122"/>
                <a:cs typeface="Aptos" pitchFamily="34" charset="-120"/>
              </a:rPr>
              <a:t>LAZO CERRADO: CADA ACCIÓN PRODUCE NUEVA INFORMACIÓN</a:t>
            </a:r>
            <a:endParaRPr lang="en-US" sz="1540" dirty="0"/>
          </a:p>
        </p:txBody>
      </p:sp>
      <p:sp>
        <p:nvSpPr>
          <p:cNvPr id="1010" name="Feedback from verification"/>
          <p:cNvSpPr/>
          <p:nvPr/>
        </p:nvSpPr>
        <p:spPr>
          <a:xfrm>
            <a:off x="10289858" y="4562475"/>
            <a:ext cx="0" cy="666750"/>
          </a:xfrm>
          <a:prstGeom prst="line">
            <a:avLst/>
          </a:prstGeom>
          <a:ln w="22860">
            <a:solidFill>
              <a:srgbClr val="F6C567"/>
            </a:solidFill>
            <a:prstDash val="solid"/>
          </a:ln>
        </p:spPr>
      </p:sp>
      <p:sp>
        <p:nvSpPr>
          <p:cNvPr id="1011" name="Feedback return"/>
          <p:cNvSpPr/>
          <p:nvPr/>
        </p:nvSpPr>
        <p:spPr>
          <a:xfrm>
            <a:off x="1820228" y="5229225"/>
            <a:ext cx="8469630" cy="0"/>
          </a:xfrm>
          <a:prstGeom prst="line">
            <a:avLst/>
          </a:prstGeom>
          <a:ln w="22860">
            <a:solidFill>
              <a:srgbClr val="F6C567"/>
            </a:solidFill>
            <a:prstDash val="solid"/>
          </a:ln>
        </p:spPr>
      </p:sp>
      <p:sp>
        <p:nvSpPr>
          <p:cNvPr id="1012" name="Feedback to observation"/>
          <p:cNvSpPr/>
          <p:nvPr/>
        </p:nvSpPr>
        <p:spPr>
          <a:xfrm>
            <a:off x="1820228" y="4562475"/>
            <a:ext cx="0" cy="666750"/>
          </a:xfrm>
          <a:prstGeom prst="line">
            <a:avLst/>
          </a:prstGeom>
          <a:ln w="22860">
            <a:solidFill>
              <a:srgbClr val="F6C567"/>
            </a:solidFill>
            <a:prstDash val="solid"/>
            <a:headEnd type="triangle" w="med" len="me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MODELOS VISION–LANGUAGE–ACTION</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VLA: cuando la IA debe mover un brazo</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De una orden humana a acciones físicas contextualizadas</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MODELOS VISION–LANGUAGE–ACTION</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17</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OpenVLA · investigación abierta, 2024</a:t>
            </a:r>
            <a:endParaRPr lang="en-US" sz="800" dirty="0"/>
          </a:p>
        </p:txBody>
      </p:sp>
      <p:sp>
        <p:nvSpPr>
          <p:cNvPr id="13" name="Shape 11"/>
          <p:cNvSpPr/>
          <p:nvPr/>
        </p:nvSpPr>
        <p:spPr>
          <a:xfrm>
            <a:off x="649224" y="2606040"/>
            <a:ext cx="3355848" cy="1673352"/>
          </a:xfrm>
          <a:prstGeom prst="roundRect">
            <a:avLst/>
          </a:prstGeom>
          <a:solidFill>
            <a:srgbClr val="102B3B"/>
          </a:solidFill>
          <a:ln w="10160">
            <a:solidFill>
              <a:srgbClr val="F3C56C"/>
            </a:solidFill>
            <a:prstDash val="solid"/>
          </a:ln>
        </p:spPr>
      </p:sp>
      <p:sp>
        <p:nvSpPr>
          <p:cNvPr id="14" name="Text 12"/>
          <p:cNvSpPr/>
          <p:nvPr/>
        </p:nvSpPr>
        <p:spPr>
          <a:xfrm>
            <a:off x="832104" y="2889504"/>
            <a:ext cx="2971800" cy="301752"/>
          </a:xfrm>
          <a:prstGeom prst="rect">
            <a:avLst/>
          </a:prstGeom>
          <a:noFill/>
          <a:ln/>
        </p:spPr>
        <p:txBody>
          <a:bodyPr wrap="square" lIns="0" tIns="0" rIns="0" bIns="0" rtlCol="0" anchor="ctr" vert="horz">
            <a:normAutofit/>
          </a:bodyPr>
          <a:lstStyle/>
          <a:p>
            <a:pPr algn="ctr" indent="0" marL="0">
              <a:buNone/>
            </a:pPr>
            <a:r>
              <a:rPr lang="en-US" sz="1800" b="1" dirty="0">
                <a:solidFill>
                  <a:srgbClr val="F3C56C"/>
                </a:solidFill>
                <a:latin typeface="Aptos" pitchFamily="34" charset="0"/>
                <a:ea typeface="Aptos" pitchFamily="34" charset="-122"/>
                <a:cs typeface="Aptos" pitchFamily="34" charset="-120"/>
              </a:rPr>
              <a:t>INSTRUCCIÓN</a:t>
            </a:r>
            <a:endParaRPr lang="en-US" sz="1800" dirty="0"/>
          </a:p>
        </p:txBody>
      </p:sp>
      <p:sp>
        <p:nvSpPr>
          <p:cNvPr id="15" name="Text 13"/>
          <p:cNvSpPr/>
          <p:nvPr/>
        </p:nvSpPr>
        <p:spPr>
          <a:xfrm>
            <a:off x="850392" y="3392424"/>
            <a:ext cx="2953512" cy="594360"/>
          </a:xfrm>
          <a:prstGeom prst="rect">
            <a:avLst/>
          </a:prstGeom>
          <a:noFill/>
          <a:ln/>
        </p:spPr>
        <p:txBody>
          <a:bodyPr wrap="square" lIns="0" tIns="0" rIns="0" bIns="0" rtlCol="0" anchor="ctr" vert="horz">
            <a:normAutofit/>
          </a:bodyPr>
          <a:lstStyle/>
          <a:p>
            <a:pPr algn="ctr" indent="0" marL="0">
              <a:buNone/>
            </a:pPr>
            <a:r>
              <a:rPr lang="en-US" sz="1600" dirty="0">
                <a:solidFill>
                  <a:srgbClr val="F6EEDF"/>
                </a:solidFill>
                <a:latin typeface="Aptos" pitchFamily="34" charset="0"/>
                <a:ea typeface="Aptos" pitchFamily="34" charset="-122"/>
                <a:cs typeface="Aptos" pitchFamily="34" charset="-120"/>
              </a:rPr>
              <a:t>“Colocá la pieza azul</a:t>
            </a:r>
            <a:endParaRPr lang="en-US" sz="1600" dirty="0"/>
          </a:p>
          <a:p>
            <a:pPr algn="ctr" indent="0" marL="0">
              <a:buNone/>
            </a:pPr>
            <a:r>
              <a:rPr lang="en-US" sz="1600" dirty="0">
                <a:solidFill>
                  <a:srgbClr val="F6EEDF"/>
                </a:solidFill>
                <a:latin typeface="Aptos" pitchFamily="34" charset="0"/>
                <a:ea typeface="Aptos" pitchFamily="34" charset="-122"/>
                <a:cs typeface="Aptos" pitchFamily="34" charset="-120"/>
              </a:rPr>
              <a:t>en la bandeja.”</a:t>
            </a:r>
            <a:endParaRPr lang="en-US" sz="1600" dirty="0"/>
          </a:p>
        </p:txBody>
      </p:sp>
      <p:sp>
        <p:nvSpPr>
          <p:cNvPr id="16" name="Text 14"/>
          <p:cNvSpPr/>
          <p:nvPr/>
        </p:nvSpPr>
        <p:spPr>
          <a:xfrm>
            <a:off x="4023360" y="3200400"/>
            <a:ext cx="402336" cy="347472"/>
          </a:xfrm>
          <a:prstGeom prst="rect">
            <a:avLst/>
          </a:prstGeom>
          <a:noFill/>
          <a:ln/>
        </p:spPr>
        <p:txBody>
          <a:bodyPr wrap="square" lIns="0" tIns="0" rIns="0" bIns="0" rtlCol="0" anchor="ctr" vert="horz">
            <a:normAutofit/>
          </a:bodyPr>
          <a:lstStyle/>
          <a:p>
            <a:pPr algn="ctr" indent="0" marL="0">
              <a:buNone/>
            </a:pPr>
            <a:r>
              <a:rPr lang="en-US" sz="2600" b="1" dirty="0">
                <a:solidFill>
                  <a:srgbClr val="F3C56C"/>
                </a:solidFill>
                <a:latin typeface="Aptos" pitchFamily="34" charset="0"/>
                <a:ea typeface="Aptos" pitchFamily="34" charset="-122"/>
                <a:cs typeface="Aptos" pitchFamily="34" charset="-120"/>
              </a:rPr>
              <a:t>+</a:t>
            </a:r>
            <a:endParaRPr lang="en-US" sz="2600" dirty="0"/>
          </a:p>
        </p:txBody>
      </p:sp>
      <p:sp>
        <p:nvSpPr>
          <p:cNvPr id="17" name="Shape 15"/>
          <p:cNvSpPr/>
          <p:nvPr/>
        </p:nvSpPr>
        <p:spPr>
          <a:xfrm>
            <a:off x="4416552" y="2606040"/>
            <a:ext cx="3355848" cy="1673352"/>
          </a:xfrm>
          <a:prstGeom prst="roundRect">
            <a:avLst/>
          </a:prstGeom>
          <a:solidFill>
            <a:srgbClr val="102B3B"/>
          </a:solidFill>
          <a:ln w="10160">
            <a:solidFill>
              <a:srgbClr val="67CADA"/>
            </a:solidFill>
            <a:prstDash val="solid"/>
          </a:ln>
        </p:spPr>
      </p:sp>
      <p:sp>
        <p:nvSpPr>
          <p:cNvPr id="18" name="Text 16"/>
          <p:cNvSpPr/>
          <p:nvPr/>
        </p:nvSpPr>
        <p:spPr>
          <a:xfrm>
            <a:off x="4599432" y="2889504"/>
            <a:ext cx="2971800" cy="301752"/>
          </a:xfrm>
          <a:prstGeom prst="rect">
            <a:avLst/>
          </a:prstGeom>
          <a:noFill/>
          <a:ln/>
        </p:spPr>
        <p:txBody>
          <a:bodyPr wrap="square" lIns="0" tIns="0" rIns="0" bIns="0" rtlCol="0" anchor="ctr" vert="horz">
            <a:normAutofit/>
          </a:bodyPr>
          <a:lstStyle/>
          <a:p>
            <a:pPr algn="ctr" indent="0" marL="0">
              <a:buNone/>
            </a:pPr>
            <a:r>
              <a:rPr lang="en-US" sz="1800" b="1" dirty="0">
                <a:solidFill>
                  <a:srgbClr val="67CADA"/>
                </a:solidFill>
                <a:latin typeface="Aptos" pitchFamily="34" charset="0"/>
                <a:ea typeface="Aptos" pitchFamily="34" charset="-122"/>
                <a:cs typeface="Aptos" pitchFamily="34" charset="-120"/>
              </a:rPr>
              <a:t>OBSERVACIÓN</a:t>
            </a:r>
            <a:endParaRPr lang="en-US" sz="1800" dirty="0"/>
          </a:p>
        </p:txBody>
      </p:sp>
      <p:sp>
        <p:nvSpPr>
          <p:cNvPr id="19" name="Text 17"/>
          <p:cNvSpPr/>
          <p:nvPr/>
        </p:nvSpPr>
        <p:spPr>
          <a:xfrm>
            <a:off x="4617720" y="3392424"/>
            <a:ext cx="2953512" cy="594360"/>
          </a:xfrm>
          <a:prstGeom prst="rect">
            <a:avLst/>
          </a:prstGeom>
          <a:noFill/>
          <a:ln/>
        </p:spPr>
        <p:txBody>
          <a:bodyPr wrap="square" lIns="0" tIns="0" rIns="0" bIns="0" rtlCol="0" anchor="ctr" vert="horz">
            <a:normAutofit/>
          </a:bodyPr>
          <a:lstStyle/>
          <a:p>
            <a:pPr algn="ctr" indent="0" marL="0">
              <a:buNone/>
            </a:pPr>
            <a:r>
              <a:rPr lang="en-US" sz="1600" dirty="0">
                <a:solidFill>
                  <a:srgbClr val="F6EEDF"/>
                </a:solidFill>
                <a:latin typeface="Aptos" pitchFamily="34" charset="0"/>
                <a:ea typeface="Aptos" pitchFamily="34" charset="-122"/>
                <a:cs typeface="Aptos" pitchFamily="34" charset="-120"/>
              </a:rPr>
              <a:t>Imagen + estado</a:t>
            </a:r>
            <a:endParaRPr lang="en-US" sz="1600" dirty="0"/>
          </a:p>
          <a:p>
            <a:pPr algn="ctr" indent="0" marL="0">
              <a:buNone/>
            </a:pPr>
            <a:r>
              <a:rPr lang="en-US" sz="1600" dirty="0">
                <a:solidFill>
                  <a:srgbClr val="F6EEDF"/>
                </a:solidFill>
                <a:latin typeface="Aptos" pitchFamily="34" charset="0"/>
                <a:ea typeface="Aptos" pitchFamily="34" charset="-122"/>
                <a:cs typeface="Aptos" pitchFamily="34" charset="-120"/>
              </a:rPr>
              <a:t>de sensores</a:t>
            </a:r>
            <a:endParaRPr lang="en-US" sz="1600" dirty="0"/>
          </a:p>
        </p:txBody>
      </p:sp>
      <p:sp>
        <p:nvSpPr>
          <p:cNvPr id="20" name="Text 18"/>
          <p:cNvSpPr/>
          <p:nvPr/>
        </p:nvSpPr>
        <p:spPr>
          <a:xfrm>
            <a:off x="7790688" y="3200400"/>
            <a:ext cx="402336" cy="347472"/>
          </a:xfrm>
          <a:prstGeom prst="rect">
            <a:avLst/>
          </a:prstGeom>
          <a:noFill/>
          <a:ln/>
        </p:spPr>
        <p:txBody>
          <a:bodyPr wrap="square" lIns="0" tIns="0" rIns="0" bIns="0" rtlCol="0" anchor="ctr" vert="horz">
            <a:normAutofit/>
          </a:bodyPr>
          <a:lstStyle/>
          <a:p>
            <a:pPr algn="ctr" indent="0" marL="0">
              <a:buNone/>
            </a:pPr>
            <a:r>
              <a:rPr lang="en-US" sz="2600" b="1" dirty="0">
                <a:solidFill>
                  <a:srgbClr val="F3C56C"/>
                </a:solidFill>
                <a:latin typeface="Aptos" pitchFamily="34" charset="0"/>
                <a:ea typeface="Aptos" pitchFamily="34" charset="-122"/>
                <a:cs typeface="Aptos" pitchFamily="34" charset="-120"/>
              </a:rPr>
              <a:t>+</a:t>
            </a:r>
            <a:endParaRPr lang="en-US" sz="2600" dirty="0"/>
          </a:p>
        </p:txBody>
      </p:sp>
      <p:sp>
        <p:nvSpPr>
          <p:cNvPr id="21" name="Shape 19"/>
          <p:cNvSpPr/>
          <p:nvPr/>
        </p:nvSpPr>
        <p:spPr>
          <a:xfrm>
            <a:off x="8183880" y="2606040"/>
            <a:ext cx="3355848" cy="1673352"/>
          </a:xfrm>
          <a:prstGeom prst="roundRect">
            <a:avLst/>
          </a:prstGeom>
          <a:solidFill>
            <a:srgbClr val="102B3B"/>
          </a:solidFill>
          <a:ln w="10160">
            <a:solidFill>
              <a:srgbClr val="70C9AD"/>
            </a:solidFill>
            <a:prstDash val="solid"/>
          </a:ln>
        </p:spPr>
      </p:sp>
      <p:sp>
        <p:nvSpPr>
          <p:cNvPr id="22" name="Text 20"/>
          <p:cNvSpPr/>
          <p:nvPr/>
        </p:nvSpPr>
        <p:spPr>
          <a:xfrm>
            <a:off x="8366760" y="2889504"/>
            <a:ext cx="2971800" cy="301752"/>
          </a:xfrm>
          <a:prstGeom prst="rect">
            <a:avLst/>
          </a:prstGeom>
          <a:noFill/>
          <a:ln/>
        </p:spPr>
        <p:txBody>
          <a:bodyPr wrap="square" lIns="0" tIns="0" rIns="0" bIns="0" rtlCol="0" anchor="ctr" vert="horz">
            <a:normAutofit/>
          </a:bodyPr>
          <a:lstStyle/>
          <a:p>
            <a:pPr algn="ctr" indent="0" marL="0">
              <a:buNone/>
            </a:pPr>
            <a:r>
              <a:rPr lang="en-US" sz="1800" b="1" dirty="0">
                <a:solidFill>
                  <a:srgbClr val="70C9AD"/>
                </a:solidFill>
                <a:latin typeface="Aptos" pitchFamily="34" charset="0"/>
                <a:ea typeface="Aptos" pitchFamily="34" charset="-122"/>
                <a:cs typeface="Aptos" pitchFamily="34" charset="-120"/>
              </a:rPr>
              <a:t>POLÍTICA VLA</a:t>
            </a:r>
            <a:endParaRPr lang="en-US" sz="1800" dirty="0"/>
          </a:p>
        </p:txBody>
      </p:sp>
      <p:sp>
        <p:nvSpPr>
          <p:cNvPr id="23" name="Text 21"/>
          <p:cNvSpPr/>
          <p:nvPr/>
        </p:nvSpPr>
        <p:spPr>
          <a:xfrm>
            <a:off x="8385048" y="3392424"/>
            <a:ext cx="2953512" cy="594360"/>
          </a:xfrm>
          <a:prstGeom prst="rect">
            <a:avLst/>
          </a:prstGeom>
          <a:noFill/>
          <a:ln/>
        </p:spPr>
        <p:txBody>
          <a:bodyPr wrap="square" lIns="0" tIns="0" rIns="0" bIns="0" rtlCol="0" anchor="ctr" vert="horz">
            <a:normAutofit/>
          </a:bodyPr>
          <a:lstStyle/>
          <a:p>
            <a:pPr algn="ctr" indent="0" marL="0">
              <a:buNone/>
            </a:pPr>
            <a:r>
              <a:rPr lang="en-US" sz="1600" dirty="0">
                <a:solidFill>
                  <a:srgbClr val="F6EEDF"/>
                </a:solidFill>
                <a:latin typeface="Aptos" pitchFamily="34" charset="0"/>
                <a:ea typeface="Aptos" pitchFamily="34" charset="-122"/>
                <a:cs typeface="Aptos" pitchFamily="34" charset="-120"/>
              </a:rPr>
              <a:t>Predice acciones</a:t>
            </a:r>
            <a:endParaRPr lang="en-US" sz="1600" dirty="0"/>
          </a:p>
          <a:p>
            <a:pPr algn="ctr" indent="0" marL="0">
              <a:buNone/>
            </a:pPr>
            <a:r>
              <a:rPr lang="en-US" sz="1600" dirty="0">
                <a:solidFill>
                  <a:srgbClr val="F6EEDF"/>
                </a:solidFill>
                <a:latin typeface="Aptos" pitchFamily="34" charset="0"/>
                <a:ea typeface="Aptos" pitchFamily="34" charset="-122"/>
                <a:cs typeface="Aptos" pitchFamily="34" charset="-120"/>
              </a:rPr>
              <a:t>condicionadas</a:t>
            </a:r>
            <a:endParaRPr lang="en-US" sz="1600" dirty="0"/>
          </a:p>
        </p:txBody>
      </p:sp>
      <p:sp>
        <p:nvSpPr>
          <p:cNvPr id="24" name="Shape 22"/>
          <p:cNvSpPr/>
          <p:nvPr/>
        </p:nvSpPr>
        <p:spPr>
          <a:xfrm>
            <a:off x="9838944" y="4279392"/>
            <a:ext cx="0" cy="914400"/>
          </a:xfrm>
          <a:prstGeom prst="line">
            <a:avLst/>
          </a:prstGeom>
          <a:noFill/>
          <a:ln w="25400">
            <a:solidFill>
              <a:srgbClr val="F3C56C"/>
            </a:solidFill>
            <a:prstDash val="solid"/>
          </a:ln>
        </p:spPr>
      </p:sp>
      <p:sp>
        <p:nvSpPr>
          <p:cNvPr id="25" name="Shape 23"/>
          <p:cNvSpPr/>
          <p:nvPr/>
        </p:nvSpPr>
        <p:spPr>
          <a:xfrm>
            <a:off x="2971800" y="4882896"/>
            <a:ext cx="6400800" cy="621792"/>
          </a:xfrm>
          <a:prstGeom prst="roundRect">
            <a:avLst/>
          </a:prstGeom>
          <a:solidFill>
            <a:srgbClr val="061320"/>
          </a:solidFill>
          <a:ln w="10160">
            <a:solidFill>
              <a:srgbClr val="F3C56C"/>
            </a:solidFill>
            <a:prstDash val="solid"/>
          </a:ln>
        </p:spPr>
      </p:sp>
      <p:sp>
        <p:nvSpPr>
          <p:cNvPr id="26" name="Text 24"/>
          <p:cNvSpPr/>
          <p:nvPr/>
        </p:nvSpPr>
        <p:spPr>
          <a:xfrm>
            <a:off x="3172968" y="5074920"/>
            <a:ext cx="6016752" cy="210312"/>
          </a:xfrm>
          <a:prstGeom prst="rect">
            <a:avLst/>
          </a:prstGeom>
          <a:noFill/>
          <a:ln/>
        </p:spPr>
        <p:txBody>
          <a:bodyPr wrap="square" lIns="0" tIns="0" rIns="0" bIns="0" rtlCol="0" anchor="ctr" vert="horz">
            <a:normAutofit/>
          </a:bodyPr>
          <a:lstStyle/>
          <a:p>
            <a:pPr algn="ctr" indent="0" marL="0">
              <a:buNone/>
            </a:pPr>
            <a:r>
              <a:rPr lang="en-US" sz="1520" b="1" dirty="0">
                <a:solidFill>
                  <a:srgbClr val="F6EEDF"/>
                </a:solidFill>
                <a:latin typeface="Aptos" pitchFamily="34" charset="0"/>
                <a:ea typeface="Aptos" pitchFamily="34" charset="-122"/>
                <a:cs typeface="Aptos" pitchFamily="34" charset="-120"/>
              </a:rPr>
              <a:t>ACCIONES → CONTROLADOR → MOTOR → NUEVA OBSERVACIÓN</a:t>
            </a:r>
            <a:endParaRPr lang="en-US" sz="1520" dirty="0"/>
          </a:p>
        </p:txBody>
      </p:sp>
      <p:sp>
        <p:nvSpPr>
          <p:cNvPr id="27" name="Text 25"/>
          <p:cNvSpPr/>
          <p:nvPr/>
        </p:nvSpPr>
        <p:spPr>
          <a:xfrm>
            <a:off x="1152144" y="5925312"/>
            <a:ext cx="10030968" cy="320040"/>
          </a:xfrm>
          <a:prstGeom prst="rect">
            <a:avLst/>
          </a:prstGeom>
          <a:noFill/>
          <a:ln/>
        </p:spPr>
        <p:txBody>
          <a:bodyPr wrap="square" lIns="0" tIns="0" rIns="0" bIns="0" rtlCol="0" anchor="ctr" vert="horz">
            <a:normAutofit/>
          </a:bodyPr>
          <a:lstStyle/>
          <a:p>
            <a:pPr algn="ctr" indent="0" marL="0">
              <a:buNone/>
            </a:pPr>
            <a:r>
              <a:rPr lang="en-US" sz="1600" dirty="0">
                <a:solidFill>
                  <a:srgbClr val="F3C56C"/>
                </a:solidFill>
                <a:latin typeface="Aptos" pitchFamily="34" charset="0"/>
                <a:ea typeface="Aptos" pitchFamily="34" charset="-122"/>
                <a:cs typeface="Aptos" pitchFamily="34" charset="-120"/>
              </a:rPr>
              <a:t>Un VLA no garantiza seguridad funcional ni generalización fuera de su entrenamiento.</a:t>
            </a:r>
            <a:endParaRPr lang="en-US" sz="1600" dirty="0"/>
          </a:p>
        </p:txBody>
      </p:sp>
      <p:sp>
        <p:nvSpPr>
          <p:cNvPr id="1013" name="VLA policy to controller"/>
          <p:cNvSpPr/>
          <p:nvPr/>
        </p:nvSpPr>
        <p:spPr>
          <a:xfrm>
            <a:off x="9372600" y="5193792"/>
            <a:ext cx="466344" cy="0"/>
          </a:xfrm>
          <a:prstGeom prst="line">
            <a:avLst/>
          </a:prstGeom>
          <a:ln w="22860">
            <a:solidFill>
              <a:srgbClr val="F6C567"/>
            </a:solidFill>
            <a:prstDash val="solid"/>
            <a:headEnd type="triangle" w="med" len="me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LA FRONTERA DE LA ROBÓTICA</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El cuello de botella son los datos de interacción</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Los robots necesitan secuencias percepción–acción–resultado</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LA FRONTERA DE LA ROBÓTICA</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18</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Investigación en IA encarnada, 2024–2026</a:t>
            </a:r>
            <a:endParaRPr lang="en-US" sz="800" dirty="0"/>
          </a:p>
        </p:txBody>
      </p:sp>
      <p:sp>
        <p:nvSpPr>
          <p:cNvPr id="13" name="Shape 11"/>
          <p:cNvSpPr/>
          <p:nvPr/>
        </p:nvSpPr>
        <p:spPr>
          <a:xfrm>
            <a:off x="694944" y="2487168"/>
            <a:ext cx="5230368" cy="1261872"/>
          </a:xfrm>
          <a:prstGeom prst="roundRect">
            <a:avLst/>
          </a:prstGeom>
          <a:solidFill>
            <a:srgbClr val="102B3B"/>
          </a:solidFill>
          <a:ln w="10160">
            <a:solidFill>
              <a:srgbClr val="365061"/>
            </a:solidFill>
            <a:prstDash val="solid"/>
          </a:ln>
        </p:spPr>
      </p:sp>
      <p:sp>
        <p:nvSpPr>
          <p:cNvPr id="14" name="Shape 12"/>
          <p:cNvSpPr/>
          <p:nvPr/>
        </p:nvSpPr>
        <p:spPr>
          <a:xfrm>
            <a:off x="841248" y="2715768"/>
            <a:ext cx="50292" cy="365760"/>
          </a:xfrm>
          <a:prstGeom prst="rect">
            <a:avLst/>
          </a:prstGeom>
          <a:solidFill>
            <a:srgbClr val="F3C56C"/>
          </a:solidFill>
          <a:ln w="12700">
            <a:solidFill>
              <a:srgbClr val="F3C56C">
                <a:alpha val="0"/>
              </a:srgbClr>
            </a:solidFill>
            <a:prstDash val="solid"/>
          </a:ln>
        </p:spPr>
      </p:sp>
      <p:sp>
        <p:nvSpPr>
          <p:cNvPr id="15" name="Text 13"/>
          <p:cNvSpPr/>
          <p:nvPr/>
        </p:nvSpPr>
        <p:spPr>
          <a:xfrm>
            <a:off x="1014984" y="2670048"/>
            <a:ext cx="4754880" cy="411480"/>
          </a:xfrm>
          <a:prstGeom prst="rect">
            <a:avLst/>
          </a:prstGeom>
          <a:noFill/>
          <a:ln/>
        </p:spPr>
        <p:txBody>
          <a:bodyPr wrap="square" lIns="0" tIns="0" rIns="0" bIns="0" rtlCol="0" anchor="ctr" vert="horz">
            <a:normAutofit/>
          </a:bodyPr>
          <a:lstStyle/>
          <a:p>
            <a:pPr algn="l" indent="0" marL="0">
              <a:buNone/>
            </a:pPr>
            <a:r>
              <a:rPr lang="en-US" sz="1650" b="1" dirty="0">
                <a:solidFill>
                  <a:srgbClr val="F6EEDF"/>
                </a:solidFill>
                <a:latin typeface="Aptos" pitchFamily="34" charset="0"/>
                <a:ea typeface="Aptos" pitchFamily="34" charset="-122"/>
                <a:cs typeface="Aptos" pitchFamily="34" charset="-120"/>
              </a:rPr>
              <a:t>DEMOSTRACIÓN HUMANA</a:t>
            </a:r>
            <a:endParaRPr lang="en-US" sz="1650" dirty="0"/>
          </a:p>
        </p:txBody>
      </p:sp>
      <p:sp>
        <p:nvSpPr>
          <p:cNvPr id="16" name="Text 14"/>
          <p:cNvSpPr/>
          <p:nvPr/>
        </p:nvSpPr>
        <p:spPr>
          <a:xfrm>
            <a:off x="978408" y="3246120"/>
            <a:ext cx="4690872" cy="365760"/>
          </a:xfrm>
          <a:prstGeom prst="rect">
            <a:avLst/>
          </a:prstGeom>
          <a:noFill/>
          <a:ln/>
        </p:spPr>
        <p:txBody>
          <a:bodyPr wrap="square" lIns="0" tIns="0" rIns="0" bIns="0" rtlCol="0" anchor="t" vert="horz">
            <a:normAutofit/>
          </a:bodyPr>
          <a:lstStyle/>
          <a:p>
            <a:pPr algn="l" indent="0" marL="0">
              <a:buNone/>
            </a:pPr>
            <a:r>
              <a:rPr lang="en-US" sz="1390" dirty="0">
                <a:solidFill>
                  <a:srgbClr val="A8C0CD"/>
                </a:solidFill>
                <a:latin typeface="Aptos" pitchFamily="34" charset="0"/>
                <a:ea typeface="Aptos" pitchFamily="34" charset="-122"/>
                <a:cs typeface="Aptos" pitchFamily="34" charset="-120"/>
              </a:rPr>
              <a:t>Teleoperación y aprendizaje por imitación</a:t>
            </a:r>
            <a:endParaRPr lang="en-US" sz="1390" dirty="0"/>
          </a:p>
        </p:txBody>
      </p:sp>
      <p:sp>
        <p:nvSpPr>
          <p:cNvPr id="17" name="Shape 15"/>
          <p:cNvSpPr/>
          <p:nvPr/>
        </p:nvSpPr>
        <p:spPr>
          <a:xfrm>
            <a:off x="6227064" y="2487168"/>
            <a:ext cx="5230368" cy="1261872"/>
          </a:xfrm>
          <a:prstGeom prst="roundRect">
            <a:avLst/>
          </a:prstGeom>
          <a:solidFill>
            <a:srgbClr val="102B3B"/>
          </a:solidFill>
          <a:ln w="10160">
            <a:solidFill>
              <a:srgbClr val="365061"/>
            </a:solidFill>
            <a:prstDash val="solid"/>
          </a:ln>
        </p:spPr>
      </p:sp>
      <p:sp>
        <p:nvSpPr>
          <p:cNvPr id="18" name="Shape 16"/>
          <p:cNvSpPr/>
          <p:nvPr/>
        </p:nvSpPr>
        <p:spPr>
          <a:xfrm>
            <a:off x="6373368" y="2715768"/>
            <a:ext cx="50292" cy="365760"/>
          </a:xfrm>
          <a:prstGeom prst="rect">
            <a:avLst/>
          </a:prstGeom>
          <a:solidFill>
            <a:srgbClr val="67CADA"/>
          </a:solidFill>
          <a:ln w="12700">
            <a:solidFill>
              <a:srgbClr val="67CADA">
                <a:alpha val="0"/>
              </a:srgbClr>
            </a:solidFill>
            <a:prstDash val="solid"/>
          </a:ln>
        </p:spPr>
      </p:sp>
      <p:sp>
        <p:nvSpPr>
          <p:cNvPr id="19" name="Text 17"/>
          <p:cNvSpPr/>
          <p:nvPr/>
        </p:nvSpPr>
        <p:spPr>
          <a:xfrm>
            <a:off x="6547104" y="2670048"/>
            <a:ext cx="4754880" cy="411480"/>
          </a:xfrm>
          <a:prstGeom prst="rect">
            <a:avLst/>
          </a:prstGeom>
          <a:noFill/>
          <a:ln/>
        </p:spPr>
        <p:txBody>
          <a:bodyPr wrap="square" lIns="0" tIns="0" rIns="0" bIns="0" rtlCol="0" anchor="ctr" vert="horz">
            <a:normAutofit/>
          </a:bodyPr>
          <a:lstStyle/>
          <a:p>
            <a:pPr algn="l" indent="0" marL="0">
              <a:buNone/>
            </a:pPr>
            <a:r>
              <a:rPr lang="en-US" sz="1650" b="1" dirty="0">
                <a:solidFill>
                  <a:srgbClr val="F6EEDF"/>
                </a:solidFill>
                <a:latin typeface="Aptos" pitchFamily="34" charset="0"/>
                <a:ea typeface="Aptos" pitchFamily="34" charset="-122"/>
                <a:cs typeface="Aptos" pitchFamily="34" charset="-120"/>
              </a:rPr>
              <a:t>SIMULACIÓN</a:t>
            </a:r>
            <a:endParaRPr lang="en-US" sz="1650" dirty="0"/>
          </a:p>
        </p:txBody>
      </p:sp>
      <p:sp>
        <p:nvSpPr>
          <p:cNvPr id="20" name="Text 18"/>
          <p:cNvSpPr/>
          <p:nvPr/>
        </p:nvSpPr>
        <p:spPr>
          <a:xfrm>
            <a:off x="6510528" y="3246120"/>
            <a:ext cx="4690872" cy="365760"/>
          </a:xfrm>
          <a:prstGeom prst="rect">
            <a:avLst/>
          </a:prstGeom>
          <a:noFill/>
          <a:ln/>
        </p:spPr>
        <p:txBody>
          <a:bodyPr wrap="square" lIns="0" tIns="0" rIns="0" bIns="0" rtlCol="0" anchor="t" vert="horz">
            <a:normAutofit/>
          </a:bodyPr>
          <a:lstStyle/>
          <a:p>
            <a:pPr algn="l" indent="0" marL="0">
              <a:buNone/>
            </a:pPr>
            <a:r>
              <a:rPr lang="en-US" sz="1390" dirty="0">
                <a:solidFill>
                  <a:srgbClr val="A8C0CD"/>
                </a:solidFill>
                <a:latin typeface="Aptos" pitchFamily="34" charset="0"/>
                <a:ea typeface="Aptos" pitchFamily="34" charset="-122"/>
                <a:cs typeface="Aptos" pitchFamily="34" charset="-120"/>
              </a:rPr>
              <a:t>Escenarios virtuales y entrenamiento</a:t>
            </a:r>
            <a:endParaRPr lang="en-US" sz="1390" dirty="0"/>
          </a:p>
        </p:txBody>
      </p:sp>
      <p:sp>
        <p:nvSpPr>
          <p:cNvPr id="21" name="Shape 19"/>
          <p:cNvSpPr/>
          <p:nvPr/>
        </p:nvSpPr>
        <p:spPr>
          <a:xfrm>
            <a:off x="694944" y="3931920"/>
            <a:ext cx="5230368" cy="1261872"/>
          </a:xfrm>
          <a:prstGeom prst="roundRect">
            <a:avLst/>
          </a:prstGeom>
          <a:solidFill>
            <a:srgbClr val="102B3B"/>
          </a:solidFill>
          <a:ln w="10160">
            <a:solidFill>
              <a:srgbClr val="365061"/>
            </a:solidFill>
            <a:prstDash val="solid"/>
          </a:ln>
        </p:spPr>
      </p:sp>
      <p:sp>
        <p:nvSpPr>
          <p:cNvPr id="22" name="Shape 20"/>
          <p:cNvSpPr/>
          <p:nvPr/>
        </p:nvSpPr>
        <p:spPr>
          <a:xfrm>
            <a:off x="841248" y="4160520"/>
            <a:ext cx="50292" cy="365760"/>
          </a:xfrm>
          <a:prstGeom prst="rect">
            <a:avLst/>
          </a:prstGeom>
          <a:solidFill>
            <a:srgbClr val="70C9AD"/>
          </a:solidFill>
          <a:ln w="12700">
            <a:solidFill>
              <a:srgbClr val="70C9AD">
                <a:alpha val="0"/>
              </a:srgbClr>
            </a:solidFill>
            <a:prstDash val="solid"/>
          </a:ln>
        </p:spPr>
      </p:sp>
      <p:sp>
        <p:nvSpPr>
          <p:cNvPr id="23" name="Text 21"/>
          <p:cNvSpPr/>
          <p:nvPr/>
        </p:nvSpPr>
        <p:spPr>
          <a:xfrm>
            <a:off x="1014984" y="4114800"/>
            <a:ext cx="4754880" cy="411480"/>
          </a:xfrm>
          <a:prstGeom prst="rect">
            <a:avLst/>
          </a:prstGeom>
          <a:noFill/>
          <a:ln/>
        </p:spPr>
        <p:txBody>
          <a:bodyPr wrap="square" lIns="0" tIns="0" rIns="0" bIns="0" rtlCol="0" anchor="ctr" vert="horz">
            <a:normAutofit/>
          </a:bodyPr>
          <a:lstStyle/>
          <a:p>
            <a:pPr algn="l" indent="0" marL="0">
              <a:buNone/>
            </a:pPr>
            <a:r>
              <a:rPr lang="en-US" sz="1650" b="1" dirty="0">
                <a:solidFill>
                  <a:srgbClr val="F6EEDF"/>
                </a:solidFill>
                <a:latin typeface="Aptos" pitchFamily="34" charset="0"/>
                <a:ea typeface="Aptos" pitchFamily="34" charset="-122"/>
                <a:cs typeface="Aptos" pitchFamily="34" charset="-120"/>
              </a:rPr>
              <a:t>DATOS DEL DESPLIEGUE</a:t>
            </a:r>
            <a:endParaRPr lang="en-US" sz="1650" dirty="0"/>
          </a:p>
        </p:txBody>
      </p:sp>
      <p:sp>
        <p:nvSpPr>
          <p:cNvPr id="24" name="Text 22"/>
          <p:cNvSpPr/>
          <p:nvPr/>
        </p:nvSpPr>
        <p:spPr>
          <a:xfrm>
            <a:off x="978408" y="4690872"/>
            <a:ext cx="4690872" cy="365760"/>
          </a:xfrm>
          <a:prstGeom prst="rect">
            <a:avLst/>
          </a:prstGeom>
          <a:noFill/>
          <a:ln/>
        </p:spPr>
        <p:txBody>
          <a:bodyPr wrap="square" lIns="0" tIns="0" rIns="0" bIns="0" rtlCol="0" anchor="t" vert="horz">
            <a:normAutofit/>
          </a:bodyPr>
          <a:lstStyle/>
          <a:p>
            <a:pPr algn="l" indent="0" marL="0">
              <a:buNone/>
            </a:pPr>
            <a:r>
              <a:rPr lang="en-US" sz="1390" dirty="0">
                <a:solidFill>
                  <a:srgbClr val="A8C0CD"/>
                </a:solidFill>
                <a:latin typeface="Aptos" pitchFamily="34" charset="0"/>
                <a:ea typeface="Aptos" pitchFamily="34" charset="-122"/>
                <a:cs typeface="Aptos" pitchFamily="34" charset="-120"/>
              </a:rPr>
              <a:t>Errores, éxitos, cambios de entorno</a:t>
            </a:r>
            <a:endParaRPr lang="en-US" sz="1390" dirty="0"/>
          </a:p>
        </p:txBody>
      </p:sp>
      <p:sp>
        <p:nvSpPr>
          <p:cNvPr id="25" name="Shape 23"/>
          <p:cNvSpPr/>
          <p:nvPr/>
        </p:nvSpPr>
        <p:spPr>
          <a:xfrm>
            <a:off x="6227064" y="3931920"/>
            <a:ext cx="5230368" cy="1261872"/>
          </a:xfrm>
          <a:prstGeom prst="roundRect">
            <a:avLst/>
          </a:prstGeom>
          <a:solidFill>
            <a:srgbClr val="102B3B"/>
          </a:solidFill>
          <a:ln w="10160">
            <a:solidFill>
              <a:srgbClr val="365061"/>
            </a:solidFill>
            <a:prstDash val="solid"/>
          </a:ln>
        </p:spPr>
      </p:sp>
      <p:sp>
        <p:nvSpPr>
          <p:cNvPr id="26" name="Shape 24"/>
          <p:cNvSpPr/>
          <p:nvPr/>
        </p:nvSpPr>
        <p:spPr>
          <a:xfrm>
            <a:off x="6373368" y="4160520"/>
            <a:ext cx="50292" cy="365760"/>
          </a:xfrm>
          <a:prstGeom prst="rect">
            <a:avLst/>
          </a:prstGeom>
          <a:solidFill>
            <a:srgbClr val="D8524B"/>
          </a:solidFill>
          <a:ln w="12700">
            <a:solidFill>
              <a:srgbClr val="D8524B">
                <a:alpha val="0"/>
              </a:srgbClr>
            </a:solidFill>
            <a:prstDash val="solid"/>
          </a:ln>
        </p:spPr>
      </p:sp>
      <p:sp>
        <p:nvSpPr>
          <p:cNvPr id="27" name="Text 25"/>
          <p:cNvSpPr/>
          <p:nvPr/>
        </p:nvSpPr>
        <p:spPr>
          <a:xfrm>
            <a:off x="6547104" y="4114800"/>
            <a:ext cx="4754880" cy="411480"/>
          </a:xfrm>
          <a:prstGeom prst="rect">
            <a:avLst/>
          </a:prstGeom>
          <a:noFill/>
          <a:ln/>
        </p:spPr>
        <p:txBody>
          <a:bodyPr wrap="square" lIns="0" tIns="0" rIns="0" bIns="0" rtlCol="0" anchor="ctr" vert="horz">
            <a:normAutofit/>
          </a:bodyPr>
          <a:lstStyle/>
          <a:p>
            <a:pPr algn="l" indent="0" marL="0">
              <a:buNone/>
            </a:pPr>
            <a:r>
              <a:rPr lang="en-US" sz="1650" b="1" dirty="0">
                <a:solidFill>
                  <a:srgbClr val="F6EEDF"/>
                </a:solidFill>
                <a:latin typeface="Aptos" pitchFamily="34" charset="0"/>
                <a:ea typeface="Aptos" pitchFamily="34" charset="-122"/>
                <a:cs typeface="Aptos" pitchFamily="34" charset="-120"/>
              </a:rPr>
              <a:t>EVALUACIÓN</a:t>
            </a:r>
            <a:endParaRPr lang="en-US" sz="1650" dirty="0"/>
          </a:p>
        </p:txBody>
      </p:sp>
      <p:sp>
        <p:nvSpPr>
          <p:cNvPr id="28" name="Text 26"/>
          <p:cNvSpPr/>
          <p:nvPr/>
        </p:nvSpPr>
        <p:spPr>
          <a:xfrm>
            <a:off x="6510528" y="4690872"/>
            <a:ext cx="4690872" cy="365760"/>
          </a:xfrm>
          <a:prstGeom prst="rect">
            <a:avLst/>
          </a:prstGeom>
          <a:noFill/>
          <a:ln/>
        </p:spPr>
        <p:txBody>
          <a:bodyPr wrap="square" lIns="0" tIns="0" rIns="0" bIns="0" rtlCol="0" anchor="t" vert="horz">
            <a:normAutofit/>
          </a:bodyPr>
          <a:lstStyle/>
          <a:p>
            <a:pPr algn="l" indent="0" marL="0">
              <a:buNone/>
            </a:pPr>
            <a:r>
              <a:rPr lang="en-US" sz="1390" dirty="0">
                <a:solidFill>
                  <a:srgbClr val="A8C0CD"/>
                </a:solidFill>
                <a:latin typeface="Aptos" pitchFamily="34" charset="0"/>
                <a:ea typeface="Aptos" pitchFamily="34" charset="-122"/>
                <a:cs typeface="Aptos" pitchFamily="34" charset="-120"/>
              </a:rPr>
              <a:t>Seguridad, repetición y transferencia</a:t>
            </a:r>
            <a:endParaRPr lang="en-US" sz="1390" dirty="0"/>
          </a:p>
        </p:txBody>
      </p:sp>
      <p:sp>
        <p:nvSpPr>
          <p:cNvPr id="29" name="Text 27"/>
          <p:cNvSpPr/>
          <p:nvPr/>
        </p:nvSpPr>
        <p:spPr>
          <a:xfrm>
            <a:off x="676656" y="5824728"/>
            <a:ext cx="10835640" cy="384048"/>
          </a:xfrm>
          <a:prstGeom prst="rect">
            <a:avLst/>
          </a:prstGeom>
          <a:noFill/>
          <a:ln/>
        </p:spPr>
        <p:txBody>
          <a:bodyPr wrap="square" lIns="0" tIns="0" rIns="0" bIns="0" rtlCol="0" anchor="ctr" vert="horz">
            <a:normAutofit/>
          </a:bodyPr>
          <a:lstStyle/>
          <a:p>
            <a:pPr algn="ctr" indent="0" marL="0">
              <a:buNone/>
            </a:pPr>
            <a:r>
              <a:rPr lang="en-US" sz="1620" dirty="0">
                <a:solidFill>
                  <a:srgbClr val="F3C56C"/>
                </a:solidFill>
                <a:latin typeface="Aptos" pitchFamily="34" charset="0"/>
                <a:ea typeface="Aptos" pitchFamily="34" charset="-122"/>
                <a:cs typeface="Aptos" pitchFamily="34" charset="-120"/>
              </a:rPr>
              <a:t>DATA FLYWHEEL ≠ PROGRESO AUTOMÁTICO: los datos deben ser útiles, seguros y diversos.</a:t>
            </a:r>
            <a:endParaRPr lang="en-US" sz="16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MÉTODO PARA ANALIZAR VIDEOS</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Cinco niveles de evidencia sobre un robot</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Un clip espectacular no equivale a productividad industrial</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MÉTODO PARA ANALIZAR VIDEOS</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19</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Guía de evaluación didáctica</a:t>
            </a:r>
            <a:endParaRPr lang="en-US" sz="800" dirty="0"/>
          </a:p>
        </p:txBody>
      </p:sp>
      <p:sp>
        <p:nvSpPr>
          <p:cNvPr id="13" name="Shape 11"/>
          <p:cNvSpPr/>
          <p:nvPr/>
        </p:nvSpPr>
        <p:spPr>
          <a:xfrm>
            <a:off x="804672" y="2377440"/>
            <a:ext cx="10607040" cy="548640"/>
          </a:xfrm>
          <a:prstGeom prst="roundRect">
            <a:avLst/>
          </a:prstGeom>
          <a:solidFill>
            <a:srgbClr val="102B3B"/>
          </a:solidFill>
          <a:ln w="10160">
            <a:solidFill>
              <a:srgbClr val="365061"/>
            </a:solidFill>
            <a:prstDash val="solid"/>
          </a:ln>
        </p:spPr>
      </p:sp>
      <p:sp>
        <p:nvSpPr>
          <p:cNvPr id="14" name="Text 12"/>
          <p:cNvSpPr/>
          <p:nvPr/>
        </p:nvSpPr>
        <p:spPr>
          <a:xfrm>
            <a:off x="1033272" y="2468880"/>
            <a:ext cx="438912" cy="338328"/>
          </a:xfrm>
          <a:prstGeom prst="rect">
            <a:avLst/>
          </a:prstGeom>
          <a:noFill/>
          <a:ln/>
        </p:spPr>
        <p:txBody>
          <a:bodyPr wrap="square" lIns="0" tIns="0" rIns="0" bIns="0" rtlCol="0" anchor="ctr" vert="horz">
            <a:normAutofit/>
          </a:bodyPr>
          <a:lstStyle/>
          <a:p>
            <a:pPr algn="l" indent="0" marL="0">
              <a:buNone/>
            </a:pPr>
            <a:r>
              <a:rPr lang="en-US" sz="1700" b="1" dirty="0">
                <a:solidFill>
                  <a:srgbClr val="D8524B"/>
                </a:solidFill>
                <a:latin typeface="Aptos" pitchFamily="34" charset="0"/>
                <a:ea typeface="Aptos" pitchFamily="34" charset="-122"/>
                <a:cs typeface="Aptos" pitchFamily="34" charset="-120"/>
              </a:rPr>
              <a:t>01</a:t>
            </a:r>
            <a:endParaRPr lang="en-US" sz="1700" dirty="0"/>
          </a:p>
        </p:txBody>
      </p:sp>
      <p:sp>
        <p:nvSpPr>
          <p:cNvPr id="15" name="Text 13"/>
          <p:cNvSpPr/>
          <p:nvPr/>
        </p:nvSpPr>
        <p:spPr>
          <a:xfrm>
            <a:off x="1728216" y="2478024"/>
            <a:ext cx="2926080" cy="301752"/>
          </a:xfrm>
          <a:prstGeom prst="rect">
            <a:avLst/>
          </a:prstGeom>
          <a:noFill/>
          <a:ln/>
        </p:spPr>
        <p:txBody>
          <a:bodyPr wrap="square" lIns="0" tIns="0" rIns="0" bIns="0" rtlCol="0" anchor="ctr" vert="horz">
            <a:normAutofit/>
          </a:bodyPr>
          <a:lstStyle/>
          <a:p>
            <a:pPr algn="l" indent="0" marL="0">
              <a:buNone/>
            </a:pPr>
            <a:r>
              <a:rPr lang="en-US" sz="1660" b="1" dirty="0">
                <a:solidFill>
                  <a:srgbClr val="D8524B"/>
                </a:solidFill>
                <a:latin typeface="Aptos" pitchFamily="34" charset="0"/>
                <a:ea typeface="Aptos" pitchFamily="34" charset="-122"/>
                <a:cs typeface="Aptos" pitchFamily="34" charset="-120"/>
              </a:rPr>
              <a:t>VIDEO</a:t>
            </a:r>
            <a:endParaRPr lang="en-US" sz="1660" dirty="0"/>
          </a:p>
        </p:txBody>
      </p:sp>
      <p:sp>
        <p:nvSpPr>
          <p:cNvPr id="16" name="Text 14"/>
          <p:cNvSpPr/>
          <p:nvPr/>
        </p:nvSpPr>
        <p:spPr>
          <a:xfrm>
            <a:off x="4681728" y="2505456"/>
            <a:ext cx="5833872" cy="274320"/>
          </a:xfrm>
          <a:prstGeom prst="rect">
            <a:avLst/>
          </a:prstGeom>
          <a:noFill/>
          <a:ln/>
        </p:spPr>
        <p:txBody>
          <a:bodyPr wrap="square" lIns="0" tIns="0" rIns="0" bIns="0" rtlCol="0" anchor="ctr" vert="horz">
            <a:normAutofit/>
          </a:bodyPr>
          <a:lstStyle/>
          <a:p>
            <a:pPr algn="l" indent="0" marL="0">
              <a:buNone/>
            </a:pPr>
            <a:r>
              <a:rPr lang="en-US" sz="1500" dirty="0">
                <a:solidFill>
                  <a:srgbClr val="F6EEDF"/>
                </a:solidFill>
                <a:latin typeface="Aptos" pitchFamily="34" charset="0"/>
                <a:ea typeface="Aptos" pitchFamily="34" charset="-122"/>
                <a:cs typeface="Aptos" pitchFamily="34" charset="-120"/>
              </a:rPr>
              <a:t>Una acción visible</a:t>
            </a:r>
            <a:endParaRPr lang="en-US" sz="1500" dirty="0"/>
          </a:p>
        </p:txBody>
      </p:sp>
      <p:sp>
        <p:nvSpPr>
          <p:cNvPr id="17" name="Shape 15"/>
          <p:cNvSpPr/>
          <p:nvPr/>
        </p:nvSpPr>
        <p:spPr>
          <a:xfrm>
            <a:off x="804672" y="3044952"/>
            <a:ext cx="10607040" cy="548640"/>
          </a:xfrm>
          <a:prstGeom prst="roundRect">
            <a:avLst/>
          </a:prstGeom>
          <a:solidFill>
            <a:srgbClr val="102B3B"/>
          </a:solidFill>
          <a:ln w="10160">
            <a:solidFill>
              <a:srgbClr val="365061"/>
            </a:solidFill>
            <a:prstDash val="solid"/>
          </a:ln>
        </p:spPr>
      </p:sp>
      <p:sp>
        <p:nvSpPr>
          <p:cNvPr id="18" name="Text 16"/>
          <p:cNvSpPr/>
          <p:nvPr/>
        </p:nvSpPr>
        <p:spPr>
          <a:xfrm>
            <a:off x="1033272" y="3136392"/>
            <a:ext cx="438912" cy="338328"/>
          </a:xfrm>
          <a:prstGeom prst="rect">
            <a:avLst/>
          </a:prstGeom>
          <a:noFill/>
          <a:ln/>
        </p:spPr>
        <p:txBody>
          <a:bodyPr wrap="square" lIns="0" tIns="0" rIns="0" bIns="0" rtlCol="0" anchor="ctr" vert="horz">
            <a:normAutofit/>
          </a:bodyPr>
          <a:lstStyle/>
          <a:p>
            <a:pPr algn="l" indent="0" marL="0">
              <a:buNone/>
            </a:pPr>
            <a:r>
              <a:rPr lang="en-US" sz="1700" b="1" dirty="0">
                <a:solidFill>
                  <a:srgbClr val="F3C56C"/>
                </a:solidFill>
                <a:latin typeface="Aptos" pitchFamily="34" charset="0"/>
                <a:ea typeface="Aptos" pitchFamily="34" charset="-122"/>
                <a:cs typeface="Aptos" pitchFamily="34" charset="-120"/>
              </a:rPr>
              <a:t>02</a:t>
            </a:r>
            <a:endParaRPr lang="en-US" sz="1700" dirty="0"/>
          </a:p>
        </p:txBody>
      </p:sp>
      <p:sp>
        <p:nvSpPr>
          <p:cNvPr id="19" name="Text 17"/>
          <p:cNvSpPr/>
          <p:nvPr/>
        </p:nvSpPr>
        <p:spPr>
          <a:xfrm>
            <a:off x="1728216" y="3145536"/>
            <a:ext cx="2926080" cy="301752"/>
          </a:xfrm>
          <a:prstGeom prst="rect">
            <a:avLst/>
          </a:prstGeom>
          <a:noFill/>
          <a:ln/>
        </p:spPr>
        <p:txBody>
          <a:bodyPr wrap="square" lIns="0" tIns="0" rIns="0" bIns="0" rtlCol="0" anchor="ctr" vert="horz">
            <a:normAutofit/>
          </a:bodyPr>
          <a:lstStyle/>
          <a:p>
            <a:pPr algn="l" indent="0" marL="0">
              <a:buNone/>
            </a:pPr>
            <a:r>
              <a:rPr lang="en-US" sz="1660" b="1" dirty="0">
                <a:solidFill>
                  <a:srgbClr val="F3C56C"/>
                </a:solidFill>
                <a:latin typeface="Aptos" pitchFamily="34" charset="0"/>
                <a:ea typeface="Aptos" pitchFamily="34" charset="-122"/>
                <a:cs typeface="Aptos" pitchFamily="34" charset="-120"/>
              </a:rPr>
              <a:t>PRUEBA</a:t>
            </a:r>
            <a:endParaRPr lang="en-US" sz="1660" dirty="0"/>
          </a:p>
        </p:txBody>
      </p:sp>
      <p:sp>
        <p:nvSpPr>
          <p:cNvPr id="20" name="Text 18"/>
          <p:cNvSpPr/>
          <p:nvPr/>
        </p:nvSpPr>
        <p:spPr>
          <a:xfrm>
            <a:off x="4681728" y="3172968"/>
            <a:ext cx="5833872" cy="274320"/>
          </a:xfrm>
          <a:prstGeom prst="rect">
            <a:avLst/>
          </a:prstGeom>
          <a:noFill/>
          <a:ln/>
        </p:spPr>
        <p:txBody>
          <a:bodyPr wrap="square" lIns="0" tIns="0" rIns="0" bIns="0" rtlCol="0" anchor="ctr" vert="horz">
            <a:normAutofit/>
          </a:bodyPr>
          <a:lstStyle/>
          <a:p>
            <a:pPr algn="l" indent="0" marL="0">
              <a:buNone/>
            </a:pPr>
            <a:r>
              <a:rPr lang="en-US" sz="1500" dirty="0">
                <a:solidFill>
                  <a:srgbClr val="F6EEDF"/>
                </a:solidFill>
                <a:latin typeface="Aptos" pitchFamily="34" charset="0"/>
                <a:ea typeface="Aptos" pitchFamily="34" charset="-122"/>
                <a:cs typeface="Aptos" pitchFamily="34" charset="-120"/>
              </a:rPr>
              <a:t>Escenario identificado</a:t>
            </a:r>
            <a:endParaRPr lang="en-US" sz="1500" dirty="0"/>
          </a:p>
        </p:txBody>
      </p:sp>
      <p:sp>
        <p:nvSpPr>
          <p:cNvPr id="21" name="Shape 19"/>
          <p:cNvSpPr/>
          <p:nvPr/>
        </p:nvSpPr>
        <p:spPr>
          <a:xfrm>
            <a:off x="804672" y="3712464"/>
            <a:ext cx="10607040" cy="548640"/>
          </a:xfrm>
          <a:prstGeom prst="roundRect">
            <a:avLst/>
          </a:prstGeom>
          <a:solidFill>
            <a:srgbClr val="102B3B"/>
          </a:solidFill>
          <a:ln w="10160">
            <a:solidFill>
              <a:srgbClr val="365061"/>
            </a:solidFill>
            <a:prstDash val="solid"/>
          </a:ln>
        </p:spPr>
      </p:sp>
      <p:sp>
        <p:nvSpPr>
          <p:cNvPr id="22" name="Text 20"/>
          <p:cNvSpPr/>
          <p:nvPr/>
        </p:nvSpPr>
        <p:spPr>
          <a:xfrm>
            <a:off x="1033272" y="3803904"/>
            <a:ext cx="438912" cy="338328"/>
          </a:xfrm>
          <a:prstGeom prst="rect">
            <a:avLst/>
          </a:prstGeom>
          <a:noFill/>
          <a:ln/>
        </p:spPr>
        <p:txBody>
          <a:bodyPr wrap="square" lIns="0" tIns="0" rIns="0" bIns="0" rtlCol="0" anchor="ctr" vert="horz">
            <a:normAutofit/>
          </a:bodyPr>
          <a:lstStyle/>
          <a:p>
            <a:pPr algn="l" indent="0" marL="0">
              <a:buNone/>
            </a:pPr>
            <a:r>
              <a:rPr lang="en-US" sz="1700" b="1" dirty="0">
                <a:solidFill>
                  <a:srgbClr val="67CADA"/>
                </a:solidFill>
                <a:latin typeface="Aptos" pitchFamily="34" charset="0"/>
                <a:ea typeface="Aptos" pitchFamily="34" charset="-122"/>
                <a:cs typeface="Aptos" pitchFamily="34" charset="-120"/>
              </a:rPr>
              <a:t>03</a:t>
            </a:r>
            <a:endParaRPr lang="en-US" sz="1700" dirty="0"/>
          </a:p>
        </p:txBody>
      </p:sp>
      <p:sp>
        <p:nvSpPr>
          <p:cNvPr id="23" name="Text 21"/>
          <p:cNvSpPr/>
          <p:nvPr/>
        </p:nvSpPr>
        <p:spPr>
          <a:xfrm>
            <a:off x="1728216" y="3813048"/>
            <a:ext cx="2926080" cy="301752"/>
          </a:xfrm>
          <a:prstGeom prst="rect">
            <a:avLst/>
          </a:prstGeom>
          <a:noFill/>
          <a:ln/>
        </p:spPr>
        <p:txBody>
          <a:bodyPr wrap="square" lIns="0" tIns="0" rIns="0" bIns="0" rtlCol="0" anchor="ctr" vert="horz">
            <a:normAutofit/>
          </a:bodyPr>
          <a:lstStyle/>
          <a:p>
            <a:pPr algn="l" indent="0" marL="0">
              <a:buNone/>
            </a:pPr>
            <a:r>
              <a:rPr lang="en-US" sz="1660" b="1" dirty="0">
                <a:solidFill>
                  <a:srgbClr val="67CADA"/>
                </a:solidFill>
                <a:latin typeface="Aptos" pitchFamily="34" charset="0"/>
                <a:ea typeface="Aptos" pitchFamily="34" charset="-122"/>
                <a:cs typeface="Aptos" pitchFamily="34" charset="-120"/>
              </a:rPr>
              <a:t>PILOTO</a:t>
            </a:r>
            <a:endParaRPr lang="en-US" sz="1660" dirty="0"/>
          </a:p>
        </p:txBody>
      </p:sp>
      <p:sp>
        <p:nvSpPr>
          <p:cNvPr id="24" name="Text 22"/>
          <p:cNvSpPr/>
          <p:nvPr/>
        </p:nvSpPr>
        <p:spPr>
          <a:xfrm>
            <a:off x="4681728" y="3840480"/>
            <a:ext cx="5833872" cy="274320"/>
          </a:xfrm>
          <a:prstGeom prst="rect">
            <a:avLst/>
          </a:prstGeom>
          <a:noFill/>
          <a:ln/>
        </p:spPr>
        <p:txBody>
          <a:bodyPr wrap="square" lIns="0" tIns="0" rIns="0" bIns="0" rtlCol="0" anchor="ctr" vert="horz">
            <a:normAutofit/>
          </a:bodyPr>
          <a:lstStyle/>
          <a:p>
            <a:pPr algn="l" indent="0" marL="0">
              <a:buNone/>
            </a:pPr>
            <a:r>
              <a:rPr lang="en-US" sz="1500" dirty="0">
                <a:solidFill>
                  <a:srgbClr val="F6EEDF"/>
                </a:solidFill>
                <a:latin typeface="Aptos" pitchFamily="34" charset="0"/>
                <a:ea typeface="Aptos" pitchFamily="34" charset="-122"/>
                <a:cs typeface="Aptos" pitchFamily="34" charset="-120"/>
              </a:rPr>
              <a:t>Tareas medidas en contexto real</a:t>
            </a:r>
            <a:endParaRPr lang="en-US" sz="1500" dirty="0"/>
          </a:p>
        </p:txBody>
      </p:sp>
      <p:sp>
        <p:nvSpPr>
          <p:cNvPr id="25" name="Shape 23"/>
          <p:cNvSpPr/>
          <p:nvPr/>
        </p:nvSpPr>
        <p:spPr>
          <a:xfrm>
            <a:off x="804672" y="4379976"/>
            <a:ext cx="10607040" cy="548640"/>
          </a:xfrm>
          <a:prstGeom prst="roundRect">
            <a:avLst/>
          </a:prstGeom>
          <a:solidFill>
            <a:srgbClr val="102B3B"/>
          </a:solidFill>
          <a:ln w="10160">
            <a:solidFill>
              <a:srgbClr val="365061"/>
            </a:solidFill>
            <a:prstDash val="solid"/>
          </a:ln>
        </p:spPr>
      </p:sp>
      <p:sp>
        <p:nvSpPr>
          <p:cNvPr id="26" name="Text 24"/>
          <p:cNvSpPr/>
          <p:nvPr/>
        </p:nvSpPr>
        <p:spPr>
          <a:xfrm>
            <a:off x="1033272" y="4471416"/>
            <a:ext cx="438912" cy="338328"/>
          </a:xfrm>
          <a:prstGeom prst="rect">
            <a:avLst/>
          </a:prstGeom>
          <a:noFill/>
          <a:ln/>
        </p:spPr>
        <p:txBody>
          <a:bodyPr wrap="square" lIns="0" tIns="0" rIns="0" bIns="0" rtlCol="0" anchor="ctr" vert="horz">
            <a:normAutofit/>
          </a:bodyPr>
          <a:lstStyle/>
          <a:p>
            <a:pPr algn="l" indent="0" marL="0">
              <a:buNone/>
            </a:pPr>
            <a:r>
              <a:rPr lang="en-US" sz="1700" b="1" dirty="0">
                <a:solidFill>
                  <a:srgbClr val="70C9AD"/>
                </a:solidFill>
                <a:latin typeface="Aptos" pitchFamily="34" charset="0"/>
                <a:ea typeface="Aptos" pitchFamily="34" charset="-122"/>
                <a:cs typeface="Aptos" pitchFamily="34" charset="-120"/>
              </a:rPr>
              <a:t>04</a:t>
            </a:r>
            <a:endParaRPr lang="en-US" sz="1700" dirty="0"/>
          </a:p>
        </p:txBody>
      </p:sp>
      <p:sp>
        <p:nvSpPr>
          <p:cNvPr id="27" name="Text 25"/>
          <p:cNvSpPr/>
          <p:nvPr/>
        </p:nvSpPr>
        <p:spPr>
          <a:xfrm>
            <a:off x="1728216" y="4480560"/>
            <a:ext cx="2926080" cy="301752"/>
          </a:xfrm>
          <a:prstGeom prst="rect">
            <a:avLst/>
          </a:prstGeom>
          <a:noFill/>
          <a:ln/>
        </p:spPr>
        <p:txBody>
          <a:bodyPr wrap="square" lIns="0" tIns="0" rIns="0" bIns="0" rtlCol="0" anchor="ctr" vert="horz">
            <a:normAutofit/>
          </a:bodyPr>
          <a:lstStyle/>
          <a:p>
            <a:pPr algn="l" indent="0" marL="0">
              <a:buNone/>
            </a:pPr>
            <a:r>
              <a:rPr lang="en-US" sz="1660" b="1" dirty="0">
                <a:solidFill>
                  <a:srgbClr val="70C9AD"/>
                </a:solidFill>
                <a:latin typeface="Aptos" pitchFamily="34" charset="0"/>
                <a:ea typeface="Aptos" pitchFamily="34" charset="-122"/>
                <a:cs typeface="Aptos" pitchFamily="34" charset="-120"/>
              </a:rPr>
              <a:t>DESPLIEGUE</a:t>
            </a:r>
            <a:endParaRPr lang="en-US" sz="1660" dirty="0"/>
          </a:p>
        </p:txBody>
      </p:sp>
      <p:sp>
        <p:nvSpPr>
          <p:cNvPr id="28" name="Text 26"/>
          <p:cNvSpPr/>
          <p:nvPr/>
        </p:nvSpPr>
        <p:spPr>
          <a:xfrm>
            <a:off x="4681728" y="4507992"/>
            <a:ext cx="5833872" cy="274320"/>
          </a:xfrm>
          <a:prstGeom prst="rect">
            <a:avLst/>
          </a:prstGeom>
          <a:noFill/>
          <a:ln/>
        </p:spPr>
        <p:txBody>
          <a:bodyPr wrap="square" lIns="0" tIns="0" rIns="0" bIns="0" rtlCol="0" anchor="ctr" vert="horz">
            <a:normAutofit/>
          </a:bodyPr>
          <a:lstStyle/>
          <a:p>
            <a:pPr algn="l" indent="0" marL="0">
              <a:buNone/>
            </a:pPr>
            <a:r>
              <a:rPr lang="en-US" sz="1500" dirty="0">
                <a:solidFill>
                  <a:srgbClr val="F6EEDF"/>
                </a:solidFill>
                <a:latin typeface="Aptos" pitchFamily="34" charset="0"/>
                <a:ea typeface="Aptos" pitchFamily="34" charset="-122"/>
                <a:cs typeface="Aptos" pitchFamily="34" charset="-120"/>
              </a:rPr>
              <a:t>Operación repetida con clientes</a:t>
            </a:r>
            <a:endParaRPr lang="en-US" sz="1500" dirty="0"/>
          </a:p>
        </p:txBody>
      </p:sp>
      <p:sp>
        <p:nvSpPr>
          <p:cNvPr id="29" name="Shape 27"/>
          <p:cNvSpPr/>
          <p:nvPr/>
        </p:nvSpPr>
        <p:spPr>
          <a:xfrm>
            <a:off x="804672" y="5047488"/>
            <a:ext cx="10607040" cy="548640"/>
          </a:xfrm>
          <a:prstGeom prst="roundRect">
            <a:avLst/>
          </a:prstGeom>
          <a:solidFill>
            <a:srgbClr val="102B3B"/>
          </a:solidFill>
          <a:ln w="10160">
            <a:solidFill>
              <a:srgbClr val="365061"/>
            </a:solidFill>
            <a:prstDash val="solid"/>
          </a:ln>
        </p:spPr>
      </p:sp>
      <p:sp>
        <p:nvSpPr>
          <p:cNvPr id="30" name="Text 28"/>
          <p:cNvSpPr/>
          <p:nvPr/>
        </p:nvSpPr>
        <p:spPr>
          <a:xfrm>
            <a:off x="1033272" y="5138928"/>
            <a:ext cx="438912" cy="338328"/>
          </a:xfrm>
          <a:prstGeom prst="rect">
            <a:avLst/>
          </a:prstGeom>
          <a:noFill/>
          <a:ln/>
        </p:spPr>
        <p:txBody>
          <a:bodyPr wrap="square" lIns="0" tIns="0" rIns="0" bIns="0" rtlCol="0" anchor="ctr" vert="horz">
            <a:normAutofit/>
          </a:bodyPr>
          <a:lstStyle/>
          <a:p>
            <a:pPr algn="l" indent="0" marL="0">
              <a:buNone/>
            </a:pPr>
            <a:r>
              <a:rPr lang="en-US" sz="1700" b="1" dirty="0">
                <a:solidFill>
                  <a:srgbClr val="F3C56C"/>
                </a:solidFill>
                <a:latin typeface="Aptos" pitchFamily="34" charset="0"/>
                <a:ea typeface="Aptos" pitchFamily="34" charset="-122"/>
                <a:cs typeface="Aptos" pitchFamily="34" charset="-120"/>
              </a:rPr>
              <a:t>05</a:t>
            </a:r>
            <a:endParaRPr lang="en-US" sz="1700" dirty="0"/>
          </a:p>
        </p:txBody>
      </p:sp>
      <p:sp>
        <p:nvSpPr>
          <p:cNvPr id="31" name="Text 29"/>
          <p:cNvSpPr/>
          <p:nvPr/>
        </p:nvSpPr>
        <p:spPr>
          <a:xfrm>
            <a:off x="1728216" y="5148072"/>
            <a:ext cx="2926080" cy="301752"/>
          </a:xfrm>
          <a:prstGeom prst="rect">
            <a:avLst/>
          </a:prstGeom>
          <a:noFill/>
          <a:ln/>
        </p:spPr>
        <p:txBody>
          <a:bodyPr wrap="square" lIns="0" tIns="0" rIns="0" bIns="0" rtlCol="0" anchor="ctr" vert="horz">
            <a:normAutofit/>
          </a:bodyPr>
          <a:lstStyle/>
          <a:p>
            <a:pPr algn="l" indent="0" marL="0">
              <a:buNone/>
            </a:pPr>
            <a:r>
              <a:rPr lang="en-US" sz="1660" b="1" dirty="0">
                <a:solidFill>
                  <a:srgbClr val="F3C56C"/>
                </a:solidFill>
                <a:latin typeface="Aptos" pitchFamily="34" charset="0"/>
                <a:ea typeface="Aptos" pitchFamily="34" charset="-122"/>
                <a:cs typeface="Aptos" pitchFamily="34" charset="-120"/>
              </a:rPr>
              <a:t>PRODUCTIVIDAD</a:t>
            </a:r>
            <a:endParaRPr lang="en-US" sz="1660" dirty="0"/>
          </a:p>
        </p:txBody>
      </p:sp>
      <p:sp>
        <p:nvSpPr>
          <p:cNvPr id="32" name="Text 30"/>
          <p:cNvSpPr/>
          <p:nvPr/>
        </p:nvSpPr>
        <p:spPr>
          <a:xfrm>
            <a:off x="4681728" y="5175504"/>
            <a:ext cx="5833872" cy="274320"/>
          </a:xfrm>
          <a:prstGeom prst="rect">
            <a:avLst/>
          </a:prstGeom>
          <a:noFill/>
          <a:ln/>
        </p:spPr>
        <p:txBody>
          <a:bodyPr wrap="square" lIns="0" tIns="0" rIns="0" bIns="0" rtlCol="0" anchor="ctr" vert="horz">
            <a:normAutofit/>
          </a:bodyPr>
          <a:lstStyle/>
          <a:p>
            <a:pPr algn="l" indent="0" marL="0">
              <a:buNone/>
            </a:pPr>
            <a:r>
              <a:rPr lang="en-US" sz="1500" dirty="0">
                <a:solidFill>
                  <a:srgbClr val="F6EEDF"/>
                </a:solidFill>
                <a:latin typeface="Aptos" pitchFamily="34" charset="0"/>
                <a:ea typeface="Aptos" pitchFamily="34" charset="-122"/>
                <a:cs typeface="Aptos" pitchFamily="34" charset="-120"/>
              </a:rPr>
              <a:t>Costo, calidad, seguridad y retorno</a:t>
            </a:r>
            <a:endParaRPr lang="en-US" sz="1500" dirty="0"/>
          </a:p>
        </p:txBody>
      </p:sp>
      <p:sp>
        <p:nvSpPr>
          <p:cNvPr id="33" name="Text 31"/>
          <p:cNvSpPr/>
          <p:nvPr/>
        </p:nvSpPr>
        <p:spPr>
          <a:xfrm>
            <a:off x="832104" y="5989320"/>
            <a:ext cx="10506456" cy="265176"/>
          </a:xfrm>
          <a:prstGeom prst="rect">
            <a:avLst/>
          </a:prstGeom>
          <a:noFill/>
          <a:ln/>
        </p:spPr>
        <p:txBody>
          <a:bodyPr wrap="square" lIns="0" tIns="0" rIns="0" bIns="0" rtlCol="0" anchor="ctr" vert="horz">
            <a:normAutofit/>
          </a:bodyPr>
          <a:lstStyle/>
          <a:p>
            <a:pPr algn="ctr" indent="0" marL="0">
              <a:buNone/>
            </a:pPr>
            <a:r>
              <a:rPr lang="en-US" sz="1520" dirty="0">
                <a:solidFill>
                  <a:srgbClr val="F3C56C"/>
                </a:solidFill>
                <a:latin typeface="Aptos" pitchFamily="34" charset="0"/>
                <a:ea typeface="Aptos" pitchFamily="34" charset="-122"/>
                <a:cs typeface="Aptos" pitchFamily="34" charset="-120"/>
              </a:rPr>
              <a:t>Preguntá siempre: ¿qué se midió, durante cuánto tiempo y con qué intervención humana?</a:t>
            </a:r>
            <a:endParaRPr lang="en-US" sz="15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Ilustración conceptual generada con inteligencia artificial. No representa productos ni despliegues reales.">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61320">
              <a:alpha val="82000"/>
            </a:srgbClr>
          </a:solidFill>
          <a:ln w="12700">
            <a:solidFill>
              <a:srgbClr val="061320">
                <a:alpha val="0"/>
              </a:srgbClr>
            </a:solidFill>
            <a:prstDash val="solid"/>
          </a:ln>
        </p:spPr>
      </p:sp>
      <p:sp>
        <p:nvSpPr>
          <p:cNvPr id="4" name="Shape 1"/>
          <p:cNvSpPr/>
          <p:nvPr/>
        </p:nvSpPr>
        <p:spPr>
          <a:xfrm>
            <a:off x="0" y="0"/>
            <a:ext cx="6720840" cy="6858000"/>
          </a:xfrm>
          <a:prstGeom prst="rect">
            <a:avLst/>
          </a:prstGeom>
          <a:solidFill>
            <a:srgbClr val="061320">
              <a:alpha val="85000"/>
            </a:srgbClr>
          </a:solidFill>
          <a:ln w="12700">
            <a:solidFill>
              <a:srgbClr val="061320">
                <a:alpha val="0"/>
              </a:srgbClr>
            </a:solidFill>
            <a:prstDash val="solid"/>
          </a:ln>
        </p:spPr>
      </p:sp>
      <p:sp>
        <p:nvSpPr>
          <p:cNvPr id="5" name="Text 2"/>
          <p:cNvSpPr/>
          <p:nvPr/>
        </p:nvSpPr>
        <p:spPr>
          <a:xfrm>
            <a:off x="566928" y="411480"/>
            <a:ext cx="3657600" cy="274320"/>
          </a:xfrm>
          <a:prstGeom prst="rect">
            <a:avLst/>
          </a:prstGeom>
          <a:noFill/>
          <a:ln/>
        </p:spPr>
        <p:txBody>
          <a:bodyPr wrap="square" lIns="0" tIns="0" rIns="0" bIns="0" rtlCol="0" anchor="ctr" vert="horz">
            <a:normAutofit/>
          </a:bodyPr>
          <a:lstStyle/>
          <a:p>
            <a:pPr algn="l" indent="0" marL="0">
              <a:buNone/>
            </a:pPr>
            <a:r>
              <a:rPr lang="en-US" sz="1100" b="1" spc="240" kern="0" dirty="0">
                <a:solidFill>
                  <a:srgbClr val="F3C56C"/>
                </a:solidFill>
                <a:latin typeface="Aptos" pitchFamily="34" charset="0"/>
                <a:ea typeface="Aptos" pitchFamily="34" charset="-122"/>
                <a:cs typeface="Aptos" pitchFamily="34" charset="-120"/>
              </a:rPr>
              <a:t>EMPRESAS + INDUSTRIA</a:t>
            </a:r>
            <a:endParaRPr lang="en-US" sz="1100" dirty="0"/>
          </a:p>
        </p:txBody>
      </p:sp>
      <p:sp>
        <p:nvSpPr>
          <p:cNvPr id="6" name="Text 3"/>
          <p:cNvSpPr/>
          <p:nvPr/>
        </p:nvSpPr>
        <p:spPr>
          <a:xfrm>
            <a:off x="11119104" y="365760"/>
            <a:ext cx="548640" cy="310896"/>
          </a:xfrm>
          <a:prstGeom prst="rect">
            <a:avLst/>
          </a:prstGeom>
          <a:noFill/>
          <a:ln/>
        </p:spPr>
        <p:txBody>
          <a:bodyPr wrap="square" lIns="0" tIns="0" rIns="0" bIns="0" rtlCol="0" anchor="ctr" vert="horz">
            <a:normAutofit/>
          </a:bodyPr>
          <a:lstStyle/>
          <a:p>
            <a:pPr algn="r" indent="0" marL="0">
              <a:buNone/>
            </a:pPr>
            <a:r>
              <a:rPr lang="en-US" sz="1700" dirty="0">
                <a:solidFill>
                  <a:srgbClr val="F3C56C"/>
                </a:solidFill>
                <a:latin typeface="Georgia" pitchFamily="34" charset="0"/>
                <a:ea typeface="Georgia" pitchFamily="34" charset="-122"/>
                <a:cs typeface="Georgia" pitchFamily="34" charset="-120"/>
              </a:rPr>
              <a:t>20</a:t>
            </a:r>
            <a:endParaRPr lang="en-US" sz="1700" dirty="0"/>
          </a:p>
        </p:txBody>
      </p:sp>
      <p:sp>
        <p:nvSpPr>
          <p:cNvPr id="7" name="Text 4"/>
          <p:cNvSpPr/>
          <p:nvPr/>
        </p:nvSpPr>
        <p:spPr>
          <a:xfrm>
            <a:off x="630936" y="1143000"/>
            <a:ext cx="7863840" cy="1554480"/>
          </a:xfrm>
          <a:prstGeom prst="rect">
            <a:avLst/>
          </a:prstGeom>
          <a:noFill/>
          <a:ln/>
        </p:spPr>
        <p:txBody>
          <a:bodyPr wrap="square" lIns="0" tIns="0" rIns="0" bIns="0" rtlCol="0" anchor="ctr" vert="horz">
            <a:normAutofit/>
          </a:bodyPr>
          <a:lstStyle/>
          <a:p>
            <a:pPr algn="l" indent="0" marL="0">
              <a:buNone/>
            </a:pPr>
            <a:r>
              <a:rPr lang="en-US" sz="4400" dirty="0">
                <a:solidFill>
                  <a:srgbClr val="F6EEDF"/>
                </a:solidFill>
                <a:latin typeface="Georgia" pitchFamily="34" charset="0"/>
                <a:ea typeface="Georgia" pitchFamily="34" charset="-122"/>
                <a:cs typeface="Georgia" pitchFamily="34" charset="-120"/>
              </a:rPr>
              <a:t>Del laboratorio</a:t>
            </a:r>
            <a:endParaRPr lang="en-US" sz="4400" dirty="0"/>
          </a:p>
          <a:p>
            <a:pPr algn="l" indent="0" marL="0">
              <a:buNone/>
            </a:pPr>
            <a:r>
              <a:rPr lang="en-US" sz="4400" dirty="0">
                <a:solidFill>
                  <a:srgbClr val="F6EEDF"/>
                </a:solidFill>
                <a:latin typeface="Georgia" pitchFamily="34" charset="0"/>
                <a:ea typeface="Georgia" pitchFamily="34" charset="-122"/>
                <a:cs typeface="Georgia" pitchFamily="34" charset="-120"/>
              </a:rPr>
              <a:t>al ecosistema</a:t>
            </a:r>
            <a:endParaRPr lang="en-US" sz="4400" dirty="0"/>
          </a:p>
        </p:txBody>
      </p:sp>
      <p:sp>
        <p:nvSpPr>
          <p:cNvPr id="8" name="Shape 5"/>
          <p:cNvSpPr/>
          <p:nvPr/>
        </p:nvSpPr>
        <p:spPr>
          <a:xfrm>
            <a:off x="676656" y="3081528"/>
            <a:ext cx="4434840" cy="0"/>
          </a:xfrm>
          <a:prstGeom prst="line">
            <a:avLst/>
          </a:prstGeom>
          <a:noFill/>
          <a:ln w="38100">
            <a:solidFill>
              <a:srgbClr val="D8524B"/>
            </a:solidFill>
            <a:prstDash val="solid"/>
          </a:ln>
        </p:spPr>
      </p:sp>
      <p:sp>
        <p:nvSpPr>
          <p:cNvPr id="9" name="Text 6"/>
          <p:cNvSpPr/>
          <p:nvPr/>
        </p:nvSpPr>
        <p:spPr>
          <a:xfrm>
            <a:off x="649224" y="3364992"/>
            <a:ext cx="6080760" cy="411480"/>
          </a:xfrm>
          <a:prstGeom prst="rect">
            <a:avLst/>
          </a:prstGeom>
          <a:noFill/>
          <a:ln/>
        </p:spPr>
        <p:txBody>
          <a:bodyPr wrap="square" lIns="0" tIns="0" rIns="0" bIns="0" rtlCol="0" anchor="ctr" vert="horz">
            <a:normAutofit/>
          </a:bodyPr>
          <a:lstStyle/>
          <a:p>
            <a:pPr algn="l" indent="0" marL="0">
              <a:buNone/>
            </a:pPr>
            <a:r>
              <a:rPr lang="en-US" sz="1900" b="1" dirty="0">
                <a:solidFill>
                  <a:srgbClr val="F3C56C"/>
                </a:solidFill>
                <a:latin typeface="Aptos" pitchFamily="34" charset="0"/>
                <a:ea typeface="Aptos" pitchFamily="34" charset="-122"/>
                <a:cs typeface="Aptos" pitchFamily="34" charset="-120"/>
              </a:rPr>
              <a:t>Las empresas innovan cuando pueden combinar:</a:t>
            </a:r>
            <a:endParaRPr lang="en-US" sz="1900" dirty="0"/>
          </a:p>
        </p:txBody>
      </p:sp>
      <p:sp>
        <p:nvSpPr>
          <p:cNvPr id="10" name="Shape 7"/>
          <p:cNvSpPr/>
          <p:nvPr/>
        </p:nvSpPr>
        <p:spPr>
          <a:xfrm>
            <a:off x="731520" y="4005072"/>
            <a:ext cx="137160" cy="137160"/>
          </a:xfrm>
          <a:prstGeom prst="ellipse">
            <a:avLst/>
          </a:prstGeom>
          <a:solidFill>
            <a:srgbClr val="67CADA"/>
          </a:solidFill>
          <a:ln w="12700">
            <a:solidFill>
              <a:srgbClr val="67CADA">
                <a:alpha val="0"/>
              </a:srgbClr>
            </a:solidFill>
            <a:prstDash val="solid"/>
          </a:ln>
        </p:spPr>
      </p:sp>
      <p:sp>
        <p:nvSpPr>
          <p:cNvPr id="11" name="Text 8"/>
          <p:cNvSpPr/>
          <p:nvPr/>
        </p:nvSpPr>
        <p:spPr>
          <a:xfrm>
            <a:off x="1024128" y="3904488"/>
            <a:ext cx="5303520" cy="310896"/>
          </a:xfrm>
          <a:prstGeom prst="rect">
            <a:avLst/>
          </a:prstGeom>
          <a:noFill/>
          <a:ln/>
        </p:spPr>
        <p:txBody>
          <a:bodyPr wrap="square" lIns="0" tIns="0" rIns="0" bIns="0" rtlCol="0" anchor="ctr" vert="horz">
            <a:normAutofit/>
          </a:bodyPr>
          <a:lstStyle/>
          <a:p>
            <a:pPr algn="l" indent="0" marL="0">
              <a:buNone/>
            </a:pPr>
            <a:r>
              <a:rPr lang="en-US" sz="1940" dirty="0">
                <a:solidFill>
                  <a:srgbClr val="F6EEDF"/>
                </a:solidFill>
                <a:latin typeface="Aptos" pitchFamily="34" charset="0"/>
                <a:ea typeface="Aptos" pitchFamily="34" charset="-122"/>
                <a:cs typeface="Aptos" pitchFamily="34" charset="-120"/>
              </a:rPr>
              <a:t>chips y cómputo</a:t>
            </a:r>
            <a:endParaRPr lang="en-US" sz="1940" dirty="0"/>
          </a:p>
        </p:txBody>
      </p:sp>
      <p:sp>
        <p:nvSpPr>
          <p:cNvPr id="12" name="Shape 9"/>
          <p:cNvSpPr/>
          <p:nvPr/>
        </p:nvSpPr>
        <p:spPr>
          <a:xfrm>
            <a:off x="731520" y="4443984"/>
            <a:ext cx="137160" cy="137160"/>
          </a:xfrm>
          <a:prstGeom prst="ellipse">
            <a:avLst/>
          </a:prstGeom>
          <a:solidFill>
            <a:srgbClr val="67CADA"/>
          </a:solidFill>
          <a:ln w="12700">
            <a:solidFill>
              <a:srgbClr val="67CADA">
                <a:alpha val="0"/>
              </a:srgbClr>
            </a:solidFill>
            <a:prstDash val="solid"/>
          </a:ln>
        </p:spPr>
      </p:sp>
      <p:sp>
        <p:nvSpPr>
          <p:cNvPr id="13" name="Text 10"/>
          <p:cNvSpPr/>
          <p:nvPr/>
        </p:nvSpPr>
        <p:spPr>
          <a:xfrm>
            <a:off x="1024128" y="4343400"/>
            <a:ext cx="5303520" cy="310896"/>
          </a:xfrm>
          <a:prstGeom prst="rect">
            <a:avLst/>
          </a:prstGeom>
          <a:noFill/>
          <a:ln/>
        </p:spPr>
        <p:txBody>
          <a:bodyPr wrap="square" lIns="0" tIns="0" rIns="0" bIns="0" rtlCol="0" anchor="ctr" vert="horz">
            <a:normAutofit/>
          </a:bodyPr>
          <a:lstStyle/>
          <a:p>
            <a:pPr algn="l" indent="0" marL="0">
              <a:buNone/>
            </a:pPr>
            <a:r>
              <a:rPr lang="en-US" sz="1940" dirty="0">
                <a:solidFill>
                  <a:srgbClr val="F6EEDF"/>
                </a:solidFill>
                <a:latin typeface="Aptos" pitchFamily="34" charset="0"/>
                <a:ea typeface="Aptos" pitchFamily="34" charset="-122"/>
                <a:cs typeface="Aptos" pitchFamily="34" charset="-120"/>
              </a:rPr>
              <a:t>talento y datos</a:t>
            </a:r>
            <a:endParaRPr lang="en-US" sz="1940" dirty="0"/>
          </a:p>
        </p:txBody>
      </p:sp>
      <p:sp>
        <p:nvSpPr>
          <p:cNvPr id="14" name="Shape 11"/>
          <p:cNvSpPr/>
          <p:nvPr/>
        </p:nvSpPr>
        <p:spPr>
          <a:xfrm>
            <a:off x="731520" y="4882896"/>
            <a:ext cx="137160" cy="137160"/>
          </a:xfrm>
          <a:prstGeom prst="ellipse">
            <a:avLst/>
          </a:prstGeom>
          <a:solidFill>
            <a:srgbClr val="67CADA"/>
          </a:solidFill>
          <a:ln w="12700">
            <a:solidFill>
              <a:srgbClr val="67CADA">
                <a:alpha val="0"/>
              </a:srgbClr>
            </a:solidFill>
            <a:prstDash val="solid"/>
          </a:ln>
        </p:spPr>
      </p:sp>
      <p:sp>
        <p:nvSpPr>
          <p:cNvPr id="15" name="Text 12"/>
          <p:cNvSpPr/>
          <p:nvPr/>
        </p:nvSpPr>
        <p:spPr>
          <a:xfrm>
            <a:off x="1024128" y="4782312"/>
            <a:ext cx="5303520" cy="310896"/>
          </a:xfrm>
          <a:prstGeom prst="rect">
            <a:avLst/>
          </a:prstGeom>
          <a:noFill/>
          <a:ln/>
        </p:spPr>
        <p:txBody>
          <a:bodyPr wrap="square" lIns="0" tIns="0" rIns="0" bIns="0" rtlCol="0" anchor="ctr" vert="horz">
            <a:normAutofit/>
          </a:bodyPr>
          <a:lstStyle/>
          <a:p>
            <a:pPr algn="l" indent="0" marL="0">
              <a:buNone/>
            </a:pPr>
            <a:r>
              <a:rPr lang="en-US" sz="1940" dirty="0">
                <a:solidFill>
                  <a:srgbClr val="F6EEDF"/>
                </a:solidFill>
                <a:latin typeface="Aptos" pitchFamily="34" charset="0"/>
                <a:ea typeface="Aptos" pitchFamily="34" charset="-122"/>
                <a:cs typeface="Aptos" pitchFamily="34" charset="-120"/>
              </a:rPr>
              <a:t>fabricación y proveedores</a:t>
            </a:r>
            <a:endParaRPr lang="en-US" sz="1940" dirty="0"/>
          </a:p>
        </p:txBody>
      </p:sp>
      <p:sp>
        <p:nvSpPr>
          <p:cNvPr id="16" name="Shape 13"/>
          <p:cNvSpPr/>
          <p:nvPr/>
        </p:nvSpPr>
        <p:spPr>
          <a:xfrm>
            <a:off x="731520" y="5321808"/>
            <a:ext cx="137160" cy="137160"/>
          </a:xfrm>
          <a:prstGeom prst="ellipse">
            <a:avLst/>
          </a:prstGeom>
          <a:solidFill>
            <a:srgbClr val="67CADA"/>
          </a:solidFill>
          <a:ln w="12700">
            <a:solidFill>
              <a:srgbClr val="67CADA">
                <a:alpha val="0"/>
              </a:srgbClr>
            </a:solidFill>
            <a:prstDash val="solid"/>
          </a:ln>
        </p:spPr>
      </p:sp>
      <p:sp>
        <p:nvSpPr>
          <p:cNvPr id="17" name="Text 14"/>
          <p:cNvSpPr/>
          <p:nvPr/>
        </p:nvSpPr>
        <p:spPr>
          <a:xfrm>
            <a:off x="1024128" y="5221224"/>
            <a:ext cx="5303520" cy="310896"/>
          </a:xfrm>
          <a:prstGeom prst="rect">
            <a:avLst/>
          </a:prstGeom>
          <a:noFill/>
          <a:ln/>
        </p:spPr>
        <p:txBody>
          <a:bodyPr wrap="square" lIns="0" tIns="0" rIns="0" bIns="0" rtlCol="0" anchor="ctr" vert="horz">
            <a:normAutofit/>
          </a:bodyPr>
          <a:lstStyle/>
          <a:p>
            <a:pPr algn="l" indent="0" marL="0">
              <a:buNone/>
            </a:pPr>
            <a:r>
              <a:rPr lang="en-US" sz="1940" dirty="0">
                <a:solidFill>
                  <a:srgbClr val="F6EEDF"/>
                </a:solidFill>
                <a:latin typeface="Aptos" pitchFamily="34" charset="0"/>
                <a:ea typeface="Aptos" pitchFamily="34" charset="-122"/>
                <a:cs typeface="Aptos" pitchFamily="34" charset="-120"/>
              </a:rPr>
              <a:t>integradores y clientes</a:t>
            </a:r>
            <a:endParaRPr lang="en-US" sz="1940" dirty="0"/>
          </a:p>
        </p:txBody>
      </p:sp>
      <p:sp>
        <p:nvSpPr>
          <p:cNvPr id="18" name="Shape 15"/>
          <p:cNvSpPr/>
          <p:nvPr/>
        </p:nvSpPr>
        <p:spPr>
          <a:xfrm>
            <a:off x="502920" y="6483096"/>
            <a:ext cx="11201400" cy="0"/>
          </a:xfrm>
          <a:prstGeom prst="line">
            <a:avLst/>
          </a:prstGeom>
          <a:noFill/>
          <a:ln w="8890">
            <a:solidFill>
              <a:srgbClr val="365061"/>
            </a:solidFill>
            <a:prstDash val="solid"/>
          </a:ln>
        </p:spPr>
      </p:sp>
      <p:sp>
        <p:nvSpPr>
          <p:cNvPr id="19" name="Text 16"/>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20" name="Text 17"/>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ECOSISTEMA INDUSTRIAL</a:t>
            </a:r>
            <a:endParaRPr lang="en-US" sz="720" dirty="0"/>
          </a:p>
        </p:txBody>
      </p:sp>
      <p:sp>
        <p:nvSpPr>
          <p:cNvPr id="21" name="Text 18"/>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20</a:t>
            </a:r>
            <a:endParaRPr lang="en-US" sz="1100" dirty="0"/>
          </a:p>
        </p:txBody>
      </p:sp>
      <p:sp>
        <p:nvSpPr>
          <p:cNvPr id="1002" name="Conceptual illustration disclosure">
            <a:extLst>
              <a:ext uri="{FF2B5EF4-FFF2-40B4-BE49-F238E27FC236}">
                <a16:creationId xmlns:a16="http://schemas.microsoft.com/office/drawing/2014/main" id="{5E8E27A2-2DD4-4602-8C1E-9EBCB2AAD2FE}"/>
              </a:ext>
            </a:extLst>
          </p:cNvPr>
          <p:cNvSpPr>
            <a:spLocks noGrp="1"/>
          </p:cNvSpPr>
          <p:nvPr/>
        </p:nvSpPr>
        <p:spPr>
          <a:xfrm>
            <a:off x="609600" y="6191250"/>
            <a:ext cx="5905500" cy="209550"/>
          </a:xfrm>
          <a:prstGeom prst="rect">
            <a:avLst/>
          </a:prstGeom>
          <a:noFill/>
          <a:ln w="0">
            <a:noFill/>
            <a:prstDash val="solid"/>
          </a:ln>
        </p:spPr>
        <p:txBody>
          <a:bodyPr/>
          <a:lstStyle>
            <a:defPPr>
              <a:defRPr sz="975">
                <a:solidFill>
                  <a:srgbClr val="ADC8D2"/>
                </a:solidFill>
              </a:defRPr>
            </a:defPPr>
            <a:lvl1pPr>
              <a:defRPr sz="975">
                <a:solidFill>
                  <a:srgbClr val="ADC8D2"/>
                </a:solidFill>
              </a:defRPr>
            </a:lvl1pPr>
            <a:lvl2pPr>
              <a:defRPr sz="975">
                <a:solidFill>
                  <a:srgbClr val="ADC8D2"/>
                </a:solidFill>
              </a:defRPr>
            </a:lvl2pPr>
            <a:lvl3pPr>
              <a:defRPr sz="975">
                <a:solidFill>
                  <a:srgbClr val="ADC8D2"/>
                </a:solidFill>
              </a:defRPr>
            </a:lvl3pPr>
            <a:lvl4pPr>
              <a:defRPr sz="975">
                <a:solidFill>
                  <a:srgbClr val="ADC8D2"/>
                </a:solidFill>
              </a:defRPr>
            </a:lvl4pPr>
            <a:lvl5pPr>
              <a:defRPr sz="975">
                <a:solidFill>
                  <a:srgbClr val="ADC8D2"/>
                </a:solidFill>
              </a:defRPr>
            </a:lvl5pPr>
            <a:lvl6pPr>
              <a:defRPr sz="975">
                <a:solidFill>
                  <a:srgbClr val="ADC8D2"/>
                </a:solidFill>
              </a:defRPr>
            </a:lvl6pPr>
            <a:lvl7pPr>
              <a:defRPr sz="975">
                <a:solidFill>
                  <a:srgbClr val="ADC8D2"/>
                </a:solidFill>
              </a:defRPr>
            </a:lvl7pPr>
            <a:lvl8pPr>
              <a:defRPr sz="975">
                <a:solidFill>
                  <a:srgbClr val="ADC8D2"/>
                </a:solidFill>
              </a:defRPr>
            </a:lvl8pPr>
            <a:lvl9pPr>
              <a:defRPr sz="975">
                <a:solidFill>
                  <a:srgbClr val="ADC8D2"/>
                </a:solidFill>
              </a:defRPr>
            </a:lvl9pPr>
          </a:lstStyle>
          <a:p>
            <a:pPr>
              <a:defRPr sz="975">
                <a:solidFill>
                  <a:srgbClr val="ADC8D2"/>
                </a:solidFill>
              </a:defRPr>
            </a:pPr>
            <a:r>
              <a:rPr sz="975">
                <a:solidFill>
                  <a:srgbClr val="ADC8D2"/>
                </a:solidFill>
              </a:rPr>
              <a:t>Ilustración conceptual generada con IA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FORTALEZAS Y LÍMITES</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Más innovación también significa más tensiones</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La competencia acelera avances, pero no garantiza rentabilidad</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FORTALEZAS Y LÍMITES</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21</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Síntesis analítica</a:t>
            </a:r>
            <a:endParaRPr lang="en-US" sz="800" dirty="0"/>
          </a:p>
        </p:txBody>
      </p:sp>
      <p:sp>
        <p:nvSpPr>
          <p:cNvPr id="13" name="Shape 11"/>
          <p:cNvSpPr/>
          <p:nvPr/>
        </p:nvSpPr>
        <p:spPr>
          <a:xfrm>
            <a:off x="676656" y="2514600"/>
            <a:ext cx="5367528" cy="3008376"/>
          </a:xfrm>
          <a:prstGeom prst="roundRect">
            <a:avLst/>
          </a:prstGeom>
          <a:solidFill>
            <a:srgbClr val="102B3B"/>
          </a:solidFill>
          <a:ln w="10160">
            <a:solidFill>
              <a:srgbClr val="365061"/>
            </a:solidFill>
            <a:prstDash val="solid"/>
          </a:ln>
        </p:spPr>
      </p:sp>
      <p:sp>
        <p:nvSpPr>
          <p:cNvPr id="14" name="Shape 12"/>
          <p:cNvSpPr/>
          <p:nvPr/>
        </p:nvSpPr>
        <p:spPr>
          <a:xfrm>
            <a:off x="822960" y="2743200"/>
            <a:ext cx="50292" cy="365760"/>
          </a:xfrm>
          <a:prstGeom prst="rect">
            <a:avLst/>
          </a:prstGeom>
          <a:solidFill>
            <a:srgbClr val="70C9AD"/>
          </a:solidFill>
          <a:ln w="12700">
            <a:solidFill>
              <a:srgbClr val="70C9AD">
                <a:alpha val="0"/>
              </a:srgbClr>
            </a:solidFill>
            <a:prstDash val="solid"/>
          </a:ln>
        </p:spPr>
      </p:sp>
      <p:sp>
        <p:nvSpPr>
          <p:cNvPr id="15" name="Text 13"/>
          <p:cNvSpPr/>
          <p:nvPr/>
        </p:nvSpPr>
        <p:spPr>
          <a:xfrm>
            <a:off x="996696" y="2697480"/>
            <a:ext cx="4892040" cy="411480"/>
          </a:xfrm>
          <a:prstGeom prst="rect">
            <a:avLst/>
          </a:prstGeom>
          <a:noFill/>
          <a:ln/>
        </p:spPr>
        <p:txBody>
          <a:bodyPr wrap="square" lIns="0" tIns="0" rIns="0" bIns="0" rtlCol="0" anchor="ctr" vert="horz">
            <a:normAutofit/>
          </a:bodyPr>
          <a:lstStyle/>
          <a:p>
            <a:pPr algn="l" indent="0" marL="0">
              <a:buNone/>
            </a:pPr>
            <a:r>
              <a:rPr lang="en-US" sz="2300" b="1" dirty="0">
                <a:solidFill>
                  <a:srgbClr val="F6EEDF"/>
                </a:solidFill>
                <a:latin typeface="Aptos" pitchFamily="34" charset="0"/>
                <a:ea typeface="Aptos" pitchFamily="34" charset="-122"/>
                <a:cs typeface="Aptos" pitchFamily="34" charset="-120"/>
              </a:rPr>
              <a:t>FORTALEZAS</a:t>
            </a:r>
            <a:endParaRPr lang="en-US" sz="2300" dirty="0"/>
          </a:p>
        </p:txBody>
      </p:sp>
      <p:sp>
        <p:nvSpPr>
          <p:cNvPr id="16" name="Text 14"/>
          <p:cNvSpPr/>
          <p:nvPr/>
        </p:nvSpPr>
        <p:spPr>
          <a:xfrm>
            <a:off x="960120" y="3273552"/>
            <a:ext cx="4828032" cy="2112264"/>
          </a:xfrm>
          <a:prstGeom prst="rect">
            <a:avLst/>
          </a:prstGeom>
          <a:noFill/>
          <a:ln/>
        </p:spPr>
        <p:txBody>
          <a:bodyPr wrap="square" lIns="0" tIns="0" rIns="0" bIns="0" rtlCol="0" anchor="t" vert="horz">
            <a:normAutofit/>
          </a:bodyPr>
          <a:lstStyle/>
          <a:p>
            <a:pPr algn="l" indent="0" marL="0">
              <a:buNone/>
            </a:pPr>
            <a:r>
              <a:rPr lang="en-US" sz="1600" dirty="0">
                <a:solidFill>
                  <a:srgbClr val="A8C0CD"/>
                </a:solidFill>
                <a:latin typeface="Aptos" pitchFamily="34" charset="0"/>
                <a:ea typeface="Aptos" pitchFamily="34" charset="-122"/>
                <a:cs typeface="Aptos" pitchFamily="34" charset="-120"/>
              </a:rPr>
              <a:t>• Ingeniería y velocidad de iteración</a:t>
            </a:r>
            <a:endParaRPr lang="en-US" sz="1600" dirty="0"/>
          </a:p>
          <a:p>
            <a:pPr algn="l" indent="0" marL="0">
              <a:buNone/>
            </a:pPr>
            <a:r>
              <a:rPr lang="en-US" sz="1600" dirty="0">
                <a:solidFill>
                  <a:srgbClr val="A8C0CD"/>
                </a:solidFill>
                <a:latin typeface="Aptos" pitchFamily="34" charset="0"/>
                <a:ea typeface="Aptos" pitchFamily="34" charset="-122"/>
                <a:cs typeface="Aptos" pitchFamily="34" charset="-120"/>
              </a:rPr>
              <a:t>• Escala de producción y proveedores</a:t>
            </a:r>
            <a:endParaRPr lang="en-US" sz="1600" dirty="0"/>
          </a:p>
          <a:p>
            <a:pPr algn="l" indent="0" marL="0">
              <a:buNone/>
            </a:pPr>
            <a:r>
              <a:rPr lang="en-US" sz="1600" dirty="0">
                <a:solidFill>
                  <a:srgbClr val="A8C0CD"/>
                </a:solidFill>
                <a:latin typeface="Aptos" pitchFamily="34" charset="0"/>
                <a:ea typeface="Aptos" pitchFamily="34" charset="-122"/>
                <a:cs typeface="Aptos" pitchFamily="34" charset="-120"/>
              </a:rPr>
              <a:t>• Variedad de empresas y modelos</a:t>
            </a:r>
            <a:endParaRPr lang="en-US" sz="1600" dirty="0"/>
          </a:p>
          <a:p>
            <a:pPr algn="l" indent="0" marL="0">
              <a:buNone/>
            </a:pPr>
            <a:r>
              <a:rPr lang="en-US" sz="1600" dirty="0">
                <a:solidFill>
                  <a:srgbClr val="A8C0CD"/>
                </a:solidFill>
                <a:latin typeface="Aptos" pitchFamily="34" charset="0"/>
                <a:ea typeface="Aptos" pitchFamily="34" charset="-122"/>
                <a:cs typeface="Aptos" pitchFamily="34" charset="-120"/>
              </a:rPr>
              <a:t>• Experimentación empresarial</a:t>
            </a:r>
            <a:endParaRPr lang="en-US" sz="1600" dirty="0"/>
          </a:p>
          <a:p>
            <a:pPr algn="l" indent="0" marL="0">
              <a:buNone/>
            </a:pPr>
            <a:r>
              <a:rPr lang="en-US" sz="1600" dirty="0">
                <a:solidFill>
                  <a:srgbClr val="A8C0CD"/>
                </a:solidFill>
                <a:latin typeface="Aptos" pitchFamily="34" charset="0"/>
                <a:ea typeface="Aptos" pitchFamily="34" charset="-122"/>
                <a:cs typeface="Aptos" pitchFamily="34" charset="-120"/>
              </a:rPr>
              <a:t>• Creciente acceso a herramientas</a:t>
            </a:r>
            <a:endParaRPr lang="en-US" sz="1600" dirty="0"/>
          </a:p>
        </p:txBody>
      </p:sp>
      <p:sp>
        <p:nvSpPr>
          <p:cNvPr id="17" name="Shape 15"/>
          <p:cNvSpPr/>
          <p:nvPr/>
        </p:nvSpPr>
        <p:spPr>
          <a:xfrm>
            <a:off x="6208776" y="2514600"/>
            <a:ext cx="5321808" cy="3008376"/>
          </a:xfrm>
          <a:prstGeom prst="roundRect">
            <a:avLst/>
          </a:prstGeom>
          <a:solidFill>
            <a:srgbClr val="102B3B"/>
          </a:solidFill>
          <a:ln w="10160">
            <a:solidFill>
              <a:srgbClr val="365061"/>
            </a:solidFill>
            <a:prstDash val="solid"/>
          </a:ln>
        </p:spPr>
      </p:sp>
      <p:sp>
        <p:nvSpPr>
          <p:cNvPr id="18" name="Shape 16"/>
          <p:cNvSpPr/>
          <p:nvPr/>
        </p:nvSpPr>
        <p:spPr>
          <a:xfrm>
            <a:off x="6355080" y="2743200"/>
            <a:ext cx="50292" cy="365760"/>
          </a:xfrm>
          <a:prstGeom prst="rect">
            <a:avLst/>
          </a:prstGeom>
          <a:solidFill>
            <a:srgbClr val="D8524B"/>
          </a:solidFill>
          <a:ln w="12700">
            <a:solidFill>
              <a:srgbClr val="D8524B">
                <a:alpha val="0"/>
              </a:srgbClr>
            </a:solidFill>
            <a:prstDash val="solid"/>
          </a:ln>
        </p:spPr>
      </p:sp>
      <p:sp>
        <p:nvSpPr>
          <p:cNvPr id="19" name="Text 17"/>
          <p:cNvSpPr/>
          <p:nvPr/>
        </p:nvSpPr>
        <p:spPr>
          <a:xfrm>
            <a:off x="6528816" y="2697480"/>
            <a:ext cx="4846320" cy="411480"/>
          </a:xfrm>
          <a:prstGeom prst="rect">
            <a:avLst/>
          </a:prstGeom>
          <a:noFill/>
          <a:ln/>
        </p:spPr>
        <p:txBody>
          <a:bodyPr wrap="square" lIns="0" tIns="0" rIns="0" bIns="0" rtlCol="0" anchor="ctr" vert="horz">
            <a:normAutofit/>
          </a:bodyPr>
          <a:lstStyle/>
          <a:p>
            <a:pPr algn="l" indent="0" marL="0">
              <a:buNone/>
            </a:pPr>
            <a:r>
              <a:rPr lang="en-US" sz="2300" b="1" dirty="0">
                <a:solidFill>
                  <a:srgbClr val="F6EEDF"/>
                </a:solidFill>
                <a:latin typeface="Aptos" pitchFamily="34" charset="0"/>
                <a:ea typeface="Aptos" pitchFamily="34" charset="-122"/>
                <a:cs typeface="Aptos" pitchFamily="34" charset="-120"/>
              </a:rPr>
              <a:t>LÍMITES</a:t>
            </a:r>
            <a:endParaRPr lang="en-US" sz="2300" dirty="0"/>
          </a:p>
        </p:txBody>
      </p:sp>
      <p:sp>
        <p:nvSpPr>
          <p:cNvPr id="20" name="Text 18"/>
          <p:cNvSpPr/>
          <p:nvPr/>
        </p:nvSpPr>
        <p:spPr>
          <a:xfrm>
            <a:off x="6492240" y="3273552"/>
            <a:ext cx="4782312" cy="2112264"/>
          </a:xfrm>
          <a:prstGeom prst="rect">
            <a:avLst/>
          </a:prstGeom>
          <a:noFill/>
          <a:ln/>
        </p:spPr>
        <p:txBody>
          <a:bodyPr wrap="square" lIns="0" tIns="0" rIns="0" bIns="0" rtlCol="0" anchor="t" vert="horz">
            <a:normAutofit/>
          </a:bodyPr>
          <a:lstStyle/>
          <a:p>
            <a:pPr algn="l" indent="0" marL="0">
              <a:buNone/>
            </a:pPr>
            <a:r>
              <a:rPr lang="en-US" sz="1600" dirty="0">
                <a:solidFill>
                  <a:srgbClr val="A8C0CD"/>
                </a:solidFill>
                <a:latin typeface="Aptos" pitchFamily="34" charset="0"/>
                <a:ea typeface="Aptos" pitchFamily="34" charset="-122"/>
                <a:cs typeface="Aptos" pitchFamily="34" charset="-120"/>
              </a:rPr>
              <a:t>• Dependencia de componentes y cómputo</a:t>
            </a:r>
            <a:endParaRPr lang="en-US" sz="1600" dirty="0"/>
          </a:p>
          <a:p>
            <a:pPr algn="l" indent="0" marL="0">
              <a:buNone/>
            </a:pPr>
            <a:r>
              <a:rPr lang="en-US" sz="1600" dirty="0">
                <a:solidFill>
                  <a:srgbClr val="A8C0CD"/>
                </a:solidFill>
                <a:latin typeface="Aptos" pitchFamily="34" charset="0"/>
                <a:ea typeface="Aptos" pitchFamily="34" charset="-122"/>
                <a:cs typeface="Aptos" pitchFamily="34" charset="-120"/>
              </a:rPr>
              <a:t>• Datos físicos caros y poco diversos</a:t>
            </a:r>
            <a:endParaRPr lang="en-US" sz="1600" dirty="0"/>
          </a:p>
          <a:p>
            <a:pPr algn="l" indent="0" marL="0">
              <a:buNone/>
            </a:pPr>
            <a:r>
              <a:rPr lang="en-US" sz="1600" dirty="0">
                <a:solidFill>
                  <a:srgbClr val="A8C0CD"/>
                </a:solidFill>
                <a:latin typeface="Aptos" pitchFamily="34" charset="0"/>
                <a:ea typeface="Aptos" pitchFamily="34" charset="-122"/>
                <a:cs typeface="Aptos" pitchFamily="34" charset="-120"/>
              </a:rPr>
              <a:t>• Seguridad y fiabilidad operativa</a:t>
            </a:r>
            <a:endParaRPr lang="en-US" sz="1600" dirty="0"/>
          </a:p>
          <a:p>
            <a:pPr algn="l" indent="0" marL="0">
              <a:buNone/>
            </a:pPr>
            <a:r>
              <a:rPr lang="en-US" sz="1600" dirty="0">
                <a:solidFill>
                  <a:srgbClr val="A8C0CD"/>
                </a:solidFill>
                <a:latin typeface="Aptos" pitchFamily="34" charset="0"/>
                <a:ea typeface="Aptos" pitchFamily="34" charset="-122"/>
                <a:cs typeface="Aptos" pitchFamily="34" charset="-120"/>
              </a:rPr>
              <a:t>• Sobreinversión y presión de precios</a:t>
            </a:r>
            <a:endParaRPr lang="en-US" sz="1600" dirty="0"/>
          </a:p>
          <a:p>
            <a:pPr algn="l" indent="0" marL="0">
              <a:buNone/>
            </a:pPr>
            <a:r>
              <a:rPr lang="en-US" sz="1600" dirty="0">
                <a:solidFill>
                  <a:srgbClr val="A8C0CD"/>
                </a:solidFill>
                <a:latin typeface="Aptos" pitchFamily="34" charset="0"/>
                <a:ea typeface="Aptos" pitchFamily="34" charset="-122"/>
                <a:cs typeface="Aptos" pitchFamily="34" charset="-120"/>
              </a:rPr>
              <a:t>• Dificultad de monetizar pilotos</a:t>
            </a:r>
            <a:endParaRPr lang="en-US" sz="1600" dirty="0"/>
          </a:p>
        </p:txBody>
      </p:sp>
      <p:sp>
        <p:nvSpPr>
          <p:cNvPr id="21" name="Text 19"/>
          <p:cNvSpPr/>
          <p:nvPr/>
        </p:nvSpPr>
        <p:spPr>
          <a:xfrm>
            <a:off x="822960" y="5943600"/>
            <a:ext cx="10515600" cy="320040"/>
          </a:xfrm>
          <a:prstGeom prst="rect">
            <a:avLst/>
          </a:prstGeom>
          <a:noFill/>
          <a:ln/>
        </p:spPr>
        <p:txBody>
          <a:bodyPr wrap="square" lIns="0" tIns="0" rIns="0" bIns="0" rtlCol="0" anchor="ctr" vert="horz">
            <a:normAutofit/>
          </a:bodyPr>
          <a:lstStyle/>
          <a:p>
            <a:pPr algn="ctr" indent="0" marL="0">
              <a:buNone/>
            </a:pPr>
            <a:r>
              <a:rPr lang="en-US" sz="1550" dirty="0">
                <a:solidFill>
                  <a:srgbClr val="F3C56C"/>
                </a:solidFill>
                <a:latin typeface="Aptos" pitchFamily="34" charset="0"/>
                <a:ea typeface="Aptos" pitchFamily="34" charset="-122"/>
                <a:cs typeface="Aptos" pitchFamily="34" charset="-120"/>
              </a:rPr>
              <a:t>Una empresa con una gran demostración puede enfrentar aún un modelo de negocio no probado.</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Ilustración conceptual generada con inteligencia artificial. No representa productos ni despliegues reales.">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61320">
              <a:alpha val="58000"/>
            </a:srgbClr>
          </a:solidFill>
          <a:ln w="12700">
            <a:solidFill>
              <a:srgbClr val="061320">
                <a:alpha val="0"/>
              </a:srgbClr>
            </a:solidFill>
            <a:prstDash val="solid"/>
          </a:ln>
        </p:spPr>
      </p:sp>
      <p:sp>
        <p:nvSpPr>
          <p:cNvPr id="4" name="Text 1"/>
          <p:cNvSpPr/>
          <p:nvPr/>
        </p:nvSpPr>
        <p:spPr>
          <a:xfrm>
            <a:off x="566928" y="411480"/>
            <a:ext cx="3657600" cy="274320"/>
          </a:xfrm>
          <a:prstGeom prst="rect">
            <a:avLst/>
          </a:prstGeom>
          <a:noFill/>
          <a:ln/>
        </p:spPr>
        <p:txBody>
          <a:bodyPr wrap="square" lIns="0" tIns="0" rIns="0" bIns="0" rtlCol="0" anchor="ctr" vert="horz">
            <a:normAutofit/>
          </a:bodyPr>
          <a:lstStyle/>
          <a:p>
            <a:pPr algn="l" indent="0" marL="0">
              <a:buNone/>
            </a:pPr>
            <a:r>
              <a:rPr lang="en-US" sz="1100" b="1" spc="240" kern="0" dirty="0">
                <a:solidFill>
                  <a:srgbClr val="F3C56C"/>
                </a:solidFill>
                <a:latin typeface="Aptos" pitchFamily="34" charset="0"/>
                <a:ea typeface="Aptos" pitchFamily="34" charset="-122"/>
                <a:cs typeface="Aptos" pitchFamily="34" charset="-120"/>
              </a:rPr>
              <a:t>SÍNTESIS DEL MÓDULO</a:t>
            </a:r>
            <a:endParaRPr lang="en-US" sz="1100" dirty="0"/>
          </a:p>
        </p:txBody>
      </p:sp>
      <p:sp>
        <p:nvSpPr>
          <p:cNvPr id="5" name="Text 2"/>
          <p:cNvSpPr/>
          <p:nvPr/>
        </p:nvSpPr>
        <p:spPr>
          <a:xfrm>
            <a:off x="11119104" y="365760"/>
            <a:ext cx="548640" cy="310896"/>
          </a:xfrm>
          <a:prstGeom prst="rect">
            <a:avLst/>
          </a:prstGeom>
          <a:noFill/>
          <a:ln/>
        </p:spPr>
        <p:txBody>
          <a:bodyPr wrap="square" lIns="0" tIns="0" rIns="0" bIns="0" rtlCol="0" anchor="ctr" vert="horz">
            <a:normAutofit/>
          </a:bodyPr>
          <a:lstStyle/>
          <a:p>
            <a:pPr algn="r" indent="0" marL="0">
              <a:buNone/>
            </a:pPr>
            <a:r>
              <a:rPr lang="en-US" sz="1700" dirty="0">
                <a:solidFill>
                  <a:srgbClr val="F3C56C"/>
                </a:solidFill>
                <a:latin typeface="Georgia" pitchFamily="34" charset="0"/>
                <a:ea typeface="Georgia" pitchFamily="34" charset="-122"/>
                <a:cs typeface="Georgia" pitchFamily="34" charset="-120"/>
              </a:rPr>
              <a:t>22</a:t>
            </a:r>
            <a:endParaRPr lang="en-US" sz="1700" dirty="0"/>
          </a:p>
        </p:txBody>
      </p:sp>
      <p:sp>
        <p:nvSpPr>
          <p:cNvPr id="6" name="Text 3"/>
          <p:cNvSpPr/>
          <p:nvPr/>
        </p:nvSpPr>
        <p:spPr>
          <a:xfrm>
            <a:off x="621792" y="941832"/>
            <a:ext cx="7863840" cy="1737360"/>
          </a:xfrm>
          <a:prstGeom prst="rect">
            <a:avLst/>
          </a:prstGeom>
          <a:noFill/>
          <a:ln/>
        </p:spPr>
        <p:txBody>
          <a:bodyPr wrap="square" lIns="0" tIns="0" rIns="0" bIns="0" rtlCol="0" anchor="ctr" vert="horz">
            <a:normAutofit/>
          </a:bodyPr>
          <a:lstStyle/>
          <a:p>
            <a:pPr algn="l" indent="0" marL="0">
              <a:buNone/>
            </a:pPr>
            <a:r>
              <a:rPr lang="en-US" sz="4400" dirty="0">
                <a:solidFill>
                  <a:srgbClr val="F6EEDF"/>
                </a:solidFill>
                <a:latin typeface="Georgia" pitchFamily="34" charset="0"/>
                <a:ea typeface="Georgia" pitchFamily="34" charset="-122"/>
                <a:cs typeface="Georgia" pitchFamily="34" charset="-120"/>
              </a:rPr>
              <a:t>La innovación no</a:t>
            </a:r>
            <a:endParaRPr lang="en-US" sz="4400" dirty="0"/>
          </a:p>
          <a:p>
            <a:pPr algn="l" indent="0" marL="0">
              <a:buNone/>
            </a:pPr>
            <a:r>
              <a:rPr lang="en-US" sz="4400" dirty="0">
                <a:solidFill>
                  <a:srgbClr val="F6EEDF"/>
                </a:solidFill>
                <a:latin typeface="Georgia" pitchFamily="34" charset="0"/>
                <a:ea typeface="Georgia" pitchFamily="34" charset="-122"/>
                <a:cs typeface="Georgia" pitchFamily="34" charset="-120"/>
              </a:rPr>
              <a:t>termina en un video.</a:t>
            </a:r>
            <a:endParaRPr lang="en-US" sz="4400" dirty="0"/>
          </a:p>
        </p:txBody>
      </p:sp>
      <p:sp>
        <p:nvSpPr>
          <p:cNvPr id="7" name="Text 4"/>
          <p:cNvSpPr/>
          <p:nvPr/>
        </p:nvSpPr>
        <p:spPr>
          <a:xfrm>
            <a:off x="640080" y="2999232"/>
            <a:ext cx="7315200" cy="868680"/>
          </a:xfrm>
          <a:prstGeom prst="rect">
            <a:avLst/>
          </a:prstGeom>
          <a:noFill/>
          <a:ln/>
        </p:spPr>
        <p:txBody>
          <a:bodyPr wrap="square" lIns="0" tIns="0" rIns="0" bIns="0" rtlCol="0" anchor="ctr" vert="horz">
            <a:normAutofit/>
          </a:bodyPr>
          <a:lstStyle/>
          <a:p>
            <a:pPr algn="l" indent="0" marL="0">
              <a:buNone/>
            </a:pPr>
            <a:r>
              <a:rPr lang="en-US" sz="2400" dirty="0">
                <a:solidFill>
                  <a:srgbClr val="F3C56C"/>
                </a:solidFill>
                <a:latin typeface="Georgia" pitchFamily="34" charset="0"/>
                <a:ea typeface="Georgia" pitchFamily="34" charset="-122"/>
                <a:cs typeface="Georgia" pitchFamily="34" charset="-120"/>
              </a:rPr>
              <a:t>El androide simboliza empresas que convierten conocimiento en tecnologías operativas.</a:t>
            </a:r>
            <a:endParaRPr lang="en-US" sz="2400" dirty="0"/>
          </a:p>
        </p:txBody>
      </p:sp>
      <p:sp>
        <p:nvSpPr>
          <p:cNvPr id="8" name="Shape 5"/>
          <p:cNvSpPr/>
          <p:nvPr/>
        </p:nvSpPr>
        <p:spPr>
          <a:xfrm>
            <a:off x="630936" y="4187952"/>
            <a:ext cx="7726680" cy="960120"/>
          </a:xfrm>
          <a:prstGeom prst="roundRect">
            <a:avLst/>
          </a:prstGeom>
          <a:solidFill>
            <a:srgbClr val="102B3B"/>
          </a:solidFill>
          <a:ln w="10160">
            <a:solidFill>
              <a:srgbClr val="365061"/>
            </a:solidFill>
            <a:prstDash val="solid"/>
          </a:ln>
        </p:spPr>
      </p:sp>
      <p:sp>
        <p:nvSpPr>
          <p:cNvPr id="9" name="Text 6"/>
          <p:cNvSpPr/>
          <p:nvPr/>
        </p:nvSpPr>
        <p:spPr>
          <a:xfrm>
            <a:off x="832104" y="4489704"/>
            <a:ext cx="7351776" cy="411480"/>
          </a:xfrm>
          <a:prstGeom prst="rect">
            <a:avLst/>
          </a:prstGeom>
          <a:noFill/>
          <a:ln/>
        </p:spPr>
        <p:txBody>
          <a:bodyPr wrap="square" lIns="0" tIns="0" rIns="0" bIns="0" rtlCol="0" anchor="ctr" vert="horz">
            <a:normAutofit/>
          </a:bodyPr>
          <a:lstStyle/>
          <a:p>
            <a:pPr algn="ctr" indent="0" marL="0">
              <a:buNone/>
            </a:pPr>
            <a:r>
              <a:rPr lang="en-US" sz="1840" b="1" dirty="0">
                <a:solidFill>
                  <a:srgbClr val="F6EEDF"/>
                </a:solidFill>
                <a:latin typeface="Aptos" pitchFamily="34" charset="0"/>
                <a:ea typeface="Aptos" pitchFamily="34" charset="-122"/>
                <a:cs typeface="Aptos" pitchFamily="34" charset="-120"/>
              </a:rPr>
              <a:t>El Estado orienta  ·  Las empresas innovan  ·  La infraestructura permite escalar</a:t>
            </a:r>
            <a:endParaRPr lang="en-US" sz="1840" dirty="0"/>
          </a:p>
        </p:txBody>
      </p:sp>
      <p:sp>
        <p:nvSpPr>
          <p:cNvPr id="10" name="Text 7"/>
          <p:cNvSpPr/>
          <p:nvPr/>
        </p:nvSpPr>
        <p:spPr>
          <a:xfrm>
            <a:off x="640080" y="5522976"/>
            <a:ext cx="6720840" cy="292608"/>
          </a:xfrm>
          <a:prstGeom prst="rect">
            <a:avLst/>
          </a:prstGeom>
          <a:noFill/>
          <a:ln/>
        </p:spPr>
        <p:txBody>
          <a:bodyPr wrap="square" lIns="0" tIns="0" rIns="0" bIns="0" rtlCol="0" anchor="ctr" vert="horz">
            <a:normAutofit/>
          </a:bodyPr>
          <a:lstStyle/>
          <a:p>
            <a:pPr algn="l" indent="0" marL="0">
              <a:buNone/>
            </a:pPr>
            <a:r>
              <a:rPr lang="en-US" sz="1500" b="1" spc="80" kern="0" dirty="0">
                <a:solidFill>
                  <a:srgbClr val="67CADA"/>
                </a:solidFill>
                <a:latin typeface="Aptos" pitchFamily="34" charset="0"/>
                <a:ea typeface="Aptos" pitchFamily="34" charset="-122"/>
                <a:cs typeface="Aptos" pitchFamily="34" charset="-120"/>
              </a:rPr>
              <a:t>PRÓXIMO MÓDULO: LA INFRAESTRUCTURA</a:t>
            </a:r>
            <a:endParaRPr lang="en-US" sz="1500" dirty="0"/>
          </a:p>
        </p:txBody>
      </p:sp>
      <p:sp>
        <p:nvSpPr>
          <p:cNvPr id="11" name="Text 8"/>
          <p:cNvSpPr/>
          <p:nvPr/>
        </p:nvSpPr>
        <p:spPr>
          <a:xfrm>
            <a:off x="630936" y="6126480"/>
            <a:ext cx="7680960" cy="301752"/>
          </a:xfrm>
          <a:prstGeom prst="rect">
            <a:avLst/>
          </a:prstGeom>
          <a:noFill/>
          <a:ln/>
        </p:spPr>
        <p:txBody>
          <a:bodyPr wrap="square" lIns="0" tIns="0" rIns="0" bIns="0" rtlCol="0" anchor="ctr" vert="horz">
            <a:normAutofit/>
          </a:bodyPr>
          <a:lstStyle/>
          <a:p>
            <a:pPr algn="l" indent="0" marL="0">
              <a:buNone/>
            </a:pPr>
            <a:r>
              <a:rPr lang="en-US" sz="1320" b="1" dirty="0">
                <a:solidFill>
                  <a:srgbClr val="F3C56C"/>
                </a:solidFill>
                <a:latin typeface="Aptos" pitchFamily="34" charset="0"/>
                <a:ea typeface="Aptos" pitchFamily="34" charset="-122"/>
                <a:cs typeface="Aptos" pitchFamily="34" charset="-120"/>
              </a:rPr>
              <a:t>Material elaborado por el profesor Sergio Gevatschnaider</a:t>
            </a:r>
            <a:endParaRPr lang="en-US" sz="1320" dirty="0"/>
          </a:p>
        </p:txBody>
      </p:sp>
      <p:sp>
        <p:nvSpPr>
          <p:cNvPr id="1002" name="Conceptual illustration disclosure">
            <a:extLst>
              <a:ext uri="{FF2B5EF4-FFF2-40B4-BE49-F238E27FC236}">
                <a16:creationId xmlns:a16="http://schemas.microsoft.com/office/drawing/2014/main" id="{7D648ECF-3957-415B-A4DF-0818CD78FCD1}"/>
              </a:ext>
            </a:extLst>
          </p:cNvPr>
          <p:cNvSpPr>
            <a:spLocks noGrp="1"/>
          </p:cNvSpPr>
          <p:nvPr/>
        </p:nvSpPr>
        <p:spPr>
          <a:xfrm>
            <a:off x="609600" y="6534150"/>
            <a:ext cx="5905500" cy="209550"/>
          </a:xfrm>
          <a:prstGeom prst="rect">
            <a:avLst/>
          </a:prstGeom>
          <a:noFill/>
          <a:ln w="0">
            <a:noFill/>
            <a:prstDash val="solid"/>
          </a:ln>
        </p:spPr>
        <p:txBody>
          <a:bodyPr/>
          <a:lstStyle>
            <a:defPPr>
              <a:defRPr sz="975">
                <a:solidFill>
                  <a:srgbClr val="ADC8D2"/>
                </a:solidFill>
              </a:defRPr>
            </a:defPPr>
            <a:lvl1pPr>
              <a:defRPr sz="975">
                <a:solidFill>
                  <a:srgbClr val="ADC8D2"/>
                </a:solidFill>
              </a:defRPr>
            </a:lvl1pPr>
            <a:lvl2pPr>
              <a:defRPr sz="975">
                <a:solidFill>
                  <a:srgbClr val="ADC8D2"/>
                </a:solidFill>
              </a:defRPr>
            </a:lvl2pPr>
            <a:lvl3pPr>
              <a:defRPr sz="975">
                <a:solidFill>
                  <a:srgbClr val="ADC8D2"/>
                </a:solidFill>
              </a:defRPr>
            </a:lvl3pPr>
            <a:lvl4pPr>
              <a:defRPr sz="975">
                <a:solidFill>
                  <a:srgbClr val="ADC8D2"/>
                </a:solidFill>
              </a:defRPr>
            </a:lvl4pPr>
            <a:lvl5pPr>
              <a:defRPr sz="975">
                <a:solidFill>
                  <a:srgbClr val="ADC8D2"/>
                </a:solidFill>
              </a:defRPr>
            </a:lvl5pPr>
            <a:lvl6pPr>
              <a:defRPr sz="975">
                <a:solidFill>
                  <a:srgbClr val="ADC8D2"/>
                </a:solidFill>
              </a:defRPr>
            </a:lvl6pPr>
            <a:lvl7pPr>
              <a:defRPr sz="975">
                <a:solidFill>
                  <a:srgbClr val="ADC8D2"/>
                </a:solidFill>
              </a:defRPr>
            </a:lvl7pPr>
            <a:lvl8pPr>
              <a:defRPr sz="975">
                <a:solidFill>
                  <a:srgbClr val="ADC8D2"/>
                </a:solidFill>
              </a:defRPr>
            </a:lvl8pPr>
            <a:lvl9pPr>
              <a:defRPr sz="975">
                <a:solidFill>
                  <a:srgbClr val="ADC8D2"/>
                </a:solidFill>
              </a:defRPr>
            </a:lvl9pPr>
          </a:lstStyle>
          <a:p>
            <a:pPr>
              <a:defRPr sz="975">
                <a:solidFill>
                  <a:srgbClr val="ADC8D2"/>
                </a:solidFill>
              </a:defRPr>
            </a:pPr>
            <a:r>
              <a:rPr sz="975">
                <a:solidFill>
                  <a:srgbClr val="ADC8D2"/>
                </a:solidFill>
              </a:rPr>
              <a:t>Ilustración conceptual generada con IA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BIBLIOGRAFÍA · EVIDENCIA</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Fuentes primarias: robótica y despliegue</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Documentos consultables y verificables · 20/10/2026</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BIBLIOGRAFÍA · EVIDENCIA</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23</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FUENTES: estadística sectorial y declaraciones empresariales</a:t>
            </a:r>
            <a:endParaRPr lang="en-US" sz="800" dirty="0"/>
          </a:p>
        </p:txBody>
      </p:sp>
      <p:sp>
        <p:nvSpPr>
          <p:cNvPr id="13" name="Shape 11"/>
          <p:cNvSpPr/>
          <p:nvPr/>
        </p:nvSpPr>
        <p:spPr>
          <a:xfrm>
            <a:off x="685800" y="2368296"/>
            <a:ext cx="10881360" cy="621792"/>
          </a:xfrm>
          <a:prstGeom prst="roundRect">
            <a:avLst/>
          </a:prstGeom>
          <a:solidFill>
            <a:srgbClr val="102B3B"/>
          </a:solidFill>
          <a:ln w="10160">
            <a:solidFill>
              <a:srgbClr val="365061"/>
            </a:solidFill>
            <a:prstDash val="solid"/>
          </a:ln>
        </p:spPr>
      </p:sp>
      <p:sp>
        <p:nvSpPr>
          <p:cNvPr id="14" name="Text 12"/>
          <p:cNvSpPr/>
          <p:nvPr/>
        </p:nvSpPr>
        <p:spPr>
          <a:xfrm>
            <a:off x="896112" y="2459736"/>
            <a:ext cx="3959352" cy="256032"/>
          </a:xfrm>
          <a:prstGeom prst="rect">
            <a:avLst/>
          </a:prstGeom>
          <a:noFill/>
          <a:ln/>
        </p:spPr>
        <p:txBody>
          <a:bodyPr wrap="square" lIns="0" tIns="0" rIns="0" bIns="0" rtlCol="0" anchor="ctr" vert="horz">
            <a:normAutofit/>
          </a:bodyPr>
          <a:lstStyle/>
          <a:p>
            <a:pPr algn="l" indent="0" marL="0">
              <a:buNone/>
            </a:pPr>
            <a:r>
              <a:rPr lang="en-US" sz="1640" b="1" dirty="0">
                <a:solidFill>
                  <a:srgbClr val="F3C56C"/>
                </a:solidFill>
                <a:latin typeface="Aptos" pitchFamily="34" charset="0"/>
                <a:ea typeface="Aptos" pitchFamily="34" charset="-122"/>
                <a:cs typeface="Aptos" pitchFamily="34" charset="-120"/>
              </a:rPr>
              <a:t>IFR · World Robotics 2026</a:t>
            </a:r>
            <a:endParaRPr lang="en-US" sz="1640" dirty="0"/>
          </a:p>
        </p:txBody>
      </p:sp>
      <p:sp>
        <p:nvSpPr>
          <p:cNvPr id="15" name="Text 13"/>
          <p:cNvSpPr/>
          <p:nvPr/>
        </p:nvSpPr>
        <p:spPr>
          <a:xfrm>
            <a:off x="4736592" y="2496312"/>
            <a:ext cx="6355080" cy="219456"/>
          </a:xfrm>
          <a:prstGeom prst="rect">
            <a:avLst/>
          </a:prstGeom>
          <a:noFill/>
          <a:ln/>
        </p:spPr>
        <p:txBody>
          <a:bodyPr wrap="square" lIns="0" tIns="0" rIns="0" bIns="0" rtlCol="0" anchor="ctr" vert="horz">
            <a:normAutofit/>
          </a:bodyPr>
          <a:lstStyle/>
          <a:p>
            <a:pPr algn="l" indent="0" marL="0">
              <a:buNone/>
            </a:pPr>
            <a:r>
              <a:rPr lang="en-US" sz="1370" dirty="0">
                <a:solidFill>
                  <a:srgbClr val="A8C0CD"/>
                </a:solidFill>
                <a:latin typeface="Aptos" pitchFamily="34" charset="0"/>
                <a:ea typeface="Aptos" pitchFamily="34" charset="-122"/>
                <a:cs typeface="Aptos" pitchFamily="34" charset="-120"/>
              </a:rPr>
              <a:t>China: instalaciones industriales de 2025</a:t>
            </a:r>
            <a:endParaRPr lang="en-US" sz="1370" dirty="0"/>
          </a:p>
        </p:txBody>
      </p:sp>
      <p:sp>
        <p:nvSpPr>
          <p:cNvPr id="16" name="Text 14">
            <a:hlinkClick r:id="rId1" tooltip=""/>
          </p:cNvPr>
          <p:cNvSpPr/>
          <p:nvPr/>
        </p:nvSpPr>
        <p:spPr>
          <a:xfrm>
            <a:off x="11082528" y="2478024"/>
            <a:ext cx="228600" cy="182880"/>
          </a:xfrm>
          <a:prstGeom prst="rect">
            <a:avLst/>
          </a:prstGeom>
          <a:noFill/>
          <a:ln/>
        </p:spPr>
        <p:txBody>
          <a:bodyPr wrap="square" lIns="0" tIns="0" rIns="0" bIns="0" rtlCol="0" anchor="ctr"/>
          <a:lstStyle/>
          <a:p>
            <a:pPr indent="0" marL="0">
              <a:buNone/>
            </a:pPr>
            <a:r>
              <a:rPr lang="en-US" sz="1400" u="sng" dirty="0">
                <a:solidFill>
                  <a:srgbClr val="67CADA"/>
                </a:solidFill>
                <a:hlinkClick r:id="rId1" invalidUrl="" action="" tgtFrame="" tooltip="" history="1" highlightClick="0" endSnd="0">
                  <a:extLst>
                    <a:ext uri="{A12FA001-AC4F-418D-AE19-62706E023703}">
                      <ahyp:hlinkClr xmlns:ahyp="http://schemas.microsoft.com/office/drawing/2018/hyperlinkcolor" val="tx"/>
                    </a:ext>
                  </a:extLst>
                </a:hlinkClick>
              </a:rPr>
              <a:t>↗</a:t>
            </a:r>
            <a:endParaRPr lang="en-US" sz="1400" dirty="0"/>
          </a:p>
        </p:txBody>
      </p:sp>
      <p:sp>
        <p:nvSpPr>
          <p:cNvPr id="17" name="Shape 15"/>
          <p:cNvSpPr/>
          <p:nvPr/>
        </p:nvSpPr>
        <p:spPr>
          <a:xfrm>
            <a:off x="685800" y="3072384"/>
            <a:ext cx="10881360" cy="621792"/>
          </a:xfrm>
          <a:prstGeom prst="roundRect">
            <a:avLst/>
          </a:prstGeom>
          <a:solidFill>
            <a:srgbClr val="102B3B"/>
          </a:solidFill>
          <a:ln w="10160">
            <a:solidFill>
              <a:srgbClr val="365061"/>
            </a:solidFill>
            <a:prstDash val="solid"/>
          </a:ln>
        </p:spPr>
      </p:sp>
      <p:sp>
        <p:nvSpPr>
          <p:cNvPr id="18" name="Text 16"/>
          <p:cNvSpPr/>
          <p:nvPr/>
        </p:nvSpPr>
        <p:spPr>
          <a:xfrm>
            <a:off x="896112" y="3163824"/>
            <a:ext cx="3959352" cy="256032"/>
          </a:xfrm>
          <a:prstGeom prst="rect">
            <a:avLst/>
          </a:prstGeom>
          <a:noFill/>
          <a:ln/>
        </p:spPr>
        <p:txBody>
          <a:bodyPr wrap="square" lIns="0" tIns="0" rIns="0" bIns="0" rtlCol="0" anchor="ctr" vert="horz">
            <a:normAutofit/>
          </a:bodyPr>
          <a:lstStyle/>
          <a:p>
            <a:pPr algn="l" indent="0" marL="0">
              <a:buNone/>
            </a:pPr>
            <a:r>
              <a:rPr lang="en-US" sz="1640" b="1" dirty="0">
                <a:solidFill>
                  <a:srgbClr val="67CADA"/>
                </a:solidFill>
                <a:latin typeface="Aptos" pitchFamily="34" charset="0"/>
                <a:ea typeface="Noto Sans SC" pitchFamily="34" charset="-122"/>
                <a:cs typeface="Aptos" pitchFamily="34" charset="-120"/>
              </a:rPr>
              <a:t>Unitree · G1 / 宇树人形机器人</a:t>
            </a:r>
            <a:endParaRPr lang="en-US" sz="1640" dirty="0"/>
          </a:p>
        </p:txBody>
      </p:sp>
      <p:sp>
        <p:nvSpPr>
          <p:cNvPr id="19" name="Text 17"/>
          <p:cNvSpPr/>
          <p:nvPr/>
        </p:nvSpPr>
        <p:spPr>
          <a:xfrm>
            <a:off x="4736592" y="3200400"/>
            <a:ext cx="6355080" cy="219456"/>
          </a:xfrm>
          <a:prstGeom prst="rect">
            <a:avLst/>
          </a:prstGeom>
          <a:noFill/>
          <a:ln/>
        </p:spPr>
        <p:txBody>
          <a:bodyPr wrap="square" lIns="0" tIns="0" rIns="0" bIns="0" rtlCol="0" anchor="ctr" vert="horz">
            <a:normAutofit/>
          </a:bodyPr>
          <a:lstStyle/>
          <a:p>
            <a:pPr algn="l" indent="0" marL="0">
              <a:buNone/>
            </a:pPr>
            <a:r>
              <a:rPr lang="en-US" sz="1370" dirty="0">
                <a:solidFill>
                  <a:srgbClr val="A8C0CD"/>
                </a:solidFill>
                <a:latin typeface="Aptos" pitchFamily="34" charset="0"/>
                <a:ea typeface="Aptos" pitchFamily="34" charset="-122"/>
                <a:cs typeface="Aptos" pitchFamily="34" charset="-120"/>
              </a:rPr>
              <a:t>Ficha de características declaradas</a:t>
            </a:r>
            <a:endParaRPr lang="en-US" sz="1370" dirty="0"/>
          </a:p>
        </p:txBody>
      </p:sp>
      <p:sp>
        <p:nvSpPr>
          <p:cNvPr id="20" name="Text 18">
            <a:hlinkClick r:id="rId2" tooltip=""/>
          </p:cNvPr>
          <p:cNvSpPr/>
          <p:nvPr/>
        </p:nvSpPr>
        <p:spPr>
          <a:xfrm>
            <a:off x="11082528" y="3182112"/>
            <a:ext cx="228600" cy="182880"/>
          </a:xfrm>
          <a:prstGeom prst="rect">
            <a:avLst/>
          </a:prstGeom>
          <a:noFill/>
          <a:ln/>
        </p:spPr>
        <p:txBody>
          <a:bodyPr wrap="square" lIns="0" tIns="0" rIns="0" bIns="0" rtlCol="0" anchor="ctr"/>
          <a:lstStyle/>
          <a:p>
            <a:pPr indent="0" marL="0">
              <a:buNone/>
            </a:pPr>
            <a:r>
              <a:rPr lang="en-US" sz="1400" u="sng" dirty="0">
                <a:solidFill>
                  <a:srgbClr val="67CADA"/>
                </a:solidFill>
                <a:hlinkClick r:id="rId2" invalidUrl="" action="" tgtFrame="" tooltip="" history="1" highlightClick="0" endSnd="0">
                  <a:extLst>
                    <a:ext uri="{A12FA001-AC4F-418D-AE19-62706E023703}">
                      <ahyp:hlinkClr xmlns:ahyp="http://schemas.microsoft.com/office/drawing/2018/hyperlinkcolor" val="tx"/>
                    </a:ext>
                  </a:extLst>
                </a:hlinkClick>
              </a:rPr>
              <a:t>↗</a:t>
            </a:r>
            <a:endParaRPr lang="en-US" sz="1400" dirty="0"/>
          </a:p>
        </p:txBody>
      </p:sp>
      <p:sp>
        <p:nvSpPr>
          <p:cNvPr id="21" name="Shape 19"/>
          <p:cNvSpPr/>
          <p:nvPr/>
        </p:nvSpPr>
        <p:spPr>
          <a:xfrm>
            <a:off x="685800" y="3776472"/>
            <a:ext cx="10881360" cy="621792"/>
          </a:xfrm>
          <a:prstGeom prst="roundRect">
            <a:avLst/>
          </a:prstGeom>
          <a:solidFill>
            <a:srgbClr val="102B3B"/>
          </a:solidFill>
          <a:ln w="10160">
            <a:solidFill>
              <a:srgbClr val="365061"/>
            </a:solidFill>
            <a:prstDash val="solid"/>
          </a:ln>
        </p:spPr>
      </p:sp>
      <p:sp>
        <p:nvSpPr>
          <p:cNvPr id="22" name="Text 20"/>
          <p:cNvSpPr/>
          <p:nvPr/>
        </p:nvSpPr>
        <p:spPr>
          <a:xfrm>
            <a:off x="896112" y="3867912"/>
            <a:ext cx="3959352" cy="256032"/>
          </a:xfrm>
          <a:prstGeom prst="rect">
            <a:avLst/>
          </a:prstGeom>
          <a:noFill/>
          <a:ln/>
        </p:spPr>
        <p:txBody>
          <a:bodyPr wrap="square" lIns="0" tIns="0" rIns="0" bIns="0" rtlCol="0" anchor="ctr" vert="horz">
            <a:normAutofit/>
          </a:bodyPr>
          <a:lstStyle/>
          <a:p>
            <a:pPr algn="l" indent="0" marL="0">
              <a:buNone/>
            </a:pPr>
            <a:r>
              <a:rPr lang="en-US" sz="1640" b="1" dirty="0">
                <a:solidFill>
                  <a:srgbClr val="F3C56C"/>
                </a:solidFill>
                <a:latin typeface="Aptos" pitchFamily="34" charset="0"/>
                <a:ea typeface="Noto Sans SC" pitchFamily="34" charset="-122"/>
                <a:cs typeface="Aptos" pitchFamily="34" charset="-120"/>
              </a:rPr>
              <a:t>UBTECH · Walker S2 / 优必选</a:t>
            </a:r>
            <a:endParaRPr lang="en-US" sz="1640" dirty="0"/>
          </a:p>
        </p:txBody>
      </p:sp>
      <p:sp>
        <p:nvSpPr>
          <p:cNvPr id="23" name="Text 21"/>
          <p:cNvSpPr/>
          <p:nvPr/>
        </p:nvSpPr>
        <p:spPr>
          <a:xfrm>
            <a:off x="4736592" y="3904488"/>
            <a:ext cx="6355080" cy="219456"/>
          </a:xfrm>
          <a:prstGeom prst="rect">
            <a:avLst/>
          </a:prstGeom>
          <a:noFill/>
          <a:ln/>
        </p:spPr>
        <p:txBody>
          <a:bodyPr wrap="square" lIns="0" tIns="0" rIns="0" bIns="0" rtlCol="0" anchor="ctr" vert="horz">
            <a:normAutofit/>
          </a:bodyPr>
          <a:lstStyle/>
          <a:p>
            <a:pPr algn="l" indent="0" marL="0">
              <a:buNone/>
            </a:pPr>
            <a:r>
              <a:rPr lang="en-US" sz="1370" dirty="0">
                <a:solidFill>
                  <a:srgbClr val="A8C0CD"/>
                </a:solidFill>
                <a:latin typeface="Aptos" pitchFamily="34" charset="0"/>
                <a:ea typeface="Aptos" pitchFamily="34" charset="-122"/>
                <a:cs typeface="Aptos" pitchFamily="34" charset="-120"/>
              </a:rPr>
              <a:t>Especificaciones y funcionalidades de producto</a:t>
            </a:r>
            <a:endParaRPr lang="en-US" sz="1370" dirty="0"/>
          </a:p>
        </p:txBody>
      </p:sp>
      <p:sp>
        <p:nvSpPr>
          <p:cNvPr id="24" name="Text 22">
            <a:hlinkClick r:id="rId3" tooltip=""/>
          </p:cNvPr>
          <p:cNvSpPr/>
          <p:nvPr/>
        </p:nvSpPr>
        <p:spPr>
          <a:xfrm>
            <a:off x="11082528" y="3886200"/>
            <a:ext cx="228600" cy="182880"/>
          </a:xfrm>
          <a:prstGeom prst="rect">
            <a:avLst/>
          </a:prstGeom>
          <a:noFill/>
          <a:ln/>
        </p:spPr>
        <p:txBody>
          <a:bodyPr wrap="square" lIns="0" tIns="0" rIns="0" bIns="0" rtlCol="0" anchor="ctr"/>
          <a:lstStyle/>
          <a:p>
            <a:pPr indent="0" marL="0">
              <a:buNone/>
            </a:pPr>
            <a:r>
              <a:rPr lang="en-US" sz="1400" u="sng" dirty="0">
                <a:solidFill>
                  <a:srgbClr val="67CADA"/>
                </a:solidFill>
                <a:hlinkClick r:id="rId3" invalidUrl="" action="" tgtFrame="" tooltip="" history="1" highlightClick="0" endSnd="0">
                  <a:extLst>
                    <a:ext uri="{A12FA001-AC4F-418D-AE19-62706E023703}">
                      <ahyp:hlinkClr xmlns:ahyp="http://schemas.microsoft.com/office/drawing/2018/hyperlinkcolor" val="tx"/>
                    </a:ext>
                  </a:extLst>
                </a:hlinkClick>
              </a:rPr>
              <a:t>↗</a:t>
            </a:r>
            <a:endParaRPr lang="en-US" sz="1400" dirty="0"/>
          </a:p>
        </p:txBody>
      </p:sp>
      <p:sp>
        <p:nvSpPr>
          <p:cNvPr id="25" name="Shape 23"/>
          <p:cNvSpPr/>
          <p:nvPr/>
        </p:nvSpPr>
        <p:spPr>
          <a:xfrm>
            <a:off x="685800" y="4480560"/>
            <a:ext cx="10881360" cy="621792"/>
          </a:xfrm>
          <a:prstGeom prst="roundRect">
            <a:avLst/>
          </a:prstGeom>
          <a:solidFill>
            <a:srgbClr val="102B3B"/>
          </a:solidFill>
          <a:ln w="10160">
            <a:solidFill>
              <a:srgbClr val="365061"/>
            </a:solidFill>
            <a:prstDash val="solid"/>
          </a:ln>
        </p:spPr>
      </p:sp>
      <p:sp>
        <p:nvSpPr>
          <p:cNvPr id="26" name="Text 24"/>
          <p:cNvSpPr/>
          <p:nvPr/>
        </p:nvSpPr>
        <p:spPr>
          <a:xfrm>
            <a:off x="896112" y="4572000"/>
            <a:ext cx="3959352" cy="256032"/>
          </a:xfrm>
          <a:prstGeom prst="rect">
            <a:avLst/>
          </a:prstGeom>
          <a:noFill/>
          <a:ln/>
        </p:spPr>
        <p:txBody>
          <a:bodyPr wrap="square" lIns="0" tIns="0" rIns="0" bIns="0" rtlCol="0" anchor="ctr" vert="horz">
            <a:normAutofit/>
          </a:bodyPr>
          <a:lstStyle/>
          <a:p>
            <a:pPr algn="l" indent="0" marL="0">
              <a:buNone/>
            </a:pPr>
            <a:r>
              <a:rPr lang="en-US" sz="1640" b="1" dirty="0">
                <a:solidFill>
                  <a:srgbClr val="67CADA"/>
                </a:solidFill>
                <a:latin typeface="Aptos" pitchFamily="34" charset="0"/>
                <a:ea typeface="Aptos" pitchFamily="34" charset="-122"/>
                <a:cs typeface="Aptos" pitchFamily="34" charset="-120"/>
              </a:rPr>
              <a:t>AgiBot · 15.000 robots</a:t>
            </a:r>
            <a:endParaRPr lang="en-US" sz="1640" dirty="0"/>
          </a:p>
        </p:txBody>
      </p:sp>
      <p:sp>
        <p:nvSpPr>
          <p:cNvPr id="27" name="Text 25"/>
          <p:cNvSpPr/>
          <p:nvPr/>
        </p:nvSpPr>
        <p:spPr>
          <a:xfrm>
            <a:off x="4736592" y="4608576"/>
            <a:ext cx="6355080" cy="219456"/>
          </a:xfrm>
          <a:prstGeom prst="rect">
            <a:avLst/>
          </a:prstGeom>
          <a:noFill/>
          <a:ln/>
        </p:spPr>
        <p:txBody>
          <a:bodyPr wrap="square" lIns="0" tIns="0" rIns="0" bIns="0" rtlCol="0" anchor="ctr" vert="horz">
            <a:normAutofit/>
          </a:bodyPr>
          <a:lstStyle/>
          <a:p>
            <a:pPr algn="l" indent="0" marL="0">
              <a:buNone/>
            </a:pPr>
            <a:r>
              <a:rPr lang="en-US" sz="1370" dirty="0">
                <a:solidFill>
                  <a:srgbClr val="A8C0CD"/>
                </a:solidFill>
                <a:latin typeface="Aptos" pitchFamily="34" charset="0"/>
                <a:ea typeface="Aptos" pitchFamily="34" charset="-122"/>
                <a:cs typeface="Aptos" pitchFamily="34" charset="-120"/>
              </a:rPr>
              <a:t>Anuncio empresarial de junio de 2026</a:t>
            </a:r>
            <a:endParaRPr lang="en-US" sz="1370" dirty="0"/>
          </a:p>
        </p:txBody>
      </p:sp>
      <p:sp>
        <p:nvSpPr>
          <p:cNvPr id="28" name="Text 26">
            <a:hlinkClick r:id="rId4" tooltip=""/>
          </p:cNvPr>
          <p:cNvSpPr/>
          <p:nvPr/>
        </p:nvSpPr>
        <p:spPr>
          <a:xfrm>
            <a:off x="11082528" y="4590288"/>
            <a:ext cx="228600" cy="182880"/>
          </a:xfrm>
          <a:prstGeom prst="rect">
            <a:avLst/>
          </a:prstGeom>
          <a:noFill/>
          <a:ln/>
        </p:spPr>
        <p:txBody>
          <a:bodyPr wrap="square" lIns="0" tIns="0" rIns="0" bIns="0" rtlCol="0" anchor="ctr"/>
          <a:lstStyle/>
          <a:p>
            <a:pPr indent="0" marL="0">
              <a:buNone/>
            </a:pPr>
            <a:r>
              <a:rPr lang="en-US" sz="1400" u="sng" dirty="0">
                <a:solidFill>
                  <a:srgbClr val="67CADA"/>
                </a:solidFill>
                <a:hlinkClick r:id="rId4" invalidUrl="" action="" tgtFrame="" tooltip="" history="1" highlightClick="0" endSnd="0">
                  <a:extLst>
                    <a:ext uri="{A12FA001-AC4F-418D-AE19-62706E023703}">
                      <ahyp:hlinkClr xmlns:ahyp="http://schemas.microsoft.com/office/drawing/2018/hyperlinkcolor" val="tx"/>
                    </a:ext>
                  </a:extLst>
                </a:hlinkClick>
              </a:rPr>
              <a:t>↗</a:t>
            </a:r>
            <a:endParaRPr lang="en-US" sz="1400" dirty="0"/>
          </a:p>
        </p:txBody>
      </p:sp>
      <p:sp>
        <p:nvSpPr>
          <p:cNvPr id="29" name="Shape 27"/>
          <p:cNvSpPr/>
          <p:nvPr/>
        </p:nvSpPr>
        <p:spPr>
          <a:xfrm>
            <a:off x="685800" y="5184648"/>
            <a:ext cx="10881360" cy="621792"/>
          </a:xfrm>
          <a:prstGeom prst="roundRect">
            <a:avLst/>
          </a:prstGeom>
          <a:solidFill>
            <a:srgbClr val="102B3B"/>
          </a:solidFill>
          <a:ln w="10160">
            <a:solidFill>
              <a:srgbClr val="365061"/>
            </a:solidFill>
            <a:prstDash val="solid"/>
          </a:ln>
        </p:spPr>
      </p:sp>
      <p:sp>
        <p:nvSpPr>
          <p:cNvPr id="30" name="Text 28"/>
          <p:cNvSpPr/>
          <p:nvPr/>
        </p:nvSpPr>
        <p:spPr>
          <a:xfrm>
            <a:off x="896112" y="5276088"/>
            <a:ext cx="3959352" cy="256032"/>
          </a:xfrm>
          <a:prstGeom prst="rect">
            <a:avLst/>
          </a:prstGeom>
          <a:noFill/>
          <a:ln/>
        </p:spPr>
        <p:txBody>
          <a:bodyPr wrap="square" lIns="0" tIns="0" rIns="0" bIns="0" rtlCol="0" anchor="ctr" vert="horz">
            <a:normAutofit/>
          </a:bodyPr>
          <a:lstStyle/>
          <a:p>
            <a:pPr algn="l" indent="0" marL="0">
              <a:buNone/>
            </a:pPr>
            <a:r>
              <a:rPr lang="en-US" sz="1640" b="1" dirty="0">
                <a:solidFill>
                  <a:srgbClr val="F3C56C"/>
                </a:solidFill>
                <a:latin typeface="Aptos" pitchFamily="34" charset="0"/>
                <a:ea typeface="Aptos" pitchFamily="34" charset="-122"/>
                <a:cs typeface="Aptos" pitchFamily="34" charset="-120"/>
              </a:rPr>
              <a:t>AgiBot · prueba en fábrica</a:t>
            </a:r>
            <a:endParaRPr lang="en-US" sz="1640" dirty="0"/>
          </a:p>
        </p:txBody>
      </p:sp>
      <p:sp>
        <p:nvSpPr>
          <p:cNvPr id="31" name="Text 29"/>
          <p:cNvSpPr/>
          <p:nvPr/>
        </p:nvSpPr>
        <p:spPr>
          <a:xfrm>
            <a:off x="4736592" y="5312664"/>
            <a:ext cx="6355080" cy="219456"/>
          </a:xfrm>
          <a:prstGeom prst="rect">
            <a:avLst/>
          </a:prstGeom>
          <a:noFill/>
          <a:ln/>
        </p:spPr>
        <p:txBody>
          <a:bodyPr wrap="square" lIns="0" tIns="0" rIns="0" bIns="0" rtlCol="0" anchor="ctr" vert="horz">
            <a:normAutofit/>
          </a:bodyPr>
          <a:lstStyle/>
          <a:p>
            <a:pPr algn="l" indent="0" marL="0">
              <a:buNone/>
            </a:pPr>
            <a:r>
              <a:rPr lang="en-US" sz="1370" dirty="0">
                <a:solidFill>
                  <a:srgbClr val="A8C0CD"/>
                </a:solidFill>
                <a:latin typeface="Aptos" pitchFamily="34" charset="0"/>
                <a:ea typeface="Aptos" pitchFamily="34" charset="-122"/>
                <a:cs typeface="Aptos" pitchFamily="34" charset="-120"/>
              </a:rPr>
              <a:t>Comunicado empresarial: piloto y métricas</a:t>
            </a:r>
            <a:endParaRPr lang="en-US" sz="1370" dirty="0"/>
          </a:p>
        </p:txBody>
      </p:sp>
      <p:sp>
        <p:nvSpPr>
          <p:cNvPr id="32" name="Text 30">
            <a:hlinkClick r:id="rId5" tooltip=""/>
          </p:cNvPr>
          <p:cNvSpPr/>
          <p:nvPr/>
        </p:nvSpPr>
        <p:spPr>
          <a:xfrm>
            <a:off x="11082528" y="5294376"/>
            <a:ext cx="228600" cy="182880"/>
          </a:xfrm>
          <a:prstGeom prst="rect">
            <a:avLst/>
          </a:prstGeom>
          <a:noFill/>
          <a:ln/>
        </p:spPr>
        <p:txBody>
          <a:bodyPr wrap="square" lIns="0" tIns="0" rIns="0" bIns="0" rtlCol="0" anchor="ctr"/>
          <a:lstStyle/>
          <a:p>
            <a:pPr indent="0" marL="0">
              <a:buNone/>
            </a:pPr>
            <a:r>
              <a:rPr lang="en-US" sz="1400" u="sng" dirty="0">
                <a:solidFill>
                  <a:srgbClr val="67CADA"/>
                </a:solidFill>
                <a:hlinkClick r:id="rId5" invalidUrl="" action="" tgtFrame="" tooltip="" history="1" highlightClick="0" endSnd="0">
                  <a:extLst>
                    <a:ext uri="{A12FA001-AC4F-418D-AE19-62706E023703}">
                      <ahyp:hlinkClr xmlns:ahyp="http://schemas.microsoft.com/office/drawing/2018/hyperlinkcolor" val="tx"/>
                    </a:ext>
                  </a:extLst>
                </a:hlinkClick>
              </a:rPr>
              <a:t>↗</a:t>
            </a:r>
            <a:endParaRPr lang="en-US" sz="1400" dirty="0"/>
          </a:p>
        </p:txBody>
      </p:sp>
      <p:sp>
        <p:nvSpPr>
          <p:cNvPr id="33" name="Text 31"/>
          <p:cNvSpPr/>
          <p:nvPr/>
        </p:nvSpPr>
        <p:spPr>
          <a:xfrm>
            <a:off x="813816" y="5952744"/>
            <a:ext cx="10716768" cy="256032"/>
          </a:xfrm>
          <a:prstGeom prst="rect">
            <a:avLst/>
          </a:prstGeom>
          <a:noFill/>
          <a:ln/>
        </p:spPr>
        <p:txBody>
          <a:bodyPr wrap="square" lIns="0" tIns="0" rIns="0" bIns="0" rtlCol="0" anchor="ctr" vert="horz">
            <a:normAutofit/>
          </a:bodyPr>
          <a:lstStyle/>
          <a:p>
            <a:pPr algn="ctr" indent="0" marL="0">
              <a:buNone/>
            </a:pPr>
            <a:r>
              <a:rPr lang="en-US" sz="1440" dirty="0">
                <a:solidFill>
                  <a:srgbClr val="F3C56C"/>
                </a:solidFill>
                <a:latin typeface="Aptos" pitchFamily="34" charset="0"/>
                <a:ea typeface="Aptos" pitchFamily="34" charset="-122"/>
                <a:cs typeface="Aptos" pitchFamily="34" charset="-120"/>
              </a:rPr>
              <a:t>En el archivo PPTX se incluyen vínculos y referencias en las notas del profesor.</a:t>
            </a:r>
            <a:endParaRPr lang="en-US" sz="14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923"/>
          </a:solidFill>
          <a:ln w="12700">
            <a:solidFill>
              <a:srgbClr val="071923">
                <a:alpha val="0"/>
              </a:srgbClr>
            </a:solidFill>
            <a:prstDash val="solid"/>
          </a:ln>
        </p:spPr>
      </p:sp>
      <p:sp>
        <p:nvSpPr>
          <p:cNvPr id="3" name="Shape 1"/>
          <p:cNvSpPr/>
          <p:nvPr/>
        </p:nvSpPr>
        <p:spPr>
          <a:xfrm>
            <a:off x="512064" y="466344"/>
            <a:ext cx="54864" cy="256032"/>
          </a:xfrm>
          <a:prstGeom prst="rect">
            <a:avLst/>
          </a:prstGeom>
          <a:solidFill>
            <a:srgbClr val="F3C56C"/>
          </a:solidFill>
          <a:ln w="12700">
            <a:solidFill>
              <a:srgbClr val="F3C56C">
                <a:alpha val="0"/>
              </a:srgbClr>
            </a:solidFill>
            <a:prstDash val="solid"/>
          </a:ln>
        </p:spPr>
      </p:sp>
      <p:sp>
        <p:nvSpPr>
          <p:cNvPr id="4" name="Text 2"/>
          <p:cNvSpPr/>
          <p:nvPr/>
        </p:nvSpPr>
        <p:spPr>
          <a:xfrm>
            <a:off x="658368" y="438912"/>
            <a:ext cx="10607040" cy="292608"/>
          </a:xfrm>
          <a:prstGeom prst="rect">
            <a:avLst/>
          </a:prstGeom>
          <a:noFill/>
          <a:ln/>
        </p:spPr>
        <p:txBody>
          <a:bodyPr wrap="square" lIns="0" tIns="0" rIns="0" bIns="0" rtlCol="0" anchor="ctr" vert="horz">
            <a:normAutofit/>
          </a:bodyPr>
          <a:lstStyle/>
          <a:p>
            <a:pPr algn="l" indent="0" marL="0">
              <a:buNone/>
            </a:pPr>
            <a:r>
              <a:rPr lang="en-US" sz="1100" b="1" spc="210" kern="0" dirty="0">
                <a:solidFill>
                  <a:srgbClr val="F3C56C"/>
                </a:solidFill>
                <a:latin typeface="Aptos" pitchFamily="34" charset="0"/>
                <a:ea typeface="Aptos" pitchFamily="34" charset="-122"/>
                <a:cs typeface="Aptos" pitchFamily="34" charset="-120"/>
              </a:rPr>
              <a:t>BIBLIOGRAFÍA · INVESTIGACIÓN</a:t>
            </a:r>
            <a:endParaRPr lang="en-US" sz="1100" dirty="0"/>
          </a:p>
        </p:txBody>
      </p:sp>
      <p:sp>
        <p:nvSpPr>
          <p:cNvPr id="5" name="Text 3"/>
          <p:cNvSpPr/>
          <p:nvPr/>
        </p:nvSpPr>
        <p:spPr>
          <a:xfrm>
            <a:off x="576072" y="832104"/>
            <a:ext cx="11064240" cy="676656"/>
          </a:xfrm>
          <a:prstGeom prst="rect">
            <a:avLst/>
          </a:prstGeom>
          <a:noFill/>
          <a:ln/>
        </p:spPr>
        <p:txBody>
          <a:bodyPr wrap="square" lIns="0" tIns="0" rIns="0" bIns="0" rtlCol="0" anchor="ctr" vert="horz">
            <a:normAutofit/>
          </a:bodyPr>
          <a:lstStyle/>
          <a:p>
            <a:pPr algn="l" indent="0" marL="0">
              <a:buNone/>
            </a:pPr>
            <a:r>
              <a:rPr lang="en-US" sz="3300" dirty="0">
                <a:solidFill>
                  <a:srgbClr val="F6EEDF"/>
                </a:solidFill>
                <a:latin typeface="Georgia" pitchFamily="34" charset="0"/>
                <a:ea typeface="Georgia" pitchFamily="34" charset="-122"/>
                <a:cs typeface="Georgia" pitchFamily="34" charset="-120"/>
              </a:rPr>
              <a:t>Fuentes científicas y conceptos técnicos</a:t>
            </a:r>
            <a:endParaRPr lang="en-US" sz="3300" dirty="0"/>
          </a:p>
        </p:txBody>
      </p:sp>
      <p:sp>
        <p:nvSpPr>
          <p:cNvPr id="6" name="Text 4"/>
          <p:cNvSpPr/>
          <p:nvPr/>
        </p:nvSpPr>
        <p:spPr>
          <a:xfrm>
            <a:off x="594360" y="1563624"/>
            <a:ext cx="10881360" cy="438912"/>
          </a:xfrm>
          <a:prstGeom prst="rect">
            <a:avLst/>
          </a:prstGeom>
          <a:noFill/>
          <a:ln/>
        </p:spPr>
        <p:txBody>
          <a:bodyPr wrap="square" lIns="0" tIns="0" rIns="0" bIns="0" rtlCol="0" anchor="ctr" vert="horz">
            <a:normAutofit/>
          </a:bodyPr>
          <a:lstStyle/>
          <a:p>
            <a:pPr algn="l" indent="0" marL="0">
              <a:buNone/>
            </a:pPr>
            <a:r>
              <a:rPr lang="en-US" sz="1750" dirty="0">
                <a:solidFill>
                  <a:srgbClr val="A8C0CD"/>
                </a:solidFill>
                <a:latin typeface="Aptos" pitchFamily="34" charset="0"/>
                <a:ea typeface="Aptos" pitchFamily="34" charset="-122"/>
                <a:cs typeface="Aptos" pitchFamily="34" charset="-120"/>
              </a:rPr>
              <a:t>Lecturas para ampliar el curso y preparar preguntas</a:t>
            </a:r>
            <a:endParaRPr lang="en-US" sz="1750" dirty="0"/>
          </a:p>
        </p:txBody>
      </p:sp>
      <p:sp>
        <p:nvSpPr>
          <p:cNvPr id="7" name="Shape 5"/>
          <p:cNvSpPr/>
          <p:nvPr/>
        </p:nvSpPr>
        <p:spPr>
          <a:xfrm>
            <a:off x="585216" y="2103120"/>
            <a:ext cx="10981944" cy="0"/>
          </a:xfrm>
          <a:prstGeom prst="line">
            <a:avLst/>
          </a:prstGeom>
          <a:noFill/>
          <a:ln w="12700">
            <a:solidFill>
              <a:srgbClr val="365061"/>
            </a:solidFill>
            <a:prstDash val="solid"/>
          </a:ln>
        </p:spPr>
      </p:sp>
      <p:sp>
        <p:nvSpPr>
          <p:cNvPr id="8" name="Shape 6"/>
          <p:cNvSpPr/>
          <p:nvPr/>
        </p:nvSpPr>
        <p:spPr>
          <a:xfrm>
            <a:off x="502920" y="6483096"/>
            <a:ext cx="11201400" cy="0"/>
          </a:xfrm>
          <a:prstGeom prst="line">
            <a:avLst/>
          </a:prstGeom>
          <a:noFill/>
          <a:ln w="8890">
            <a:solidFill>
              <a:srgbClr val="365061"/>
            </a:solidFill>
            <a:prstDash val="solid"/>
          </a:ln>
        </p:spPr>
      </p:sp>
      <p:sp>
        <p:nvSpPr>
          <p:cNvPr id="9" name="Text 7"/>
          <p:cNvSpPr/>
          <p:nvPr/>
        </p:nvSpPr>
        <p:spPr>
          <a:xfrm>
            <a:off x="530352" y="6528816"/>
            <a:ext cx="7315200" cy="164592"/>
          </a:xfrm>
          <a:prstGeom prst="rect">
            <a:avLst/>
          </a:prstGeom>
          <a:noFill/>
          <a:ln/>
        </p:spPr>
        <p:txBody>
          <a:bodyPr wrap="square" lIns="0" tIns="0" rIns="0" bIns="0" rtlCol="0" anchor="ctr" vert="horz">
            <a:normAutofit/>
          </a:bodyPr>
          <a:lstStyle/>
          <a:p>
            <a:pPr algn="l" indent="0" marL="0">
              <a:buNone/>
            </a:pPr>
            <a:r>
              <a:rPr lang="en-US" sz="770" b="1" spc="35" kern="0" dirty="0">
                <a:solidFill>
                  <a:srgbClr val="A8C0CD"/>
                </a:solidFill>
                <a:latin typeface="Aptos" pitchFamily="34" charset="0"/>
                <a:ea typeface="Aptos" pitchFamily="34" charset="-122"/>
                <a:cs typeface="Aptos" pitchFamily="34" charset="-120"/>
              </a:rPr>
              <a:t>Material elaborado por el profesor Sergio Gevatschnaider</a:t>
            </a:r>
            <a:endParaRPr lang="en-US" sz="770" dirty="0"/>
          </a:p>
        </p:txBody>
      </p:sp>
      <p:sp>
        <p:nvSpPr>
          <p:cNvPr id="10" name="Text 8"/>
          <p:cNvSpPr/>
          <p:nvPr/>
        </p:nvSpPr>
        <p:spPr>
          <a:xfrm>
            <a:off x="8321040" y="6528816"/>
            <a:ext cx="2651760" cy="164592"/>
          </a:xfrm>
          <a:prstGeom prst="rect">
            <a:avLst/>
          </a:prstGeom>
          <a:noFill/>
          <a:ln/>
        </p:spPr>
        <p:txBody>
          <a:bodyPr wrap="square" lIns="0" tIns="0" rIns="0" bIns="0" rtlCol="0" anchor="ctr" vert="horz">
            <a:normAutofit/>
          </a:bodyPr>
          <a:lstStyle/>
          <a:p>
            <a:pPr algn="r" indent="0" marL="0">
              <a:buNone/>
            </a:pPr>
            <a:r>
              <a:rPr lang="en-US" sz="720" dirty="0">
                <a:solidFill>
                  <a:srgbClr val="F3C56C"/>
                </a:solidFill>
                <a:latin typeface="Aptos" pitchFamily="34" charset="0"/>
                <a:ea typeface="Aptos" pitchFamily="34" charset="-122"/>
                <a:cs typeface="Aptos" pitchFamily="34" charset="-120"/>
              </a:rPr>
              <a:t>BIBLIOGRAFÍA · INVESTIGACIÓN</a:t>
            </a:r>
            <a:endParaRPr lang="en-US" sz="720" dirty="0"/>
          </a:p>
        </p:txBody>
      </p:sp>
      <p:sp>
        <p:nvSpPr>
          <p:cNvPr id="11" name="Text 9"/>
          <p:cNvSpPr/>
          <p:nvPr/>
        </p:nvSpPr>
        <p:spPr>
          <a:xfrm>
            <a:off x="11173968" y="6501384"/>
            <a:ext cx="502920" cy="219456"/>
          </a:xfrm>
          <a:prstGeom prst="rect">
            <a:avLst/>
          </a:prstGeom>
          <a:noFill/>
          <a:ln/>
        </p:spPr>
        <p:txBody>
          <a:bodyPr wrap="square" lIns="0" tIns="0" rIns="0" bIns="0" rtlCol="0" anchor="ctr" vert="horz">
            <a:normAutofit/>
          </a:bodyPr>
          <a:lstStyle/>
          <a:p>
            <a:pPr algn="r" indent="0" marL="0">
              <a:buNone/>
            </a:pPr>
            <a:r>
              <a:rPr lang="en-US" sz="1100" b="1" dirty="0">
                <a:solidFill>
                  <a:srgbClr val="F6EEDF"/>
                </a:solidFill>
                <a:latin typeface="Aptos" pitchFamily="34" charset="0"/>
                <a:ea typeface="Aptos" pitchFamily="34" charset="-122"/>
                <a:cs typeface="Aptos" pitchFamily="34" charset="-120"/>
              </a:rPr>
              <a:t>24</a:t>
            </a:r>
            <a:endParaRPr lang="en-US" sz="1100" dirty="0"/>
          </a:p>
        </p:txBody>
      </p:sp>
      <p:sp>
        <p:nvSpPr>
          <p:cNvPr id="12" name="Text 10"/>
          <p:cNvSpPr/>
          <p:nvPr/>
        </p:nvSpPr>
        <p:spPr>
          <a:xfrm>
            <a:off x="548640" y="6291072"/>
            <a:ext cx="11155680" cy="128016"/>
          </a:xfrm>
          <a:prstGeom prst="rect">
            <a:avLst/>
          </a:prstGeom>
          <a:noFill/>
          <a:ln/>
        </p:spPr>
        <p:txBody>
          <a:bodyPr wrap="square" lIns="0" tIns="0" rIns="0" bIns="0" rtlCol="0" anchor="ctr" vert="horz">
            <a:normAutofit/>
          </a:bodyPr>
          <a:lstStyle/>
          <a:p>
            <a:pPr algn="l" indent="0" marL="0">
              <a:buNone/>
            </a:pPr>
            <a:r>
              <a:rPr lang="en-US" sz="800" dirty="0">
                <a:solidFill>
                  <a:srgbClr val="A8C0CD"/>
                </a:solidFill>
                <a:latin typeface="Aptos" pitchFamily="34" charset="0"/>
                <a:ea typeface="Aptos" pitchFamily="34" charset="-122"/>
                <a:cs typeface="Aptos" pitchFamily="34" charset="-120"/>
              </a:rPr>
              <a:t>FUENTE: Literatura técnica</a:t>
            </a:r>
            <a:endParaRPr lang="en-US" sz="800" dirty="0"/>
          </a:p>
        </p:txBody>
      </p:sp>
      <p:sp>
        <p:nvSpPr>
          <p:cNvPr id="13" name="Shape 11"/>
          <p:cNvSpPr/>
          <p:nvPr/>
        </p:nvSpPr>
        <p:spPr>
          <a:xfrm>
            <a:off x="685800" y="2404872"/>
            <a:ext cx="10890504" cy="576072"/>
          </a:xfrm>
          <a:prstGeom prst="roundRect">
            <a:avLst/>
          </a:prstGeom>
          <a:solidFill>
            <a:srgbClr val="102B3B"/>
          </a:solidFill>
          <a:ln w="10160">
            <a:solidFill>
              <a:srgbClr val="365061"/>
            </a:solidFill>
            <a:prstDash val="solid"/>
          </a:ln>
        </p:spPr>
      </p:sp>
      <p:sp>
        <p:nvSpPr>
          <p:cNvPr id="14" name="Text 12"/>
          <p:cNvSpPr/>
          <p:nvPr/>
        </p:nvSpPr>
        <p:spPr>
          <a:xfrm>
            <a:off x="914400" y="2505456"/>
            <a:ext cx="3858768" cy="246888"/>
          </a:xfrm>
          <a:prstGeom prst="rect">
            <a:avLst/>
          </a:prstGeom>
          <a:noFill/>
          <a:ln/>
        </p:spPr>
        <p:txBody>
          <a:bodyPr wrap="square" lIns="0" tIns="0" rIns="0" bIns="0" rtlCol="0" anchor="ctr" vert="horz">
            <a:normAutofit/>
          </a:bodyPr>
          <a:lstStyle/>
          <a:p>
            <a:pPr algn="l" indent="0" marL="0">
              <a:buNone/>
            </a:pPr>
            <a:r>
              <a:rPr lang="en-US" sz="1700" b="1" dirty="0">
                <a:solidFill>
                  <a:srgbClr val="F3C56C"/>
                </a:solidFill>
                <a:latin typeface="Aptos" pitchFamily="34" charset="0"/>
                <a:ea typeface="Aptos" pitchFamily="34" charset="-122"/>
                <a:cs typeface="Aptos" pitchFamily="34" charset="-120"/>
              </a:rPr>
              <a:t>DeepSeek-R1</a:t>
            </a:r>
            <a:endParaRPr lang="en-US" sz="1700" dirty="0"/>
          </a:p>
        </p:txBody>
      </p:sp>
      <p:sp>
        <p:nvSpPr>
          <p:cNvPr id="15" name="Text 13"/>
          <p:cNvSpPr/>
          <p:nvPr/>
        </p:nvSpPr>
        <p:spPr>
          <a:xfrm>
            <a:off x="4754880" y="2523744"/>
            <a:ext cx="6126480" cy="274320"/>
          </a:xfrm>
          <a:prstGeom prst="rect">
            <a:avLst/>
          </a:prstGeom>
          <a:noFill/>
          <a:ln/>
        </p:spPr>
        <p:txBody>
          <a:bodyPr wrap="square" lIns="0" tIns="0" rIns="0" bIns="0" rtlCol="0" anchor="ctr" vert="horz">
            <a:normAutofit/>
          </a:bodyPr>
          <a:lstStyle/>
          <a:p>
            <a:pPr algn="l" indent="0" marL="0">
              <a:buNone/>
            </a:pPr>
            <a:r>
              <a:rPr lang="en-US" sz="1400" dirty="0">
                <a:solidFill>
                  <a:srgbClr val="A8C0CD"/>
                </a:solidFill>
                <a:latin typeface="Aptos" pitchFamily="34" charset="0"/>
                <a:ea typeface="Aptos" pitchFamily="34" charset="-122"/>
                <a:cs typeface="Aptos" pitchFamily="34" charset="-120"/>
              </a:rPr>
              <a:t>DeepSeek-AI (2025) · RL y razonamiento</a:t>
            </a:r>
            <a:endParaRPr lang="en-US" sz="1400" dirty="0"/>
          </a:p>
        </p:txBody>
      </p:sp>
      <p:sp>
        <p:nvSpPr>
          <p:cNvPr id="16" name="Text 14">
            <a:hlinkClick r:id="rId1" tooltip=""/>
          </p:cNvPr>
          <p:cNvSpPr/>
          <p:nvPr/>
        </p:nvSpPr>
        <p:spPr>
          <a:xfrm>
            <a:off x="11091672" y="2496312"/>
            <a:ext cx="228600" cy="228600"/>
          </a:xfrm>
          <a:prstGeom prst="rect">
            <a:avLst/>
          </a:prstGeom>
          <a:noFill/>
          <a:ln/>
        </p:spPr>
        <p:txBody>
          <a:bodyPr wrap="square" lIns="0" tIns="0" rIns="0" bIns="0" rtlCol="0" anchor="ctr"/>
          <a:lstStyle/>
          <a:p>
            <a:pPr indent="0" marL="0">
              <a:buNone/>
            </a:pPr>
            <a:r>
              <a:rPr lang="en-US" sz="1400" u="sng" dirty="0">
                <a:solidFill>
                  <a:srgbClr val="67CADA"/>
                </a:solidFill>
                <a:hlinkClick r:id="rId1" invalidUrl="" action="" tgtFrame="" tooltip="" history="1" highlightClick="0" endSnd="0">
                  <a:extLst>
                    <a:ext uri="{A12FA001-AC4F-418D-AE19-62706E023703}">
                      <ahyp:hlinkClr xmlns:ahyp="http://schemas.microsoft.com/office/drawing/2018/hyperlinkcolor" val="tx"/>
                    </a:ext>
                  </a:extLst>
                </a:hlinkClick>
              </a:rPr>
              <a:t>↗</a:t>
            </a:r>
            <a:endParaRPr lang="en-US" sz="1400" dirty="0"/>
          </a:p>
        </p:txBody>
      </p:sp>
      <p:sp>
        <p:nvSpPr>
          <p:cNvPr id="17" name="Shape 15"/>
          <p:cNvSpPr/>
          <p:nvPr/>
        </p:nvSpPr>
        <p:spPr>
          <a:xfrm>
            <a:off x="685800" y="3081528"/>
            <a:ext cx="10890504" cy="576072"/>
          </a:xfrm>
          <a:prstGeom prst="roundRect">
            <a:avLst/>
          </a:prstGeom>
          <a:solidFill>
            <a:srgbClr val="102B3B"/>
          </a:solidFill>
          <a:ln w="10160">
            <a:solidFill>
              <a:srgbClr val="365061"/>
            </a:solidFill>
            <a:prstDash val="solid"/>
          </a:ln>
        </p:spPr>
      </p:sp>
      <p:sp>
        <p:nvSpPr>
          <p:cNvPr id="18" name="Text 16"/>
          <p:cNvSpPr/>
          <p:nvPr/>
        </p:nvSpPr>
        <p:spPr>
          <a:xfrm>
            <a:off x="914400" y="3182112"/>
            <a:ext cx="3858768" cy="246888"/>
          </a:xfrm>
          <a:prstGeom prst="rect">
            <a:avLst/>
          </a:prstGeom>
          <a:noFill/>
          <a:ln/>
        </p:spPr>
        <p:txBody>
          <a:bodyPr wrap="square" lIns="0" tIns="0" rIns="0" bIns="0" rtlCol="0" anchor="ctr" vert="horz">
            <a:normAutofit/>
          </a:bodyPr>
          <a:lstStyle/>
          <a:p>
            <a:pPr algn="l" indent="0" marL="0">
              <a:buNone/>
            </a:pPr>
            <a:r>
              <a:rPr lang="en-US" sz="1700" b="1" dirty="0">
                <a:solidFill>
                  <a:srgbClr val="67CADA"/>
                </a:solidFill>
                <a:latin typeface="Aptos" pitchFamily="34" charset="0"/>
                <a:ea typeface="Aptos" pitchFamily="34" charset="-122"/>
                <a:cs typeface="Aptos" pitchFamily="34" charset="-120"/>
              </a:rPr>
              <a:t>Qwen3 Technical Report</a:t>
            </a:r>
            <a:endParaRPr lang="en-US" sz="1700" dirty="0"/>
          </a:p>
        </p:txBody>
      </p:sp>
      <p:sp>
        <p:nvSpPr>
          <p:cNvPr id="19" name="Text 17"/>
          <p:cNvSpPr/>
          <p:nvPr/>
        </p:nvSpPr>
        <p:spPr>
          <a:xfrm>
            <a:off x="4754880" y="3200400"/>
            <a:ext cx="6126480" cy="274320"/>
          </a:xfrm>
          <a:prstGeom prst="rect">
            <a:avLst/>
          </a:prstGeom>
          <a:noFill/>
          <a:ln/>
        </p:spPr>
        <p:txBody>
          <a:bodyPr wrap="square" lIns="0" tIns="0" rIns="0" bIns="0" rtlCol="0" anchor="ctr" vert="horz">
            <a:normAutofit/>
          </a:bodyPr>
          <a:lstStyle/>
          <a:p>
            <a:pPr algn="l" indent="0" marL="0">
              <a:buNone/>
            </a:pPr>
            <a:r>
              <a:rPr lang="en-US" sz="1400" dirty="0">
                <a:solidFill>
                  <a:srgbClr val="A8C0CD"/>
                </a:solidFill>
                <a:latin typeface="Aptos" pitchFamily="34" charset="0"/>
                <a:ea typeface="Aptos" pitchFamily="34" charset="-122"/>
                <a:cs typeface="Aptos" pitchFamily="34" charset="-120"/>
              </a:rPr>
              <a:t>An Yang et al. (2025) · Modelos densos y MoE</a:t>
            </a:r>
            <a:endParaRPr lang="en-US" sz="1400" dirty="0"/>
          </a:p>
        </p:txBody>
      </p:sp>
      <p:sp>
        <p:nvSpPr>
          <p:cNvPr id="20" name="Text 18">
            <a:hlinkClick r:id="rId2" tooltip=""/>
          </p:cNvPr>
          <p:cNvSpPr/>
          <p:nvPr/>
        </p:nvSpPr>
        <p:spPr>
          <a:xfrm>
            <a:off x="11091672" y="3172968"/>
            <a:ext cx="228600" cy="228600"/>
          </a:xfrm>
          <a:prstGeom prst="rect">
            <a:avLst/>
          </a:prstGeom>
          <a:noFill/>
          <a:ln/>
        </p:spPr>
        <p:txBody>
          <a:bodyPr wrap="square" lIns="0" tIns="0" rIns="0" bIns="0" rtlCol="0" anchor="ctr"/>
          <a:lstStyle/>
          <a:p>
            <a:pPr indent="0" marL="0">
              <a:buNone/>
            </a:pPr>
            <a:r>
              <a:rPr lang="en-US" sz="1400" u="sng" dirty="0">
                <a:solidFill>
                  <a:srgbClr val="67CADA"/>
                </a:solidFill>
                <a:hlinkClick r:id="rId2" invalidUrl="" action="" tgtFrame="" tooltip="" history="1" highlightClick="0" endSnd="0">
                  <a:extLst>
                    <a:ext uri="{A12FA001-AC4F-418D-AE19-62706E023703}">
                      <ahyp:hlinkClr xmlns:ahyp="http://schemas.microsoft.com/office/drawing/2018/hyperlinkcolor" val="tx"/>
                    </a:ext>
                  </a:extLst>
                </a:hlinkClick>
              </a:rPr>
              <a:t>↗</a:t>
            </a:r>
            <a:endParaRPr lang="en-US" sz="1400" dirty="0"/>
          </a:p>
        </p:txBody>
      </p:sp>
      <p:sp>
        <p:nvSpPr>
          <p:cNvPr id="21" name="Shape 19"/>
          <p:cNvSpPr/>
          <p:nvPr/>
        </p:nvSpPr>
        <p:spPr>
          <a:xfrm>
            <a:off x="685800" y="3758184"/>
            <a:ext cx="10890504" cy="576072"/>
          </a:xfrm>
          <a:prstGeom prst="roundRect">
            <a:avLst/>
          </a:prstGeom>
          <a:solidFill>
            <a:srgbClr val="102B3B"/>
          </a:solidFill>
          <a:ln w="10160">
            <a:solidFill>
              <a:srgbClr val="365061"/>
            </a:solidFill>
            <a:prstDash val="solid"/>
          </a:ln>
        </p:spPr>
      </p:sp>
      <p:sp>
        <p:nvSpPr>
          <p:cNvPr id="22" name="Text 20"/>
          <p:cNvSpPr/>
          <p:nvPr/>
        </p:nvSpPr>
        <p:spPr>
          <a:xfrm>
            <a:off x="914400" y="3858768"/>
            <a:ext cx="3858768" cy="246888"/>
          </a:xfrm>
          <a:prstGeom prst="rect">
            <a:avLst/>
          </a:prstGeom>
          <a:noFill/>
          <a:ln/>
        </p:spPr>
        <p:txBody>
          <a:bodyPr wrap="square" lIns="0" tIns="0" rIns="0" bIns="0" rtlCol="0" anchor="ctr" vert="horz">
            <a:normAutofit/>
          </a:bodyPr>
          <a:lstStyle/>
          <a:p>
            <a:pPr algn="l" indent="0" marL="0">
              <a:buNone/>
            </a:pPr>
            <a:r>
              <a:rPr lang="en-US" sz="1700" b="1" dirty="0">
                <a:solidFill>
                  <a:srgbClr val="F3C56C"/>
                </a:solidFill>
                <a:latin typeface="Aptos" pitchFamily="34" charset="0"/>
                <a:ea typeface="Aptos" pitchFamily="34" charset="-122"/>
                <a:cs typeface="Aptos" pitchFamily="34" charset="-120"/>
              </a:rPr>
              <a:t>OpenVLA</a:t>
            </a:r>
            <a:endParaRPr lang="en-US" sz="1700" dirty="0"/>
          </a:p>
        </p:txBody>
      </p:sp>
      <p:sp>
        <p:nvSpPr>
          <p:cNvPr id="23" name="Text 21"/>
          <p:cNvSpPr/>
          <p:nvPr/>
        </p:nvSpPr>
        <p:spPr>
          <a:xfrm>
            <a:off x="4754880" y="3877056"/>
            <a:ext cx="6126480" cy="274320"/>
          </a:xfrm>
          <a:prstGeom prst="rect">
            <a:avLst/>
          </a:prstGeom>
          <a:noFill/>
          <a:ln/>
        </p:spPr>
        <p:txBody>
          <a:bodyPr wrap="square" lIns="0" tIns="0" rIns="0" bIns="0" rtlCol="0" anchor="ctr" vert="horz">
            <a:normAutofit/>
          </a:bodyPr>
          <a:lstStyle/>
          <a:p>
            <a:pPr algn="l" indent="0" marL="0">
              <a:buNone/>
            </a:pPr>
            <a:r>
              <a:rPr lang="en-US" sz="1400" dirty="0">
                <a:solidFill>
                  <a:srgbClr val="A8C0CD"/>
                </a:solidFill>
                <a:latin typeface="Aptos" pitchFamily="34" charset="0"/>
                <a:ea typeface="Aptos" pitchFamily="34" charset="-122"/>
                <a:cs typeface="Aptos" pitchFamily="34" charset="-120"/>
              </a:rPr>
              <a:t>Kim et al. (2024) · Vision–Language–Action</a:t>
            </a:r>
            <a:endParaRPr lang="en-US" sz="1400" dirty="0"/>
          </a:p>
        </p:txBody>
      </p:sp>
      <p:sp>
        <p:nvSpPr>
          <p:cNvPr id="24" name="Text 22">
            <a:hlinkClick r:id="rId3" tooltip=""/>
          </p:cNvPr>
          <p:cNvSpPr/>
          <p:nvPr/>
        </p:nvSpPr>
        <p:spPr>
          <a:xfrm>
            <a:off x="11091672" y="3849624"/>
            <a:ext cx="228600" cy="228600"/>
          </a:xfrm>
          <a:prstGeom prst="rect">
            <a:avLst/>
          </a:prstGeom>
          <a:noFill/>
          <a:ln/>
        </p:spPr>
        <p:txBody>
          <a:bodyPr wrap="square" lIns="0" tIns="0" rIns="0" bIns="0" rtlCol="0" anchor="ctr"/>
          <a:lstStyle/>
          <a:p>
            <a:pPr indent="0" marL="0">
              <a:buNone/>
            </a:pPr>
            <a:r>
              <a:rPr lang="en-US" sz="1400" u="sng" dirty="0">
                <a:solidFill>
                  <a:srgbClr val="67CADA"/>
                </a:solidFill>
                <a:hlinkClick r:id="rId3" invalidUrl="" action="" tgtFrame="" tooltip="" history="1" highlightClick="0" endSnd="0">
                  <a:extLst>
                    <a:ext uri="{A12FA001-AC4F-418D-AE19-62706E023703}">
                      <ahyp:hlinkClr xmlns:ahyp="http://schemas.microsoft.com/office/drawing/2018/hyperlinkcolor" val="tx"/>
                    </a:ext>
                  </a:extLst>
                </a:hlinkClick>
              </a:rPr>
              <a:t>↗</a:t>
            </a:r>
            <a:endParaRPr lang="en-US" sz="1400" dirty="0"/>
          </a:p>
        </p:txBody>
      </p:sp>
      <p:sp>
        <p:nvSpPr>
          <p:cNvPr id="25" name="Shape 23"/>
          <p:cNvSpPr/>
          <p:nvPr/>
        </p:nvSpPr>
        <p:spPr>
          <a:xfrm>
            <a:off x="685800" y="4434840"/>
            <a:ext cx="10890504" cy="576072"/>
          </a:xfrm>
          <a:prstGeom prst="roundRect">
            <a:avLst/>
          </a:prstGeom>
          <a:solidFill>
            <a:srgbClr val="102B3B"/>
          </a:solidFill>
          <a:ln w="10160">
            <a:solidFill>
              <a:srgbClr val="365061"/>
            </a:solidFill>
            <a:prstDash val="solid"/>
          </a:ln>
        </p:spPr>
      </p:sp>
      <p:sp>
        <p:nvSpPr>
          <p:cNvPr id="26" name="Text 24"/>
          <p:cNvSpPr/>
          <p:nvPr/>
        </p:nvSpPr>
        <p:spPr>
          <a:xfrm>
            <a:off x="914400" y="4535424"/>
            <a:ext cx="3858768" cy="246888"/>
          </a:xfrm>
          <a:prstGeom prst="rect">
            <a:avLst/>
          </a:prstGeom>
          <a:noFill/>
          <a:ln/>
        </p:spPr>
        <p:txBody>
          <a:bodyPr wrap="square" lIns="0" tIns="0" rIns="0" bIns="0" rtlCol="0" anchor="ctr" vert="horz">
            <a:normAutofit/>
          </a:bodyPr>
          <a:lstStyle/>
          <a:p>
            <a:pPr algn="l" indent="0" marL="0">
              <a:buNone/>
            </a:pPr>
            <a:r>
              <a:rPr lang="en-US" sz="1700" b="1" dirty="0">
                <a:solidFill>
                  <a:srgbClr val="67CADA"/>
                </a:solidFill>
                <a:latin typeface="Aptos" pitchFamily="34" charset="0"/>
                <a:ea typeface="Aptos" pitchFamily="34" charset="-122"/>
                <a:cs typeface="Aptos" pitchFamily="34" charset="-120"/>
              </a:rPr>
              <a:t>Shanghai AI Laboratory</a:t>
            </a:r>
            <a:endParaRPr lang="en-US" sz="1700" dirty="0"/>
          </a:p>
        </p:txBody>
      </p:sp>
      <p:sp>
        <p:nvSpPr>
          <p:cNvPr id="27" name="Text 25"/>
          <p:cNvSpPr/>
          <p:nvPr/>
        </p:nvSpPr>
        <p:spPr>
          <a:xfrm>
            <a:off x="4754880" y="4553712"/>
            <a:ext cx="6126480" cy="274320"/>
          </a:xfrm>
          <a:prstGeom prst="rect">
            <a:avLst/>
          </a:prstGeom>
          <a:noFill/>
          <a:ln/>
        </p:spPr>
        <p:txBody>
          <a:bodyPr wrap="square" lIns="0" tIns="0" rIns="0" bIns="0" rtlCol="0" anchor="ctr" vert="horz">
            <a:normAutofit/>
          </a:bodyPr>
          <a:lstStyle/>
          <a:p>
            <a:pPr algn="l" indent="0" marL="0">
              <a:buNone/>
            </a:pPr>
            <a:r>
              <a:rPr lang="en-US" sz="1400" dirty="0">
                <a:solidFill>
                  <a:srgbClr val="A8C0CD"/>
                </a:solidFill>
                <a:latin typeface="Aptos" pitchFamily="34" charset="0"/>
                <a:ea typeface="Aptos" pitchFamily="34" charset="-122"/>
                <a:cs typeface="Aptos" pitchFamily="34" charset="-120"/>
              </a:rPr>
              <a:t>InternVLA-N1 / A1 · navegación y manipulación</a:t>
            </a:r>
            <a:endParaRPr lang="en-US" sz="1400" dirty="0"/>
          </a:p>
        </p:txBody>
      </p:sp>
      <p:sp>
        <p:nvSpPr>
          <p:cNvPr id="28" name="Text 26">
            <a:hlinkClick r:id="rId4" tooltip=""/>
          </p:cNvPr>
          <p:cNvSpPr/>
          <p:nvPr/>
        </p:nvSpPr>
        <p:spPr>
          <a:xfrm>
            <a:off x="11091672" y="4526280"/>
            <a:ext cx="228600" cy="228600"/>
          </a:xfrm>
          <a:prstGeom prst="rect">
            <a:avLst/>
          </a:prstGeom>
          <a:noFill/>
          <a:ln/>
        </p:spPr>
        <p:txBody>
          <a:bodyPr wrap="square" lIns="0" tIns="0" rIns="0" bIns="0" rtlCol="0" anchor="ctr"/>
          <a:lstStyle/>
          <a:p>
            <a:pPr indent="0" marL="0">
              <a:buNone/>
            </a:pPr>
            <a:r>
              <a:rPr lang="en-US" sz="1400" u="sng" dirty="0">
                <a:solidFill>
                  <a:srgbClr val="67CADA"/>
                </a:solidFill>
                <a:hlinkClick r:id="rId4" invalidUrl="" action="" tgtFrame="" tooltip="" history="1" highlightClick="0" endSnd="0">
                  <a:extLst>
                    <a:ext uri="{A12FA001-AC4F-418D-AE19-62706E023703}">
                      <ahyp:hlinkClr xmlns:ahyp="http://schemas.microsoft.com/office/drawing/2018/hyperlinkcolor" val="tx"/>
                    </a:ext>
                  </a:extLst>
                </a:hlinkClick>
              </a:rPr>
              <a:t>↗</a:t>
            </a:r>
            <a:endParaRPr lang="en-US" sz="1400" dirty="0"/>
          </a:p>
        </p:txBody>
      </p:sp>
      <p:sp>
        <p:nvSpPr>
          <p:cNvPr id="29" name="Shape 27"/>
          <p:cNvSpPr/>
          <p:nvPr/>
        </p:nvSpPr>
        <p:spPr>
          <a:xfrm>
            <a:off x="685800" y="5111496"/>
            <a:ext cx="10890504" cy="576072"/>
          </a:xfrm>
          <a:prstGeom prst="roundRect">
            <a:avLst/>
          </a:prstGeom>
          <a:solidFill>
            <a:srgbClr val="102B3B"/>
          </a:solidFill>
          <a:ln w="10160">
            <a:solidFill>
              <a:srgbClr val="365061"/>
            </a:solidFill>
            <a:prstDash val="solid"/>
          </a:ln>
        </p:spPr>
      </p:sp>
      <p:sp>
        <p:nvSpPr>
          <p:cNvPr id="30" name="Text 28"/>
          <p:cNvSpPr/>
          <p:nvPr/>
        </p:nvSpPr>
        <p:spPr>
          <a:xfrm>
            <a:off x="914400" y="5212080"/>
            <a:ext cx="3858768" cy="246888"/>
          </a:xfrm>
          <a:prstGeom prst="rect">
            <a:avLst/>
          </a:prstGeom>
          <a:noFill/>
          <a:ln/>
        </p:spPr>
        <p:txBody>
          <a:bodyPr wrap="square" lIns="0" tIns="0" rIns="0" bIns="0" rtlCol="0" anchor="ctr" vert="horz">
            <a:normAutofit/>
          </a:bodyPr>
          <a:lstStyle/>
          <a:p>
            <a:pPr algn="l" indent="0" marL="0">
              <a:buNone/>
            </a:pPr>
            <a:r>
              <a:rPr lang="en-US" sz="1700" b="1" dirty="0">
                <a:solidFill>
                  <a:srgbClr val="F3C56C"/>
                </a:solidFill>
                <a:latin typeface="Aptos" pitchFamily="34" charset="0"/>
                <a:ea typeface="Aptos" pitchFamily="34" charset="-122"/>
                <a:cs typeface="Aptos" pitchFamily="34" charset="-120"/>
              </a:rPr>
              <a:t>Laboratorio del curso</a:t>
            </a:r>
            <a:endParaRPr lang="en-US" sz="1700" dirty="0"/>
          </a:p>
        </p:txBody>
      </p:sp>
      <p:sp>
        <p:nvSpPr>
          <p:cNvPr id="31" name="Text 29"/>
          <p:cNvSpPr/>
          <p:nvPr/>
        </p:nvSpPr>
        <p:spPr>
          <a:xfrm>
            <a:off x="4754880" y="5230368"/>
            <a:ext cx="6126480" cy="274320"/>
          </a:xfrm>
          <a:prstGeom prst="rect">
            <a:avLst/>
          </a:prstGeom>
          <a:noFill/>
          <a:ln/>
        </p:spPr>
        <p:txBody>
          <a:bodyPr wrap="square" lIns="0" tIns="0" rIns="0" bIns="0" rtlCol="0" anchor="ctr" vert="horz">
            <a:normAutofit/>
          </a:bodyPr>
          <a:lstStyle/>
          <a:p>
            <a:pPr algn="l" indent="0" marL="0">
              <a:buNone/>
            </a:pPr>
            <a:r>
              <a:rPr lang="en-US" sz="1400" dirty="0">
                <a:solidFill>
                  <a:srgbClr val="A8C0CD"/>
                </a:solidFill>
                <a:latin typeface="Aptos" pitchFamily="34" charset="0"/>
                <a:ea typeface="Aptos" pitchFamily="34" charset="-122"/>
                <a:cs typeface="Aptos" pitchFamily="34" charset="-120"/>
              </a:rPr>
              <a:t>RobotLab · simulaciones didácticas</a:t>
            </a:r>
            <a:endParaRPr lang="en-US" sz="1400" dirty="0"/>
          </a:p>
        </p:txBody>
      </p:sp>
      <p:sp>
        <p:nvSpPr>
          <p:cNvPr id="32" name="Text 30">
            <a:hlinkClick r:id="rId5" tooltip=""/>
          </p:cNvPr>
          <p:cNvSpPr/>
          <p:nvPr/>
        </p:nvSpPr>
        <p:spPr>
          <a:xfrm>
            <a:off x="11091672" y="5202936"/>
            <a:ext cx="228600" cy="228600"/>
          </a:xfrm>
          <a:prstGeom prst="rect">
            <a:avLst/>
          </a:prstGeom>
          <a:noFill/>
          <a:ln/>
        </p:spPr>
        <p:txBody>
          <a:bodyPr wrap="square" lIns="0" tIns="0" rIns="0" bIns="0" rtlCol="0" anchor="ctr"/>
          <a:lstStyle/>
          <a:p>
            <a:pPr indent="0" marL="0">
              <a:buNone/>
            </a:pPr>
            <a:r>
              <a:rPr lang="en-US" sz="1400" u="sng" dirty="0">
                <a:solidFill>
                  <a:srgbClr val="67CADA"/>
                </a:solidFill>
                <a:hlinkClick r:id="rId5" invalidUrl="" action="" tgtFrame="" tooltip="" history="1" highlightClick="0" endSnd="0">
                  <a:extLst>
                    <a:ext uri="{A12FA001-AC4F-418D-AE19-62706E023703}">
                      <ahyp:hlinkClr xmlns:ahyp="http://schemas.microsoft.com/office/drawing/2018/hyperlinkcolor" val="tx"/>
                    </a:ext>
                  </a:extLst>
                </a:hlinkClick>
              </a:rPr>
              <a:t>↗</a:t>
            </a:r>
            <a:endParaRPr lang="en-US" sz="1400" dirty="0"/>
          </a:p>
        </p:txBody>
      </p:sp>
      <p:sp>
        <p:nvSpPr>
          <p:cNvPr id="33" name="Text 31"/>
          <p:cNvSpPr/>
          <p:nvPr/>
        </p:nvSpPr>
        <p:spPr>
          <a:xfrm>
            <a:off x="1234440" y="5943600"/>
            <a:ext cx="9692640" cy="365760"/>
          </a:xfrm>
          <a:prstGeom prst="rect">
            <a:avLst/>
          </a:prstGeom>
          <a:noFill/>
          <a:ln/>
        </p:spPr>
        <p:txBody>
          <a:bodyPr wrap="square" lIns="0" tIns="0" rIns="0" bIns="0" rtlCol="0" anchor="ctr" vert="horz">
            <a:normAutofit/>
          </a:bodyPr>
          <a:lstStyle/>
          <a:p>
            <a:pPr algn="ctr" indent="0" marL="0">
              <a:buNone/>
            </a:pPr>
            <a:r>
              <a:rPr lang="en-US" sz="1900" dirty="0">
                <a:solidFill>
                  <a:srgbClr val="F3C56C"/>
                </a:solidFill>
                <a:latin typeface="Georgia" pitchFamily="34" charset="0"/>
                <a:ea typeface="Georgia" pitchFamily="34" charset="-122"/>
                <a:cs typeface="Georgia" pitchFamily="34" charset="-120"/>
              </a:rPr>
              <a:t>Material elaborado por el profesor Sergio Gevatschnaider</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Material elaborado por el profesor Sergio Gevatschnaider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androide · 人形机器人 — Las empresas tecnológicas de China</dc:title>
  <dc:subject>Empresas tecnológicas de China, inteligencia artificial y robótica humanoide</dc:subject>
  <dc:creator>Sergio Gevatschnaider</dc:creator>
  <cp:lastModifiedBy>Sergio Gevatschnaider</cp:lastModifiedBy>
  <cp:revision>1</cp:revision>
  <dcterms:created xsi:type="dcterms:W3CDTF">2026-10-20T15:34:09Z</dcterms:created>
  <dcterms:modified xsi:type="dcterms:W3CDTF">2026-10-20T15:34:09Z</dcterms:modified>
</cp:coreProperties>
</file>