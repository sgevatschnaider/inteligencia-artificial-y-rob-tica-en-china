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infraestructura — 基础设施
OBJETIVO / GUION DOCENTE:
Presentar el tercer símbolo del video inicial. 基础设施 (jīchǔ shèshī) significa infraestructura, en chino simplificado. No se trata solamente de puertos o electricidad: la dimensión física convive con universidades, ciencia, personal cualificado, capacidades organizacionales y redes territoriales. Imagen conceptual generada con IA.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infraestructura no es solo cemento
OBJETIVO / GUION DOCENTE:
Diferenciar infraestructura física, digital, humana y científica. Es una clasificación analítica para comprender mecanismos complementarios: el hardware exige energía, redes y talento; las publicaciones requieren laboratorios, datos y acceso a recursos; producir demanda proveedores y equipos formados. No presentar como clasificación oficial única.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Cuatro capitales que se complementan
OBJETIVO / GUION DOCENTE:
Demostrar que los componentes se retroalimentan: universidades forman personas que pasan a empresas; demanda industrial plantea preguntas de investigación; nuevas técnicas requieren energía y chips; cambios en mercados devuelven incentivos. La secuencia no es lineal ni determinista.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infraestructura invisible
OBJETIVO / GUION DOCENTE:
Subrayar que infraestructura humana designa capacidades formadas, no equiparar personas con objetos. El talento necesita instituciones, condiciones laborales y equipos; no se mide solo por número de graduados. Introducir universidades, ciencia y formación profesional.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¿Dónde se produce conocimiento nuevo?
OBJETIVO / GUION DOCENTE:
Identificar centros representativos sin afirmar que ocupan las primeras posiciones de un ranking. Tsinghua dispone de College of AI creado en abril de 2024; CAS Institute of Automation cubre reconocimiento de patrones, visión y sistemas de manufactura; Shanghai AI Lab se define como institución de investigación nueva. Peking University también es un actor importante de ciencias e informática, sin adjudicar cifras que no se comprobaron.
FUENTES CONSULTABLES:
• https://collegeai.tsinghua.edu.cn/en/About_Us/Introduction.htm
• https://english.ia.ac.cn/rd/
• https://www.shlab.org.cn/aboutus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Tsinghua: una apuesta por investigación y talento
OBJETIVO / GUION DOCENTE:
Tsinghua fundó el College of AI en abril de 2024, dirigido por Andrew Chi-Chih Yao. Según su propia documentación busca avances fundamentales y cultivo de talentos, incluidas inteligencia encarnada, multimodalidad y aplicaciones científicas. Esta es la descripción institucional de sus objetivos; no equivale a un resultado medido. Imagen visual conceptual; no fotografía de campus.
FUENTES CONSULTABLES:
• https://collegeai.tsinghua.edu.cn/en/About_Us/Introduction.htm
• https://collegeai.tsinghua.edu.cn/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Más allá de una universidad
OBJETIVO / GUION DOCENTE:
Peking, Zhejiang y Shanghai Jiao Tong son ejemplos representativos, no selección por una clasificación comprobada. CAS no es una universidad: integra institutos de investigación. La conexión práctica con empresas puede tomar la forma de proyectos colaborativos, publicaciones coautoradas, graduados o laboratorios conjuntos. Verificar caso por caso.
FUENTES CONSULTABLES:
• https://english.ia.ac.cn/rd/
• https://www.shlab.org.cn/aboutus
• https://collegeai.tsinghua.edu.cn/en/About_Us/Introduction.htm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China en la investigación de IA
OBJETIVO / GUION DOCENTE:
AI Index 2026: la participación china dentro de los 100 artículos más citados pasó de 33 (2021) a 41 (2024); el informe consigna 50 modelos notables estadounidenses y 30 chinos producidos en 2025. Las afiliaciones coautoradas pueden contabilizarse en varios países; una cita depende de antigüedad y disciplina; modelos notables no son todas las publicaciones ni toda la producción comercial. Los dos paneles son métricas distintas.
FUENTES CONSULTABLES:
• https://hai.stanford.edu/assets/files/ai_index_report_2026_chapter_1_research_development.pdf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Muchos papers ≠ liderazgo en todas las dimensiones
OBJETIVO / GUION DOCENTE:
Evitar inferir superioridad tecnológica universal de un solo indicador. Contar países con afiliación de autor, distinguir papers de revistas y conferencias, frecuencia de citas, patentes concedidas y rendimiento reproducible. En 2025 la industria global produjo más del 90% de modelos notables según AI Index, recordatorio de que universidades y empresas desempeñan roles diferentes.
FUENTES CONSULTABLES:
• https://hai.stanford.edu/assets/files/ai_index_report_2026_chapter_1_research_development.pdf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Educación, ciencia y talento
OBJETIVO / GUION DOCENTE:
En el XV Plan Quinquenal 2026-2030 (capítulo sobre educación, ciencia y talento) se formula la integración estratégica de las tres dimensiones, el desarrollo de disciplinas emergentes como IA y circuitos integrados, y una coordinación de recursos formativos. Distinguir prioridades oficiales de resultados. Fuente original en chino.
FUENTES CONSULTABLES:
• https://www.cppcc.gov.cn/zxww/2026/03/16/ARTI1773644951646391.shtml
• https://www.ndrc.gov.cn/fggz/fzzlgh/gjjzxgh/202609/t20260928_1407868.html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¿Cómo se forma un investigador o ingeniero?
OBJETIVO / GUION DOCENTE:
Explicar la infraestructura humana como un sistema de formación: preuniversitario, universidad, posgrado, investigación, industria, capacitación de técnicos, mantenimiento, personal de planta y aprendizaje permanente. Evitar idea de que un ingeniero de IA puede sustituir todos los perfiles de manufactura.
FUENTES CONSULTABLES:
• https://www.cppcc.gov.cn/zxww/2026/03/16/ARTI1773644951646391.shtml
• https://www.ndrc.gov.cn/fggz/fzzlgh/gjjzxgh/202609/t20260928_1407868.html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Del paper al producto: una cadena exigente
OBJETIVO / GUION DOCENTE:
Ejemplificar la diferencia entre un resultado académico reproducible, prototipo, piloto y sistema en operación. Un paper puede no tener traducción productiva; una innovación comercial también puede surgir sin paper. Barreras: fabricación, integración, seguridad, costos, usuarios y propiedad intelectual.
FUENTES CONSULTABLES:
• https://www.wipo.int/pressroom/en/articles/2026/article_0014.html
• https://www.shlab.org.cn/aboutus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Un laboratorio conecta algoritmos y mundo físico
OBJETIVO / GUION DOCENTE:
Laboratorios como Shanghai AI Lab y CAS trabajan entre otras áreas en AI for Science, multimodalidad y robótica; documentación institucional respalda los ámbitos de investigación, pero no garantiza hallazgos concretos en todos los campos. En ciencia la validación empírica es central.
FUENTES CONSULTABLES:
• https://www.shlab.org.cn/joinus
• https://english.ia.ac.cn/rd/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Robótica: del simulador al entorno real
OBJETIVO / GUION DOCENTE:
La simulación y los modelos generativos ayudan a entrenar, pero no garantizan transferencia sim-to-real, estabilidad o seguridad. Deben contrastarse con sensores, manipuladores reales, intervenciones humanas, ciclos de tarea y fallos. Un video sintético no es por definición simulación física de alta fidelidad. Imagen conceptual.
FUENTES CONSULTABLES:
• https://english.ia.ac.cn/rd/
• https://www.shlab.org.cn/joinus
• https://sgevatschnaider.github.io/Inteligencia-Artificial-y-Rob-tica-en-China/robotlab/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base material de la revolución
OBJETIVO / GUION DOCENTE:
Transición desde infraestructura humana y científica a recursos industriales físicos. La misma política o algoritmo puede rendir muy distinto según fiabilidad eléctrica, conectividad, infraestructura de pruebas, acceso a materiales y capacidad productiva.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energía es infraestructura de IA y manufactura
OBJETIVO / GUION DOCENTE:
Precisar que computación e industria dependen de energía, subestaciones y redes. Evitar inferir que más capacidad de generación equivale a energía disponible cerca del centro de datos o que toda la energía empleada es limpia. Factores operativos: ubicación, fiabilidad, refrigeración, demanda y costos.
FUENTES CONSULTABLES:
• https://www.cppcc.gov.cn/zxww/2026/03/16/ARTI1773644951646391.shtml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De los chips al centro de datos
OBJETIVO / GUION DOCENTE:
La infraestructura de cómputo se compone de silicio, memoria HBM/DRAM, almacenamiento, redes, energía, refrigeración, frameworks de software y operadores. Aislar un benchmark de chip no captura acceso a volúmenes, rendimiento por watt, memoria, integración o herramientas de desarrollador.
FUENTES CONSULTABLES:
• https://hai.stanford.edu/assets/files/ai_index_report_2026_chapter_1_research_development.pdf
• https://www.cppcc.gov.cn/zxww/2026/03/16/ARTI1773644951646391.shtml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No hay autosuficiencia en una sola pieza
OBJETIVO / GUION DOCENTE:
Distinguir diseño de chips (Huawei Ascend, Cambricon, entre otros), fabricación (SMIC), memorias (CXMT, YMTC), equipos y encapsulado, herramientas de software, ingeniería y suministro energético. Se mencionan como ejemplos funcionales, sin inferir capacidad exacta de producción o rendimiento contemporáneo sin fuente técnica independiente. Estrangulamientos en una capa afectan al conjunto.
FUENTES CONSULTABLES:
• https://www.cppcc.gov.cn/zxww/2026/03/16/ARTI1773644951646391.shtml
• https://hai.stanford.edu/assets/files/ai_index_report_2026_chapter_1_research_development.pdf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fábrica inteligente es una red, no un edificio
OBJETIVO / GUION DOCENTE:
Cuando una empresa diseña un robot, su capacidad comercial depende de precisión de motores, suministros de sensores, servos, controladores, certificación y servicios postventa. Estos ecosistemas localizados reducen fricciones de prueba y reparación, pero también tienen vulnerabilidades a discontinuidades de suministros.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Tres niveles distintos de una fábrica inteligente
OBJETIVO / GUION DOCENTE:
Explicar: digitalización produce datos; automatización ejecuta reglas o tareas; inteligencia supone modelos o métodos que optimizan o adaptan decisiones dentro de ciertos límites. Se pueden combinar; una fábrica no necesita humanoides para ser altamente productiva.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Robótica: una ventaja de escala verificable
OBJETIVO / GUION DOCENTE:
La IFR informa aproximadamente 354.000 instalaciones nuevas de robots industriales en China durante 2025, equivalentes a 59% mundial. Las instalaciones son un flujo de unidades, no parque operativo ni cantidad de humanoides. Este indicador no demuestra en sí mismo retorno económico o productividad. La cuota de proveedores domésticos es otra métrica distinta (55%, 2025) que no debe confundirse.
FUENTES CONSULTABLES:
• https://ifr.org/ifr-press-releases/news/service-robots-on-the-rise-worldwide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Puertos, ferrocarriles y corredores productivos
OBJETIVO / GUION DOCENTE:
Presentar la logística como infraestructura habilitante: rutas, puertos, ferrocarriles y transporte dentro y entre clústeres. Diferenciar longitud de redes de capacidad efectiva de servicio; una inversión sobreconstruida puede tener bajo rendimiento. Imagen conceptual no fotografía real.
FUENTES CONSULTABLES:
• https://www.cppcc.gov.cn/zxww/2026/03/16/ARTI1773644951646391.shtml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Los clústeres reducen distancias y costos de coordinación
OBJETIVO / GUION DOCENTE:
Pedir que los alumnos piensen en viajes de técnicos, tiempo de reposición de componentes, calidad de proveedores y aprendizaje territorial. Beijing, región del Yangtsé (Shanghai-Suzhou-Hangzhou), Gran Bahía (Shenzhen-Guangzhou-Dongguan) y Hefei son referencias ilustrativas. No se afirma que los sectores estén restringidos a una sola ciudad.
FUENTES CONSULTABLES:
• https://www.cppcc.gov.cn/zxww/2026/03/16/ARTI1773644951646391.shtml
• https://www.wipo.int/en/web/global-innovation-index/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Vehículos eléctricos: cadena industrial y capacidad
OBJETIVO / GUION DOCENTE:
La IEA indica cerca de 22 millones de automóviles eléctricos fabricados globalmente en 2025, de los cuales China produjo 16 millones (casi 75%). Esto permite discutir la integración de baterías, electrónica, ensamblaje, proveedores y logística. El informe también indica presión competitiva y producción que supera demanda doméstica. Evitar equiparar fabricación con marcas exclusivamente chinas.
FUENTES CONSULTABLES:
• https://www.iea.org/reports/global-ev-outlook-2026/manufacturing-and-trade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Cuando la infraestructura produce datos útiles
OBJETIVO / GUION DOCENTE:
Distinguir datos exhaustivos de datos pertinentes. Un flywheel solo se sostiene si uso produce observaciones de calidad que generan mejora fiable y si la mejora crea adopción adicional. Hay sesgos, problemas de privacidad, seguridad, errores y falta de generalización. Relacionar con simuladores del GitHub sin confundir simulación con cifras reales.
FUENTES CONSULTABLES:
• https://sgevatschnaider.github.io/Inteligencia-Artificial-y-Rob-tica-en-China/robotlab/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Qué medir antes de decir éxito
OBJETIVO / GUION DOCENTE:
Una planta terminada o un robot instalado es capacidad, no necesariamente producción útil. Para valorar rendimiento, analizar utilización, rendimiento de los equipos, costos, defectos, tiempo de parada, externalidades y retorno. Importa también comparar con escenarios contrafácticos: qué habría ocurrido sin inversión.
FUENTES CONSULTABLES:
• https://ifr.org/ifr-press-releases/news/service-robots-on-the-rise-worldwide
• https://www.cppcc.gov.cn/zxww/2026/03/16/ARTI1773644951646391.shtml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La escala china ofrece ventajas y riesgos
OBJETIVO / GUION DOCENTE:
Analizar fortalezas y tensiones estructurales sin propaganda ni simplificaciones: escala, investigadores, integración de fabricantes, pero también restricciones geopolíticas, márgenes de ganancia, sobrecapacidad, impacto ambiental, inversión improductiva, deuda y diferencias entre territorios. Los efectos varían por sector y periodo.
FUENTES CONSULTABLES:
• https://hai.stanford.edu/assets/files/ai_index_report_2026_chapter_1_research_development.pdf
• https://www.iea.org/reports/global-ev-outlook-2026/manufacturing-and-trade
• https://www.cppcc.gov.cn/zxww/2026/03/16/ARTI1773644951646391.shtml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El capital humano conecta a los tres pilares
OBJETIVO / GUION DOCENTE:
Explicar que talento, universidad y laboratorios forman un elemento transversal: el Estado promueve formación y recursos; las empresas necesitan conocimiento, investigan y contratan; la infraestructura física hace posible experimentar y desplegar. Nadie innova solo. Las tres metáforas no conforman un modelo causal suficiente sin competencia, mercados, instituciones y contexto histórico.
FUENTES CONSULTABLES:
• https://www.cppcc.gov.cn/zxww/2026/03/16/ARTI1773644951646391.shtml
• https://hai.stanford.edu/assets/files/ai_index_report_2026_chapter_1_research_development.pdf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Cinco preguntas para investigar China
OBJETIVO / GUION DOCENTE:
Usar esta diapositiva en debate, asignando una pregunta por grupo. Exigir evidencias originales y evitar anuncios empresariales como única prueba. Las preguntas refuerzan que la infraestructura incluye destrezas, materiales, electricidad, redes y aplicaciones reales.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Investigación, talento y política industrial
OBJETIVO / GUION DOCENTE:
Fuentes prioritarias consultadas: AI Index Report 2026 capítulo 1, Tsinghua CollegeAI, texto oficial XV Plan (chino), Shanghai AI Laboratory, Institute of Automation de la Academia China de Ciencias. Enlaces clicables y en notas. Las instituciones publican agendas institucionales: no confundirlas con resultados independientes.
FUENTES CONSULTABLES:
• https://hai.stanford.edu/assets/files/ai_index_report_2026_chapter_1_research_development.pdf
• https://collegeai.tsinghua.edu.cn/en/About_Us/Introduction.htm
• https://www.cppcc.gov.cn/zxww/2026/03/16/ARTI1773644951646391.shtml
• https://www.shlab.org.cn/aboutus
• https://english.ia.ac.cn/rd/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Industria, robots y electrificación
OBJETIVO / GUION DOCENTE:
IFR World Robotics 2026 ofrece instalaciones de 2025; IEA Global EV Outlook 2026 produce estimaciones de producción de EV en 2025; WIPO 2026 describe ecosistemas de innovación; documentos chinos de educación establecen objetivos para 2026–2030. Mantener la fecha de observación y la definición junto al número.
FUENTES CONSULTABLES:
• https://ifr.org/ifr-press-releases/news/service-robots-on-the-rise-worldwide
• https://www.iea.org/reports/global-ev-outlook-2026/manufacturing-and-trade
• https://www.wipo.int/pressroom/en/articles/2026/article_0014.html
• https://www.ndrc.gov.cn/fggz/fzzlgh/gjjzxgh/202609/t20260928_1407868.html
• https://hai.stanford.edu/assets/files/ai_index_report_2026_chapter_1_research_development.pdf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DIAPOSITIVA: Sin conocimiento, no hay revolución industrial
OBJETIVO / GUION DOCENTE:
Cierre de tercer módulo: no reducir infraestructura a carreteras y fábricas; incluye científicos, formación, organización, capacidad digital, logística y electricidad. Las tres metáforas de la colección conectan con el cuarto módulo integrador de 47 diapositivas sobre transformación industrial. Reafirmar que escala instalada no demuestra productividad y que capacidad científica no es suficiente sin instituciones, empresas y procesos.
FUENTES CONSULTABLES:
Elaboración conceptual.
ADVERTENCIA METODOLÓGICA: Imágenes cinematográficas generadas por IA con fines conceptuales, no fotografías documentales. Toda cifra se atribuye con período y definición. Las metas oficiales, cifras observadas y ejemplos hipotéticos son categorías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hai.stanford.edu/assets/files/ai_index_report_2026_chapter_1_research_development.pdf" TargetMode="External"/><Relationship Id="rId2" Type="http://schemas.openxmlformats.org/officeDocument/2006/relationships/hyperlink" Target="https://collegeai.tsinghua.edu.cn/en/About_Us/Introduction.htm" TargetMode="External"/><Relationship Id="rId3" Type="http://schemas.openxmlformats.org/officeDocument/2006/relationships/hyperlink" Target="https://www.cppcc.gov.cn/zxww/2026/03/16/ARTI1773644951646391.shtml" TargetMode="External"/><Relationship Id="rId4" Type="http://schemas.openxmlformats.org/officeDocument/2006/relationships/hyperlink" Target="https://www.shlab.org.cn/aboutus" TargetMode="External"/><Relationship Id="rId5" Type="http://schemas.openxmlformats.org/officeDocument/2006/relationships/hyperlink" Target="https://english.ia.ac.cn/rd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ifr.org/ifr-press-releases/news/service-robots-on-the-rise-worldwide" TargetMode="External"/><Relationship Id="rId2" Type="http://schemas.openxmlformats.org/officeDocument/2006/relationships/hyperlink" Target="https://www.iea.org/reports/global-ev-outlook-2026/manufacturing-and-trade" TargetMode="External"/><Relationship Id="rId3" Type="http://schemas.openxmlformats.org/officeDocument/2006/relationships/hyperlink" Target="https://www.wipo.int/pressroom/en/articles/2026/article_0014.html" TargetMode="External"/><Relationship Id="rId4" Type="http://schemas.openxmlformats.org/officeDocument/2006/relationships/hyperlink" Target="https://www.ndrc.gov.cn/fggz/fzzlgh/gjjzxgh/202609/t20260928_1407868.html" TargetMode="External"/><Relationship Id="rId5" Type="http://schemas.openxmlformats.org/officeDocument/2006/relationships/hyperlink" Target="https://hai.stanford.edu/assets/files/ai_index_report_2026_chapter_1_research_development.pd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cityscape_indust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51192" cy="6858000"/>
          </a:xfrm>
          <a:prstGeom prst="rect">
            <a:avLst/>
          </a:prstGeom>
          <a:solidFill>
            <a:srgbClr val="051221">
              <a:alpha val="85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MÓDULO 03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768096"/>
            <a:ext cx="3383280" cy="0"/>
          </a:xfrm>
          <a:prstGeom prst="line">
            <a:avLst/>
          </a:prstGeom>
          <a:noFill/>
          <a:ln w="25400">
            <a:solidFill>
              <a:srgbClr val="F4C7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1042416"/>
            <a:ext cx="8238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INFRAESTRUCTURA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6217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4C76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基础设施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22376" y="2743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100" kern="0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JĪCHǓ SHÈSHĪ  ·  INFRAESTRUCTURA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704088" y="3218688"/>
            <a:ext cx="4462272" cy="0"/>
          </a:xfrm>
          <a:prstGeom prst="line">
            <a:avLst/>
          </a:prstGeom>
          <a:noFill/>
          <a:ln w="36830">
            <a:solidFill>
              <a:srgbClr val="E25E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465576"/>
            <a:ext cx="6537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base material, científica y humana de la revolución tecnológica china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67512" y="5239512"/>
            <a:ext cx="6775704" cy="4663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536295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" y="6108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OCTUBRE DE 2026  ·  MATERIAL DOCENTE  ·  MÓDULO 03</a:t>
            </a:r>
            <a:endParaRPr lang="en-US" sz="10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CONCEPTUAL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infraestructura no es solo cemento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productiva también contiene conocimiento organizado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CONCEPTUAL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" y="2478024"/>
            <a:ext cx="5440680" cy="136245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2715768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6090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FÍSICA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96696" y="3182112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Puertos, energía, ferrocarriles y plantas industriales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2478024"/>
            <a:ext cx="5440680" cy="136245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715768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266090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56832" y="3182112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Cómputo, redes, datos y software industrial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" y="4078224"/>
            <a:ext cx="5440680" cy="136245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315968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6110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96696" y="4782312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Investigadores, ingenieros, técnicos y especialistas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4078224"/>
            <a:ext cx="5440680" cy="136245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4315968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426110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56832" y="4782312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Universidades, laboratorios y conocimiento transferible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570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Tesis: sin personas y conocimiento, la infraestructura física no produce innovación por sí sola.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COMPLETO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capitales que se complementan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capacidad tecnológica surge de relaciones, no de activos aislados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CONCEPTUAL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907792"/>
            <a:ext cx="2660904" cy="138988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80D4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</a:t>
            </a:r>
            <a:endParaRPr lang="en-US" sz="1740" dirty="0"/>
          </a:p>
        </p:txBody>
      </p:sp>
      <p:sp>
        <p:nvSpPr>
          <p:cNvPr id="14" name="Text 12"/>
          <p:cNvSpPr/>
          <p:nvPr/>
        </p:nvSpPr>
        <p:spPr>
          <a:xfrm>
            <a:off x="832104" y="3776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3364992" y="3410712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21024" y="2907792"/>
            <a:ext cx="2660904" cy="138988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</a:t>
            </a:r>
            <a:endParaRPr lang="en-US" sz="1740" dirty="0"/>
          </a:p>
        </p:txBody>
      </p:sp>
      <p:sp>
        <p:nvSpPr>
          <p:cNvPr id="18" name="Text 16"/>
          <p:cNvSpPr/>
          <p:nvPr/>
        </p:nvSpPr>
        <p:spPr>
          <a:xfrm>
            <a:off x="3739896" y="3776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Descubre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6272784" y="3410712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528816" y="2907792"/>
            <a:ext cx="2660904" cy="138988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</a:t>
            </a:r>
            <a:endParaRPr lang="en-US" sz="1740" dirty="0"/>
          </a:p>
        </p:txBody>
      </p:sp>
      <p:sp>
        <p:nvSpPr>
          <p:cNvPr id="22" name="Text 20"/>
          <p:cNvSpPr/>
          <p:nvPr/>
        </p:nvSpPr>
        <p:spPr>
          <a:xfrm>
            <a:off x="6647688" y="3776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180576" y="3410712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36608" y="2907792"/>
            <a:ext cx="2660904" cy="138988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E25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</a:t>
            </a:r>
            <a:endParaRPr lang="en-US" sz="1740" dirty="0"/>
          </a:p>
        </p:txBody>
      </p:sp>
      <p:sp>
        <p:nvSpPr>
          <p:cNvPr id="26" name="Text 24"/>
          <p:cNvSpPr/>
          <p:nvPr/>
        </p:nvSpPr>
        <p:spPr>
          <a:xfrm>
            <a:off x="9555480" y="3776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704088" y="5148072"/>
            <a:ext cx="10799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flechas son simplificaciones didácticas: existen múltiples retroalimentaciones y cuellos de botella.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scene_of_a_futuristic_research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51221">
              <a:alpha val="82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MÓDULO 03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6144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infraestructura</a:t>
            </a:r>
            <a:endParaRPr lang="en-US" sz="3750" dirty="0"/>
          </a:p>
          <a:p>
            <a:pPr algn="l" indent="0" marL="0">
              <a:buNone/>
            </a:pPr>
            <a:r>
              <a:rPr lang="en-US" sz="375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</a:t>
            </a:r>
            <a:endParaRPr lang="en-US" sz="3750" dirty="0"/>
          </a:p>
        </p:txBody>
      </p:sp>
      <p:sp>
        <p:nvSpPr>
          <p:cNvPr id="7" name="Shape 4"/>
          <p:cNvSpPr/>
          <p:nvPr/>
        </p:nvSpPr>
        <p:spPr>
          <a:xfrm>
            <a:off x="667512" y="2944368"/>
            <a:ext cx="4544568" cy="0"/>
          </a:xfrm>
          <a:prstGeom prst="line">
            <a:avLst/>
          </a:prstGeom>
          <a:noFill/>
          <a:ln w="35560">
            <a:solidFill>
              <a:srgbClr val="E25E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310128"/>
            <a:ext cx="59070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1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acumuló capacidades en matemáticas, ingeniería, investigación y formación técnica: la gente también es infraestructura.</a:t>
            </a:r>
            <a:endParaRPr lang="en-US" sz="2310" dirty="0"/>
          </a:p>
        </p:txBody>
      </p:sp>
      <p:sp>
        <p:nvSpPr>
          <p:cNvPr id="9" name="Shape 6"/>
          <p:cNvSpPr/>
          <p:nvPr/>
        </p:nvSpPr>
        <p:spPr>
          <a:xfrm>
            <a:off x="694944" y="5660136"/>
            <a:ext cx="3474720" cy="3474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56921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HUMANO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¿Dónde se produce conocimiento nuevo?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Universidades, institutos públicos y laboratorios compartidos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853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Instituciones oficiales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04088" y="2468880"/>
            <a:ext cx="5413248" cy="145389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F4C7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清华大学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895344" y="26974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TSINGHUA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Modelos, IA interdisciplinaria y robótica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6355080" y="2468880"/>
            <a:ext cx="5413248" cy="145389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6FD5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9546336" y="26974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PEKÍN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Computación, IA y ciencia fundamental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704088" y="4142232"/>
            <a:ext cx="5413248" cy="145389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15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80D4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中国科学院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3895344" y="4370832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ACADEMIA CHINA DE CIENCIAS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32688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pública, automatización y física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6355080" y="4142232"/>
            <a:ext cx="5413248" cy="145389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315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E25E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上海人工智能实验室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9546336" y="4370832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SHANGHAI AI LAB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583680" y="48737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Modelos, plataformas y ciencia interdisciplinaria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713232" y="6016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Ejemplos, no ranking de instituciones.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scene_of_a_futuristic_research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43800" cy="6858000"/>
          </a:xfrm>
          <a:prstGeom prst="rect">
            <a:avLst/>
          </a:prstGeom>
          <a:solidFill>
            <a:srgbClr val="051221">
              <a:alpha val="86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TALENTO Y UNIVERSIDADES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6072" y="950976"/>
            <a:ext cx="7406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Tsinghua: una apuesta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investigación y talento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13232" y="2752344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30" dirty="0">
                <a:solidFill>
                  <a:srgbClr val="F4C7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清华大学  ·  人工智能学院</a:t>
            </a:r>
            <a:endParaRPr lang="en-US" sz="2230" dirty="0"/>
          </a:p>
        </p:txBody>
      </p:sp>
      <p:sp>
        <p:nvSpPr>
          <p:cNvPr id="8" name="Shape 5"/>
          <p:cNvSpPr/>
          <p:nvPr/>
        </p:nvSpPr>
        <p:spPr>
          <a:xfrm>
            <a:off x="731520" y="3364992"/>
            <a:ext cx="5157216" cy="0"/>
          </a:xfrm>
          <a:prstGeom prst="line">
            <a:avLst/>
          </a:prstGeom>
          <a:noFill/>
          <a:ln w="34290">
            <a:solidFill>
              <a:srgbClr val="E25E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3675888"/>
            <a:ext cx="62087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Abril de 2024: creación del College of AI. Áreas declaradas: nuevos algoritmos, inteligencia encarnada, multimodalidad, IA y ciencia.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8096" y="5687568"/>
            <a:ext cx="671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Tsinghua University · información institucional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 CIENTÍFICO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 una universidad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innovación requiere diversidad institucional y disciplinas conectadas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" y="2414016"/>
            <a:ext cx="5422392" cy="142646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651760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5968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PEKÍN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4128" y="3118104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Pekín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Ciencia, computación, matemáticas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27648" y="2414016"/>
            <a:ext cx="5422392" cy="142646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651760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5968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ZHEJIANG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9400" y="3118104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Zhejiang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e investigación aplicada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" y="4078224"/>
            <a:ext cx="5422392" cy="142646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315968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261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SHANGHÁI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24128" y="4782312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Shanghai Jiao Tong University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 ingeniería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7648" y="4078224"/>
            <a:ext cx="5422392" cy="142646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315968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42611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NACIONAL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29400" y="4782312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+ laboratorios especializados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 y automatización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" y="5952744"/>
            <a:ext cx="10835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Instituciones ilustrativas: los vínculos universidad–empresa deben investigarse por proyecto.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INTERNACIONAL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en la investigación de IA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Stanford AI Index 2026 · cifras con años y definiciones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853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Stanford AI Index 2026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9808" y="2386584"/>
            <a:ext cx="5285232" cy="251460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779776"/>
            <a:ext cx="46177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/ 100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042416" y="3886200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artículos entre los 100 más citados de IA</a:t>
            </a:r>
            <a:endParaRPr lang="en-US" sz="1630" dirty="0"/>
          </a:p>
          <a:p>
            <a:pPr algn="ctr" indent="0" marL="0">
              <a:buNone/>
            </a:pPr>
            <a:r>
              <a:rPr lang="en-US" sz="163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afiliación china · datos 2024</a:t>
            </a:r>
            <a:endParaRPr lang="en-US" sz="1630" dirty="0"/>
          </a:p>
        </p:txBody>
      </p:sp>
      <p:sp>
        <p:nvSpPr>
          <p:cNvPr id="16" name="Shape 14"/>
          <p:cNvSpPr/>
          <p:nvPr/>
        </p:nvSpPr>
        <p:spPr>
          <a:xfrm>
            <a:off x="6199632" y="2386584"/>
            <a:ext cx="5212080" cy="251460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807208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50" b="1" dirty="0">
                <a:solidFill>
                  <a:srgbClr val="6FD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 vs.  50</a:t>
            </a:r>
            <a:endParaRPr lang="en-US" sz="3950" dirty="0"/>
          </a:p>
        </p:txBody>
      </p:sp>
      <p:sp>
        <p:nvSpPr>
          <p:cNvPr id="18" name="Text 16"/>
          <p:cNvSpPr/>
          <p:nvPr/>
        </p:nvSpPr>
        <p:spPr>
          <a:xfrm>
            <a:off x="6345936" y="389534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de IA considerados notables en 2025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vs. Estados Unidos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932688" y="5349240"/>
            <a:ext cx="10451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métricas miden dimensiones distintas y no deben sumarse ni confundirse.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LOS DATOS CORRECTAMENTE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Muchos papers ≠ liderazgo en todas las dimensiones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evitar tres errores en la interpretación bibliométrica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3566160" cy="237744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60904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060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PUBLICACIONES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3272" y="3127248"/>
            <a:ext cx="30449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Volumen científico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 calidad individual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44568" y="2423160"/>
            <a:ext cx="3566160" cy="237744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660904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6060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127248"/>
            <a:ext cx="30449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Influencia académica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 producto comercial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57616" y="2423160"/>
            <a:ext cx="3566160" cy="237744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2208" y="2660904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6060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PATENTES / MODELOS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59368" y="3127248"/>
            <a:ext cx="30449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Derechos o prototipos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 adopción real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5413248"/>
            <a:ext cx="10479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evaluación rigurosa combina calidad, reproducibilidad, colaboración, transferencia y uso.</a:t>
            </a:r>
            <a:endParaRPr lang="en-US" sz="1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DE CAPACIDADES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 · 科技 · 人才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Educación, ciencia y talento: una tríada estratégica en el XV Plan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853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Texto oficial XV Plan 2026-2030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04672" y="2496312"/>
            <a:ext cx="3529584" cy="28712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52344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4C76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教育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87552" y="3657600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</a:t>
            </a:r>
            <a:endParaRPr lang="en-US" sz="1760" dirty="0"/>
          </a:p>
        </p:txBody>
      </p:sp>
      <p:sp>
        <p:nvSpPr>
          <p:cNvPr id="16" name="Shape 14"/>
          <p:cNvSpPr/>
          <p:nvPr/>
        </p:nvSpPr>
        <p:spPr>
          <a:xfrm>
            <a:off x="1316736" y="4224528"/>
            <a:ext cx="2487168" cy="0"/>
          </a:xfrm>
          <a:prstGeom prst="line">
            <a:avLst/>
          </a:prstGeom>
          <a:noFill/>
          <a:ln w="1016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4439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Formar competencias y ampliar trayectorias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0288" y="2496312"/>
            <a:ext cx="3529584" cy="28712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752344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6FD5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科技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4773168" y="3657600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 Y TECNOLOGÍA</a:t>
            </a:r>
            <a:endParaRPr lang="en-US" sz="1760" dirty="0"/>
          </a:p>
        </p:txBody>
      </p:sp>
      <p:sp>
        <p:nvSpPr>
          <p:cNvPr id="21" name="Shape 19"/>
          <p:cNvSpPr/>
          <p:nvPr/>
        </p:nvSpPr>
        <p:spPr>
          <a:xfrm>
            <a:off x="5102352" y="4224528"/>
            <a:ext cx="2487168" cy="0"/>
          </a:xfrm>
          <a:prstGeom prst="line">
            <a:avLst/>
          </a:prstGeom>
          <a:noFill/>
          <a:ln w="10160">
            <a:solidFill>
              <a:srgbClr val="3450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44439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Producir y aplicar conocimiento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75904" y="2496312"/>
            <a:ext cx="3529584" cy="28712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2752344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80D4A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人才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8558784" y="3657600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</a:t>
            </a:r>
            <a:endParaRPr lang="en-US" sz="1760" dirty="0"/>
          </a:p>
        </p:txBody>
      </p:sp>
      <p:sp>
        <p:nvSpPr>
          <p:cNvPr id="26" name="Shape 24"/>
          <p:cNvSpPr/>
          <p:nvPr/>
        </p:nvSpPr>
        <p:spPr>
          <a:xfrm>
            <a:off x="8887968" y="4224528"/>
            <a:ext cx="2487168" cy="0"/>
          </a:xfrm>
          <a:prstGeom prst="line">
            <a:avLst/>
          </a:prstGeom>
          <a:noFill/>
          <a:ln w="10160">
            <a:solidFill>
              <a:srgbClr val="3450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44439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Atraer, formar y movilizar capacidades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" y="5870448"/>
            <a:ext cx="10954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declarado de política pública; su ejecución debe evaluarse con evidencia posterior.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Y CARRERA CIENTÍFICA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se forma un investigador o ingeniero?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cadena de capacidades incluye más que títulos universitarios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" y="2423160"/>
            <a:ext cx="5431536" cy="134416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2679192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770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09344" y="2651760"/>
            <a:ext cx="4187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609344" y="3163824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Matemáticas, física, programación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373368" y="2423160"/>
            <a:ext cx="5431536" cy="134416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2679192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770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278624" y="2651760"/>
            <a:ext cx="4187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7278624" y="3163824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Grado y posgrado interdisciplinario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04088" y="3986784"/>
            <a:ext cx="5431536" cy="134416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4242816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4334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609344" y="4215384"/>
            <a:ext cx="4187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</a:t>
            </a:r>
            <a:endParaRPr lang="en-US" sz="1820" dirty="0"/>
          </a:p>
        </p:txBody>
      </p:sp>
      <p:sp>
        <p:nvSpPr>
          <p:cNvPr id="26" name="Text 24"/>
          <p:cNvSpPr/>
          <p:nvPr/>
        </p:nvSpPr>
        <p:spPr>
          <a:xfrm>
            <a:off x="1609344" y="4727448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Datos, experimentos, revisión crítica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373368" y="3986784"/>
            <a:ext cx="5431536" cy="134416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0256" y="4242816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4334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278624" y="4215384"/>
            <a:ext cx="4187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7278624" y="4727448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Prototipos, seguridad y equipos reales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58368" y="5833872"/>
            <a:ext cx="10954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técnicos especializados, los oficios industriales y la capacitación continua también cuentan.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TRANSFERENCIA TECNOLÓGICA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paper al producto: una cadena exigente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es necesario en muchas áreas; industrializar es otro problema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761488"/>
            <a:ext cx="2651760" cy="201168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026664"/>
            <a:ext cx="2450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822960" y="3675888"/>
            <a:ext cx="2231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y experimento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82696" y="3410712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557016" y="2761488"/>
            <a:ext cx="2651760" cy="201168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3026664"/>
            <a:ext cx="2450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REPRODUCCIÓN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3758184" y="3675888"/>
            <a:ext cx="2231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código verificables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410712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92240" y="2761488"/>
            <a:ext cx="2651760" cy="201168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80D4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26664"/>
            <a:ext cx="2450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6693408" y="3675888"/>
            <a:ext cx="2231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en condiciones reales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53144" y="3410712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427464" y="2761488"/>
            <a:ext cx="2651760" cy="201168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E25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18904" y="3026664"/>
            <a:ext cx="2450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ADOPCIÓN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9628632" y="3675888"/>
            <a:ext cx="2231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segura y rentable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5477256"/>
            <a:ext cx="1062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transferencia depende de incentivos, propiedad intelectual, inversión, pruebas y clientes.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Y CIENCIA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laboratorio conecta algoritmos y mundo físico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inteligencia artificial puede acelerar investigaciones, con límites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" y="2615184"/>
            <a:ext cx="3566160" cy="24414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852928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79806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4128" y="3319272"/>
            <a:ext cx="30449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y análisis de datos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26280" y="2615184"/>
            <a:ext cx="3566160" cy="24414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2852928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79806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28032" y="3319272"/>
            <a:ext cx="30449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 y pruebas controladas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30184" y="2615184"/>
            <a:ext cx="3566160" cy="24414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2852928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279806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31936" y="3319272"/>
            <a:ext cx="30449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Replicación, incertidumbre y seguridad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" y="5705856"/>
            <a:ext cx="10853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para discutir: IA para materiales o robótica requiere confirmar resultados mediante experimentación.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scene_of_a_futuristic_research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51192" cy="6858000"/>
          </a:xfrm>
          <a:prstGeom prst="rect">
            <a:avLst/>
          </a:prstGeom>
          <a:solidFill>
            <a:srgbClr val="051221">
              <a:alpha val="82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CIENCIA APLICADA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0936" y="941832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Robótica:</a:t>
            </a:r>
            <a:endParaRPr lang="en-US" sz="4100" dirty="0"/>
          </a:p>
          <a:p>
            <a:pPr algn="l" indent="0" marL="0">
              <a:buNone/>
            </a:pPr>
            <a:r>
              <a:rPr lang="en-US" sz="41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simulador</a:t>
            </a:r>
            <a:endParaRPr lang="en-US" sz="4100" dirty="0"/>
          </a:p>
          <a:p>
            <a:pPr algn="l" indent="0" marL="0">
              <a:buNone/>
            </a:pPr>
            <a:r>
              <a:rPr lang="en-US" sz="41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entorno real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694944" y="3355848"/>
            <a:ext cx="4983480" cy="0"/>
          </a:xfrm>
          <a:prstGeom prst="line">
            <a:avLst/>
          </a:prstGeom>
          <a:noFill/>
          <a:ln w="38100">
            <a:solidFill>
              <a:srgbClr val="E25E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3721608"/>
            <a:ext cx="6144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aprenden con datos, pero los robots deben actuar frente a fricción, errores, contactos y riesgos reales.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31520" y="5614416"/>
            <a:ext cx="6665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SIMULACIÓN   →   PRUEBA   →   OPERACIÓN</a:t>
            </a:r>
            <a:endParaRPr lang="en-US" sz="1520" dirty="0"/>
          </a:p>
        </p:txBody>
      </p:sp>
      <p:sp>
        <p:nvSpPr>
          <p:cNvPr id="10" name="Shape 7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 E INVESTIGACIÓN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industrial_technolo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51221">
              <a:alpha val="82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MÓDULO 03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6144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base material</a:t>
            </a:r>
            <a:endParaRPr lang="en-US" sz="3750" dirty="0"/>
          </a:p>
          <a:p>
            <a:pPr algn="l" indent="0" marL="0">
              <a:buNone/>
            </a:pPr>
            <a:r>
              <a:rPr lang="en-US" sz="375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revolución</a:t>
            </a:r>
            <a:endParaRPr lang="en-US" sz="3750" dirty="0"/>
          </a:p>
        </p:txBody>
      </p:sp>
      <p:sp>
        <p:nvSpPr>
          <p:cNvPr id="7" name="Shape 4"/>
          <p:cNvSpPr/>
          <p:nvPr/>
        </p:nvSpPr>
        <p:spPr>
          <a:xfrm>
            <a:off x="667512" y="2944368"/>
            <a:ext cx="4544568" cy="0"/>
          </a:xfrm>
          <a:prstGeom prst="line">
            <a:avLst/>
          </a:prstGeom>
          <a:noFill/>
          <a:ln w="35560">
            <a:solidFill>
              <a:srgbClr val="E25E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310128"/>
            <a:ext cx="59070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1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partir del conocimiento, la industria necesita energía, cómputo, fábricas, proveedores y redes logísticas.</a:t>
            </a:r>
            <a:endParaRPr lang="en-US" sz="2310" dirty="0"/>
          </a:p>
        </p:txBody>
      </p:sp>
      <p:sp>
        <p:nvSpPr>
          <p:cNvPr id="9" name="Shape 6"/>
          <p:cNvSpPr/>
          <p:nvPr/>
        </p:nvSpPr>
        <p:spPr>
          <a:xfrm>
            <a:off x="694944" y="5660136"/>
            <a:ext cx="3474720" cy="3474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56921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FÍSICA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 Y ELECTRIFICACIÓN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energía es infraestructura de IA y manufactura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centro de datos y una fábrica necesitan potencia disponible y confiable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" y="2551176"/>
            <a:ext cx="3557016" cy="233172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788920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73405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4128" y="3255264"/>
            <a:ext cx="30358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y mezcla eléctrica</a:t>
            </a:r>
            <a:endParaRPr lang="en-US" sz="1760" dirty="0"/>
          </a:p>
        </p:txBody>
      </p:sp>
      <p:sp>
        <p:nvSpPr>
          <p:cNvPr id="16" name="Shape 14"/>
          <p:cNvSpPr/>
          <p:nvPr/>
        </p:nvSpPr>
        <p:spPr>
          <a:xfrm>
            <a:off x="4526280" y="2551176"/>
            <a:ext cx="3557016" cy="233172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2788920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73405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28032" y="3255264"/>
            <a:ext cx="30358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Transmisión, estabilidad y acceso</a:t>
            </a:r>
            <a:endParaRPr lang="en-US" sz="1760" dirty="0"/>
          </a:p>
        </p:txBody>
      </p:sp>
      <p:sp>
        <p:nvSpPr>
          <p:cNvPr id="20" name="Shape 18"/>
          <p:cNvSpPr/>
          <p:nvPr/>
        </p:nvSpPr>
        <p:spPr>
          <a:xfrm>
            <a:off x="8330184" y="2551176"/>
            <a:ext cx="3557016" cy="233172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2788920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273405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31936" y="3255264"/>
            <a:ext cx="30358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Centros de datos, fábricas y transporte</a:t>
            </a:r>
            <a:endParaRPr lang="en-US" sz="1760" dirty="0"/>
          </a:p>
        </p:txBody>
      </p:sp>
      <p:sp>
        <p:nvSpPr>
          <p:cNvPr id="24" name="Text 22"/>
          <p:cNvSpPr/>
          <p:nvPr/>
        </p:nvSpPr>
        <p:spPr>
          <a:xfrm>
            <a:off x="804672" y="5431536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sumar capacidad instalada: importan disponibilidad, costos, resiliencia y emisiones.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DIGITAL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los chips al centro de datos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necesita una cadena de cómputo, memoria, interconexión y energía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505456"/>
            <a:ext cx="5404104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743200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8833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ACELERADORES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3272" y="3209544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/ ASIC / NPU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6364224" y="2505456"/>
            <a:ext cx="5404104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743200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68833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65976" y="3209544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 de banda y capacidad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731520" y="4142232"/>
            <a:ext cx="5404104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79976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3251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INTERCONEXIÓN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3272" y="4846320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Redes, comunicaciones y latencia</a:t>
            </a:r>
            <a:endParaRPr lang="en-US" sz="1680" dirty="0"/>
          </a:p>
        </p:txBody>
      </p:sp>
      <p:sp>
        <p:nvSpPr>
          <p:cNvPr id="24" name="Shape 22"/>
          <p:cNvSpPr/>
          <p:nvPr/>
        </p:nvSpPr>
        <p:spPr>
          <a:xfrm>
            <a:off x="6364224" y="4142232"/>
            <a:ext cx="5404104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8816" y="4379976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3251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65976" y="4846320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Energía, enfriamiento y software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813816" y="5925312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capacidad de un chip anunciada no equivale al rendimiento útil de un sistema completo.</a:t>
            </a:r>
            <a:endParaRPr lang="en-US" sz="15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SEMICONDUCTORES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hay autosuficiencia en una sola pieza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cadena tecnológica integra varias especializaciones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2679192" cy="216712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00837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14400" y="367588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Arquitecturas, EDA y propiedad intelectual</a:t>
            </a:r>
            <a:endParaRPr lang="en-US" sz="1570" dirty="0"/>
          </a:p>
        </p:txBody>
      </p:sp>
      <p:sp>
        <p:nvSpPr>
          <p:cNvPr id="15" name="Text 13"/>
          <p:cNvSpPr/>
          <p:nvPr/>
        </p:nvSpPr>
        <p:spPr>
          <a:xfrm>
            <a:off x="3374136" y="34838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3593592" y="2660904"/>
            <a:ext cx="2679192" cy="216712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300837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FABRICACIÓN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3822192" y="367588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Litografía, equipos, obleas y rendimiento</a:t>
            </a:r>
            <a:endParaRPr lang="en-US" sz="1570" dirty="0"/>
          </a:p>
        </p:txBody>
      </p:sp>
      <p:sp>
        <p:nvSpPr>
          <p:cNvPr id="19" name="Text 17"/>
          <p:cNvSpPr/>
          <p:nvPr/>
        </p:nvSpPr>
        <p:spPr>
          <a:xfrm>
            <a:off x="6281928" y="34838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6501384" y="2660904"/>
            <a:ext cx="2679192" cy="216712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300837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</a:t>
            </a:r>
            <a:endParaRPr lang="en-US" sz="1640" dirty="0"/>
          </a:p>
        </p:txBody>
      </p:sp>
      <p:sp>
        <p:nvSpPr>
          <p:cNvPr id="22" name="Text 20"/>
          <p:cNvSpPr/>
          <p:nvPr/>
        </p:nvSpPr>
        <p:spPr>
          <a:xfrm>
            <a:off x="6729984" y="367588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DRAM, NAND y empaquetado</a:t>
            </a:r>
            <a:endParaRPr lang="en-US" sz="1570" dirty="0"/>
          </a:p>
        </p:txBody>
      </p:sp>
      <p:sp>
        <p:nvSpPr>
          <p:cNvPr id="23" name="Text 21"/>
          <p:cNvSpPr/>
          <p:nvPr/>
        </p:nvSpPr>
        <p:spPr>
          <a:xfrm>
            <a:off x="9189720" y="34838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409176" y="2660904"/>
            <a:ext cx="2679192" cy="216712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73768" y="300837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endParaRPr lang="en-US" sz="1640" dirty="0"/>
          </a:p>
        </p:txBody>
      </p:sp>
      <p:sp>
        <p:nvSpPr>
          <p:cNvPr id="26" name="Text 24"/>
          <p:cNvSpPr/>
          <p:nvPr/>
        </p:nvSpPr>
        <p:spPr>
          <a:xfrm>
            <a:off x="9637776" y="367588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Interconexión, software y aplicaciones</a:t>
            </a:r>
            <a:endParaRPr lang="en-US" sz="1570" dirty="0"/>
          </a:p>
        </p:txBody>
      </p:sp>
      <p:sp>
        <p:nvSpPr>
          <p:cNvPr id="27" name="Text 25"/>
          <p:cNvSpPr/>
          <p:nvPr/>
        </p:nvSpPr>
        <p:spPr>
          <a:xfrm>
            <a:off x="722376" y="5696712"/>
            <a:ext cx="10872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frontera tecnológica se evalúa por capacidades verificables en toda la cadena.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 DE PROVEEDORES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fábrica inteligente es una red, no un edificio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Componentes, integradores y clientes sostienen el aprendizaje productivo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" y="2368296"/>
            <a:ext cx="10579608" cy="5760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2450592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91640" y="2505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2514600"/>
            <a:ext cx="5861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y medición</a:t>
            </a:r>
            <a:endParaRPr lang="en-US" sz="1560" dirty="0"/>
          </a:p>
        </p:txBody>
      </p:sp>
      <p:sp>
        <p:nvSpPr>
          <p:cNvPr id="17" name="Shape 15"/>
          <p:cNvSpPr/>
          <p:nvPr/>
        </p:nvSpPr>
        <p:spPr>
          <a:xfrm>
            <a:off x="786384" y="3026664"/>
            <a:ext cx="10579608" cy="5760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3108960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91640" y="316382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3172968"/>
            <a:ext cx="5861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Actuadores y precisión</a:t>
            </a:r>
            <a:endParaRPr lang="en-US" sz="1560" dirty="0"/>
          </a:p>
        </p:txBody>
      </p:sp>
      <p:sp>
        <p:nvSpPr>
          <p:cNvPr id="22" name="Shape 20"/>
          <p:cNvSpPr/>
          <p:nvPr/>
        </p:nvSpPr>
        <p:spPr>
          <a:xfrm>
            <a:off x="786384" y="3685032"/>
            <a:ext cx="10579608" cy="5760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3767328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8587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691640" y="382219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45152" y="3831336"/>
            <a:ext cx="5861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Control, MES y datos</a:t>
            </a:r>
            <a:endParaRPr lang="en-US" sz="1560" dirty="0"/>
          </a:p>
        </p:txBody>
      </p:sp>
      <p:sp>
        <p:nvSpPr>
          <p:cNvPr id="27" name="Shape 25"/>
          <p:cNvSpPr/>
          <p:nvPr/>
        </p:nvSpPr>
        <p:spPr>
          <a:xfrm>
            <a:off x="786384" y="4343400"/>
            <a:ext cx="10579608" cy="5760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4425696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5171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691640" y="448056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PROVEEDORES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45152" y="4489704"/>
            <a:ext cx="5861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Integración, calidad y mantenimiento</a:t>
            </a:r>
            <a:endParaRPr lang="en-US" sz="1560" dirty="0"/>
          </a:p>
        </p:txBody>
      </p:sp>
      <p:sp>
        <p:nvSpPr>
          <p:cNvPr id="32" name="Shape 30"/>
          <p:cNvSpPr/>
          <p:nvPr/>
        </p:nvSpPr>
        <p:spPr>
          <a:xfrm>
            <a:off x="786384" y="5001768"/>
            <a:ext cx="10579608" cy="57607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5084064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" y="51755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691640" y="513892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45152" y="5148072"/>
            <a:ext cx="5861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Demanda, pruebas y retroalimentación</a:t>
            </a:r>
            <a:endParaRPr lang="en-US" sz="15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TRANSFORMACIÓN FABRIL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niveles distintos de una fábrica “inteligente”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Digitalizar no es lo mismo que automatizar ni que aprender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2587752"/>
            <a:ext cx="3493008" cy="26700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8950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69264" y="38130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DIGITALIZACIÓN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5171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procesos y datos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90288" y="2587752"/>
            <a:ext cx="3493008" cy="26700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88950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dirty="0">
                <a:solidFill>
                  <a:srgbClr val="6FD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754880" y="38130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37176" y="45171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tareas repetitivas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75904" y="2587752"/>
            <a:ext cx="3493008" cy="26700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288950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dirty="0">
                <a:solidFill>
                  <a:srgbClr val="80D4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540496" y="38130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22792" y="45171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 decisiones con evidencia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" y="5824728"/>
            <a:ext cx="10808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medir calidad, ciclo y costos, la etiqueta “smart factory” puede ser solo marketing.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INDUSTRIAL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Robótica: una ventaja de escala verificable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 World Robotics 2026 · instalaciones en China durante 2025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853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IFR 2026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95528" y="2523744"/>
            <a:ext cx="5175504" cy="24140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834640"/>
            <a:ext cx="45994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354.000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1033272" y="3941064"/>
            <a:ext cx="4709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robots industriales instalados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China en 2025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81344" y="2523744"/>
            <a:ext cx="5175504" cy="24140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834640"/>
            <a:ext cx="4718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6FD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5300" dirty="0"/>
          </a:p>
        </p:txBody>
      </p:sp>
      <p:sp>
        <p:nvSpPr>
          <p:cNvPr id="18" name="Text 16"/>
          <p:cNvSpPr/>
          <p:nvPr/>
        </p:nvSpPr>
        <p:spPr>
          <a:xfrm>
            <a:off x="6419088" y="3941064"/>
            <a:ext cx="4727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en las instalaciones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mundiales de robots industriales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5504688"/>
            <a:ext cx="10872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cifras de robots humanoides ni de productividad por trabajador.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industrial_technolo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104888" cy="6858000"/>
          </a:xfrm>
          <a:prstGeom prst="rect">
            <a:avLst/>
          </a:prstGeom>
          <a:solidFill>
            <a:srgbClr val="051221">
              <a:alpha val="78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LOGÍSTICA Y TERRITORIO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4944" y="1152144"/>
            <a:ext cx="7498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Puertos, ferrocarriles</a:t>
            </a:r>
            <a:endParaRPr lang="en-US" sz="3900" dirty="0"/>
          </a:p>
          <a:p>
            <a:pPr algn="l" indent="0" marL="0">
              <a:buNone/>
            </a:pPr>
            <a:r>
              <a:rPr lang="en-US" sz="39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corredores productivos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731520" y="2999232"/>
            <a:ext cx="4425696" cy="0"/>
          </a:xfrm>
          <a:prstGeom prst="line">
            <a:avLst/>
          </a:prstGeom>
          <a:noFill/>
          <a:ln w="33020">
            <a:solidFill>
              <a:srgbClr val="E25E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410712"/>
            <a:ext cx="63093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reduce tiempos de transporte, conecta proveedores y permite coordinar producción a gran escala.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31520" y="5596128"/>
            <a:ext cx="651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no equivale automáticamente a eficiencia: importan uso, costo y fiabilidad.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TERRITORIO INDUSTRIAL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clústeres reducen distancias y costos de coordinación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 una sola “fábrica china”: hay especializaciones regionales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523744"/>
            <a:ext cx="5431536" cy="133502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761488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70662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BEIJING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1014984" y="3227832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Instituciones y laboratorios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73368" y="2523744"/>
            <a:ext cx="5431536" cy="133502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761488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270662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DEL YANGTSÉ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675120" y="3227832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Manufactura avanzada, chips y finanzas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5431536" cy="133502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279392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22452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 BAHÍA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1014984" y="474573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Electrónica, hardware y exportación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73368" y="4041648"/>
            <a:ext cx="5431536" cy="133502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279392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422452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HANGZHOU / HEFEI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6675120" y="474573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Plataformas, producción e inversión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8952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6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ejemplos ilustrativos de especialización; no fronteras tecnológicas exclusivas.</a:t>
            </a:r>
            <a:endParaRPr lang="en-US" sz="16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 ESCALA PRODUCTIVA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Vehículos eléctricos: cadena industrial y capacidad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IEA Global EV Outlook 2026 · producción durante 2025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853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IEA 2026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41248" y="2596896"/>
            <a:ext cx="5157216" cy="24414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07792"/>
            <a:ext cx="47731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millones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1097280" y="3995928"/>
            <a:ext cx="4626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automóviles eléctricos producidos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China, año 2025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208776" y="2596896"/>
            <a:ext cx="5148072" cy="2441448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907792"/>
            <a:ext cx="45445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6FD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75 %</a:t>
            </a:r>
            <a:endParaRPr lang="en-US" sz="4450" dirty="0"/>
          </a:p>
        </p:txBody>
      </p:sp>
      <p:sp>
        <p:nvSpPr>
          <p:cNvPr id="18" name="Text 16"/>
          <p:cNvSpPr/>
          <p:nvPr/>
        </p:nvSpPr>
        <p:spPr>
          <a:xfrm>
            <a:off x="6501384" y="3959352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1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aproximada en la</a:t>
            </a:r>
            <a:endParaRPr lang="en-US" sz="1610" dirty="0"/>
          </a:p>
          <a:p>
            <a:pPr algn="ctr" indent="0" marL="0">
              <a:buNone/>
            </a:pPr>
            <a:r>
              <a:rPr lang="en-US" sz="161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 mundial de autos eléctricos</a:t>
            </a:r>
            <a:endParaRPr lang="en-US" sz="1610" dirty="0"/>
          </a:p>
        </p:txBody>
      </p:sp>
      <p:sp>
        <p:nvSpPr>
          <p:cNvPr id="19" name="Text 17"/>
          <p:cNvSpPr/>
          <p:nvPr/>
        </p:nvSpPr>
        <p:spPr>
          <a:xfrm>
            <a:off x="768096" y="5577840"/>
            <a:ext cx="108539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9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Volumen no equivale a rentabilidad; importa la capacidad usada y la presión competitiva.</a:t>
            </a:r>
            <a:endParaRPr lang="en-US" sz="16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DE APRENDIZAJE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la infraestructura produce datos útiles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data flywheel requiere calidad, trazabilidad y mejora demostrable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761488"/>
            <a:ext cx="2660904" cy="19568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136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Máquinas, decisiones, sensores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3392424" y="3483864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648456" y="2761488"/>
            <a:ext cx="2660904" cy="19568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3136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3895344" y="365760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Errores, condiciones, resultados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6327648" y="3483864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61488"/>
            <a:ext cx="2660904" cy="19568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36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6830568" y="365760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y evaluación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262872" y="3483864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18904" y="2761488"/>
            <a:ext cx="2660904" cy="195681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56064" y="3136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9765792" y="365760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en costo, calidad y seguridad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722376" y="5632704"/>
            <a:ext cx="10844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retroalimentación no es automática: se debe medir la mejora y gestionar riesgos.</a:t>
            </a:r>
            <a:endParaRPr lang="en-US" sz="1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INVERSIONES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medir antes de decir “éxito”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instalada, usada y productiva son cosas distintas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432304"/>
            <a:ext cx="5431536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670048"/>
            <a:ext cx="52121" cy="35661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61518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14984" y="3136392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MW, chips, robots, m² de planta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6373368" y="2432304"/>
            <a:ext cx="5431536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670048"/>
            <a:ext cx="52121" cy="356616"/>
          </a:xfrm>
          <a:prstGeom prst="rect">
            <a:avLst/>
          </a:prstGeom>
          <a:solidFill>
            <a:srgbClr val="6FD5D2"/>
          </a:solidFill>
          <a:ln w="12700">
            <a:solidFill>
              <a:srgbClr val="6FD5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261518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UTILIZACIÓN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75120" y="3136392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efectivas y carga operativa</a:t>
            </a:r>
            <a:endParaRPr lang="en-US" sz="1620" dirty="0"/>
          </a:p>
        </p:txBody>
      </p:sp>
      <p:sp>
        <p:nvSpPr>
          <p:cNvPr id="20" name="Shape 18"/>
          <p:cNvSpPr/>
          <p:nvPr/>
        </p:nvSpPr>
        <p:spPr>
          <a:xfrm>
            <a:off x="713232" y="4059936"/>
            <a:ext cx="5431536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297680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24281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14984" y="4764024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Calidad, costos, productividad y seguridad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373368" y="4059936"/>
            <a:ext cx="5431536" cy="1380744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297680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424281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EXTERNALIDADES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75120" y="4764024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Energía, emisiones y efectos territoriales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749808" y="5833872"/>
            <a:ext cx="10872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infraestructura puede aumentar capacidad sin aumentar proporcionalmente productividad.</a:t>
            </a:r>
            <a:endParaRPr lang="en-US" sz="1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FORTALEZAS Y TENSIONES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escala china ofrece ventajas y riesgos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ecosistema no es homogéneo ni está libre de cuellos de botella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" y="2496312"/>
            <a:ext cx="5385816" cy="2907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734056"/>
            <a:ext cx="52121" cy="356616"/>
          </a:xfrm>
          <a:prstGeom prst="rect">
            <a:avLst/>
          </a:prstGeom>
          <a:solidFill>
            <a:srgbClr val="80D4AF"/>
          </a:solidFill>
          <a:ln w="12700">
            <a:solidFill>
              <a:srgbClr val="80D4A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67919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4128" y="3200400"/>
            <a:ext cx="486460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industriales densas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e investigación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producción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Diversidad territorial y empresarial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36208" y="2496312"/>
            <a:ext cx="5257800" cy="2907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34056"/>
            <a:ext cx="52121" cy="356616"/>
          </a:xfrm>
          <a:prstGeom prst="rect">
            <a:avLst/>
          </a:prstGeom>
          <a:solidFill>
            <a:srgbClr val="E25E55"/>
          </a:solidFill>
          <a:ln w="12700">
            <a:solidFill>
              <a:srgbClr val="E25E5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679192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TENSIONES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3200400"/>
            <a:ext cx="473659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 en chips y equipos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Sobrecapacidad en segmentos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de energía y recursos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Desigualdades y deuda local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7240" y="5879592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no es cuántos recursos tiene China, sino cómo se convierten en resultados.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VISUAL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capital humano conecta a los tres pilares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Conocimiento, organizaciones e infraestructura se retroalimentan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" y="2478024"/>
            <a:ext cx="3602736" cy="13075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277977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DRAGÓN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Estado: orienta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4526280" y="2478024"/>
            <a:ext cx="3602736" cy="13075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77977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ANDROIDE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90872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Empresas: innovan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8357616" y="2478024"/>
            <a:ext cx="3602736" cy="13075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80D4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277977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D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22208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Ecosistema: permite escalar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2423160" y="3858768"/>
            <a:ext cx="7333488" cy="0"/>
          </a:xfrm>
          <a:prstGeom prst="line">
            <a:avLst/>
          </a:prstGeom>
          <a:noFill/>
          <a:ln w="20320">
            <a:solidFill>
              <a:srgbClr val="F4C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8424" y="384962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↕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2935224" y="4489704"/>
            <a:ext cx="6327648" cy="905256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E25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4672584"/>
            <a:ext cx="5870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C7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人才 + 大学 + 科研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46120" y="5047488"/>
            <a:ext cx="5742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Talento, universidades y ciencia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832104" y="5934456"/>
            <a:ext cx="10497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símbolos organizan la explicación; no agotan las relaciones causales.</a:t>
            </a:r>
            <a:endParaRPr lang="en-US" sz="15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LA CLASE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preguntas para investigar China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imagen espectacular a un argumento verificable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313432"/>
            <a:ext cx="10707624" cy="59436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2414016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505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00784" y="2441448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talento exige un robot humanoide que funcione ocho horas diarias?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768096" y="3008376"/>
            <a:ext cx="10707624" cy="59436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108960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700784" y="3136392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distinguir papers influyentes de productos ya adoptados?</a:t>
            </a:r>
            <a:endParaRPr lang="en-US" sz="1620" dirty="0"/>
          </a:p>
        </p:txBody>
      </p:sp>
      <p:sp>
        <p:nvSpPr>
          <p:cNvPr id="20" name="Shape 18"/>
          <p:cNvSpPr/>
          <p:nvPr/>
        </p:nvSpPr>
        <p:spPr>
          <a:xfrm>
            <a:off x="768096" y="3703320"/>
            <a:ext cx="10707624" cy="59436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803904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38953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700784" y="3831336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sucede si hay buenos modelos pero faltan chips, energía o datos?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768096" y="4398264"/>
            <a:ext cx="10707624" cy="59436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498848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6FD5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4590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700784" y="4526280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ventajas y riesgos genera concentrar proveedores en clústeres?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768096" y="5093208"/>
            <a:ext cx="10707624" cy="594360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5193792"/>
            <a:ext cx="475488" cy="475488"/>
          </a:xfrm>
          <a:prstGeom prst="ellipse">
            <a:avLst/>
          </a:prstGeom>
          <a:solidFill>
            <a:srgbClr val="10283A"/>
          </a:solidFill>
          <a:ln w="8890">
            <a:solidFill>
              <a:srgbClr val="F4C7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52852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700784" y="5221224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indicador demostraría productividad, no solo capacidad instalada?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DOCUMENTADA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Investigación, talento y política industrial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originales y comparables · Octubre de 2026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" y="2322576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432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STANFORD · AI Index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2468880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Publicaciones, citas y modelos de IA</a:t>
            </a:r>
            <a:endParaRPr lang="en-US" sz="135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11100816" y="24414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" y="3017520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27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TSINGHUA · College of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3163824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de investigadores y programas</a:t>
            </a:r>
            <a:endParaRPr lang="en-US" sz="135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11100816" y="3136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6656" y="3712464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822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· XV Plan Quinquenal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74336" y="3858768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Educación–ciencia–talento e infraestructura</a:t>
            </a:r>
            <a:endParaRPr lang="en-US" sz="1350" dirty="0"/>
          </a:p>
        </p:txBody>
      </p:sp>
      <p:sp>
        <p:nvSpPr>
          <p:cNvPr id="23" name="Text 21">
            <a:hlinkClick r:id="rId3" tooltip=""/>
          </p:cNvPr>
          <p:cNvSpPr/>
          <p:nvPr/>
        </p:nvSpPr>
        <p:spPr>
          <a:xfrm>
            <a:off x="11100816" y="3831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" y="4407408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517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SHANGHAI AI LAB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74336" y="4553712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 y organización de investigación</a:t>
            </a:r>
            <a:endParaRPr lang="en-US" sz="1350" dirty="0"/>
          </a:p>
        </p:txBody>
      </p:sp>
      <p:sp>
        <p:nvSpPr>
          <p:cNvPr id="27" name="Text 25">
            <a:hlinkClick r:id="rId4" tooltip=""/>
          </p:cNvPr>
          <p:cNvSpPr/>
          <p:nvPr/>
        </p:nvSpPr>
        <p:spPr>
          <a:xfrm>
            <a:off x="11100816" y="452628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6656" y="5102352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· Institute of Automation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74336" y="5248656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Automatización, visión y laboratorios</a:t>
            </a:r>
            <a:endParaRPr lang="en-US" sz="1350" dirty="0"/>
          </a:p>
        </p:txBody>
      </p:sp>
      <p:sp>
        <p:nvSpPr>
          <p:cNvPr id="31" name="Text 29">
            <a:hlinkClick r:id="rId5" tooltip=""/>
          </p:cNvPr>
          <p:cNvSpPr/>
          <p:nvPr/>
        </p:nvSpPr>
        <p:spPr>
          <a:xfrm>
            <a:off x="11100816" y="5221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0715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466344"/>
            <a:ext cx="54864" cy="265176"/>
          </a:xfrm>
          <a:prstGeom prst="rect">
            <a:avLst/>
          </a:prstGeom>
          <a:solidFill>
            <a:srgbClr val="F4C76B"/>
          </a:solidFill>
          <a:ln w="12700">
            <a:solidFill>
              <a:srgbClr val="F4C7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4572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PRODUCCIÓN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" y="905256"/>
            <a:ext cx="11000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7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Industria, robots y electrificación</a:t>
            </a:r>
            <a:endParaRPr lang="en-US" sz="327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año del dato y año del informe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0981944" cy="0"/>
          </a:xfrm>
          <a:prstGeom prst="line">
            <a:avLst/>
          </a:prstGeom>
          <a:noFill/>
          <a:ln w="12700">
            <a:solidFill>
              <a:srgbClr val="3450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6492240"/>
            <a:ext cx="11183112" cy="0"/>
          </a:xfrm>
          <a:prstGeom prst="line">
            <a:avLst/>
          </a:prstGeom>
          <a:noFill/>
          <a:ln w="9525">
            <a:solidFill>
              <a:srgbClr val="3450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242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35" kern="0" dirty="0">
                <a:solidFill>
                  <a:srgbClr val="B3C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412480" y="6519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9681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" y="2322576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41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 · World Robotics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2459736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354.000 robots industriales en China, 2025</a:t>
            </a:r>
            <a:endParaRPr lang="en-US" sz="135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11091672" y="2459736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" y="3017520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IEA · Global EV Outlook 2026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3154680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millones de EV en China, 2025</a:t>
            </a:r>
            <a:endParaRPr lang="en-US" sz="135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11091672" y="31546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6656" y="3712464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831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WIPO · GII 2026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74336" y="384962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Ecosistemas, clústeres y resultados de innovación</a:t>
            </a:r>
            <a:endParaRPr lang="en-US" sz="1350" dirty="0"/>
          </a:p>
        </p:txBody>
      </p:sp>
      <p:sp>
        <p:nvSpPr>
          <p:cNvPr id="23" name="Text 21">
            <a:hlinkClick r:id="rId3" tooltip=""/>
          </p:cNvPr>
          <p:cNvSpPr/>
          <p:nvPr/>
        </p:nvSpPr>
        <p:spPr>
          <a:xfrm>
            <a:off x="11091672" y="384962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" y="4407408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· Plan de educación 2026–2030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74336" y="4544568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 educativa, documento oficial en chino</a:t>
            </a:r>
            <a:endParaRPr lang="en-US" sz="1350" dirty="0"/>
          </a:p>
        </p:txBody>
      </p:sp>
      <p:sp>
        <p:nvSpPr>
          <p:cNvPr id="27" name="Text 25">
            <a:hlinkClick r:id="rId4" tooltip=""/>
          </p:cNvPr>
          <p:cNvSpPr/>
          <p:nvPr/>
        </p:nvSpPr>
        <p:spPr>
          <a:xfrm>
            <a:off x="11091672" y="4544568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6656" y="5102352"/>
            <a:ext cx="10844784" cy="62179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221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Stanford · AI Index 2026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74336" y="5239512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Distinción entre IA científica y modelos notables</a:t>
            </a:r>
            <a:endParaRPr lang="en-US" sz="1350" dirty="0"/>
          </a:p>
        </p:txBody>
      </p:sp>
      <p:sp>
        <p:nvSpPr>
          <p:cNvPr id="31" name="Text 29">
            <a:hlinkClick r:id="rId5" tooltip=""/>
          </p:cNvPr>
          <p:cNvSpPr/>
          <p:nvPr/>
        </p:nvSpPr>
        <p:spPr>
          <a:xfrm>
            <a:off x="11091672" y="5239512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6FD5D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cityscape_indust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1">
              <a:alpha val="63000"/>
            </a:srgbClr>
          </a:solidFill>
          <a:ln w="12700">
            <a:solidFill>
              <a:srgbClr val="051221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2918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spc="160" kern="0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TECNOLÓGICA  ·  SÍNTESIS DEL MÓDULO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11064240" y="3566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76656" y="1143000"/>
            <a:ext cx="92628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conocimiento,</a:t>
            </a:r>
            <a:endParaRPr lang="en-US" sz="4300" dirty="0"/>
          </a:p>
          <a:p>
            <a:pPr algn="l" indent="0" marL="0">
              <a:buNone/>
            </a:pPr>
            <a:r>
              <a:rPr lang="en-US" sz="4300" dirty="0">
                <a:solidFill>
                  <a:srgbClr val="F5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hay revolución industrial.</a:t>
            </a:r>
            <a:endParaRPr lang="en-US" sz="4300" dirty="0"/>
          </a:p>
        </p:txBody>
      </p:sp>
      <p:sp>
        <p:nvSpPr>
          <p:cNvPr id="7" name="Shape 4"/>
          <p:cNvSpPr/>
          <p:nvPr/>
        </p:nvSpPr>
        <p:spPr>
          <a:xfrm>
            <a:off x="704088" y="3099816"/>
            <a:ext cx="6885432" cy="0"/>
          </a:xfrm>
          <a:prstGeom prst="line">
            <a:avLst/>
          </a:prstGeom>
          <a:noFill/>
          <a:ln w="35560">
            <a:solidFill>
              <a:srgbClr val="E25E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364992"/>
            <a:ext cx="77815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infraestructura china reúne personas, ciencia, energía, cómputo, redes y manufactura.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685800" y="4846320"/>
            <a:ext cx="8019288" cy="530352"/>
          </a:xfrm>
          <a:prstGeom prst="roundRect">
            <a:avLst/>
          </a:prstGeom>
          <a:solidFill>
            <a:srgbClr val="10283A"/>
          </a:solidFill>
          <a:ln w="8890">
            <a:solidFill>
              <a:srgbClr val="3450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92624"/>
            <a:ext cx="7744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90" b="1" dirty="0">
                <a:solidFill>
                  <a:srgbClr val="F5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 ·  EMPRESAS  ·  INFRAESTRUCTURA  ·  TALENTO</a:t>
            </a:r>
            <a:endParaRPr lang="en-US" sz="1490" dirty="0"/>
          </a:p>
        </p:txBody>
      </p:sp>
      <p:sp>
        <p:nvSpPr>
          <p:cNvPr id="11" name="Text 8"/>
          <p:cNvSpPr/>
          <p:nvPr/>
        </p:nvSpPr>
        <p:spPr>
          <a:xfrm>
            <a:off x="740664" y="5715000"/>
            <a:ext cx="8348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6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MÓDULO: TRANSFORMACIÓN INDUSTRIAL</a:t>
            </a:r>
            <a:endParaRPr lang="en-US" sz="1660" dirty="0"/>
          </a:p>
        </p:txBody>
      </p:sp>
      <p:sp>
        <p:nvSpPr>
          <p:cNvPr id="12" name="Text 9"/>
          <p:cNvSpPr/>
          <p:nvPr/>
        </p:nvSpPr>
        <p:spPr>
          <a:xfrm>
            <a:off x="731520" y="6199632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C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Material elaborado por el profesor Sergio Gevatschnaider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infraestructura — 基础设施 · La base material, científica y humana de China</dc:title>
  <dc:subject>Capital humano, universidades, ciencia, energía, logística, cómputo, manufactura y redes productivas de China</dc:subject>
  <dc:creator>Sergio Gevatschnaider</dc:creator>
  <cp:lastModifiedBy>Sergio Gevatschnaider</cp:lastModifiedBy>
  <cp:revision>1</cp:revision>
  <dcterms:created xsi:type="dcterms:W3CDTF">2026-10-20T16:14:37Z</dcterms:created>
  <dcterms:modified xsi:type="dcterms:W3CDTF">2026-10-20T16:14:37Z</dcterms:modified>
</cp:coreProperties>
</file>