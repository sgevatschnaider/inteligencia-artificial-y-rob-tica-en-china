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Presentar las dimensiones de la infraestructura tecnológica.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Presentar el tercer símbolo del video inicial. 基础设施 (jīchǔ shèshī) significa infraestructura, en chino simplificado. No se trata solamente de puertos o electricidad: la dimensión física convive con universidades, ciencia, personal cualificado, capacidades organizacionales y redes territoriales. Imagen conceptual generada con IA.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基础设施 (jīchǔ shèshī) significa infraestructura. El término incluye redes, equipos e instituciones que sostienen otras actividades. 人力资本 (rénlì zīběn) es capital humano; 人才 (réncái), talento; 人才培养 (réncái péiyǎng), formación de talento; 科学研究 (kēxué yánjiū), investigación científica; 人工智能 (réngōng zhìnéng), inteligencia artificial. Educación, ciencia y talento se escriben 教育 · 科技 · 人才. La imagen no documenta un lugar real.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¿Qué capacidad humana necesita cada activo de la imagen?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Stanford HAI. AI Index Report 2026, capítulo 1</a:t>
            </a:r>
          </a:p>
          <a:p>
            <a:r>
              <a:rPr lang="es-AR" sz="1100">
                <a:latin typeface="Aptos"/>
                <a:ea typeface="Noto Sans CJK SC"/>
              </a:rPr>
              <a:t>https://hai.stanford.edu/assets/files/ai_index_report_2026_chapter_1_research_development.pdf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中华人民共和国国民经济和社会发展第十五个五年规划纲要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https://www.ndrc.gov.cn/fggz/fzzlgh/gjfzgh/202603/U020260317369114704096.pdf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Distinguir activos físicos, conocimiento y capacidades humanas.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Diferenciar infraestructura física, digital, humana y científica. Es una clasificación analítica para comprender mecanismos complementarios: el hardware exige energía, redes y talento; las publicaciones requieren laboratorios, datos y acceso a recursos; producir demanda proveedores y equipos formados. No presentar como clasificación oficial única.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Las cuatro dimensiones se superponen. Un laboratorio es un edificio con equipamiento, pero funciona gracias a científicos, técnicos, protocolos, software y organización. La disponibilidad de personas cualificadas es necesaria en muchos procesos, aunque su efecto depende de incentivos, mantenimiento y capacidad de coordinación.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Comparar una fábrica equipada sin mantenimiento con otra que forma personal.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中华人民共和国国民经济和社会发展第十五个五年规划纲要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https://www.ndrc.gov.cn/fggz/fzzlgh/gjfzgh/202603/U020260317369114704096.pdf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UNIDO. World Manufacturing Production and Trade Report Q4 2025</a:t>
            </a:r>
          </a:p>
          <a:p>
            <a:r>
              <a:rPr lang="es-AR" sz="1100">
                <a:latin typeface="Aptos"/>
                <a:ea typeface="Noto Sans CJK SC"/>
              </a:rPr>
              <a:t>https://stat.unido.org/manufacturing-news/unido-world-manufacturing-production-and-trade-report-q4-2025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Explicar complementariedad y cuellos de botella.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Demostrar que los componentes se retroalimentan: universidades forman personas que pasan a empresas; demanda industrial plantea preguntas de investigación; nuevas técnicas requieren energía y chips; cambios en mercados devuelven incentivos. La secuencia no es lineal ni determinista.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La cadena es una simplificación docente. La industria plantea problemas a la ciencia, la operación devuelve datos a los ingenieros y los cuellos de botella pueden aparecer en cualquier componente. Una inversión aislada no permite deducir un efecto causal ni una elasticidad de productividad.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¿Qué recurso limita el sistema si aumenta solo la inversión en equipos?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中华人民共和国国民经济和社会发展第十五个五年规划纲要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https://www.ndrc.gov.cn/fggz/fzzlgh/gjfzgh/202603/U020260317369114704096.pdf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UNIDO. World Manufacturing Production and Trade Report Q4 2025</a:t>
            </a:r>
          </a:p>
          <a:p>
            <a:r>
              <a:rPr lang="es-AR" sz="1100">
                <a:latin typeface="Aptos"/>
                <a:ea typeface="Noto Sans CJK SC"/>
              </a:rPr>
              <a:t>https://stat.unido.org/manufacturing-news/unido-world-manufacturing-production-and-trade-report-q4-2025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Identificar formación, experiencia y capacidades profesionales.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Subrayar que infraestructura humana designa capacidades formadas, no equiparar personas con objetos. El talento necesita instituciones, condiciones laborales y equipos; no se mide solo por número de graduados. Introducir universidades, ciencia y formación profesional.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La formación incluye investigadores de IA, especialistas en datos, ingeniería electrónica y de software, semiconductores, robótica, control y técnicos industriales. También importa el conocimiento tácito adquirido en equipos. La movilidad internacional y la colaboración contribuyen a la circulación de capacidades; no se presupone un sistema uniforme entre regiones.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¿Qué se aprende en un aula y qué exige práctica con equipos?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国务院关于印发《教育发展“十五五”规划》的通知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https://www.ndrc.gov.cn/fggz/fzzlgh/gjjzxgh/202609/t20260928_1407868.html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上海人工智能实验室：高校专项博士生培养项目</a:t>
            </a:r>
          </a:p>
          <a:p>
            <a:r>
              <a:rPr lang="es-AR" sz="1100">
                <a:latin typeface="Aptos"/>
                <a:ea typeface="Noto Sans CJK SC"/>
              </a:rPr>
              <a:t>https://www.shlab.org.cn/enrollment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Clasificar instituciones por función y organización.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Identificar centros representativos sin afirmar que ocupan las primeras posiciones de un ranking. Tsinghua dispone de College of AI creado en abril de 2024; CAS Institute of Automation cubre reconocimiento de patrones, visión y sistemas de manufactura; Shanghai AI Lab se define como institución de investigación nueva. Peking University también es un actor importante de ciencias e informática, sin adjudicar cifras que no se comprobaron.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Tsinghua y Peking son universidades. CAS es una academia con institutos y universidades. Shanghai AI Laboratory es una institución de investigación diferente de Shanghai Jiao Tong University. Los ejemplos identifican funciones, sin establecer un ranking ni atribuir a una organización los resultados de otra.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Clasificar instituciones sin ordenarlas por prestigio.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Tsinghua University. Introduction, College of AI</a:t>
            </a:r>
          </a:p>
          <a:p>
            <a:r>
              <a:rPr lang="es-AR" sz="1100">
                <a:latin typeface="Aptos"/>
                <a:ea typeface="Noto Sans CJK SC"/>
              </a:rPr>
              <a:t>https://collegeai.tsinghua.edu.cn/en/About_Us/Introduction.htm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北京大学人工智能研究院：研究院简介</a:t>
            </a:r>
          </a:p>
          <a:p>
            <a:r>
              <a:rPr lang="es-AR" sz="1100">
                <a:latin typeface="Aptos"/>
                <a:ea typeface="Noto Sans CJK SC"/>
              </a:rPr>
              <a:t>https://www.ai.pku.edu.cn/yjygk/yjyjj.htm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Chinese Academy of Sciences. Profile</a:t>
            </a:r>
          </a:p>
          <a:p>
            <a:r>
              <a:rPr lang="es-AR" sz="1100">
                <a:latin typeface="Aptos"/>
                <a:ea typeface="Noto Sans CJK SC"/>
              </a:rPr>
              <a:t>https://english.cas.cn/about-cas/profile/202512/t20251224_1141928.shtml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上海人工智能实验室：关于我们</a:t>
            </a:r>
          </a:p>
          <a:p>
            <a:r>
              <a:rPr lang="es-AR" sz="1100">
                <a:latin typeface="Aptos"/>
                <a:ea typeface="Noto Sans CJK SC"/>
              </a:rPr>
              <a:t>https://www.shlab.org.cn/aboutus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Relacionar agenda universitaria y formación investigadora.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Tsinghua fundó el College of AI en abril de 2024, dirigido por Andrew Chi-Chih Yao. Según su propia documentación busca avances fundamentales y cultivo de talentos, incluidas inteligencia encarnada, multimodalidad y aplicaciones científicas. Esta es la descripción institucional de sus objetivos; no equivale a un resultado medido. Imagen visual conceptual; no fotografía de campus.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College of AI y Tsinghua AIR son unidades distintas. El College fue creado en abril de 2024. Sus áreas declaradas incluyen algoritmos, inteligencia encarnada, multimodalidad e IA para la ciencia. Una agenda institucional y una nueva unidad académica no equivalen por sí mismas a resultados científicos o productivos.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Separar fecha de creación, agenda declarada y resultados medidos.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Tsinghua University. Introduction, College of AI</a:t>
            </a:r>
          </a:p>
          <a:p>
            <a:r>
              <a:rPr lang="es-AR" sz="1100">
                <a:latin typeface="Aptos"/>
                <a:ea typeface="Noto Sans CJK SC"/>
              </a:rPr>
              <a:t>https://collegeai.tsinghua.edu.cn/en/About_Us/Introduction.htm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Reconocer diversidad institucional y territorial.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Peking, Zhejiang y Shanghai Jiao Tong son ejemplos representativos, no selección por una clasificación comprobada. CAS no es una universidad: integra institutos de investigación. La conexión práctica con empresas puede tomar la forma de proyectos colaborativos, publicaciones coautoradas, graduados o laboratorios conjuntos. Verificar caso por caso.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Las denominaciones son 北京大学, 浙江大学, 上海交通大学, 中国科学院 y 上海人工智能实验室. Las especializaciones se ilustran con documentación propia de cada institución. El talento y los recursos se distribuyen de forma desigual, y una lista breve no describe el sistema completo ni sus resultados.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¿Qué colaboración concreta conectaría una universidad con una empresa?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北京大学人工智能研究院：研究院简介</a:t>
            </a:r>
          </a:p>
          <a:p>
            <a:r>
              <a:rPr lang="es-AR" sz="1100">
                <a:latin typeface="Aptos"/>
                <a:ea typeface="Noto Sans CJK SC"/>
              </a:rPr>
              <a:t>https://www.ai.pku.edu.cn/yjygk/yjyjj.htm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浙江大学人工智能学院：学院简介</a:t>
            </a:r>
          </a:p>
          <a:p>
            <a:r>
              <a:rPr lang="es-AR" sz="1100">
                <a:latin typeface="Aptos"/>
                <a:ea typeface="Noto Sans CJK SC"/>
              </a:rPr>
              <a:t>https://ai.zju.edu.cn/2026/0211/c90212a3134283/page.htm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上海交通大学成立人工智能研究院</a:t>
            </a:r>
          </a:p>
          <a:p>
            <a:r>
              <a:rPr lang="es-AR" sz="1100">
                <a:latin typeface="Aptos"/>
                <a:ea typeface="Noto Sans CJK SC"/>
              </a:rPr>
              <a:t>https://www.seiee.sjtu.edu.cn/index_news/2426.html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Chinese Academy of Sciences. Profile</a:t>
            </a:r>
          </a:p>
          <a:p>
            <a:r>
              <a:rPr lang="es-AR" sz="1100">
                <a:latin typeface="Aptos"/>
                <a:ea typeface="Noto Sans CJK SC"/>
              </a:rPr>
              <a:t>https://english.cas.cn/about-cas/profile/202512/t20251224_1141928.shtml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上海人工智能实验室：关于我们</a:t>
            </a:r>
          </a:p>
          <a:p>
            <a:r>
              <a:rPr lang="es-AR" sz="1100">
                <a:latin typeface="Aptos"/>
                <a:ea typeface="Noto Sans CJK SC"/>
              </a:rPr>
              <a:t>https://www.shlab.org.cn/aboutus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Comparar métricas con años y universos diferentes.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El volumen de investigación, la influencia por citas y el desarrollo de modelos son dimensiones diferentes. Conservar el año de observación y la definición de cada panel antes de comparar países.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Corrección: el PDF oficial AI Index 2026 consigna 35 modelos notables con afiliación china y 59 estadounidense en 2025, con snapshot de Epoch del 22 de abril de 2026. El dato 41/100 corresponde a artículos más citados de 2024. La afiliación institucional puede contar un trabajo en varios países. Son universos distintos y no se suman.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Identificar el año, el denominador y la unidad antes de comparar.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Stanford HAI. AI Index Report 2026, capítulo 1</a:t>
            </a:r>
          </a:p>
          <a:p>
            <a:r>
              <a:rPr lang="es-AR" sz="1100">
                <a:latin typeface="Aptos"/>
                <a:ea typeface="Noto Sans CJK SC"/>
              </a:rPr>
              <a:t>https://hai.stanford.edu/assets/files/ai_index_report_2026_chapter_1_research_development.pdf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Separar investigación, propiedad intelectual y adopción.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Evitar inferir superioridad tecnológica universal de un solo indicador. Contar países con afiliación de autor, distinguir papers de revistas y conferencias, frecuencia de citas, patentes concedidas y rendimiento reproducible. En 2025 la industria global produjo más del 90% de modelos notables según AI Index, recordatorio de que universidades y empresas desempeñan roles diferentes.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En 2024, el AI Index registra 17,8 % de publicaciones de IA y 20,6 % de citas para China en su corpus, con 39,3 % de afiliación geográfica desconocida. Esos porcentajes dependen de cobertura y metadatos. Patentes solicitadas, concedidas, citas, modelos notables, reproducibilidad y adopción comercial son indicadores diferentes. Los modelos pueden estar desplegados, no son necesariamente prototipos.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¿Qué dato falta entre una patente y una afirmación de uso industrial?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Stanford HAI. AI Index Report 2026, capítulo 1</a:t>
            </a:r>
          </a:p>
          <a:p>
            <a:r>
              <a:rPr lang="es-AR" sz="1100">
                <a:latin typeface="Aptos"/>
                <a:ea typeface="Noto Sans CJK SC"/>
              </a:rPr>
              <a:t>https://hai.stanford.edu/assets/files/ai_index_report_2026_chapter_1_research_development.pdf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Leer objetivos oficiales y mecanismos de política pública.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En el XV Plan Quinquenal 2026-2030 (capítulo sobre educación, ciencia y talento) se formula la integración estratégica de las tres dimensiones, el desarrollo de disciplinas emergentes como IA y circuitos integrados, y una coordinación de recursos formativos. Distinguir prioridades oficiales de resultados. Fuente original en chino.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El plan nacional general y el plan de educación son documentos diferentes. El capítulo 11 del XV Plan nacional integra educación, ciencia, tecnología y talento. El plan educativo tiene horizonte 2026–2030, decisión del Consejo de Estado del 22 de junio y publicación NDRC del 28 de septiembre. Se leen como objetivos y mecanismos declarados, no como cumplimiento comprobado.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Elegir una prioridad y proponer evidencia para evaluar su ejecución.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中华人民共和国国民经济和社会发展第十五个五年规划纲要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https://www.ndrc.gov.cn/fggz/fzzlgh/gjfzgh/202603/U020260317369114704096.pdf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国务院关于印发《教育发展“十五五”规划》的通知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https://www.ndrc.gov.cn/fggz/fzzlgh/gjjzxgh/202609/t20260928_1407868.html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Explicar formación y aprendizaje a lo largo de la carrera.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Explicar la infraestructura humana como un sistema de formación: preuniversitario, universidad, posgrado, investigación, industria, capacitación de técnicos, mantenimiento, personal de planta y aprendizaje permanente. Evitar idea de que un ingeniero de IA puede sustituir todos los perfiles de manufactura.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Un caso concreto es la formación doctoral conjunta de Shanghai AI Laboratory y universidades: la matrícula y el título corresponden a la universidad, mientras el laboratorio aporta investigación. La trayectoria incluye experimentos, revisión crítica, trabajo en equipos, seguridad y actualización continua. Los técnicos y oficios industriales también sostienen la operación.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Diseñar una trayectoria con formación técnica, seguridad y actualización.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国务院关于印发《教育发展“十五五”规划》的通知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https://www.ndrc.gov.cn/fggz/fzzlgh/gjjzxgh/202609/t20260928_1407868.html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上海人工智能实验室：高校专项博士生培养项目</a:t>
            </a:r>
          </a:p>
          <a:p>
            <a:r>
              <a:rPr lang="es-AR" sz="1100">
                <a:latin typeface="Aptos"/>
                <a:ea typeface="Noto Sans CJK SC"/>
              </a:rPr>
              <a:t>https://www.shlab.org.cn/enrollment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Comprender la transferencia como proceso iterativo.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Ejemplificar la diferencia entre un resultado académico reproducible, prototipo, piloto y sistema en operación. Un paper puede no tener traducción productiva; una innovación comercial también puede surgir sin paper. Barreras: fabricación, integración, seguridad, costos, usuarios y propiedad intelectual.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La transferencia incluye movilidad de personas, investigación conjunta, licencias, emprendimientos y circulación abierta de código y artículos. Tsinghua AIR y ByteDance establecieron un centro conjunto de grandes modelos en 2024. Los estudios de colaboración muestran asociaciones condicionadas e impactos heterogéneos. Las empresas necesitan capacidad de absorción, inversión y clientes; el recorrido tiene retornos e iteraciones.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Pedir un riesgo en cada transición y un retorno desde un piloto.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Tsinghua AIR y ByteDance: centro conjunto de grandes modelos</a:t>
            </a:r>
          </a:p>
          <a:p>
            <a:r>
              <a:rPr lang="es-AR" sz="1100">
                <a:latin typeface="Aptos"/>
                <a:ea typeface="Noto Sans CJK SC"/>
              </a:rPr>
              <a:t>https://air.tsinghua.edu.cn/info/1007/2311.htm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Hsu et al. Industry-University Collaboration and Commercializing Chinese Corporate Innovation</a:t>
            </a:r>
          </a:p>
          <a:p>
            <a:r>
              <a:rPr lang="es-AR" sz="1100">
                <a:latin typeface="Aptos"/>
                <a:ea typeface="Noto Sans CJK SC"/>
              </a:rPr>
              <a:t>https://doi.org/10.1287/mnsc.2022.00788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Does university-industry collaboration improve firm productivity? Evidence from China</a:t>
            </a:r>
          </a:p>
          <a:p>
            <a:r>
              <a:rPr lang="es-AR" sz="1100">
                <a:latin typeface="Aptos"/>
                <a:ea typeface="Noto Sans CJK SC"/>
              </a:rPr>
              <a:t>https://doi.org/10.1371/journal.pone.0305695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Distinguir predicción y validación experimental.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Laboratorios como Shanghai AI Lab y CAS trabajan entre otras áreas en AI for Science, multimodalidad y robótica; documentación institucional respalda los ámbitos de investigación, pero no garantiza hallazgos concretos en todos los campos. En ciencia la validación empírica es central.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En materiales o robótica, una predicción puede orientar experimentos sin sustituirlos. Se necesitan instrumentos, calibración, trazabilidad y evaluación de incertidumbre. Las agendas oficiales de CASIA o Shanghai AI Lab describen ámbitos de investigación. No deben presentarse como prueba independiente de un logro técnico concreto.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¿Qué experimento podría refutar la predicción de un modelo?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多模态人工智能系统全国重点实验室</a:t>
            </a:r>
          </a:p>
          <a:p>
            <a:r>
              <a:rPr lang="es-AR" sz="1100">
                <a:latin typeface="Aptos"/>
                <a:ea typeface="Noto Sans CJK SC"/>
              </a:rPr>
              <a:t>https://ia.cas.cn/jgsz/kyxt/dmtrgzn/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上海人工智能实验室：关于我们</a:t>
            </a:r>
          </a:p>
          <a:p>
            <a:r>
              <a:rPr lang="es-AR" sz="1100">
                <a:latin typeface="Aptos"/>
                <a:ea typeface="Noto Sans CJK SC"/>
              </a:rPr>
              <a:t>https://www.shlab.org.cn/aboutus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Evaluar transferencia desde simulación al entorno real.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La simulación y los modelos generativos ayudan a entrenar, pero no garantizan transferencia sim-to-real, estabilidad o seguridad. Deben contrastarse con sensores, manipuladores reales, intervenciones humanas, ciclos de tarea y fallos. Un video sintético no es por definición simulación física de alta fidelidad. Imagen conceptual.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El paso de simulación a realidad depende de parámetros, contactos, percepción, distribución de tareas y seguridad. OpenVLA es una referencia internacional y no se atribuye como modelo exclusivamente chino. Un video generativo plausible no demuestra una simulación física correcta. Los ensayos deben incluir fallos y condiciones no vistas durante el entrenamiento.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Enumerar fallos físicos que un video sintético no permite evaluar.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多模态人工智能系统全国重点实验室</a:t>
            </a:r>
          </a:p>
          <a:p>
            <a:r>
              <a:rPr lang="es-AR" sz="1100">
                <a:latin typeface="Aptos"/>
                <a:ea typeface="Noto Sans CJK SC"/>
              </a:rPr>
              <a:t>https://ia.cas.cn/jgsz/kyxt/dmtrgzn/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Kim et al. OpenVLA: An Open-Source Vision-Language-Action Model</a:t>
            </a:r>
          </a:p>
          <a:p>
            <a:r>
              <a:rPr lang="es-AR" sz="1100">
                <a:latin typeface="Aptos"/>
                <a:ea typeface="Noto Sans CJK SC"/>
              </a:rPr>
              <a:t>https://arxiv.org/abs/2406.09246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Relacionar capacidades científicas y condiciones materiales.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Transición desde infraestructura humana y científica a recursos industriales físicos. La misma política o algoritmo puede rendir muy distinto según fiabilidad eléctrica, conectividad, infraestructura de pruebas, acceso a materiales y capacidad productiva.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El mismo algoritmo de inspección puede producir resultados distintos según sensores, alimentación eléctrica y capacitación. Esta comparación es hipotética y no asigna un efecto empírico a China. El material complementa el bloque científico con las condiciones necesarias para operar y producir, sin sustituir conocimiento por una galería de instalaciones.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Construir un caso hipotético e identificar el recurso limitante.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UNIDO. World Manufacturing Production and Trade Report Q4 2025</a:t>
            </a:r>
          </a:p>
          <a:p>
            <a:r>
              <a:rPr lang="es-AR" sz="1100">
                <a:latin typeface="Aptos"/>
                <a:ea typeface="Noto Sans CJK SC"/>
              </a:rPr>
              <a:t>https://stat.unido.org/manufacturing-news/unido-world-manufacturing-production-and-trade-report-q4-2025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Distinguir potencia, energía y suministro efectivo.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Precisar que computación e industria dependen de energía, subestaciones y redes. Evitar inferir que más capacidad de generación equivale a energía disponible cerca del centro de datos o que toda la energía empleada es limpia. Factores operativos: ubicación, fiabilidad, refrigeración, demanda y costos.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Potencia se expresa en MW y energía utilizada en MWh. La capacidad nacional de generación no garantiza una conexión local suficiente, suministro continuo o una mezcla limpia para cada centro. Importan red, respaldo, refrigeración, mantenimiento y clima. No se atribuye a la IA todo el consumo de un centro de datos.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Comparar dos centros de igual potencia y diferente utilización.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IEA. Energy and AI: Energy demand from AI</a:t>
            </a:r>
          </a:p>
          <a:p>
            <a:r>
              <a:rPr lang="es-AR" sz="1100">
                <a:latin typeface="Aptos"/>
                <a:ea typeface="Noto Sans CJK SC"/>
              </a:rPr>
              <a:t>https://www.iea.org/reports/energy-and-ai/energy-demand-from-ai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Evaluar sistemas de cómputo completos.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La infraestructura de cómputo se compone de silicio, memoria HBM/DRAM, almacenamiento, redes, energía, refrigeración, frameworks de software y operadores. Aislar un benchmark de chip no captura acceso a volúmenes, rendimiento por watt, memoria, integración o herramientas de desarrollador.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GPU, ASIC y NPU no son categorías excluyentes: una NPU puede implementarse como ASIC. Huawei Ascend/Atlas y Cambricon ilustran plataformas de aceleración. Para comparar rendimiento hay que fijar modelo, precisión numérica, lote, latencia y consumo. La memoria, interconexión, compiladores y operadores condicionan el resultado útil.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Fijar latencia y consumo antes de comparar aceleradores.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IEA. Energy and AI: Energy demand from AI</a:t>
            </a:r>
          </a:p>
          <a:p>
            <a:r>
              <a:rPr lang="es-AR" sz="1100">
                <a:latin typeface="Aptos"/>
                <a:ea typeface="Noto Sans CJK SC"/>
              </a:rPr>
              <a:t>https://www.iea.org/reports/energy-and-ai/energy-demand-from-ai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Huawei Ascend: hardware, CANN y herramientas</a:t>
            </a:r>
          </a:p>
          <a:p>
            <a:r>
              <a:rPr lang="es-AR" sz="1100">
                <a:latin typeface="Aptos"/>
                <a:ea typeface="Noto Sans CJK SC"/>
              </a:rPr>
              <a:t>https://www.hiascend.com/en/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寒武纪：产品与技术</a:t>
            </a:r>
          </a:p>
          <a:p>
            <a:r>
              <a:rPr lang="es-AR" sz="1100">
                <a:latin typeface="Aptos"/>
                <a:ea typeface="Noto Sans CJK SC"/>
              </a:rPr>
              <a:t>https://www.cambricon.com/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Distinguir funciones y productos de semiconductores.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Distinguir diseño de chips (Huawei Ascend, Cambricon, entre otros), fabricación (SMIC), memorias (CXMT, YMTC), equipos y encapsulado, herramientas de software, ingeniería y suministro energético. Se mencionan como ejemplos funcionales, sin inferir capacidad exacta de producción o rendimiento contemporáneo sin fuente técnica independiente. Estrangulamientos en una capa afectan al conjunto.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Huawei Ascend y Cambricon ilustran diseño y plataformas; SMIC, fabricación por contrato; CXMT, DRAM; YMTC, NAND. Memoria es una familia de productos que también requiere diseño, fabricación, encapsulado y pruebas. EDA, equipos, materiales y rendimiento por oblea afectan distintas fases. Los ejemplos no prueban autosuficiencia integral ni paridad de rendimiento.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Ubicar actores sin confundir empresas, procesos y productos.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Huawei Ascend: hardware, CANN y herramientas</a:t>
            </a:r>
          </a:p>
          <a:p>
            <a:r>
              <a:rPr lang="es-AR" sz="1100">
                <a:latin typeface="Aptos"/>
                <a:ea typeface="Noto Sans CJK SC"/>
              </a:rPr>
              <a:t>https://www.hiascend.com/en/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SMIC. Annual Report 2025</a:t>
            </a:r>
          </a:p>
          <a:p>
            <a:r>
              <a:rPr lang="es-AR" sz="1100">
                <a:latin typeface="Aptos"/>
                <a:ea typeface="Noto Sans CJK SC"/>
              </a:rPr>
              <a:t>https://www.hkexnews.hk/listedco/listconews/sehk/2026/0408/2026040801181.pdf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寒武纪：产品与技术</a:t>
            </a:r>
          </a:p>
          <a:p>
            <a:r>
              <a:rPr lang="es-AR" sz="1100">
                <a:latin typeface="Aptos"/>
                <a:ea typeface="Noto Sans CJK SC"/>
              </a:rPr>
              <a:t>https://www.cambricon.com/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CXMT: memoria DRAM</a:t>
            </a:r>
          </a:p>
          <a:p>
            <a:r>
              <a:rPr lang="es-AR" sz="1100">
                <a:latin typeface="Aptos"/>
                <a:ea typeface="Noto Sans CJK SC"/>
              </a:rPr>
              <a:t>https://www.cxmt.com/en/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YMTC: NAND y arquitectura Xtacking</a:t>
            </a:r>
          </a:p>
          <a:p>
            <a:r>
              <a:rPr lang="es-AR" sz="1100">
                <a:latin typeface="Aptos"/>
                <a:ea typeface="Noto Sans CJK SC"/>
              </a:rPr>
              <a:t>https://www.ymtc.com/en/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Reconocer integración y redes de proveedores.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Cuando una empresa diseña un robot, su capacidad comercial depende de precisión de motores, suministros de sensores, servos, controladores, certificación y servicios postventa. Estos ecosistemas localizados reducen fricciones de prueba y reparación, pero también tienen vulnerabilidades a discontinuidades de suministros.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MES significa sistema de ejecución de manufactura. Los componentes deben combinarse con trazabilidad, inspección visual, mantenimiento predictivo y estándares. Una planta con robots puede fallar si no calibra sensores o integra registros de defectos. La proximidad entre proveedores facilita coordinación bajo condiciones que deben examinarse por proyecto.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Buscar la falla en una línea con sensores sin calibrar.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六部门：2026年度智能工厂梯度培育行动</a:t>
            </a:r>
          </a:p>
          <a:p>
            <a:r>
              <a:rPr lang="es-AR" sz="1100">
                <a:latin typeface="Aptos"/>
                <a:ea typeface="Noto Sans CJK SC"/>
              </a:rPr>
              <a:t>https://www.miit.gov.cn/zwgk/zcwj/wjfb/tz/art/2026/art_bbccc17a650749c2a76569679350fa5d.html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Comparar digitalización, automatización e IA.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Explicar: digitalización produce datos; automatización ejecuta reglas o tareas; inteligencia supone modelos o métodos que optimizan o adaptan decisiones dentro de ciertos límites. Se pueden combinar; una fábrica no necesita humanoides para ser altamente productiva.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Estas tres dimensiones son un esquema docente propio y pueden coexistir. No son una secuencia obligatoria ni la clasificación oficial china. MIIT usa cuatro niveles institucionales: básico, avanzado, excelente y pionero. Incorporar IA requiere evaluar modelos y resultados, además de registrar datos o automatizar tareas.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Pedir una línea de base y métricas posteriores a la inversión.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六部门：2026年度智能工厂梯度培育行动</a:t>
            </a:r>
          </a:p>
          <a:p>
            <a:r>
              <a:rPr lang="es-AR" sz="1100">
                <a:latin typeface="Aptos"/>
                <a:ea typeface="Noto Sans CJK SC"/>
              </a:rPr>
              <a:t>https://www.miit.gov.cn/zwgk/zcwj/wjfb/tz/art/2026/art_bbccc17a650749c2a76569679350fa5d.html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Interpretar un flujo anual de instalaciones industriales.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La IFR informa aproximadamente 354.000 instalaciones nuevas de robots industriales en China durante 2025, equivalentes a 59% mundial. Las instalaciones son un flujo de unidades, no parque operativo ni cantidad de humanoides. Este indicador no demuestra en sí mismo retorno económico o productividad. La cuota de proveedores domésticos es otra métrica distinta (55%, 2025) que no debe confundirse.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La unidad es una instalación nueva de robot industrial durante 2025. El denominador del 59 % es mundial. El 55 % de proveedores nacionales en China es otra métrica y otro denominador. Ninguna cifra describe humanoides, producción de robots o productividad laboral. El flujo anual debe distinguirse del parque operativo.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Diferenciar robot instalado, operativo y productivo.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IFR. China Installs 59 Percent of World’s Industrial Robots</a:t>
            </a:r>
          </a:p>
          <a:p>
            <a:r>
              <a:rPr lang="es-AR" sz="1100">
                <a:latin typeface="Aptos"/>
                <a:ea typeface="Noto Sans CJK SC"/>
              </a:rPr>
              <a:t>https://ifr.org/downloads/press_docs/EN-2026-SEP-24-IFR_Press_Release_WR-CHINA.pdf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Evaluar servicios logísticos y su fiabilidad.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Presentar la logística como infraestructura habilitante: rutas, puertos, ferrocarriles y transporte dentro y entre clústeres. Diferenciar longitud de redes de capacidad efectiva de servicio; una inversión sobreconstruida puede tener bajo rendimiento. Imagen conceptual no fotografía real.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El efecto de la logística depende de congestión, utilización, intermodalidad, mantenimiento, costos y fiabilidad. Un corredor sobredimensionado puede tener baja utilización. Longitud de red y volumen de un puerto no miden por sí solos el servicio efectivo. La ilustración no documenta una instalación identificada.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Comparar tiempo puerta a puerta y variabilidad de entregas.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UNIDO. World Manufacturing Production and Trade Report Q4 2025</a:t>
            </a:r>
          </a:p>
          <a:p>
            <a:r>
              <a:rPr lang="es-AR" sz="1100">
                <a:latin typeface="Aptos"/>
                <a:ea typeface="Noto Sans CJK SC"/>
              </a:rPr>
              <a:t>https://stat.unido.org/manufacturing-news/unido-world-manufacturing-production-and-trade-report-q4-2025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WIPO. GII 2026: Top 100 Innovation Clusters</a:t>
            </a:r>
          </a:p>
          <a:p>
            <a:r>
              <a:rPr lang="es-AR" sz="1100">
                <a:latin typeface="Aptos"/>
                <a:ea typeface="Noto Sans CJK SC"/>
              </a:rPr>
              <a:t>https://www.wipo.int/web-publications/global-innovation-index-2026/en/gii-2026-ranking-of-world-s-top-100-innovation-clusters.html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Relacionar clústeres y coordinación productiva.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Pedir que los alumnos piensen en viajes de técnicos, tiempo de reposición de componentes, calidad de proveedores y aprendizaje territorial. Beijing, región del Yangtsé (Shanghai-Suzhou-Hangzhou), Gran Bahía (Shenzhen-Guangzhou-Dongguan) y Hefei son referencias ilustrativas. No se afirma que los sectores estén restringidos a una sola ciudad.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Hangzhou forma parte del amplio sistema del delta del Yangtsé. La Gran Bahía es una región más amplia que un clúster estadístico concreto. WIPO identifica concentraciones de inventores, autores y capital de riesgo. Distinguir solicitudes PCT de patentes concedidas y tamaño de intensidad por habitante. Las localizaciones de la lámina son ejemplos, no fronteras exclusivas.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¿Qué conocimiento circula entre proveedores y qué barreras persisten?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WIPO. GII 2026: Top 100 Innovation Clusters</a:t>
            </a:r>
          </a:p>
          <a:p>
            <a:r>
              <a:rPr lang="es-AR" sz="1100">
                <a:latin typeface="Aptos"/>
                <a:ea typeface="Noto Sans CJK SC"/>
              </a:rPr>
              <a:t>https://www.wipo.int/web-publications/global-innovation-index-2026/en/gii-2026-ranking-of-world-s-top-100-innovation-clusters.html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WIPO. Global Innovation Index 2026</a:t>
            </a:r>
          </a:p>
          <a:p>
            <a:r>
              <a:rPr lang="es-AR" sz="1100">
                <a:latin typeface="Aptos"/>
                <a:ea typeface="Noto Sans CJK SC"/>
              </a:rPr>
              <a:t>https://www.wipo.int/pressroom/en/articles/2026/article_0014.html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Interpretar producción geográfica de autos eléctricos.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La IEA indica cerca de 22 millones de automóviles eléctricos fabricados globalmente en 2025, de los cuales China produjo 16 millones (casi 75%). Esto permite discutir la integración de baterías, electrónica, ensamblaje, proveedores y logística. El informe también indica presión competitiva y producción que supera demanda doméstica. Evitar equiparar fabricación con marcas exclusivamente chinas.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IEA estima producción geográfica de automóviles eléctricos BEV y PHEV, de fabricantes nacionales y extranjeros. Producción, ventas internas, exportaciones, matriculaciones y capacidad fabril son series diferentes. La categoría tampoco equivale a todos los vehículos de nueva energía de las estadísticas chinas. Los 16 millones y aproximadamente 75 % son cifras redondeadas de 2025.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¿Qué información falta para evaluar utilización y rentabilidad?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IEA. Global EV Outlook 2026: Manufacturing and trade</a:t>
            </a:r>
          </a:p>
          <a:p>
            <a:r>
              <a:rPr lang="es-AR" sz="1100">
                <a:latin typeface="Aptos"/>
                <a:ea typeface="Noto Sans CJK SC"/>
              </a:rPr>
              <a:t>https://www.iea.org/reports/global-ev-outlook-2026/manufacturing-and-trade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Examinar condiciones del aprendizaje con datos.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Distinguir datos exhaustivos de datos pertinentes. Un flywheel solo se sostiene si uso produce observaciones de calidad que generan mejora fiable y si la mejora crea adopción adicional. Hay sesgos, problemas de privacidad, seguridad, errores y falta de generalización. Relacionar con simuladores del GitHub sin confundir simulación con cifras reales.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El ciclo es un mecanismo didáctico condicionado, no una ley empírica. Los datos deben registrar errores y condiciones relevantes. Una evaluación fuera de muestra y una línea de base permiten comprobar mejoras de costo, calidad o seguridad. Una decisión algorítmica también puede cambiar la distribución de datos que se recogerán después.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Proponer una condición que rompa el ciclo y una prueba para detectarla.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Kim et al. OpenVLA: An Open-Source Vision-Language-Action Model</a:t>
            </a:r>
          </a:p>
          <a:p>
            <a:r>
              <a:rPr lang="es-AR" sz="1100">
                <a:latin typeface="Aptos"/>
                <a:ea typeface="Noto Sans CJK SC"/>
              </a:rPr>
              <a:t>https://arxiv.org/abs/2406.09246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Construir indicadores de capacidad, uso y resultados.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Una planta terminada o un robot instalado es capacidad, no necesariamente producción útil. Para valorar rendimiento, analizar utilización, rendimiento de los equipos, costos, defectos, tiempo de parada, externalidades y retorno. Importa también comparar con escenarios contrafácticos: qué habría ocurrido sin inversión.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Un conteo de chips sin período no mide capacidad. Obleas por mes aproxima capacidad fabril, pero también importa diámetro y mezcla de procesos. Productividad relaciona producto conforme e insumos. Incluir paradas, utilización, mantenimiento y energía por unidad. La evaluación causal de una inversión requiere contrafactual y costos ambientales.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Construir indicadores de unidades conformes por hora y consumo por unidad.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UNIDO. World Manufacturing Production and Trade Report Q4 2025</a:t>
            </a:r>
          </a:p>
          <a:p>
            <a:r>
              <a:rPr lang="es-AR" sz="1100">
                <a:latin typeface="Aptos"/>
                <a:ea typeface="Noto Sans CJK SC"/>
              </a:rPr>
              <a:t>https://stat.unido.org/manufacturing-news/unido-world-manufacturing-production-and-trade-report-q4-2025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IMF. 2025 Article IV Consultation with China</a:t>
            </a:r>
          </a:p>
          <a:p>
            <a:r>
              <a:rPr lang="es-AR" sz="1100">
                <a:latin typeface="Aptos"/>
                <a:ea typeface="Noto Sans CJK SC"/>
              </a:rPr>
              <a:t>https://www.imf.org/en/news/articles/2026/02/18/pr-26053-china-imf-executive-board-concludes-2025-article-iv-consultation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Comparar fortalezas y restricciones por sector.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Analizar fortalezas y tensiones estructurales sin propaganda ni simplificaciones: escala, investigadores, integración de fabricantes, pero también restricciones geopolíticas, márgenes de ganancia, sobrecapacidad, impacto ambiental, inversión improductiva, deuda y diferencias entre territorios. Los efectos varían por sector y periodo.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Las ventajas y riesgos varían por sector y región. Una restricción tecnológica no equivale a una predicción de estancamiento general. El FMI identifica inversión ineficiente y deuda local, sin demostrar que toda infraestructura sea improductiva. La competencia puede estimular aprendizaje y erosionar márgenes. La integración y la transferencia de conocimiento siguen siendo imperfectas.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Separar una restricción sectorial de una conclusión general sobre China.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IEA. Global EV Outlook 2026: Manufacturing and trade</a:t>
            </a:r>
          </a:p>
          <a:p>
            <a:r>
              <a:rPr lang="es-AR" sz="1100">
                <a:latin typeface="Aptos"/>
                <a:ea typeface="Noto Sans CJK SC"/>
              </a:rPr>
              <a:t>https://www.iea.org/reports/global-ev-outlook-2026/manufacturing-and-trade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IEA. Energy and AI: Energy demand from AI</a:t>
            </a:r>
          </a:p>
          <a:p>
            <a:r>
              <a:rPr lang="es-AR" sz="1100">
                <a:latin typeface="Aptos"/>
                <a:ea typeface="Noto Sans CJK SC"/>
              </a:rPr>
              <a:t>https://www.iea.org/reports/energy-and-ai/energy-demand-from-ai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IMF. 2025 Article IV Consultation with China</a:t>
            </a:r>
          </a:p>
          <a:p>
            <a:r>
              <a:rPr lang="es-AR" sz="1100">
                <a:latin typeface="Aptos"/>
                <a:ea typeface="Noto Sans CJK SC"/>
              </a:rPr>
              <a:t>https://www.imf.org/en/news/articles/2026/02/18/pr-26053-china-imf-executive-board-concludes-2025-article-iv-consultation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IMF. Local Government Finances in China: Policy Options to Tackle the Debt Overhang</a:t>
            </a:r>
          </a:p>
          <a:p>
            <a:r>
              <a:rPr lang="es-AR" sz="1100">
                <a:latin typeface="Aptos"/>
                <a:ea typeface="Noto Sans CJK SC"/>
              </a:rPr>
              <a:t>https://www.imf.org/en/publications/departmental-papers-policy-papers/issues/2026/09/24/local-government-finances-in-china-policy-options-to-tackle-the-debt-overhang-576484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Integrar los pilares mediante relaciones recíprocas.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Explicar que talento, universidad y laboratorios forman un elemento transversal: el Estado promueve formación y recursos; las empresas necesitan conocimiento, investigan y contratan; la infraestructura física hace posible experimentar y desplegar. Nadie innova solo. Las tres metáforas no conforman un modelo causal suficiente sin competencia, mercados, instituciones y contexto histórico.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Los conectores expresan relaciones recíprocas. El Estado define incentivos y bienes públicos; empresas, universidades, trabajadores y proveedores también generan conocimiento y plantean problemas. Talento y ciencia son capacidades transversales. Hay colaboración y tensiones, costos de coordinación y diferencias territoriales. Las metáforas organizan la exposición, no una explicación causal exhaustiva.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Seguir un problema productivo hacia empresas, investigadores y política pública.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中华人民共和国国民经济和社会发展第十五个五年规划纲要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https://www.ndrc.gov.cn/fggz/fzzlgh/gjfzgh/202603/U020260317369114704096.pdf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国务院关于印发《教育发展“十五五”规划》的通知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https://www.ndrc.gov.cn/fggz/fzzlgh/gjjzxgh/202609/t20260928_1407868.html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Hsu et al. Industry-University Collaboration and Commercializing Chinese Corporate Innovation</a:t>
            </a:r>
          </a:p>
          <a:p>
            <a:r>
              <a:rPr lang="es-AR" sz="1100">
                <a:latin typeface="Aptos"/>
                <a:ea typeface="Noto Sans CJK SC"/>
              </a:rPr>
              <a:t>https://doi.org/10.1287/mnsc.2022.00788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Formular preguntas verificables para la clase.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Usar esta diapositiva en debate, asignando una pregunta por grupo. Exigir evidencias originales y evitar anuncios empresariales como única prueba. Las preguntas refuerzan que la infraestructura incluye destrezas, materiales, electricidad, redes y aplicaciones reales.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Ocho horas diarias es una exigencia hipotética para discutir, no una autonomía atribuida a un robot comercial. Cada pregunta debe convertirse en una afirmación con unidad, período y evidencia. Separar demostraciones, anuncios, capacidad instalada y resultados observados permite formular investigación y ejercicios contrastables.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Transformar una de las preguntas en una hipótesis contrastable.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Stanford HAI. AI Index Report 2026, capítulo 1</a:t>
            </a:r>
          </a:p>
          <a:p>
            <a:r>
              <a:rPr lang="es-AR" sz="1100">
                <a:latin typeface="Aptos"/>
                <a:ea typeface="Noto Sans CJK SC"/>
              </a:rPr>
              <a:t>https://hai.stanford.edu/assets/files/ai_index_report_2026_chapter_1_research_development.pdf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IFR. China Installs 59 Percent of World’s Industrial Robots</a:t>
            </a:r>
          </a:p>
          <a:p>
            <a:r>
              <a:rPr lang="es-AR" sz="1100">
                <a:latin typeface="Aptos"/>
                <a:ea typeface="Noto Sans CJK SC"/>
              </a:rPr>
              <a:t>https://ifr.org/downloads/press_docs/EN-2026-SEP-24-IFR_Press_Release_WR-CHINA.pdf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IEA. Global EV Outlook 2026: Manufacturing and trade</a:t>
            </a:r>
          </a:p>
          <a:p>
            <a:r>
              <a:rPr lang="es-AR" sz="1100">
                <a:latin typeface="Aptos"/>
                <a:ea typeface="Noto Sans CJK SC"/>
              </a:rPr>
              <a:t>https://www.iea.org/reports/global-ev-outlook-2026/manufacturing-and-trade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Identificar procedencia y alcance de fuentes.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Fuentes prioritarias consultadas: AI Index Report 2026 capítulo 1, Tsinghua CollegeAI, texto oficial XV Plan (chino), Shanghai AI Laboratory, Institute of Automation de la Academia China de Ciencias. Enlaces clicables y en notas. Las instituciones publican agendas institucionales: no confundirlas con resultados independientes.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Las fuentes institucionales muestran organización y prioridades. El AI Index explicita su corpus y sus métricas. Las investigaciones académicas deben leerse con su muestra, método y límites. La bibliografía ampliada queda en las notas y en el registro web, además de los enlaces visibles de esta página.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Localizar una afirmación en su documento original.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Stanford HAI. AI Index Report 2026, capítulo 1</a:t>
            </a:r>
          </a:p>
          <a:p>
            <a:r>
              <a:rPr lang="es-AR" sz="1100">
                <a:latin typeface="Aptos"/>
                <a:ea typeface="Noto Sans CJK SC"/>
              </a:rPr>
              <a:t>https://hai.stanford.edu/assets/files/ai_index_report_2026_chapter_1_research_development.pdf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Tsinghua University. Introduction, College of AI</a:t>
            </a:r>
          </a:p>
          <a:p>
            <a:r>
              <a:rPr lang="es-AR" sz="1100">
                <a:latin typeface="Aptos"/>
                <a:ea typeface="Noto Sans CJK SC"/>
              </a:rPr>
              <a:t>https://collegeai.tsinghua.edu.cn/en/About_Us/Introduction.htm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中华人民共和国国民经济和社会发展第十五个五年规划纲要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https://www.ndrc.gov.cn/fggz/fzzlgh/gjfzgh/202603/U020260317369114704096.pdf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上海人工智能实验室：关于我们</a:t>
            </a:r>
          </a:p>
          <a:p>
            <a:r>
              <a:rPr lang="es-AR" sz="1100">
                <a:latin typeface="Aptos"/>
                <a:ea typeface="Noto Sans CJK SC"/>
              </a:rPr>
              <a:t>https://www.shlab.org.cn/aboutus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中国科学院自动化研究所：2026年接收推荐免试生简章</a:t>
            </a:r>
          </a:p>
          <a:p>
            <a:r>
              <a:rPr lang="es-AR" sz="1100">
                <a:latin typeface="Aptos"/>
                <a:ea typeface="Noto Sans CJK SC"/>
              </a:rPr>
              <a:t>https://ia.cas.cn/yjsjy/zs/sszs/202507/t20250731_7899790.html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Asociar indicadores con año, unidad y definición.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IFR World Robotics 2026 ofrece instalaciones de 2025; IEA Global EV Outlook 2026 produce estimaciones de producción de EV en 2025; WIPO 2026 describe ecosistemas de innovación; documentos chinos de educación establecen objetivos para 2026–2030. Mantener la fecha de observación y la definición junto al número.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Mantener fecha del informe, año de observación y definición junto a cada indicador. IFR trata instalaciones industriales de 2025. IEA trata producción de automóviles eléctricos de 2025. WIPO usa indicadores de innovación y clústeres. Los planes de 2026–2030 establecen objetivos futuros. Las fuentes no se intercambian entre esas afirmaciones.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Explicar por qué año de publicación y año del dato pueden diferir.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IFR. China Installs 59 Percent of World’s Industrial Robots</a:t>
            </a:r>
          </a:p>
          <a:p>
            <a:r>
              <a:rPr lang="es-AR" sz="1100">
                <a:latin typeface="Aptos"/>
                <a:ea typeface="Noto Sans CJK SC"/>
              </a:rPr>
              <a:t>https://ifr.org/downloads/press_docs/EN-2026-SEP-24-IFR_Press_Release_WR-CHINA.pdf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IEA. Global EV Outlook 2026: Manufacturing and trade</a:t>
            </a:r>
          </a:p>
          <a:p>
            <a:r>
              <a:rPr lang="es-AR" sz="1100">
                <a:latin typeface="Aptos"/>
                <a:ea typeface="Noto Sans CJK SC"/>
              </a:rPr>
              <a:t>https://www.iea.org/reports/global-ev-outlook-2026/manufacturing-and-trade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WIPO. Global Innovation Index 2026</a:t>
            </a:r>
          </a:p>
          <a:p>
            <a:r>
              <a:rPr lang="es-AR" sz="1100">
                <a:latin typeface="Aptos"/>
                <a:ea typeface="Noto Sans CJK SC"/>
              </a:rPr>
              <a:t>https://www.wipo.int/pressroom/en/articles/2026/article_0014.html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国务院关于印发《教育发展“十五五”规划》的通知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https://www.ndrc.gov.cn/fggz/fzzlgh/gjjzxgh/202609/t20260928_1407868.html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Stanford HAI. AI Index Report 2026, capítulo 1</a:t>
            </a:r>
          </a:p>
          <a:p>
            <a:r>
              <a:rPr lang="es-AR" sz="1100">
                <a:latin typeface="Aptos"/>
                <a:ea typeface="Noto Sans CJK SC"/>
              </a:rPr>
              <a:t>https://hai.stanford.edu/assets/files/ai_index_report_2026_chapter_1_research_development.pdf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100">
                <a:latin typeface="Aptos"/>
                <a:ea typeface="Noto Sans CJK SC"/>
              </a:rPr>
              <a:t>Objetivo de aprendizaje</a:t>
            </a:r>
          </a:p>
          <a:p>
            <a:r>
              <a:rPr lang="es-AR" sz="1100">
                <a:latin typeface="Aptos"/>
                <a:ea typeface="Noto Sans CJK SC"/>
              </a:rPr>
              <a:t>Sintetizar ciencia, talento e infraestructura productiva.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Explicación y contexto chino</a:t>
            </a:r>
          </a:p>
          <a:p>
            <a:r>
              <a:rPr lang="es-AR" sz="1100">
                <a:latin typeface="Aptos"/>
                <a:ea typeface="Noto Sans CJK SC"/>
              </a:rPr>
              <a:t>Cierre de tercer módulo: no reducir infraestructura a carreteras y fábricas; incluye científicos, formación, organización, capacidad digital, logística y electricidad. Las tres metáforas de la colección conectan con el cuarto módulo integrador de 47 diapositivas sobre transformación industrial. Reafirmar que escala instalada no demuestra productividad y que capacidad científica no es suficiente sin instituciones, empresas y procesos.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Evidencia y precisiones</a:t>
            </a:r>
          </a:p>
          <a:p>
            <a:r>
              <a:rPr lang="es-AR" sz="1100">
                <a:latin typeface="Aptos"/>
                <a:ea typeface="Noto Sans CJK SC"/>
              </a:rPr>
              <a:t>La ciencia y la formación contribuyen a innovar, pero convertir conocimiento en operación exige organizaciones, inversión, demanda y aprendizaje. La infraestructura instalada tampoco basta para demostrar productividad. Conectar esta conclusión con Transformación industrial, módulo integrador de 47 diapositivas, y pedir un ejemplo de complementariedad y una tensión entre los tres pilares.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Alcance y límites</a:t>
            </a:r>
          </a:p>
          <a:p>
            <a:r>
              <a:rPr lang="es-AR" sz="1100">
                <a:latin typeface="Aptos"/>
                <a:ea typeface="Noto Sans CJK SC"/>
              </a:rPr>
              <a:t>Las relaciones didácticas requieren evidencia por sector, institución y período. Las prioridades oficiales no demuestran cumplimiento y los indicadores agregados no prueban causalidad ni productividad de una empresa.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Sugerencia para la exposición</a:t>
            </a:r>
          </a:p>
          <a:p>
            <a:r>
              <a:rPr lang="es-AR" sz="1100">
                <a:latin typeface="Aptos"/>
                <a:ea typeface="Noto Sans CJK SC"/>
              </a:rPr>
              <a:t>Retomar la pregunta central e identificar una complementariedad y una tensión.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Fuentes originales (corte: 20 de octubre de 2026)</a:t>
            </a:r>
          </a:p>
          <a:p>
            <a:r>
              <a:rPr lang="es-AR" sz="1100">
                <a:latin typeface="Aptos"/>
                <a:ea typeface="Noto Sans CJK SC"/>
              </a:rPr>
              <a:t>中华人民共和国国民经济和社会发展第十五个五年规划纲要</a:t>
            </a:r>
          </a:p>
          <a:p>
            <a:r>
              <a:rPr lang="es-AR" sz="1100">
                <a:latin typeface="Aptos"/>
                <a:ea typeface="Noto Sans CJK SC"/>
              </a:rPr>
              <a:t>https://www.ndrc.gov.cn/fggz/fzzlgh/gjfzgh/202603/U020260317369114704096.pdf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UNIDO. World Manufacturing Production and Trade Report Q4 2025</a:t>
            </a:r>
          </a:p>
          <a:p>
            <a:r>
              <a:rPr lang="es-AR" sz="1100">
                <a:latin typeface="Aptos"/>
                <a:ea typeface="Noto Sans CJK SC"/>
              </a:rPr>
              <a:t>https://stat.unido.org/manufacturing-news/unido-world-manufacturing-production-and-trade-report-q4-2025</a:t>
            </a:r>
          </a:p>
          <a:p>
            <a:r>
              <a:rPr lang="es-AR" sz="1100">
                <a:latin typeface="Aptos"/>
                <a:ea typeface="Noto Sans CJK SC"/>
              </a:rPr>
              <a:t/>
            </a:r>
          </a:p>
          <a:p>
            <a:r>
              <a:rPr lang="es-AR" sz="1100">
                <a:latin typeface="Aptos"/>
                <a:ea typeface="Noto Sans CJK SC"/>
              </a:rPr>
              <a:t>Hsu et al. Industry-University Collaboration and Commercializing Chinese Corporate Innovation</a:t>
            </a:r>
          </a:p>
          <a:p>
            <a:r>
              <a:rPr lang="es-AR" sz="1100">
                <a:latin typeface="Aptos"/>
                <a:ea typeface="Noto Sans CJK SC"/>
              </a:rPr>
              <a:t>https://doi.org/10.1287/mnsc.2022.00788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hyperlink" Target="https://hai.stanford.edu/assets/files/ai_index_report_2026_chapter_1_research_development.pdf" TargetMode="External"/><Relationship Id="rId2" Type="http://schemas.openxmlformats.org/officeDocument/2006/relationships/hyperlink" Target="https://collegeai.tsinghua.edu.cn/en/About_Us/Introduction.htm" TargetMode="External"/><Relationship Id="rId3" Type="http://schemas.openxmlformats.org/officeDocument/2006/relationships/hyperlink" Target="https://www.ndrc.gov.cn/fggz/fzzlgh/gjfzgh/202603/U020260317369114704096.pdf" TargetMode="External"/><Relationship Id="rId4" Type="http://schemas.openxmlformats.org/officeDocument/2006/relationships/hyperlink" Target="https://www.shlab.org.cn/aboutus" TargetMode="External"/><Relationship Id="rId5" Type="http://schemas.openxmlformats.org/officeDocument/2006/relationships/hyperlink" Target="https://ia.cas.cn/yjsjy/zs/sszs/202507/t20250731_7899790.html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hyperlink" Target="https://ifr.org/downloads/press_docs/EN-2026-SEP-24-IFR_Press_Release_WR-CHINA.pdf" TargetMode="External"/><Relationship Id="rId2" Type="http://schemas.openxmlformats.org/officeDocument/2006/relationships/hyperlink" Target="https://www.iea.org/reports/global-ev-outlook-2026/manufacturing-and-trade" TargetMode="External"/><Relationship Id="rId3" Type="http://schemas.openxmlformats.org/officeDocument/2006/relationships/hyperlink" Target="https://www.wipo.int/pressroom/en/articles/2026/article_0014.html" TargetMode="External"/><Relationship Id="rId4" Type="http://schemas.openxmlformats.org/officeDocument/2006/relationships/hyperlink" Target="https://www.ndrc.gov.cn/fggz/fzzlgh/gjjzxgh/202609/t20260928_1407868.html" TargetMode="External"/><Relationship Id="rId5" Type="http://schemas.openxmlformats.org/officeDocument/2006/relationships/hyperlink" Target="https://hai.stanford.edu/assets/files/ai_index_report_2026_chapter_1_research_development.pdf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ustración conceptual generada con IA. No es una fotografía de una institución o instalación re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251192" cy="6858000"/>
          </a:xfrm>
          <a:prstGeom prst="rect">
            <a:avLst/>
          </a:prstGeom>
          <a:solidFill>
            <a:srgbClr val="051221">
              <a:alpha val="85000"/>
            </a:srgbClr>
          </a:solidFill>
          <a:ln w="12700">
            <a:solidFill>
              <a:srgbClr val="051221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03504" y="329184"/>
            <a:ext cx="8183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90" b="1" spc="16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TECNOLÓGICA  ·  MÓDULO 03</a:t>
            </a:r>
            <a:endParaRPr lang="en-US" sz="1090" dirty="0"/>
          </a:p>
        </p:txBody>
      </p:sp>
      <p:sp>
        <p:nvSpPr>
          <p:cNvPr id="5" name="Text 2"/>
          <p:cNvSpPr/>
          <p:nvPr/>
        </p:nvSpPr>
        <p:spPr>
          <a:xfrm>
            <a:off x="11064240" y="35661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768096"/>
            <a:ext cx="3383280" cy="0"/>
          </a:xfrm>
          <a:prstGeom prst="line">
            <a:avLst/>
          </a:prstGeom>
          <a:noFill/>
          <a:ln w="25400">
            <a:solidFill>
              <a:srgbClr val="F4C76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3504" y="1042416"/>
            <a:ext cx="8238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60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INFRAESTRUCTURA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685800" y="1920240"/>
            <a:ext cx="6217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800" dirty="0">
                <a:solidFill>
                  <a:srgbClr val="F4C76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基础设施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722376" y="27432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spc="100" kern="0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JĪCHǓ SHÈSHĪ  ·  INFRAESTRUCTURA</a:t>
            </a:r>
            <a:endParaRPr lang="en-US" sz="1280" dirty="0"/>
          </a:p>
        </p:txBody>
      </p:sp>
      <p:sp>
        <p:nvSpPr>
          <p:cNvPr id="10" name="Shape 7"/>
          <p:cNvSpPr/>
          <p:nvPr/>
        </p:nvSpPr>
        <p:spPr>
          <a:xfrm>
            <a:off x="704088" y="3218688"/>
            <a:ext cx="4462272" cy="0"/>
          </a:xfrm>
          <a:prstGeom prst="line">
            <a:avLst/>
          </a:prstGeom>
          <a:noFill/>
          <a:ln w="36830">
            <a:solidFill>
              <a:srgbClr val="E25E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04088" y="3465576"/>
            <a:ext cx="65379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base material, científica y humana de la revolución tecnológica china</a:t>
            </a:r>
            <a:endParaRPr lang="en-US" sz="2700" dirty="0"/>
          </a:p>
        </p:txBody>
      </p:sp>
      <p:sp>
        <p:nvSpPr>
          <p:cNvPr id="12" name="Shape 9"/>
          <p:cNvSpPr/>
          <p:nvPr/>
        </p:nvSpPr>
        <p:spPr>
          <a:xfrm>
            <a:off x="667512" y="5239512"/>
            <a:ext cx="6775704" cy="46634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536295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4944" y="6108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OCTUBRE DE 2026  ·  ILUSTRACIÓN CONCEPTUAL CON IA</a:t>
            </a:r>
          </a:p>
        </p:txBody>
      </p:sp>
      <p:sp>
        <p:nvSpPr>
          <p:cNvPr id="1015" name="Complementary subtitle">
            <a:extLst>
              <a:ext uri="{FF2B5EF4-FFF2-40B4-BE49-F238E27FC236}">
                <a16:creationId xmlns:a16="http://schemas.microsoft.com/office/drawing/2014/main" id="{33B5E382-0920-4FB0-805F-E88C97314F23}"/>
              </a:ext>
            </a:extLst>
          </p:cNvPr>
          <p:cNvSpPr>
            <a:spLocks noGrp="1"/>
          </p:cNvSpPr>
          <p:nvPr/>
        </p:nvSpPr>
        <p:spPr>
          <a:xfrm>
            <a:off x="704850" y="4810125"/>
            <a:ext cx="809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>
                <a:solidFill>
                  <a:srgbClr val="ADC8D2"/>
                </a:solidFill>
              </a:defRPr>
            </a:defPPr>
            <a:lvl1pPr>
              <a:defRPr sz="1275">
                <a:solidFill>
                  <a:srgbClr val="ADC8D2"/>
                </a:solidFill>
              </a:defRPr>
            </a:lvl1pPr>
            <a:lvl2pPr>
              <a:defRPr sz="1275">
                <a:solidFill>
                  <a:srgbClr val="ADC8D2"/>
                </a:solidFill>
              </a:defRPr>
            </a:lvl2pPr>
            <a:lvl3pPr>
              <a:defRPr sz="1275">
                <a:solidFill>
                  <a:srgbClr val="ADC8D2"/>
                </a:solidFill>
              </a:defRPr>
            </a:lvl3pPr>
            <a:lvl4pPr>
              <a:defRPr sz="1275">
                <a:solidFill>
                  <a:srgbClr val="ADC8D2"/>
                </a:solidFill>
              </a:defRPr>
            </a:lvl4pPr>
            <a:lvl5pPr>
              <a:defRPr sz="1275">
                <a:solidFill>
                  <a:srgbClr val="ADC8D2"/>
                </a:solidFill>
              </a:defRPr>
            </a:lvl5pPr>
            <a:lvl6pPr>
              <a:defRPr sz="1275">
                <a:solidFill>
                  <a:srgbClr val="ADC8D2"/>
                </a:solidFill>
              </a:defRPr>
            </a:lvl6pPr>
            <a:lvl7pPr>
              <a:defRPr sz="1275">
                <a:solidFill>
                  <a:srgbClr val="ADC8D2"/>
                </a:solidFill>
              </a:defRPr>
            </a:lvl7pPr>
            <a:lvl8pPr>
              <a:defRPr sz="1275">
                <a:solidFill>
                  <a:srgbClr val="ADC8D2"/>
                </a:solidFill>
              </a:defRPr>
            </a:lvl8pPr>
            <a:lvl9pPr>
              <a:defRPr sz="1275">
                <a:solidFill>
                  <a:srgbClr val="ADC8D2"/>
                </a:solidFill>
              </a:defRPr>
            </a:lvl9pPr>
          </a:lstStyle>
          <a:p>
            <a:pPr>
              <a:defRPr sz="1275">
                <a:solidFill>
                  <a:srgbClr val="ADC8D2"/>
                </a:solidFill>
              </a:defRPr>
            </a:pPr>
            <a:r>
              <a:rPr sz="1275">
                <a:solidFill>
                  <a:srgbClr val="ADC8D2"/>
                </a:solidFill>
              </a:rPr>
              <a:t>Universidades, talento, conocimiento, energía, cómputo y capacidad industrial.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MARCO CONCEPTUAL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infraestructura no es solo cemento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infraestructura productiva también contiene conocimiento organizado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MARCO CONCEPTUAL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2478024"/>
            <a:ext cx="5440680" cy="136245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" y="2715768"/>
            <a:ext cx="52121" cy="35661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660904"/>
            <a:ext cx="4910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FÍSICA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96696" y="3182112"/>
            <a:ext cx="4919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Puertos, energía, ferrocarriles y plantas industriales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55080" y="2478024"/>
            <a:ext cx="5440680" cy="136245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19672" y="2715768"/>
            <a:ext cx="52121" cy="356616"/>
          </a:xfrm>
          <a:prstGeom prst="rect">
            <a:avLst/>
          </a:prstGeom>
          <a:solidFill>
            <a:srgbClr val="6FD5D2"/>
          </a:solidFill>
          <a:ln w="12700">
            <a:solidFill>
              <a:srgbClr val="6FD5D2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660904"/>
            <a:ext cx="4910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56832" y="3182112"/>
            <a:ext cx="4919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Cómputo, redes, datos y software industrial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94944" y="4078224"/>
            <a:ext cx="5440680" cy="136245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" y="4315968"/>
            <a:ext cx="52121" cy="356616"/>
          </a:xfrm>
          <a:prstGeom prst="rect">
            <a:avLst/>
          </a:prstGeom>
          <a:solidFill>
            <a:srgbClr val="80D4AF"/>
          </a:solidFill>
          <a:ln w="12700">
            <a:solidFill>
              <a:srgbClr val="80D4A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261104"/>
            <a:ext cx="4910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80D4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HUMANA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96696" y="4782312"/>
            <a:ext cx="4919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Investigadores, ingenieros, técnicos y especialistas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355080" y="4078224"/>
            <a:ext cx="5440680" cy="136245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19672" y="4315968"/>
            <a:ext cx="52121" cy="356616"/>
          </a:xfrm>
          <a:prstGeom prst="rect">
            <a:avLst/>
          </a:prstGeom>
          <a:solidFill>
            <a:srgbClr val="E25E55"/>
          </a:solidFill>
          <a:ln w="12700">
            <a:solidFill>
              <a:srgbClr val="E25E55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65976" y="4261104"/>
            <a:ext cx="4910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25E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CIENTÍFICA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656832" y="4782312"/>
            <a:ext cx="4919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Universidades, laboratorios y conocimiento transferible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13816" y="5916168"/>
            <a:ext cx="10570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Tesis: sin personas y conocimiento, la infraestructura física no produce innovación por sí sola.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COMPLETO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Cuatro capitales que se complementan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capacidad tecnológica surge de relaciones, no de activos aislados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MARCO CONCEPTUAL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600" y="2907792"/>
            <a:ext cx="2514600" cy="138988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80D4A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1936" y="3282696"/>
            <a:ext cx="228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80D4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</a:t>
            </a:r>
            <a:endParaRPr lang="en-US" sz="1740" dirty="0"/>
          </a:p>
        </p:txBody>
      </p:sp>
      <p:sp>
        <p:nvSpPr>
          <p:cNvPr id="14" name="Text 12"/>
          <p:cNvSpPr/>
          <p:nvPr/>
        </p:nvSpPr>
        <p:spPr>
          <a:xfrm>
            <a:off x="721936" y="3776472"/>
            <a:ext cx="228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</a:t>
            </a:r>
            <a:endParaRPr lang="en-US" sz="1560" dirty="0"/>
          </a:p>
        </p:txBody>
      </p:sp>
      <p:sp>
        <p:nvSpPr>
          <p:cNvPr id="15" name="Text 13"/>
          <p:cNvSpPr/>
          <p:nvPr/>
        </p:nvSpPr>
        <p:spPr>
          <a:xfrm>
            <a:off x="3124200" y="3410712"/>
            <a:ext cx="30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3429000" y="2907792"/>
            <a:ext cx="2514600" cy="138988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1336" y="3282696"/>
            <a:ext cx="228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CIENCIA</a:t>
            </a:r>
            <a:endParaRPr lang="en-US" sz="1740" dirty="0"/>
          </a:p>
        </p:txBody>
      </p:sp>
      <p:sp>
        <p:nvSpPr>
          <p:cNvPr id="18" name="Text 16"/>
          <p:cNvSpPr/>
          <p:nvPr/>
        </p:nvSpPr>
        <p:spPr>
          <a:xfrm>
            <a:off x="3541336" y="3776472"/>
            <a:ext cx="228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Descubre</a:t>
            </a:r>
            <a:endParaRPr lang="en-US" sz="1560" dirty="0"/>
          </a:p>
        </p:txBody>
      </p:sp>
      <p:sp>
        <p:nvSpPr>
          <p:cNvPr id="19" name="Text 17"/>
          <p:cNvSpPr/>
          <p:nvPr/>
        </p:nvSpPr>
        <p:spPr>
          <a:xfrm>
            <a:off x="5943600" y="3410712"/>
            <a:ext cx="30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248400" y="2907792"/>
            <a:ext cx="2514600" cy="138988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60736" y="3282696"/>
            <a:ext cx="228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INDUSTRIA</a:t>
            </a:r>
            <a:endParaRPr lang="en-US" sz="1740" dirty="0"/>
          </a:p>
        </p:txBody>
      </p:sp>
      <p:sp>
        <p:nvSpPr>
          <p:cNvPr id="22" name="Text 20"/>
          <p:cNvSpPr/>
          <p:nvPr/>
        </p:nvSpPr>
        <p:spPr>
          <a:xfrm>
            <a:off x="6360736" y="3776472"/>
            <a:ext cx="228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Produce</a:t>
            </a:r>
            <a:endParaRPr lang="en-US" sz="1560" dirty="0"/>
          </a:p>
        </p:txBody>
      </p:sp>
      <p:sp>
        <p:nvSpPr>
          <p:cNvPr id="23" name="Text 21"/>
          <p:cNvSpPr/>
          <p:nvPr/>
        </p:nvSpPr>
        <p:spPr>
          <a:xfrm>
            <a:off x="8763000" y="3410712"/>
            <a:ext cx="30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067800" y="2907792"/>
            <a:ext cx="2514600" cy="138988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E25E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80136" y="3282696"/>
            <a:ext cx="228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E25E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</a:t>
            </a:r>
            <a:endParaRPr lang="en-US" sz="1740" dirty="0"/>
          </a:p>
        </p:txBody>
      </p:sp>
      <p:sp>
        <p:nvSpPr>
          <p:cNvPr id="26" name="Text 24"/>
          <p:cNvSpPr/>
          <p:nvPr/>
        </p:nvSpPr>
        <p:spPr>
          <a:xfrm>
            <a:off x="9180136" y="3776472"/>
            <a:ext cx="228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</a:t>
            </a:r>
            <a:endParaRPr lang="en-US" sz="1560" dirty="0"/>
          </a:p>
        </p:txBody>
      </p:sp>
      <p:sp>
        <p:nvSpPr>
          <p:cNvPr id="27" name="Text 25"/>
          <p:cNvSpPr/>
          <p:nvPr/>
        </p:nvSpPr>
        <p:spPr>
          <a:xfrm>
            <a:off x="704088" y="5148072"/>
            <a:ext cx="107990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flechas son simplificaciones didácticas: existen múltiples retroalimentaciones y cuellos de botella.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ustración conceptual generada con IA. No es una fotografía de una institución o instalación re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51221">
              <a:alpha val="82000"/>
            </a:srgbClr>
          </a:solidFill>
          <a:ln w="12700">
            <a:solidFill>
              <a:srgbClr val="051221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03504" y="329184"/>
            <a:ext cx="8183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90" b="1" spc="16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TECNOLÓGICA  ·  MÓDULO 03</a:t>
            </a:r>
            <a:endParaRPr lang="en-US" sz="1090" dirty="0"/>
          </a:p>
        </p:txBody>
      </p:sp>
      <p:sp>
        <p:nvSpPr>
          <p:cNvPr id="5" name="Text 2"/>
          <p:cNvSpPr/>
          <p:nvPr/>
        </p:nvSpPr>
        <p:spPr>
          <a:xfrm>
            <a:off x="11064240" y="35661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1005840"/>
            <a:ext cx="61447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5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infraestructura</a:t>
            </a:r>
            <a:endParaRPr lang="en-US" sz="3750" dirty="0"/>
          </a:p>
          <a:p>
            <a:pPr algn="l" indent="0" marL="0">
              <a:buNone/>
            </a:pPr>
            <a:r>
              <a:rPr lang="en-US" sz="375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invisible</a:t>
            </a:r>
            <a:endParaRPr lang="en-US" sz="3750" dirty="0"/>
          </a:p>
        </p:txBody>
      </p:sp>
      <p:sp>
        <p:nvSpPr>
          <p:cNvPr id="7" name="Shape 4"/>
          <p:cNvSpPr/>
          <p:nvPr/>
        </p:nvSpPr>
        <p:spPr>
          <a:xfrm>
            <a:off x="667512" y="2944368"/>
            <a:ext cx="4544568" cy="0"/>
          </a:xfrm>
          <a:prstGeom prst="line">
            <a:avLst/>
          </a:prstGeom>
          <a:noFill/>
          <a:ln w="35560">
            <a:solidFill>
              <a:srgbClr val="E25E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3310128"/>
            <a:ext cx="5907024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1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China acumuló capacidades en matemáticas, ingeniería, investigación y formación técnica: la gente también es infraestructura.</a:t>
            </a:r>
            <a:endParaRPr lang="en-US" sz="2310" dirty="0"/>
          </a:p>
        </p:txBody>
      </p:sp>
      <p:sp>
        <p:nvSpPr>
          <p:cNvPr id="9" name="Shape 6"/>
          <p:cNvSpPr/>
          <p:nvPr/>
        </p:nvSpPr>
        <p:spPr>
          <a:xfrm>
            <a:off x="694944" y="5660136"/>
            <a:ext cx="3474720" cy="34747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5692140"/>
            <a:ext cx="3328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40" kern="0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CAPITAL HUMANO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3" name="Text 10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 E INVESTIGACIÓN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50" dirty="0"/>
          </a:p>
        </p:txBody>
      </p:sp>
      <p:sp>
        <p:nvSpPr>
          <p:cNvPr id="1015" name="AI illustration disclosure">
            <a:extLst>
              <a:ext uri="{FF2B5EF4-FFF2-40B4-BE49-F238E27FC236}">
                <a16:creationId xmlns:a16="http://schemas.microsoft.com/office/drawing/2014/main" id="{565E768B-B46B-461C-9422-AE850FCBEC56}"/>
              </a:ext>
            </a:extLst>
          </p:cNvPr>
          <p:cNvSpPr>
            <a:spLocks noGrp="1"/>
          </p:cNvSpPr>
          <p:nvPr/>
        </p:nvSpPr>
        <p:spPr>
          <a:xfrm>
            <a:off x="609600" y="6105525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>
                <a:solidFill>
                  <a:srgbClr val="ADC8D2"/>
                </a:solidFill>
              </a:defRPr>
            </a:defPPr>
            <a:lvl1pPr>
              <a:defRPr sz="975">
                <a:solidFill>
                  <a:srgbClr val="ADC8D2"/>
                </a:solidFill>
              </a:defRPr>
            </a:lvl1pPr>
            <a:lvl2pPr>
              <a:defRPr sz="975">
                <a:solidFill>
                  <a:srgbClr val="ADC8D2"/>
                </a:solidFill>
              </a:defRPr>
            </a:lvl2pPr>
            <a:lvl3pPr>
              <a:defRPr sz="975">
                <a:solidFill>
                  <a:srgbClr val="ADC8D2"/>
                </a:solidFill>
              </a:defRPr>
            </a:lvl3pPr>
            <a:lvl4pPr>
              <a:defRPr sz="975">
                <a:solidFill>
                  <a:srgbClr val="ADC8D2"/>
                </a:solidFill>
              </a:defRPr>
            </a:lvl4pPr>
            <a:lvl5pPr>
              <a:defRPr sz="975">
                <a:solidFill>
                  <a:srgbClr val="ADC8D2"/>
                </a:solidFill>
              </a:defRPr>
            </a:lvl5pPr>
            <a:lvl6pPr>
              <a:defRPr sz="975">
                <a:solidFill>
                  <a:srgbClr val="ADC8D2"/>
                </a:solidFill>
              </a:defRPr>
            </a:lvl6pPr>
            <a:lvl7pPr>
              <a:defRPr sz="975">
                <a:solidFill>
                  <a:srgbClr val="ADC8D2"/>
                </a:solidFill>
              </a:defRPr>
            </a:lvl7pPr>
            <a:lvl8pPr>
              <a:defRPr sz="975">
                <a:solidFill>
                  <a:srgbClr val="ADC8D2"/>
                </a:solidFill>
              </a:defRPr>
            </a:lvl8pPr>
            <a:lvl9pPr>
              <a:defRPr sz="975">
                <a:solidFill>
                  <a:srgbClr val="ADC8D2"/>
                </a:solidFill>
              </a:defRPr>
            </a:lvl9pPr>
          </a:lstStyle>
          <a:p>
            <a:pPr>
              <a:defRPr sz="975">
                <a:solidFill>
                  <a:srgbClr val="ADC8D2"/>
                </a:solidFill>
              </a:defRPr>
            </a:pPr>
            <a:r>
              <a:rPr sz="975">
                <a:solidFill>
                  <a:srgbClr val="ADC8D2"/>
                </a:solidFill>
              </a:rPr>
              <a:t>Ilustración conceptual generada con 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UNIVERSIDADES Y LABORATORIOS</a:t>
            </a:r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¿Dónde se produce conocimiento nuevo?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Universidades, institutos públicos y laboratorios compartidos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 E INVESTIGACIÓN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6309360"/>
            <a:ext cx="108539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FUENTE: Instituciones oficiales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704088" y="2468880"/>
            <a:ext cx="5413248" cy="145389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264261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50" dirty="0">
                <a:solidFill>
                  <a:srgbClr val="F4C7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清华大学</a:t>
            </a:r>
            <a:endParaRPr lang="en-US" sz="2050" dirty="0"/>
          </a:p>
        </p:txBody>
      </p:sp>
      <p:sp>
        <p:nvSpPr>
          <p:cNvPr id="15" name="Text 13"/>
          <p:cNvSpPr/>
          <p:nvPr/>
        </p:nvSpPr>
        <p:spPr>
          <a:xfrm>
            <a:off x="3895344" y="2697480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TSINGHUA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932688" y="32004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Modelos, IA interdisciplinaria y robótica</a:t>
            </a:r>
            <a:endParaRPr lang="en-US" sz="1580" dirty="0"/>
          </a:p>
        </p:txBody>
      </p:sp>
      <p:sp>
        <p:nvSpPr>
          <p:cNvPr id="17" name="Shape 15"/>
          <p:cNvSpPr/>
          <p:nvPr/>
        </p:nvSpPr>
        <p:spPr>
          <a:xfrm>
            <a:off x="6355080" y="2468880"/>
            <a:ext cx="5413248" cy="145389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264261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50" dirty="0">
                <a:solidFill>
                  <a:srgbClr val="6FD5D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北京大学</a:t>
            </a:r>
            <a:endParaRPr lang="en-US" sz="2050" dirty="0"/>
          </a:p>
        </p:txBody>
      </p:sp>
      <p:sp>
        <p:nvSpPr>
          <p:cNvPr id="19" name="Text 17"/>
          <p:cNvSpPr/>
          <p:nvPr/>
        </p:nvSpPr>
        <p:spPr>
          <a:xfrm>
            <a:off x="9546336" y="2697480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PEKÍN</a:t>
            </a:r>
            <a:endParaRPr lang="en-US" sz="1030" dirty="0"/>
          </a:p>
        </p:txBody>
      </p:sp>
      <p:sp>
        <p:nvSpPr>
          <p:cNvPr id="20" name="Text 18"/>
          <p:cNvSpPr/>
          <p:nvPr/>
        </p:nvSpPr>
        <p:spPr>
          <a:xfrm>
            <a:off x="6583680" y="32004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Computación, IA y ciencia fundamental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704088" y="4142232"/>
            <a:ext cx="5413248" cy="145389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43159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50" dirty="0">
                <a:solidFill>
                  <a:srgbClr val="80D4A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中国科学院</a:t>
            </a:r>
            <a:endParaRPr lang="en-US" sz="2050" dirty="0"/>
          </a:p>
        </p:txBody>
      </p:sp>
      <p:sp>
        <p:nvSpPr>
          <p:cNvPr id="23" name="Text 21"/>
          <p:cNvSpPr/>
          <p:nvPr/>
        </p:nvSpPr>
        <p:spPr>
          <a:xfrm>
            <a:off x="3895344" y="4370832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ACADEMIA CHINA DE CIENCIAS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932688" y="48737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Investigación pública, automatización y física</a:t>
            </a:r>
            <a:endParaRPr lang="en-US" sz="1580" dirty="0"/>
          </a:p>
        </p:txBody>
      </p:sp>
      <p:sp>
        <p:nvSpPr>
          <p:cNvPr id="25" name="Shape 23"/>
          <p:cNvSpPr/>
          <p:nvPr/>
        </p:nvSpPr>
        <p:spPr>
          <a:xfrm>
            <a:off x="6355080" y="4142232"/>
            <a:ext cx="5413248" cy="145389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0" y="43159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50" dirty="0">
                <a:solidFill>
                  <a:srgbClr val="E25E5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上海人工智能实验室</a:t>
            </a:r>
            <a:endParaRPr lang="en-US" sz="2050" dirty="0"/>
          </a:p>
        </p:txBody>
      </p:sp>
      <p:sp>
        <p:nvSpPr>
          <p:cNvPr id="27" name="Text 25"/>
          <p:cNvSpPr/>
          <p:nvPr/>
        </p:nvSpPr>
        <p:spPr>
          <a:xfrm>
            <a:off x="9546336" y="4370832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SHANGHAI AI LAB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6583680" y="48737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Modelos, plataformas y ciencia interdisciplinaria</a:t>
            </a:r>
            <a:endParaRPr lang="en-US" sz="1580" dirty="0"/>
          </a:p>
        </p:txBody>
      </p:sp>
      <p:sp>
        <p:nvSpPr>
          <p:cNvPr id="29" name="Text 27"/>
          <p:cNvSpPr/>
          <p:nvPr/>
        </p:nvSpPr>
        <p:spPr>
          <a:xfrm>
            <a:off x="713232" y="60167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Ejemplos, no ranking de instituciones.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ustración conceptual generada con IA. No es una fotografía de una institución o instalación re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543800" cy="6858000"/>
          </a:xfrm>
          <a:prstGeom prst="rect">
            <a:avLst/>
          </a:prstGeom>
          <a:solidFill>
            <a:srgbClr val="051221">
              <a:alpha val="86000"/>
            </a:srgbClr>
          </a:solidFill>
          <a:ln w="12700">
            <a:solidFill>
              <a:srgbClr val="051221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03504" y="329184"/>
            <a:ext cx="8183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90" b="1" spc="16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TECNOLÓGICA  ·  TALENTO Y UNIVERSIDADES</a:t>
            </a:r>
            <a:endParaRPr lang="en-US" sz="1090" dirty="0"/>
          </a:p>
        </p:txBody>
      </p:sp>
      <p:sp>
        <p:nvSpPr>
          <p:cNvPr id="5" name="Text 2"/>
          <p:cNvSpPr/>
          <p:nvPr/>
        </p:nvSpPr>
        <p:spPr>
          <a:xfrm>
            <a:off x="11064240" y="35661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76072" y="950976"/>
            <a:ext cx="7406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Tsinghua: una apuesta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investigación y talento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713232" y="2752344"/>
            <a:ext cx="6492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30" dirty="0">
                <a:solidFill>
                  <a:srgbClr val="F4C7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清华大学  ·  人工智能学院</a:t>
            </a:r>
            <a:endParaRPr lang="en-US" sz="2230" dirty="0"/>
          </a:p>
        </p:txBody>
      </p:sp>
      <p:sp>
        <p:nvSpPr>
          <p:cNvPr id="8" name="Shape 5"/>
          <p:cNvSpPr/>
          <p:nvPr/>
        </p:nvSpPr>
        <p:spPr>
          <a:xfrm>
            <a:off x="731520" y="3364992"/>
            <a:ext cx="5157216" cy="0"/>
          </a:xfrm>
          <a:prstGeom prst="line">
            <a:avLst/>
          </a:prstGeom>
          <a:noFill/>
          <a:ln w="34290">
            <a:solidFill>
              <a:srgbClr val="E25E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" y="3675888"/>
            <a:ext cx="620877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Abril de 2024: creación del College of AI. Áreas declaradas: nuevos algoritmos, inteligencia encarnada, multimodalidad, IA y ciencia.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68096" y="5687568"/>
            <a:ext cx="6711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Fuente: Tsinghua University · información institucional</a:t>
            </a:r>
            <a:endParaRPr lang="en-US" sz="1180" dirty="0"/>
          </a:p>
        </p:txBody>
      </p:sp>
      <p:sp>
        <p:nvSpPr>
          <p:cNvPr id="11" name="Shape 8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3" name="Text 10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 E INVESTIGACIÓN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50" dirty="0"/>
          </a:p>
        </p:txBody>
      </p:sp>
      <p:sp>
        <p:nvSpPr>
          <p:cNvPr id="1015" name="AI illustration disclosure">
            <a:extLst>
              <a:ext uri="{FF2B5EF4-FFF2-40B4-BE49-F238E27FC236}">
                <a16:creationId xmlns:a16="http://schemas.microsoft.com/office/drawing/2014/main" id="{E62056BE-303B-4AF9-AFBB-FF78051B84EE}"/>
              </a:ext>
            </a:extLst>
          </p:cNvPr>
          <p:cNvSpPr>
            <a:spLocks noGrp="1"/>
          </p:cNvSpPr>
          <p:nvPr/>
        </p:nvSpPr>
        <p:spPr>
          <a:xfrm>
            <a:off x="609600" y="6105525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>
                <a:solidFill>
                  <a:srgbClr val="ADC8D2"/>
                </a:solidFill>
              </a:defRPr>
            </a:defPPr>
            <a:lvl1pPr>
              <a:defRPr sz="975">
                <a:solidFill>
                  <a:srgbClr val="ADC8D2"/>
                </a:solidFill>
              </a:defRPr>
            </a:lvl1pPr>
            <a:lvl2pPr>
              <a:defRPr sz="975">
                <a:solidFill>
                  <a:srgbClr val="ADC8D2"/>
                </a:solidFill>
              </a:defRPr>
            </a:lvl2pPr>
            <a:lvl3pPr>
              <a:defRPr sz="975">
                <a:solidFill>
                  <a:srgbClr val="ADC8D2"/>
                </a:solidFill>
              </a:defRPr>
            </a:lvl3pPr>
            <a:lvl4pPr>
              <a:defRPr sz="975">
                <a:solidFill>
                  <a:srgbClr val="ADC8D2"/>
                </a:solidFill>
              </a:defRPr>
            </a:lvl4pPr>
            <a:lvl5pPr>
              <a:defRPr sz="975">
                <a:solidFill>
                  <a:srgbClr val="ADC8D2"/>
                </a:solidFill>
              </a:defRPr>
            </a:lvl5pPr>
            <a:lvl6pPr>
              <a:defRPr sz="975">
                <a:solidFill>
                  <a:srgbClr val="ADC8D2"/>
                </a:solidFill>
              </a:defRPr>
            </a:lvl6pPr>
            <a:lvl7pPr>
              <a:defRPr sz="975">
                <a:solidFill>
                  <a:srgbClr val="ADC8D2"/>
                </a:solidFill>
              </a:defRPr>
            </a:lvl7pPr>
            <a:lvl8pPr>
              <a:defRPr sz="975">
                <a:solidFill>
                  <a:srgbClr val="ADC8D2"/>
                </a:solidFill>
              </a:defRPr>
            </a:lvl8pPr>
            <a:lvl9pPr>
              <a:defRPr sz="975">
                <a:solidFill>
                  <a:srgbClr val="ADC8D2"/>
                </a:solidFill>
              </a:defRPr>
            </a:lvl9pPr>
          </a:lstStyle>
          <a:p>
            <a:pPr>
              <a:defRPr sz="975">
                <a:solidFill>
                  <a:srgbClr val="ADC8D2"/>
                </a:solidFill>
              </a:defRPr>
            </a:pPr>
            <a:r>
              <a:rPr sz="975">
                <a:solidFill>
                  <a:srgbClr val="ADC8D2"/>
                </a:solidFill>
              </a:rPr>
              <a:t>Ilustración conceptual con IA; no representa un campus identificado.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ECOSISTEMA CIENTÍFICO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Más allá de una universidad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innovación requiere diversidad institucional y disciplinas conectadas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 E INVESTIGACIÓN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2376" y="2414016"/>
            <a:ext cx="5422392" cy="142646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6968" y="2651760"/>
            <a:ext cx="52121" cy="35661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3272" y="25968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PEKÍN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24128" y="3118104"/>
            <a:ext cx="4901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de Pekín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Ciencia, computación, matemáticas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27648" y="2414016"/>
            <a:ext cx="5422392" cy="142646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2240" y="2651760"/>
            <a:ext cx="52121" cy="356616"/>
          </a:xfrm>
          <a:prstGeom prst="rect">
            <a:avLst/>
          </a:prstGeom>
          <a:solidFill>
            <a:srgbClr val="6FD5D2"/>
          </a:solidFill>
          <a:ln w="12700">
            <a:solidFill>
              <a:srgbClr val="6FD5D2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25968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ZHEJIANG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29400" y="3118104"/>
            <a:ext cx="4901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de Zhejiang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Ingeniería e investigación aplicada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22376" y="4078224"/>
            <a:ext cx="5422392" cy="142646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315968"/>
            <a:ext cx="52121" cy="356616"/>
          </a:xfrm>
          <a:prstGeom prst="rect">
            <a:avLst/>
          </a:prstGeom>
          <a:solidFill>
            <a:srgbClr val="80D4AF"/>
          </a:solidFill>
          <a:ln w="12700">
            <a:solidFill>
              <a:srgbClr val="80D4A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3272" y="4261104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80D4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SHANGHÁI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024128" y="4782312"/>
            <a:ext cx="4901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Shanghai Jiao Tong University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Investigación e ingeniería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327648" y="4078224"/>
            <a:ext cx="5422392" cy="142646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92240" y="4315968"/>
            <a:ext cx="52121" cy="356616"/>
          </a:xfrm>
          <a:prstGeom prst="rect">
            <a:avLst/>
          </a:prstGeom>
          <a:solidFill>
            <a:srgbClr val="E25E55"/>
          </a:solidFill>
          <a:ln w="12700">
            <a:solidFill>
              <a:srgbClr val="E25E55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38544" y="4261104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25E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 NACIONAL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629400" y="4782312"/>
            <a:ext cx="4901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 + laboratorios especializados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Ciencia y automatización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2376" y="5952744"/>
            <a:ext cx="10835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2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Instituciones ilustrativas: los vínculos universidad–empresa deben investigarse por proyecto.</a:t>
            </a:r>
            <a:endParaRPr lang="en-US" sz="15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INTERNACIONAL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China en la investigación de IA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de Stanford AI Index 2026 · cifras con años y definiciones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 E INVESTIGACIÓN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6309360"/>
            <a:ext cx="108539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FUENTE: Stanford AI Index 2026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749808" y="2386584"/>
            <a:ext cx="5285232" cy="251460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779776"/>
            <a:ext cx="46177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 / 100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1042416" y="3886200"/>
            <a:ext cx="4809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3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artículos entre los 100 más citados de IA</a:t>
            </a:r>
            <a:endParaRPr lang="en-US" sz="1630" dirty="0"/>
          </a:p>
          <a:p>
            <a:pPr algn="ctr" indent="0" marL="0">
              <a:buNone/>
            </a:pPr>
            <a:r>
              <a:rPr lang="en-US" sz="163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afiliación china · datos 2024</a:t>
            </a:r>
            <a:endParaRPr lang="en-US" sz="1630" dirty="0"/>
          </a:p>
        </p:txBody>
      </p:sp>
      <p:sp>
        <p:nvSpPr>
          <p:cNvPr id="16" name="Shape 14"/>
          <p:cNvSpPr/>
          <p:nvPr/>
        </p:nvSpPr>
        <p:spPr>
          <a:xfrm>
            <a:off x="6199632" y="2386584"/>
            <a:ext cx="5212080" cy="251460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807208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50" b="1" dirty="0">
                <a:solidFill>
                  <a:srgbClr val="6FD5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 vs.  59</a:t>
            </a:r>
          </a:p>
        </p:txBody>
      </p:sp>
      <p:sp>
        <p:nvSpPr>
          <p:cNvPr id="18" name="Text 16"/>
          <p:cNvSpPr/>
          <p:nvPr/>
        </p:nvSpPr>
        <p:spPr>
          <a:xfrm>
            <a:off x="6345936" y="389534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2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modelos de IA considerados notables en 2025</a:t>
            </a:r>
            <a:endParaRPr lang="en-US" sz="1620" dirty="0"/>
          </a:p>
          <a:p>
            <a:pPr algn="ctr" indent="0" marL="0">
              <a:buNone/>
            </a:pPr>
            <a:r>
              <a:rPr lang="en-US" sz="162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vs. Estados Unidos</a:t>
            </a:r>
            <a:endParaRPr lang="en-US" sz="1620" dirty="0"/>
          </a:p>
        </p:txBody>
      </p:sp>
      <p:sp>
        <p:nvSpPr>
          <p:cNvPr id="19" name="Text 17"/>
          <p:cNvSpPr/>
          <p:nvPr/>
        </p:nvSpPr>
        <p:spPr>
          <a:xfrm>
            <a:off x="932688" y="5349240"/>
            <a:ext cx="104515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métricas miden dimensiones distintas y no deben sumarse ni confundirse.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LOS DATOS CORRECTAMENTE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Muchos papers ≠ liderazgo en todas las dimensiones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evitar tres errores en la interpretación bibliométrica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 E INVESTIGACIÓN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2423160"/>
            <a:ext cx="3447676" cy="237744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4924" y="2660904"/>
            <a:ext cx="50371" cy="35661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6367" y="2606040"/>
            <a:ext cx="29349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PUBLICACIONES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77526" y="3127248"/>
            <a:ext cx="2943785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Volumen científico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≠ calidad individual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372162" y="2423160"/>
            <a:ext cx="3447676" cy="237744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31285" y="2660904"/>
            <a:ext cx="50371" cy="356616"/>
          </a:xfrm>
          <a:prstGeom prst="rect">
            <a:avLst/>
          </a:prstGeom>
          <a:solidFill>
            <a:srgbClr val="6FD5D2"/>
          </a:solidFill>
          <a:ln w="12700">
            <a:solidFill>
              <a:srgbClr val="6FD5D2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72728" y="2606040"/>
            <a:ext cx="29349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63888" y="3127248"/>
            <a:ext cx="2943785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Influencia académica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≠ producto comercial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58524" y="2423160"/>
            <a:ext cx="3447676" cy="237744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17647" y="2660904"/>
            <a:ext cx="50371" cy="356616"/>
          </a:xfrm>
          <a:prstGeom prst="rect">
            <a:avLst/>
          </a:prstGeom>
          <a:solidFill>
            <a:srgbClr val="E25E55"/>
          </a:solidFill>
          <a:ln w="12700">
            <a:solidFill>
              <a:srgbClr val="E25E55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59090" y="2606040"/>
            <a:ext cx="29349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25E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PATENTES Y MODELOS</a:t>
            </a:r>
          </a:p>
        </p:txBody>
      </p:sp>
      <p:sp>
        <p:nvSpPr>
          <p:cNvPr id="23" name="Text 21"/>
          <p:cNvSpPr/>
          <p:nvPr/>
        </p:nvSpPr>
        <p:spPr>
          <a:xfrm>
            <a:off x="8350250" y="3127248"/>
            <a:ext cx="2943785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Derechos y capacidades</a:t>
            </a:r>
            <a:br/>
            <a:r>
              <a:rPr lang="en-US" sz="18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≠ adopción medida</a:t>
            </a:r>
          </a:p>
        </p:txBody>
      </p:sp>
      <p:sp>
        <p:nvSpPr>
          <p:cNvPr id="24" name="Text 22"/>
          <p:cNvSpPr/>
          <p:nvPr/>
        </p:nvSpPr>
        <p:spPr>
          <a:xfrm>
            <a:off x="868680" y="5413248"/>
            <a:ext cx="104790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4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evaluación rigurosa combina calidad, reproducibilidad, colaboración, transferencia y uso.</a:t>
            </a:r>
            <a:endParaRPr lang="en-US" sz="17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 DE CAPACIDADES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Noto Sans CJK SC" pitchFamily="34" charset="-122"/>
                <a:cs typeface="Georgia" pitchFamily="34" charset="-120"/>
              </a:rPr>
              <a:t>教育 · 科技 · 人才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Educación, ciencia y talento: una tríada estratégica en el XV Plan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 E INVESTIGACIÓN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6309360"/>
            <a:ext cx="108539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FUENTE: Texto oficial XV Plan 2026-2030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85800" y="2496312"/>
            <a:ext cx="3440424" cy="287121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886" y="2752344"/>
            <a:ext cx="299477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00" dirty="0">
                <a:solidFill>
                  <a:srgbClr val="F4C76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教育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864060" y="3657600"/>
            <a:ext cx="310172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EDUCACIÓN</a:t>
            </a:r>
            <a:endParaRPr lang="en-US" sz="1760" dirty="0"/>
          </a:p>
        </p:txBody>
      </p:sp>
      <p:sp>
        <p:nvSpPr>
          <p:cNvPr id="16" name="Shape 14"/>
          <p:cNvSpPr/>
          <p:nvPr/>
        </p:nvSpPr>
        <p:spPr>
          <a:xfrm>
            <a:off x="1184929" y="4224528"/>
            <a:ext cx="2424340" cy="0"/>
          </a:xfrm>
          <a:prstGeom prst="line">
            <a:avLst/>
          </a:prstGeom>
          <a:noFill/>
          <a:ln w="10160">
            <a:solidFill>
              <a:srgbClr val="3450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8843" y="4443984"/>
            <a:ext cx="285216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Formar competencias y ampliar trayectorias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375788" y="2496312"/>
            <a:ext cx="3440424" cy="287121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1874" y="2752344"/>
            <a:ext cx="299477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00" dirty="0">
                <a:solidFill>
                  <a:srgbClr val="6FD5D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科技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4554048" y="3657600"/>
            <a:ext cx="310172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CIENCIA Y TECNOLOGÍA</a:t>
            </a:r>
            <a:endParaRPr lang="en-US" sz="1760" dirty="0"/>
          </a:p>
        </p:txBody>
      </p:sp>
      <p:sp>
        <p:nvSpPr>
          <p:cNvPr id="21" name="Shape 19"/>
          <p:cNvSpPr/>
          <p:nvPr/>
        </p:nvSpPr>
        <p:spPr>
          <a:xfrm>
            <a:off x="4874917" y="4224528"/>
            <a:ext cx="2424340" cy="0"/>
          </a:xfrm>
          <a:prstGeom prst="line">
            <a:avLst/>
          </a:prstGeom>
          <a:noFill/>
          <a:ln w="10160">
            <a:solidFill>
              <a:srgbClr val="3450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78831" y="4443984"/>
            <a:ext cx="285216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Producir y aplicar conocimiento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65776" y="2496312"/>
            <a:ext cx="3440424" cy="287121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61863" y="2752344"/>
            <a:ext cx="299477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900" dirty="0">
                <a:solidFill>
                  <a:srgbClr val="80D4A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人才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8244037" y="3657600"/>
            <a:ext cx="310172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</a:t>
            </a:r>
            <a:endParaRPr lang="en-US" sz="1760" dirty="0"/>
          </a:p>
        </p:txBody>
      </p:sp>
      <p:sp>
        <p:nvSpPr>
          <p:cNvPr id="26" name="Shape 24"/>
          <p:cNvSpPr/>
          <p:nvPr/>
        </p:nvSpPr>
        <p:spPr>
          <a:xfrm>
            <a:off x="8564905" y="4224528"/>
            <a:ext cx="2424340" cy="0"/>
          </a:xfrm>
          <a:prstGeom prst="line">
            <a:avLst/>
          </a:prstGeom>
          <a:noFill/>
          <a:ln w="10160">
            <a:solidFill>
              <a:srgbClr val="3450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68819" y="4443984"/>
            <a:ext cx="285216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Atraer, formar y movilizar capacidades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4944" y="5870448"/>
            <a:ext cx="1095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2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 declarado de política pública; su ejecución debe evaluarse con evidencia posterior.</a:t>
            </a:r>
            <a:endParaRPr lang="en-US" sz="15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FORMACIÓN Y CARRERA CIENTÍFICA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¿Cómo se forma un investigador o ingeniero?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cadena de capacidades incluye más que títulos universitarios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 E INVESTIGACIÓN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04088" y="2423160"/>
            <a:ext cx="5431536" cy="134416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" y="2679192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6696" y="277063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609344" y="2651760"/>
            <a:ext cx="41879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</a:t>
            </a:r>
            <a:endParaRPr lang="en-US" sz="1820" dirty="0"/>
          </a:p>
        </p:txBody>
      </p:sp>
      <p:sp>
        <p:nvSpPr>
          <p:cNvPr id="16" name="Text 14"/>
          <p:cNvSpPr/>
          <p:nvPr/>
        </p:nvSpPr>
        <p:spPr>
          <a:xfrm>
            <a:off x="1609344" y="3163824"/>
            <a:ext cx="41513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Matemáticas, física, programación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373368" y="2423160"/>
            <a:ext cx="5431536" cy="134416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20256" y="2679192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65976" y="277063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278624" y="2651760"/>
            <a:ext cx="41879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FORMACIÓN</a:t>
            </a:r>
            <a:endParaRPr lang="en-US" sz="1820" dirty="0"/>
          </a:p>
        </p:txBody>
      </p:sp>
      <p:sp>
        <p:nvSpPr>
          <p:cNvPr id="21" name="Text 19"/>
          <p:cNvSpPr/>
          <p:nvPr/>
        </p:nvSpPr>
        <p:spPr>
          <a:xfrm>
            <a:off x="7278624" y="3163824"/>
            <a:ext cx="41513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Grado y posgrado interdisciplinario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704088" y="3986784"/>
            <a:ext cx="5431536" cy="134416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50976" y="4242816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6696" y="433425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609344" y="4215384"/>
            <a:ext cx="41879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LABORATORIO</a:t>
            </a:r>
            <a:endParaRPr lang="en-US" sz="1820" dirty="0"/>
          </a:p>
        </p:txBody>
      </p:sp>
      <p:sp>
        <p:nvSpPr>
          <p:cNvPr id="26" name="Text 24"/>
          <p:cNvSpPr/>
          <p:nvPr/>
        </p:nvSpPr>
        <p:spPr>
          <a:xfrm>
            <a:off x="1609344" y="4727448"/>
            <a:ext cx="41513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Datos, experimentos, revisión crítica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6373368" y="3986784"/>
            <a:ext cx="5431536" cy="134416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20256" y="4242816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65976" y="433425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7278624" y="4215384"/>
            <a:ext cx="41879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INGENIERÍA</a:t>
            </a:r>
            <a:endParaRPr lang="en-US" sz="1820" dirty="0"/>
          </a:p>
        </p:txBody>
      </p:sp>
      <p:sp>
        <p:nvSpPr>
          <p:cNvPr id="31" name="Text 29"/>
          <p:cNvSpPr/>
          <p:nvPr/>
        </p:nvSpPr>
        <p:spPr>
          <a:xfrm>
            <a:off x="7278624" y="4727448"/>
            <a:ext cx="41513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Prototipos, seguridad y equipos reales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58368" y="5833872"/>
            <a:ext cx="10954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técnicos especializados, los oficios industriales y la capacitación continua también cuentan.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TRANSFERENCIA TECNOLÓGICA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paper al producto: una cadena exigente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Universidades y empresas intercambian conocimiento durante todo el proceso</a:t>
            </a:r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 E INVESTIGACIÓN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600" y="2761488"/>
            <a:ext cx="2514600" cy="201168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310" y="3026664"/>
            <a:ext cx="2323837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INVESTIGACIÓN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800363" y="3675888"/>
            <a:ext cx="21157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Hipótesis y experimento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124200" y="3410712"/>
            <a:ext cx="304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429000" y="2761488"/>
            <a:ext cx="2514600" cy="201168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15710" y="3026664"/>
            <a:ext cx="2323837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REPRODUCCIÓN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3619763" y="3675888"/>
            <a:ext cx="21157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y código verificables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0" y="3410712"/>
            <a:ext cx="304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248400" y="2761488"/>
            <a:ext cx="2514600" cy="201168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80D4A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35110" y="3026664"/>
            <a:ext cx="2323837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80D4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PROTOTIPO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6439163" y="3675888"/>
            <a:ext cx="21157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en condiciones reales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763000" y="3410712"/>
            <a:ext cx="304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067800" y="2761488"/>
            <a:ext cx="2514600" cy="201168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E25E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54510" y="3026664"/>
            <a:ext cx="2323837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E25E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ADOPCIÓN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9258563" y="3675888"/>
            <a:ext cx="21157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Operación segura y rentable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95528" y="5477256"/>
            <a:ext cx="10625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Proceso iterativo: incentivos, inversión, pruebas, clientes y retorno de problemas hacia la investigación.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IA Y CIENCIA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laboratorio conecta algoritmos y mundo físico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inteligencia artificial puede acelerar investigaciones, con límites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 E INVESTIGACIÓN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2615184"/>
            <a:ext cx="3453319" cy="244144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5184" y="2852928"/>
            <a:ext cx="50453" cy="35661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6859" y="2798064"/>
            <a:ext cx="29397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78004" y="3319272"/>
            <a:ext cx="2948603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Predicción y análisis de datos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369340" y="2615184"/>
            <a:ext cx="3453319" cy="244144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8724" y="2852928"/>
            <a:ext cx="50453" cy="356616"/>
          </a:xfrm>
          <a:prstGeom prst="rect">
            <a:avLst/>
          </a:prstGeom>
          <a:solidFill>
            <a:srgbClr val="6FD5D2"/>
          </a:solidFill>
          <a:ln w="12700">
            <a:solidFill>
              <a:srgbClr val="6FD5D2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70399" y="2798064"/>
            <a:ext cx="29397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EXPERIMENTOS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661544" y="3319272"/>
            <a:ext cx="2948603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Instrumentos y pruebas controladas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52881" y="2615184"/>
            <a:ext cx="3453319" cy="244144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12265" y="2852928"/>
            <a:ext cx="50453" cy="356616"/>
          </a:xfrm>
          <a:prstGeom prst="rect">
            <a:avLst/>
          </a:prstGeom>
          <a:solidFill>
            <a:srgbClr val="80D4AF"/>
          </a:solidFill>
          <a:ln w="12700">
            <a:solidFill>
              <a:srgbClr val="80D4A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53939" y="2798064"/>
            <a:ext cx="29397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80D4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45085" y="3319272"/>
            <a:ext cx="2948603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Replicación, incertidumbre y seguridad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4088" y="5705856"/>
            <a:ext cx="10853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para discutir: IA para materiales o robótica requiere confirmar resultados mediante experimentación.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ustración conceptual generada con IA. No es una fotografía de una institución o instalación re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251192" cy="6858000"/>
          </a:xfrm>
          <a:prstGeom prst="rect">
            <a:avLst/>
          </a:prstGeom>
          <a:solidFill>
            <a:srgbClr val="051221">
              <a:alpha val="82000"/>
            </a:srgbClr>
          </a:solidFill>
          <a:ln w="12700">
            <a:solidFill>
              <a:srgbClr val="051221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03504" y="329184"/>
            <a:ext cx="8183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90" b="1" spc="16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TECNOLÓGICA  ·  CIENCIA APLICADA</a:t>
            </a:r>
            <a:endParaRPr lang="en-US" sz="1090" dirty="0"/>
          </a:p>
        </p:txBody>
      </p:sp>
      <p:sp>
        <p:nvSpPr>
          <p:cNvPr id="5" name="Text 2"/>
          <p:cNvSpPr/>
          <p:nvPr/>
        </p:nvSpPr>
        <p:spPr>
          <a:xfrm>
            <a:off x="11064240" y="35661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30936" y="941832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10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Robótica:</a:t>
            </a:r>
            <a:endParaRPr lang="en-US" sz="4100" dirty="0"/>
          </a:p>
          <a:p>
            <a:pPr algn="l" indent="0" marL="0">
              <a:buNone/>
            </a:pPr>
            <a:r>
              <a:rPr lang="en-US" sz="410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simulador</a:t>
            </a:r>
            <a:endParaRPr lang="en-US" sz="4100" dirty="0"/>
          </a:p>
          <a:p>
            <a:pPr algn="l" indent="0" marL="0">
              <a:buNone/>
            </a:pPr>
            <a:r>
              <a:rPr lang="en-US" sz="410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 entorno real</a:t>
            </a:r>
            <a:endParaRPr lang="en-US" sz="4100" dirty="0"/>
          </a:p>
        </p:txBody>
      </p:sp>
      <p:sp>
        <p:nvSpPr>
          <p:cNvPr id="7" name="Shape 4"/>
          <p:cNvSpPr/>
          <p:nvPr/>
        </p:nvSpPr>
        <p:spPr>
          <a:xfrm>
            <a:off x="694944" y="3355848"/>
            <a:ext cx="4983480" cy="0"/>
          </a:xfrm>
          <a:prstGeom prst="line">
            <a:avLst/>
          </a:prstGeom>
          <a:noFill/>
          <a:ln w="38100">
            <a:solidFill>
              <a:srgbClr val="E25E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2376" y="3721608"/>
            <a:ext cx="6144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modelos aprenden con datos, pero los robots deben actuar frente a fricción, errores, contactos y riesgos reales.</a:t>
            </a:r>
            <a:endParaRPr lang="en-US" sz="2050" dirty="0"/>
          </a:p>
        </p:txBody>
      </p:sp>
      <p:sp>
        <p:nvSpPr>
          <p:cNvPr id="9" name="Text 6"/>
          <p:cNvSpPr/>
          <p:nvPr/>
        </p:nvSpPr>
        <p:spPr>
          <a:xfrm>
            <a:off x="731520" y="5614416"/>
            <a:ext cx="66659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SIMULACIÓN   →   PRUEBA   →   OPERACIÓN</a:t>
            </a:r>
            <a:endParaRPr lang="en-US" sz="1520" dirty="0"/>
          </a:p>
        </p:txBody>
      </p:sp>
      <p:sp>
        <p:nvSpPr>
          <p:cNvPr id="10" name="Shape 7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2" name="Text 9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 E INVESTIGACIÓN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050" dirty="0"/>
          </a:p>
        </p:txBody>
      </p:sp>
      <p:sp>
        <p:nvSpPr>
          <p:cNvPr id="1014" name="AI illustration disclosure">
            <a:extLst>
              <a:ext uri="{FF2B5EF4-FFF2-40B4-BE49-F238E27FC236}">
                <a16:creationId xmlns:a16="http://schemas.microsoft.com/office/drawing/2014/main" id="{2F2EB733-B256-4F7E-BAC1-A7E45E48B200}"/>
              </a:ext>
            </a:extLst>
          </p:cNvPr>
          <p:cNvSpPr>
            <a:spLocks noGrp="1"/>
          </p:cNvSpPr>
          <p:nvPr/>
        </p:nvSpPr>
        <p:spPr>
          <a:xfrm>
            <a:off x="609600" y="6105525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>
                <a:solidFill>
                  <a:srgbClr val="ADC8D2"/>
                </a:solidFill>
              </a:defRPr>
            </a:defPPr>
            <a:lvl1pPr>
              <a:defRPr sz="975">
                <a:solidFill>
                  <a:srgbClr val="ADC8D2"/>
                </a:solidFill>
              </a:defRPr>
            </a:lvl1pPr>
            <a:lvl2pPr>
              <a:defRPr sz="975">
                <a:solidFill>
                  <a:srgbClr val="ADC8D2"/>
                </a:solidFill>
              </a:defRPr>
            </a:lvl2pPr>
            <a:lvl3pPr>
              <a:defRPr sz="975">
                <a:solidFill>
                  <a:srgbClr val="ADC8D2"/>
                </a:solidFill>
              </a:defRPr>
            </a:lvl3pPr>
            <a:lvl4pPr>
              <a:defRPr sz="975">
                <a:solidFill>
                  <a:srgbClr val="ADC8D2"/>
                </a:solidFill>
              </a:defRPr>
            </a:lvl4pPr>
            <a:lvl5pPr>
              <a:defRPr sz="975">
                <a:solidFill>
                  <a:srgbClr val="ADC8D2"/>
                </a:solidFill>
              </a:defRPr>
            </a:lvl5pPr>
            <a:lvl6pPr>
              <a:defRPr sz="975">
                <a:solidFill>
                  <a:srgbClr val="ADC8D2"/>
                </a:solidFill>
              </a:defRPr>
            </a:lvl6pPr>
            <a:lvl7pPr>
              <a:defRPr sz="975">
                <a:solidFill>
                  <a:srgbClr val="ADC8D2"/>
                </a:solidFill>
              </a:defRPr>
            </a:lvl7pPr>
            <a:lvl8pPr>
              <a:defRPr sz="975">
                <a:solidFill>
                  <a:srgbClr val="ADC8D2"/>
                </a:solidFill>
              </a:defRPr>
            </a:lvl8pPr>
            <a:lvl9pPr>
              <a:defRPr sz="975">
                <a:solidFill>
                  <a:srgbClr val="ADC8D2"/>
                </a:solidFill>
              </a:defRPr>
            </a:lvl9pPr>
          </a:lstStyle>
          <a:p>
            <a:pPr>
              <a:defRPr sz="975">
                <a:solidFill>
                  <a:srgbClr val="ADC8D2"/>
                </a:solidFill>
              </a:defRPr>
            </a:pPr>
            <a:r>
              <a:rPr sz="975">
                <a:solidFill>
                  <a:srgbClr val="ADC8D2"/>
                </a:solidFill>
              </a:rPr>
              <a:t>Ilustración conceptual generada con 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ustración conceptual generada con IA. No es una fotografía de una institución o instalación re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51221">
              <a:alpha val="82000"/>
            </a:srgbClr>
          </a:solidFill>
          <a:ln w="12700">
            <a:solidFill>
              <a:srgbClr val="051221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03504" y="329184"/>
            <a:ext cx="8183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90" b="1" spc="16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TECNOLÓGICA  ·  MÓDULO 03</a:t>
            </a:r>
            <a:endParaRPr lang="en-US" sz="1090" dirty="0"/>
          </a:p>
        </p:txBody>
      </p:sp>
      <p:sp>
        <p:nvSpPr>
          <p:cNvPr id="5" name="Text 2"/>
          <p:cNvSpPr/>
          <p:nvPr/>
        </p:nvSpPr>
        <p:spPr>
          <a:xfrm>
            <a:off x="11064240" y="35661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1005840"/>
            <a:ext cx="61447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5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base material</a:t>
            </a:r>
            <a:endParaRPr lang="en-US" sz="3750" dirty="0"/>
          </a:p>
          <a:p>
            <a:pPr algn="l" indent="0" marL="0">
              <a:buNone/>
            </a:pPr>
            <a:r>
              <a:rPr lang="en-US" sz="375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revolución</a:t>
            </a:r>
            <a:endParaRPr lang="en-US" sz="3750" dirty="0"/>
          </a:p>
        </p:txBody>
      </p:sp>
      <p:sp>
        <p:nvSpPr>
          <p:cNvPr id="7" name="Shape 4"/>
          <p:cNvSpPr/>
          <p:nvPr/>
        </p:nvSpPr>
        <p:spPr>
          <a:xfrm>
            <a:off x="667512" y="2944368"/>
            <a:ext cx="4544568" cy="0"/>
          </a:xfrm>
          <a:prstGeom prst="line">
            <a:avLst/>
          </a:prstGeom>
          <a:noFill/>
          <a:ln w="35560">
            <a:solidFill>
              <a:srgbClr val="E25E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3310128"/>
            <a:ext cx="5907024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1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partir del conocimiento, la industria necesita energía, cómputo, fábricas, proveedores y redes logísticas.</a:t>
            </a:r>
            <a:endParaRPr lang="en-US" sz="2310" dirty="0"/>
          </a:p>
        </p:txBody>
      </p:sp>
      <p:sp>
        <p:nvSpPr>
          <p:cNvPr id="9" name="Shape 6"/>
          <p:cNvSpPr/>
          <p:nvPr/>
        </p:nvSpPr>
        <p:spPr>
          <a:xfrm>
            <a:off x="694944" y="5660136"/>
            <a:ext cx="3474720" cy="34747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5692140"/>
            <a:ext cx="3328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40" kern="0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FÍSICA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3" name="Text 10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050" dirty="0"/>
          </a:p>
        </p:txBody>
      </p:sp>
      <p:sp>
        <p:nvSpPr>
          <p:cNvPr id="1015" name="AI illustration disclosure">
            <a:extLst>
              <a:ext uri="{FF2B5EF4-FFF2-40B4-BE49-F238E27FC236}">
                <a16:creationId xmlns:a16="http://schemas.microsoft.com/office/drawing/2014/main" id="{181A1E52-79D6-4D58-BE96-A45CC3B1A90A}"/>
              </a:ext>
            </a:extLst>
          </p:cNvPr>
          <p:cNvSpPr>
            <a:spLocks noGrp="1"/>
          </p:cNvSpPr>
          <p:nvPr/>
        </p:nvSpPr>
        <p:spPr>
          <a:xfrm>
            <a:off x="609600" y="6105525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>
                <a:solidFill>
                  <a:srgbClr val="ADC8D2"/>
                </a:solidFill>
              </a:defRPr>
            </a:defPPr>
            <a:lvl1pPr>
              <a:defRPr sz="975">
                <a:solidFill>
                  <a:srgbClr val="ADC8D2"/>
                </a:solidFill>
              </a:defRPr>
            </a:lvl1pPr>
            <a:lvl2pPr>
              <a:defRPr sz="975">
                <a:solidFill>
                  <a:srgbClr val="ADC8D2"/>
                </a:solidFill>
              </a:defRPr>
            </a:lvl2pPr>
            <a:lvl3pPr>
              <a:defRPr sz="975">
                <a:solidFill>
                  <a:srgbClr val="ADC8D2"/>
                </a:solidFill>
              </a:defRPr>
            </a:lvl3pPr>
            <a:lvl4pPr>
              <a:defRPr sz="975">
                <a:solidFill>
                  <a:srgbClr val="ADC8D2"/>
                </a:solidFill>
              </a:defRPr>
            </a:lvl4pPr>
            <a:lvl5pPr>
              <a:defRPr sz="975">
                <a:solidFill>
                  <a:srgbClr val="ADC8D2"/>
                </a:solidFill>
              </a:defRPr>
            </a:lvl5pPr>
            <a:lvl6pPr>
              <a:defRPr sz="975">
                <a:solidFill>
                  <a:srgbClr val="ADC8D2"/>
                </a:solidFill>
              </a:defRPr>
            </a:lvl6pPr>
            <a:lvl7pPr>
              <a:defRPr sz="975">
                <a:solidFill>
                  <a:srgbClr val="ADC8D2"/>
                </a:solidFill>
              </a:defRPr>
            </a:lvl7pPr>
            <a:lvl8pPr>
              <a:defRPr sz="975">
                <a:solidFill>
                  <a:srgbClr val="ADC8D2"/>
                </a:solidFill>
              </a:defRPr>
            </a:lvl8pPr>
            <a:lvl9pPr>
              <a:defRPr sz="975">
                <a:solidFill>
                  <a:srgbClr val="ADC8D2"/>
                </a:solidFill>
              </a:defRPr>
            </a:lvl9pPr>
          </a:lstStyle>
          <a:p>
            <a:pPr>
              <a:defRPr sz="975">
                <a:solidFill>
                  <a:srgbClr val="ADC8D2"/>
                </a:solidFill>
              </a:defRPr>
            </a:pPr>
            <a:r>
              <a:rPr sz="975">
                <a:solidFill>
                  <a:srgbClr val="ADC8D2"/>
                </a:solidFill>
              </a:rPr>
              <a:t>Ilustración conceptual generada con 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ENERGÍA Y ELECTRIFICACIÓN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energía es infraestructura de IA y manufactura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centro de datos y una fábrica necesitan potencia disponible y confiable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2551176"/>
            <a:ext cx="3447286" cy="233172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5314" y="2788920"/>
            <a:ext cx="50494" cy="35661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105" y="2734056"/>
            <a:ext cx="29332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GENERACIÓN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78243" y="3255264"/>
            <a:ext cx="294215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Fuentes y mezcla eléctrica</a:t>
            </a:r>
            <a:endParaRPr lang="en-US" sz="1760" dirty="0"/>
          </a:p>
        </p:txBody>
      </p:sp>
      <p:sp>
        <p:nvSpPr>
          <p:cNvPr id="16" name="Shape 14"/>
          <p:cNvSpPr/>
          <p:nvPr/>
        </p:nvSpPr>
        <p:spPr>
          <a:xfrm>
            <a:off x="4372357" y="2551176"/>
            <a:ext cx="3447286" cy="233172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31872" y="2788920"/>
            <a:ext cx="50494" cy="356616"/>
          </a:xfrm>
          <a:prstGeom prst="rect">
            <a:avLst/>
          </a:prstGeom>
          <a:solidFill>
            <a:srgbClr val="6FD5D2"/>
          </a:solidFill>
          <a:ln w="12700">
            <a:solidFill>
              <a:srgbClr val="6FD5D2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73662" y="2734056"/>
            <a:ext cx="29332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664800" y="3255264"/>
            <a:ext cx="294215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Transmisión, estabilidad y acceso</a:t>
            </a:r>
            <a:endParaRPr lang="en-US" sz="1760" dirty="0"/>
          </a:p>
        </p:txBody>
      </p:sp>
      <p:sp>
        <p:nvSpPr>
          <p:cNvPr id="20" name="Shape 18"/>
          <p:cNvSpPr/>
          <p:nvPr/>
        </p:nvSpPr>
        <p:spPr>
          <a:xfrm>
            <a:off x="8058914" y="2551176"/>
            <a:ext cx="3447286" cy="233172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18429" y="2788920"/>
            <a:ext cx="50494" cy="356616"/>
          </a:xfrm>
          <a:prstGeom prst="rect">
            <a:avLst/>
          </a:prstGeom>
          <a:solidFill>
            <a:srgbClr val="80D4AF"/>
          </a:solidFill>
          <a:ln w="12700">
            <a:solidFill>
              <a:srgbClr val="80D4A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0220" y="2734056"/>
            <a:ext cx="29332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80D4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CONSUMO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51358" y="3255264"/>
            <a:ext cx="294215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Centros de datos, fábricas y transporte</a:t>
            </a:r>
            <a:endParaRPr lang="en-US" sz="1760" dirty="0"/>
          </a:p>
        </p:txBody>
      </p:sp>
      <p:sp>
        <p:nvSpPr>
          <p:cNvPr id="24" name="Text 22"/>
          <p:cNvSpPr/>
          <p:nvPr/>
        </p:nvSpPr>
        <p:spPr>
          <a:xfrm>
            <a:off x="804672" y="5431536"/>
            <a:ext cx="10652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sumar capacidad instalada: importan disponibilidad, costos, resiliencia y emisiones.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DIGITAL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los chips al centro de datos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necesita una cadena de cómputo, memoria, interconexión y energía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2505456"/>
            <a:ext cx="5404104" cy="138074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6112" y="2743200"/>
            <a:ext cx="52121" cy="35661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688336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ACELERADORES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33272" y="3209544"/>
            <a:ext cx="4882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 y aceleradores especializados</a:t>
            </a:r>
          </a:p>
        </p:txBody>
      </p:sp>
      <p:sp>
        <p:nvSpPr>
          <p:cNvPr id="16" name="Shape 14"/>
          <p:cNvSpPr/>
          <p:nvPr/>
        </p:nvSpPr>
        <p:spPr>
          <a:xfrm>
            <a:off x="6364224" y="2505456"/>
            <a:ext cx="5404104" cy="138074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28816" y="2743200"/>
            <a:ext cx="52121" cy="356616"/>
          </a:xfrm>
          <a:prstGeom prst="rect">
            <a:avLst/>
          </a:prstGeom>
          <a:solidFill>
            <a:srgbClr val="6FD5D2"/>
          </a:solidFill>
          <a:ln w="12700">
            <a:solidFill>
              <a:srgbClr val="6FD5D2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2688336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MEMORIA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65976" y="3209544"/>
            <a:ext cx="4882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Ancho de banda y capacidad</a:t>
            </a:r>
            <a:endParaRPr lang="en-US" sz="1680" dirty="0"/>
          </a:p>
        </p:txBody>
      </p:sp>
      <p:sp>
        <p:nvSpPr>
          <p:cNvPr id="20" name="Shape 18"/>
          <p:cNvSpPr/>
          <p:nvPr/>
        </p:nvSpPr>
        <p:spPr>
          <a:xfrm>
            <a:off x="731520" y="4142232"/>
            <a:ext cx="5404104" cy="138074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4379976"/>
            <a:ext cx="52121" cy="356616"/>
          </a:xfrm>
          <a:prstGeom prst="rect">
            <a:avLst/>
          </a:prstGeom>
          <a:solidFill>
            <a:srgbClr val="80D4AF"/>
          </a:solidFill>
          <a:ln w="12700">
            <a:solidFill>
              <a:srgbClr val="80D4A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" y="4325112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0D4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INTERCONEXIÓN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33272" y="4846320"/>
            <a:ext cx="4882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Redes, comunicaciones y latencia</a:t>
            </a:r>
            <a:endParaRPr lang="en-US" sz="1680" dirty="0"/>
          </a:p>
        </p:txBody>
      </p:sp>
      <p:sp>
        <p:nvSpPr>
          <p:cNvPr id="24" name="Shape 22"/>
          <p:cNvSpPr/>
          <p:nvPr/>
        </p:nvSpPr>
        <p:spPr>
          <a:xfrm>
            <a:off x="6364224" y="4142232"/>
            <a:ext cx="5404104" cy="138074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28816" y="4379976"/>
            <a:ext cx="52121" cy="356616"/>
          </a:xfrm>
          <a:prstGeom prst="rect">
            <a:avLst/>
          </a:prstGeom>
          <a:solidFill>
            <a:srgbClr val="E25E55"/>
          </a:solidFill>
          <a:ln w="12700">
            <a:solidFill>
              <a:srgbClr val="E25E55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4325112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25E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OPERACIÓN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665976" y="4846320"/>
            <a:ext cx="4882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Energía, enfriamiento y software</a:t>
            </a:r>
            <a:endParaRPr lang="en-US" sz="1680" dirty="0"/>
          </a:p>
        </p:txBody>
      </p:sp>
      <p:sp>
        <p:nvSpPr>
          <p:cNvPr id="28" name="Text 26"/>
          <p:cNvSpPr/>
          <p:nvPr/>
        </p:nvSpPr>
        <p:spPr>
          <a:xfrm>
            <a:off x="813816" y="5925312"/>
            <a:ext cx="10552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6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capacidad de un chip anunciada no equivale al rendimiento útil de un sistema completo.</a:t>
            </a:r>
            <a:endParaRPr lang="en-US" sz="156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SEMICONDUCTORES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hay autosuficiencia en una sola pieza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cadena tecnológica integra varias especializaciones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600" y="2660904"/>
            <a:ext cx="2514600" cy="216712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4081" y="3008376"/>
            <a:ext cx="22142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4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640" dirty="0"/>
          </a:p>
        </p:txBody>
      </p:sp>
      <p:sp>
        <p:nvSpPr>
          <p:cNvPr id="14" name="Text 12"/>
          <p:cNvSpPr/>
          <p:nvPr/>
        </p:nvSpPr>
        <p:spPr>
          <a:xfrm>
            <a:off x="824156" y="3675888"/>
            <a:ext cx="20511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7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Arquitecturas, EDA y propiedad intelectual</a:t>
            </a:r>
            <a:endParaRPr lang="en-US" sz="1570" dirty="0"/>
          </a:p>
        </p:txBody>
      </p:sp>
      <p:sp>
        <p:nvSpPr>
          <p:cNvPr id="15" name="Text 13"/>
          <p:cNvSpPr/>
          <p:nvPr/>
        </p:nvSpPr>
        <p:spPr>
          <a:xfrm>
            <a:off x="3124200" y="3483864"/>
            <a:ext cx="30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3429000" y="2660904"/>
            <a:ext cx="2514600" cy="216712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83481" y="3008376"/>
            <a:ext cx="22142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4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FABRICACIÓN</a:t>
            </a:r>
            <a:endParaRPr lang="en-US" sz="1640" dirty="0"/>
          </a:p>
        </p:txBody>
      </p:sp>
      <p:sp>
        <p:nvSpPr>
          <p:cNvPr id="18" name="Text 16"/>
          <p:cNvSpPr/>
          <p:nvPr/>
        </p:nvSpPr>
        <p:spPr>
          <a:xfrm>
            <a:off x="3643556" y="3675888"/>
            <a:ext cx="20511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7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Litografía, equipos, obleas y rendimiento</a:t>
            </a:r>
            <a:endParaRPr lang="en-US" sz="1570" dirty="0"/>
          </a:p>
        </p:txBody>
      </p:sp>
      <p:sp>
        <p:nvSpPr>
          <p:cNvPr id="19" name="Text 17"/>
          <p:cNvSpPr/>
          <p:nvPr/>
        </p:nvSpPr>
        <p:spPr>
          <a:xfrm>
            <a:off x="5943600" y="3483864"/>
            <a:ext cx="30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6248400" y="2660904"/>
            <a:ext cx="2514600" cy="216712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2881" y="3008376"/>
            <a:ext cx="22142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4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ENCAPSULADO</a:t>
            </a:r>
          </a:p>
        </p:txBody>
      </p:sp>
      <p:sp>
        <p:nvSpPr>
          <p:cNvPr id="22" name="Text 20"/>
          <p:cNvSpPr/>
          <p:nvPr/>
        </p:nvSpPr>
        <p:spPr>
          <a:xfrm>
            <a:off x="6462956" y="3675888"/>
            <a:ext cx="20511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7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Montaje, prueba e integración de chips</a:t>
            </a:r>
          </a:p>
        </p:txBody>
      </p:sp>
      <p:sp>
        <p:nvSpPr>
          <p:cNvPr id="23" name="Text 21"/>
          <p:cNvSpPr/>
          <p:nvPr/>
        </p:nvSpPr>
        <p:spPr>
          <a:xfrm>
            <a:off x="8763000" y="3483864"/>
            <a:ext cx="30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300" dirty="0"/>
          </a:p>
        </p:txBody>
      </p:sp>
      <p:sp>
        <p:nvSpPr>
          <p:cNvPr id="24" name="Shape 22"/>
          <p:cNvSpPr/>
          <p:nvPr/>
        </p:nvSpPr>
        <p:spPr>
          <a:xfrm>
            <a:off x="9067800" y="2660904"/>
            <a:ext cx="2514600" cy="216712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22281" y="3008376"/>
            <a:ext cx="22142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4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SISTEMAS</a:t>
            </a:r>
            <a:endParaRPr lang="en-US" sz="1640" dirty="0"/>
          </a:p>
        </p:txBody>
      </p:sp>
      <p:sp>
        <p:nvSpPr>
          <p:cNvPr id="26" name="Text 24"/>
          <p:cNvSpPr/>
          <p:nvPr/>
        </p:nvSpPr>
        <p:spPr>
          <a:xfrm>
            <a:off x="9282356" y="3675888"/>
            <a:ext cx="20511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7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Interconexión, software y aplicaciones</a:t>
            </a:r>
            <a:endParaRPr lang="en-US" sz="1570" dirty="0"/>
          </a:p>
        </p:txBody>
      </p:sp>
      <p:sp>
        <p:nvSpPr>
          <p:cNvPr id="27" name="Text 25"/>
          <p:cNvSpPr/>
          <p:nvPr/>
        </p:nvSpPr>
        <p:spPr>
          <a:xfrm>
            <a:off x="722376" y="5696712"/>
            <a:ext cx="108722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Esquema simplificado: DRAM y NAND son familias de memoria que recorren estas especializaciones.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ECOSISTEMA DE PROVEEDORES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fábrica inteligente es una red, no un edificio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Componentes, integradores y clientes sostienen el aprendizaje productivo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6384" y="2368296"/>
            <a:ext cx="10579608" cy="57607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" y="2450592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6696" y="254203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691640" y="2505456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45152" y="2514600"/>
            <a:ext cx="5861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Percepción y medición</a:t>
            </a:r>
            <a:endParaRPr lang="en-US" sz="1560" dirty="0"/>
          </a:p>
        </p:txBody>
      </p:sp>
      <p:sp>
        <p:nvSpPr>
          <p:cNvPr id="17" name="Shape 15"/>
          <p:cNvSpPr/>
          <p:nvPr/>
        </p:nvSpPr>
        <p:spPr>
          <a:xfrm>
            <a:off x="786384" y="3026664"/>
            <a:ext cx="10579608" cy="57607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976" y="3108960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696" y="320040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691640" y="3163824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45152" y="3172968"/>
            <a:ext cx="5861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Actuadores y precisión</a:t>
            </a:r>
            <a:endParaRPr lang="en-US" sz="1560" dirty="0"/>
          </a:p>
        </p:txBody>
      </p:sp>
      <p:sp>
        <p:nvSpPr>
          <p:cNvPr id="22" name="Shape 20"/>
          <p:cNvSpPr/>
          <p:nvPr/>
        </p:nvSpPr>
        <p:spPr>
          <a:xfrm>
            <a:off x="786384" y="3685032"/>
            <a:ext cx="10579608" cy="57607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50976" y="3767328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6696" y="385876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691640" y="3822192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45152" y="3831336"/>
            <a:ext cx="5861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Control, MES y datos</a:t>
            </a:r>
            <a:endParaRPr lang="en-US" sz="1560" dirty="0"/>
          </a:p>
        </p:txBody>
      </p:sp>
      <p:sp>
        <p:nvSpPr>
          <p:cNvPr id="27" name="Shape 25"/>
          <p:cNvSpPr/>
          <p:nvPr/>
        </p:nvSpPr>
        <p:spPr>
          <a:xfrm>
            <a:off x="786384" y="4343400"/>
            <a:ext cx="10579608" cy="57607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0976" y="4425696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6696" y="451713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1691640" y="4480560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PROVEEDORES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45152" y="4489704"/>
            <a:ext cx="5861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Integración, calidad y mantenimiento</a:t>
            </a:r>
            <a:endParaRPr lang="en-US" sz="1560" dirty="0"/>
          </a:p>
        </p:txBody>
      </p:sp>
      <p:sp>
        <p:nvSpPr>
          <p:cNvPr id="32" name="Shape 30"/>
          <p:cNvSpPr/>
          <p:nvPr/>
        </p:nvSpPr>
        <p:spPr>
          <a:xfrm>
            <a:off x="786384" y="5001768"/>
            <a:ext cx="10579608" cy="57607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0976" y="5084064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6696" y="517550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1691640" y="513892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645152" y="5148072"/>
            <a:ext cx="5861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Demanda, pruebas y retroalimentación</a:t>
            </a:r>
            <a:endParaRPr lang="en-US" sz="15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TRANSFORMACIÓN FABRIL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Tres dimensiones de una fábrica inteligente</a:t>
            </a:r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Digitalizar no es lo mismo que automatizar ni que aprender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2587752"/>
            <a:ext cx="3416027" cy="267004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2535" y="2889504"/>
            <a:ext cx="301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600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846765" y="3813048"/>
            <a:ext cx="310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DIGITALIZACIÓN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7247" y="4517136"/>
            <a:ext cx="29063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procesos y datos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7986" y="2587752"/>
            <a:ext cx="3416027" cy="267004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721" y="2889504"/>
            <a:ext cx="301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600" dirty="0">
                <a:solidFill>
                  <a:srgbClr val="6FD5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548951" y="3813048"/>
            <a:ext cx="310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29433" y="4517136"/>
            <a:ext cx="29063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Ejecutar tareas y controlar procesos</a:t>
            </a:r>
          </a:p>
        </p:txBody>
      </p:sp>
      <p:sp>
        <p:nvSpPr>
          <p:cNvPr id="20" name="Shape 18"/>
          <p:cNvSpPr/>
          <p:nvPr/>
        </p:nvSpPr>
        <p:spPr>
          <a:xfrm>
            <a:off x="8090173" y="2587752"/>
            <a:ext cx="3416027" cy="267004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6907" y="2889504"/>
            <a:ext cx="301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600" dirty="0">
                <a:solidFill>
                  <a:srgbClr val="80D4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8251138" y="3813048"/>
            <a:ext cx="310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INTELIGENCIA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1620" y="4517136"/>
            <a:ext cx="29063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modelos para adaptar decisiones</a:t>
            </a:r>
          </a:p>
        </p:txBody>
      </p:sp>
      <p:sp>
        <p:nvSpPr>
          <p:cNvPr id="24" name="Text 22"/>
          <p:cNvSpPr/>
          <p:nvPr/>
        </p:nvSpPr>
        <p:spPr>
          <a:xfrm>
            <a:off x="740664" y="5824728"/>
            <a:ext cx="10808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medir calidad, ciclo y costos, la etiqueta “smart factory” puede ser solo marketing.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INDUSTRIAL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Robótica: una ventaja de escala verificable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IFR World Robotics 2026 · instalaciones en China durante 2025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6309360"/>
            <a:ext cx="108539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FUENTE: IFR 2026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795528" y="2523744"/>
            <a:ext cx="5175504" cy="241401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834640"/>
            <a:ext cx="45994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354.000</a:t>
            </a:r>
          </a:p>
        </p:txBody>
      </p:sp>
      <p:sp>
        <p:nvSpPr>
          <p:cNvPr id="15" name="Text 13"/>
          <p:cNvSpPr/>
          <p:nvPr/>
        </p:nvSpPr>
        <p:spPr>
          <a:xfrm>
            <a:off x="1033272" y="3941064"/>
            <a:ext cx="47091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robots industriales instalados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China en 2025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81344" y="2523744"/>
            <a:ext cx="5175504" cy="241401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2834640"/>
            <a:ext cx="471830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6FD5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59 %</a:t>
            </a:r>
            <a:endParaRPr lang="en-US" sz="5300" dirty="0"/>
          </a:p>
        </p:txBody>
      </p:sp>
      <p:sp>
        <p:nvSpPr>
          <p:cNvPr id="18" name="Text 16"/>
          <p:cNvSpPr/>
          <p:nvPr/>
        </p:nvSpPr>
        <p:spPr>
          <a:xfrm>
            <a:off x="6419088" y="3941064"/>
            <a:ext cx="472744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participación en las instalaciones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mundiales de robots industriales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49808" y="5504688"/>
            <a:ext cx="10872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son cifras de robots humanoides ni de productividad por trabajador.</a:t>
            </a:r>
            <a:endParaRPr lang="en-US" sz="1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ustración conceptual generada con IA. No es una fotografía de una institución o instalación re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104888" cy="6858000"/>
          </a:xfrm>
          <a:prstGeom prst="rect">
            <a:avLst/>
          </a:prstGeom>
          <a:solidFill>
            <a:srgbClr val="051221">
              <a:alpha val="78000"/>
            </a:srgbClr>
          </a:solidFill>
          <a:ln w="12700">
            <a:solidFill>
              <a:srgbClr val="051221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03504" y="329184"/>
            <a:ext cx="8183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90" b="1" spc="16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TECNOLÓGICA  ·  LOGÍSTICA Y TERRITORIO</a:t>
            </a:r>
            <a:endParaRPr lang="en-US" sz="1090" dirty="0"/>
          </a:p>
        </p:txBody>
      </p:sp>
      <p:sp>
        <p:nvSpPr>
          <p:cNvPr id="5" name="Text 2"/>
          <p:cNvSpPr/>
          <p:nvPr/>
        </p:nvSpPr>
        <p:spPr>
          <a:xfrm>
            <a:off x="11064240" y="35661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94944" y="1152144"/>
            <a:ext cx="74980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90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Puertos, ferrocarriles</a:t>
            </a:r>
            <a:endParaRPr lang="en-US" sz="3900" dirty="0"/>
          </a:p>
          <a:p>
            <a:pPr algn="l" indent="0" marL="0">
              <a:buNone/>
            </a:pPr>
            <a:r>
              <a:rPr lang="en-US" sz="390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corredores productivos</a:t>
            </a:r>
            <a:endParaRPr lang="en-US" sz="3900" dirty="0"/>
          </a:p>
        </p:txBody>
      </p:sp>
      <p:sp>
        <p:nvSpPr>
          <p:cNvPr id="7" name="Shape 4"/>
          <p:cNvSpPr/>
          <p:nvPr/>
        </p:nvSpPr>
        <p:spPr>
          <a:xfrm>
            <a:off x="731520" y="2999232"/>
            <a:ext cx="4425696" cy="0"/>
          </a:xfrm>
          <a:prstGeom prst="line">
            <a:avLst/>
          </a:prstGeom>
          <a:noFill/>
          <a:ln w="33020">
            <a:solidFill>
              <a:srgbClr val="E25E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3410712"/>
            <a:ext cx="630936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infraestructura puede reducir tiempos de transporte, conectar proveedores y facilitar la coordinación productiva.</a:t>
            </a:r>
          </a:p>
        </p:txBody>
      </p:sp>
      <p:sp>
        <p:nvSpPr>
          <p:cNvPr id="9" name="Text 6"/>
          <p:cNvSpPr/>
          <p:nvPr/>
        </p:nvSpPr>
        <p:spPr>
          <a:xfrm>
            <a:off x="731520" y="5596128"/>
            <a:ext cx="6519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 no equivale automáticamente a eficiencia: importan uso, costo y fiabilidad.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2" name="Text 9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1050" dirty="0"/>
          </a:p>
        </p:txBody>
      </p:sp>
      <p:sp>
        <p:nvSpPr>
          <p:cNvPr id="1014" name="AI illustration disclosure">
            <a:extLst>
              <a:ext uri="{FF2B5EF4-FFF2-40B4-BE49-F238E27FC236}">
                <a16:creationId xmlns:a16="http://schemas.microsoft.com/office/drawing/2014/main" id="{56CDBBC6-CF63-405C-9E5C-B99F1CFFEFAF}"/>
              </a:ext>
            </a:extLst>
          </p:cNvPr>
          <p:cNvSpPr>
            <a:spLocks noGrp="1"/>
          </p:cNvSpPr>
          <p:nvPr/>
        </p:nvSpPr>
        <p:spPr>
          <a:xfrm>
            <a:off x="609600" y="6105525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>
                <a:solidFill>
                  <a:srgbClr val="ADC8D2"/>
                </a:solidFill>
              </a:defRPr>
            </a:defPPr>
            <a:lvl1pPr>
              <a:defRPr sz="975">
                <a:solidFill>
                  <a:srgbClr val="ADC8D2"/>
                </a:solidFill>
              </a:defRPr>
            </a:lvl1pPr>
            <a:lvl2pPr>
              <a:defRPr sz="975">
                <a:solidFill>
                  <a:srgbClr val="ADC8D2"/>
                </a:solidFill>
              </a:defRPr>
            </a:lvl2pPr>
            <a:lvl3pPr>
              <a:defRPr sz="975">
                <a:solidFill>
                  <a:srgbClr val="ADC8D2"/>
                </a:solidFill>
              </a:defRPr>
            </a:lvl3pPr>
            <a:lvl4pPr>
              <a:defRPr sz="975">
                <a:solidFill>
                  <a:srgbClr val="ADC8D2"/>
                </a:solidFill>
              </a:defRPr>
            </a:lvl4pPr>
            <a:lvl5pPr>
              <a:defRPr sz="975">
                <a:solidFill>
                  <a:srgbClr val="ADC8D2"/>
                </a:solidFill>
              </a:defRPr>
            </a:lvl5pPr>
            <a:lvl6pPr>
              <a:defRPr sz="975">
                <a:solidFill>
                  <a:srgbClr val="ADC8D2"/>
                </a:solidFill>
              </a:defRPr>
            </a:lvl6pPr>
            <a:lvl7pPr>
              <a:defRPr sz="975">
                <a:solidFill>
                  <a:srgbClr val="ADC8D2"/>
                </a:solidFill>
              </a:defRPr>
            </a:lvl7pPr>
            <a:lvl8pPr>
              <a:defRPr sz="975">
                <a:solidFill>
                  <a:srgbClr val="ADC8D2"/>
                </a:solidFill>
              </a:defRPr>
            </a:lvl8pPr>
            <a:lvl9pPr>
              <a:defRPr sz="975">
                <a:solidFill>
                  <a:srgbClr val="ADC8D2"/>
                </a:solidFill>
              </a:defRPr>
            </a:lvl9pPr>
          </a:lstStyle>
          <a:p>
            <a:pPr>
              <a:defRPr sz="975">
                <a:solidFill>
                  <a:srgbClr val="ADC8D2"/>
                </a:solidFill>
              </a:defRPr>
            </a:pPr>
            <a:r>
              <a:rPr sz="975">
                <a:solidFill>
                  <a:srgbClr val="ADC8D2"/>
                </a:solidFill>
              </a:rPr>
              <a:t>Ilustración conceptual generada con 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TERRITORIO INDUSTRIAL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Clústeres y coordinación productiva</a:t>
            </a:r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existe una sola “fábrica china”: hay especializaciones regionales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" y="2523744"/>
            <a:ext cx="5431536" cy="133502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2761488"/>
            <a:ext cx="52121" cy="35661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2706624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BEIJING</a:t>
            </a:r>
            <a:endParaRPr lang="en-US" sz="1820" dirty="0"/>
          </a:p>
        </p:txBody>
      </p:sp>
      <p:sp>
        <p:nvSpPr>
          <p:cNvPr id="15" name="Text 13"/>
          <p:cNvSpPr/>
          <p:nvPr/>
        </p:nvSpPr>
        <p:spPr>
          <a:xfrm>
            <a:off x="1014984" y="3227832"/>
            <a:ext cx="4910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Instituciones y laboratorios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73368" y="2523744"/>
            <a:ext cx="5431536" cy="133502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37960" y="2761488"/>
            <a:ext cx="52121" cy="356616"/>
          </a:xfrm>
          <a:prstGeom prst="rect">
            <a:avLst/>
          </a:prstGeom>
          <a:solidFill>
            <a:srgbClr val="6FD5D2"/>
          </a:solidFill>
          <a:ln w="12700">
            <a:solidFill>
              <a:srgbClr val="6FD5D2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84264" y="2706624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DELTA DEL YANGTSÉ</a:t>
            </a:r>
            <a:endParaRPr lang="en-US" sz="1820" dirty="0"/>
          </a:p>
        </p:txBody>
      </p:sp>
      <p:sp>
        <p:nvSpPr>
          <p:cNvPr id="19" name="Text 17"/>
          <p:cNvSpPr/>
          <p:nvPr/>
        </p:nvSpPr>
        <p:spPr>
          <a:xfrm>
            <a:off x="6675120" y="3227832"/>
            <a:ext cx="4910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Manufactura avanzada, chips y finanzas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13232" y="4041648"/>
            <a:ext cx="5431536" cy="133502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4279392"/>
            <a:ext cx="52121" cy="356616"/>
          </a:xfrm>
          <a:prstGeom prst="rect">
            <a:avLst/>
          </a:prstGeom>
          <a:solidFill>
            <a:srgbClr val="80D4AF"/>
          </a:solidFill>
          <a:ln w="12700">
            <a:solidFill>
              <a:srgbClr val="80D4A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4224528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80D4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 BAHÍA</a:t>
            </a:r>
            <a:endParaRPr lang="en-US" sz="1820" dirty="0"/>
          </a:p>
        </p:txBody>
      </p:sp>
      <p:sp>
        <p:nvSpPr>
          <p:cNvPr id="23" name="Text 21"/>
          <p:cNvSpPr/>
          <p:nvPr/>
        </p:nvSpPr>
        <p:spPr>
          <a:xfrm>
            <a:off x="1014984" y="4745736"/>
            <a:ext cx="4910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Electrónica, hardware y exportación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373368" y="4041648"/>
            <a:ext cx="5431536" cy="133502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37960" y="4279392"/>
            <a:ext cx="52121" cy="356616"/>
          </a:xfrm>
          <a:prstGeom prst="rect">
            <a:avLst/>
          </a:prstGeom>
          <a:solidFill>
            <a:srgbClr val="E25E55"/>
          </a:solidFill>
          <a:ln w="12700">
            <a:solidFill>
              <a:srgbClr val="E25E55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84264" y="4224528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E25E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HANGZHOU / HEFEI</a:t>
            </a:r>
            <a:endParaRPr lang="en-US" sz="1820" dirty="0"/>
          </a:p>
        </p:txBody>
      </p:sp>
      <p:sp>
        <p:nvSpPr>
          <p:cNvPr id="27" name="Text 25"/>
          <p:cNvSpPr/>
          <p:nvPr/>
        </p:nvSpPr>
        <p:spPr>
          <a:xfrm>
            <a:off x="6675120" y="4745736"/>
            <a:ext cx="4910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Hangzhou: plataformas; Hefei: chips y vehículos</a:t>
            </a:r>
          </a:p>
        </p:txBody>
      </p:sp>
      <p:sp>
        <p:nvSpPr>
          <p:cNvPr id="28" name="Text 26"/>
          <p:cNvSpPr/>
          <p:nvPr/>
        </p:nvSpPr>
        <p:spPr>
          <a:xfrm>
            <a:off x="758952" y="5797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6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 ejemplos ilustrativos de especialización; no fronteras tecnológicas exclusivas.</a:t>
            </a:r>
            <a:endParaRPr lang="en-US" sz="16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DE ESCALA PRODUCTIVA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Vehículos eléctricos: cadena industrial y capacidad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IEA Global EV Outlook 2026 · producción durante 2025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6309360"/>
            <a:ext cx="108539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FUENTE: IEA 2026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41248" y="2596896"/>
            <a:ext cx="5157216" cy="244144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07792"/>
            <a:ext cx="47731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millones</a:t>
            </a:r>
            <a:endParaRPr lang="en-US" sz="4100" dirty="0"/>
          </a:p>
        </p:txBody>
      </p:sp>
      <p:sp>
        <p:nvSpPr>
          <p:cNvPr id="15" name="Text 13"/>
          <p:cNvSpPr/>
          <p:nvPr/>
        </p:nvSpPr>
        <p:spPr>
          <a:xfrm>
            <a:off x="1097280" y="3995928"/>
            <a:ext cx="46268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autos eléctricos BEV y PHEV</a:t>
            </a:r>
            <a:br/>
            <a:r>
              <a:rPr lang="en-US" sz="16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producidos en China en 2025</a:t>
            </a:r>
          </a:p>
        </p:txBody>
      </p:sp>
      <p:sp>
        <p:nvSpPr>
          <p:cNvPr id="16" name="Shape 14"/>
          <p:cNvSpPr/>
          <p:nvPr/>
        </p:nvSpPr>
        <p:spPr>
          <a:xfrm>
            <a:off x="6208776" y="2596896"/>
            <a:ext cx="5148072" cy="2441448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2907792"/>
            <a:ext cx="454456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50" b="1" dirty="0">
                <a:solidFill>
                  <a:srgbClr val="6FD5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75 %</a:t>
            </a:r>
            <a:endParaRPr lang="en-US" sz="4450" dirty="0"/>
          </a:p>
        </p:txBody>
      </p:sp>
      <p:sp>
        <p:nvSpPr>
          <p:cNvPr id="18" name="Text 16"/>
          <p:cNvSpPr/>
          <p:nvPr/>
        </p:nvSpPr>
        <p:spPr>
          <a:xfrm>
            <a:off x="6501384" y="3959352"/>
            <a:ext cx="4553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1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participación aproximada en la</a:t>
            </a:r>
            <a:endParaRPr lang="en-US" sz="1610" dirty="0"/>
          </a:p>
          <a:p>
            <a:pPr algn="ctr" indent="0" marL="0">
              <a:buNone/>
            </a:pPr>
            <a:r>
              <a:rPr lang="en-US" sz="161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producción mundial de autos eléctricos</a:t>
            </a:r>
            <a:endParaRPr lang="en-US" sz="1610" dirty="0"/>
          </a:p>
        </p:txBody>
      </p:sp>
      <p:sp>
        <p:nvSpPr>
          <p:cNvPr id="19" name="Text 17"/>
          <p:cNvSpPr/>
          <p:nvPr/>
        </p:nvSpPr>
        <p:spPr>
          <a:xfrm>
            <a:off x="768096" y="5577840"/>
            <a:ext cx="108539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9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Volumen no equivale a rentabilidad; importa la capacidad usada y la presión competitiva.</a:t>
            </a:r>
            <a:endParaRPr lang="en-US" sz="169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CICLO DE APRENDIZAJE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Cuando la infraestructura produce datos útiles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data flywheel requiere calidad, trazabilidad y mejora demostrable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600" y="2761488"/>
            <a:ext cx="2514600" cy="195681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9219" y="3136392"/>
            <a:ext cx="22467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OPERACIÓN</a:t>
            </a:r>
            <a:endParaRPr lang="en-US" sz="1620" dirty="0"/>
          </a:p>
        </p:txBody>
      </p:sp>
      <p:sp>
        <p:nvSpPr>
          <p:cNvPr id="14" name="Text 12"/>
          <p:cNvSpPr/>
          <p:nvPr/>
        </p:nvSpPr>
        <p:spPr>
          <a:xfrm>
            <a:off x="842913" y="3657600"/>
            <a:ext cx="20393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4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Máquinas, decisiones, sensores</a:t>
            </a:r>
            <a:endParaRPr lang="en-US" sz="1540" dirty="0"/>
          </a:p>
        </p:txBody>
      </p:sp>
      <p:sp>
        <p:nvSpPr>
          <p:cNvPr id="15" name="Text 13"/>
          <p:cNvSpPr/>
          <p:nvPr/>
        </p:nvSpPr>
        <p:spPr>
          <a:xfrm>
            <a:off x="3124200" y="3483864"/>
            <a:ext cx="30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3429000" y="2761488"/>
            <a:ext cx="2514600" cy="195681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58619" y="3136392"/>
            <a:ext cx="22467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</a:t>
            </a:r>
            <a:endParaRPr lang="en-US" sz="1620" dirty="0"/>
          </a:p>
        </p:txBody>
      </p:sp>
      <p:sp>
        <p:nvSpPr>
          <p:cNvPr id="18" name="Text 16"/>
          <p:cNvSpPr/>
          <p:nvPr/>
        </p:nvSpPr>
        <p:spPr>
          <a:xfrm>
            <a:off x="3662313" y="3657600"/>
            <a:ext cx="20393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4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Errores, condiciones, resultados</a:t>
            </a:r>
            <a:endParaRPr lang="en-US" sz="1540" dirty="0"/>
          </a:p>
        </p:txBody>
      </p:sp>
      <p:sp>
        <p:nvSpPr>
          <p:cNvPr id="19" name="Text 17"/>
          <p:cNvSpPr/>
          <p:nvPr/>
        </p:nvSpPr>
        <p:spPr>
          <a:xfrm>
            <a:off x="5943600" y="3483864"/>
            <a:ext cx="30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248400" y="2761488"/>
            <a:ext cx="2514600" cy="195681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8019" y="3136392"/>
            <a:ext cx="22467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</a:t>
            </a:r>
            <a:endParaRPr lang="en-US" sz="1620" dirty="0"/>
          </a:p>
        </p:txBody>
      </p:sp>
      <p:sp>
        <p:nvSpPr>
          <p:cNvPr id="22" name="Text 20"/>
          <p:cNvSpPr/>
          <p:nvPr/>
        </p:nvSpPr>
        <p:spPr>
          <a:xfrm>
            <a:off x="6481713" y="3657600"/>
            <a:ext cx="20393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4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Entrenamiento y evaluación</a:t>
            </a:r>
            <a:endParaRPr lang="en-US" sz="1540" dirty="0"/>
          </a:p>
        </p:txBody>
      </p:sp>
      <p:sp>
        <p:nvSpPr>
          <p:cNvPr id="23" name="Text 21"/>
          <p:cNvSpPr/>
          <p:nvPr/>
        </p:nvSpPr>
        <p:spPr>
          <a:xfrm>
            <a:off x="8763000" y="3483864"/>
            <a:ext cx="30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067800" y="2761488"/>
            <a:ext cx="2514600" cy="195681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97419" y="3136392"/>
            <a:ext cx="22467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MEJORA</a:t>
            </a:r>
            <a:endParaRPr lang="en-US" sz="1620" dirty="0"/>
          </a:p>
        </p:txBody>
      </p:sp>
      <p:sp>
        <p:nvSpPr>
          <p:cNvPr id="26" name="Text 24"/>
          <p:cNvSpPr/>
          <p:nvPr/>
        </p:nvSpPr>
        <p:spPr>
          <a:xfrm>
            <a:off x="9301113" y="3657600"/>
            <a:ext cx="20393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4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Cambios en costo, calidad y seguridad</a:t>
            </a:r>
            <a:endParaRPr lang="en-US" sz="1540" dirty="0"/>
          </a:p>
        </p:txBody>
      </p:sp>
      <p:sp>
        <p:nvSpPr>
          <p:cNvPr id="27" name="Text 25"/>
          <p:cNvSpPr/>
          <p:nvPr/>
        </p:nvSpPr>
        <p:spPr>
          <a:xfrm>
            <a:off x="722376" y="5632704"/>
            <a:ext cx="108447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8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retroalimentación no es automática: se debe medir la mejora y gestionar riesgos.</a:t>
            </a:r>
            <a:endParaRPr lang="en-US" sz="1680" dirty="0"/>
          </a:p>
        </p:txBody>
      </p:sp>
      <p:cxnSp>
        <p:nvCxnSpPr>
          <p:cNvPr id="1028" name="Native feedback right">
            <a:extLst>
              <a:ext uri="{FF2B5EF4-FFF2-40B4-BE49-F238E27FC236}">
                <a16:creationId xmlns:a16="http://schemas.microsoft.com/office/drawing/2014/main" id="{4145D6EF-2D0C-4B67-A29B-A190851AD274}"/>
              </a:ext>
            </a:extLst>
          </p:cNvPr>
          <p:cNvCxnSpPr/>
          <p:nvPr/>
        </p:nvCxnSpPr>
        <p:spPr>
          <a:xfrm>
            <a:off x="10325100" y="4718304"/>
            <a:ext cx="0" cy="520446"/>
          </a:xfrm>
          <a:prstGeom prst="straightConnector1">
            <a:avLst/>
          </a:prstGeom>
          <a:ln w="19050">
            <a:solidFill>
              <a:srgbClr val="F6C567"/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1029" name="Native feedback bottom">
            <a:extLst>
              <a:ext uri="{FF2B5EF4-FFF2-40B4-BE49-F238E27FC236}">
                <a16:creationId xmlns:a16="http://schemas.microsoft.com/office/drawing/2014/main" id="{EF0B6F88-880F-41F9-AB39-AC258DBA3CE0}"/>
              </a:ext>
            </a:extLst>
          </p:cNvPr>
          <p:cNvCxnSpPr/>
          <p:nvPr/>
        </p:nvCxnSpPr>
        <p:spPr>
          <a:xfrm>
            <a:off x="1866900" y="5238750"/>
            <a:ext cx="8458200" cy="0"/>
          </a:xfrm>
          <a:prstGeom prst="straightConnector1">
            <a:avLst/>
          </a:prstGeom>
          <a:ln w="19050">
            <a:solidFill>
              <a:srgbClr val="F6C567"/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1030" name="Native feedback left">
            <a:extLst>
              <a:ext uri="{FF2B5EF4-FFF2-40B4-BE49-F238E27FC236}">
                <a16:creationId xmlns:a16="http://schemas.microsoft.com/office/drawing/2014/main" id="{7B35E96C-493B-4293-8E8A-E5A3CE46420C}"/>
              </a:ext>
            </a:extLst>
          </p:cNvPr>
          <p:cNvCxnSpPr/>
          <p:nvPr/>
        </p:nvCxnSpPr>
        <p:spPr>
          <a:xfrm>
            <a:off x="1866900" y="4718304"/>
            <a:ext cx="0" cy="520446"/>
          </a:xfrm>
          <a:prstGeom prst="straightConnector1">
            <a:avLst/>
          </a:prstGeom>
          <a:ln w="19050">
            <a:solidFill>
              <a:srgbClr val="F6C567"/>
            </a:solidFill>
            <a:prstDash val="solid"/>
            <a:headEnd type="triangl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EVALUACIÓN DE INVERSIONES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medir antes de decir “éxito”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instalada, usada y productiva son cosas distintas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 MATERIAL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" y="2432304"/>
            <a:ext cx="5431536" cy="138074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2670048"/>
            <a:ext cx="52121" cy="35661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2615184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CAPACIDAD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14984" y="3136392"/>
            <a:ext cx="4910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MW, obleas/mes, equipos y m² útiles</a:t>
            </a:r>
          </a:p>
        </p:txBody>
      </p:sp>
      <p:sp>
        <p:nvSpPr>
          <p:cNvPr id="16" name="Shape 14"/>
          <p:cNvSpPr/>
          <p:nvPr/>
        </p:nvSpPr>
        <p:spPr>
          <a:xfrm>
            <a:off x="6373368" y="2432304"/>
            <a:ext cx="5431536" cy="138074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37960" y="2670048"/>
            <a:ext cx="52121" cy="356616"/>
          </a:xfrm>
          <a:prstGeom prst="rect">
            <a:avLst/>
          </a:prstGeom>
          <a:solidFill>
            <a:srgbClr val="6FD5D2"/>
          </a:solidFill>
          <a:ln w="12700">
            <a:solidFill>
              <a:srgbClr val="6FD5D2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84264" y="2615184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UTILIZACIÓN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75120" y="3136392"/>
            <a:ext cx="4910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Horas efectivas y carga operativa</a:t>
            </a:r>
            <a:endParaRPr lang="en-US" sz="1620" dirty="0"/>
          </a:p>
        </p:txBody>
      </p:sp>
      <p:sp>
        <p:nvSpPr>
          <p:cNvPr id="20" name="Shape 18"/>
          <p:cNvSpPr/>
          <p:nvPr/>
        </p:nvSpPr>
        <p:spPr>
          <a:xfrm>
            <a:off x="713232" y="4059936"/>
            <a:ext cx="5431536" cy="138074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4297680"/>
            <a:ext cx="52121" cy="356616"/>
          </a:xfrm>
          <a:prstGeom prst="rect">
            <a:avLst/>
          </a:prstGeom>
          <a:solidFill>
            <a:srgbClr val="80D4AF"/>
          </a:solidFill>
          <a:ln w="12700">
            <a:solidFill>
              <a:srgbClr val="80D4A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4242816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80D4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RESULTADOS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014984" y="4764024"/>
            <a:ext cx="4910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Calidad, costos, productividad y seguridad</a:t>
            </a:r>
            <a:endParaRPr lang="en-US" sz="1620" dirty="0"/>
          </a:p>
        </p:txBody>
      </p:sp>
      <p:sp>
        <p:nvSpPr>
          <p:cNvPr id="24" name="Shape 22"/>
          <p:cNvSpPr/>
          <p:nvPr/>
        </p:nvSpPr>
        <p:spPr>
          <a:xfrm>
            <a:off x="6373368" y="4059936"/>
            <a:ext cx="5431536" cy="1380744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37960" y="4297680"/>
            <a:ext cx="52121" cy="356616"/>
          </a:xfrm>
          <a:prstGeom prst="rect">
            <a:avLst/>
          </a:prstGeom>
          <a:solidFill>
            <a:srgbClr val="E25E55"/>
          </a:solidFill>
          <a:ln w="12700">
            <a:solidFill>
              <a:srgbClr val="E25E55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84264" y="4242816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25E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EXTERNALIDADES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675120" y="4764024"/>
            <a:ext cx="4910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Energía, emisiones y efectos territoriales</a:t>
            </a:r>
            <a:endParaRPr lang="en-US" sz="1620" dirty="0"/>
          </a:p>
        </p:txBody>
      </p:sp>
      <p:sp>
        <p:nvSpPr>
          <p:cNvPr id="28" name="Text 26"/>
          <p:cNvSpPr/>
          <p:nvPr/>
        </p:nvSpPr>
        <p:spPr>
          <a:xfrm>
            <a:off x="749808" y="5833872"/>
            <a:ext cx="108722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8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infraestructura puede aumentar capacidad sin aumentar proporcionalmente productividad.</a:t>
            </a:r>
            <a:endParaRPr lang="en-US" sz="16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FORTALEZAS Y TENSIONES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escala china ofrece ventajas y riesgos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ecosistema no es homogéneo ni está libre de cuellos de botella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2376" y="2496312"/>
            <a:ext cx="5385816" cy="2907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6968" y="2734056"/>
            <a:ext cx="52121" cy="356616"/>
          </a:xfrm>
          <a:prstGeom prst="rect">
            <a:avLst/>
          </a:prstGeom>
          <a:solidFill>
            <a:srgbClr val="80D4AF"/>
          </a:solidFill>
          <a:ln w="12700">
            <a:solidFill>
              <a:srgbClr val="80D4A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3272" y="2679192"/>
            <a:ext cx="4855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80D4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FORTALEZAS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24128" y="3200400"/>
            <a:ext cx="4864608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Redes industriales densas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Formación e investigación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Capacidad de producción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Diversidad territorial y empresarial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236208" y="2496312"/>
            <a:ext cx="5257800" cy="2907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734056"/>
            <a:ext cx="52121" cy="356616"/>
          </a:xfrm>
          <a:prstGeom prst="rect">
            <a:avLst/>
          </a:prstGeom>
          <a:solidFill>
            <a:srgbClr val="E25E55"/>
          </a:solidFill>
          <a:ln w="12700">
            <a:solidFill>
              <a:srgbClr val="E25E5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47104" y="2679192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25E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TENSIONES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537960" y="3200400"/>
            <a:ext cx="473659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Restricciones en chips y equipos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Sobrecapacidad en segmentos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Demanda de energía y recursos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Desigualdades y deuda local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77240" y="5879592"/>
            <a:ext cx="10725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pregunta no es cuántos recursos tiene China, sino cómo se convierten en resultados.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SÍNTESIS VISUAL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capital humano conecta a los tres pilares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Conocimiento, organizaciones e infraestructura se retroalimentan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2478024"/>
            <a:ext cx="3352800" cy="13075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445" y="2779776"/>
            <a:ext cx="30975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DRAGÓN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38974" y="3273552"/>
            <a:ext cx="306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Estado: orienta</a:t>
            </a:r>
            <a:endParaRPr lang="en-US" sz="1380" dirty="0"/>
          </a:p>
        </p:txBody>
      </p:sp>
      <p:sp>
        <p:nvSpPr>
          <p:cNvPr id="15" name="Shape 13"/>
          <p:cNvSpPr/>
          <p:nvPr/>
        </p:nvSpPr>
        <p:spPr>
          <a:xfrm>
            <a:off x="4419600" y="2478024"/>
            <a:ext cx="3352800" cy="13075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7245" y="2779776"/>
            <a:ext cx="30975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ANDROIDE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774" y="3273552"/>
            <a:ext cx="306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Empresas: innovan</a:t>
            </a:r>
            <a:endParaRPr lang="en-US" sz="1380" dirty="0"/>
          </a:p>
        </p:txBody>
      </p:sp>
      <p:sp>
        <p:nvSpPr>
          <p:cNvPr id="18" name="Shape 16"/>
          <p:cNvSpPr/>
          <p:nvPr/>
        </p:nvSpPr>
        <p:spPr>
          <a:xfrm>
            <a:off x="8153400" y="2478024"/>
            <a:ext cx="3352800" cy="13075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80D4A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81045" y="2779776"/>
            <a:ext cx="30975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D4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INFRAESTRUCTURA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06574" y="3273552"/>
            <a:ext cx="306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Ecosistema: permite escalar</a:t>
            </a:r>
            <a:endParaRPr lang="en-US" sz="1380" dirty="0"/>
          </a:p>
        </p:txBody>
      </p:sp>
      <p:sp>
        <p:nvSpPr>
          <p:cNvPr id="23" name="Shape 21"/>
          <p:cNvSpPr/>
          <p:nvPr/>
        </p:nvSpPr>
        <p:spPr>
          <a:xfrm>
            <a:off x="2935224" y="4489704"/>
            <a:ext cx="6327648" cy="905256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E25E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72968" y="4672584"/>
            <a:ext cx="58704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4C7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人才 + 大学 + 科研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246120" y="5047488"/>
            <a:ext cx="5742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3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Talento, universidades y ciencia</a:t>
            </a:r>
            <a:endParaRPr lang="en-US" sz="1430" dirty="0"/>
          </a:p>
        </p:txBody>
      </p:sp>
      <p:sp>
        <p:nvSpPr>
          <p:cNvPr id="26" name="Text 24"/>
          <p:cNvSpPr/>
          <p:nvPr/>
        </p:nvSpPr>
        <p:spPr>
          <a:xfrm>
            <a:off x="832104" y="5934456"/>
            <a:ext cx="104973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4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símbolos organizan la explicación; no agotan las relaciones causales.</a:t>
            </a:r>
            <a:endParaRPr lang="en-US" sz="1540" dirty="0"/>
          </a:p>
        </p:txBody>
      </p:sp>
      <p:cxnSp>
        <p:nvCxnSpPr>
          <p:cNvPr id="1025" name="Native pillar connection bus">
            <a:extLst>
              <a:ext uri="{FF2B5EF4-FFF2-40B4-BE49-F238E27FC236}">
                <a16:creationId xmlns:a16="http://schemas.microsoft.com/office/drawing/2014/main" id="{C97EF031-DE2F-4586-B9F8-1855782CA006}"/>
              </a:ext>
            </a:extLst>
          </p:cNvPr>
          <p:cNvCxnSpPr/>
          <p:nvPr/>
        </p:nvCxnSpPr>
        <p:spPr>
          <a:xfrm>
            <a:off x="2362200" y="4143375"/>
            <a:ext cx="7467600" cy="0"/>
          </a:xfrm>
          <a:prstGeom prst="straightConnector1">
            <a:avLst/>
          </a:prstGeom>
          <a:ln w="19050">
            <a:solidFill>
              <a:srgbClr val="F6C567"/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1026" name="Native pillar stem 248">
            <a:extLst>
              <a:ext uri="{FF2B5EF4-FFF2-40B4-BE49-F238E27FC236}">
                <a16:creationId xmlns:a16="http://schemas.microsoft.com/office/drawing/2014/main" id="{112D7048-AD86-47D8-9047-F6078D7308EC}"/>
              </a:ext>
            </a:extLst>
          </p:cNvPr>
          <p:cNvCxnSpPr/>
          <p:nvPr/>
        </p:nvCxnSpPr>
        <p:spPr>
          <a:xfrm>
            <a:off x="2362200" y="3785616"/>
            <a:ext cx="0" cy="357759"/>
          </a:xfrm>
          <a:prstGeom prst="straightConnector1">
            <a:avLst/>
          </a:prstGeom>
          <a:ln w="19050">
            <a:solidFill>
              <a:srgbClr val="F6C567"/>
            </a:solidFill>
            <a:prstDash val="solid"/>
            <a:headEnd type="triangle" w="med" len="med"/>
            <a:tailEnd type="none" w="med" len="med"/>
          </a:ln>
        </p:spPr>
      </p:cxnSp>
      <p:cxnSp>
        <p:nvCxnSpPr>
          <p:cNvPr id="1027" name="Native pillar stem 640">
            <a:extLst>
              <a:ext uri="{FF2B5EF4-FFF2-40B4-BE49-F238E27FC236}">
                <a16:creationId xmlns:a16="http://schemas.microsoft.com/office/drawing/2014/main" id="{26A12FDD-5677-45C3-A89E-701DE4F9D06E}"/>
              </a:ext>
            </a:extLst>
          </p:cNvPr>
          <p:cNvCxnSpPr/>
          <p:nvPr/>
        </p:nvCxnSpPr>
        <p:spPr>
          <a:xfrm>
            <a:off x="6096000" y="3785616"/>
            <a:ext cx="0" cy="357759"/>
          </a:xfrm>
          <a:prstGeom prst="straightConnector1">
            <a:avLst/>
          </a:prstGeom>
          <a:ln w="19050">
            <a:solidFill>
              <a:srgbClr val="F6C567"/>
            </a:solidFill>
            <a:prstDash val="solid"/>
            <a:headEnd type="triangle" w="med" len="med"/>
            <a:tailEnd type="none" w="med" len="med"/>
          </a:ln>
        </p:spPr>
      </p:cxnSp>
      <p:cxnSp>
        <p:nvCxnSpPr>
          <p:cNvPr id="1028" name="Native pillar stem 1032">
            <a:extLst>
              <a:ext uri="{FF2B5EF4-FFF2-40B4-BE49-F238E27FC236}">
                <a16:creationId xmlns:a16="http://schemas.microsoft.com/office/drawing/2014/main" id="{FC6AA457-3BB9-47AE-9CF8-7F84F20E48E1}"/>
              </a:ext>
            </a:extLst>
          </p:cNvPr>
          <p:cNvCxnSpPr/>
          <p:nvPr/>
        </p:nvCxnSpPr>
        <p:spPr>
          <a:xfrm>
            <a:off x="9829800" y="3785616"/>
            <a:ext cx="0" cy="357759"/>
          </a:xfrm>
          <a:prstGeom prst="straightConnector1">
            <a:avLst/>
          </a:prstGeom>
          <a:ln w="19050">
            <a:solidFill>
              <a:srgbClr val="F6C567"/>
            </a:solidFill>
            <a:prstDash val="solid"/>
            <a:headEnd type="triangle" w="med" len="med"/>
            <a:tailEnd type="none" w="med" len="med"/>
          </a:ln>
        </p:spPr>
      </p:cxnSp>
      <p:cxnSp>
        <p:nvCxnSpPr>
          <p:cNvPr id="1029" name="Native talent connection">
            <a:extLst>
              <a:ext uri="{FF2B5EF4-FFF2-40B4-BE49-F238E27FC236}">
                <a16:creationId xmlns:a16="http://schemas.microsoft.com/office/drawing/2014/main" id="{BAD1C209-2237-4DF1-B0AA-664ADE0825D4}"/>
              </a:ext>
            </a:extLst>
          </p:cNvPr>
          <p:cNvCxnSpPr/>
          <p:nvPr/>
        </p:nvCxnSpPr>
        <p:spPr>
          <a:xfrm>
            <a:off x="6096000" y="4143375"/>
            <a:ext cx="0" cy="346329"/>
          </a:xfrm>
          <a:prstGeom prst="straightConnector1">
            <a:avLst/>
          </a:prstGeom>
          <a:ln w="19050">
            <a:solidFill>
              <a:srgbClr val="F6C567"/>
            </a:solidFill>
            <a:prstDash val="solid"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PARA LA CLASE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Cinco preguntas para investigar China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una imagen espectacular a un argumento verificable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8096" y="2313432"/>
            <a:ext cx="10707624" cy="59436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" y="2414016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6696" y="250545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700784" y="2441448"/>
            <a:ext cx="9326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talento exige un robot humanoide que funcione ocho horas diarias?</a:t>
            </a:r>
            <a:endParaRPr lang="en-US" sz="1620" dirty="0"/>
          </a:p>
        </p:txBody>
      </p:sp>
      <p:sp>
        <p:nvSpPr>
          <p:cNvPr id="16" name="Shape 14"/>
          <p:cNvSpPr/>
          <p:nvPr/>
        </p:nvSpPr>
        <p:spPr>
          <a:xfrm>
            <a:off x="768096" y="3008376"/>
            <a:ext cx="10707624" cy="59436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0976" y="3108960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320040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700784" y="3136392"/>
            <a:ext cx="9326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distinguir papers influyentes de productos ya adoptados?</a:t>
            </a:r>
            <a:endParaRPr lang="en-US" sz="1620" dirty="0"/>
          </a:p>
        </p:txBody>
      </p:sp>
      <p:sp>
        <p:nvSpPr>
          <p:cNvPr id="20" name="Shape 18"/>
          <p:cNvSpPr/>
          <p:nvPr/>
        </p:nvSpPr>
        <p:spPr>
          <a:xfrm>
            <a:off x="768096" y="3703320"/>
            <a:ext cx="10707624" cy="59436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976" y="3803904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6696" y="389534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700784" y="3831336"/>
            <a:ext cx="9326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sucede si hay buenos modelos pero faltan chips, energía o datos?</a:t>
            </a:r>
            <a:endParaRPr lang="en-US" sz="1620" dirty="0"/>
          </a:p>
        </p:txBody>
      </p:sp>
      <p:sp>
        <p:nvSpPr>
          <p:cNvPr id="24" name="Shape 22"/>
          <p:cNvSpPr/>
          <p:nvPr/>
        </p:nvSpPr>
        <p:spPr>
          <a:xfrm>
            <a:off x="768096" y="4398264"/>
            <a:ext cx="10707624" cy="59436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976" y="4498848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6FD5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6696" y="45902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700784" y="4526280"/>
            <a:ext cx="9326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ventajas y riesgos genera concentrar proveedores en clústeres?</a:t>
            </a:r>
            <a:endParaRPr lang="en-US" sz="1620" dirty="0"/>
          </a:p>
        </p:txBody>
      </p:sp>
      <p:sp>
        <p:nvSpPr>
          <p:cNvPr id="28" name="Shape 26"/>
          <p:cNvSpPr/>
          <p:nvPr/>
        </p:nvSpPr>
        <p:spPr>
          <a:xfrm>
            <a:off x="768096" y="5093208"/>
            <a:ext cx="10707624" cy="594360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0976" y="5193792"/>
            <a:ext cx="475488" cy="475488"/>
          </a:xfrm>
          <a:prstGeom prst="ellipse">
            <a:avLst/>
          </a:prstGeom>
          <a:solidFill>
            <a:srgbClr val="10283A"/>
          </a:solidFill>
          <a:ln w="8890">
            <a:solidFill>
              <a:srgbClr val="F4C7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6696" y="528523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1700784" y="5221224"/>
            <a:ext cx="9326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indicador demostraría productividad, no solo capacidad instalada?</a:t>
            </a:r>
            <a:endParaRPr lang="en-US" sz="16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BIBLIOGRAFÍA DOCUMENTADA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Investigación, talento y política industrial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Fuentes originales y comparables · Octubre de 2026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FUENTES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6656" y="2322576"/>
            <a:ext cx="10844784" cy="621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24323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STANFORD · AI Index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74336" y="2468880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Publicaciones, citas y modelos de IA</a:t>
            </a:r>
            <a:endParaRPr lang="en-US" sz="1350" dirty="0"/>
          </a:p>
        </p:txBody>
      </p:sp>
      <p:sp>
        <p:nvSpPr>
          <p:cNvPr id="15" name="Text 13">
            <a:hlinkClick r:id="rId1" tooltip=""/>
          </p:cNvPr>
          <p:cNvSpPr/>
          <p:nvPr/>
        </p:nvSpPr>
        <p:spPr>
          <a:xfrm>
            <a:off x="11100816" y="244144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6FD5D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  <a:latin typeface="DejaVu Sans"/>
              </a:rPr>
              <a:t>↗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76656" y="3017520"/>
            <a:ext cx="10844784" cy="621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127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TSINGHUA · College of AI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74336" y="3163824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Formación de investigadores y programas</a:t>
            </a:r>
            <a:endParaRPr lang="en-US" sz="1350" dirty="0"/>
          </a:p>
        </p:txBody>
      </p:sp>
      <p:sp>
        <p:nvSpPr>
          <p:cNvPr id="19" name="Text 17">
            <a:hlinkClick r:id="rId2" tooltip=""/>
          </p:cNvPr>
          <p:cNvSpPr/>
          <p:nvPr/>
        </p:nvSpPr>
        <p:spPr>
          <a:xfrm>
            <a:off x="11100816" y="313639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6FD5D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  <a:latin typeface="DejaVu Sans"/>
              </a:rPr>
              <a:t>↗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76656" y="3712464"/>
            <a:ext cx="10844784" cy="621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0392" y="38221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· XV Plan Quinquenal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74336" y="385876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Educación–ciencia–talento e infraestructura</a:t>
            </a:r>
            <a:endParaRPr lang="en-US" sz="1350" dirty="0"/>
          </a:p>
        </p:txBody>
      </p:sp>
      <p:sp>
        <p:nvSpPr>
          <p:cNvPr id="23" name="Text 21">
            <a:hlinkClick r:id="rId3" tooltip=""/>
          </p:cNvPr>
          <p:cNvSpPr/>
          <p:nvPr/>
        </p:nvSpPr>
        <p:spPr>
          <a:xfrm>
            <a:off x="11100816" y="383133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6FD5D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  <a:latin typeface="DejaVu Sans"/>
              </a:rPr>
              <a:t>↗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76656" y="4407408"/>
            <a:ext cx="10844784" cy="621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" y="45171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SHANGHAI AI LAB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974336" y="455371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Áreas y organización de investigación</a:t>
            </a:r>
            <a:endParaRPr lang="en-US" sz="1350" dirty="0"/>
          </a:p>
        </p:txBody>
      </p:sp>
      <p:sp>
        <p:nvSpPr>
          <p:cNvPr id="27" name="Text 25">
            <a:hlinkClick r:id="rId4" tooltip=""/>
          </p:cNvPr>
          <p:cNvSpPr/>
          <p:nvPr/>
        </p:nvSpPr>
        <p:spPr>
          <a:xfrm>
            <a:off x="11100816" y="452628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6FD5D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  <a:latin typeface="DejaVu Sans"/>
              </a:rPr>
              <a:t>↗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76656" y="5102352"/>
            <a:ext cx="10844784" cy="621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0392" y="5212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 · Institute of Automation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974336" y="5248656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Automatización, visión y laboratorios</a:t>
            </a:r>
            <a:endParaRPr lang="en-US" sz="1350" dirty="0"/>
          </a:p>
        </p:txBody>
      </p:sp>
      <p:sp>
        <p:nvSpPr>
          <p:cNvPr id="31" name="Text 29">
            <a:hlinkClick r:id="rId5" tooltip=""/>
          </p:cNvPr>
          <p:cNvSpPr/>
          <p:nvPr/>
        </p:nvSpPr>
        <p:spPr>
          <a:xfrm>
            <a:off x="11100816" y="522122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6FD5D2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  <a:latin typeface="DejaVu Sans"/>
              </a:rPr>
              <a:t>↗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1"/>
          </a:solidFill>
          <a:ln w="12700">
            <a:solidFill>
              <a:srgbClr val="0715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" y="466344"/>
            <a:ext cx="54864" cy="265176"/>
          </a:xfrm>
          <a:prstGeom prst="rect">
            <a:avLst/>
          </a:prstGeom>
          <a:solidFill>
            <a:srgbClr val="F4C76B"/>
          </a:solidFill>
          <a:ln w="12700">
            <a:solidFill>
              <a:srgbClr val="F4C7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457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Y PRODUCCIÓN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76072" y="905256"/>
            <a:ext cx="110002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7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Industria, robots y electrificación</a:t>
            </a:r>
            <a:endParaRPr lang="en-US" sz="3270" dirty="0"/>
          </a:p>
        </p:txBody>
      </p:sp>
      <p:sp>
        <p:nvSpPr>
          <p:cNvPr id="6" name="Text 4"/>
          <p:cNvSpPr/>
          <p:nvPr/>
        </p:nvSpPr>
        <p:spPr>
          <a:xfrm>
            <a:off x="594360" y="1618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Distinguir año del dato y año del informe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0981944" cy="0"/>
          </a:xfrm>
          <a:prstGeom prst="line">
            <a:avLst/>
          </a:prstGeom>
          <a:noFill/>
          <a:ln w="12700">
            <a:solidFill>
              <a:srgbClr val="3450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92240"/>
            <a:ext cx="11183112" cy="0"/>
          </a:xfrm>
          <a:prstGeom prst="line">
            <a:avLst/>
          </a:prstGeom>
          <a:noFill/>
          <a:ln w="9525">
            <a:solidFill>
              <a:srgbClr val="3450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652424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spc="35" kern="0" dirty="0">
                <a:solidFill>
                  <a:srgbClr val="B3C5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</a:p>
        </p:txBody>
      </p:sp>
      <p:sp>
        <p:nvSpPr>
          <p:cNvPr id="10" name="Text 8"/>
          <p:cNvSpPr/>
          <p:nvPr/>
        </p:nvSpPr>
        <p:spPr>
          <a:xfrm>
            <a:off x="8412480" y="6519672"/>
            <a:ext cx="2423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FUENTES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155680" y="64968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6656" y="2322576"/>
            <a:ext cx="10844784" cy="621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2441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IFR · World Robotics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74336" y="2459736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354.000 robots industriales en China, 2025</a:t>
            </a:r>
            <a:endParaRPr lang="en-US" sz="1350" dirty="0"/>
          </a:p>
        </p:txBody>
      </p:sp>
      <p:sp>
        <p:nvSpPr>
          <p:cNvPr id="15" name="Text 13">
            <a:hlinkClick r:id="rId1" tooltip=""/>
          </p:cNvPr>
          <p:cNvSpPr/>
          <p:nvPr/>
        </p:nvSpPr>
        <p:spPr>
          <a:xfrm>
            <a:off x="11091672" y="2459736"/>
            <a:ext cx="246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6FD5D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  <a:latin typeface="DejaVu Sans"/>
              </a:rPr>
              <a:t>↗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76656" y="3017520"/>
            <a:ext cx="10844784" cy="621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31363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IEA · Global EV Outlook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74336" y="3154680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millones de autos BEV/PHEV, 2025</a:t>
            </a:r>
          </a:p>
        </p:txBody>
      </p:sp>
      <p:sp>
        <p:nvSpPr>
          <p:cNvPr id="19" name="Text 17">
            <a:hlinkClick r:id="rId2" tooltip=""/>
          </p:cNvPr>
          <p:cNvSpPr/>
          <p:nvPr/>
        </p:nvSpPr>
        <p:spPr>
          <a:xfrm>
            <a:off x="11091672" y="3154680"/>
            <a:ext cx="246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6FD5D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  <a:latin typeface="DejaVu Sans"/>
              </a:rPr>
              <a:t>↗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76656" y="3712464"/>
            <a:ext cx="10844784" cy="621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38313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WIPO · GII 2026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74336" y="384962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Ecosistemas, clústeres y resultados de innovación</a:t>
            </a:r>
            <a:endParaRPr lang="en-US" sz="1350" dirty="0"/>
          </a:p>
        </p:txBody>
      </p:sp>
      <p:sp>
        <p:nvSpPr>
          <p:cNvPr id="23" name="Text 21">
            <a:hlinkClick r:id="rId3" tooltip=""/>
          </p:cNvPr>
          <p:cNvSpPr/>
          <p:nvPr/>
        </p:nvSpPr>
        <p:spPr>
          <a:xfrm>
            <a:off x="11091672" y="3849624"/>
            <a:ext cx="246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6FD5D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  <a:latin typeface="DejaVu Sans"/>
              </a:rPr>
              <a:t>↗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76656" y="4407408"/>
            <a:ext cx="10844784" cy="621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4526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· Plan educativo 2026–2030</a:t>
            </a:r>
          </a:p>
        </p:txBody>
      </p:sp>
      <p:sp>
        <p:nvSpPr>
          <p:cNvPr id="26" name="Text 24"/>
          <p:cNvSpPr/>
          <p:nvPr/>
        </p:nvSpPr>
        <p:spPr>
          <a:xfrm>
            <a:off x="4974336" y="4544568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Política educativa, documento oficial en chino</a:t>
            </a:r>
            <a:endParaRPr lang="en-US" sz="1350" dirty="0"/>
          </a:p>
        </p:txBody>
      </p:sp>
      <p:sp>
        <p:nvSpPr>
          <p:cNvPr id="27" name="Text 25">
            <a:hlinkClick r:id="rId4" tooltip=""/>
          </p:cNvPr>
          <p:cNvSpPr/>
          <p:nvPr/>
        </p:nvSpPr>
        <p:spPr>
          <a:xfrm>
            <a:off x="11091672" y="4544568"/>
            <a:ext cx="246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6FD5D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  <a:latin typeface="DejaVu Sans"/>
              </a:rPr>
              <a:t>↗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76656" y="5102352"/>
            <a:ext cx="10844784" cy="62179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52212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Stanford · AI Index 2026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974336" y="5239512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Distinción entre IA científica y modelos notables</a:t>
            </a:r>
            <a:endParaRPr lang="en-US" sz="1350" dirty="0"/>
          </a:p>
        </p:txBody>
      </p:sp>
      <p:sp>
        <p:nvSpPr>
          <p:cNvPr id="31" name="Text 29">
            <a:hlinkClick r:id="rId5" tooltip=""/>
          </p:cNvPr>
          <p:cNvSpPr/>
          <p:nvPr/>
        </p:nvSpPr>
        <p:spPr>
          <a:xfrm>
            <a:off x="11091672" y="5239512"/>
            <a:ext cx="246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6FD5D2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  <a:latin typeface="DejaVu Sans"/>
              </a:rPr>
              <a:t>↗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ustración conceptual generada con IA. No es una fotografía de una institución o instalación re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221">
              <a:alpha val="63000"/>
            </a:srgbClr>
          </a:solidFill>
          <a:ln w="12700">
            <a:solidFill>
              <a:srgbClr val="051221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03504" y="329184"/>
            <a:ext cx="8183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90" b="1" spc="160" kern="0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TECNOLÓGICA  ·  SÍNTESIS DEL MÓDULO</a:t>
            </a:r>
            <a:endParaRPr lang="en-US" sz="1090" dirty="0"/>
          </a:p>
        </p:txBody>
      </p:sp>
      <p:sp>
        <p:nvSpPr>
          <p:cNvPr id="5" name="Text 2"/>
          <p:cNvSpPr/>
          <p:nvPr/>
        </p:nvSpPr>
        <p:spPr>
          <a:xfrm>
            <a:off x="11064240" y="35661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76656" y="1143000"/>
            <a:ext cx="926287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30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ciencia y talento,</a:t>
            </a:r>
            <a:br/>
            <a:r>
              <a:rPr lang="en-US" sz="4300" dirty="0">
                <a:solidFill>
                  <a:srgbClr val="F5F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hay innovación sostenida</a:t>
            </a:r>
          </a:p>
        </p:txBody>
      </p:sp>
      <p:sp>
        <p:nvSpPr>
          <p:cNvPr id="7" name="Shape 4"/>
          <p:cNvSpPr/>
          <p:nvPr/>
        </p:nvSpPr>
        <p:spPr>
          <a:xfrm>
            <a:off x="704088" y="3099816"/>
            <a:ext cx="6885432" cy="0"/>
          </a:xfrm>
          <a:prstGeom prst="line">
            <a:avLst/>
          </a:prstGeom>
          <a:noFill/>
          <a:ln w="35560">
            <a:solidFill>
              <a:srgbClr val="E25E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3364992"/>
            <a:ext cx="778154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F4C7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infraestructura productiva, esa innovación difícilmente alcanza escala industrial.</a:t>
            </a:r>
          </a:p>
        </p:txBody>
      </p:sp>
      <p:sp>
        <p:nvSpPr>
          <p:cNvPr id="9" name="Shape 6"/>
          <p:cNvSpPr/>
          <p:nvPr/>
        </p:nvSpPr>
        <p:spPr>
          <a:xfrm>
            <a:off x="685800" y="4846320"/>
            <a:ext cx="8019288" cy="530352"/>
          </a:xfrm>
          <a:prstGeom prst="roundRect">
            <a:avLst/>
          </a:prstGeom>
          <a:solidFill>
            <a:srgbClr val="10283A"/>
          </a:solidFill>
          <a:ln w="8890">
            <a:solidFill>
              <a:srgbClr val="34506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992624"/>
            <a:ext cx="7744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90" b="1" dirty="0">
                <a:solidFill>
                  <a:srgbClr val="F5F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 ·  EMPRESAS  ·  CIENCIA  ·  TALENTO  ·  INFRAESTRUCTURA</a:t>
            </a:r>
          </a:p>
        </p:txBody>
      </p:sp>
      <p:sp>
        <p:nvSpPr>
          <p:cNvPr id="11" name="Text 8"/>
          <p:cNvSpPr/>
          <p:nvPr/>
        </p:nvSpPr>
        <p:spPr>
          <a:xfrm>
            <a:off x="740664" y="5715000"/>
            <a:ext cx="8348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6FD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SIGUIENTE MÓDULO: TRANSFORMACIÓN INDUSTRIAL</a:t>
            </a:r>
            <a:endParaRPr lang="en-US" sz="1660" dirty="0"/>
          </a:p>
        </p:txBody>
      </p:sp>
      <p:sp>
        <p:nvSpPr>
          <p:cNvPr id="12" name="Text 9"/>
          <p:cNvSpPr/>
          <p:nvPr/>
        </p:nvSpPr>
        <p:spPr>
          <a:xfrm>
            <a:off x="731520" y="6199632"/>
            <a:ext cx="8485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C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elaborado por el profesor Sergio Gevatschnaider</a:t>
            </a:r>
            <a:endParaRPr lang="en-US" sz="1200" dirty="0"/>
          </a:p>
        </p:txBody>
      </p:sp>
      <p:sp>
        <p:nvSpPr>
          <p:cNvPr id="1013" name="AI illustration disclosure">
            <a:extLst>
              <a:ext uri="{FF2B5EF4-FFF2-40B4-BE49-F238E27FC236}">
                <a16:creationId xmlns:a16="http://schemas.microsoft.com/office/drawing/2014/main" id="{704F71E3-9930-4C32-BACA-E29F539D5EE4}"/>
              </a:ext>
            </a:extLst>
          </p:cNvPr>
          <p:cNvSpPr>
            <a:spLocks noGrp="1"/>
          </p:cNvSpPr>
          <p:nvPr/>
        </p:nvSpPr>
        <p:spPr>
          <a:xfrm>
            <a:off x="742950" y="6534150"/>
            <a:ext cx="76200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>
                <a:solidFill>
                  <a:srgbClr val="ADC8D2"/>
                </a:solidFill>
              </a:defRPr>
            </a:defPPr>
            <a:lvl1pPr>
              <a:defRPr sz="900">
                <a:solidFill>
                  <a:srgbClr val="ADC8D2"/>
                </a:solidFill>
              </a:defRPr>
            </a:lvl1pPr>
            <a:lvl2pPr>
              <a:defRPr sz="900">
                <a:solidFill>
                  <a:srgbClr val="ADC8D2"/>
                </a:solidFill>
              </a:defRPr>
            </a:lvl2pPr>
            <a:lvl3pPr>
              <a:defRPr sz="900">
                <a:solidFill>
                  <a:srgbClr val="ADC8D2"/>
                </a:solidFill>
              </a:defRPr>
            </a:lvl3pPr>
            <a:lvl4pPr>
              <a:defRPr sz="900">
                <a:solidFill>
                  <a:srgbClr val="ADC8D2"/>
                </a:solidFill>
              </a:defRPr>
            </a:lvl4pPr>
            <a:lvl5pPr>
              <a:defRPr sz="900">
                <a:solidFill>
                  <a:srgbClr val="ADC8D2"/>
                </a:solidFill>
              </a:defRPr>
            </a:lvl5pPr>
            <a:lvl6pPr>
              <a:defRPr sz="900">
                <a:solidFill>
                  <a:srgbClr val="ADC8D2"/>
                </a:solidFill>
              </a:defRPr>
            </a:lvl6pPr>
            <a:lvl7pPr>
              <a:defRPr sz="900">
                <a:solidFill>
                  <a:srgbClr val="ADC8D2"/>
                </a:solidFill>
              </a:defRPr>
            </a:lvl7pPr>
            <a:lvl8pPr>
              <a:defRPr sz="900">
                <a:solidFill>
                  <a:srgbClr val="ADC8D2"/>
                </a:solidFill>
              </a:defRPr>
            </a:lvl8pPr>
            <a:lvl9pPr>
              <a:defRPr sz="900">
                <a:solidFill>
                  <a:srgbClr val="ADC8D2"/>
                </a:solidFill>
              </a:defRPr>
            </a:lvl9pPr>
          </a:lstStyle>
          <a:p>
            <a:pPr>
              <a:defRPr sz="900">
                <a:solidFill>
                  <a:srgbClr val="ADC8D2"/>
                </a:solidFill>
              </a:defRPr>
            </a:pPr>
            <a:r>
              <a:rPr sz="900">
                <a:solidFill>
                  <a:srgbClr val="ADC8D2"/>
                </a:solidFill>
              </a:rPr>
              <a:t>Ilustración conceptual generada con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Material elaborado por el profesor Sergio Gevatschnaider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infraestructura — 基础设施 · La base material, científica y humana de China</dc:title>
  <dc:subject>Capital humano, universidades, ciencia, energía, logística, cómputo, manufactura y redes productivas de China</dc:subject>
  <dc:creator>Sergio Gevatschnaider</dc:creator>
  <cp:lastModifiedBy>Sergio Gevatschnaider</cp:lastModifiedBy>
  <cp:revision>1</cp:revision>
  <dcterms:created xsi:type="dcterms:W3CDTF">2026-10-20T16:14:37Z</dcterms:created>
  <dcterms:modified xsi:type="dcterms:W3CDTF">2026-10-20T16:14:37Z</dcterms:modified>
</cp:coreProperties>
</file>