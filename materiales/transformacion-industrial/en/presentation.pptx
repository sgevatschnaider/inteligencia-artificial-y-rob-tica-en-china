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fac49b49ae4176" /><Relationship Type="http://schemas.openxmlformats.org/officeDocument/2006/relationships/extended-properties" Target="/docProps/app.xml" Id="Rc590200c9ac04d85" /><Relationship Type="http://schemas.openxmlformats.org/officeDocument/2006/relationships/officeDocument" Target="/ppt/presentation.xml" Id="Re39f11dba7104e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dca6eb38ef4a97"/>
  </p:sldMasterIdLst>
  <p:notesMasterIdLst>
    <p:notesMasterId xmlns:r="http://schemas.openxmlformats.org/officeDocument/2006/relationships" r:id="R461755ce31c14e14"/>
  </p:notesMasterIdLst>
  <p:sldIdLst>
    <p:sldId xmlns:r="http://schemas.openxmlformats.org/officeDocument/2006/relationships" id="256" r:id="R7f09c1ce7de547bf"/>
    <p:sldId xmlns:r="http://schemas.openxmlformats.org/officeDocument/2006/relationships" id="257" r:id="R54b0fcbe53084a6e"/>
    <p:sldId xmlns:r="http://schemas.openxmlformats.org/officeDocument/2006/relationships" id="258" r:id="Rab48788fef3f4e46"/>
    <p:sldId xmlns:r="http://schemas.openxmlformats.org/officeDocument/2006/relationships" id="259" r:id="R94ca5b9c9f0b4d08"/>
    <p:sldId xmlns:r="http://schemas.openxmlformats.org/officeDocument/2006/relationships" id="260" r:id="R6134b03a59a54a28"/>
    <p:sldId xmlns:r="http://schemas.openxmlformats.org/officeDocument/2006/relationships" id="261" r:id="R6a074a9952284245"/>
    <p:sldId xmlns:r="http://schemas.openxmlformats.org/officeDocument/2006/relationships" id="262" r:id="R24d73fc5c12d4f3e"/>
    <p:sldId xmlns:r="http://schemas.openxmlformats.org/officeDocument/2006/relationships" id="263" r:id="R912e0e6607264e40"/>
    <p:sldId xmlns:r="http://schemas.openxmlformats.org/officeDocument/2006/relationships" id="264" r:id="Rf7cf0e80cf8a46cb"/>
    <p:sldId xmlns:r="http://schemas.openxmlformats.org/officeDocument/2006/relationships" id="265" r:id="R15510820e3ef4d2a"/>
    <p:sldId xmlns:r="http://schemas.openxmlformats.org/officeDocument/2006/relationships" id="266" r:id="R88ab10dcca154824"/>
    <p:sldId xmlns:r="http://schemas.openxmlformats.org/officeDocument/2006/relationships" id="267" r:id="R13917f0283cd49fb"/>
    <p:sldId xmlns:r="http://schemas.openxmlformats.org/officeDocument/2006/relationships" id="268" r:id="R3a00c57ba51d42a0"/>
    <p:sldId xmlns:r="http://schemas.openxmlformats.org/officeDocument/2006/relationships" id="269" r:id="Rb79691bdcbf240fd"/>
    <p:sldId xmlns:r="http://schemas.openxmlformats.org/officeDocument/2006/relationships" id="270" r:id="R71457095e2ea49d9"/>
    <p:sldId xmlns:r="http://schemas.openxmlformats.org/officeDocument/2006/relationships" id="271" r:id="Rcea5326867374cc2"/>
    <p:sldId xmlns:r="http://schemas.openxmlformats.org/officeDocument/2006/relationships" id="272" r:id="Re182409adabf40b0"/>
    <p:sldId xmlns:r="http://schemas.openxmlformats.org/officeDocument/2006/relationships" id="273" r:id="Re873f4f0c186489c"/>
    <p:sldId xmlns:r="http://schemas.openxmlformats.org/officeDocument/2006/relationships" id="274" r:id="Rb3199796c98a4db3"/>
    <p:sldId xmlns:r="http://schemas.openxmlformats.org/officeDocument/2006/relationships" id="275" r:id="Rb3136ef35b8a4906"/>
    <p:sldId xmlns:r="http://schemas.openxmlformats.org/officeDocument/2006/relationships" id="276" r:id="R25970973d2334181"/>
    <p:sldId xmlns:r="http://schemas.openxmlformats.org/officeDocument/2006/relationships" id="277" r:id="R27f0f3126bde455c"/>
    <p:sldId xmlns:r="http://schemas.openxmlformats.org/officeDocument/2006/relationships" id="278" r:id="R5f25d606ee864d23"/>
    <p:sldId xmlns:r="http://schemas.openxmlformats.org/officeDocument/2006/relationships" id="279" r:id="R3d112977ab9d4123"/>
    <p:sldId xmlns:r="http://schemas.openxmlformats.org/officeDocument/2006/relationships" id="280" r:id="R525d65264be3493b"/>
    <p:sldId xmlns:r="http://schemas.openxmlformats.org/officeDocument/2006/relationships" id="281" r:id="Rb23061d89bf64b1f"/>
    <p:sldId xmlns:r="http://schemas.openxmlformats.org/officeDocument/2006/relationships" id="282" r:id="Ra00acb5afd01482a"/>
    <p:sldId xmlns:r="http://schemas.openxmlformats.org/officeDocument/2006/relationships" id="283" r:id="Ra72729a16c334281"/>
    <p:sldId xmlns:r="http://schemas.openxmlformats.org/officeDocument/2006/relationships" id="284" r:id="R9fc200a799d348de"/>
    <p:sldId xmlns:r="http://schemas.openxmlformats.org/officeDocument/2006/relationships" id="285" r:id="Rd073b7564e9e45b0"/>
    <p:sldId xmlns:r="http://schemas.openxmlformats.org/officeDocument/2006/relationships" id="286" r:id="R8d3faafa868449cf"/>
    <p:sldId xmlns:r="http://schemas.openxmlformats.org/officeDocument/2006/relationships" id="287" r:id="Ref3662783c554f20"/>
    <p:sldId xmlns:r="http://schemas.openxmlformats.org/officeDocument/2006/relationships" id="288" r:id="Rad293fc407c34bb0"/>
    <p:sldId xmlns:r="http://schemas.openxmlformats.org/officeDocument/2006/relationships" id="289" r:id="Reee5537634f743f6"/>
    <p:sldId xmlns:r="http://schemas.openxmlformats.org/officeDocument/2006/relationships" id="290" r:id="R387f7f9663404f25"/>
    <p:sldId xmlns:r="http://schemas.openxmlformats.org/officeDocument/2006/relationships" id="291" r:id="R10256520e89f4094"/>
    <p:sldId xmlns:r="http://schemas.openxmlformats.org/officeDocument/2006/relationships" id="292" r:id="Rd6069981b1d948ec"/>
    <p:sldId xmlns:r="http://schemas.openxmlformats.org/officeDocument/2006/relationships" id="293" r:id="R6b1afd47aa154065"/>
    <p:sldId xmlns:r="http://schemas.openxmlformats.org/officeDocument/2006/relationships" id="294" r:id="Rdd5158dd372a4fde"/>
    <p:sldId xmlns:r="http://schemas.openxmlformats.org/officeDocument/2006/relationships" id="295" r:id="R9639dca7bbda4af8"/>
    <p:sldId xmlns:r="http://schemas.openxmlformats.org/officeDocument/2006/relationships" id="296" r:id="Ra9abd668f59c4650"/>
    <p:sldId xmlns:r="http://schemas.openxmlformats.org/officeDocument/2006/relationships" id="297" r:id="Raf52a41b41af4302"/>
    <p:sldId xmlns:r="http://schemas.openxmlformats.org/officeDocument/2006/relationships" id="298" r:id="Rb535b15086284d8c"/>
    <p:sldId xmlns:r="http://schemas.openxmlformats.org/officeDocument/2006/relationships" id="299" r:id="Rdc6e72490ed64d8d"/>
    <p:sldId xmlns:r="http://schemas.openxmlformats.org/officeDocument/2006/relationships" id="300" r:id="Rd4cb6a4691984747"/>
    <p:sldId xmlns:r="http://schemas.openxmlformats.org/officeDocument/2006/relationships" id="301" r:id="R9a360cdc011c4a23"/>
    <p:sldId xmlns:r="http://schemas.openxmlformats.org/officeDocument/2006/relationships" id="302" r:id="R66ee986946d748aa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 lang="en-US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 lang="en-US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 lang="en-US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 lang="en-US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 lang="en-US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 lang="en-US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 lang="en-US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 lang="en-US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 lang="en-US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f24debd00e46d1" /><Relationship Type="http://schemas.openxmlformats.org/officeDocument/2006/relationships/slideMaster" Target="/ppt/slideMasters/slideMaster1.xml" Id="R00dca6eb38ef4a97" /><Relationship Type="http://schemas.openxmlformats.org/officeDocument/2006/relationships/notesMaster" Target="/ppt/notesMasters/notesMaster1.xml" Id="R461755ce31c14e14" /><Relationship Type="http://schemas.openxmlformats.org/officeDocument/2006/relationships/presProps" Target="/ppt/presProps.xml" Id="R6a69930dca9948e8" /><Relationship Type="http://schemas.openxmlformats.org/officeDocument/2006/relationships/viewProps" Target="/ppt/viewProps.xml" Id="R0f9ecfcfda5746a4" /><Relationship Type="http://schemas.openxmlformats.org/officeDocument/2006/relationships/tableStyles" Target="/ppt/tableStyles.xml" Id="Rda46b787cc2349b7" /><Relationship Type="http://schemas.openxmlformats.org/officeDocument/2006/relationships/slide" Target="/ppt/slides/slide1.xml" Id="R7f09c1ce7de547bf" /><Relationship Type="http://schemas.openxmlformats.org/officeDocument/2006/relationships/slide" Target="/ppt/slides/slide2.xml" Id="R54b0fcbe53084a6e" /><Relationship Type="http://schemas.openxmlformats.org/officeDocument/2006/relationships/slide" Target="/ppt/slides/slide3.xml" Id="Rab48788fef3f4e46" /><Relationship Type="http://schemas.openxmlformats.org/officeDocument/2006/relationships/slide" Target="/ppt/slides/slide4.xml" Id="R94ca5b9c9f0b4d08" /><Relationship Type="http://schemas.openxmlformats.org/officeDocument/2006/relationships/slide" Target="/ppt/slides/slide5.xml" Id="R6134b03a59a54a28" /><Relationship Type="http://schemas.openxmlformats.org/officeDocument/2006/relationships/slide" Target="/ppt/slides/slide6.xml" Id="R6a074a9952284245" /><Relationship Type="http://schemas.openxmlformats.org/officeDocument/2006/relationships/slide" Target="/ppt/slides/slide7.xml" Id="R24d73fc5c12d4f3e" /><Relationship Type="http://schemas.openxmlformats.org/officeDocument/2006/relationships/slide" Target="/ppt/slides/slide8.xml" Id="R912e0e6607264e40" /><Relationship Type="http://schemas.openxmlformats.org/officeDocument/2006/relationships/slide" Target="/ppt/slides/slide9.xml" Id="Rf7cf0e80cf8a46cb" /><Relationship Type="http://schemas.openxmlformats.org/officeDocument/2006/relationships/slide" Target="/ppt/slides/slide10.xml" Id="R15510820e3ef4d2a" /><Relationship Type="http://schemas.openxmlformats.org/officeDocument/2006/relationships/slide" Target="/ppt/slides/slide11.xml" Id="R88ab10dcca154824" /><Relationship Type="http://schemas.openxmlformats.org/officeDocument/2006/relationships/slide" Target="/ppt/slides/slide12.xml" Id="R13917f0283cd49fb" /><Relationship Type="http://schemas.openxmlformats.org/officeDocument/2006/relationships/slide" Target="/ppt/slides/slide13.xml" Id="R3a00c57ba51d42a0" /><Relationship Type="http://schemas.openxmlformats.org/officeDocument/2006/relationships/slide" Target="/ppt/slides/slide14.xml" Id="Rb79691bdcbf240fd" /><Relationship Type="http://schemas.openxmlformats.org/officeDocument/2006/relationships/slide" Target="/ppt/slides/slide15.xml" Id="R71457095e2ea49d9" /><Relationship Type="http://schemas.openxmlformats.org/officeDocument/2006/relationships/slide" Target="/ppt/slides/slide16.xml" Id="Rcea5326867374cc2" /><Relationship Type="http://schemas.openxmlformats.org/officeDocument/2006/relationships/slide" Target="/ppt/slides/slide17.xml" Id="Re182409adabf40b0" /><Relationship Type="http://schemas.openxmlformats.org/officeDocument/2006/relationships/slide" Target="/ppt/slides/slide18.xml" Id="Re873f4f0c186489c" /><Relationship Type="http://schemas.openxmlformats.org/officeDocument/2006/relationships/slide" Target="/ppt/slides/slide19.xml" Id="Rb3199796c98a4db3" /><Relationship Type="http://schemas.openxmlformats.org/officeDocument/2006/relationships/slide" Target="/ppt/slides/slide20.xml" Id="Rb3136ef35b8a4906" /><Relationship Type="http://schemas.openxmlformats.org/officeDocument/2006/relationships/slide" Target="/ppt/slides/slide21.xml" Id="R25970973d2334181" /><Relationship Type="http://schemas.openxmlformats.org/officeDocument/2006/relationships/slide" Target="/ppt/slides/slide22.xml" Id="R27f0f3126bde455c" /><Relationship Type="http://schemas.openxmlformats.org/officeDocument/2006/relationships/slide" Target="/ppt/slides/slide23.xml" Id="R5f25d606ee864d23" /><Relationship Type="http://schemas.openxmlformats.org/officeDocument/2006/relationships/slide" Target="/ppt/slides/slide24.xml" Id="R3d112977ab9d4123" /><Relationship Type="http://schemas.openxmlformats.org/officeDocument/2006/relationships/slide" Target="/ppt/slides/slide25.xml" Id="R525d65264be3493b" /><Relationship Type="http://schemas.openxmlformats.org/officeDocument/2006/relationships/slide" Target="/ppt/slides/slide26.xml" Id="Rb23061d89bf64b1f" /><Relationship Type="http://schemas.openxmlformats.org/officeDocument/2006/relationships/slide" Target="/ppt/slides/slide27.xml" Id="Ra00acb5afd01482a" /><Relationship Type="http://schemas.openxmlformats.org/officeDocument/2006/relationships/slide" Target="/ppt/slides/slide28.xml" Id="Ra72729a16c334281" /><Relationship Type="http://schemas.openxmlformats.org/officeDocument/2006/relationships/slide" Target="/ppt/slides/slide29.xml" Id="R9fc200a799d348de" /><Relationship Type="http://schemas.openxmlformats.org/officeDocument/2006/relationships/slide" Target="/ppt/slides/slide30.xml" Id="Rd073b7564e9e45b0" /><Relationship Type="http://schemas.openxmlformats.org/officeDocument/2006/relationships/slide" Target="/ppt/slides/slide31.xml" Id="R8d3faafa868449cf" /><Relationship Type="http://schemas.openxmlformats.org/officeDocument/2006/relationships/slide" Target="/ppt/slides/slide32.xml" Id="Ref3662783c554f20" /><Relationship Type="http://schemas.openxmlformats.org/officeDocument/2006/relationships/slide" Target="/ppt/slides/slide33.xml" Id="Rad293fc407c34bb0" /><Relationship Type="http://schemas.openxmlformats.org/officeDocument/2006/relationships/slide" Target="/ppt/slides/slide34.xml" Id="Reee5537634f743f6" /><Relationship Type="http://schemas.openxmlformats.org/officeDocument/2006/relationships/slide" Target="/ppt/slides/slide35.xml" Id="R387f7f9663404f25" /><Relationship Type="http://schemas.openxmlformats.org/officeDocument/2006/relationships/slide" Target="/ppt/slides/slide36.xml" Id="R10256520e89f4094" /><Relationship Type="http://schemas.openxmlformats.org/officeDocument/2006/relationships/slide" Target="/ppt/slides/slide37.xml" Id="Rd6069981b1d948ec" /><Relationship Type="http://schemas.openxmlformats.org/officeDocument/2006/relationships/slide" Target="/ppt/slides/slide38.xml" Id="R6b1afd47aa154065" /><Relationship Type="http://schemas.openxmlformats.org/officeDocument/2006/relationships/slide" Target="/ppt/slides/slide39.xml" Id="Rdd5158dd372a4fde" /><Relationship Type="http://schemas.openxmlformats.org/officeDocument/2006/relationships/slide" Target="/ppt/slides/slide40.xml" Id="R9639dca7bbda4af8" /><Relationship Type="http://schemas.openxmlformats.org/officeDocument/2006/relationships/slide" Target="/ppt/slides/slide41.xml" Id="Ra9abd668f59c4650" /><Relationship Type="http://schemas.openxmlformats.org/officeDocument/2006/relationships/slide" Target="/ppt/slides/slide42.xml" Id="Raf52a41b41af4302" /><Relationship Type="http://schemas.openxmlformats.org/officeDocument/2006/relationships/slide" Target="/ppt/slides/slide43.xml" Id="Rb535b15086284d8c" /><Relationship Type="http://schemas.openxmlformats.org/officeDocument/2006/relationships/slide" Target="/ppt/slides/slide44.xml" Id="Rdc6e72490ed64d8d" /><Relationship Type="http://schemas.openxmlformats.org/officeDocument/2006/relationships/slide" Target="/ppt/slides/slide45.xml" Id="Rd4cb6a4691984747" /><Relationship Type="http://schemas.openxmlformats.org/officeDocument/2006/relationships/slide" Target="/ppt/slides/slide46.xml" Id="R9a360cdc011c4a23" /><Relationship Type="http://schemas.openxmlformats.org/officeDocument/2006/relationships/slide" Target="/ppt/slides/slide47.xml" Id="R66ee986946d748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9d11cf51f54f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 lang="en-US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a3c81d261a4cb2" /><Relationship Type="http://schemas.openxmlformats.org/officeDocument/2006/relationships/notesMaster" Target="/ppt/notesMasters/notesMaster1.xml" Id="R4cf745d994514d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1dc51256ca472d" /><Relationship Type="http://schemas.openxmlformats.org/officeDocument/2006/relationships/notesMaster" Target="/ppt/notesMasters/notesMaster1.xml" Id="R2bf31febef2342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6701de76574d87" /><Relationship Type="http://schemas.openxmlformats.org/officeDocument/2006/relationships/notesMaster" Target="/ppt/notesMasters/notesMaster1.xml" Id="R6148a83a316d46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a53cc9c5814273" /><Relationship Type="http://schemas.openxmlformats.org/officeDocument/2006/relationships/notesMaster" Target="/ppt/notesMasters/notesMaster1.xml" Id="Rf9f443511e864d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f0d829ae2b4bf5" /><Relationship Type="http://schemas.openxmlformats.org/officeDocument/2006/relationships/notesMaster" Target="/ppt/notesMasters/notesMaster1.xml" Id="R4ead690a47934d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d7337c7e4840ac" /><Relationship Type="http://schemas.openxmlformats.org/officeDocument/2006/relationships/notesMaster" Target="/ppt/notesMasters/notesMaster1.xml" Id="R58942cb69bfc4e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7067f2d23449b8" /><Relationship Type="http://schemas.openxmlformats.org/officeDocument/2006/relationships/notesMaster" Target="/ppt/notesMasters/notesMaster1.xml" Id="Rb40a8bc6cbdc4a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c6a103cee0430a" /><Relationship Type="http://schemas.openxmlformats.org/officeDocument/2006/relationships/notesMaster" Target="/ppt/notesMasters/notesMaster1.xml" Id="Rfb9087efada346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8a9e73fa6642b3" /><Relationship Type="http://schemas.openxmlformats.org/officeDocument/2006/relationships/notesMaster" Target="/ppt/notesMasters/notesMaster1.xml" Id="Ra321c5bdd78c40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84d8d1a57d4551" /><Relationship Type="http://schemas.openxmlformats.org/officeDocument/2006/relationships/notesMaster" Target="/ppt/notesMasters/notesMaster1.xml" Id="R303fc16f123b4d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542504dc934ec3" /><Relationship Type="http://schemas.openxmlformats.org/officeDocument/2006/relationships/notesMaster" Target="/ppt/notesMasters/notesMaster1.xml" Id="Re5f38b2045bf49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b41eee11aa249b9" /><Relationship Type="http://schemas.openxmlformats.org/officeDocument/2006/relationships/notesMaster" Target="/ppt/notesMasters/notesMaster1.xml" Id="R3819fb194d174c1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61168bf5454749" /><Relationship Type="http://schemas.openxmlformats.org/officeDocument/2006/relationships/notesMaster" Target="/ppt/notesMasters/notesMaster1.xml" Id="Reab464739a094e9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acbde170b448fa" /><Relationship Type="http://schemas.openxmlformats.org/officeDocument/2006/relationships/notesMaster" Target="/ppt/notesMasters/notesMaster1.xml" Id="Rdca05491e60541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c59fb6f85f84600" /><Relationship Type="http://schemas.openxmlformats.org/officeDocument/2006/relationships/notesMaster" Target="/ppt/notesMasters/notesMaster1.xml" Id="Rdcdb6011bc29468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e0c707fc77b42bf" /><Relationship Type="http://schemas.openxmlformats.org/officeDocument/2006/relationships/notesMaster" Target="/ppt/notesMasters/notesMaster1.xml" Id="Rdfc9cb8b8bc24f0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2dc7ed6055c4281" /><Relationship Type="http://schemas.openxmlformats.org/officeDocument/2006/relationships/notesMaster" Target="/ppt/notesMasters/notesMaster1.xml" Id="Ra365a74298e3461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5acf6969f6640a3" /><Relationship Type="http://schemas.openxmlformats.org/officeDocument/2006/relationships/notesMaster" Target="/ppt/notesMasters/notesMaster1.xml" Id="Raf950126cc63454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1dc356d8293414e" /><Relationship Type="http://schemas.openxmlformats.org/officeDocument/2006/relationships/notesMaster" Target="/ppt/notesMasters/notesMaster1.xml" Id="R313aa01d2f114f2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f10748a9a864e88" /><Relationship Type="http://schemas.openxmlformats.org/officeDocument/2006/relationships/notesMaster" Target="/ppt/notesMasters/notesMaster1.xml" Id="R49e1852a21654e8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ddc01dce3394234" /><Relationship Type="http://schemas.openxmlformats.org/officeDocument/2006/relationships/notesMaster" Target="/ppt/notesMasters/notesMaster1.xml" Id="R58b1ced10b074b8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db7f8165bc841c1" /><Relationship Type="http://schemas.openxmlformats.org/officeDocument/2006/relationships/notesMaster" Target="/ppt/notesMasters/notesMaster1.xml" Id="R4459ad1d02e343f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6d3dd8b248e41b9" /><Relationship Type="http://schemas.openxmlformats.org/officeDocument/2006/relationships/notesMaster" Target="/ppt/notesMasters/notesMaster1.xml" Id="R305958194f334e0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ca14f4745fd4749" /><Relationship Type="http://schemas.openxmlformats.org/officeDocument/2006/relationships/notesMaster" Target="/ppt/notesMasters/notesMaster1.xml" Id="Rab83431677d147f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5c1456bd37a4ebd" /><Relationship Type="http://schemas.openxmlformats.org/officeDocument/2006/relationships/notesMaster" Target="/ppt/notesMasters/notesMaster1.xml" Id="R924cc15c560f4f6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0a194edfb084007" /><Relationship Type="http://schemas.openxmlformats.org/officeDocument/2006/relationships/notesMaster" Target="/ppt/notesMasters/notesMaster1.xml" Id="Rd402513ff7104e6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4e248f331184ccc" /><Relationship Type="http://schemas.openxmlformats.org/officeDocument/2006/relationships/notesMaster" Target="/ppt/notesMasters/notesMaster1.xml" Id="Rc90c476140f94be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774345f35904f6e" /><Relationship Type="http://schemas.openxmlformats.org/officeDocument/2006/relationships/notesMaster" Target="/ppt/notesMasters/notesMaster1.xml" Id="Rb3cddac4c4b440d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fb82feb8ef74136" /><Relationship Type="http://schemas.openxmlformats.org/officeDocument/2006/relationships/notesMaster" Target="/ppt/notesMasters/notesMaster1.xml" Id="R5e9b029226ed4a6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ba066847f0547ca" /><Relationship Type="http://schemas.openxmlformats.org/officeDocument/2006/relationships/notesMaster" Target="/ppt/notesMasters/notesMaster1.xml" Id="R8520c18bdb3d4a4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cae144885e64e04" /><Relationship Type="http://schemas.openxmlformats.org/officeDocument/2006/relationships/notesMaster" Target="/ppt/notesMasters/notesMaster1.xml" Id="R127c2e55d6e3477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2d5be721b8c457d" /><Relationship Type="http://schemas.openxmlformats.org/officeDocument/2006/relationships/notesMaster" Target="/ppt/notesMasters/notesMaster1.xml" Id="R0a3551983e094d4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23ddab86dfa4030" /><Relationship Type="http://schemas.openxmlformats.org/officeDocument/2006/relationships/notesMaster" Target="/ppt/notesMasters/notesMaster1.xml" Id="R1cbbe53130774f1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5e432b4694f4a1d" /><Relationship Type="http://schemas.openxmlformats.org/officeDocument/2006/relationships/notesMaster" Target="/ppt/notesMasters/notesMaster1.xml" Id="R48ccbd359131482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9e9ec3e40564921" /><Relationship Type="http://schemas.openxmlformats.org/officeDocument/2006/relationships/notesMaster" Target="/ppt/notesMasters/notesMaster1.xml" Id="R06551ff879d4485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a494b1467de47e6" /><Relationship Type="http://schemas.openxmlformats.org/officeDocument/2006/relationships/notesMaster" Target="/ppt/notesMasters/notesMaster1.xml" Id="R5bf27640c8594b1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b968198796f4623" /><Relationship Type="http://schemas.openxmlformats.org/officeDocument/2006/relationships/notesMaster" Target="/ppt/notesMasters/notesMaster1.xml" Id="R83d83004ffa6442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236ad87d4f3451e" /><Relationship Type="http://schemas.openxmlformats.org/officeDocument/2006/relationships/notesMaster" Target="/ppt/notesMasters/notesMaster1.xml" Id="R521dcffcc897453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7f25b9ce5d14bb6" /><Relationship Type="http://schemas.openxmlformats.org/officeDocument/2006/relationships/notesMaster" Target="/ppt/notesMasters/notesMaster1.xml" Id="Rba47d529d6284ab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bce252d72c84fa1" /><Relationship Type="http://schemas.openxmlformats.org/officeDocument/2006/relationships/notesMaster" Target="/ppt/notesMasters/notesMaster1.xml" Id="R4c4593076f56436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2d72291ae154255" /><Relationship Type="http://schemas.openxmlformats.org/officeDocument/2006/relationships/notesMaster" Target="/ppt/notesMasters/notesMaster1.xml" Id="R3e9c80cf30d1414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bb87142ae00484f" /><Relationship Type="http://schemas.openxmlformats.org/officeDocument/2006/relationships/notesMaster" Target="/ppt/notesMasters/notesMaster1.xml" Id="R80641b2338da471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c40ee7814d44657" /><Relationship Type="http://schemas.openxmlformats.org/officeDocument/2006/relationships/notesMaster" Target="/ppt/notesMasters/notesMaster1.xml" Id="Recb1302b3d964f1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f174507298d4d10" /><Relationship Type="http://schemas.openxmlformats.org/officeDocument/2006/relationships/notesMaster" Target="/ppt/notesMasters/notesMaster1.xml" Id="Rbb0928a574564f2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612a4c330a341ec" /><Relationship Type="http://schemas.openxmlformats.org/officeDocument/2006/relationships/notesMaster" Target="/ppt/notesMasters/notesMaster1.xml" Id="Rb63443a37bbe48f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dcf923ae3eec480d" /><Relationship Type="http://schemas.openxmlformats.org/officeDocument/2006/relationships/notesMaster" Target="/ppt/notesMasters/notesMaster1.xml" Id="Raee7a5ba989449c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8761a7293774081" /><Relationship Type="http://schemas.openxmlformats.org/officeDocument/2006/relationships/notesMaster" Target="/ppt/notesMasters/notesMaster1.xml" Id="R701575583e3549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TECHNOLOGICAL</a:t>
            </a:r>
            <a:endParaRPr lang="en-US"/>
          </a:p>
          <a:p xmlns:a="http://schemas.openxmlformats.org/drawingml/2006/main">
            <a:r>
              <a:t>CHINA</a:t>
            </a:r>
            <a:endParaRPr lang="en-US"/>
          </a:p>
          <a:p xmlns:a="http://schemas.openxmlformats.org/drawingml/2006/main">
            <a:r>
              <a:t>From the world's factory</a:t>
            </a:r>
            <a:endParaRPr lang="en-US"/>
          </a:p>
          <a:p xmlns:a="http://schemas.openxmlformats.org/drawingml/2006/main">
            <a:r>
              <a:t>to a technological powerhouse</a:t>
            </a:r>
            <a:endParaRPr lang="en-US"/>
          </a:p>
          <a:p xmlns:a="http://schemas.openxmlformats.org/drawingml/2006/main">
            <a:r>
              <a:t>SERGIO GEVATSCHNAIDER</a:t>
            </a:r>
            <a:endParaRPr lang="en-US"/>
          </a:p>
          <a:p xmlns:a="http://schemas.openxmlformats.org/drawingml/2006/main">
            <a:r>
              <a:t>INDUSTRIAL TRANSFORMATION</a:t>
            </a:r>
            <a:endParaRPr lang="en-US"/>
          </a:p>
          <a:p xmlns:a="http://schemas.openxmlformats.org/drawingml/2006/main">
            <a:r>
              <a:t>CONCEPTUAL ILLUSTRATION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CENTRAL QUESTION</a:t>
            </a:r>
            <a:endParaRPr lang="en-US"/>
          </a:p>
          <a:p xmlns:a="http://schemas.openxmlformats.org/drawingml/2006/main">
            <a:r>
              <a:t>How does a technological powerhouse emerge?</a:t>
            </a:r>
            <a:endParaRPr lang="en-US"/>
          </a:p>
          <a:p xmlns:a="http://schemas.openxmlformats.org/drawingml/2006/main">
            <a:r>
              <a:t>The answer cannot be reduced to one invention, one company, or one policy.</a:t>
            </a:r>
            <a:endParaRPr lang="en-US"/>
          </a:p>
          <a:p xmlns:a="http://schemas.openxmlformats.org/drawingml/2006/main">
            <a:r>
              <a:t>01</a:t>
            </a:r>
            <a:endParaRPr lang="en-US"/>
          </a:p>
          <a:p xmlns:a="http://schemas.openxmlformats.org/drawingml/2006/main">
            <a:r>
              <a:t>INVENT</a:t>
            </a:r>
            <a:endParaRPr lang="en-US"/>
          </a:p>
          <a:p xmlns:a="http://schemas.openxmlformats.org/drawingml/2006/main">
            <a:r>
              <a:t>Discover, design, and develop.</a:t>
            </a:r>
            <a:endParaRPr lang="en-US"/>
          </a:p>
          <a:p xmlns:a="http://schemas.openxmlformats.org/drawingml/2006/main">
            <a:r>
              <a:t>02</a:t>
            </a:r>
            <a:endParaRPr lang="en-US"/>
          </a:p>
          <a:p xmlns:a="http://schemas.openxmlformats.org/drawingml/2006/main">
            <a:r>
              <a:t>MANUFACTURE</a:t>
            </a:r>
            <a:endParaRPr lang="en-US"/>
          </a:p>
          <a:p xmlns:a="http://schemas.openxmlformats.org/drawingml/2006/main">
            <a:r>
              <a:t>Turn ideas into reliable products.</a:t>
            </a:r>
            <a:endParaRPr lang="en-US"/>
          </a:p>
          <a:p xmlns:a="http://schemas.openxmlformats.org/drawingml/2006/main">
            <a:r>
              <a:t>03</a:t>
            </a:r>
            <a:endParaRPr lang="en-US"/>
          </a:p>
          <a:p xmlns:a="http://schemas.openxmlformats.org/drawingml/2006/main">
            <a:r>
              <a:t>LEARN</a:t>
            </a:r>
            <a:endParaRPr lang="en-US"/>
          </a:p>
          <a:p xmlns:a="http://schemas.openxmlformats.org/drawingml/2006/main">
            <a:r>
              <a:t>Improve with every production cycle.</a:t>
            </a:r>
            <a:endParaRPr lang="en-US"/>
          </a:p>
          <a:p xmlns:a="http://schemas.openxmlformats.org/drawingml/2006/main">
            <a:r>
              <a:t>04</a:t>
            </a:r>
            <a:endParaRPr lang="en-US"/>
          </a:p>
          <a:p xmlns:a="http://schemas.openxmlformats.org/drawingml/2006/main">
            <a:r>
              <a:t>COORDINATE</a:t>
            </a:r>
            <a:endParaRPr lang="en-US"/>
          </a:p>
          <a:p xmlns:a="http://schemas.openxmlformats.org/drawingml/2006/main">
            <a:r>
              <a:t>Connect talent, suppliers, and capital.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 MAP</a:t>
            </a:r>
            <a:endParaRPr lang="en-US"/>
          </a:p>
          <a:p xmlns:a="http://schemas.openxmlformats.org/drawingml/2006/main">
            <a:r>
              <a:t>Five questions about industrial transformation</a:t>
            </a:r>
            <a:endParaRPr lang="en-US"/>
          </a:p>
          <a:p xmlns:a="http://schemas.openxmlformats.org/drawingml/2006/main">
            <a:r>
              <a:t>History, industrial case studies, and exercises to examine underlying mechanisms.</a:t>
            </a:r>
            <a:endParaRPr lang="en-US"/>
          </a:p>
          <a:p xmlns:a="http://schemas.openxmlformats.org/drawingml/2006/main">
            <a:r>
              <a:t>01</a:t>
            </a:r>
            <a:endParaRPr lang="en-US"/>
          </a:p>
          <a:p xmlns:a="http://schemas.openxmlformats.org/drawingml/2006/main">
            <a:r>
              <a:t>Where does industrial capability come from?</a:t>
            </a:r>
            <a:endParaRPr lang="en-US"/>
          </a:p>
          <a:p xmlns:a="http://schemas.openxmlformats.org/drawingml/2006/main">
            <a:r>
              <a:t>History + UNIDO</a:t>
            </a:r>
            <a:endParaRPr lang="en-US"/>
          </a:p>
          <a:p xmlns:a="http://schemas.openxmlformats.org/drawingml/2006/main">
            <a:r>
              <a:t>02</a:t>
            </a:r>
            <a:endParaRPr lang="en-US"/>
          </a:p>
          <a:p xmlns:a="http://schemas.openxmlformats.org/drawingml/2006/main">
            <a:r>
              <a:t>How does an advanced factory operate?</a:t>
            </a:r>
            <a:endParaRPr lang="en-US"/>
          </a:p>
          <a:p xmlns:a="http://schemas.openxmlformats.org/drawingml/2006/main">
            <a:r>
              <a:t>Shougang + Midea</a:t>
            </a:r>
            <a:endParaRPr lang="en-US"/>
          </a:p>
          <a:p xmlns:a="http://schemas.openxmlformats.org/drawingml/2006/main">
            <a:r>
              <a:t>03</a:t>
            </a:r>
            <a:endParaRPr lang="en-US"/>
          </a:p>
          <a:p xmlns:a="http://schemas.openxmlformats.org/drawingml/2006/main">
            <a:r>
              <a:t>Why do robots matter?</a:t>
            </a:r>
            <a:endParaRPr lang="en-US"/>
          </a:p>
          <a:p xmlns:a="http://schemas.openxmlformats.org/drawingml/2006/main">
            <a:r>
              <a:t>IFR + Unitree + Xiaomi</a:t>
            </a:r>
            <a:endParaRPr lang="en-US"/>
          </a:p>
          <a:p xmlns:a="http://schemas.openxmlformats.org/drawingml/2006/main">
            <a:r>
              <a:t>04</a:t>
            </a:r>
            <a:endParaRPr lang="en-US"/>
          </a:p>
          <a:p xmlns:a="http://schemas.openxmlformats.org/drawingml/2006/main">
            <a:r>
              <a:t>What is China pursuing by 2030?</a:t>
            </a:r>
            <a:endParaRPr lang="en-US"/>
          </a:p>
          <a:p xmlns:a="http://schemas.openxmlformats.org/drawingml/2006/main">
            <a:r>
              <a:t>AI+ + 15th Plan</a:t>
            </a:r>
            <a:endParaRPr lang="en-US"/>
          </a:p>
          <a:p xmlns:a="http://schemas.openxmlformats.org/drawingml/2006/main">
            <a:r>
              <a:t>05</a:t>
            </a:r>
            <a:endParaRPr lang="en-US"/>
          </a:p>
          <a:p xmlns:a="http://schemas.openxmlformats.org/drawingml/2006/main">
            <a:r>
              <a:t>Where do the limitations emerge?</a:t>
            </a:r>
            <a:endParaRPr lang="en-US"/>
          </a:p>
          <a:p xmlns:a="http://schemas.openxmlformats.org/drawingml/2006/main">
            <a:r>
              <a:t>Chips + demand + exports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01</a:t>
            </a:r>
            <a:endParaRPr lang="en-US"/>
          </a:p>
          <a:p xmlns:a="http://schemas.openxmlformats.org/drawingml/2006/main">
            <a:r>
              <a:t>HISTORY</a:t>
            </a:r>
            <a:endParaRPr lang="en-US"/>
          </a:p>
          <a:p xmlns:a="http://schemas.openxmlformats.org/drawingml/2006/main">
            <a:r>
              <a:t>Before AI,</a:t>
            </a:r>
            <a:endParaRPr lang="en-US"/>
          </a:p>
          <a:p xmlns:a="http://schemas.openxmlformats.org/drawingml/2006/main">
            <a:r>
              <a:t>there was industry</a:t>
            </a:r>
            <a:endParaRPr lang="en-US"/>
          </a:p>
          <a:p xmlns:a="http://schemas.openxmlformats.org/drawingml/2006/main">
            <a:r>
              <a:t>Today's advantage rests on decades of investment,</a:t>
            </a:r>
            <a:endParaRPr lang="en-US"/>
          </a:p>
          <a:p xmlns:a="http://schemas.openxmlformats.org/drawingml/2006/main">
            <a:r>
              <a:t>learning, and production networks.</a:t>
            </a:r>
            <a:endParaRPr lang="en-US"/>
          </a:p>
          <a:p xmlns:a="http://schemas.openxmlformats.org/drawingml/2006/main">
            <a:r>
              <a:t>CONCEPTUAL ILLUSTRATION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INDUSTRIAL TRAJECTORY</a:t>
            </a:r>
            <a:endParaRPr lang="en-US"/>
          </a:p>
          <a:p xmlns:a="http://schemas.openxmlformats.org/drawingml/2006/main">
            <a:r>
              <a:t>Four stages, one continuous accumulation of capabilities</a:t>
            </a:r>
            <a:endParaRPr lang="en-US"/>
          </a:p>
          <a:p xmlns:a="http://schemas.openxmlformats.org/drawingml/2006/main">
            <a:r>
              <a:t>Teaching periodization: stages overlap and do not imply abrupt transitions.</a:t>
            </a:r>
            <a:endParaRPr lang="en-US"/>
          </a:p>
          <a:p xmlns:a="http://schemas.openxmlformats.org/drawingml/2006/main">
            <a:r>
              <a:t>1978–2001</a:t>
            </a:r>
            <a:endParaRPr lang="en-US"/>
          </a:p>
          <a:p xmlns:a="http://schemas.openxmlformats.org/drawingml/2006/main">
            <a:r>
              <a:t>Reform and</a:t>
            </a:r>
            <a:endParaRPr lang="en-US"/>
          </a:p>
          <a:p xmlns:a="http://schemas.openxmlformats.org/drawingml/2006/main">
            <a:r>
              <a:t>opening up</a:t>
            </a:r>
            <a:endParaRPr lang="en-US"/>
          </a:p>
          <a:p xmlns:a="http://schemas.openxmlformats.org/drawingml/2006/main">
            <a:r>
              <a:t>Investment, special economic zones,</a:t>
            </a:r>
            <a:endParaRPr lang="en-US"/>
          </a:p>
          <a:p xmlns:a="http://schemas.openxmlformats.org/drawingml/2006/main">
            <a:r>
              <a:t>initial capabilities</a:t>
            </a:r>
            <a:endParaRPr lang="en-US"/>
          </a:p>
          <a:p xmlns:a="http://schemas.openxmlformats.org/drawingml/2006/main">
            <a:r>
              <a:t>2001–2014</a:t>
            </a:r>
            <a:endParaRPr lang="en-US"/>
          </a:p>
          <a:p xmlns:a="http://schemas.openxmlformats.org/drawingml/2006/main">
            <a:r>
              <a:t>Global</a:t>
            </a:r>
            <a:endParaRPr lang="en-US"/>
          </a:p>
          <a:p xmlns:a="http://schemas.openxmlformats.org/drawingml/2006/main">
            <a:r>
              <a:t>integration</a:t>
            </a:r>
            <a:endParaRPr lang="en-US"/>
          </a:p>
          <a:p xmlns:a="http://schemas.openxmlformats.org/drawingml/2006/main">
            <a:r>
              <a:t>Exports, logistics,</a:t>
            </a:r>
            <a:endParaRPr lang="en-US"/>
          </a:p>
          <a:p xmlns:a="http://schemas.openxmlformats.org/drawingml/2006/main">
            <a:r>
              <a:t>suppliers, and learning</a:t>
            </a:r>
            <a:endParaRPr lang="en-US"/>
          </a:p>
          <a:p xmlns:a="http://schemas.openxmlformats.org/drawingml/2006/main">
            <a:r>
              <a:t>2015–2025</a:t>
            </a:r>
            <a:endParaRPr lang="en-US"/>
          </a:p>
          <a:p xmlns:a="http://schemas.openxmlformats.org/drawingml/2006/main">
            <a:r>
              <a:t>Industrial</a:t>
            </a:r>
            <a:endParaRPr lang="en-US"/>
          </a:p>
          <a:p xmlns:a="http://schemas.openxmlformats.org/drawingml/2006/main">
            <a:r>
              <a:t>modernization</a:t>
            </a:r>
            <a:endParaRPr lang="en-US"/>
          </a:p>
          <a:p xmlns:a="http://schemas.openxmlformats.org/drawingml/2006/main">
            <a:r>
              <a:t>Automation, R&amp;D,</a:t>
            </a:r>
            <a:endParaRPr lang="en-US"/>
          </a:p>
          <a:p xmlns:a="http://schemas.openxmlformats.org/drawingml/2006/main">
            <a:r>
              <a:t>batteries, and equipment</a:t>
            </a:r>
            <a:endParaRPr lang="en-US"/>
          </a:p>
          <a:p xmlns:a="http://schemas.openxmlformats.org/drawingml/2006/main">
            <a:r>
              <a:t>2026–2030</a:t>
            </a:r>
            <a:endParaRPr lang="en-US"/>
          </a:p>
          <a:p xmlns:a="http://schemas.openxmlformats.org/drawingml/2006/main">
            <a:r>
              <a:t>Intelligent</a:t>
            </a:r>
            <a:endParaRPr lang="en-US"/>
          </a:p>
          <a:p xmlns:a="http://schemas.openxmlformats.org/drawingml/2006/main">
            <a:r>
              <a:t>convergence</a:t>
            </a:r>
            <a:endParaRPr lang="en-US"/>
          </a:p>
          <a:p xmlns:a="http://schemas.openxmlformats.org/drawingml/2006/main">
            <a:r>
              <a:t>AI+, industrial AI, robotics,</a:t>
            </a:r>
            <a:endParaRPr lang="en-US"/>
          </a:p>
          <a:p xmlns:a="http://schemas.openxmlformats.org/drawingml/2006/main">
            <a:r>
              <a:t>and selective autonomy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GREAT SHIFT</a:t>
            </a:r>
            <a:endParaRPr lang="en-US"/>
          </a:p>
          <a:p xmlns:a="http://schemas.openxmlformats.org/drawingml/2006/main">
            <a:r>
              <a:t>From less than 3% to nearly one-third of the world</a:t>
            </a:r>
            <a:endParaRPr lang="en-US"/>
          </a:p>
          <a:p xmlns:a="http://schemas.openxmlformats.org/drawingml/2006/main">
            <a:r>
              <a:t>China's share of global manufacturing value added.</a:t>
            </a:r>
            <a:endParaRPr lang="en-US"/>
          </a:p>
          <a:p xmlns:a="http://schemas.openxmlformats.org/drawingml/2006/main">
            <a:r>
              <a:t>×11.4</a:t>
            </a:r>
            <a:endParaRPr lang="en-US"/>
          </a:p>
          <a:p xmlns:a="http://schemas.openxmlformats.org/drawingml/2006/main">
            <a:r>
              <a:t>increase in the share</a:t>
            </a:r>
            <a:endParaRPr lang="en-US"/>
          </a:p>
          <a:p xmlns:a="http://schemas.openxmlformats.org/drawingml/2006/main">
            <a:r>
              <a:t>between the two</a:t>
            </a:r>
            <a:endParaRPr lang="en-US"/>
          </a:p>
          <a:p xmlns:a="http://schemas.openxmlformats.org/drawingml/2006/main">
            <a:r>
              <a:t>years</a:t>
            </a:r>
          </a:p>
          <a:p xmlns:a="http://schemas.openxmlformats.org/drawingml/2006/main">
            <a:r>
              <a:t>This share measures manufacturing value added, not productivity per worker.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further reading:</a:t>
            </a:r>
          </a:p>
          <a:p xmlns:a="http://schemas.openxmlformats.org/drawingml/2006/main">
            <a:r>
              <a:t>https://stat.unido.org/publications/international-yearbook-industrial-statistics-2025</a:t>
            </a:r>
          </a:p>
          <a:p xmlns:a="http://schemas.openxmlformats.org/drawingml/2006/main">
            <a:r>
              <a:t>https://www.unido.org/sites/default/files/unido-publications/2025-11/UNIDO%20Industrial%20Statistics%20Yearbook%202025.pdf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INDUSTRIAL CAPABILITIES</a:t>
            </a:r>
            <a:endParaRPr lang="en-US"/>
          </a:p>
          <a:p xmlns:a="http://schemas.openxmlformats.org/drawingml/2006/main">
            <a:r>
              <a:t>A factory's strength depends on its ecosystem</a:t>
            </a:r>
            <a:endParaRPr lang="en-US"/>
          </a:p>
          <a:p xmlns:a="http://schemas.openxmlformats.org/drawingml/2006/main">
            <a:r>
              <a:t>Knowledge is distributed among firms and organizations.</a:t>
            </a:r>
            <a:endParaRPr lang="en-US"/>
          </a:p>
          <a:p xmlns:a="http://schemas.openxmlformats.org/drawingml/2006/main">
            <a:r>
              <a:t>COMPLEX PRODUCT</a:t>
            </a:r>
            <a:endParaRPr lang="en-US"/>
          </a:p>
          <a:p xmlns:a="http://schemas.openxmlformats.org/drawingml/2006/main">
            <a:r>
              <a:t>Universities</a:t>
            </a:r>
            <a:endParaRPr lang="en-US"/>
          </a:p>
          <a:p xmlns:a="http://schemas.openxmlformats.org/drawingml/2006/main">
            <a:r>
              <a:t>Logistics</a:t>
            </a:r>
            <a:endParaRPr lang="en-US"/>
          </a:p>
          <a:p xmlns:a="http://schemas.openxmlformats.org/drawingml/2006/main">
            <a:r>
              <a:t>Suppliers</a:t>
            </a:r>
            <a:endParaRPr lang="en-US"/>
          </a:p>
          <a:p xmlns:a="http://schemas.openxmlformats.org/drawingml/2006/main">
            <a:r>
              <a:t>Companies</a:t>
            </a:r>
            <a:endParaRPr lang="en-US"/>
          </a:p>
          <a:p xmlns:a="http://schemas.openxmlformats.org/drawingml/2006/main">
            <a:r>
              <a:t>Financing</a:t>
            </a:r>
            <a:endParaRPr lang="en-US"/>
          </a:p>
          <a:p xmlns:a="http://schemas.openxmlformats.org/drawingml/2006/main">
            <a:r>
              <a:t>Government and cities</a:t>
            </a:r>
            <a:endParaRPr lang="en-US"/>
          </a:p>
          <a:p xmlns:a="http://schemas.openxmlformats.org/drawingml/2006/main">
            <a:r>
              <a:t>Connections enable the sharing of knowledge, resources, and responsiveness.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hypothetical teaching example. Its numbers do not describe an observed plant.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TEACHING EXERCISE 01</a:t>
            </a:r>
            <a:endParaRPr lang="en-US"/>
          </a:p>
          <a:p xmlns:a="http://schemas.openxmlformats.org/drawingml/2006/main">
            <a:r>
              <a:t>Two companies design the same robotic hand</a:t>
            </a:r>
            <a:endParaRPr lang="en-US"/>
          </a:p>
          <a:p xmlns:a="http://schemas.openxmlformats.org/drawingml/2006/main">
            <a:r>
              <a:t>Hypothetical example illustrating supplier coordination times.</a:t>
            </a:r>
            <a:endParaRPr lang="en-US"/>
          </a:p>
          <a:p xmlns:a="http://schemas.openxmlformats.org/drawingml/2006/main">
            <a:r>
              <a:t>COMPANY A</a:t>
            </a:r>
            <a:endParaRPr lang="en-US"/>
          </a:p>
          <a:p xmlns:a="http://schemas.openxmlformats.org/drawingml/2006/main">
            <a:r>
              <a:t>Dispersed suppliers</a:t>
            </a:r>
            <a:endParaRPr lang="en-US"/>
          </a:p>
          <a:p xmlns:a="http://schemas.openxmlformats.org/drawingml/2006/main">
            <a:r>
              <a:t>20 weeks</a:t>
            </a:r>
            <a:endParaRPr lang="en-US"/>
          </a:p>
          <a:p xmlns:a="http://schemas.openxmlformats.org/drawingml/2006/main">
            <a:r>
              <a:t>COMPANY B</a:t>
            </a:r>
            <a:endParaRPr lang="en-US"/>
          </a:p>
          <a:p xmlns:a="http://schemas.openxmlformats.org/drawingml/2006/main">
            <a:r>
              <a:t>Integrated supplier network</a:t>
            </a:r>
            <a:endParaRPr lang="en-US"/>
          </a:p>
          <a:p xmlns:a="http://schemas.openxmlformats.org/drawingml/2006/main">
            <a:r>
              <a:t>8 weeks</a:t>
            </a:r>
            <a:endParaRPr lang="en-US"/>
          </a:p>
          <a:p xmlns:a="http://schemas.openxmlformats.org/drawingml/2006/main">
            <a:r>
              <a:t>The difference is not “innate intelligence”: it is coordination, prototypes, learning, and logistics.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INSTITUTIONS AND COMPETITION</a:t>
            </a:r>
            <a:endParaRPr lang="en-US"/>
          </a:p>
          <a:p xmlns:a="http://schemas.openxmlformats.org/drawingml/2006/main">
            <a:r>
              <a:t>Planning, local experimentation, and competition</a:t>
            </a:r>
            <a:endParaRPr lang="en-US"/>
          </a:p>
          <a:p xmlns:a="http://schemas.openxmlformats.org/drawingml/2006/main">
            <a:r>
              <a:t>Central coordination coexists with provincial experimentation and business competition.</a:t>
            </a:r>
            <a:endParaRPr lang="en-US"/>
          </a:p>
          <a:p xmlns:a="http://schemas.openxmlformats.org/drawingml/2006/main">
            <a:r>
              <a:t>CENTRAL GOVERNMENT</a:t>
            </a:r>
            <a:endParaRPr lang="en-US"/>
          </a:p>
          <a:p xmlns:a="http://schemas.openxmlformats.org/drawingml/2006/main">
            <a:r>
              <a:t>Plans, standards, priorities</a:t>
            </a:r>
            <a:endParaRPr lang="en-US"/>
          </a:p>
          <a:p xmlns:a="http://schemas.openxmlformats.org/drawingml/2006/main">
            <a:r>
              <a:t>LOCAL GOVERNMENTS</a:t>
            </a:r>
            <a:endParaRPr lang="en-US"/>
          </a:p>
          <a:p xmlns:a="http://schemas.openxmlformats.org/drawingml/2006/main">
            <a:r>
              <a:t>Industrial parks, infrastructure, incentives</a:t>
            </a:r>
            <a:endParaRPr lang="en-US"/>
          </a:p>
          <a:p xmlns:a="http://schemas.openxmlformats.org/drawingml/2006/main">
            <a:r>
              <a:t>COMPANIES</a:t>
            </a:r>
            <a:endParaRPr lang="en-US"/>
          </a:p>
          <a:p xmlns:a="http://schemas.openxmlformats.org/drawingml/2006/main">
            <a:r>
              <a:t>Design, manufacturing, competition</a:t>
            </a:r>
            <a:endParaRPr lang="en-US"/>
          </a:p>
          <a:p xmlns:a="http://schemas.openxmlformats.org/drawingml/2006/main">
            <a:r>
              <a:t>SUPPLIERS</a:t>
            </a:r>
            <a:endParaRPr lang="en-US"/>
          </a:p>
          <a:p xmlns:a="http://schemas.openxmlformats.org/drawingml/2006/main">
            <a:r>
              <a:t>Components, lead times, improvements</a:t>
            </a:r>
            <a:endParaRPr lang="en-US"/>
          </a:p>
          <a:p xmlns:a="http://schemas.openxmlformats.org/drawingml/2006/main">
            <a:r>
              <a:t>POTENTIAL ADVANTAGE: learning   /   RISK: overinvestment and duplication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INDUSTRIAL GEOGRAPHY</a:t>
            </a:r>
            <a:endParaRPr lang="en-US"/>
          </a:p>
          <a:p xmlns:a="http://schemas.openxmlformats.org/drawingml/2006/main">
            <a:r>
              <a:t>China is a network of technological hubs</a:t>
            </a:r>
            <a:endParaRPr lang="en-US"/>
          </a:p>
          <a:p xmlns:a="http://schemas.openxmlformats.org/drawingml/2006/main">
            <a:r>
              <a:t>Specializations are not exclusive: they overlap and evolve.</a:t>
            </a:r>
            <a:endParaRPr lang="en-US"/>
          </a:p>
          <a:p xmlns:a="http://schemas.openxmlformats.org/drawingml/2006/main">
            <a:r>
              <a:t>BEIJING</a:t>
            </a:r>
            <a:endParaRPr lang="en-US"/>
          </a:p>
          <a:p xmlns:a="http://schemas.openxmlformats.org/drawingml/2006/main">
            <a:r>
              <a:t>Universities, research, AI</a:t>
            </a:r>
            <a:endParaRPr lang="en-US"/>
          </a:p>
          <a:p xmlns:a="http://schemas.openxmlformats.org/drawingml/2006/main">
            <a:r>
              <a:t>SHANGHAI / SUZHOU</a:t>
            </a:r>
            <a:endParaRPr lang="en-US"/>
          </a:p>
          <a:p xmlns:a="http://schemas.openxmlformats.org/drawingml/2006/main">
            <a:r>
              <a:t>Advanced manufacturing and equipment</a:t>
            </a:r>
            <a:endParaRPr lang="en-US"/>
          </a:p>
          <a:p xmlns:a="http://schemas.openxmlformats.org/drawingml/2006/main">
            <a:r>
              <a:t>SHENZHEN / GUANGDONG</a:t>
            </a:r>
            <a:endParaRPr lang="en-US"/>
          </a:p>
          <a:p xmlns:a="http://schemas.openxmlformats.org/drawingml/2006/main">
            <a:r>
              <a:t>Electronics, hardware, and vehicles</a:t>
            </a:r>
            <a:endParaRPr lang="en-US"/>
          </a:p>
          <a:p xmlns:a="http://schemas.openxmlformats.org/drawingml/2006/main">
            <a:r>
              <a:t>HANGZHOU</a:t>
            </a:r>
            <a:endParaRPr lang="en-US"/>
          </a:p>
          <a:p xmlns:a="http://schemas.openxmlformats.org/drawingml/2006/main">
            <a:r>
              <a:t>Digital platforms and software</a:t>
            </a:r>
            <a:endParaRPr lang="en-US"/>
          </a:p>
          <a:p xmlns:a="http://schemas.openxmlformats.org/drawingml/2006/main">
            <a:r>
              <a:t>HEFEI / WUHAN / CHENGDU</a:t>
            </a:r>
            <a:endParaRPr lang="en-US"/>
          </a:p>
          <a:p xmlns:a="http://schemas.openxmlformats.org/drawingml/2006/main">
            <a:r>
              <a:t>Specialized industrial hubs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02</a:t>
            </a:r>
            <a:endParaRPr lang="en-US"/>
          </a:p>
          <a:p xmlns:a="http://schemas.openxmlformats.org/drawingml/2006/main">
            <a:r>
              <a:t>THE SMART FACTORY</a:t>
            </a:r>
            <a:endParaRPr lang="en-US"/>
          </a:p>
          <a:p xmlns:a="http://schemas.openxmlformats.org/drawingml/2006/main">
            <a:r>
              <a:t>A machine is not</a:t>
            </a:r>
            <a:endParaRPr lang="en-US"/>
          </a:p>
          <a:p xmlns:a="http://schemas.openxmlformats.org/drawingml/2006/main">
            <a:r>
              <a:t>a factory</a:t>
            </a:r>
            <a:endParaRPr lang="en-US"/>
          </a:p>
          <a:p xmlns:a="http://schemas.openxmlformats.org/drawingml/2006/main">
            <a:r>
              <a:t>Digitalization, automation, and AI are distinct layers</a:t>
            </a:r>
            <a:endParaRPr lang="en-US"/>
          </a:p>
          <a:p xmlns:a="http://schemas.openxmlformats.org/drawingml/2006/main">
            <a:r>
              <a:t>of industrial capability.</a:t>
            </a:r>
            <a:endParaRPr lang="en-US"/>
          </a:p>
          <a:p xmlns:a="http://schemas.openxmlformats.org/drawingml/2006/main">
            <a:r>
              <a:t>CONCEPTUAL ILLUSTRATION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DISTINCT CONCEPTS</a:t>
            </a:r>
            <a:endParaRPr lang="en-US"/>
          </a:p>
          <a:p xmlns:a="http://schemas.openxmlformats.org/drawingml/2006/main">
            <a:r>
              <a:t>Digitalization, automation, and artificial intelligence</a:t>
            </a:r>
            <a:endParaRPr lang="en-US"/>
          </a:p>
          <a:p xmlns:a="http://schemas.openxmlformats.org/drawingml/2006/main">
            <a:r>
              <a:t>A factory can do one of these without necessarily doing the others.</a:t>
            </a:r>
            <a:endParaRPr lang="en-US"/>
          </a:p>
          <a:p xmlns:a="http://schemas.openxmlformats.org/drawingml/2006/main">
            <a:r>
              <a:t>01</a:t>
            </a:r>
            <a:endParaRPr lang="en-US"/>
          </a:p>
          <a:p xmlns:a="http://schemas.openxmlformats.org/drawingml/2006/main">
            <a:r>
              <a:t>DIGITALIZE</a:t>
            </a:r>
            <a:endParaRPr lang="en-US"/>
          </a:p>
          <a:p xmlns:a="http://schemas.openxmlformats.org/drawingml/2006/main">
            <a:r>
              <a:t>Record and connect information</a:t>
            </a:r>
            <a:endParaRPr lang="en-US"/>
          </a:p>
          <a:p xmlns:a="http://schemas.openxmlformats.org/drawingml/2006/main">
            <a:r>
              <a:t>Sensors, data, traceability</a:t>
            </a:r>
            <a:endParaRPr lang="en-US"/>
          </a:p>
          <a:p xmlns:a="http://schemas.openxmlformats.org/drawingml/2006/main">
            <a:r>
              <a:t>02</a:t>
            </a:r>
            <a:endParaRPr lang="en-US"/>
          </a:p>
          <a:p xmlns:a="http://schemas.openxmlformats.org/drawingml/2006/main">
            <a:r>
              <a:t>AUTOMATE</a:t>
            </a:r>
            <a:endParaRPr lang="en-US"/>
          </a:p>
          <a:p xmlns:a="http://schemas.openxmlformats.org/drawingml/2006/main">
            <a:r>
              <a:t>Perform tasks under automatic control</a:t>
            </a:r>
            <a:endParaRPr lang="en-US"/>
          </a:p>
          <a:p xmlns:a="http://schemas.openxmlformats.org/drawingml/2006/main">
            <a:r>
              <a:t>PLCs, CNC, robots, actuators</a:t>
            </a:r>
            <a:endParaRPr lang="en-US"/>
          </a:p>
          <a:p xmlns:a="http://schemas.openxmlformats.org/drawingml/2006/main">
            <a:r>
              <a:t>03</a:t>
            </a:r>
            <a:endParaRPr lang="en-US"/>
          </a:p>
          <a:p xmlns:a="http://schemas.openxmlformats.org/drawingml/2006/main">
            <a:r>
              <a:t>USE AI</a:t>
            </a:r>
            <a:endParaRPr lang="en-US"/>
          </a:p>
          <a:p xmlns:a="http://schemas.openxmlformats.org/drawingml/2006/main">
            <a:r>
              <a:t>Infer patterns and support</a:t>
            </a:r>
            <a:endParaRPr lang="en-US"/>
          </a:p>
          <a:p xmlns:a="http://schemas.openxmlformats.org/drawingml/2006/main">
            <a:r>
              <a:t>decisions</a:t>
            </a:r>
            <a:endParaRPr lang="en-US"/>
          </a:p>
          <a:p xmlns:a="http://schemas.openxmlformats.org/drawingml/2006/main">
            <a:r>
              <a:t>Computer vision, prediction, optimization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CHAIN</a:t>
            </a:r>
            <a:endParaRPr lang="en-US"/>
          </a:p>
          <a:p xmlns:a="http://schemas.openxmlformats.org/drawingml/2006/main">
            <a:r>
              <a:t>From a weld to a verifiable action</a:t>
            </a:r>
            <a:endParaRPr lang="en-US"/>
          </a:p>
          <a:p xmlns:a="http://schemas.openxmlformats.org/drawingml/2006/main">
            <a:r>
              <a:t>AI helps detect problems; control, engineering, and safety remain essential.</a:t>
            </a:r>
            <a:endParaRPr lang="en-US"/>
          </a:p>
          <a:p xmlns:a="http://schemas.openxmlformats.org/drawingml/2006/main">
            <a:r>
              <a:t>1</a:t>
            </a:r>
            <a:endParaRPr lang="en-US"/>
          </a:p>
          <a:p xmlns:a="http://schemas.openxmlformats.org/drawingml/2006/main">
            <a:r>
              <a:t>WELDING</a:t>
            </a:r>
            <a:endParaRPr lang="en-US"/>
          </a:p>
          <a:p xmlns:a="http://schemas.openxmlformats.org/drawingml/2006/main">
            <a:r>
              <a:t>Physical process</a:t>
            </a:r>
            <a:endParaRPr lang="en-US"/>
          </a:p>
          <a:p xmlns:a="http://schemas.openxmlformats.org/drawingml/2006/main">
            <a:r>
              <a:t>2</a:t>
            </a:r>
            <a:endParaRPr lang="en-US"/>
          </a:p>
          <a:p xmlns:a="http://schemas.openxmlformats.org/drawingml/2006/main">
            <a:r>
              <a:t>CAMERA</a:t>
            </a:r>
            <a:endParaRPr lang="en-US"/>
          </a:p>
          <a:p xmlns:a="http://schemas.openxmlformats.org/drawingml/2006/main">
            <a:r>
              <a:t>Image capture</a:t>
            </a:r>
            <a:endParaRPr lang="en-US"/>
          </a:p>
          <a:p xmlns:a="http://schemas.openxmlformats.org/drawingml/2006/main">
            <a:r>
              <a:t>3</a:t>
            </a:r>
            <a:endParaRPr lang="en-US"/>
          </a:p>
          <a:p xmlns:a="http://schemas.openxmlformats.org/drawingml/2006/main">
            <a:r>
              <a:t>MODEL</a:t>
            </a:r>
            <a:endParaRPr lang="en-US"/>
          </a:p>
          <a:p xmlns:a="http://schemas.openxmlformats.org/drawingml/2006/main">
            <a:r>
              <a:t>Estimated anomaly</a:t>
            </a:r>
            <a:endParaRPr lang="en-US"/>
          </a:p>
          <a:p xmlns:a="http://schemas.openxmlformats.org/drawingml/2006/main">
            <a:r>
              <a:t>4</a:t>
            </a:r>
            <a:endParaRPr lang="en-US"/>
          </a:p>
          <a:p xmlns:a="http://schemas.openxmlformats.org/drawingml/2006/main">
            <a:r>
              <a:t>VALIDATION</a:t>
            </a:r>
            <a:endParaRPr lang="en-US"/>
          </a:p>
          <a:p xmlns:a="http://schemas.openxmlformats.org/drawingml/2006/main">
            <a:r>
              <a:t>Technician / rules</a:t>
            </a:r>
            <a:endParaRPr lang="en-US"/>
          </a:p>
          <a:p xmlns:a="http://schemas.openxmlformats.org/drawingml/2006/main">
            <a:r>
              <a:t>5</a:t>
            </a:r>
            <a:endParaRPr lang="en-US"/>
          </a:p>
          <a:p xmlns:a="http://schemas.openxmlformats.org/drawingml/2006/main">
            <a:r>
              <a:t>ACTION</a:t>
            </a:r>
            <a:endParaRPr lang="en-US"/>
          </a:p>
          <a:p xmlns:a="http://schemas.openxmlformats.org/drawingml/2006/main">
            <a:r>
              <a:t>Rework / alert</a:t>
            </a:r>
            <a:endParaRPr lang="en-US"/>
          </a:p>
          <a:p xmlns:a="http://schemas.openxmlformats.org/drawingml/2006/main">
            <a:r>
              <a:t>A model cannot “see” every defect or bypass quality validation.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REAL-WORLD CASE · SHOUGANG</a:t>
            </a:r>
            <a:endParaRPr lang="en-US"/>
          </a:p>
          <a:p xmlns:a="http://schemas.openxmlformats.org/drawingml/2006/main">
            <a:r>
              <a:t>Can AI help produce higher-quality steel?</a:t>
            </a:r>
            <a:endParaRPr lang="en-US"/>
          </a:p>
          <a:p xmlns:a="http://schemas.openxmlformats.org/drawingml/2006/main">
            <a:r>
              <a:t>Beijing Shougang Cold Rolling · Global Lighthouse Network.</a:t>
            </a:r>
            <a:endParaRPr lang="en-US"/>
          </a:p>
          <a:p xmlns:a="http://schemas.openxmlformats.org/drawingml/2006/main">
            <a:r>
              <a:t>67</a:t>
            </a:r>
            <a:endParaRPr lang="en-US"/>
          </a:p>
          <a:p xmlns:a="http://schemas.openxmlformats.org/drawingml/2006/main">
            <a:r>
              <a:t>advanced manufacturing</a:t>
            </a:r>
            <a:endParaRPr lang="en-US"/>
          </a:p>
          <a:p xmlns:a="http://schemas.openxmlformats.org/drawingml/2006/main">
            <a:r>
              <a:t>technology applications</a:t>
            </a:r>
            <a:endParaRPr lang="en-US"/>
          </a:p>
          <a:p xmlns:a="http://schemas.openxmlformats.org/drawingml/2006/main">
            <a:r>
              <a:t>61%</a:t>
            </a:r>
            <a:endParaRPr lang="en-US"/>
          </a:p>
          <a:p xmlns:a="http://schemas.openxmlformats.org/drawingml/2006/main">
            <a:r>
              <a:t>of them incorporated AI</a:t>
            </a:r>
            <a:endParaRPr lang="en-US"/>
          </a:p>
          <a:p xmlns:a="http://schemas.openxmlformats.org/drawingml/2006/main">
            <a:r>
              <a:t>TRADITIONAL INDUSTRY CASE</a:t>
            </a:r>
            <a:endParaRPr lang="en-US"/>
          </a:p>
          <a:p xmlns:a="http://schemas.openxmlformats.org/drawingml/2006/main">
            <a:r>
              <a:t>CONCEPTUAL ILLUSTRATION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>https://www.weforum.org/media/global-lighthouse-network-2025-world-economic-forum-recognizes-companies-transforming-manufacturing-through-innovation/</a:t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SHOUGANG · MEASURED IMPACT</a:t>
            </a:r>
            <a:endParaRPr lang="en-US"/>
          </a:p>
          <a:p xmlns:a="http://schemas.openxmlformats.org/drawingml/2006/main">
            <a:r>
              <a:t>Fewer defects; greater production efficiency</a:t>
            </a:r>
            <a:endParaRPr lang="en-US"/>
          </a:p>
          <a:p xmlns:a="http://schemas.openxmlformats.org/drawingml/2006/main">
            <a:r>
              <a:t>Figures reported by the WEF case study, not a controlled causal experiment.</a:t>
            </a:r>
            <a:endParaRPr lang="en-US"/>
          </a:p>
          <a:p xmlns:a="http://schemas.openxmlformats.org/drawingml/2006/main">
            <a:r>
              <a:t>−35%</a:t>
            </a:r>
            <a:endParaRPr lang="en-US"/>
          </a:p>
          <a:p xmlns:a="http://schemas.openxmlformats.org/drawingml/2006/main">
            <a:r>
              <a:t>Product defects</a:t>
            </a:r>
            <a:endParaRPr lang="en-US"/>
          </a:p>
          <a:p xmlns:a="http://schemas.openxmlformats.org/drawingml/2006/main">
            <a:r>
              <a:t>+21.2%</a:t>
            </a:r>
            <a:endParaRPr lang="en-US"/>
          </a:p>
          <a:p xmlns:a="http://schemas.openxmlformats.org/drawingml/2006/main">
            <a:r>
              <a:t>Production-line efficiency</a:t>
            </a:r>
            <a:endParaRPr lang="en-US"/>
          </a:p>
          <a:p xmlns:a="http://schemas.openxmlformats.org/drawingml/2006/main">
            <a:r>
              <a:t>−55%</a:t>
            </a:r>
            <a:endParaRPr lang="en-US"/>
          </a:p>
          <a:p xmlns:a="http://schemas.openxmlformats.org/drawingml/2006/main">
            <a:r>
              <a:t>Customer complaints</a:t>
            </a:r>
            <a:endParaRPr lang="en-US"/>
          </a:p>
          <a:p xmlns:a="http://schemas.openxmlformats.org/drawingml/2006/main">
            <a:r>
              <a:t>If there were 100 defects before, a 35% reduction would leave 65.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>https://www.weforum.org/media/global-lighthouse-network-2025-world-economic-forum-recognizes-companies-transforming-manufacturing-through-innovation/</a:t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REAL-WORLD CASE · MIDEA</a:t>
            </a:r>
            <a:endParaRPr lang="en-US"/>
          </a:p>
          <a:p xmlns:a="http://schemas.openxmlformats.org/drawingml/2006/main">
            <a:r>
              <a:t>A factory that learns to produce different orders</a:t>
            </a:r>
            <a:endParaRPr lang="en-US"/>
          </a:p>
          <a:p xmlns:a="http://schemas.openxmlformats.org/drawingml/2006/main">
            <a:r>
              <a:t>Midea General Refrigeration, Chongqing · Refrigeration and industrial equipment.</a:t>
            </a:r>
            <a:endParaRPr lang="en-US"/>
          </a:p>
          <a:p xmlns:a="http://schemas.openxmlformats.org/drawingml/2006/main">
            <a:r>
              <a:t>FLEXIBLE PRODUCTION</a:t>
            </a:r>
            <a:endParaRPr lang="en-US"/>
          </a:p>
          <a:p xmlns:a="http://schemas.openxmlformats.org/drawingml/2006/main">
            <a:r>
              <a:t>79</a:t>
            </a:r>
            <a:endParaRPr lang="en-US"/>
          </a:p>
          <a:p xmlns:a="http://schemas.openxmlformats.org/drawingml/2006/main">
            <a:r>
              <a:t>digital use cases deployed</a:t>
            </a:r>
            <a:endParaRPr lang="en-US"/>
          </a:p>
          <a:p xmlns:a="http://schemas.openxmlformats.org/drawingml/2006/main">
            <a:r>
              <a:t>Customized orders:</a:t>
            </a:r>
            <a:endParaRPr lang="en-US"/>
          </a:p>
          <a:p xmlns:a="http://schemas.openxmlformats.org/drawingml/2006/main">
            <a:r>
              <a:t>from 31% to 87%</a:t>
            </a:r>
            <a:endParaRPr lang="en-US"/>
          </a:p>
          <a:p xmlns:a="http://schemas.openxmlformats.org/drawingml/2006/main">
            <a:r>
              <a:t>CONCEPTUAL ILLUSTRATION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>https://www.weforum.org/media/global-lighthouse-network-2025-world-economic-forum-recognizes-companies-transforming-manufacturing-through-innovation/</a:t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MIDEA · RESULTS</a:t>
            </a:r>
            <a:endParaRPr lang="en-US"/>
          </a:p>
          <a:p xmlns:a="http://schemas.openxmlformats.org/drawingml/2006/main">
            <a:r>
              <a:t>Customization without sacrificing speed or quality</a:t>
            </a:r>
            <a:endParaRPr lang="en-US"/>
          </a:p>
          <a:p xmlns:a="http://schemas.openxmlformats.org/drawingml/2006/main">
            <a:r>
              <a:t>WEF case study: indicators reported following the plant's digital transformation.</a:t>
            </a:r>
            <a:endParaRPr lang="en-US"/>
          </a:p>
          <a:p xmlns:a="http://schemas.openxmlformats.org/drawingml/2006/main">
            <a:r>
              <a:t>−81%</a:t>
            </a:r>
            <a:endParaRPr lang="en-US"/>
          </a:p>
          <a:p xmlns:a="http://schemas.openxmlformats.org/drawingml/2006/main">
            <a:r>
              <a:t>Setup time</a:t>
            </a:r>
            <a:endParaRPr lang="en-US"/>
          </a:p>
          <a:p xmlns:a="http://schemas.openxmlformats.org/drawingml/2006/main">
            <a:r>
              <a:t>−45%</a:t>
            </a:r>
            <a:endParaRPr lang="en-US"/>
          </a:p>
          <a:p xmlns:a="http://schemas.openxmlformats.org/drawingml/2006/main">
            <a:r>
              <a:t>Design time</a:t>
            </a:r>
            <a:endParaRPr lang="en-US"/>
          </a:p>
          <a:p xmlns:a="http://schemas.openxmlformats.org/drawingml/2006/main">
            <a:r>
              <a:t>−31%</a:t>
            </a:r>
            <a:endParaRPr lang="en-US"/>
          </a:p>
          <a:p xmlns:a="http://schemas.openxmlformats.org/drawingml/2006/main">
            <a:r>
              <a:t>After-sales failures</a:t>
            </a:r>
            <a:endParaRPr lang="en-US"/>
          </a:p>
          <a:p xmlns:a="http://schemas.openxmlformats.org/drawingml/2006/main">
            <a:r>
              <a:t>If setup took 100 minutes, an 81% reduction would bring it down to 19 minutes.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>https://www.weforum.org/media/global-lighthouse-network-2025-world-economic-forum-recognizes-companies-transforming-manufacturing-through-innovation/</a:t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REAL-WORLD ROBOTICS · IFR</a:t>
            </a:r>
            <a:endParaRPr lang="en-US"/>
          </a:p>
          <a:p xmlns:a="http://schemas.openxmlformats.org/drawingml/2006/main">
            <a:r>
              <a:t>China accounts for 59% of new robot installations</a:t>
            </a:r>
            <a:endParaRPr lang="en-US"/>
          </a:p>
          <a:p xmlns:a="http://schemas.openxmlformats.org/drawingml/2006/main">
            <a:r>
              <a:t>Industrial robot installations in 2025, a different category from humanoids.</a:t>
            </a:r>
            <a:endParaRPr lang="en-US"/>
          </a:p>
          <a:p xmlns:a="http://schemas.openxmlformats.org/drawingml/2006/main">
            <a:r>
              <a:t>354,000</a:t>
            </a:r>
            <a:endParaRPr lang="en-US"/>
          </a:p>
          <a:p xmlns:a="http://schemas.openxmlformats.org/drawingml/2006/main">
            <a:r>
              <a:t>Industrial robots installed in China</a:t>
            </a:r>
            <a:endParaRPr lang="en-US"/>
          </a:p>
          <a:p xmlns:a="http://schemas.openxmlformats.org/drawingml/2006/main">
            <a:r>
              <a:t>59%</a:t>
            </a:r>
            <a:endParaRPr lang="en-US"/>
          </a:p>
          <a:p xmlns:a="http://schemas.openxmlformats.org/drawingml/2006/main">
            <a:r>
              <a:t>Share of global installations</a:t>
            </a:r>
          </a:p>
          <a:p xmlns:a="http://schemas.openxmlformats.org/drawingml/2006/main">
            <a:r>
              <a:t>55%</a:t>
            </a:r>
          </a:p>
          <a:p xmlns:a="http://schemas.openxmlformats.org/drawingml/2006/main">
            <a:r>
              <a:t>share held by Chinese suppliers in their domestic market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further reading:</a:t>
            </a:r>
          </a:p>
          <a:p xmlns:a="http://schemas.openxmlformats.org/drawingml/2006/main">
            <a:r>
              <a:t>https://ifr.org/downloads/press_docs/EN-2026-SEP-24-IFR_Press_Release_WR-CHINA.pdf</a:t>
            </a:r>
          </a:p>
          <a:p xmlns:a="http://schemas.openxmlformats.org/drawingml/2006/main">
            <a:r>
              <a:t>https://ifr.org/downloads/press_docs/EN-2026-SEP-24-IFR_Press_Release_WR-USA.pdf</a:t>
            </a:r>
          </a:p>
          <a:p xmlns:a="http://schemas.openxmlformats.org/drawingml/2006/main">
            <a:r>
              <a:t>https://ifr.org/ifr-press-releases/five-million-robots-now-operate-in-factories-globally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 KINDS OF ROBOTICS</a:t>
            </a:r>
            <a:endParaRPr lang="en-US"/>
          </a:p>
          <a:p xmlns:a="http://schemas.openxmlformats.org/drawingml/2006/main">
            <a:r>
              <a:t>An industrial arm and a humanoid are not equivalent</a:t>
            </a:r>
            <a:endParaRPr lang="en-US"/>
          </a:p>
          <a:p xmlns:a="http://schemas.openxmlformats.org/drawingml/2006/main">
            <a:r>
              <a:t>Humanoids are visually compelling; evidence of mass industrial adoption is different.</a:t>
            </a:r>
            <a:endParaRPr lang="en-US"/>
          </a:p>
          <a:p xmlns:a="http://schemas.openxmlformats.org/drawingml/2006/main">
            <a:r>
              <a:t>INDUSTRIAL ROBOT · repeatable task</a:t>
            </a:r>
            <a:endParaRPr lang="en-US"/>
          </a:p>
          <a:p xmlns:a="http://schemas.openxmlformats.org/drawingml/2006/main">
            <a:r>
              <a:t>HUMANOID · mobility and manipulation</a:t>
            </a:r>
            <a:endParaRPr lang="en-US"/>
          </a:p>
          <a:p xmlns:a="http://schemas.openxmlformats.org/drawingml/2006/main">
            <a:r>
              <a:t>CONCEPTUAL ILLUSTRATION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UNITREE CASE · G1</a:t>
            </a:r>
            <a:endParaRPr lang="en-US"/>
          </a:p>
          <a:p xmlns:a="http://schemas.openxmlformats.org/drawingml/2006/main">
            <a:r>
              <a:t>A humanoid embodies an entire industrial network</a:t>
            </a:r>
            <a:endParaRPr lang="en-US"/>
          </a:p>
          <a:p xmlns:a="http://schemas.openxmlformats.org/drawingml/2006/main">
            <a:r>
              <a:t>Behind its movements lie electronics, motors, control, sensors, and batteries.</a:t>
            </a:r>
            <a:endParaRPr lang="en-US"/>
          </a:p>
          <a:p xmlns:a="http://schemas.openxmlformats.org/drawingml/2006/main">
            <a:r>
              <a:t>ACTUATORS</a:t>
            </a:r>
            <a:endParaRPr lang="en-US"/>
          </a:p>
          <a:p xmlns:a="http://schemas.openxmlformats.org/drawingml/2006/main">
            <a:r>
              <a:t>Motors and transmission</a:t>
            </a:r>
            <a:endParaRPr lang="en-US"/>
          </a:p>
          <a:p xmlns:a="http://schemas.openxmlformats.org/drawingml/2006/main">
            <a:r>
              <a:t>PERCEPTION</a:t>
            </a:r>
            <a:endParaRPr lang="en-US"/>
          </a:p>
          <a:p xmlns:a="http://schemas.openxmlformats.org/drawingml/2006/main">
            <a:r>
              <a:t>Cameras and sensors</a:t>
            </a:r>
            <a:endParaRPr lang="en-US"/>
          </a:p>
          <a:p xmlns:a="http://schemas.openxmlformats.org/drawingml/2006/main">
            <a:r>
              <a:t>COMPUTING</a:t>
            </a:r>
            <a:endParaRPr lang="en-US"/>
          </a:p>
          <a:p xmlns:a="http://schemas.openxmlformats.org/drawingml/2006/main">
            <a:r>
              <a:t>Chips and software</a:t>
            </a:r>
            <a:endParaRPr lang="en-US"/>
          </a:p>
          <a:p xmlns:a="http://schemas.openxmlformats.org/drawingml/2006/main">
            <a:r>
              <a:t>ENERGY</a:t>
            </a:r>
            <a:endParaRPr lang="en-US"/>
          </a:p>
          <a:p xmlns:a="http://schemas.openxmlformats.org/drawingml/2006/main">
            <a:r>
              <a:t>Batteries and management</a:t>
            </a:r>
            <a:endParaRPr lang="en-US"/>
          </a:p>
          <a:p xmlns:a="http://schemas.openxmlformats.org/drawingml/2006/main">
            <a:r>
              <a:t>CONTROL</a:t>
            </a:r>
            <a:endParaRPr lang="en-US"/>
          </a:p>
          <a:p xmlns:a="http://schemas.openxmlformats.org/drawingml/2006/main">
            <a:r>
              <a:t>Motion and balance</a:t>
            </a:r>
            <a:endParaRPr lang="en-US"/>
          </a:p>
          <a:p xmlns:a="http://schemas.openxmlformats.org/drawingml/2006/main">
            <a:r>
              <a:t>CONCEPTUAL ILLUSTRATION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>https://www.unitree.com/g1/</a:t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UNITREE · EVIDENCE</a:t>
            </a:r>
            <a:endParaRPr lang="en-US"/>
          </a:p>
          <a:p xmlns:a="http://schemas.openxmlformats.org/drawingml/2006/main">
            <a:r>
              <a:t>An impressive video does not prove industrial autonomy</a:t>
            </a:r>
            <a:endParaRPr lang="en-US"/>
          </a:p>
          <a:p xmlns:a="http://schemas.openxmlformats.org/drawingml/2006/main">
            <a:r>
              <a:t>Three levels of evidence that must not be confused.</a:t>
            </a:r>
            <a:endParaRPr lang="en-US"/>
          </a:p>
          <a:p xmlns:a="http://schemas.openxmlformats.org/drawingml/2006/main">
            <a:r>
              <a:t>01</a:t>
            </a:r>
            <a:endParaRPr lang="en-US"/>
          </a:p>
          <a:p xmlns:a="http://schemas.openxmlformats.org/drawingml/2006/main">
            <a:r>
              <a:t>DEMONSTRATION</a:t>
            </a:r>
            <a:endParaRPr lang="en-US"/>
          </a:p>
          <a:p xmlns:a="http://schemas.openxmlformats.org/drawingml/2006/main">
            <a:r>
              <a:t>Walks, dances, or performs a routine.</a:t>
            </a:r>
            <a:endParaRPr lang="en-US"/>
          </a:p>
          <a:p xmlns:a="http://schemas.openxmlformats.org/drawingml/2006/main">
            <a:r>
              <a:t>Teleoperated? How many attempts?</a:t>
            </a:r>
            <a:endParaRPr lang="en-US"/>
          </a:p>
          <a:p xmlns:a="http://schemas.openxmlformats.org/drawingml/2006/main">
            <a:r>
              <a:t>02</a:t>
            </a:r>
            <a:endParaRPr lang="en-US"/>
          </a:p>
          <a:p xmlns:a="http://schemas.openxmlformats.org/drawingml/2006/main">
            <a:r>
              <a:t>TECHNICAL CAPABILITY</a:t>
            </a:r>
            <a:endParaRPr lang="en-US"/>
          </a:p>
          <a:p xmlns:a="http://schemas.openxmlformats.org/drawingml/2006/main">
            <a:r>
              <a:t>Perceives, controls joints, manipulates objects.</a:t>
            </a:r>
            <a:endParaRPr lang="en-US"/>
          </a:p>
          <a:p xmlns:a="http://schemas.openxmlformats.org/drawingml/2006/main">
            <a:r>
              <a:t>With what precision and in what environment?</a:t>
            </a:r>
            <a:endParaRPr lang="en-US"/>
          </a:p>
          <a:p xmlns:a="http://schemas.openxmlformats.org/drawingml/2006/main">
            <a:r>
              <a:t>03</a:t>
            </a:r>
            <a:endParaRPr lang="en-US"/>
          </a:p>
          <a:p xmlns:a="http://schemas.openxmlformats.org/drawingml/2006/main">
            <a:r>
              <a:t>PRODUCTIVE VALUE</a:t>
            </a:r>
            <a:endParaRPr lang="en-US"/>
          </a:p>
          <a:p xmlns:a="http://schemas.openxmlformats.org/drawingml/2006/main">
            <a:r>
              <a:t>Works safely, reliably, and at competitive cost.</a:t>
            </a:r>
            <a:endParaRPr lang="en-US"/>
          </a:p>
          <a:p xmlns:a="http://schemas.openxmlformats.org/drawingml/2006/main">
            <a:r>
              <a:t>What are its uptime, failure rate, and cost?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>https://www.unitree.com/g1/</a:t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hypothetical teaching example. Its numbers do not describe an observed plant.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TEACHING EXERCISE 02</a:t>
            </a:r>
            <a:endParaRPr lang="en-US"/>
          </a:p>
          <a:p xmlns:a="http://schemas.openxmlformats.org/drawingml/2006/main">
            <a:r>
              <a:t>The same 20 robots, different outcomes</a:t>
            </a:r>
            <a:endParaRPr lang="en-US"/>
          </a:p>
          <a:p xmlns:a="http://schemas.openxmlformats.org/drawingml/2006/main">
            <a:r>
              <a:t>Assumptions: same workforce, shifts, complexity, and required quality.</a:t>
            </a:r>
            <a:endParaRPr lang="en-US"/>
          </a:p>
          <a:p xmlns:a="http://schemas.openxmlformats.org/drawingml/2006/main">
            <a:r>
              <a:t>FACTORY A</a:t>
            </a:r>
            <a:endParaRPr lang="en-US"/>
          </a:p>
          <a:p xmlns:a="http://schemas.openxmlformats.org/drawingml/2006/main">
            <a:r>
              <a:t>100 workers + 20 robots</a:t>
            </a:r>
            <a:endParaRPr lang="en-US"/>
          </a:p>
          <a:p xmlns:a="http://schemas.openxmlformats.org/drawingml/2006/main">
            <a:r>
              <a:t>1,000 parts · 5% defects</a:t>
            </a:r>
            <a:endParaRPr lang="en-US"/>
          </a:p>
          <a:p xmlns:a="http://schemas.openxmlformats.org/drawingml/2006/main">
            <a:r>
              <a:t>950</a:t>
            </a:r>
            <a:endParaRPr lang="en-US"/>
          </a:p>
          <a:p xmlns:a="http://schemas.openxmlformats.org/drawingml/2006/main">
            <a:r>
              <a:t>good parts per day</a:t>
            </a:r>
            <a:endParaRPr lang="en-US"/>
          </a:p>
          <a:p xmlns:a="http://schemas.openxmlformats.org/drawingml/2006/main">
            <a:r>
              <a:t>FACTORY B</a:t>
            </a:r>
            <a:endParaRPr lang="en-US"/>
          </a:p>
          <a:p xmlns:a="http://schemas.openxmlformats.org/drawingml/2006/main">
            <a:r>
              <a:t>100 workers + 20 robots</a:t>
            </a:r>
            <a:endParaRPr lang="en-US"/>
          </a:p>
          <a:p xmlns:a="http://schemas.openxmlformats.org/drawingml/2006/main">
            <a:r>
              <a:t>1,150 parts · 2% defects</a:t>
            </a:r>
            <a:endParaRPr lang="en-US"/>
          </a:p>
          <a:p xmlns:a="http://schemas.openxmlformats.org/drawingml/2006/main">
            <a:r>
              <a:t>1,127</a:t>
            </a:r>
            <a:endParaRPr lang="en-US"/>
          </a:p>
          <a:p xmlns:a="http://schemas.openxmlformats.org/drawingml/2006/main">
            <a:r>
              <a:t>good parts per day</a:t>
            </a:r>
            <a:endParaRPr lang="en-US"/>
          </a:p>
          <a:p xmlns:a="http://schemas.openxmlformats.org/drawingml/2006/main">
            <a:r>
              <a:t>Factory B produces 177 more good parts per day: +18.6% without buying more robots.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ECONOMIC LOGIC</a:t>
            </a:r>
            <a:endParaRPr lang="en-US"/>
          </a:p>
          <a:p xmlns:a="http://schemas.openxmlformats.org/drawingml/2006/main">
            <a:r>
              <a:t>More robots do not automatically mean higher productivity</a:t>
            </a:r>
            <a:endParaRPr lang="en-US"/>
          </a:p>
          <a:p xmlns:a="http://schemas.openxmlformats.org/drawingml/2006/main">
            <a:r>
              <a:t>Five conditions must be evaluated before investing.</a:t>
            </a:r>
            <a:endParaRPr lang="en-US"/>
          </a:p>
          <a:p xmlns:a="http://schemas.openxmlformats.org/drawingml/2006/main">
            <a:r>
              <a:t>01</a:t>
            </a:r>
            <a:endParaRPr lang="en-US"/>
          </a:p>
          <a:p xmlns:a="http://schemas.openxmlformats.org/drawingml/2006/main">
            <a:r>
              <a:t>CAPITAL</a:t>
            </a:r>
            <a:endParaRPr lang="en-US"/>
          </a:p>
          <a:p xmlns:a="http://schemas.openxmlformats.org/drawingml/2006/main">
            <a:r>
              <a:t>Purchase price and installation</a:t>
            </a:r>
            <a:endParaRPr lang="en-US"/>
          </a:p>
          <a:p xmlns:a="http://schemas.openxmlformats.org/drawingml/2006/main">
            <a:r>
              <a:t>02</a:t>
            </a:r>
            <a:endParaRPr lang="en-US"/>
          </a:p>
          <a:p xmlns:a="http://schemas.openxmlformats.org/drawingml/2006/main">
            <a:r>
              <a:t>OPERATIONS</a:t>
            </a:r>
            <a:endParaRPr lang="en-US"/>
          </a:p>
          <a:p xmlns:a="http://schemas.openxmlformats.org/drawingml/2006/main">
            <a:r>
              <a:t>Uptime and failures</a:t>
            </a:r>
            <a:endParaRPr lang="en-US"/>
          </a:p>
          <a:p xmlns:a="http://schemas.openxmlformats.org/drawingml/2006/main">
            <a:r>
              <a:t>03</a:t>
            </a:r>
            <a:endParaRPr lang="en-US"/>
          </a:p>
          <a:p xmlns:a="http://schemas.openxmlformats.org/drawingml/2006/main">
            <a:r>
              <a:t>PEOPLE</a:t>
            </a:r>
            <a:endParaRPr lang="en-US"/>
          </a:p>
          <a:p xmlns:a="http://schemas.openxmlformats.org/drawingml/2006/main">
            <a:r>
              <a:t>Engineering and training</a:t>
            </a:r>
            <a:endParaRPr lang="en-US"/>
          </a:p>
          <a:p xmlns:a="http://schemas.openxmlformats.org/drawingml/2006/main">
            <a:r>
              <a:t>04</a:t>
            </a:r>
            <a:endParaRPr lang="en-US"/>
          </a:p>
          <a:p xmlns:a="http://schemas.openxmlformats.org/drawingml/2006/main">
            <a:r>
              <a:t>QUALITY</a:t>
            </a:r>
            <a:endParaRPr lang="en-US"/>
          </a:p>
          <a:p xmlns:a="http://schemas.openxmlformats.org/drawingml/2006/main">
            <a:r>
              <a:t>Defects and rework</a:t>
            </a:r>
            <a:endParaRPr lang="en-US"/>
          </a:p>
          <a:p xmlns:a="http://schemas.openxmlformats.org/drawingml/2006/main">
            <a:r>
              <a:t>05</a:t>
            </a:r>
            <a:endParaRPr lang="en-US"/>
          </a:p>
          <a:p xmlns:a="http://schemas.openxmlformats.org/drawingml/2006/main">
            <a:r>
              <a:t>DEMAND</a:t>
            </a:r>
            <a:endParaRPr lang="en-US"/>
          </a:p>
          <a:p xmlns:a="http://schemas.openxmlformats.org/drawingml/2006/main">
            <a:r>
              <a:t>Sales needed to recoup investment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>https://sgevatschnaider.github.io/Inteligencia-Artificial-y-Rob-tica-en-China/recursos/Capital%20Rob%C3%B3tico%20vs%20Capital%20Com%C3%BAn%20%E2%80%94%20Efecto%20del%20Data%20Flywheel.html</a:t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CASE STUDY · XIAOMI</a:t>
            </a:r>
            <a:endParaRPr lang="en-US"/>
          </a:p>
          <a:p xmlns:a="http://schemas.openxmlformats.org/drawingml/2006/main">
            <a:r>
              <a:t>From electronics to the electric car</a:t>
            </a:r>
            <a:endParaRPr lang="en-US"/>
          </a:p>
          <a:p xmlns:a="http://schemas.openxmlformats.org/drawingml/2006/main">
            <a:r>
              <a:t>A case of capability transfer: software, hardware, suppliers, and engineering.</a:t>
            </a:r>
            <a:endParaRPr lang="en-US"/>
          </a:p>
          <a:p xmlns:a="http://schemas.openxmlformats.org/drawingml/2006/main">
            <a:r>
              <a:t>BEFORE</a:t>
            </a:r>
            <a:endParaRPr lang="en-US"/>
          </a:p>
          <a:p xmlns:a="http://schemas.openxmlformats.org/drawingml/2006/main">
            <a:r>
              <a:t>Electronics and connected devices</a:t>
            </a:r>
            <a:endParaRPr lang="en-US"/>
          </a:p>
          <a:p xmlns:a="http://schemas.openxmlformats.org/drawingml/2006/main">
            <a:r>
              <a:t>CAPABILITY TRANSFER</a:t>
            </a:r>
            <a:endParaRPr lang="en-US"/>
          </a:p>
          <a:p xmlns:a="http://schemas.openxmlformats.org/drawingml/2006/main">
            <a:r>
              <a:t>Design, software, supply chain</a:t>
            </a:r>
            <a:endParaRPr lang="en-US"/>
          </a:p>
          <a:p xmlns:a="http://schemas.openxmlformats.org/drawingml/2006/main">
            <a:r>
              <a:t>NEW SECTOR</a:t>
            </a:r>
            <a:endParaRPr lang="en-US"/>
          </a:p>
          <a:p xmlns:a="http://schemas.openxmlformats.org/drawingml/2006/main">
            <a:r>
              <a:t>Electric vehicles and integrated manufacturing</a:t>
            </a:r>
            <a:endParaRPr lang="en-US"/>
          </a:p>
          <a:p xmlns:a="http://schemas.openxmlformats.org/drawingml/2006/main">
            <a:r>
              <a:t>CONCEPTUAL ILLUSTRATION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>https://www.xiaomiev.com/hyperfactory</a:t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ELECTRIC VEHICLE ECOSYSTEM</a:t>
            </a:r>
            <a:endParaRPr lang="en-US"/>
          </a:p>
          <a:p xmlns:a="http://schemas.openxmlformats.org/drawingml/2006/main">
            <a:r>
              <a:t>China turns industrial capabilities into a new sector</a:t>
            </a:r>
            <a:endParaRPr lang="en-US"/>
          </a:p>
          <a:p xmlns:a="http://schemas.openxmlformats.org/drawingml/2006/main">
            <a:r>
              <a:t>Electric vehicles in China, BEVs and PHEVs. Data for 2025.</a:t>
            </a:r>
            <a:endParaRPr lang="en-US"/>
          </a:p>
          <a:p xmlns:a="http://schemas.openxmlformats.org/drawingml/2006/main">
            <a:r>
              <a:t>≈ 16 M</a:t>
            </a:r>
            <a:endParaRPr lang="en-US"/>
          </a:p>
          <a:p xmlns:a="http://schemas.openxmlformats.org/drawingml/2006/main">
            <a:r>
              <a:t>Electric vehicles manufactured in</a:t>
            </a:r>
            <a:endParaRPr lang="en-US"/>
          </a:p>
          <a:p xmlns:a="http://schemas.openxmlformats.org/drawingml/2006/main">
            <a:r>
              <a:t>China</a:t>
            </a:r>
            <a:endParaRPr lang="en-US"/>
          </a:p>
          <a:p xmlns:a="http://schemas.openxmlformats.org/drawingml/2006/main">
            <a:r>
              <a:t>≈ 75%</a:t>
            </a:r>
            <a:endParaRPr lang="en-US"/>
          </a:p>
          <a:p xmlns:a="http://schemas.openxmlformats.org/drawingml/2006/main">
            <a:r>
              <a:t>Share of global production, 2025</a:t>
            </a:r>
            <a:endParaRPr lang="en-US"/>
          </a:p>
          <a:p xmlns:a="http://schemas.openxmlformats.org/drawingml/2006/main">
            <a:r>
              <a:t>&gt;2.5 M</a:t>
            </a:r>
            <a:endParaRPr lang="en-US"/>
          </a:p>
          <a:p xmlns:a="http://schemas.openxmlformats.org/drawingml/2006/main">
            <a:r>
              <a:t>China's electric vehicle exports</a:t>
            </a:r>
            <a:endParaRPr lang="en-US"/>
          </a:p>
          <a:p xmlns:a="http://schemas.openxmlformats.org/drawingml/2006/main">
            <a:r>
              <a:t>in 2025</a:t>
            </a:r>
            <a:endParaRPr lang="en-US"/>
          </a:p>
          <a:p xmlns:a="http://schemas.openxmlformats.org/drawingml/2006/main">
            <a:r>
              <a:t>Batteries + motors + chips + software + suppliers + market = integrated industry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>https://www.iea.org/reports/global-ev-outlook-2026/manufacturing-and-trade</a:t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03</a:t>
            </a:r>
            <a:endParaRPr lang="en-US"/>
          </a:p>
          <a:p xmlns:a="http://schemas.openxmlformats.org/drawingml/2006/main">
            <a:r>
              <a:t>AI + INDUSTRY</a:t>
            </a:r>
            <a:endParaRPr lang="en-US"/>
          </a:p>
          <a:p xmlns:a="http://schemas.openxmlformats.org/drawingml/2006/main">
            <a:r>
              <a:t>Artificial</a:t>
            </a:r>
            <a:endParaRPr lang="en-US"/>
          </a:p>
          <a:p xmlns:a="http://schemas.openxmlformats.org/drawingml/2006/main">
            <a:r>
              <a:t>intelligence leaves</a:t>
            </a:r>
            <a:endParaRPr lang="en-US"/>
          </a:p>
          <a:p xmlns:a="http://schemas.openxmlformats.org/drawingml/2006/main">
            <a:r>
              <a:t>the laboratory</a:t>
            </a:r>
            <a:endParaRPr lang="en-US"/>
          </a:p>
          <a:p xmlns:a="http://schemas.openxmlformats.org/drawingml/2006/main">
            <a:r>
              <a:t>Its value depends on data, people, and processes</a:t>
            </a:r>
            <a:endParaRPr lang="en-US"/>
          </a:p>
          <a:p xmlns:a="http://schemas.openxmlformats.org/drawingml/2006/main">
            <a:r>
              <a:t>capable of putting it to work.</a:t>
            </a:r>
            <a:endParaRPr lang="en-US"/>
          </a:p>
          <a:p xmlns:a="http://schemas.openxmlformats.org/drawingml/2006/main">
            <a:r>
              <a:t>CONCEPTUAL ILLUSTRATION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CONCEPT · AI+</a:t>
            </a:r>
            <a:endParaRPr lang="en-US"/>
          </a:p>
          <a:p xmlns:a="http://schemas.openxmlformats.org/drawingml/2006/main">
            <a:r>
              <a:t>Six areas of application for artificial intelligence</a:t>
            </a:r>
            <a:endParaRPr lang="en-US"/>
          </a:p>
          <a:p xmlns:a="http://schemas.openxmlformats.org/drawingml/2006/main">
            <a:r>
              <a:t>China's State Council · Guidelines issued in August 2025.</a:t>
            </a:r>
            <a:endParaRPr lang="en-US"/>
          </a:p>
          <a:p xmlns:a="http://schemas.openxmlformats.org/drawingml/2006/main">
            <a:r>
              <a:t>1</a:t>
            </a:r>
            <a:endParaRPr lang="en-US"/>
          </a:p>
          <a:p xmlns:a="http://schemas.openxmlformats.org/drawingml/2006/main">
            <a:r>
              <a:t>SCIENCE</a:t>
            </a:r>
            <a:endParaRPr lang="en-US"/>
          </a:p>
          <a:p xmlns:a="http://schemas.openxmlformats.org/drawingml/2006/main">
            <a:r>
              <a:t>Discovery and simulation</a:t>
            </a:r>
            <a:endParaRPr lang="en-US"/>
          </a:p>
          <a:p xmlns:a="http://schemas.openxmlformats.org/drawingml/2006/main">
            <a:r>
              <a:t>2</a:t>
            </a:r>
            <a:endParaRPr lang="en-US"/>
          </a:p>
          <a:p xmlns:a="http://schemas.openxmlformats.org/drawingml/2006/main">
            <a:r>
              <a:t>INDUSTRY</a:t>
            </a:r>
            <a:endParaRPr lang="en-US"/>
          </a:p>
          <a:p xmlns:a="http://schemas.openxmlformats.org/drawingml/2006/main">
            <a:r>
              <a:t>Manufacturing and processes</a:t>
            </a:r>
            <a:endParaRPr lang="en-US"/>
          </a:p>
          <a:p xmlns:a="http://schemas.openxmlformats.org/drawingml/2006/main">
            <a:r>
              <a:t>3</a:t>
            </a:r>
            <a:endParaRPr lang="en-US"/>
          </a:p>
          <a:p xmlns:a="http://schemas.openxmlformats.org/drawingml/2006/main">
            <a:r>
              <a:t>CONSUMPTION</a:t>
            </a:r>
            <a:endParaRPr lang="en-US"/>
          </a:p>
          <a:p xmlns:a="http://schemas.openxmlformats.org/drawingml/2006/main">
            <a:r>
              <a:t>Products and services</a:t>
            </a:r>
            <a:endParaRPr lang="en-US"/>
          </a:p>
          <a:p xmlns:a="http://schemas.openxmlformats.org/drawingml/2006/main">
            <a:r>
              <a:t>4</a:t>
            </a:r>
            <a:endParaRPr lang="en-US"/>
          </a:p>
          <a:p xmlns:a="http://schemas.openxmlformats.org/drawingml/2006/main">
            <a:r>
              <a:t>PUBLIC WELL-BEING</a:t>
            </a:r>
            <a:endParaRPr lang="en-US"/>
          </a:p>
          <a:p xmlns:a="http://schemas.openxmlformats.org/drawingml/2006/main">
            <a:r>
              <a:t>Health and education</a:t>
            </a:r>
            <a:endParaRPr lang="en-US"/>
          </a:p>
          <a:p xmlns:a="http://schemas.openxmlformats.org/drawingml/2006/main">
            <a:r>
              <a:t>5</a:t>
            </a:r>
            <a:endParaRPr lang="en-US"/>
          </a:p>
          <a:p xmlns:a="http://schemas.openxmlformats.org/drawingml/2006/main">
            <a:r>
              <a:t>GOVERNANCE</a:t>
            </a:r>
            <a:endParaRPr lang="en-US"/>
          </a:p>
          <a:p xmlns:a="http://schemas.openxmlformats.org/drawingml/2006/main">
            <a:r>
              <a:t>Public administration</a:t>
            </a:r>
            <a:endParaRPr lang="en-US"/>
          </a:p>
          <a:p xmlns:a="http://schemas.openxmlformats.org/drawingml/2006/main">
            <a:r>
              <a:t>6</a:t>
            </a:r>
            <a:endParaRPr lang="en-US"/>
          </a:p>
          <a:p xmlns:a="http://schemas.openxmlformats.org/drawingml/2006/main">
            <a:r>
              <a:t>COOPERATION</a:t>
            </a:r>
            <a:endParaRPr lang="en-US"/>
          </a:p>
          <a:p xmlns:a="http://schemas.openxmlformats.org/drawingml/2006/main">
            <a:r>
              <a:t>International cooperation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>https://www.cac.gov.cn/2025-08/27/c_1758018277755538.htm</a:t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AI+ · TARGETS</a:t>
            </a:r>
            <a:endParaRPr lang="en-US"/>
          </a:p>
          <a:p xmlns:a="http://schemas.openxmlformats.org/drawingml/2006/main">
            <a:r>
              <a:t>The AI+ targets for 2027 and 2030</a:t>
            </a:r>
            <a:endParaRPr lang="en-US"/>
          </a:p>
          <a:p xmlns:a="http://schemas.openxmlformats.org/drawingml/2006/main">
            <a:r>
              <a:t>Target penetration of next-generation smart terminals and AI agent applications.</a:t>
            </a:r>
            <a:endParaRPr lang="en-US"/>
          </a:p>
          <a:p xmlns:a="http://schemas.openxmlformats.org/drawingml/2006/main">
            <a:r>
              <a:t>&gt;70%</a:t>
            </a:r>
            <a:endParaRPr lang="en-US"/>
          </a:p>
          <a:p xmlns:a="http://schemas.openxmlformats.org/drawingml/2006/main">
            <a:r>
              <a:t>Official target for 2027</a:t>
            </a:r>
            <a:endParaRPr lang="en-US"/>
          </a:p>
          <a:p xmlns:a="http://schemas.openxmlformats.org/drawingml/2006/main">
            <a:r>
              <a:t>&gt;90%</a:t>
            </a:r>
            <a:endParaRPr lang="en-US"/>
          </a:p>
          <a:p xmlns:a="http://schemas.openxmlformats.org/drawingml/2006/main">
            <a:r>
              <a:t>Official target for 2030</a:t>
            </a:r>
            <a:endParaRPr lang="en-US"/>
          </a:p>
          <a:p xmlns:a="http://schemas.openxmlformats.org/drawingml/2006/main">
            <a:r>
              <a:t>2035</a:t>
            </a:r>
            <a:endParaRPr lang="en-US"/>
          </a:p>
          <a:p xmlns:a="http://schemas.openxmlformats.org/drawingml/2006/main">
            <a:r>
              <a:t>Horizon for an intelligent economy</a:t>
            </a:r>
            <a:endParaRPr lang="en-US"/>
          </a:p>
          <a:p xmlns:a="http://schemas.openxmlformats.org/drawingml/2006/main">
            <a:r>
              <a:t>and society</a:t>
            </a:r>
            <a:endParaRPr lang="en-US"/>
          </a:p>
          <a:p xmlns:a="http://schemas.openxmlformats.org/drawingml/2006/main">
            <a:r>
              <a:t>The indicator refers to smart terminals and AI agent applications.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>https://cset.georgetown.edu/publication/china-ai-plus-opinions-2025/</a:t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hypothetical teaching example. Its numbers do not describe an observed plant.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TEACHING EXERCISE 03</a:t>
            </a:r>
            <a:endParaRPr lang="en-US"/>
          </a:p>
          <a:p xmlns:a="http://schemas.openxmlformats.org/drawingml/2006/main">
            <a:r>
              <a:t>How can AI help prevent a machine from stopping?</a:t>
            </a:r>
            <a:endParaRPr lang="en-US"/>
          </a:p>
          <a:p xmlns:a="http://schemas.openxmlformats.org/drawingml/2006/main">
            <a:r>
              <a:t>HYPOTHETICAL example of predictive maintenance.</a:t>
            </a:r>
            <a:endParaRPr lang="en-US"/>
          </a:p>
          <a:p xmlns:a="http://schemas.openxmlformats.org/drawingml/2006/main">
            <a:r>
              <a:t>BEFORE</a:t>
            </a:r>
            <a:endParaRPr lang="en-US"/>
          </a:p>
          <a:p xmlns:a="http://schemas.openxmlformats.org/drawingml/2006/main">
            <a:r>
              <a:t>160 h</a:t>
            </a:r>
            <a:endParaRPr lang="en-US"/>
          </a:p>
          <a:p xmlns:a="http://schemas.openxmlformats.org/drawingml/2006/main">
            <a:r>
              <a:t>of unplanned downtime per year</a:t>
            </a:r>
            <a:endParaRPr lang="en-US"/>
          </a:p>
          <a:p xmlns:a="http://schemas.openxmlformats.org/drawingml/2006/main">
            <a:r>
              <a:t>AFTER</a:t>
            </a:r>
            <a:endParaRPr lang="en-US"/>
          </a:p>
          <a:p xmlns:a="http://schemas.openxmlformats.org/drawingml/2006/main">
            <a:r>
              <a:t>80 h</a:t>
            </a:r>
            <a:endParaRPr lang="en-US"/>
          </a:p>
          <a:p xmlns:a="http://schemas.openxmlformats.org/drawingml/2006/main">
            <a:r>
              <a:t>of unplanned downtime per year</a:t>
            </a:r>
            <a:endParaRPr lang="en-US"/>
          </a:p>
          <a:p xmlns:a="http://schemas.openxmlformats.org/drawingml/2006/main">
            <a:r>
              <a:t>50% less downtime does NOT mean 50% more total production.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CONDITIONS FOR USE</a:t>
            </a:r>
            <a:endParaRPr lang="en-US"/>
          </a:p>
          <a:p xmlns:a="http://schemas.openxmlformats.org/drawingml/2006/main">
            <a:r>
              <a:t>The requirements for industrial AI adoption</a:t>
            </a:r>
            <a:endParaRPr lang="en-US"/>
          </a:p>
          <a:p xmlns:a="http://schemas.openxmlformats.org/drawingml/2006/main">
            <a:r>
              <a:t>Buying a model is not the same as improving a factory.</a:t>
            </a:r>
            <a:endParaRPr lang="en-US"/>
          </a:p>
          <a:p xmlns:a="http://schemas.openxmlformats.org/drawingml/2006/main">
            <a:r>
              <a:t>DATA</a:t>
            </a:r>
            <a:endParaRPr lang="en-US"/>
          </a:p>
          <a:p xmlns:a="http://schemas.openxmlformats.org/drawingml/2006/main">
            <a:r>
              <a:t>Are the sensors reliable?</a:t>
            </a:r>
            <a:endParaRPr lang="en-US"/>
          </a:p>
          <a:p xmlns:a="http://schemas.openxmlformats.org/drawingml/2006/main">
            <a:r>
              <a:t>MODELS</a:t>
            </a:r>
            <a:endParaRPr lang="en-US"/>
          </a:p>
          <a:p xmlns:a="http://schemas.openxmlformats.org/drawingml/2006/main">
            <a:r>
              <a:t>Do they solve a real problem?</a:t>
            </a:r>
            <a:endParaRPr lang="en-US"/>
          </a:p>
          <a:p xmlns:a="http://schemas.openxmlformats.org/drawingml/2006/main">
            <a:r>
              <a:t>PEOPLE</a:t>
            </a:r>
            <a:endParaRPr lang="en-US"/>
          </a:p>
          <a:p xmlns:a="http://schemas.openxmlformats.org/drawingml/2006/main">
            <a:r>
              <a:t>Who validates and repairs?</a:t>
            </a:r>
            <a:endParaRPr lang="en-US"/>
          </a:p>
          <a:p xmlns:a="http://schemas.openxmlformats.org/drawingml/2006/main">
            <a:r>
              <a:t>PROCESSES</a:t>
            </a:r>
            <a:endParaRPr lang="en-US"/>
          </a:p>
          <a:p xmlns:a="http://schemas.openxmlformats.org/drawingml/2006/main">
            <a:r>
              <a:t>Can the decision actually be implemented?</a:t>
            </a:r>
            <a:endParaRPr lang="en-US"/>
          </a:p>
          <a:p xmlns:a="http://schemas.openxmlformats.org/drawingml/2006/main">
            <a:r>
              <a:t>Integration determines how effectively technology is used.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04</a:t>
            </a:r>
            <a:endParaRPr lang="en-US"/>
          </a:p>
          <a:p xmlns:a="http://schemas.openxmlformats.org/drawingml/2006/main">
            <a:r>
              <a:t>STRATEGY 2030</a:t>
            </a:r>
            <a:endParaRPr lang="en-US"/>
          </a:p>
          <a:p xmlns:a="http://schemas.openxmlformats.org/drawingml/2006/main">
            <a:r>
              <a:t>The 15th Five-Year Plan:</a:t>
            </a:r>
            <a:endParaRPr lang="en-US"/>
          </a:p>
          <a:p xmlns:a="http://schemas.openxmlformats.org/drawingml/2006/main">
            <a:r>
              <a:t>new productive</a:t>
            </a:r>
            <a:endParaRPr lang="en-US"/>
          </a:p>
          <a:p xmlns:a="http://schemas.openxmlformats.org/drawingml/2006/main">
            <a:r>
              <a:t>capabilities</a:t>
            </a:r>
            <a:endParaRPr lang="en-US"/>
          </a:p>
          <a:p xmlns:a="http://schemas.openxmlformats.org/drawingml/2006/main">
            <a:r>
              <a:t>The objective is to reshape the industry's technology mix,</a:t>
            </a:r>
            <a:endParaRPr lang="en-US"/>
          </a:p>
          <a:p xmlns:a="http://schemas.openxmlformats.org/drawingml/2006/main">
            <a:r>
              <a:t>not merely increase its output.</a:t>
            </a:r>
            <a:endParaRPr lang="en-US"/>
          </a:p>
          <a:p xmlns:a="http://schemas.openxmlformats.org/drawingml/2006/main">
            <a:r>
              <a:t>CONCEPTUAL ILLUSTRATION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POLICY HORIZONS</a:t>
            </a:r>
            <a:endParaRPr lang="en-US"/>
          </a:p>
          <a:p xmlns:a="http://schemas.openxmlformats.org/drawingml/2006/main">
            <a:r>
              <a:t>Three instruments of industrial modernization</a:t>
            </a:r>
            <a:endParaRPr lang="en-US"/>
          </a:p>
          <a:p xmlns:a="http://schemas.openxmlformats.org/drawingml/2006/main">
            <a:r>
              <a:t>Distinct instruments that overlap and respond to changing needs.</a:t>
            </a:r>
            <a:endParaRPr lang="en-US"/>
          </a:p>
          <a:p xmlns:a="http://schemas.openxmlformats.org/drawingml/2006/main">
            <a:r>
              <a:t>2015</a:t>
            </a:r>
            <a:endParaRPr lang="en-US"/>
          </a:p>
          <a:p xmlns:a="http://schemas.openxmlformats.org/drawingml/2006/main">
            <a:r>
              <a:t>MADE IN CHINA 2025</a:t>
            </a:r>
            <a:endParaRPr lang="en-US"/>
          </a:p>
          <a:p xmlns:a="http://schemas.openxmlformats.org/drawingml/2006/main">
            <a:r>
              <a:t>Modernize industries, equipment,</a:t>
            </a:r>
            <a:endParaRPr lang="en-US"/>
          </a:p>
          <a:p xmlns:a="http://schemas.openxmlformats.org/drawingml/2006/main">
            <a:r>
              <a:t>and components.</a:t>
            </a:r>
          </a:p>
          <a:p xmlns:a="http://schemas.openxmlformats.org/drawingml/2006/main">
            <a:r>
              <a:t>2025</a:t>
            </a:r>
          </a:p>
          <a:p xmlns:a="http://schemas.openxmlformats.org/drawingml/2006/main">
            <a:r>
              <a:t>ARTIFICIAL</a:t>
            </a:r>
          </a:p>
          <a:p xmlns:a="http://schemas.openxmlformats.org/drawingml/2006/main">
            <a:r>
              <a:t>INTELLIGENCE+</a:t>
            </a:r>
          </a:p>
          <a:p xmlns:a="http://schemas.openxmlformats.org/drawingml/2006/main">
            <a:r>
              <a:t>Spread AI across many sectors</a:t>
            </a:r>
          </a:p>
          <a:p xmlns:a="http://schemas.openxmlformats.org/drawingml/2006/main">
            <a:r>
              <a:t>of the economy.</a:t>
            </a:r>
          </a:p>
          <a:p xmlns:a="http://schemas.openxmlformats.org/drawingml/2006/main">
            <a:r>
              <a:t>2026–2030</a:t>
            </a:r>
          </a:p>
          <a:p xmlns:a="http://schemas.openxmlformats.org/drawingml/2006/main">
            <a:r>
              <a:t>15TH FIVE-YEAR PLAN</a:t>
            </a:r>
          </a:p>
          <a:p xmlns:a="http://schemas.openxmlformats.org/drawingml/2006/main">
            <a:r>
              <a:t>Integrate innovation, industry,</a:t>
            </a:r>
          </a:p>
          <a:p xmlns:a="http://schemas.openxmlformats.org/drawingml/2006/main">
            <a:r>
              <a:t>and technological security.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further reading:</a:t>
            </a:r>
          </a:p>
          <a:p xmlns:a="http://schemas.openxmlformats.org/drawingml/2006/main">
            <a:r>
              <a:t>https://www.moe.gov.cn/jyb_xwfb/xw_zt/moe_357/2026/2026_zt03/yw/202603/t20260314_1430877.html</a:t>
            </a:r>
          </a:p>
          <a:p xmlns:a="http://schemas.openxmlformats.org/drawingml/2006/main">
            <a:r>
              <a:t>https://www.ndrc.gov.cn/fggz/fzzlgh/gjfzgh/202603/U020260317369114704096.pdf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NEW DEVELOPMENT CONCEPT</a:t>
            </a:r>
            <a:endParaRPr lang="en-US"/>
          </a:p>
          <a:p xmlns:a="http://schemas.openxmlformats.org/drawingml/2006/main">
            <a:r>
              <a:t>“New quality productive forces” · 新质生产力</a:t>
            </a:r>
            <a:endParaRPr lang="en-US"/>
          </a:p>
          <a:p xmlns:a="http://schemas.openxmlformats.org/drawingml/2006/main">
            <a:r>
              <a:t>Three industrial horizons under the 15th Five-Year Plan.</a:t>
            </a:r>
            <a:endParaRPr lang="en-US"/>
          </a:p>
          <a:p xmlns:a="http://schemas.openxmlformats.org/drawingml/2006/main">
            <a:r>
              <a:t>01</a:t>
            </a:r>
            <a:endParaRPr lang="en-US"/>
          </a:p>
          <a:p xmlns:a="http://schemas.openxmlformats.org/drawingml/2006/main">
            <a:r>
              <a:t>UPGRADE EXISTING INDUSTRIES</a:t>
            </a:r>
            <a:endParaRPr lang="en-US"/>
          </a:p>
          <a:p xmlns:a="http://schemas.openxmlformats.org/drawingml/2006/main">
            <a:r>
              <a:t>Steel, machinery, chemicals: quality and efficiency.</a:t>
            </a:r>
            <a:endParaRPr lang="en-US"/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SCALE UP EMERGING INDUSTRIES</a:t>
            </a:r>
          </a:p>
          <a:p xmlns:a="http://schemas.openxmlformats.org/drawingml/2006/main">
            <a:r>
              <a:t>Robotics, smart vehicles, new materials.</a:t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EXPLORE FUTURE INDUSTRIES</a:t>
            </a:r>
          </a:p>
          <a:p xmlns:a="http://schemas.openxmlformats.org/drawingml/2006/main">
            <a:r>
              <a:t>Embodied AI, quantum technologies, 6G, and more.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further reading:</a:t>
            </a:r>
          </a:p>
          <a:p xmlns:a="http://schemas.openxmlformats.org/drawingml/2006/main">
            <a:r>
              <a:t>https://www.moe.gov.cn/jyb_xwfb/xw_zt/moe_357/2026/2026_zt03/yw/202603/t20260314_1430877.html</a:t>
            </a:r>
          </a:p>
          <a:p xmlns:a="http://schemas.openxmlformats.org/drawingml/2006/main">
            <a:r>
              <a:t>https://www.ndrc.gov.cn/fggz/fzzlgh/gjfzgh/202603/U020260317369114704096.pdf</a:t>
            </a:r>
          </a:p>
          <a:p xmlns:a="http://schemas.openxmlformats.org/drawingml/2006/main">
            <a:br/>
            <a:r>
              <a:t>Chinese term: 新质生产力. The glyphs on this slide reproduce the supplied English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FROM POLICY DECISIONS TO DATA</a:t>
            </a:r>
            <a:endParaRPr lang="en-US"/>
          </a:p>
          <a:p xmlns:a="http://schemas.openxmlformats.org/drawingml/2006/main">
            <a:r>
              <a:t>A plan is not an operational factory</a:t>
            </a:r>
            <a:endParaRPr lang="en-US"/>
          </a:p>
          <a:p xmlns:a="http://schemas.openxmlformats.org/drawingml/2006/main">
            <a:r>
              <a:t>How to assess an industrial program at four different levels.</a:t>
            </a:r>
            <a:endParaRPr lang="en-US"/>
          </a:p>
          <a:p xmlns:a="http://schemas.openxmlformats.org/drawingml/2006/main">
            <a:r>
              <a:t>01</a:t>
            </a:r>
            <a:endParaRPr lang="en-US"/>
          </a:p>
          <a:p xmlns:a="http://schemas.openxmlformats.org/drawingml/2006/main">
            <a:r>
              <a:t>ANNOUNCEMENT</a:t>
            </a:r>
            <a:endParaRPr lang="en-US"/>
          </a:p>
          <a:p xmlns:a="http://schemas.openxmlformats.org/drawingml/2006/main">
            <a:r>
              <a:t>Goals and priorities</a:t>
            </a:r>
            <a:endParaRPr lang="en-US"/>
          </a:p>
          <a:p xmlns:a="http://schemas.openxmlformats.org/drawingml/2006/main">
            <a:r>
              <a:t>02</a:t>
            </a:r>
            <a:endParaRPr lang="en-US"/>
          </a:p>
          <a:p xmlns:a="http://schemas.openxmlformats.org/drawingml/2006/main">
            <a:r>
              <a:t>POLICY INSTRUMENT</a:t>
            </a:r>
            <a:endParaRPr lang="en-US"/>
          </a:p>
          <a:p xmlns:a="http://schemas.openxmlformats.org/drawingml/2006/main">
            <a:r>
              <a:t>Rules, budgets,</a:t>
            </a:r>
            <a:endParaRPr lang="en-US"/>
          </a:p>
          <a:p xmlns:a="http://schemas.openxmlformats.org/drawingml/2006/main">
            <a:r>
              <a:t>incentives</a:t>
            </a:r>
            <a:endParaRPr lang="en-US"/>
          </a:p>
          <a:p xmlns:a="http://schemas.openxmlformats.org/drawingml/2006/main">
            <a:r>
              <a:t>03</a:t>
            </a:r>
            <a:endParaRPr lang="en-US"/>
          </a:p>
          <a:p xmlns:a="http://schemas.openxmlformats.org/drawingml/2006/main">
            <a:r>
              <a:t>IMPLEMENTATION</a:t>
            </a:r>
            <a:endParaRPr lang="en-US"/>
          </a:p>
          <a:p xmlns:a="http://schemas.openxmlformats.org/drawingml/2006/main">
            <a:r>
              <a:t>Plants, contracts,</a:t>
            </a:r>
            <a:endParaRPr lang="en-US"/>
          </a:p>
          <a:p xmlns:a="http://schemas.openxmlformats.org/drawingml/2006/main">
            <a:r>
              <a:t>training</a:t>
            </a:r>
            <a:endParaRPr lang="en-US"/>
          </a:p>
          <a:p xmlns:a="http://schemas.openxmlformats.org/drawingml/2006/main">
            <a:r>
              <a:t>04</a:t>
            </a:r>
            <a:endParaRPr lang="en-US"/>
          </a:p>
          <a:p xmlns:a="http://schemas.openxmlformats.org/drawingml/2006/main">
            <a:r>
              <a:t>OUTCOME</a:t>
            </a:r>
            <a:endParaRPr lang="en-US"/>
          </a:p>
          <a:p xmlns:a="http://schemas.openxmlformats.org/drawingml/2006/main">
            <a:r>
              <a:t>Productivity, quality,</a:t>
            </a:r>
            <a:endParaRPr lang="en-US"/>
          </a:p>
          <a:p xmlns:a="http://schemas.openxmlformats.org/drawingml/2006/main">
            <a:r>
              <a:t>sales</a:t>
            </a:r>
            <a:endParaRPr lang="en-US"/>
          </a:p>
          <a:p xmlns:a="http://schemas.openxmlformats.org/drawingml/2006/main">
            <a:r>
              <a:t>Four distinct levels: an official target does not prove that an investment was profitable.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05</a:t>
            </a:r>
            <a:endParaRPr lang="en-US"/>
          </a:p>
          <a:p xmlns:a="http://schemas.openxmlformats.org/drawingml/2006/main">
            <a:r>
              <a:t>GEOPOLITICS</a:t>
            </a:r>
            <a:endParaRPr lang="en-US"/>
          </a:p>
          <a:p xmlns:a="http://schemas.openxmlformats.org/drawingml/2006/main">
            <a:r>
              <a:t>The network also has</a:t>
            </a:r>
            <a:endParaRPr lang="en-US"/>
          </a:p>
          <a:p xmlns:a="http://schemas.openxmlformats.org/drawingml/2006/main">
            <a:r>
              <a:t>weak points</a:t>
            </a:r>
            <a:endParaRPr lang="en-US"/>
          </a:p>
          <a:p xmlns:a="http://schemas.openxmlformats.org/drawingml/2006/main">
            <a:r>
              <a:t>Manufacturing strength can coexist with</a:t>
            </a:r>
            <a:endParaRPr lang="en-US"/>
          </a:p>
          <a:p xmlns:a="http://schemas.openxmlformats.org/drawingml/2006/main">
            <a:r>
              <a:t>dependence, overinvestment, and vulnerability.</a:t>
            </a:r>
            <a:endParaRPr lang="en-US"/>
          </a:p>
          <a:p xmlns:a="http://schemas.openxmlformats.org/drawingml/2006/main">
            <a:r>
              <a:t>CONCEPTUAL ILLUSTRATION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hypothetical teaching example. Its numbers do not describe an observed plant.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TEACHING EXERCISE 04</a:t>
            </a:r>
            <a:endParaRPr lang="en-US"/>
          </a:p>
          <a:p xmlns:a="http://schemas.openxmlformats.org/drawingml/2006/main">
            <a:r>
              <a:t>One missing part can stop the entire line</a:t>
            </a:r>
            <a:endParaRPr lang="en-US"/>
          </a:p>
          <a:p xmlns:a="http://schemas.openxmlformats.org/drawingml/2006/main">
            <a:r>
              <a:t>Hypothetical example: one essential chip per device, with no substitute.</a:t>
            </a:r>
            <a:endParaRPr lang="en-US"/>
          </a:p>
          <a:p xmlns:a="http://schemas.openxmlformats.org/drawingml/2006/main">
            <a:r>
              <a:t>10,000</a:t>
            </a:r>
            <a:endParaRPr lang="en-US"/>
          </a:p>
          <a:p xmlns:a="http://schemas.openxmlformats.org/drawingml/2006/main">
            <a:r>
              <a:t>Weekly factory capacity</a:t>
            </a:r>
            <a:endParaRPr lang="en-US"/>
          </a:p>
          <a:p xmlns:a="http://schemas.openxmlformats.org/drawingml/2006/main">
            <a:r>
              <a:t>6,000</a:t>
            </a:r>
            <a:endParaRPr lang="en-US"/>
          </a:p>
          <a:p xmlns:a="http://schemas.openxmlformats.org/drawingml/2006/main">
            <a:r>
              <a:t>Critical chips available</a:t>
            </a:r>
            <a:endParaRPr lang="en-US"/>
          </a:p>
          <a:p xmlns:a="http://schemas.openxmlformats.org/drawingml/2006/main">
            <a:r>
              <a:t>Maximum possible output: 6,000 devices →40% of capacity unused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TECHNOLOGICAL RIVALRY</a:t>
            </a:r>
            <a:endParaRPr lang="en-US"/>
          </a:p>
          <a:p xmlns:a="http://schemas.openxmlformats.org/drawingml/2006/main">
            <a:r>
              <a:t>China and the United States have different strengths</a:t>
            </a:r>
            <a:endParaRPr lang="en-US"/>
          </a:p>
          <a:p xmlns:a="http://schemas.openxmlformats.org/drawingml/2006/main">
            <a:r>
              <a:t>Competition depends on the segment analyzed, not one overall scoreboard.</a:t>
            </a:r>
            <a:endParaRPr lang="en-US"/>
          </a:p>
          <a:p xmlns:a="http://schemas.openxmlformats.org/drawingml/2006/main">
            <a:r>
              <a:t>CHINA</a:t>
            </a:r>
            <a:endParaRPr lang="en-US"/>
          </a:p>
          <a:p xmlns:a="http://schemas.openxmlformats.org/drawingml/2006/main">
            <a:r>
              <a:t>UNITED STATES</a:t>
            </a:r>
            <a:endParaRPr lang="en-US"/>
          </a:p>
          <a:p xmlns:a="http://schemas.openxmlformats.org/drawingml/2006/main">
            <a:r>
              <a:t>Manufacturing scale</a:t>
            </a:r>
            <a:endParaRPr lang="en-US"/>
          </a:p>
          <a:p xmlns:a="http://schemas.openxmlformats.org/drawingml/2006/main">
            <a:r>
              <a:t>Dense supplier networks</a:t>
            </a:r>
            <a:endParaRPr lang="en-US"/>
          </a:p>
          <a:p xmlns:a="http://schemas.openxmlformats.org/drawingml/2006/main">
            <a:r>
              <a:t>Industrial robot installations</a:t>
            </a:r>
            <a:endParaRPr lang="en-US"/>
          </a:p>
          <a:p xmlns:a="http://schemas.openxmlformats.org/drawingml/2006/main">
            <a:r>
              <a:t>Batteries and electric vehicles</a:t>
            </a:r>
            <a:endParaRPr lang="en-US"/>
          </a:p>
          <a:p xmlns:a="http://schemas.openxmlformats.org/drawingml/2006/main">
            <a:r>
              <a:t>Frontier-model ecosystem</a:t>
            </a:r>
            <a:endParaRPr lang="en-US"/>
          </a:p>
          <a:p xmlns:a="http://schemas.openxmlformats.org/drawingml/2006/main">
            <a:r>
              <a:t>Cloud computing and digital platforms</a:t>
            </a:r>
            <a:endParaRPr lang="en-US"/>
          </a:p>
          <a:p xmlns:a="http://schemas.openxmlformats.org/drawingml/2006/main">
            <a:r>
              <a:t>Specialized software and tools</a:t>
            </a:r>
            <a:endParaRPr lang="en-US"/>
          </a:p>
          <a:p xmlns:a="http://schemas.openxmlformats.org/drawingml/2006/main">
            <a:r>
              <a:t>International technology alliances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>https://hai.stanford.edu/ai-index/2026-ai-index-report</a:t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hypothetical teaching example. Its numbers do not describe an observed plant.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THE PARADOX OF SUCCESS</a:t>
            </a:r>
            <a:endParaRPr lang="en-US"/>
          </a:p>
          <a:p xmlns:a="http://schemas.openxmlformats.org/drawingml/2006/main">
            <a:r>
              <a:t>A strong industry can also generate excess capacity</a:t>
            </a:r>
            <a:endParaRPr lang="en-US"/>
          </a:p>
          <a:p xmlns:a="http://schemas.openxmlformats.org/drawingml/2006/main">
            <a:r>
              <a:t>Hypothetical example of installed capacity and demand in comparable units.</a:t>
            </a:r>
            <a:endParaRPr lang="en-US"/>
          </a:p>
          <a:p xmlns:a="http://schemas.openxmlformats.org/drawingml/2006/main">
            <a:r>
              <a:t>INSTALLED CAPACITY</a:t>
            </a:r>
            <a:endParaRPr lang="en-US"/>
          </a:p>
          <a:p xmlns:a="http://schemas.openxmlformats.org/drawingml/2006/main">
            <a:r>
              <a:t>1,000,000</a:t>
            </a:r>
            <a:endParaRPr lang="en-US"/>
          </a:p>
          <a:p xmlns:a="http://schemas.openxmlformats.org/drawingml/2006/main">
            <a:r>
              <a:t>EFFECTIVE DEMAND</a:t>
            </a:r>
            <a:endParaRPr lang="en-US"/>
          </a:p>
          <a:p xmlns:a="http://schemas.openxmlformats.org/drawingml/2006/main">
            <a:r>
              <a:t>650,000</a:t>
            </a:r>
            <a:endParaRPr lang="en-US"/>
          </a:p>
          <a:p xmlns:a="http://schemas.openxmlformats.org/drawingml/2006/main">
            <a:r>
              <a:t>65% utilization · 35% idle capacity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REAL-WORLD CASE · ELECTRIC VEHICLES</a:t>
            </a:r>
            <a:endParaRPr lang="en-US"/>
          </a:p>
          <a:p xmlns:a="http://schemas.openxmlformats.org/drawingml/2006/main">
            <a:r>
              <a:t>More production, intense competition, and rising exports</a:t>
            </a:r>
            <a:endParaRPr lang="en-US"/>
          </a:p>
          <a:p xmlns:a="http://schemas.openxmlformats.org/drawingml/2006/main">
            <a:r>
              <a:t>Electric vehicles in 2025. Production, sales, and exports are different series.</a:t>
            </a:r>
            <a:endParaRPr lang="en-US"/>
          </a:p>
          <a:p xmlns:a="http://schemas.openxmlformats.org/drawingml/2006/main">
            <a:r>
              <a:t>≈16 M</a:t>
            </a:r>
            <a:endParaRPr lang="en-US"/>
          </a:p>
          <a:p xmlns:a="http://schemas.openxmlformats.org/drawingml/2006/main">
            <a:r>
              <a:t>EVs manufactured in</a:t>
            </a:r>
            <a:endParaRPr lang="en-US"/>
          </a:p>
          <a:p xmlns:a="http://schemas.openxmlformats.org/drawingml/2006/main">
            <a:r>
              <a:t>China</a:t>
            </a:r>
            <a:endParaRPr lang="en-US"/>
          </a:p>
          <a:p xmlns:a="http://schemas.openxmlformats.org/drawingml/2006/main">
            <a:r>
              <a:t>&gt;13 M</a:t>
            </a:r>
            <a:endParaRPr lang="en-US"/>
          </a:p>
          <a:p xmlns:a="http://schemas.openxmlformats.org/drawingml/2006/main">
            <a:r>
              <a:t>Domestic sales in 2025</a:t>
            </a:r>
            <a:endParaRPr lang="en-US"/>
          </a:p>
          <a:p xmlns:a="http://schemas.openxmlformats.org/drawingml/2006/main">
            <a:r>
              <a:t>&gt;2.5 M</a:t>
            </a:r>
            <a:endParaRPr lang="en-US"/>
          </a:p>
          <a:p xmlns:a="http://schemas.openxmlformats.org/drawingml/2006/main">
            <a:r>
              <a:t>Exports from China in 2025</a:t>
            </a:r>
            <a:endParaRPr lang="en-US"/>
          </a:p>
          <a:p xmlns:a="http://schemas.openxmlformats.org/drawingml/2006/main">
            <a:r>
              <a:t>Price competition squeezes margins: exports can help sustain sales.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>https://www.iea.org/reports/global-ev-outlook-2026/manufacturing-and-trade</a:t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RIGOROUS READING</a:t>
            </a:r>
            <a:endParaRPr lang="en-US"/>
          </a:p>
          <a:p xmlns:a="http://schemas.openxmlformats.org/drawingml/2006/main">
            <a:r>
              <a:t>Four common confusions to avoid</a:t>
            </a:r>
            <a:endParaRPr lang="en-US"/>
          </a:p>
          <a:p xmlns:a="http://schemas.openxmlformats.org/drawingml/2006/main">
            <a:r>
              <a:t>Government, corporate, and teaching data have different evidentiary weight.</a:t>
            </a:r>
            <a:endParaRPr lang="en-US"/>
          </a:p>
          <a:p xmlns:a="http://schemas.openxmlformats.org/drawingml/2006/main">
            <a:r>
              <a:t>01</a:t>
            </a:r>
            <a:endParaRPr lang="en-US"/>
          </a:p>
          <a:p xmlns:a="http://schemas.openxmlformats.org/drawingml/2006/main">
            <a:r>
              <a:t>ANNOUNCEMENT ≠ ACHIEVEMENT</a:t>
            </a:r>
            <a:endParaRPr lang="en-US"/>
          </a:p>
          <a:p xmlns:a="http://schemas.openxmlformats.org/drawingml/2006/main">
            <a:r>
              <a:t>A plan specifies targets, not results.</a:t>
            </a:r>
            <a:endParaRPr lang="en-US"/>
          </a:p>
          <a:p xmlns:a="http://schemas.openxmlformats.org/drawingml/2006/main">
            <a:r>
              <a:t>02</a:t>
            </a:r>
            <a:endParaRPr lang="en-US"/>
          </a:p>
          <a:p xmlns:a="http://schemas.openxmlformats.org/drawingml/2006/main">
            <a:r>
              <a:t>DEMO ≠ AUTONOMY</a:t>
            </a:r>
            <a:endParaRPr lang="en-US"/>
          </a:p>
          <a:p xmlns:a="http://schemas.openxmlformats.org/drawingml/2006/main">
            <a:r>
              <a:t>A walking robot does not prove profitable work.</a:t>
            </a:r>
            <a:endParaRPr lang="en-US"/>
          </a:p>
          <a:p xmlns:a="http://schemas.openxmlformats.org/drawingml/2006/main">
            <a:r>
              <a:t>03</a:t>
            </a:r>
            <a:endParaRPr lang="en-US"/>
          </a:p>
          <a:p xmlns:a="http://schemas.openxmlformats.org/drawingml/2006/main">
            <a:r>
              <a:t>ROBOTS INSTALLED ≠ MANUFACTURED</a:t>
            </a:r>
            <a:endParaRPr lang="en-US"/>
          </a:p>
          <a:p xmlns:a="http://schemas.openxmlformats.org/drawingml/2006/main">
            <a:r>
              <a:t>Adoption and production are different measures.</a:t>
            </a:r>
            <a:endParaRPr lang="en-US"/>
          </a:p>
          <a:p xmlns:a="http://schemas.openxmlformats.org/drawingml/2006/main">
            <a:r>
              <a:t>04</a:t>
            </a:r>
            <a:endParaRPr lang="en-US"/>
          </a:p>
          <a:p xmlns:a="http://schemas.openxmlformats.org/drawingml/2006/main">
            <a:r>
              <a:t>REPORTED CASE ≠ CAUSALITY</a:t>
            </a:r>
            <a:endParaRPr lang="en-US"/>
          </a:p>
          <a:p xmlns:a="http://schemas.openxmlformats.org/drawingml/2006/main">
            <a:r>
              <a:t>Improvement may reflect several technologies.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CENTRAL THESIS</a:t>
            </a:r>
            <a:endParaRPr lang="en-US"/>
          </a:p>
          <a:p xmlns:a="http://schemas.openxmlformats.org/drawingml/2006/main">
            <a:r>
              <a:t>How did China build a technological powerhouse?</a:t>
            </a:r>
            <a:endParaRPr lang="en-US"/>
          </a:p>
          <a:p xmlns:a="http://schemas.openxmlformats.org/drawingml/2006/main">
            <a:r>
              <a:t>A sequence of accumulated capabilities, not a single-cause explanation.</a:t>
            </a:r>
            <a:endParaRPr lang="en-US"/>
          </a:p>
          <a:p xmlns:a="http://schemas.openxmlformats.org/drawingml/2006/main">
            <a:r>
              <a:t>01</a:t>
            </a:r>
            <a:endParaRPr lang="en-US"/>
          </a:p>
          <a:p xmlns:a="http://schemas.openxmlformats.org/drawingml/2006/main">
            <a:r>
              <a:t>HISTORY</a:t>
            </a:r>
            <a:endParaRPr lang="en-US"/>
          </a:p>
          <a:p xmlns:a="http://schemas.openxmlformats.org/drawingml/2006/main">
            <a:r>
              <a:t>Build the capacity</a:t>
            </a:r>
            <a:endParaRPr lang="en-US"/>
          </a:p>
          <a:p xmlns:a="http://schemas.openxmlformats.org/drawingml/2006/main">
            <a:r>
              <a:t>to manufacture</a:t>
            </a:r>
            <a:endParaRPr lang="en-US"/>
          </a:p>
          <a:p xmlns:a="http://schemas.openxmlformats.org/drawingml/2006/main">
            <a:r>
              <a:t>02</a:t>
            </a:r>
            <a:endParaRPr lang="en-US"/>
          </a:p>
          <a:p xmlns:a="http://schemas.openxmlformats.org/drawingml/2006/main">
            <a:r>
              <a:t>NETWORKS</a:t>
            </a:r>
            <a:endParaRPr lang="en-US"/>
          </a:p>
          <a:p xmlns:a="http://schemas.openxmlformats.org/drawingml/2006/main">
            <a:r>
              <a:t>Connect firms</a:t>
            </a:r>
            <a:endParaRPr lang="en-US"/>
          </a:p>
          <a:p xmlns:a="http://schemas.openxmlformats.org/drawingml/2006/main">
            <a:r>
              <a:t>and knowledge</a:t>
            </a:r>
            <a:endParaRPr lang="en-US"/>
          </a:p>
          <a:p xmlns:a="http://schemas.openxmlformats.org/drawingml/2006/main">
            <a:r>
              <a:t>03</a:t>
            </a:r>
            <a:endParaRPr lang="en-US"/>
          </a:p>
          <a:p xmlns:a="http://schemas.openxmlformats.org/drawingml/2006/main">
            <a:r>
              <a:t>LEARNING</a:t>
            </a:r>
            <a:endParaRPr lang="en-US"/>
          </a:p>
          <a:p xmlns:a="http://schemas.openxmlformats.org/drawingml/2006/main">
            <a:r>
              <a:t>Improve design</a:t>
            </a:r>
            <a:endParaRPr lang="en-US"/>
          </a:p>
          <a:p xmlns:a="http://schemas.openxmlformats.org/drawingml/2006/main">
            <a:r>
              <a:t>and processes</a:t>
            </a:r>
            <a:endParaRPr lang="en-US"/>
          </a:p>
          <a:p xmlns:a="http://schemas.openxmlformats.org/drawingml/2006/main">
            <a:r>
              <a:t>04</a:t>
            </a:r>
            <a:endParaRPr lang="en-US"/>
          </a:p>
          <a:p xmlns:a="http://schemas.openxmlformats.org/drawingml/2006/main">
            <a:r>
              <a:t>TECHNOLOGY</a:t>
            </a:r>
            <a:endParaRPr lang="en-US"/>
          </a:p>
          <a:p xmlns:a="http://schemas.openxmlformats.org/drawingml/2006/main">
            <a:r>
              <a:t>Integrate robots,</a:t>
            </a:r>
            <a:endParaRPr lang="en-US"/>
          </a:p>
          <a:p xmlns:a="http://schemas.openxmlformats.org/drawingml/2006/main">
            <a:r>
              <a:t>data, and AI</a:t>
            </a:r>
            <a:endParaRPr lang="en-US"/>
          </a:p>
          <a:p xmlns:a="http://schemas.openxmlformats.org/drawingml/2006/main">
            <a:r>
              <a:t>05</a:t>
            </a:r>
            <a:endParaRPr lang="en-US"/>
          </a:p>
          <a:p xmlns:a="http://schemas.openxmlformats.org/drawingml/2006/main">
            <a:r>
              <a:t>OUTCOMES</a:t>
            </a:r>
            <a:endParaRPr lang="en-US"/>
          </a:p>
          <a:p xmlns:a="http://schemas.openxmlformats.org/drawingml/2006/main">
            <a:r>
              <a:t>Compete, innovate,</a:t>
            </a:r>
            <a:endParaRPr lang="en-US"/>
          </a:p>
          <a:p xmlns:a="http://schemas.openxmlformats.org/drawingml/2006/main">
            <a:r>
              <a:t>and face limits</a:t>
            </a:r>
            <a:endParaRPr lang="en-US"/>
          </a:p>
          <a:p xmlns:a="http://schemas.openxmlformats.org/drawingml/2006/main">
            <a:r>
              <a:t>Innovation is built through manufacturing, coordination, and learning. It is not</a:t>
            </a:r>
            <a:endParaRPr lang="en-US"/>
          </a:p>
          <a:p xmlns:a="http://schemas.openxmlformats.org/drawingml/2006/main">
            <a:r>
              <a:t>necessarily guaranteed.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QUESTIONS FOR DISCUSSION</a:t>
            </a:r>
            <a:endParaRPr lang="en-US"/>
          </a:p>
          <a:p xmlns:a="http://schemas.openxmlformats.org/drawingml/2006/main">
            <a:r>
              <a:t>What we still need to investigate</a:t>
            </a:r>
            <a:endParaRPr lang="en-US"/>
          </a:p>
          <a:p xmlns:a="http://schemas.openxmlformats.org/drawingml/2006/main">
            <a:r>
              <a:t>Three perspectives on China's technological future.</a:t>
            </a:r>
            <a:endParaRPr lang="en-US"/>
          </a:p>
          <a:p xmlns:a="http://schemas.openxmlformats.org/drawingml/2006/main">
            <a:r>
              <a:t>1</a:t>
            </a:r>
            <a:endParaRPr lang="en-US"/>
          </a:p>
          <a:p xmlns:a="http://schemas.openxmlformats.org/drawingml/2006/main">
            <a:r>
              <a:t>How much of China's advantage comes from scale, and how much from</a:t>
            </a:r>
            <a:endParaRPr lang="en-US"/>
          </a:p>
          <a:p xmlns:a="http://schemas.openxmlformats.org/drawingml/2006/main">
            <a:r>
              <a:t>innovation of its own?</a:t>
            </a:r>
            <a:endParaRPr lang="en-US"/>
          </a:p>
          <a:p xmlns:a="http://schemas.openxmlformats.org/drawingml/2006/main">
            <a:r>
              <a:t>2</a:t>
            </a:r>
            <a:endParaRPr lang="en-US"/>
          </a:p>
          <a:p xmlns:a="http://schemas.openxmlformats.org/drawingml/2006/main">
            <a:r>
              <a:t>When does a robot improve productivity, and when does it simply add costs?</a:t>
            </a:r>
            <a:endParaRPr lang="en-US"/>
          </a:p>
          <a:p xmlns:a="http://schemas.openxmlformats.org/drawingml/2006/main">
            <a:r>
              <a:t>3</a:t>
            </a:r>
            <a:endParaRPr lang="en-US"/>
          </a:p>
          <a:p xmlns:a="http://schemas.openxmlformats.org/drawingml/2006/main">
            <a:r>
              <a:t>Can industrial leadership exist without full autonomy in advanced chips?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MODELS AND INTELLIGENT ROBOTS</a:t>
            </a:r>
            <a:endParaRPr lang="en-US"/>
          </a:p>
          <a:p xmlns:a="http://schemas.openxmlformats.org/drawingml/2006/main">
            <a:r>
              <a:t>FROM THE</a:t>
            </a:r>
            <a:endParaRPr lang="en-US"/>
          </a:p>
          <a:p xmlns:a="http://schemas.openxmlformats.org/drawingml/2006/main">
            <a:r>
              <a:t>INDUSTRIAL SYSTEM</a:t>
            </a:r>
            <a:endParaRPr lang="en-US"/>
          </a:p>
          <a:p xmlns:a="http://schemas.openxmlformats.org/drawingml/2006/main">
            <a:r>
              <a:t>TO EMBODIED</a:t>
            </a:r>
            <a:endParaRPr lang="en-US"/>
          </a:p>
          <a:p xmlns:a="http://schemas.openxmlformats.org/drawingml/2006/main">
            <a:r>
              <a:t>INTELLIGENCE</a:t>
            </a:r>
            <a:endParaRPr lang="en-US"/>
          </a:p>
          <a:p xmlns:a="http://schemas.openxmlformats.org/drawingml/2006/main">
            <a:r>
              <a:t>DeepSeek · Qwen · agents · Unitree · UBTech</a:t>
            </a:r>
            <a:endParaRPr lang="en-US"/>
          </a:p>
          <a:p xmlns:a="http://schemas.openxmlformats.org/drawingml/2006/main">
            <a:r>
              <a:t>What can models and robots actually do?</a:t>
            </a:r>
            <a:endParaRPr lang="en-US"/>
          </a:p>
          <a:p xmlns:a="http://schemas.openxmlformats.org/drawingml/2006/main">
            <a:r>
              <a:t>CONCEPTUAL ILLUSTRATION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· I</a:t>
            </a:r>
            <a:endParaRPr lang="en-US"/>
          </a:p>
          <a:p xmlns:a="http://schemas.openxmlformats.org/drawingml/2006/main">
            <a:r>
              <a:t>Statistics and international organizations</a:t>
            </a:r>
            <a:endParaRPr lang="en-US"/>
          </a:p>
          <a:p xmlns:a="http://schemas.openxmlformats.org/drawingml/2006/main">
            <a:r>
              <a:t>Selected references for verifying the main indicators.</a:t>
            </a:r>
            <a:endParaRPr lang="en-US"/>
          </a:p>
          <a:p xmlns:a="http://schemas.openxmlformats.org/drawingml/2006/main">
            <a:r>
              <a:t>UNIDO · International Yearbook of Industrial Statistics 2025</a:t>
            </a:r>
            <a:endParaRPr lang="en-US"/>
          </a:p>
          <a:p xmlns:a="http://schemas.openxmlformats.org/drawingml/2006/main">
            <a:r>
              <a:t>Global share of manufacturing value added.</a:t>
            </a:r>
            <a:endParaRPr lang="en-US"/>
          </a:p>
          <a:p xmlns:a="http://schemas.openxmlformats.org/drawingml/2006/main">
            <a:r>
              <a:t>IFR · World Robotics 2026</a:t>
            </a:r>
            <a:endParaRPr lang="en-US"/>
          </a:p>
          <a:p xmlns:a="http://schemas.openxmlformats.org/drawingml/2006/main">
            <a:r>
              <a:t>Industrial robot installations in China and global share.</a:t>
            </a:r>
            <a:endParaRPr lang="en-US"/>
          </a:p>
          <a:p xmlns:a="http://schemas.openxmlformats.org/drawingml/2006/main">
            <a:r>
              <a:t>IFR · China and the United States, World Robotics 2026</a:t>
            </a:r>
            <a:endParaRPr lang="en-US"/>
          </a:p>
          <a:p xmlns:a="http://schemas.openxmlformats.org/drawingml/2006/main">
            <a:r>
              <a:t>2025 installations and the distinction between adoption and manufacturing.</a:t>
            </a:r>
            <a:endParaRPr lang="en-US"/>
          </a:p>
          <a:p xmlns:a="http://schemas.openxmlformats.org/drawingml/2006/main">
            <a:r>
              <a:t>IEA · Global EV Outlook 2026</a:t>
            </a:r>
            <a:endParaRPr lang="en-US"/>
          </a:p>
          <a:p xmlns:a="http://schemas.openxmlformats.org/drawingml/2006/main">
            <a:r>
              <a:t>Production, sales, exports, and batteries.</a:t>
            </a:r>
            <a:endParaRPr lang="en-US"/>
          </a:p>
          <a:p xmlns:a="http://schemas.openxmlformats.org/drawingml/2006/main">
            <a:r>
              <a:t>Stanford HAI · AI Index 2026</a:t>
            </a:r>
            <a:endParaRPr lang="en-US"/>
          </a:p>
          <a:p xmlns:a="http://schemas.openxmlformats.org/drawingml/2006/main">
            <a:r>
              <a:t>International comparison of AI development.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>https://hai.stanford.edu/ai-index/2026-ai-index-report</a:t>
            </a:r>
            <a:endParaRPr lang="en-US"/>
          </a:p>
          <a:p xmlns:a="http://schemas.openxmlformats.org/drawingml/2006/main">
            <a:r>
              <a:t>https://ifr.org/downloads/press_docs/EN-2026-SEP-24-IFR_Press_Release_WR-CHINA.pdf</a:t>
            </a:r>
            <a:endParaRPr lang="en-US"/>
          </a:p>
          <a:p xmlns:a="http://schemas.openxmlformats.org/drawingml/2006/main">
            <a:r>
              <a:t>https://ifr.org/downloads/press_docs/EN-2026-SEP-24-IFR_Press_Release_WR-USA.pdf</a:t>
            </a:r>
            <a:endParaRPr lang="en-US"/>
          </a:p>
          <a:p xmlns:a="http://schemas.openxmlformats.org/drawingml/2006/main">
            <a:r>
              <a:t>https://ifr.org/ifr-press-releases/five-million-robots-now-operate-in-factories-globally</a:t>
            </a:r>
            <a:endParaRPr lang="en-US"/>
          </a:p>
          <a:p xmlns:a="http://schemas.openxmlformats.org/drawingml/2006/main">
            <a:r>
              <a:t>https://ifr.org/ifr-press-releases/news/robot-density-surges-in-europe-asia-and-americas</a:t>
            </a:r>
            <a:endParaRPr lang="en-US"/>
          </a:p>
          <a:p xmlns:a="http://schemas.openxmlformats.org/drawingml/2006/main">
            <a:r>
              <a:t>https://stat.unido.org/publications/international-yearbook-industrial-statistics-2025</a:t>
            </a:r>
            <a:endParaRPr lang="en-US"/>
          </a:p>
          <a:p xmlns:a="http://schemas.openxmlformats.org/drawingml/2006/main">
            <a:r>
              <a:t>https://www.iea.org/reports/global-ev-outlook-2026/executive-summary</a:t>
            </a:r>
            <a:endParaRPr lang="en-US"/>
          </a:p>
          <a:p xmlns:a="http://schemas.openxmlformats.org/drawingml/2006/main">
            <a:r>
              <a:t>https://www.iea.org/reports/global-ev-outlook-2026/manufacturing-and-trade</a:t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· II</a:t>
            </a:r>
            <a:endParaRPr lang="en-US"/>
          </a:p>
          <a:p xmlns:a="http://schemas.openxmlformats.org/drawingml/2006/main">
            <a:r>
              <a:t>Corporate cases and manufacturing studies</a:t>
            </a:r>
            <a:endParaRPr lang="en-US"/>
          </a:p>
          <a:p xmlns:a="http://schemas.openxmlformats.org/drawingml/2006/main">
            <a:r>
              <a:t>Reported outcomes must be attributed to the sources presenting them.</a:t>
            </a:r>
            <a:endParaRPr lang="en-US"/>
          </a:p>
          <a:p xmlns:a="http://schemas.openxmlformats.org/drawingml/2006/main">
            <a:r>
              <a:t>World Economic Forum · Global Lighthouse Network 2025</a:t>
            </a:r>
            <a:endParaRPr lang="en-US"/>
          </a:p>
          <a:p xmlns:a="http://schemas.openxmlformats.org/drawingml/2006/main">
            <a:r>
              <a:t>Shougang: 67 applications, defects −35%, efficiency +21.2%.</a:t>
            </a:r>
            <a:endParaRPr lang="en-US"/>
          </a:p>
          <a:p xmlns:a="http://schemas.openxmlformats.org/drawingml/2006/main">
            <a:r>
              <a:t>World Economic Forum · Global Lighthouse Network 2025</a:t>
            </a:r>
            <a:endParaRPr lang="en-US"/>
          </a:p>
          <a:p xmlns:a="http://schemas.openxmlformats.org/drawingml/2006/main">
            <a:r>
              <a:t>Midea Chongqing: 79 digital use cases, setup time −81%.</a:t>
            </a:r>
            <a:endParaRPr lang="en-US"/>
          </a:p>
          <a:p xmlns:a="http://schemas.openxmlformats.org/drawingml/2006/main">
            <a:r>
              <a:t>Unitree Robotics · Official G1 specifications</a:t>
            </a:r>
            <a:endParaRPr lang="en-US"/>
          </a:p>
          <a:p xmlns:a="http://schemas.openxmlformats.org/drawingml/2006/main">
            <a:r>
              <a:t>Components and technical capabilities claimed by the manufacturer.</a:t>
            </a:r>
            <a:endParaRPr lang="en-US"/>
          </a:p>
          <a:p xmlns:a="http://schemas.openxmlformats.org/drawingml/2006/main">
            <a:r>
              <a:t>Xiaomi Auto · Hyperfactory</a:t>
            </a:r>
            <a:endParaRPr lang="en-US"/>
          </a:p>
          <a:p xmlns:a="http://schemas.openxmlformats.org/drawingml/2006/main">
            <a:r>
              <a:t>Company description of manufacturing and processes.</a:t>
            </a:r>
            <a:endParaRPr lang="en-US"/>
          </a:p>
          <a:p xmlns:a="http://schemas.openxmlformats.org/drawingml/2006/main">
            <a:r>
              <a:t>IEA · Manufacturing and Trade 2026</a:t>
            </a:r>
            <a:endParaRPr lang="en-US"/>
          </a:p>
          <a:p xmlns:a="http://schemas.openxmlformats.org/drawingml/2006/main">
            <a:r>
              <a:t>The electric vehicle value chain and its economic tensions.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>https://www.iea.org/reports/global-ev-outlook-2026/manufacturing-and-trade</a:t>
            </a:r>
            <a:endParaRPr lang="en-US"/>
          </a:p>
          <a:p xmlns:a="http://schemas.openxmlformats.org/drawingml/2006/main">
            <a:r>
              <a:t>https://www.unitree.com/g1/</a:t>
            </a:r>
            <a:endParaRPr lang="en-US"/>
          </a:p>
          <a:p xmlns:a="http://schemas.openxmlformats.org/drawingml/2006/main">
            <a:r>
              <a:t>https://www.weforum.org/media/global-lighthouse-network-2025-world-economic-forum-recognizes-companies-transforming-manufacturing-through-innovation/</a:t>
            </a:r>
            <a:endParaRPr lang="en-US"/>
          </a:p>
          <a:p xmlns:a="http://schemas.openxmlformats.org/drawingml/2006/main">
            <a:r>
              <a:t>https://www.xiaomiev.com/hyperfactory</a:t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· III</a:t>
            </a:r>
            <a:endParaRPr lang="en-US"/>
          </a:p>
          <a:p xmlns:a="http://schemas.openxmlformats.org/drawingml/2006/main">
            <a:r>
              <a:t>Official documents, economics, and teaching resources</a:t>
            </a:r>
            <a:endParaRPr lang="en-US"/>
          </a:p>
          <a:p xmlns:a="http://schemas.openxmlformats.org/drawingml/2006/main">
            <a:r>
              <a:t>Policy texts and references for further reading after class.</a:t>
            </a:r>
            <a:endParaRPr lang="en-US"/>
          </a:p>
          <a:p xmlns:a="http://schemas.openxmlformats.org/drawingml/2006/main">
            <a:r>
              <a:t>State Council · AI+ Guidelines (2025)</a:t>
            </a:r>
            <a:endParaRPr lang="en-US"/>
          </a:p>
          <a:p xmlns:a="http://schemas.openxmlformats.org/drawingml/2006/main">
            <a:r>
              <a:t>Targets and six areas of action. Official Chinese text.</a:t>
            </a:r>
            <a:endParaRPr lang="en-US"/>
          </a:p>
          <a:p xmlns:a="http://schemas.openxmlformats.org/drawingml/2006/main">
            <a:r>
              <a:t>CSET Georgetown · Technical translation of AI+</a:t>
            </a:r>
            <a:endParaRPr lang="en-US"/>
          </a:p>
          <a:p xmlns:a="http://schemas.openxmlformats.org/drawingml/2006/main">
            <a:r>
              <a:t>Reference for interpreting official terminology.</a:t>
            </a:r>
            <a:endParaRPr lang="en-US"/>
          </a:p>
          <a:p xmlns:a="http://schemas.openxmlformats.org/drawingml/2006/main">
            <a:r>
              <a:t>NDRC · 15th Five-Year Plan, 2026–2030</a:t>
            </a:r>
            <a:endParaRPr lang="en-US"/>
          </a:p>
          <a:p xmlns:a="http://schemas.openxmlformats.org/drawingml/2006/main">
            <a:r>
              <a:t>Industrial modernization strategy and future industries.</a:t>
            </a:r>
          </a:p>
          <a:p xmlns:a="http://schemas.openxmlformats.org/drawingml/2006/main">
            <a:r>
              <a:t>World Bank · China Economic Update 2026</a:t>
            </a:r>
          </a:p>
          <a:p xmlns:a="http://schemas.openxmlformats.org/drawingml/2006/main">
            <a:r>
              <a:t>Demand, structural reforms, and growth.</a:t>
            </a:r>
          </a:p>
          <a:p xmlns:a="http://schemas.openxmlformats.org/drawingml/2006/main">
            <a:r>
              <a:t>Instructor's simulator · Robotic capital and learning</a:t>
            </a:r>
          </a:p>
          <a:p xmlns:a="http://schemas.openxmlformats.org/drawingml/2006/main">
            <a:r>
              <a:t>Teaching experiment, not an empirical estimate.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further reading:</a:t>
            </a:r>
          </a:p>
          <a:p xmlns:a="http://schemas.openxmlformats.org/drawingml/2006/main">
            <a:r>
              <a:t>https://cset.georgetown.edu/publication/china-ai-plus-opinions-2025/</a:t>
            </a:r>
          </a:p>
          <a:p xmlns:a="http://schemas.openxmlformats.org/drawingml/2006/main">
            <a:r>
              <a:t>https://sgevatschnaider.github.io/Inteligencia-Artificial-y-Rob-tica-en-China/recursos/Capital Robótico vs Capital Común — Efecto del Data Flywheel.html</a:t>
            </a:r>
          </a:p>
          <a:p xmlns:a="http://schemas.openxmlformats.org/drawingml/2006/main">
            <a:r>
              <a:t>https://sgevatschnaider.github.io/Inteligencia-Artificial-y-Rob-tica-en-China/recursos/Capital%20Rob%C3%B3tico%20vs%20Capital%20Com%C3%BAn%20%E2%80%94%20Efecto%20del%20Data%20Flywheel.html</a:t>
            </a:r>
          </a:p>
          <a:p xmlns:a="http://schemas.openxmlformats.org/drawingml/2006/main">
            <a:r>
              <a:t>https://www.cac.gov.cn/2025-08/27/c_1758018277755538.htm</a:t>
            </a:r>
          </a:p>
          <a:p xmlns:a="http://schemas.openxmlformats.org/drawingml/2006/main">
            <a:r>
              <a:t>https://www.moe.gov.cn/jyb_xwfb/xw_zt/moe_357/2026/2026_zt03/yw/202603/t20260314_1430877.html</a:t>
            </a:r>
          </a:p>
          <a:p xmlns:a="http://schemas.openxmlformats.org/drawingml/2006/main">
            <a:r>
              <a:t>https://www.ndrc.gov.cn/fggz/fzzlgh/gjfzgh/202603/U020260317369114704096.pdf</a:t>
            </a:r>
          </a:p>
          <a:p xmlns:a="http://schemas.openxmlformats.org/drawingml/2006/main">
            <a:r>
              <a:t>https://www.worldbank.org/en/news/press-release/2026/07/07/rebalancing-growth-china-economic-update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YOU</a:t>
            </a:r>
            <a:endParaRPr lang="en-US"/>
          </a:p>
          <a:p xmlns:a="http://schemas.openxmlformats.org/drawingml/2006/main">
            <a:r>
              <a:t>Understanding capabilities,</a:t>
            </a:r>
            <a:endParaRPr lang="en-US"/>
          </a:p>
          <a:p xmlns:a="http://schemas.openxmlformats.org/drawingml/2006/main">
            <a:r>
              <a:t>mechanisms, and limitations</a:t>
            </a:r>
            <a:endParaRPr lang="en-US"/>
          </a:p>
          <a:p xmlns:a="http://schemas.openxmlformats.org/drawingml/2006/main">
            <a:r>
              <a:t>Material prepared by Professor</a:t>
            </a:r>
            <a:endParaRPr lang="en-US"/>
          </a:p>
          <a:p xmlns:a="http://schemas.openxmlformats.org/drawingml/2006/main">
            <a:r>
              <a:t>Sergio Gevatschnaider</a:t>
            </a:r>
            <a:endParaRPr lang="en-US"/>
          </a:p>
          <a:p xmlns:a="http://schemas.openxmlformats.org/drawingml/2006/main">
            <a:r>
              <a:t>CONCEPTUAL ILLUSTRATION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  <a:p xmlns:a="http://schemas.openxmlformats.org/drawingml/2006/main">
            <a:r>
              <a:t>Sources and further reading:</a:t>
            </a:r>
            <a:endParaRPr lang="en-US"/>
          </a:p>
          <a:p xmlns:a="http://schemas.openxmlformats.org/drawingml/2006/main">
            <a:r>
              <a:t/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525b22c6174d3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9e0f7413a1465f" /><Relationship Type="http://schemas.openxmlformats.org/officeDocument/2006/relationships/slideLayout" Target="/ppt/slideLayouts/slideLayout1.xml" Id="R073e1b3b9e104eb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3e1b3b9e104eb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 lang="en-US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 lang="en-US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 lang="en-US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 lang="en-US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 lang="en-US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 lang="en-US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 lang="en-US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 lang="en-US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 lang="en-US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 lang="en-US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 lang="en-US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 lang="en-US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 lang="en-US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 lang="en-US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 lang="en-US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 lang="en-US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 lang="en-US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 lang="en-US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 lang="en-US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155faa4814514" /><Relationship Type="http://schemas.openxmlformats.org/officeDocument/2006/relationships/image" Target="/ppt/media/image.jpeg" Id="R0baa0147768b439e" /><Relationship Type="http://schemas.openxmlformats.org/officeDocument/2006/relationships/notesSlide" Target="/ppt/notesSlides/notesSlide1.xml" Id="Rddca34b86a2747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b6dbc0bee41af" /><Relationship Type="http://schemas.openxmlformats.org/officeDocument/2006/relationships/notesSlide" Target="/ppt/notesSlides/notesSlide2.xml" Id="R44d13852eb8e40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9b3dd4d274f72" /><Relationship Type="http://schemas.openxmlformats.org/officeDocument/2006/relationships/notesSlide" Target="/ppt/notesSlides/notesSlide3.xml" Id="R2211fb39bb5a4d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8373e707f427c" /><Relationship Type="http://schemas.openxmlformats.org/officeDocument/2006/relationships/image" Target="/ppt/media/image2.jpeg" Id="R51def1f5f22849da" /><Relationship Type="http://schemas.openxmlformats.org/officeDocument/2006/relationships/notesSlide" Target="/ppt/notesSlides/notesSlide4.xml" Id="R2147e4cbc7844c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8a41f24c94853" /><Relationship Type="http://schemas.openxmlformats.org/officeDocument/2006/relationships/notesSlide" Target="/ppt/notesSlides/notesSlide5.xml" Id="Rce6eee703cca41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e78b92bfb4180" /><Relationship Type="http://schemas.openxmlformats.org/officeDocument/2006/relationships/chart" Target="/ppt/slides/charts/chart1.xml" Id="Raa3005df0e334f00" /><Relationship Type="http://schemas.openxmlformats.org/officeDocument/2006/relationships/notesSlide" Target="/ppt/notesSlides/notesSlide6.xml" Id="R3dff2b3c965243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c4b107ea64e91" /><Relationship Type="http://schemas.openxmlformats.org/officeDocument/2006/relationships/notesSlide" Target="/ppt/notesSlides/notesSlide7.xml" Id="R02efe05789be41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0acd832a44898" /><Relationship Type="http://schemas.openxmlformats.org/officeDocument/2006/relationships/notesSlide" Target="/ppt/notesSlides/notesSlide8.xml" Id="R67a5af481f0c45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0b245a54a4f75" /><Relationship Type="http://schemas.openxmlformats.org/officeDocument/2006/relationships/notesSlide" Target="/ppt/notesSlides/notesSlide9.xml" Id="Ra91a48f2aac143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e7f0fa1d941ae" /><Relationship Type="http://schemas.openxmlformats.org/officeDocument/2006/relationships/notesSlide" Target="/ppt/notesSlides/notesSlide10.xml" Id="R6453a568dc5641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0afb1477940aa" /><Relationship Type="http://schemas.openxmlformats.org/officeDocument/2006/relationships/image" Target="/ppt/media/image.png" Id="R3928f5736f8b45ef" /><Relationship Type="http://schemas.openxmlformats.org/officeDocument/2006/relationships/notesSlide" Target="/ppt/notesSlides/notesSlide11.xml" Id="R64acb2674dae42b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bf72b979d4f8a" /><Relationship Type="http://schemas.openxmlformats.org/officeDocument/2006/relationships/notesSlide" Target="/ppt/notesSlides/notesSlide12.xml" Id="Rf6f5e319d1574a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ee1ee96ea4aae" /><Relationship Type="http://schemas.openxmlformats.org/officeDocument/2006/relationships/notesSlide" Target="/ppt/notesSlides/notesSlide13.xml" Id="R063cf347986743d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de2280a1440de" /><Relationship Type="http://schemas.openxmlformats.org/officeDocument/2006/relationships/image" Target="/ppt/media/image2.png" Id="R48ddcdc425a04db3" /><Relationship Type="http://schemas.openxmlformats.org/officeDocument/2006/relationships/notesSlide" Target="/ppt/notesSlides/notesSlide14.xml" Id="Ra7917e629c9e4ea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94e62998a4eb0" /><Relationship Type="http://schemas.openxmlformats.org/officeDocument/2006/relationships/notesSlide" Target="/ppt/notesSlides/notesSlide15.xml" Id="Rd86561671b4749d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e044a11934b04" /><Relationship Type="http://schemas.openxmlformats.org/officeDocument/2006/relationships/image" Target="/ppt/media/image3.png" Id="R859ee232b74443aa" /><Relationship Type="http://schemas.openxmlformats.org/officeDocument/2006/relationships/notesSlide" Target="/ppt/notesSlides/notesSlide16.xml" Id="R40bbb2643a32424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f85bcc63a47c1" /><Relationship Type="http://schemas.openxmlformats.org/officeDocument/2006/relationships/notesSlide" Target="/ppt/notesSlides/notesSlide17.xml" Id="R40677d9baeed483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c39325d484884" /><Relationship Type="http://schemas.openxmlformats.org/officeDocument/2006/relationships/notesSlide" Target="/ppt/notesSlides/notesSlide18.xml" Id="R3a607077e8844d8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1df4ff2e4495e" /><Relationship Type="http://schemas.openxmlformats.org/officeDocument/2006/relationships/image" Target="/ppt/media/image3.jpeg" Id="R7bdef1d893d84ea1" /><Relationship Type="http://schemas.openxmlformats.org/officeDocument/2006/relationships/image" Target="/ppt/media/image4.jpeg" Id="Rfeb767e199774d15" /><Relationship Type="http://schemas.openxmlformats.org/officeDocument/2006/relationships/notesSlide" Target="/ppt/notesSlides/notesSlide19.xml" Id="R07f772b0e41849b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f69173e554df2" /><Relationship Type="http://schemas.openxmlformats.org/officeDocument/2006/relationships/image" Target="/ppt/media/image5.jpeg" Id="Rc001afb08f284be4" /><Relationship Type="http://schemas.openxmlformats.org/officeDocument/2006/relationships/notesSlide" Target="/ppt/notesSlides/notesSlide20.xml" Id="Rf2b40d0c417147e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b784ced754752" /><Relationship Type="http://schemas.openxmlformats.org/officeDocument/2006/relationships/notesSlide" Target="/ppt/notesSlides/notesSlide21.xml" Id="R8000e525be0a413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580f84d17476f" /><Relationship Type="http://schemas.openxmlformats.org/officeDocument/2006/relationships/notesSlide" Target="/ppt/notesSlides/notesSlide22.xml" Id="R7f4210e8ba15494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12c91be94439b" /><Relationship Type="http://schemas.openxmlformats.org/officeDocument/2006/relationships/notesSlide" Target="/ppt/notesSlides/notesSlide23.xml" Id="Rbfa174ba14ec4be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9e4b692a94ee9" /><Relationship Type="http://schemas.openxmlformats.org/officeDocument/2006/relationships/image" Target="/ppt/media/image6.jpeg" Id="R298442cdf80a4323" /><Relationship Type="http://schemas.openxmlformats.org/officeDocument/2006/relationships/notesSlide" Target="/ppt/notesSlides/notesSlide24.xml" Id="R870b0c256295430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dacc64221455a" /><Relationship Type="http://schemas.openxmlformats.org/officeDocument/2006/relationships/notesSlide" Target="/ppt/notesSlides/notesSlide25.xml" Id="Rcd87981e3d8e460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37ac88c8b49fe" /><Relationship Type="http://schemas.openxmlformats.org/officeDocument/2006/relationships/image" Target="/ppt/media/image7.jpeg" Id="Rde37df4e27064125" /><Relationship Type="http://schemas.openxmlformats.org/officeDocument/2006/relationships/notesSlide" Target="/ppt/notesSlides/notesSlide26.xml" Id="R014e8e455f51472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19003ae9f4bf9" /><Relationship Type="http://schemas.openxmlformats.org/officeDocument/2006/relationships/notesSlide" Target="/ppt/notesSlides/notesSlide27.xml" Id="Ra81f7fb4c73e446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96820cbc94948" /><Relationship Type="http://schemas.openxmlformats.org/officeDocument/2006/relationships/notesSlide" Target="/ppt/notesSlides/notesSlide28.xml" Id="Ra015bea46504455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4f2469c2248d1" /><Relationship Type="http://schemas.openxmlformats.org/officeDocument/2006/relationships/notesSlide" Target="/ppt/notesSlides/notesSlide29.xml" Id="Rb4a97d9affe445c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60bf980084a0e" /><Relationship Type="http://schemas.openxmlformats.org/officeDocument/2006/relationships/notesSlide" Target="/ppt/notesSlides/notesSlide30.xml" Id="R3c5ce440cb794c5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8abadf2fa4b7b" /><Relationship Type="http://schemas.openxmlformats.org/officeDocument/2006/relationships/image" Target="/ppt/media/image8.jpeg" Id="R7251578e23f14cbd" /><Relationship Type="http://schemas.openxmlformats.org/officeDocument/2006/relationships/notesSlide" Target="/ppt/notesSlides/notesSlide31.xml" Id="R59e6901c381a4b2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2517dc0e84f84" /><Relationship Type="http://schemas.openxmlformats.org/officeDocument/2006/relationships/notesSlide" Target="/ppt/notesSlides/notesSlide32.xml" Id="R96fa356eb23d480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5557438c447a6" /><Relationship Type="http://schemas.openxmlformats.org/officeDocument/2006/relationships/image" Target="/ppt/media/image4.png" Id="R3b4290a51bad4898" /><Relationship Type="http://schemas.openxmlformats.org/officeDocument/2006/relationships/notesSlide" Target="/ppt/notesSlides/notesSlide33.xml" Id="R4be687e48a93499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c2b16430a48a6" /><Relationship Type="http://schemas.openxmlformats.org/officeDocument/2006/relationships/notesSlide" Target="/ppt/notesSlides/notesSlide34.xml" Id="R187713f9b5ec477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103d3b22e4b3f" /><Relationship Type="http://schemas.openxmlformats.org/officeDocument/2006/relationships/image" Target="/ppt/media/image9.jpeg" Id="R371b29d19d384a27" /><Relationship Type="http://schemas.openxmlformats.org/officeDocument/2006/relationships/notesSlide" Target="/ppt/notesSlides/notesSlide35.xml" Id="R0bf0c6cf4970493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34558d34644ac" /><Relationship Type="http://schemas.openxmlformats.org/officeDocument/2006/relationships/notesSlide" Target="/ppt/notesSlides/notesSlide36.xml" Id="R9b7cf8f1767144c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01850e38a49e8" /><Relationship Type="http://schemas.openxmlformats.org/officeDocument/2006/relationships/notesSlide" Target="/ppt/notesSlides/notesSlide37.xml" Id="Rb819e1405df043a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c5240b86e4741" /><Relationship Type="http://schemas.openxmlformats.org/officeDocument/2006/relationships/notesSlide" Target="/ppt/notesSlides/notesSlide38.xml" Id="Re7d7797183694b0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9b761c9854809" /><Relationship Type="http://schemas.openxmlformats.org/officeDocument/2006/relationships/notesSlide" Target="/ppt/notesSlides/notesSlide39.xml" Id="R9b1272b60873452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9d38201084f88" /><Relationship Type="http://schemas.openxmlformats.org/officeDocument/2006/relationships/notesSlide" Target="/ppt/notesSlides/notesSlide40.xml" Id="R29291fe88527456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36a7120334e87" /><Relationship Type="http://schemas.openxmlformats.org/officeDocument/2006/relationships/notesSlide" Target="/ppt/notesSlides/notesSlide41.xml" Id="Rb5dea95de8294d5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e43b3a54c44d2" /><Relationship Type="http://schemas.openxmlformats.org/officeDocument/2006/relationships/notesSlide" Target="/ppt/notesSlides/notesSlide42.xml" Id="Rf11116b06b63472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cccbdb8a145c6" /><Relationship Type="http://schemas.openxmlformats.org/officeDocument/2006/relationships/image" Target="/ppt/media/image10.jpeg" Id="R409a5cc650ae4989" /><Relationship Type="http://schemas.openxmlformats.org/officeDocument/2006/relationships/notesSlide" Target="/ppt/notesSlides/notesSlide43.xml" Id="Re1141b0311124b3e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8d739ea6d461c" /><Relationship Type="http://schemas.openxmlformats.org/officeDocument/2006/relationships/hyperlink" Target="https://stat.unido.org/publications/international-yearbook-industrial-statistics-2025" TargetMode="External" Id="Rd192b61c42c54444" /><Relationship Type="http://schemas.openxmlformats.org/officeDocument/2006/relationships/hyperlink" Target="https://stat.unido.org/publications/international-yearbook-industrial-statistics-2025" TargetMode="External" Id="Rb732c60a469042d2" /><Relationship Type="http://schemas.openxmlformats.org/officeDocument/2006/relationships/hyperlink" Target="https://stat.unido.org/publications/international-yearbook-industrial-statistics-2025" TargetMode="External" Id="Rfd228ff5e61948f3" /><Relationship Type="http://schemas.openxmlformats.org/officeDocument/2006/relationships/hyperlink" Target="https://stat.unido.org/publications/international-yearbook-industrial-statistics-2025" TargetMode="External" Id="Rf85796bf175f496f" /><Relationship Type="http://schemas.openxmlformats.org/officeDocument/2006/relationships/hyperlink" Target="https://ifr.org/ifr-press-releases/five-million-robots-now-operate-in-factories-globally" TargetMode="External" Id="Rbec83d4b6aee49dd" /><Relationship Type="http://schemas.openxmlformats.org/officeDocument/2006/relationships/hyperlink" Target="https://ifr.org/ifr-press-releases/five-million-robots-now-operate-in-factories-globally" TargetMode="External" Id="R5a2d9e03c22a4bd8" /><Relationship Type="http://schemas.openxmlformats.org/officeDocument/2006/relationships/hyperlink" Target="https://ifr.org/ifr-press-releases/five-million-robots-now-operate-in-factories-globally" TargetMode="External" Id="R54277ea458474488" /><Relationship Type="http://schemas.openxmlformats.org/officeDocument/2006/relationships/hyperlink" Target="https://ifr.org/ifr-press-releases/five-million-robots-now-operate-in-factories-globally" TargetMode="External" Id="R2c9484f54b0c48fb" /><Relationship Type="http://schemas.openxmlformats.org/officeDocument/2006/relationships/hyperlink" Target="https://ifr.org/ifr-press-releases/news/robot-density-surges-in-europe-asia-and-americas" TargetMode="External" Id="R889084ec3c0b47d7" /><Relationship Type="http://schemas.openxmlformats.org/officeDocument/2006/relationships/hyperlink" Target="https://ifr.org/ifr-press-releases/news/robot-density-surges-in-europe-asia-and-americas" TargetMode="External" Id="R8986902988a94f60" /><Relationship Type="http://schemas.openxmlformats.org/officeDocument/2006/relationships/hyperlink" Target="https://ifr.org/ifr-press-releases/news/robot-density-surges-in-europe-asia-and-americas" TargetMode="External" Id="R5f7dc5561c6545ce" /><Relationship Type="http://schemas.openxmlformats.org/officeDocument/2006/relationships/hyperlink" Target="https://ifr.org/ifr-press-releases/news/robot-density-surges-in-europe-asia-and-americas" TargetMode="External" Id="Rf5414d5230fc4fb2" /><Relationship Type="http://schemas.openxmlformats.org/officeDocument/2006/relationships/hyperlink" Target="https://www.iea.org/reports/global-ev-outlook-2026/executive-summary" TargetMode="External" Id="R5136f947e63246c2" /><Relationship Type="http://schemas.openxmlformats.org/officeDocument/2006/relationships/hyperlink" Target="https://www.iea.org/reports/global-ev-outlook-2026/executive-summary" TargetMode="External" Id="R008aa2d30c6a4050" /><Relationship Type="http://schemas.openxmlformats.org/officeDocument/2006/relationships/hyperlink" Target="https://www.iea.org/reports/global-ev-outlook-2026/executive-summary" TargetMode="External" Id="R8d13cf2daab94218" /><Relationship Type="http://schemas.openxmlformats.org/officeDocument/2006/relationships/hyperlink" Target="https://www.iea.org/reports/global-ev-outlook-2026/executive-summary" TargetMode="External" Id="R5a92dde9b48b4829" /><Relationship Type="http://schemas.openxmlformats.org/officeDocument/2006/relationships/hyperlink" Target="https://hai.stanford.edu/ai-index/2026-ai-index-report" TargetMode="External" Id="R11698cf947884420" /><Relationship Type="http://schemas.openxmlformats.org/officeDocument/2006/relationships/hyperlink" Target="https://hai.stanford.edu/ai-index/2026-ai-index-report" TargetMode="External" Id="Rf5bf057e4d41415c" /><Relationship Type="http://schemas.openxmlformats.org/officeDocument/2006/relationships/hyperlink" Target="https://hai.stanford.edu/ai-index/2026-ai-index-report" TargetMode="External" Id="Ra4286ae466a34d51" /><Relationship Type="http://schemas.openxmlformats.org/officeDocument/2006/relationships/hyperlink" Target="https://hai.stanford.edu/ai-index/2026-ai-index-report" TargetMode="External" Id="R9fc9879ed8744384" /><Relationship Type="http://schemas.openxmlformats.org/officeDocument/2006/relationships/notesSlide" Target="/ppt/notesSlides/notesSlide44.xml" Id="R0d8fbcbdd0fc4ab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6dcca093440bf" /><Relationship Type="http://schemas.openxmlformats.org/officeDocument/2006/relationships/hyperlink" Target="https://www.weforum.org/media/global-lighthouse-network-2025-world-economic-forum-recognizes-companies-transforming-manufacturing-through-innovation/" TargetMode="External" Id="R53bb98e601c347f2" /><Relationship Type="http://schemas.openxmlformats.org/officeDocument/2006/relationships/hyperlink" Target="https://www.weforum.org/media/global-lighthouse-network-2025-world-economic-forum-recognizes-companies-transforming-manufacturing-through-innovation/" TargetMode="External" Id="R37c96207d8934baa" /><Relationship Type="http://schemas.openxmlformats.org/officeDocument/2006/relationships/hyperlink" Target="https://www.weforum.org/media/global-lighthouse-network-2025-world-economic-forum-recognizes-companies-transforming-manufacturing-through-innovation/" TargetMode="External" Id="Rd28d9da0538f4de8" /><Relationship Type="http://schemas.openxmlformats.org/officeDocument/2006/relationships/hyperlink" Target="https://www.weforum.org/media/global-lighthouse-network-2025-world-economic-forum-recognizes-companies-transforming-manufacturing-through-innovation/" TargetMode="External" Id="R260a5078b24f478a" /><Relationship Type="http://schemas.openxmlformats.org/officeDocument/2006/relationships/hyperlink" Target="https://www.weforum.org/media/global-lighthouse-network-2025-world-economic-forum-recognizes-companies-transforming-manufacturing-through-innovation/" TargetMode="External" Id="Rcdaaa45301aa460e" /><Relationship Type="http://schemas.openxmlformats.org/officeDocument/2006/relationships/hyperlink" Target="https://www.weforum.org/media/global-lighthouse-network-2025-world-economic-forum-recognizes-companies-transforming-manufacturing-through-innovation/" TargetMode="External" Id="R2aa96490d70c4510" /><Relationship Type="http://schemas.openxmlformats.org/officeDocument/2006/relationships/hyperlink" Target="https://www.weforum.org/media/global-lighthouse-network-2025-world-economic-forum-recognizes-companies-transforming-manufacturing-through-innovation/" TargetMode="External" Id="R81b18fec277c4bea" /><Relationship Type="http://schemas.openxmlformats.org/officeDocument/2006/relationships/hyperlink" Target="https://www.weforum.org/media/global-lighthouse-network-2025-world-economic-forum-recognizes-companies-transforming-manufacturing-through-innovation/" TargetMode="External" Id="R120ac101a77641b7" /><Relationship Type="http://schemas.openxmlformats.org/officeDocument/2006/relationships/hyperlink" Target="https://www.unitree.com/g1/" TargetMode="External" Id="R479495d593904c29" /><Relationship Type="http://schemas.openxmlformats.org/officeDocument/2006/relationships/hyperlink" Target="https://www.unitree.com/g1/" TargetMode="External" Id="R54c26603d6f849e6" /><Relationship Type="http://schemas.openxmlformats.org/officeDocument/2006/relationships/hyperlink" Target="https://www.unitree.com/g1/" TargetMode="External" Id="R868e36862f194e10" /><Relationship Type="http://schemas.openxmlformats.org/officeDocument/2006/relationships/hyperlink" Target="https://www.unitree.com/g1/" TargetMode="External" Id="Rddebe422611b4402" /><Relationship Type="http://schemas.openxmlformats.org/officeDocument/2006/relationships/hyperlink" Target="https://www.xiaomiev.com/hyperfactory" TargetMode="External" Id="R522f8ae633904ed8" /><Relationship Type="http://schemas.openxmlformats.org/officeDocument/2006/relationships/hyperlink" Target="https://www.xiaomiev.com/hyperfactory" TargetMode="External" Id="R9b49f94e935d4e07" /><Relationship Type="http://schemas.openxmlformats.org/officeDocument/2006/relationships/hyperlink" Target="https://www.xiaomiev.com/hyperfactory" TargetMode="External" Id="R98bbd27108854f48" /><Relationship Type="http://schemas.openxmlformats.org/officeDocument/2006/relationships/hyperlink" Target="https://www.xiaomiev.com/hyperfactory" TargetMode="External" Id="R3e975f9c253042ac" /><Relationship Type="http://schemas.openxmlformats.org/officeDocument/2006/relationships/hyperlink" Target="https://www.iea.org/reports/global-ev-outlook-2026/manufacturing-and-trade" TargetMode="External" Id="Rf96e17023b244b15" /><Relationship Type="http://schemas.openxmlformats.org/officeDocument/2006/relationships/hyperlink" Target="https://www.iea.org/reports/global-ev-outlook-2026/manufacturing-and-trade" TargetMode="External" Id="R6488d34c4ca648e2" /><Relationship Type="http://schemas.openxmlformats.org/officeDocument/2006/relationships/hyperlink" Target="https://www.iea.org/reports/global-ev-outlook-2026/manufacturing-and-trade" TargetMode="External" Id="R63cf2ecbd46f4958" /><Relationship Type="http://schemas.openxmlformats.org/officeDocument/2006/relationships/hyperlink" Target="https://www.iea.org/reports/global-ev-outlook-2026/manufacturing-and-trade" TargetMode="External" Id="R04693f273a60434c" /><Relationship Type="http://schemas.openxmlformats.org/officeDocument/2006/relationships/notesSlide" Target="/ppt/notesSlides/notesSlide45.xml" Id="R54fe2544dcff4e4f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c8c1bd9e54700" /><Relationship Type="http://schemas.openxmlformats.org/officeDocument/2006/relationships/hyperlink" Target="https://www.cac.gov.cn/2025-08/27/c_1758018277755538.htm" TargetMode="External" Id="R0317489c7b13418b" /><Relationship Type="http://schemas.openxmlformats.org/officeDocument/2006/relationships/hyperlink" Target="https://www.cac.gov.cn/2025-08/27/c_1758018277755538.htm" TargetMode="External" Id="R232125e676cb4094" /><Relationship Type="http://schemas.openxmlformats.org/officeDocument/2006/relationships/hyperlink" Target="https://www.cac.gov.cn/2025-08/27/c_1758018277755538.htm" TargetMode="External" Id="R225a3ec1b6d54410" /><Relationship Type="http://schemas.openxmlformats.org/officeDocument/2006/relationships/hyperlink" Target="https://www.cac.gov.cn/2025-08/27/c_1758018277755538.htm" TargetMode="External" Id="R257552df0b7e42ff" /><Relationship Type="http://schemas.openxmlformats.org/officeDocument/2006/relationships/hyperlink" Target="https://cset.georgetown.edu/publication/china-ai-plus-opinions-2025/" TargetMode="External" Id="Re613544425c94d77" /><Relationship Type="http://schemas.openxmlformats.org/officeDocument/2006/relationships/hyperlink" Target="https://cset.georgetown.edu/publication/china-ai-plus-opinions-2025/" TargetMode="External" Id="Rbdf66a1c9c564ac2" /><Relationship Type="http://schemas.openxmlformats.org/officeDocument/2006/relationships/hyperlink" Target="https://cset.georgetown.edu/publication/china-ai-plus-opinions-2025/" TargetMode="External" Id="R8bbb16a4b5004e77" /><Relationship Type="http://schemas.openxmlformats.org/officeDocument/2006/relationships/hyperlink" Target="https://cset.georgetown.edu/publication/china-ai-plus-opinions-2025/" TargetMode="External" Id="R9e781267d48d429a" /><Relationship Type="http://schemas.openxmlformats.org/officeDocument/2006/relationships/hyperlink" Target="https://www.moe.gov.cn/jyb_xwfb/xw_zt/moe_357/2026/2026_zt03/yw/202603/t20260314_1430877.html" TargetMode="External" Id="R21312bcb3d4b467f" /><Relationship Type="http://schemas.openxmlformats.org/officeDocument/2006/relationships/hyperlink" Target="https://www.moe.gov.cn/jyb_xwfb/xw_zt/moe_357/2026/2026_zt03/yw/202603/t20260314_1430877.html" TargetMode="External" Id="R82f019910c664225" /><Relationship Type="http://schemas.openxmlformats.org/officeDocument/2006/relationships/hyperlink" Target="https://www.moe.gov.cn/jyb_xwfb/xw_zt/moe_357/2026/2026_zt03/yw/202603/t20260314_1430877.html" TargetMode="External" Id="R5223d92729bc4622" /><Relationship Type="http://schemas.openxmlformats.org/officeDocument/2006/relationships/hyperlink" Target="https://www.moe.gov.cn/jyb_xwfb/xw_zt/moe_357/2026/2026_zt03/yw/202603/t20260314_1430877.html" TargetMode="External" Id="R30876c4909554250" /><Relationship Type="http://schemas.openxmlformats.org/officeDocument/2006/relationships/hyperlink" Target="https://www.worldbank.org/en/news/press-release/2026/07/07/rebalancing-growth-china-economic-update" TargetMode="External" Id="R3dc2ef910b6e4e6e" /><Relationship Type="http://schemas.openxmlformats.org/officeDocument/2006/relationships/hyperlink" Target="https://www.worldbank.org/en/news/press-release/2026/07/07/rebalancing-growth-china-economic-update" TargetMode="External" Id="Rdac707e0b2ff48ac" /><Relationship Type="http://schemas.openxmlformats.org/officeDocument/2006/relationships/hyperlink" Target="https://www.worldbank.org/en/news/press-release/2026/07/07/rebalancing-growth-china-economic-update" TargetMode="External" Id="R4ae4f311c4064db8" /><Relationship Type="http://schemas.openxmlformats.org/officeDocument/2006/relationships/hyperlink" Target="https://www.worldbank.org/en/news/press-release/2026/07/07/rebalancing-growth-china-economic-update" TargetMode="External" Id="R15d46632233e4651" /><Relationship Type="http://schemas.openxmlformats.org/officeDocument/2006/relationships/hyperlink" Target="https://sgevatschnaider.github.io/Inteligencia-Artificial-y-Rob-tica-en-China/recursos/Capital Rob&#243;tico vs Capital Com&#250;n &#8212; Efecto del Data Flywheel.html" TargetMode="External" Id="Rfdf3043c79d14b27" /><Relationship Type="http://schemas.openxmlformats.org/officeDocument/2006/relationships/hyperlink" Target="https://sgevatschnaider.github.io/Inteligencia-Artificial-y-Rob-tica-en-China/recursos/Capital Rob&#243;tico vs Capital Com&#250;n &#8212; Efecto del Data Flywheel.html" TargetMode="External" Id="Rdaa6d485bde74c04" /><Relationship Type="http://schemas.openxmlformats.org/officeDocument/2006/relationships/hyperlink" Target="https://sgevatschnaider.github.io/Inteligencia-Artificial-y-Rob-tica-en-China/recursos/Capital Rob&#243;tico vs Capital Com&#250;n &#8212; Efecto del Data Flywheel.html" TargetMode="External" Id="R4459b7283df24971" /><Relationship Type="http://schemas.openxmlformats.org/officeDocument/2006/relationships/hyperlink" Target="https://sgevatschnaider.github.io/Inteligencia-Artificial-y-Rob-tica-en-China/recursos/Capital Rob&#243;tico vs Capital Com&#250;n &#8212; Efecto del Data Flywheel.html" TargetMode="External" Id="R8f9f4274cecb499e" /><Relationship Type="http://schemas.openxmlformats.org/officeDocument/2006/relationships/notesSlide" Target="/ppt/notesSlides/notesSlide46.xml" Id="R784d4c2fc02549fd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cba4490b64d65" /><Relationship Type="http://schemas.openxmlformats.org/officeDocument/2006/relationships/image" Target="/ppt/media/image11.jpeg" Id="Rb6c134bdc8504ecd" /><Relationship Type="http://schemas.openxmlformats.org/officeDocument/2006/relationships/notesSlide" Target="/ppt/notesSlides/notesSlide47.xml" Id="R5698d5bc7b0c4fc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Share of world manufacturing</c:v>
          </c:tx>
          <c:spPr>
            <a:solidFill xmlns:a="http://schemas.openxmlformats.org/drawingml/2006/main">
              <a:srgbClr val="168C8B"/>
            </a:solidFill>
          </c:spPr>
          <c:invertIfNegative val="0"/>
          <c:cat>
            <c:numRef>
              <c:f>'Chart Data'!$A$2:$A$3</c:f>
              <c:numCache>
                <c:formatCode>General</c:formatCode>
                <c:ptCount val="2"/>
                <c:pt idx="0">
                  <c:v>1990</c:v>
                </c:pt>
                <c:pt idx="1">
                  <c:v>2024</c:v>
                </c:pt>
              </c:numCache>
            </c:num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0.028</c:v>
                </c:pt>
                <c:pt idx="1">
                  <c:v>0.32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lang="en-US"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0.4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AE3E8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 lang="en-US">
                <a:solidFill>
                  <a:srgbClr val="65788A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8770D91F-CB99-48C8-9823-1CD0210C46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a0147768b439e"/>
          <a:srcRect xmlns:a="http://schemas.openxmlformats.org/drawingml/2006/main" l="16245" t="0" r="16245" b="0"/>
          <a:stretch xmlns:a="http://schemas.openxmlformats.org/drawingml/2006/main"/>
        </p:blipFill>
        <p:spPr>
          <a:xfrm xmlns:a="http://schemas.openxmlformats.org/drawingml/2006/main">
            <a:off x="5193792" y="0"/>
            <a:ext cx="699516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867C7AF-D136-4313-A8A4-39D80E8D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33872" cy="6858000"/>
          </a:xfrm>
          <a:prstGeom xmlns:a="http://schemas.openxmlformats.org/drawingml/2006/main" prst="roundRect">
            <a:avLst>
              <a:gd name="adj" fmla="val 2508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37781A8-A50F-49CC-995E-3D01CB45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296" y="0"/>
            <a:ext cx="82296" cy="6858000"/>
          </a:xfrm>
          <a:prstGeom xmlns:a="http://schemas.openxmlformats.org/drawingml/2006/main" prst="roundRect">
            <a:avLst>
              <a:gd name="adj" fmla="val 177778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F65046C-7696-4629-AAB2-84226BD7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1261872"/>
            <a:ext cx="5029200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3900" b="1" lang="en-US">
                <a:latin typeface="Aptos"/>
                <a:ea typeface="Aptos"/>
                <a:cs typeface="Aptos"/>
              </a:defRPr>
            </a:defPPr>
            <a:lvl1pPr>
              <a:defRPr sz="3900" b="1" lang="en-US">
                <a:latin typeface="Aptos"/>
                <a:ea typeface="Aptos"/>
                <a:cs typeface="Aptos"/>
              </a:defRPr>
            </a:lvl1pPr>
            <a:lvl2pPr>
              <a:defRPr sz="3900" b="1" lang="en-US">
                <a:latin typeface="Aptos"/>
                <a:ea typeface="Aptos"/>
                <a:cs typeface="Aptos"/>
              </a:defRPr>
            </a:lvl2pPr>
            <a:lvl3pPr>
              <a:defRPr sz="3900" b="1" lang="en-US">
                <a:latin typeface="Aptos"/>
                <a:ea typeface="Aptos"/>
                <a:cs typeface="Aptos"/>
              </a:defRPr>
            </a:lvl3pPr>
            <a:lvl4pPr>
              <a:defRPr sz="3900" b="1" lang="en-US">
                <a:latin typeface="Aptos"/>
                <a:ea typeface="Aptos"/>
                <a:cs typeface="Aptos"/>
              </a:defRPr>
            </a:lvl4pPr>
            <a:lvl5pPr>
              <a:defRPr sz="3900" b="1" lang="en-US">
                <a:latin typeface="Aptos"/>
                <a:ea typeface="Aptos"/>
                <a:cs typeface="Aptos"/>
              </a:defRPr>
            </a:lvl5pPr>
            <a:lvl6pPr>
              <a:defRPr sz="3900" b="1" lang="en-US">
                <a:latin typeface="Aptos"/>
                <a:ea typeface="Aptos"/>
                <a:cs typeface="Aptos"/>
              </a:defRPr>
            </a:lvl6pPr>
            <a:lvl7pPr>
              <a:defRPr sz="3900" b="1" lang="en-US">
                <a:latin typeface="Aptos"/>
                <a:ea typeface="Aptos"/>
                <a:cs typeface="Aptos"/>
              </a:defRPr>
            </a:lvl7pPr>
            <a:lvl8pPr>
              <a:defRPr sz="3900" b="1" lang="en-US">
                <a:latin typeface="Aptos"/>
                <a:ea typeface="Aptos"/>
                <a:cs typeface="Aptos"/>
              </a:defRPr>
            </a:lvl8pPr>
            <a:lvl9pPr>
              <a:defRPr sz="3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3900" b="1" spc="150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TECHNOLOGICAL</a:t>
            </a:r>
            <a:endParaRPr sz="3900" lang="en-US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9D732CF-1D8C-40A9-B3D1-3D876427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2084832"/>
            <a:ext cx="51206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4300" b="1" lang="en-US">
                <a:latin typeface="Aptos"/>
                <a:ea typeface="Aptos"/>
                <a:cs typeface="Aptos"/>
              </a:defRPr>
            </a:defPPr>
            <a:lvl1pPr>
              <a:defRPr sz="4300" b="1" lang="en-US">
                <a:latin typeface="Aptos"/>
                <a:ea typeface="Aptos"/>
                <a:cs typeface="Aptos"/>
              </a:defRPr>
            </a:lvl1pPr>
            <a:lvl2pPr>
              <a:defRPr sz="4300" b="1" lang="en-US">
                <a:latin typeface="Aptos"/>
                <a:ea typeface="Aptos"/>
                <a:cs typeface="Aptos"/>
              </a:defRPr>
            </a:lvl2pPr>
            <a:lvl3pPr>
              <a:defRPr sz="4300" b="1" lang="en-US">
                <a:latin typeface="Aptos"/>
                <a:ea typeface="Aptos"/>
                <a:cs typeface="Aptos"/>
              </a:defRPr>
            </a:lvl3pPr>
            <a:lvl4pPr>
              <a:defRPr sz="4300" b="1" lang="en-US">
                <a:latin typeface="Aptos"/>
                <a:ea typeface="Aptos"/>
                <a:cs typeface="Aptos"/>
              </a:defRPr>
            </a:lvl4pPr>
            <a:lvl5pPr>
              <a:defRPr sz="4300" b="1" lang="en-US">
                <a:latin typeface="Aptos"/>
                <a:ea typeface="Aptos"/>
                <a:cs typeface="Aptos"/>
              </a:defRPr>
            </a:lvl5pPr>
            <a:lvl6pPr>
              <a:defRPr sz="4300" b="1" lang="en-US">
                <a:latin typeface="Aptos"/>
                <a:ea typeface="Aptos"/>
                <a:cs typeface="Aptos"/>
              </a:defRPr>
            </a:lvl6pPr>
            <a:lvl7pPr>
              <a:defRPr sz="4300" b="1" lang="en-US">
                <a:latin typeface="Aptos"/>
                <a:ea typeface="Aptos"/>
                <a:cs typeface="Aptos"/>
              </a:defRPr>
            </a:lvl7pPr>
            <a:lvl8pPr>
              <a:defRPr sz="4300" b="1" lang="en-US">
                <a:latin typeface="Aptos"/>
                <a:ea typeface="Aptos"/>
                <a:cs typeface="Aptos"/>
              </a:defRPr>
            </a:lvl8pPr>
            <a:lvl9pPr>
              <a:defRPr sz="43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4300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CHINA</a:t>
            </a:r>
            <a:endParaRPr sz="4300" lang="en-US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3CEF62C-02F4-428F-8739-CBEEC5E3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108960"/>
            <a:ext cx="4800600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00" lang="en-US">
                <a:latin typeface="Aptos"/>
                <a:ea typeface="Aptos"/>
                <a:cs typeface="Aptos"/>
              </a:defRPr>
            </a:defPPr>
            <a:lvl1pPr>
              <a:defRPr sz="2200" lang="en-US">
                <a:latin typeface="Aptos"/>
                <a:ea typeface="Aptos"/>
                <a:cs typeface="Aptos"/>
              </a:defRPr>
            </a:lvl1pPr>
            <a:lvl2pPr>
              <a:defRPr sz="2200" lang="en-US">
                <a:latin typeface="Aptos"/>
                <a:ea typeface="Aptos"/>
                <a:cs typeface="Aptos"/>
              </a:defRPr>
            </a:lvl2pPr>
            <a:lvl3pPr>
              <a:defRPr sz="2200" lang="en-US">
                <a:latin typeface="Aptos"/>
                <a:ea typeface="Aptos"/>
                <a:cs typeface="Aptos"/>
              </a:defRPr>
            </a:lvl3pPr>
            <a:lvl4pPr>
              <a:defRPr sz="2200" lang="en-US">
                <a:latin typeface="Aptos"/>
                <a:ea typeface="Aptos"/>
                <a:cs typeface="Aptos"/>
              </a:defRPr>
            </a:lvl4pPr>
            <a:lvl5pPr>
              <a:defRPr sz="2200" lang="en-US">
                <a:latin typeface="Aptos"/>
                <a:ea typeface="Aptos"/>
                <a:cs typeface="Aptos"/>
              </a:defRPr>
            </a:lvl5pPr>
            <a:lvl6pPr>
              <a:defRPr sz="2200" lang="en-US">
                <a:latin typeface="Aptos"/>
                <a:ea typeface="Aptos"/>
                <a:cs typeface="Aptos"/>
              </a:defRPr>
            </a:lvl6pPr>
            <a:lvl7pPr>
              <a:defRPr sz="2200" lang="en-US">
                <a:latin typeface="Aptos"/>
                <a:ea typeface="Aptos"/>
                <a:cs typeface="Aptos"/>
              </a:defRPr>
            </a:lvl7pPr>
            <a:lvl8pPr>
              <a:defRPr sz="2200" lang="en-US">
                <a:latin typeface="Aptos"/>
                <a:ea typeface="Aptos"/>
                <a:cs typeface="Aptos"/>
              </a:defRPr>
            </a:lvl8pPr>
            <a:lvl9pPr>
              <a:defRPr sz="22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200" lang="en-US">
                <a:solidFill>
                  <a:srgbClr val="EAF0F4"/>
                </a:solidFill>
                <a:latin typeface="Aptos"/>
                <a:ea typeface="Aptos"/>
                <a:cs typeface="Aptos"/>
              </a:rPr>
              <a:t>From the world's factory</a:t>
            </a:r>
            <a:endParaRPr sz="2200" lang="en-US"/>
          </a:p>
          <a:p xmlns:a="http://schemas.openxmlformats.org/drawingml/2006/main">
            <a:pPr marL="0" indent="0" algn="l">
              <a:buNone/>
            </a:pPr>
            <a:r>
              <a:rPr sz="2200" lang="en-US">
                <a:solidFill>
                  <a:srgbClr val="EAF0F4"/>
                </a:solidFill>
                <a:latin typeface="Aptos"/>
                <a:ea typeface="Aptos"/>
                <a:cs typeface="Aptos"/>
              </a:rPr>
              <a:t>to a technological powerhouse</a:t>
            </a:r>
            <a:endParaRPr sz="2200" lang="en-US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216B32B-83C4-4982-934E-6381EB3C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916168"/>
            <a:ext cx="456285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01" b="1" lang="en-US">
                <a:latin typeface="Aptos"/>
                <a:ea typeface="Aptos"/>
                <a:cs typeface="Aptos"/>
              </a:defRPr>
            </a:defPPr>
            <a:lvl1pPr>
              <a:defRPr sz="1701" b="1" lang="en-US">
                <a:latin typeface="Aptos"/>
                <a:ea typeface="Aptos"/>
                <a:cs typeface="Aptos"/>
              </a:defRPr>
            </a:lvl1pPr>
            <a:lvl2pPr>
              <a:defRPr sz="1701" b="1" lang="en-US">
                <a:latin typeface="Aptos"/>
                <a:ea typeface="Aptos"/>
                <a:cs typeface="Aptos"/>
              </a:defRPr>
            </a:lvl2pPr>
            <a:lvl3pPr>
              <a:defRPr sz="1701" b="1" lang="en-US">
                <a:latin typeface="Aptos"/>
                <a:ea typeface="Aptos"/>
                <a:cs typeface="Aptos"/>
              </a:defRPr>
            </a:lvl3pPr>
            <a:lvl4pPr>
              <a:defRPr sz="1701" b="1" lang="en-US">
                <a:latin typeface="Aptos"/>
                <a:ea typeface="Aptos"/>
                <a:cs typeface="Aptos"/>
              </a:defRPr>
            </a:lvl4pPr>
            <a:lvl5pPr>
              <a:defRPr sz="1701" b="1" lang="en-US">
                <a:latin typeface="Aptos"/>
                <a:ea typeface="Aptos"/>
                <a:cs typeface="Aptos"/>
              </a:defRPr>
            </a:lvl5pPr>
            <a:lvl6pPr>
              <a:defRPr sz="1701" b="1" lang="en-US">
                <a:latin typeface="Aptos"/>
                <a:ea typeface="Aptos"/>
                <a:cs typeface="Aptos"/>
              </a:defRPr>
            </a:lvl6pPr>
            <a:lvl7pPr>
              <a:defRPr sz="1701" b="1" lang="en-US">
                <a:latin typeface="Aptos"/>
                <a:ea typeface="Aptos"/>
                <a:cs typeface="Aptos"/>
              </a:defRPr>
            </a:lvl7pPr>
            <a:lvl8pPr>
              <a:defRPr sz="1701" b="1" lang="en-US">
                <a:latin typeface="Aptos"/>
                <a:ea typeface="Aptos"/>
                <a:cs typeface="Aptos"/>
              </a:defRPr>
            </a:lvl8pPr>
            <a:lvl9pPr>
              <a:defRPr sz="17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70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SERGIO GEVATSCHNAIDER</a:t>
            </a:r>
            <a:endParaRPr sz="1700" lang="en-US"/>
          </a:p>
        </p:txBody>
      </p:sp>
      <p:sp>
        <p:nvSpPr>
          <p:cNvPr id="13" name="permanent-subject">
            <a:extLst xmlns:a="http://schemas.openxmlformats.org/drawingml/2006/main">
              <a:ext uri="{FF2B5EF4-FFF2-40B4-BE49-F238E27FC236}">
                <a16:creationId xmlns:a16="http://schemas.microsoft.com/office/drawing/2014/main" id="{B0BA445B-6A51-4E57-89C2-0A4FF6E0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49" b="1" lang="en-US">
                <a:solidFill>
                  <a:srgbClr val="C6E9E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350" b="1" lang="en-US">
                <a:solidFill>
                  <a:srgbClr val="C6E9E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1" lang="en-US">
                <a:solidFill>
                  <a:srgbClr val="C6E9E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1" lang="en-US">
                <a:solidFill>
                  <a:srgbClr val="C6E9E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1" lang="en-US">
                <a:solidFill>
                  <a:srgbClr val="C6E9E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1" lang="en-US">
                <a:solidFill>
                  <a:srgbClr val="C6E9E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1" lang="en-US">
                <a:solidFill>
                  <a:srgbClr val="C6E9E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1" lang="en-US">
                <a:solidFill>
                  <a:srgbClr val="C6E9E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1" lang="en-US">
                <a:solidFill>
                  <a:srgbClr val="C6E9E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1" lang="en-US">
                <a:solidFill>
                  <a:srgbClr val="C6E9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350" b="1" lang="en-US">
                <a:solidFill>
                  <a:srgbClr val="C6E9E6"/>
                </a:solidFill>
                <a:latin typeface="Aptos"/>
                <a:ea typeface="Aptos"/>
                <a:cs typeface="Aptos"/>
              </a:defRPr>
            </a:pPr>
            <a:r>
              <a:rPr sz="1349" b="1" lang="en-US">
                <a:solidFill>
                  <a:srgbClr val="C6E9E6"/>
                </a:solidFill>
                <a:latin typeface="Aptos"/>
                <a:ea typeface="Aptos"/>
                <a:cs typeface="Aptos"/>
              </a:rPr>
              <a:t>INDUSTRIAL TRANSFORMATION</a:t>
            </a:r>
          </a:p>
        </p:txBody>
      </p:sp>
      <p:sp>
        <p:nvSpPr>
          <p:cNvPr id="14" name="illustration-label">
            <a:extLst xmlns:a="http://schemas.openxmlformats.org/drawingml/2006/main">
              <a:ext uri="{FF2B5EF4-FFF2-40B4-BE49-F238E27FC236}">
                <a16:creationId xmlns:a16="http://schemas.microsoft.com/office/drawing/2014/main" id="{1D3C5A14-8096-4658-9FF2-3D33E39D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901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00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00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00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00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00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00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00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00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00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buNone/>
              <a:defRPr sz="900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CONCEPTUAL ILLUSTRATION</a:t>
            </a:r>
          </a:p>
        </p:txBody>
      </p:sp>
    </p:spTree>
    <p:extLst>
      <p:ext uri="{BB962C8B-B14F-4D97-AF65-F5344CB8AC3E}">
        <p14:creationId xmlns:p14="http://schemas.microsoft.com/office/powerpoint/2010/main" val="5242549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950717F-A3EF-4095-9FA1-9A24DE73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THE CENTRAL QUESTION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F65CD50-200D-464F-A9F2-57350C24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How does a technological powerhouse emerge?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5A140F7-16B8-4113-8863-1C98D32D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The answer cannot be reduced to one invention, one company, or one policy.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9268CD6-F951-4E13-90A5-877614F1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5330952" cy="1371600"/>
          </a:xfrm>
          <a:prstGeom xmlns:a="http://schemas.openxmlformats.org/drawingml/2006/main" prst="roundRect">
            <a:avLst>
              <a:gd name="adj" fmla="val 1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E285ED7-9EDF-4D5A-8B72-9D88008A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17627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336147E-9B89-4359-AD98-051D610E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235708"/>
            <a:ext cx="4114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01" b="1" lang="en-US">
                <a:latin typeface="Aptos"/>
                <a:ea typeface="Aptos"/>
                <a:cs typeface="Aptos"/>
              </a:defRPr>
            </a:defPPr>
            <a:lvl1pPr>
              <a:defRPr sz="1001" b="1" lang="en-US">
                <a:latin typeface="Aptos"/>
                <a:ea typeface="Aptos"/>
                <a:cs typeface="Aptos"/>
              </a:defRPr>
            </a:lvl1pPr>
            <a:lvl2pPr>
              <a:defRPr sz="1001" b="1" lang="en-US">
                <a:latin typeface="Aptos"/>
                <a:ea typeface="Aptos"/>
                <a:cs typeface="Aptos"/>
              </a:defRPr>
            </a:lvl2pPr>
            <a:lvl3pPr>
              <a:defRPr sz="1001" b="1" lang="en-US">
                <a:latin typeface="Aptos"/>
                <a:ea typeface="Aptos"/>
                <a:cs typeface="Aptos"/>
              </a:defRPr>
            </a:lvl3pPr>
            <a:lvl4pPr>
              <a:defRPr sz="1001" b="1" lang="en-US">
                <a:latin typeface="Aptos"/>
                <a:ea typeface="Aptos"/>
                <a:cs typeface="Aptos"/>
              </a:defRPr>
            </a:lvl4pPr>
            <a:lvl5pPr>
              <a:defRPr sz="1001" b="1" lang="en-US">
                <a:latin typeface="Aptos"/>
                <a:ea typeface="Aptos"/>
                <a:cs typeface="Aptos"/>
              </a:defRPr>
            </a:lvl5pPr>
            <a:lvl6pPr>
              <a:defRPr sz="1001" b="1" lang="en-US">
                <a:latin typeface="Aptos"/>
                <a:ea typeface="Aptos"/>
                <a:cs typeface="Aptos"/>
              </a:defRPr>
            </a:lvl6pPr>
            <a:lvl7pPr>
              <a:defRPr sz="1001" b="1" lang="en-US">
                <a:latin typeface="Aptos"/>
                <a:ea typeface="Aptos"/>
                <a:cs typeface="Aptos"/>
              </a:defRPr>
            </a:lvl7pPr>
            <a:lvl8pPr>
              <a:defRPr sz="1001" b="1" lang="en-US">
                <a:latin typeface="Aptos"/>
                <a:ea typeface="Aptos"/>
                <a:cs typeface="Aptos"/>
              </a:defRPr>
            </a:lvl8pPr>
            <a:lvl9pPr>
              <a:defRPr sz="10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00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  <a:endParaRPr sz="1100" lang="en-US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C519D07-901D-4215-8F16-BA5A0D26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2212848"/>
            <a:ext cx="429768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99" b="1" lang="en-US">
                <a:latin typeface="Aptos"/>
                <a:ea typeface="Aptos"/>
                <a:cs typeface="Aptos"/>
              </a:defRPr>
            </a:defPPr>
            <a:lvl1pPr>
              <a:defRPr sz="1899" b="1" lang="en-US">
                <a:latin typeface="Aptos"/>
                <a:ea typeface="Aptos"/>
                <a:cs typeface="Aptos"/>
              </a:defRPr>
            </a:lvl1pPr>
            <a:lvl2pPr>
              <a:defRPr sz="1899" b="1" lang="en-US">
                <a:latin typeface="Aptos"/>
                <a:ea typeface="Aptos"/>
                <a:cs typeface="Aptos"/>
              </a:defRPr>
            </a:lvl2pPr>
            <a:lvl3pPr>
              <a:defRPr sz="1899" b="1" lang="en-US">
                <a:latin typeface="Aptos"/>
                <a:ea typeface="Aptos"/>
                <a:cs typeface="Aptos"/>
              </a:defRPr>
            </a:lvl3pPr>
            <a:lvl4pPr>
              <a:defRPr sz="1899" b="1" lang="en-US">
                <a:latin typeface="Aptos"/>
                <a:ea typeface="Aptos"/>
                <a:cs typeface="Aptos"/>
              </a:defRPr>
            </a:lvl4pPr>
            <a:lvl5pPr>
              <a:defRPr sz="1899" b="1" lang="en-US">
                <a:latin typeface="Aptos"/>
                <a:ea typeface="Aptos"/>
                <a:cs typeface="Aptos"/>
              </a:defRPr>
            </a:lvl5pPr>
            <a:lvl6pPr>
              <a:defRPr sz="1899" b="1" lang="en-US">
                <a:latin typeface="Aptos"/>
                <a:ea typeface="Aptos"/>
                <a:cs typeface="Aptos"/>
              </a:defRPr>
            </a:lvl6pPr>
            <a:lvl7pPr>
              <a:defRPr sz="1899" b="1" lang="en-US">
                <a:latin typeface="Aptos"/>
                <a:ea typeface="Aptos"/>
                <a:cs typeface="Aptos"/>
              </a:defRPr>
            </a:lvl7pPr>
            <a:lvl8pPr>
              <a:defRPr sz="1899" b="1" lang="en-US">
                <a:latin typeface="Aptos"/>
                <a:ea typeface="Aptos"/>
                <a:cs typeface="Aptos"/>
              </a:defRPr>
            </a:lvl8pPr>
            <a:lvl9pPr>
              <a:defRPr sz="18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8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INVENT</a:t>
            </a:r>
            <a:endParaRPr sz="1900" lang="en-US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A727022-B990-45B7-AC82-91442054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2706624"/>
            <a:ext cx="4251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lang="en-US">
                <a:latin typeface="Aptos"/>
                <a:ea typeface="Aptos"/>
                <a:cs typeface="Aptos"/>
              </a:defRPr>
            </a:defPPr>
            <a:lvl1pPr>
              <a:defRPr sz="1499" lang="en-US">
                <a:latin typeface="Aptos"/>
                <a:ea typeface="Aptos"/>
                <a:cs typeface="Aptos"/>
              </a:defRPr>
            </a:lvl1pPr>
            <a:lvl2pPr>
              <a:defRPr sz="1499" lang="en-US">
                <a:latin typeface="Aptos"/>
                <a:ea typeface="Aptos"/>
                <a:cs typeface="Aptos"/>
              </a:defRPr>
            </a:lvl2pPr>
            <a:lvl3pPr>
              <a:defRPr sz="1499" lang="en-US">
                <a:latin typeface="Aptos"/>
                <a:ea typeface="Aptos"/>
                <a:cs typeface="Aptos"/>
              </a:defRPr>
            </a:lvl3pPr>
            <a:lvl4pPr>
              <a:defRPr sz="1499" lang="en-US">
                <a:latin typeface="Aptos"/>
                <a:ea typeface="Aptos"/>
                <a:cs typeface="Aptos"/>
              </a:defRPr>
            </a:lvl4pPr>
            <a:lvl5pPr>
              <a:defRPr sz="1499" lang="en-US">
                <a:latin typeface="Aptos"/>
                <a:ea typeface="Aptos"/>
                <a:cs typeface="Aptos"/>
              </a:defRPr>
            </a:lvl5pPr>
            <a:lvl6pPr>
              <a:defRPr sz="1499" lang="en-US">
                <a:latin typeface="Aptos"/>
                <a:ea typeface="Aptos"/>
                <a:cs typeface="Aptos"/>
              </a:defRPr>
            </a:lvl6pPr>
            <a:lvl7pPr>
              <a:defRPr sz="1499" lang="en-US">
                <a:latin typeface="Aptos"/>
                <a:ea typeface="Aptos"/>
                <a:cs typeface="Aptos"/>
              </a:defRPr>
            </a:lvl7pPr>
            <a:lvl8pPr>
              <a:defRPr sz="1499" lang="en-US">
                <a:latin typeface="Aptos"/>
                <a:ea typeface="Aptos"/>
                <a:cs typeface="Aptos"/>
              </a:defRPr>
            </a:lvl8pPr>
            <a:lvl9pPr>
              <a:defRPr sz="149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Discover, design, and develop.</a:t>
            </a:r>
            <a:endParaRPr sz="1500" lang="en-US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B03A1DB-FF08-42DD-869E-559C40FD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65960"/>
            <a:ext cx="5330952" cy="1371600"/>
          </a:xfrm>
          <a:prstGeom xmlns:a="http://schemas.openxmlformats.org/drawingml/2006/main" prst="roundRect">
            <a:avLst>
              <a:gd name="adj" fmla="val 1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048DA89-45F6-4BB1-98D1-5842710C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217627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FBB8987-E369-4754-B94D-7924E29B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2235708"/>
            <a:ext cx="4114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01" b="1" lang="en-US">
                <a:latin typeface="Aptos"/>
                <a:ea typeface="Aptos"/>
                <a:cs typeface="Aptos"/>
              </a:defRPr>
            </a:defPPr>
            <a:lvl1pPr>
              <a:defRPr sz="1001" b="1" lang="en-US">
                <a:latin typeface="Aptos"/>
                <a:ea typeface="Aptos"/>
                <a:cs typeface="Aptos"/>
              </a:defRPr>
            </a:lvl1pPr>
            <a:lvl2pPr>
              <a:defRPr sz="1001" b="1" lang="en-US">
                <a:latin typeface="Aptos"/>
                <a:ea typeface="Aptos"/>
                <a:cs typeface="Aptos"/>
              </a:defRPr>
            </a:lvl2pPr>
            <a:lvl3pPr>
              <a:defRPr sz="1001" b="1" lang="en-US">
                <a:latin typeface="Aptos"/>
                <a:ea typeface="Aptos"/>
                <a:cs typeface="Aptos"/>
              </a:defRPr>
            </a:lvl3pPr>
            <a:lvl4pPr>
              <a:defRPr sz="1001" b="1" lang="en-US">
                <a:latin typeface="Aptos"/>
                <a:ea typeface="Aptos"/>
                <a:cs typeface="Aptos"/>
              </a:defRPr>
            </a:lvl4pPr>
            <a:lvl5pPr>
              <a:defRPr sz="1001" b="1" lang="en-US">
                <a:latin typeface="Aptos"/>
                <a:ea typeface="Aptos"/>
                <a:cs typeface="Aptos"/>
              </a:defRPr>
            </a:lvl5pPr>
            <a:lvl6pPr>
              <a:defRPr sz="1001" b="1" lang="en-US">
                <a:latin typeface="Aptos"/>
                <a:ea typeface="Aptos"/>
                <a:cs typeface="Aptos"/>
              </a:defRPr>
            </a:lvl6pPr>
            <a:lvl7pPr>
              <a:defRPr sz="1001" b="1" lang="en-US">
                <a:latin typeface="Aptos"/>
                <a:ea typeface="Aptos"/>
                <a:cs typeface="Aptos"/>
              </a:defRPr>
            </a:lvl7pPr>
            <a:lvl8pPr>
              <a:defRPr sz="1001" b="1" lang="en-US">
                <a:latin typeface="Aptos"/>
                <a:ea typeface="Aptos"/>
                <a:cs typeface="Aptos"/>
              </a:defRPr>
            </a:lvl8pPr>
            <a:lvl9pPr>
              <a:defRPr sz="10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00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  <a:endParaRPr sz="1100" lang="en-US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87D8B07-7CFE-4201-ABCD-6DFBE644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212848"/>
            <a:ext cx="429768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99" b="1" lang="en-US">
                <a:latin typeface="Aptos"/>
                <a:ea typeface="Aptos"/>
                <a:cs typeface="Aptos"/>
              </a:defRPr>
            </a:defPPr>
            <a:lvl1pPr>
              <a:defRPr sz="1899" b="1" lang="en-US">
                <a:latin typeface="Aptos"/>
                <a:ea typeface="Aptos"/>
                <a:cs typeface="Aptos"/>
              </a:defRPr>
            </a:lvl1pPr>
            <a:lvl2pPr>
              <a:defRPr sz="1899" b="1" lang="en-US">
                <a:latin typeface="Aptos"/>
                <a:ea typeface="Aptos"/>
                <a:cs typeface="Aptos"/>
              </a:defRPr>
            </a:lvl2pPr>
            <a:lvl3pPr>
              <a:defRPr sz="1899" b="1" lang="en-US">
                <a:latin typeface="Aptos"/>
                <a:ea typeface="Aptos"/>
                <a:cs typeface="Aptos"/>
              </a:defRPr>
            </a:lvl3pPr>
            <a:lvl4pPr>
              <a:defRPr sz="1899" b="1" lang="en-US">
                <a:latin typeface="Aptos"/>
                <a:ea typeface="Aptos"/>
                <a:cs typeface="Aptos"/>
              </a:defRPr>
            </a:lvl4pPr>
            <a:lvl5pPr>
              <a:defRPr sz="1899" b="1" lang="en-US">
                <a:latin typeface="Aptos"/>
                <a:ea typeface="Aptos"/>
                <a:cs typeface="Aptos"/>
              </a:defRPr>
            </a:lvl5pPr>
            <a:lvl6pPr>
              <a:defRPr sz="1899" b="1" lang="en-US">
                <a:latin typeface="Aptos"/>
                <a:ea typeface="Aptos"/>
                <a:cs typeface="Aptos"/>
              </a:defRPr>
            </a:lvl6pPr>
            <a:lvl7pPr>
              <a:defRPr sz="1899" b="1" lang="en-US">
                <a:latin typeface="Aptos"/>
                <a:ea typeface="Aptos"/>
                <a:cs typeface="Aptos"/>
              </a:defRPr>
            </a:lvl7pPr>
            <a:lvl8pPr>
              <a:defRPr sz="1899" b="1" lang="en-US">
                <a:latin typeface="Aptos"/>
                <a:ea typeface="Aptos"/>
                <a:cs typeface="Aptos"/>
              </a:defRPr>
            </a:lvl8pPr>
            <a:lvl9pPr>
              <a:defRPr sz="18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8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MANUFACTURE</a:t>
            </a:r>
            <a:endParaRPr sz="1900" lang="en-US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5FF9497-86AD-4698-9272-15A111A2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06624"/>
            <a:ext cx="4251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lang="en-US">
                <a:latin typeface="Aptos"/>
                <a:ea typeface="Aptos"/>
                <a:cs typeface="Aptos"/>
              </a:defRPr>
            </a:defPPr>
            <a:lvl1pPr>
              <a:defRPr sz="1499" lang="en-US">
                <a:latin typeface="Aptos"/>
                <a:ea typeface="Aptos"/>
                <a:cs typeface="Aptos"/>
              </a:defRPr>
            </a:lvl1pPr>
            <a:lvl2pPr>
              <a:defRPr sz="1499" lang="en-US">
                <a:latin typeface="Aptos"/>
                <a:ea typeface="Aptos"/>
                <a:cs typeface="Aptos"/>
              </a:defRPr>
            </a:lvl2pPr>
            <a:lvl3pPr>
              <a:defRPr sz="1499" lang="en-US">
                <a:latin typeface="Aptos"/>
                <a:ea typeface="Aptos"/>
                <a:cs typeface="Aptos"/>
              </a:defRPr>
            </a:lvl3pPr>
            <a:lvl4pPr>
              <a:defRPr sz="1499" lang="en-US">
                <a:latin typeface="Aptos"/>
                <a:ea typeface="Aptos"/>
                <a:cs typeface="Aptos"/>
              </a:defRPr>
            </a:lvl4pPr>
            <a:lvl5pPr>
              <a:defRPr sz="1499" lang="en-US">
                <a:latin typeface="Aptos"/>
                <a:ea typeface="Aptos"/>
                <a:cs typeface="Aptos"/>
              </a:defRPr>
            </a:lvl5pPr>
            <a:lvl6pPr>
              <a:defRPr sz="1499" lang="en-US">
                <a:latin typeface="Aptos"/>
                <a:ea typeface="Aptos"/>
                <a:cs typeface="Aptos"/>
              </a:defRPr>
            </a:lvl6pPr>
            <a:lvl7pPr>
              <a:defRPr sz="1499" lang="en-US">
                <a:latin typeface="Aptos"/>
                <a:ea typeface="Aptos"/>
                <a:cs typeface="Aptos"/>
              </a:defRPr>
            </a:lvl7pPr>
            <a:lvl8pPr>
              <a:defRPr sz="1499" lang="en-US">
                <a:latin typeface="Aptos"/>
                <a:ea typeface="Aptos"/>
                <a:cs typeface="Aptos"/>
              </a:defRPr>
            </a:lvl8pPr>
            <a:lvl9pPr>
              <a:defRPr sz="149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Turn ideas into reliable products.</a:t>
            </a:r>
            <a:endParaRPr sz="1500" lang="en-US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059BA50-6276-4BD6-941D-E6F1A435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566160"/>
            <a:ext cx="5330952" cy="1371600"/>
          </a:xfrm>
          <a:prstGeom xmlns:a="http://schemas.openxmlformats.org/drawingml/2006/main" prst="roundRect">
            <a:avLst>
              <a:gd name="adj" fmla="val 1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17EDEC1-A0BE-45C0-980E-19BB1AC0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77647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B50"/>
          </a:solidFill>
          <a:ln xmlns:a="http://schemas.openxmlformats.org/drawingml/2006/main" w="12700">
            <a:solidFill>
              <a:srgbClr val="E6AB5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5767D90-B3E4-40F0-9F74-0B090EA6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835908"/>
            <a:ext cx="4114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01" b="1" lang="en-US">
                <a:latin typeface="Aptos"/>
                <a:ea typeface="Aptos"/>
                <a:cs typeface="Aptos"/>
              </a:defRPr>
            </a:defPPr>
            <a:lvl1pPr>
              <a:defRPr sz="1001" b="1" lang="en-US">
                <a:latin typeface="Aptos"/>
                <a:ea typeface="Aptos"/>
                <a:cs typeface="Aptos"/>
              </a:defRPr>
            </a:lvl1pPr>
            <a:lvl2pPr>
              <a:defRPr sz="1001" b="1" lang="en-US">
                <a:latin typeface="Aptos"/>
                <a:ea typeface="Aptos"/>
                <a:cs typeface="Aptos"/>
              </a:defRPr>
            </a:lvl2pPr>
            <a:lvl3pPr>
              <a:defRPr sz="1001" b="1" lang="en-US">
                <a:latin typeface="Aptos"/>
                <a:ea typeface="Aptos"/>
                <a:cs typeface="Aptos"/>
              </a:defRPr>
            </a:lvl3pPr>
            <a:lvl4pPr>
              <a:defRPr sz="1001" b="1" lang="en-US">
                <a:latin typeface="Aptos"/>
                <a:ea typeface="Aptos"/>
                <a:cs typeface="Aptos"/>
              </a:defRPr>
            </a:lvl4pPr>
            <a:lvl5pPr>
              <a:defRPr sz="1001" b="1" lang="en-US">
                <a:latin typeface="Aptos"/>
                <a:ea typeface="Aptos"/>
                <a:cs typeface="Aptos"/>
              </a:defRPr>
            </a:lvl5pPr>
            <a:lvl6pPr>
              <a:defRPr sz="1001" b="1" lang="en-US">
                <a:latin typeface="Aptos"/>
                <a:ea typeface="Aptos"/>
                <a:cs typeface="Aptos"/>
              </a:defRPr>
            </a:lvl6pPr>
            <a:lvl7pPr>
              <a:defRPr sz="1001" b="1" lang="en-US">
                <a:latin typeface="Aptos"/>
                <a:ea typeface="Aptos"/>
                <a:cs typeface="Aptos"/>
              </a:defRPr>
            </a:lvl7pPr>
            <a:lvl8pPr>
              <a:defRPr sz="1001" b="1" lang="en-US">
                <a:latin typeface="Aptos"/>
                <a:ea typeface="Aptos"/>
                <a:cs typeface="Aptos"/>
              </a:defRPr>
            </a:lvl8pPr>
            <a:lvl9pPr>
              <a:defRPr sz="10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00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  <a:endParaRPr sz="1100" lang="en-US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7E3FC8E-AF21-465F-9EFC-B944A87C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3813048"/>
            <a:ext cx="429768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99" b="1" lang="en-US">
                <a:latin typeface="Aptos"/>
                <a:ea typeface="Aptos"/>
                <a:cs typeface="Aptos"/>
              </a:defRPr>
            </a:defPPr>
            <a:lvl1pPr>
              <a:defRPr sz="1899" b="1" lang="en-US">
                <a:latin typeface="Aptos"/>
                <a:ea typeface="Aptos"/>
                <a:cs typeface="Aptos"/>
              </a:defRPr>
            </a:lvl1pPr>
            <a:lvl2pPr>
              <a:defRPr sz="1899" b="1" lang="en-US">
                <a:latin typeface="Aptos"/>
                <a:ea typeface="Aptos"/>
                <a:cs typeface="Aptos"/>
              </a:defRPr>
            </a:lvl2pPr>
            <a:lvl3pPr>
              <a:defRPr sz="1899" b="1" lang="en-US">
                <a:latin typeface="Aptos"/>
                <a:ea typeface="Aptos"/>
                <a:cs typeface="Aptos"/>
              </a:defRPr>
            </a:lvl3pPr>
            <a:lvl4pPr>
              <a:defRPr sz="1899" b="1" lang="en-US">
                <a:latin typeface="Aptos"/>
                <a:ea typeface="Aptos"/>
                <a:cs typeface="Aptos"/>
              </a:defRPr>
            </a:lvl4pPr>
            <a:lvl5pPr>
              <a:defRPr sz="1899" b="1" lang="en-US">
                <a:latin typeface="Aptos"/>
                <a:ea typeface="Aptos"/>
                <a:cs typeface="Aptos"/>
              </a:defRPr>
            </a:lvl5pPr>
            <a:lvl6pPr>
              <a:defRPr sz="1899" b="1" lang="en-US">
                <a:latin typeface="Aptos"/>
                <a:ea typeface="Aptos"/>
                <a:cs typeface="Aptos"/>
              </a:defRPr>
            </a:lvl6pPr>
            <a:lvl7pPr>
              <a:defRPr sz="1899" b="1" lang="en-US">
                <a:latin typeface="Aptos"/>
                <a:ea typeface="Aptos"/>
                <a:cs typeface="Aptos"/>
              </a:defRPr>
            </a:lvl7pPr>
            <a:lvl8pPr>
              <a:defRPr sz="1899" b="1" lang="en-US">
                <a:latin typeface="Aptos"/>
                <a:ea typeface="Aptos"/>
                <a:cs typeface="Aptos"/>
              </a:defRPr>
            </a:lvl8pPr>
            <a:lvl9pPr>
              <a:defRPr sz="18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8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LEARN</a:t>
            </a:r>
            <a:endParaRPr sz="1900" lang="en-US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D896858-09B2-4784-A331-9C3F40A0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4306824"/>
            <a:ext cx="4251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lang="en-US">
                <a:latin typeface="Aptos"/>
                <a:ea typeface="Aptos"/>
                <a:cs typeface="Aptos"/>
              </a:defRPr>
            </a:defPPr>
            <a:lvl1pPr>
              <a:defRPr sz="1499" lang="en-US">
                <a:latin typeface="Aptos"/>
                <a:ea typeface="Aptos"/>
                <a:cs typeface="Aptos"/>
              </a:defRPr>
            </a:lvl1pPr>
            <a:lvl2pPr>
              <a:defRPr sz="1499" lang="en-US">
                <a:latin typeface="Aptos"/>
                <a:ea typeface="Aptos"/>
                <a:cs typeface="Aptos"/>
              </a:defRPr>
            </a:lvl2pPr>
            <a:lvl3pPr>
              <a:defRPr sz="1499" lang="en-US">
                <a:latin typeface="Aptos"/>
                <a:ea typeface="Aptos"/>
                <a:cs typeface="Aptos"/>
              </a:defRPr>
            </a:lvl3pPr>
            <a:lvl4pPr>
              <a:defRPr sz="1499" lang="en-US">
                <a:latin typeface="Aptos"/>
                <a:ea typeface="Aptos"/>
                <a:cs typeface="Aptos"/>
              </a:defRPr>
            </a:lvl4pPr>
            <a:lvl5pPr>
              <a:defRPr sz="1499" lang="en-US">
                <a:latin typeface="Aptos"/>
                <a:ea typeface="Aptos"/>
                <a:cs typeface="Aptos"/>
              </a:defRPr>
            </a:lvl5pPr>
            <a:lvl6pPr>
              <a:defRPr sz="1499" lang="en-US">
                <a:latin typeface="Aptos"/>
                <a:ea typeface="Aptos"/>
                <a:cs typeface="Aptos"/>
              </a:defRPr>
            </a:lvl6pPr>
            <a:lvl7pPr>
              <a:defRPr sz="1499" lang="en-US">
                <a:latin typeface="Aptos"/>
                <a:ea typeface="Aptos"/>
                <a:cs typeface="Aptos"/>
              </a:defRPr>
            </a:lvl7pPr>
            <a:lvl8pPr>
              <a:defRPr sz="1499" lang="en-US">
                <a:latin typeface="Aptos"/>
                <a:ea typeface="Aptos"/>
                <a:cs typeface="Aptos"/>
              </a:defRPr>
            </a:lvl8pPr>
            <a:lvl9pPr>
              <a:defRPr sz="149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Improve with every production cycle.</a:t>
            </a:r>
            <a:endParaRPr sz="1500" lang="en-US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5DCF5E84-E029-44A5-9141-29777D99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66160"/>
            <a:ext cx="5330952" cy="1371600"/>
          </a:xfrm>
          <a:prstGeom xmlns:a="http://schemas.openxmlformats.org/drawingml/2006/main" prst="roundRect">
            <a:avLst>
              <a:gd name="adj" fmla="val 1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247CFD3-1170-48E7-AB3C-5D1B5118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377647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954"/>
          </a:solidFill>
          <a:ln xmlns:a="http://schemas.openxmlformats.org/drawingml/2006/main" w="12700">
            <a:solidFill>
              <a:srgbClr val="203954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6BC4E74-8CD3-4664-8E5E-CB5229C9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3835908"/>
            <a:ext cx="4114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01" b="1" lang="en-US">
                <a:latin typeface="Aptos"/>
                <a:ea typeface="Aptos"/>
                <a:cs typeface="Aptos"/>
              </a:defRPr>
            </a:defPPr>
            <a:lvl1pPr>
              <a:defRPr sz="1001" b="1" lang="en-US">
                <a:latin typeface="Aptos"/>
                <a:ea typeface="Aptos"/>
                <a:cs typeface="Aptos"/>
              </a:defRPr>
            </a:lvl1pPr>
            <a:lvl2pPr>
              <a:defRPr sz="1001" b="1" lang="en-US">
                <a:latin typeface="Aptos"/>
                <a:ea typeface="Aptos"/>
                <a:cs typeface="Aptos"/>
              </a:defRPr>
            </a:lvl2pPr>
            <a:lvl3pPr>
              <a:defRPr sz="1001" b="1" lang="en-US">
                <a:latin typeface="Aptos"/>
                <a:ea typeface="Aptos"/>
                <a:cs typeface="Aptos"/>
              </a:defRPr>
            </a:lvl3pPr>
            <a:lvl4pPr>
              <a:defRPr sz="1001" b="1" lang="en-US">
                <a:latin typeface="Aptos"/>
                <a:ea typeface="Aptos"/>
                <a:cs typeface="Aptos"/>
              </a:defRPr>
            </a:lvl4pPr>
            <a:lvl5pPr>
              <a:defRPr sz="1001" b="1" lang="en-US">
                <a:latin typeface="Aptos"/>
                <a:ea typeface="Aptos"/>
                <a:cs typeface="Aptos"/>
              </a:defRPr>
            </a:lvl5pPr>
            <a:lvl6pPr>
              <a:defRPr sz="1001" b="1" lang="en-US">
                <a:latin typeface="Aptos"/>
                <a:ea typeface="Aptos"/>
                <a:cs typeface="Aptos"/>
              </a:defRPr>
            </a:lvl6pPr>
            <a:lvl7pPr>
              <a:defRPr sz="1001" b="1" lang="en-US">
                <a:latin typeface="Aptos"/>
                <a:ea typeface="Aptos"/>
                <a:cs typeface="Aptos"/>
              </a:defRPr>
            </a:lvl7pPr>
            <a:lvl8pPr>
              <a:defRPr sz="1001" b="1" lang="en-US">
                <a:latin typeface="Aptos"/>
                <a:ea typeface="Aptos"/>
                <a:cs typeface="Aptos"/>
              </a:defRPr>
            </a:lvl8pPr>
            <a:lvl9pPr>
              <a:defRPr sz="10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00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  <a:endParaRPr sz="1100" lang="en-US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DB24DA1-3062-4339-8BAE-E81A7463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813048"/>
            <a:ext cx="429768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99" b="1" lang="en-US">
                <a:latin typeface="Aptos"/>
                <a:ea typeface="Aptos"/>
                <a:cs typeface="Aptos"/>
              </a:defRPr>
            </a:defPPr>
            <a:lvl1pPr>
              <a:defRPr sz="1899" b="1" lang="en-US">
                <a:latin typeface="Aptos"/>
                <a:ea typeface="Aptos"/>
                <a:cs typeface="Aptos"/>
              </a:defRPr>
            </a:lvl1pPr>
            <a:lvl2pPr>
              <a:defRPr sz="1899" b="1" lang="en-US">
                <a:latin typeface="Aptos"/>
                <a:ea typeface="Aptos"/>
                <a:cs typeface="Aptos"/>
              </a:defRPr>
            </a:lvl2pPr>
            <a:lvl3pPr>
              <a:defRPr sz="1899" b="1" lang="en-US">
                <a:latin typeface="Aptos"/>
                <a:ea typeface="Aptos"/>
                <a:cs typeface="Aptos"/>
              </a:defRPr>
            </a:lvl3pPr>
            <a:lvl4pPr>
              <a:defRPr sz="1899" b="1" lang="en-US">
                <a:latin typeface="Aptos"/>
                <a:ea typeface="Aptos"/>
                <a:cs typeface="Aptos"/>
              </a:defRPr>
            </a:lvl4pPr>
            <a:lvl5pPr>
              <a:defRPr sz="1899" b="1" lang="en-US">
                <a:latin typeface="Aptos"/>
                <a:ea typeface="Aptos"/>
                <a:cs typeface="Aptos"/>
              </a:defRPr>
            </a:lvl5pPr>
            <a:lvl6pPr>
              <a:defRPr sz="1899" b="1" lang="en-US">
                <a:latin typeface="Aptos"/>
                <a:ea typeface="Aptos"/>
                <a:cs typeface="Aptos"/>
              </a:defRPr>
            </a:lvl6pPr>
            <a:lvl7pPr>
              <a:defRPr sz="1899" b="1" lang="en-US">
                <a:latin typeface="Aptos"/>
                <a:ea typeface="Aptos"/>
                <a:cs typeface="Aptos"/>
              </a:defRPr>
            </a:lvl7pPr>
            <a:lvl8pPr>
              <a:defRPr sz="1899" b="1" lang="en-US">
                <a:latin typeface="Aptos"/>
                <a:ea typeface="Aptos"/>
                <a:cs typeface="Aptos"/>
              </a:defRPr>
            </a:lvl8pPr>
            <a:lvl9pPr>
              <a:defRPr sz="18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8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COORDINATE</a:t>
            </a:r>
            <a:endParaRPr sz="1900" lang="en-US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B8508CC-3909-4D59-B66E-5D25B02B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306824"/>
            <a:ext cx="4251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lang="en-US">
                <a:latin typeface="Aptos"/>
                <a:ea typeface="Aptos"/>
                <a:cs typeface="Aptos"/>
              </a:defRPr>
            </a:defPPr>
            <a:lvl1pPr>
              <a:defRPr sz="1499" lang="en-US">
                <a:latin typeface="Aptos"/>
                <a:ea typeface="Aptos"/>
                <a:cs typeface="Aptos"/>
              </a:defRPr>
            </a:lvl1pPr>
            <a:lvl2pPr>
              <a:defRPr sz="1499" lang="en-US">
                <a:latin typeface="Aptos"/>
                <a:ea typeface="Aptos"/>
                <a:cs typeface="Aptos"/>
              </a:defRPr>
            </a:lvl2pPr>
            <a:lvl3pPr>
              <a:defRPr sz="1499" lang="en-US">
                <a:latin typeface="Aptos"/>
                <a:ea typeface="Aptos"/>
                <a:cs typeface="Aptos"/>
              </a:defRPr>
            </a:lvl3pPr>
            <a:lvl4pPr>
              <a:defRPr sz="1499" lang="en-US">
                <a:latin typeface="Aptos"/>
                <a:ea typeface="Aptos"/>
                <a:cs typeface="Aptos"/>
              </a:defRPr>
            </a:lvl4pPr>
            <a:lvl5pPr>
              <a:defRPr sz="1499" lang="en-US">
                <a:latin typeface="Aptos"/>
                <a:ea typeface="Aptos"/>
                <a:cs typeface="Aptos"/>
              </a:defRPr>
            </a:lvl5pPr>
            <a:lvl6pPr>
              <a:defRPr sz="1499" lang="en-US">
                <a:latin typeface="Aptos"/>
                <a:ea typeface="Aptos"/>
                <a:cs typeface="Aptos"/>
              </a:defRPr>
            </a:lvl6pPr>
            <a:lvl7pPr>
              <a:defRPr sz="1499" lang="en-US">
                <a:latin typeface="Aptos"/>
                <a:ea typeface="Aptos"/>
                <a:cs typeface="Aptos"/>
              </a:defRPr>
            </a:lvl7pPr>
            <a:lvl8pPr>
              <a:defRPr sz="1499" lang="en-US">
                <a:latin typeface="Aptos"/>
                <a:ea typeface="Aptos"/>
                <a:cs typeface="Aptos"/>
              </a:defRPr>
            </a:lvl8pPr>
            <a:lvl9pPr>
              <a:defRPr sz="149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Connect talent, suppliers, and capital.</a:t>
            </a:r>
            <a:endParaRPr sz="1500" lang="en-US"/>
          </a:p>
        </p:txBody>
      </p:sp>
    </p:spTree>
    <p:extLst>
      <p:ext uri="{BB962C8B-B14F-4D97-AF65-F5344CB8AC3E}">
        <p14:creationId xmlns:p14="http://schemas.microsoft.com/office/powerpoint/2010/main" val="14875507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3AA56C0-78D9-412A-A4F4-D2B6A421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ROAD MAP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B850B4D-4B51-4BB8-88C3-4526FDF1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Five questions about industrial transformation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FE099B4-6260-4867-87F9-A81F020E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History, industrial case studies, and exercises to examine underlying mechanisms.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8F77972-38B3-44F7-A844-EC58C4E2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10863072" cy="65836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7AB1365-15A0-4FFD-B760-7CC6F90D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048256"/>
            <a:ext cx="594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1" lang="en-US">
                <a:latin typeface="Aptos"/>
                <a:ea typeface="Aptos"/>
                <a:cs typeface="Aptos"/>
              </a:defRPr>
            </a:defPPr>
            <a:lvl1pPr>
              <a:defRPr sz="2100" b="1" lang="en-US">
                <a:latin typeface="Aptos"/>
                <a:ea typeface="Aptos"/>
                <a:cs typeface="Aptos"/>
              </a:defRPr>
            </a:lvl1pPr>
            <a:lvl2pPr>
              <a:defRPr sz="2100" b="1" lang="en-US">
                <a:latin typeface="Aptos"/>
                <a:ea typeface="Aptos"/>
                <a:cs typeface="Aptos"/>
              </a:defRPr>
            </a:lvl2pPr>
            <a:lvl3pPr>
              <a:defRPr sz="2100" b="1" lang="en-US">
                <a:latin typeface="Aptos"/>
                <a:ea typeface="Aptos"/>
                <a:cs typeface="Aptos"/>
              </a:defRPr>
            </a:lvl3pPr>
            <a:lvl4pPr>
              <a:defRPr sz="2100" b="1" lang="en-US">
                <a:latin typeface="Aptos"/>
                <a:ea typeface="Aptos"/>
                <a:cs typeface="Aptos"/>
              </a:defRPr>
            </a:lvl4pPr>
            <a:lvl5pPr>
              <a:defRPr sz="2100" b="1" lang="en-US">
                <a:latin typeface="Aptos"/>
                <a:ea typeface="Aptos"/>
                <a:cs typeface="Aptos"/>
              </a:defRPr>
            </a:lvl5pPr>
            <a:lvl6pPr>
              <a:defRPr sz="2100" b="1" lang="en-US">
                <a:latin typeface="Aptos"/>
                <a:ea typeface="Aptos"/>
                <a:cs typeface="Aptos"/>
              </a:defRPr>
            </a:lvl6pPr>
            <a:lvl7pPr>
              <a:defRPr sz="2100" b="1" lang="en-US">
                <a:latin typeface="Aptos"/>
                <a:ea typeface="Aptos"/>
                <a:cs typeface="Aptos"/>
              </a:defRPr>
            </a:lvl7pPr>
            <a:lvl8pPr>
              <a:defRPr sz="2100" b="1" lang="en-US">
                <a:latin typeface="Aptos"/>
                <a:ea typeface="Aptos"/>
                <a:cs typeface="Aptos"/>
              </a:defRPr>
            </a:lvl8pPr>
            <a:lvl9pPr>
              <a:defRPr sz="2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100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01</a:t>
            </a:r>
            <a:endParaRPr sz="2100" lang="en-US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A14664C-144C-439A-86E7-09BBDBFC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07568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01" b="1" lang="en-US">
                <a:latin typeface="Aptos"/>
                <a:ea typeface="Aptos"/>
                <a:cs typeface="Aptos"/>
              </a:defRPr>
            </a:defPPr>
            <a:lvl1pPr>
              <a:defRPr sz="1701" b="1" lang="en-US">
                <a:latin typeface="Aptos"/>
                <a:ea typeface="Aptos"/>
                <a:cs typeface="Aptos"/>
              </a:defRPr>
            </a:lvl1pPr>
            <a:lvl2pPr>
              <a:defRPr sz="1701" b="1" lang="en-US">
                <a:latin typeface="Aptos"/>
                <a:ea typeface="Aptos"/>
                <a:cs typeface="Aptos"/>
              </a:defRPr>
            </a:lvl2pPr>
            <a:lvl3pPr>
              <a:defRPr sz="1701" b="1" lang="en-US">
                <a:latin typeface="Aptos"/>
                <a:ea typeface="Aptos"/>
                <a:cs typeface="Aptos"/>
              </a:defRPr>
            </a:lvl3pPr>
            <a:lvl4pPr>
              <a:defRPr sz="1701" b="1" lang="en-US">
                <a:latin typeface="Aptos"/>
                <a:ea typeface="Aptos"/>
                <a:cs typeface="Aptos"/>
              </a:defRPr>
            </a:lvl4pPr>
            <a:lvl5pPr>
              <a:defRPr sz="1701" b="1" lang="en-US">
                <a:latin typeface="Aptos"/>
                <a:ea typeface="Aptos"/>
                <a:cs typeface="Aptos"/>
              </a:defRPr>
            </a:lvl5pPr>
            <a:lvl6pPr>
              <a:defRPr sz="1701" b="1" lang="en-US">
                <a:latin typeface="Aptos"/>
                <a:ea typeface="Aptos"/>
                <a:cs typeface="Aptos"/>
              </a:defRPr>
            </a:lvl6pPr>
            <a:lvl7pPr>
              <a:defRPr sz="1701" b="1" lang="en-US">
                <a:latin typeface="Aptos"/>
                <a:ea typeface="Aptos"/>
                <a:cs typeface="Aptos"/>
              </a:defRPr>
            </a:lvl7pPr>
            <a:lvl8pPr>
              <a:defRPr sz="1701" b="1" lang="en-US">
                <a:latin typeface="Aptos"/>
                <a:ea typeface="Aptos"/>
                <a:cs typeface="Aptos"/>
              </a:defRPr>
            </a:lvl8pPr>
            <a:lvl9pPr>
              <a:defRPr sz="17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70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Where does industrial capability come from?</a:t>
            </a:r>
            <a:endParaRPr sz="1700" lang="en-US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46CBAF3-361C-4E48-93FC-C060284F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121408"/>
            <a:ext cx="283464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b="1" lang="en-US">
                <a:latin typeface="Aptos"/>
                <a:ea typeface="Aptos"/>
                <a:cs typeface="Aptos"/>
              </a:defRPr>
            </a:defPPr>
            <a:lvl1pPr>
              <a:buNone/>
              <a:defRPr sz="1350" b="1" lang="en-US">
                <a:latin typeface="Aptos"/>
                <a:ea typeface="Aptos"/>
                <a:cs typeface="Aptos"/>
              </a:defRPr>
            </a:lvl1pPr>
            <a:lvl2pPr>
              <a:buNone/>
              <a:defRPr sz="1350" b="1" lang="en-US">
                <a:latin typeface="Aptos"/>
                <a:ea typeface="Aptos"/>
                <a:cs typeface="Aptos"/>
              </a:defRPr>
            </a:lvl2pPr>
            <a:lvl3pPr>
              <a:buNone/>
              <a:defRPr sz="1350" b="1" lang="en-US">
                <a:latin typeface="Aptos"/>
                <a:ea typeface="Aptos"/>
                <a:cs typeface="Aptos"/>
              </a:defRPr>
            </a:lvl3pPr>
            <a:lvl4pPr>
              <a:buNone/>
              <a:defRPr sz="1350" b="1" lang="en-US">
                <a:latin typeface="Aptos"/>
                <a:ea typeface="Aptos"/>
                <a:cs typeface="Aptos"/>
              </a:defRPr>
            </a:lvl4pPr>
            <a:lvl5pPr>
              <a:buNone/>
              <a:defRPr sz="1350" b="1" lang="en-US">
                <a:latin typeface="Aptos"/>
                <a:ea typeface="Aptos"/>
                <a:cs typeface="Aptos"/>
              </a:defRPr>
            </a:lvl5pPr>
            <a:lvl6pPr>
              <a:buNone/>
              <a:defRPr sz="1350" b="1" lang="en-US">
                <a:latin typeface="Aptos"/>
                <a:ea typeface="Aptos"/>
                <a:cs typeface="Aptos"/>
              </a:defRPr>
            </a:lvl6pPr>
            <a:lvl7pPr>
              <a:buNone/>
              <a:defRPr sz="1350" b="1" lang="en-US">
                <a:latin typeface="Aptos"/>
                <a:ea typeface="Aptos"/>
                <a:cs typeface="Aptos"/>
              </a:defRPr>
            </a:lvl7pPr>
            <a:lvl8pPr>
              <a:buNone/>
              <a:defRPr sz="1350" b="1" lang="en-US">
                <a:latin typeface="Aptos"/>
                <a:ea typeface="Aptos"/>
                <a:cs typeface="Aptos"/>
              </a:defRPr>
            </a:lvl8pPr>
            <a:lvl9pPr>
              <a:buNone/>
              <a:defRPr sz="135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sz="1349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History + UNIDO</a:t>
            </a:r>
            <a:endParaRPr sz="1200" lang="en-US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0A4F07F-86B4-46C3-B31C-F5BF22C7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15768"/>
            <a:ext cx="10863072" cy="65836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6F12F60-8EB1-4AB0-8BEE-1C48229C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843784"/>
            <a:ext cx="594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1" lang="en-US">
                <a:latin typeface="Aptos"/>
                <a:ea typeface="Aptos"/>
                <a:cs typeface="Aptos"/>
              </a:defRPr>
            </a:defPPr>
            <a:lvl1pPr>
              <a:defRPr sz="2100" b="1" lang="en-US">
                <a:latin typeface="Aptos"/>
                <a:ea typeface="Aptos"/>
                <a:cs typeface="Aptos"/>
              </a:defRPr>
            </a:lvl1pPr>
            <a:lvl2pPr>
              <a:defRPr sz="2100" b="1" lang="en-US">
                <a:latin typeface="Aptos"/>
                <a:ea typeface="Aptos"/>
                <a:cs typeface="Aptos"/>
              </a:defRPr>
            </a:lvl2pPr>
            <a:lvl3pPr>
              <a:defRPr sz="2100" b="1" lang="en-US">
                <a:latin typeface="Aptos"/>
                <a:ea typeface="Aptos"/>
                <a:cs typeface="Aptos"/>
              </a:defRPr>
            </a:lvl3pPr>
            <a:lvl4pPr>
              <a:defRPr sz="2100" b="1" lang="en-US">
                <a:latin typeface="Aptos"/>
                <a:ea typeface="Aptos"/>
                <a:cs typeface="Aptos"/>
              </a:defRPr>
            </a:lvl4pPr>
            <a:lvl5pPr>
              <a:defRPr sz="2100" b="1" lang="en-US">
                <a:latin typeface="Aptos"/>
                <a:ea typeface="Aptos"/>
                <a:cs typeface="Aptos"/>
              </a:defRPr>
            </a:lvl5pPr>
            <a:lvl6pPr>
              <a:defRPr sz="2100" b="1" lang="en-US">
                <a:latin typeface="Aptos"/>
                <a:ea typeface="Aptos"/>
                <a:cs typeface="Aptos"/>
              </a:defRPr>
            </a:lvl6pPr>
            <a:lvl7pPr>
              <a:defRPr sz="2100" b="1" lang="en-US">
                <a:latin typeface="Aptos"/>
                <a:ea typeface="Aptos"/>
                <a:cs typeface="Aptos"/>
              </a:defRPr>
            </a:lvl7pPr>
            <a:lvl8pPr>
              <a:defRPr sz="2100" b="1" lang="en-US">
                <a:latin typeface="Aptos"/>
                <a:ea typeface="Aptos"/>
                <a:cs typeface="Aptos"/>
              </a:defRPr>
            </a:lvl8pPr>
            <a:lvl9pPr>
              <a:defRPr sz="2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100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02</a:t>
            </a:r>
            <a:endParaRPr sz="2100" lang="en-US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5C9995B-01F8-49CE-8A1C-6C901551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871216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01" b="1" lang="en-US">
                <a:latin typeface="Aptos"/>
                <a:ea typeface="Aptos"/>
                <a:cs typeface="Aptos"/>
              </a:defRPr>
            </a:defPPr>
            <a:lvl1pPr>
              <a:defRPr sz="1701" b="1" lang="en-US">
                <a:latin typeface="Aptos"/>
                <a:ea typeface="Aptos"/>
                <a:cs typeface="Aptos"/>
              </a:defRPr>
            </a:lvl1pPr>
            <a:lvl2pPr>
              <a:defRPr sz="1701" b="1" lang="en-US">
                <a:latin typeface="Aptos"/>
                <a:ea typeface="Aptos"/>
                <a:cs typeface="Aptos"/>
              </a:defRPr>
            </a:lvl2pPr>
            <a:lvl3pPr>
              <a:defRPr sz="1701" b="1" lang="en-US">
                <a:latin typeface="Aptos"/>
                <a:ea typeface="Aptos"/>
                <a:cs typeface="Aptos"/>
              </a:defRPr>
            </a:lvl3pPr>
            <a:lvl4pPr>
              <a:defRPr sz="1701" b="1" lang="en-US">
                <a:latin typeface="Aptos"/>
                <a:ea typeface="Aptos"/>
                <a:cs typeface="Aptos"/>
              </a:defRPr>
            </a:lvl4pPr>
            <a:lvl5pPr>
              <a:defRPr sz="1701" b="1" lang="en-US">
                <a:latin typeface="Aptos"/>
                <a:ea typeface="Aptos"/>
                <a:cs typeface="Aptos"/>
              </a:defRPr>
            </a:lvl5pPr>
            <a:lvl6pPr>
              <a:defRPr sz="1701" b="1" lang="en-US">
                <a:latin typeface="Aptos"/>
                <a:ea typeface="Aptos"/>
                <a:cs typeface="Aptos"/>
              </a:defRPr>
            </a:lvl6pPr>
            <a:lvl7pPr>
              <a:defRPr sz="1701" b="1" lang="en-US">
                <a:latin typeface="Aptos"/>
                <a:ea typeface="Aptos"/>
                <a:cs typeface="Aptos"/>
              </a:defRPr>
            </a:lvl7pPr>
            <a:lvl8pPr>
              <a:defRPr sz="1701" b="1" lang="en-US">
                <a:latin typeface="Aptos"/>
                <a:ea typeface="Aptos"/>
                <a:cs typeface="Aptos"/>
              </a:defRPr>
            </a:lvl8pPr>
            <a:lvl9pPr>
              <a:defRPr sz="17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70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How does an advanced factory operate?</a:t>
            </a:r>
            <a:endParaRPr sz="1700" lang="en-US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EC47048-D0BA-486D-93A7-094C2CD5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916936"/>
            <a:ext cx="283464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b="1" lang="en-US">
                <a:latin typeface="Aptos"/>
                <a:ea typeface="Aptos"/>
                <a:cs typeface="Aptos"/>
              </a:defRPr>
            </a:defPPr>
            <a:lvl1pPr>
              <a:buNone/>
              <a:defRPr sz="1350" b="1" lang="en-US">
                <a:latin typeface="Aptos"/>
                <a:ea typeface="Aptos"/>
                <a:cs typeface="Aptos"/>
              </a:defRPr>
            </a:lvl1pPr>
            <a:lvl2pPr>
              <a:buNone/>
              <a:defRPr sz="1350" b="1" lang="en-US">
                <a:latin typeface="Aptos"/>
                <a:ea typeface="Aptos"/>
                <a:cs typeface="Aptos"/>
              </a:defRPr>
            </a:lvl2pPr>
            <a:lvl3pPr>
              <a:buNone/>
              <a:defRPr sz="1350" b="1" lang="en-US">
                <a:latin typeface="Aptos"/>
                <a:ea typeface="Aptos"/>
                <a:cs typeface="Aptos"/>
              </a:defRPr>
            </a:lvl3pPr>
            <a:lvl4pPr>
              <a:buNone/>
              <a:defRPr sz="1350" b="1" lang="en-US">
                <a:latin typeface="Aptos"/>
                <a:ea typeface="Aptos"/>
                <a:cs typeface="Aptos"/>
              </a:defRPr>
            </a:lvl4pPr>
            <a:lvl5pPr>
              <a:buNone/>
              <a:defRPr sz="1350" b="1" lang="en-US">
                <a:latin typeface="Aptos"/>
                <a:ea typeface="Aptos"/>
                <a:cs typeface="Aptos"/>
              </a:defRPr>
            </a:lvl5pPr>
            <a:lvl6pPr>
              <a:buNone/>
              <a:defRPr sz="1350" b="1" lang="en-US">
                <a:latin typeface="Aptos"/>
                <a:ea typeface="Aptos"/>
                <a:cs typeface="Aptos"/>
              </a:defRPr>
            </a:lvl6pPr>
            <a:lvl7pPr>
              <a:buNone/>
              <a:defRPr sz="1350" b="1" lang="en-US">
                <a:latin typeface="Aptos"/>
                <a:ea typeface="Aptos"/>
                <a:cs typeface="Aptos"/>
              </a:defRPr>
            </a:lvl7pPr>
            <a:lvl8pPr>
              <a:buNone/>
              <a:defRPr sz="1350" b="1" lang="en-US">
                <a:latin typeface="Aptos"/>
                <a:ea typeface="Aptos"/>
                <a:cs typeface="Aptos"/>
              </a:defRPr>
            </a:lvl8pPr>
            <a:lvl9pPr>
              <a:buNone/>
              <a:defRPr sz="135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sz="1349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Shougang + Midea</a:t>
            </a:r>
            <a:endParaRPr sz="1200" lang="en-US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A3F4AE2-D392-417E-8E57-1F82536E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11296"/>
            <a:ext cx="10863072" cy="65836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B7C6E5F-B897-444D-B4CF-7908F48C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639312"/>
            <a:ext cx="594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1" lang="en-US">
                <a:latin typeface="Aptos"/>
                <a:ea typeface="Aptos"/>
                <a:cs typeface="Aptos"/>
              </a:defRPr>
            </a:defPPr>
            <a:lvl1pPr>
              <a:defRPr sz="2100" b="1" lang="en-US">
                <a:latin typeface="Aptos"/>
                <a:ea typeface="Aptos"/>
                <a:cs typeface="Aptos"/>
              </a:defRPr>
            </a:lvl1pPr>
            <a:lvl2pPr>
              <a:defRPr sz="2100" b="1" lang="en-US">
                <a:latin typeface="Aptos"/>
                <a:ea typeface="Aptos"/>
                <a:cs typeface="Aptos"/>
              </a:defRPr>
            </a:lvl2pPr>
            <a:lvl3pPr>
              <a:defRPr sz="2100" b="1" lang="en-US">
                <a:latin typeface="Aptos"/>
                <a:ea typeface="Aptos"/>
                <a:cs typeface="Aptos"/>
              </a:defRPr>
            </a:lvl3pPr>
            <a:lvl4pPr>
              <a:defRPr sz="2100" b="1" lang="en-US">
                <a:latin typeface="Aptos"/>
                <a:ea typeface="Aptos"/>
                <a:cs typeface="Aptos"/>
              </a:defRPr>
            </a:lvl4pPr>
            <a:lvl5pPr>
              <a:defRPr sz="2100" b="1" lang="en-US">
                <a:latin typeface="Aptos"/>
                <a:ea typeface="Aptos"/>
                <a:cs typeface="Aptos"/>
              </a:defRPr>
            </a:lvl5pPr>
            <a:lvl6pPr>
              <a:defRPr sz="2100" b="1" lang="en-US">
                <a:latin typeface="Aptos"/>
                <a:ea typeface="Aptos"/>
                <a:cs typeface="Aptos"/>
              </a:defRPr>
            </a:lvl6pPr>
            <a:lvl7pPr>
              <a:defRPr sz="2100" b="1" lang="en-US">
                <a:latin typeface="Aptos"/>
                <a:ea typeface="Aptos"/>
                <a:cs typeface="Aptos"/>
              </a:defRPr>
            </a:lvl7pPr>
            <a:lvl8pPr>
              <a:defRPr sz="2100" b="1" lang="en-US">
                <a:latin typeface="Aptos"/>
                <a:ea typeface="Aptos"/>
                <a:cs typeface="Aptos"/>
              </a:defRPr>
            </a:lvl8pPr>
            <a:lvl9pPr>
              <a:defRPr sz="2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100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03</a:t>
            </a:r>
            <a:endParaRPr sz="2100" lang="en-US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25595D7-B25D-42A2-9ACB-563B9948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666744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01" b="1" lang="en-US">
                <a:latin typeface="Aptos"/>
                <a:ea typeface="Aptos"/>
                <a:cs typeface="Aptos"/>
              </a:defRPr>
            </a:defPPr>
            <a:lvl1pPr>
              <a:defRPr sz="1701" b="1" lang="en-US">
                <a:latin typeface="Aptos"/>
                <a:ea typeface="Aptos"/>
                <a:cs typeface="Aptos"/>
              </a:defRPr>
            </a:lvl1pPr>
            <a:lvl2pPr>
              <a:defRPr sz="1701" b="1" lang="en-US">
                <a:latin typeface="Aptos"/>
                <a:ea typeface="Aptos"/>
                <a:cs typeface="Aptos"/>
              </a:defRPr>
            </a:lvl2pPr>
            <a:lvl3pPr>
              <a:defRPr sz="1701" b="1" lang="en-US">
                <a:latin typeface="Aptos"/>
                <a:ea typeface="Aptos"/>
                <a:cs typeface="Aptos"/>
              </a:defRPr>
            </a:lvl3pPr>
            <a:lvl4pPr>
              <a:defRPr sz="1701" b="1" lang="en-US">
                <a:latin typeface="Aptos"/>
                <a:ea typeface="Aptos"/>
                <a:cs typeface="Aptos"/>
              </a:defRPr>
            </a:lvl4pPr>
            <a:lvl5pPr>
              <a:defRPr sz="1701" b="1" lang="en-US">
                <a:latin typeface="Aptos"/>
                <a:ea typeface="Aptos"/>
                <a:cs typeface="Aptos"/>
              </a:defRPr>
            </a:lvl5pPr>
            <a:lvl6pPr>
              <a:defRPr sz="1701" b="1" lang="en-US">
                <a:latin typeface="Aptos"/>
                <a:ea typeface="Aptos"/>
                <a:cs typeface="Aptos"/>
              </a:defRPr>
            </a:lvl6pPr>
            <a:lvl7pPr>
              <a:defRPr sz="1701" b="1" lang="en-US">
                <a:latin typeface="Aptos"/>
                <a:ea typeface="Aptos"/>
                <a:cs typeface="Aptos"/>
              </a:defRPr>
            </a:lvl7pPr>
            <a:lvl8pPr>
              <a:defRPr sz="1701" b="1" lang="en-US">
                <a:latin typeface="Aptos"/>
                <a:ea typeface="Aptos"/>
                <a:cs typeface="Aptos"/>
              </a:defRPr>
            </a:lvl8pPr>
            <a:lvl9pPr>
              <a:defRPr sz="17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70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Why do robots matter?</a:t>
            </a:r>
            <a:endParaRPr sz="1700" lang="en-US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5101493-084D-4934-BCC2-8ACFBBF3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12464"/>
            <a:ext cx="283464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b="1" lang="en-US">
                <a:latin typeface="Aptos"/>
                <a:ea typeface="Aptos"/>
                <a:cs typeface="Aptos"/>
              </a:defRPr>
            </a:defPPr>
            <a:lvl1pPr>
              <a:buNone/>
              <a:defRPr sz="1350" b="1" lang="en-US">
                <a:latin typeface="Aptos"/>
                <a:ea typeface="Aptos"/>
                <a:cs typeface="Aptos"/>
              </a:defRPr>
            </a:lvl1pPr>
            <a:lvl2pPr>
              <a:buNone/>
              <a:defRPr sz="1350" b="1" lang="en-US">
                <a:latin typeface="Aptos"/>
                <a:ea typeface="Aptos"/>
                <a:cs typeface="Aptos"/>
              </a:defRPr>
            </a:lvl2pPr>
            <a:lvl3pPr>
              <a:buNone/>
              <a:defRPr sz="1350" b="1" lang="en-US">
                <a:latin typeface="Aptos"/>
                <a:ea typeface="Aptos"/>
                <a:cs typeface="Aptos"/>
              </a:defRPr>
            </a:lvl3pPr>
            <a:lvl4pPr>
              <a:buNone/>
              <a:defRPr sz="1350" b="1" lang="en-US">
                <a:latin typeface="Aptos"/>
                <a:ea typeface="Aptos"/>
                <a:cs typeface="Aptos"/>
              </a:defRPr>
            </a:lvl4pPr>
            <a:lvl5pPr>
              <a:buNone/>
              <a:defRPr sz="1350" b="1" lang="en-US">
                <a:latin typeface="Aptos"/>
                <a:ea typeface="Aptos"/>
                <a:cs typeface="Aptos"/>
              </a:defRPr>
            </a:lvl5pPr>
            <a:lvl6pPr>
              <a:buNone/>
              <a:defRPr sz="1350" b="1" lang="en-US">
                <a:latin typeface="Aptos"/>
                <a:ea typeface="Aptos"/>
                <a:cs typeface="Aptos"/>
              </a:defRPr>
            </a:lvl6pPr>
            <a:lvl7pPr>
              <a:buNone/>
              <a:defRPr sz="1350" b="1" lang="en-US">
                <a:latin typeface="Aptos"/>
                <a:ea typeface="Aptos"/>
                <a:cs typeface="Aptos"/>
              </a:defRPr>
            </a:lvl7pPr>
            <a:lvl8pPr>
              <a:buNone/>
              <a:defRPr sz="1350" b="1" lang="en-US">
                <a:latin typeface="Aptos"/>
                <a:ea typeface="Aptos"/>
                <a:cs typeface="Aptos"/>
              </a:defRPr>
            </a:lvl8pPr>
            <a:lvl9pPr>
              <a:buNone/>
              <a:defRPr sz="135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sz="1349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IFR + Unitree + Xiaomi</a:t>
            </a:r>
            <a:endParaRPr sz="1200" lang="en-US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9BEC49A-487E-478F-B59B-080D4F12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06824"/>
            <a:ext cx="10863072" cy="65836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05F8ED1-F152-47B2-8EBD-782F87B5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434840"/>
            <a:ext cx="594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1" lang="en-US">
                <a:latin typeface="Aptos"/>
                <a:ea typeface="Aptos"/>
                <a:cs typeface="Aptos"/>
              </a:defRPr>
            </a:defPPr>
            <a:lvl1pPr>
              <a:defRPr sz="2100" b="1" lang="en-US">
                <a:latin typeface="Aptos"/>
                <a:ea typeface="Aptos"/>
                <a:cs typeface="Aptos"/>
              </a:defRPr>
            </a:lvl1pPr>
            <a:lvl2pPr>
              <a:defRPr sz="2100" b="1" lang="en-US">
                <a:latin typeface="Aptos"/>
                <a:ea typeface="Aptos"/>
                <a:cs typeface="Aptos"/>
              </a:defRPr>
            </a:lvl2pPr>
            <a:lvl3pPr>
              <a:defRPr sz="2100" b="1" lang="en-US">
                <a:latin typeface="Aptos"/>
                <a:ea typeface="Aptos"/>
                <a:cs typeface="Aptos"/>
              </a:defRPr>
            </a:lvl3pPr>
            <a:lvl4pPr>
              <a:defRPr sz="2100" b="1" lang="en-US">
                <a:latin typeface="Aptos"/>
                <a:ea typeface="Aptos"/>
                <a:cs typeface="Aptos"/>
              </a:defRPr>
            </a:lvl4pPr>
            <a:lvl5pPr>
              <a:defRPr sz="2100" b="1" lang="en-US">
                <a:latin typeface="Aptos"/>
                <a:ea typeface="Aptos"/>
                <a:cs typeface="Aptos"/>
              </a:defRPr>
            </a:lvl5pPr>
            <a:lvl6pPr>
              <a:defRPr sz="2100" b="1" lang="en-US">
                <a:latin typeface="Aptos"/>
                <a:ea typeface="Aptos"/>
                <a:cs typeface="Aptos"/>
              </a:defRPr>
            </a:lvl6pPr>
            <a:lvl7pPr>
              <a:defRPr sz="2100" b="1" lang="en-US">
                <a:latin typeface="Aptos"/>
                <a:ea typeface="Aptos"/>
                <a:cs typeface="Aptos"/>
              </a:defRPr>
            </a:lvl7pPr>
            <a:lvl8pPr>
              <a:defRPr sz="2100" b="1" lang="en-US">
                <a:latin typeface="Aptos"/>
                <a:ea typeface="Aptos"/>
                <a:cs typeface="Aptos"/>
              </a:defRPr>
            </a:lvl8pPr>
            <a:lvl9pPr>
              <a:defRPr sz="2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100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04</a:t>
            </a:r>
            <a:endParaRPr sz="2100" lang="en-US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DFEC952-1CF1-4E26-B7A5-1F2F40A7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4462272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01" b="1" lang="en-US">
                <a:latin typeface="Aptos"/>
                <a:ea typeface="Aptos"/>
                <a:cs typeface="Aptos"/>
              </a:defRPr>
            </a:defPPr>
            <a:lvl1pPr>
              <a:defRPr sz="1701" b="1" lang="en-US">
                <a:latin typeface="Aptos"/>
                <a:ea typeface="Aptos"/>
                <a:cs typeface="Aptos"/>
              </a:defRPr>
            </a:lvl1pPr>
            <a:lvl2pPr>
              <a:defRPr sz="1701" b="1" lang="en-US">
                <a:latin typeface="Aptos"/>
                <a:ea typeface="Aptos"/>
                <a:cs typeface="Aptos"/>
              </a:defRPr>
            </a:lvl2pPr>
            <a:lvl3pPr>
              <a:defRPr sz="1701" b="1" lang="en-US">
                <a:latin typeface="Aptos"/>
                <a:ea typeface="Aptos"/>
                <a:cs typeface="Aptos"/>
              </a:defRPr>
            </a:lvl3pPr>
            <a:lvl4pPr>
              <a:defRPr sz="1701" b="1" lang="en-US">
                <a:latin typeface="Aptos"/>
                <a:ea typeface="Aptos"/>
                <a:cs typeface="Aptos"/>
              </a:defRPr>
            </a:lvl4pPr>
            <a:lvl5pPr>
              <a:defRPr sz="1701" b="1" lang="en-US">
                <a:latin typeface="Aptos"/>
                <a:ea typeface="Aptos"/>
                <a:cs typeface="Aptos"/>
              </a:defRPr>
            </a:lvl5pPr>
            <a:lvl6pPr>
              <a:defRPr sz="1701" b="1" lang="en-US">
                <a:latin typeface="Aptos"/>
                <a:ea typeface="Aptos"/>
                <a:cs typeface="Aptos"/>
              </a:defRPr>
            </a:lvl6pPr>
            <a:lvl7pPr>
              <a:defRPr sz="1701" b="1" lang="en-US">
                <a:latin typeface="Aptos"/>
                <a:ea typeface="Aptos"/>
                <a:cs typeface="Aptos"/>
              </a:defRPr>
            </a:lvl7pPr>
            <a:lvl8pPr>
              <a:defRPr sz="1701" b="1" lang="en-US">
                <a:latin typeface="Aptos"/>
                <a:ea typeface="Aptos"/>
                <a:cs typeface="Aptos"/>
              </a:defRPr>
            </a:lvl8pPr>
            <a:lvl9pPr>
              <a:defRPr sz="17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70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What is China pursuing by 2030?</a:t>
            </a:r>
            <a:endParaRPr sz="1700" lang="en-US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A167941-9FFC-43C4-9158-28950C1C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4507992"/>
            <a:ext cx="283464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b="1" lang="en-US">
                <a:latin typeface="Aptos"/>
                <a:ea typeface="Aptos"/>
                <a:cs typeface="Aptos"/>
              </a:defRPr>
            </a:defPPr>
            <a:lvl1pPr>
              <a:buNone/>
              <a:defRPr sz="1350" b="1" lang="en-US">
                <a:latin typeface="Aptos"/>
                <a:ea typeface="Aptos"/>
                <a:cs typeface="Aptos"/>
              </a:defRPr>
            </a:lvl1pPr>
            <a:lvl2pPr>
              <a:buNone/>
              <a:defRPr sz="1350" b="1" lang="en-US">
                <a:latin typeface="Aptos"/>
                <a:ea typeface="Aptos"/>
                <a:cs typeface="Aptos"/>
              </a:defRPr>
            </a:lvl2pPr>
            <a:lvl3pPr>
              <a:buNone/>
              <a:defRPr sz="1350" b="1" lang="en-US">
                <a:latin typeface="Aptos"/>
                <a:ea typeface="Aptos"/>
                <a:cs typeface="Aptos"/>
              </a:defRPr>
            </a:lvl3pPr>
            <a:lvl4pPr>
              <a:buNone/>
              <a:defRPr sz="1350" b="1" lang="en-US">
                <a:latin typeface="Aptos"/>
                <a:ea typeface="Aptos"/>
                <a:cs typeface="Aptos"/>
              </a:defRPr>
            </a:lvl4pPr>
            <a:lvl5pPr>
              <a:buNone/>
              <a:defRPr sz="1350" b="1" lang="en-US">
                <a:latin typeface="Aptos"/>
                <a:ea typeface="Aptos"/>
                <a:cs typeface="Aptos"/>
              </a:defRPr>
            </a:lvl5pPr>
            <a:lvl6pPr>
              <a:buNone/>
              <a:defRPr sz="1350" b="1" lang="en-US">
                <a:latin typeface="Aptos"/>
                <a:ea typeface="Aptos"/>
                <a:cs typeface="Aptos"/>
              </a:defRPr>
            </a:lvl6pPr>
            <a:lvl7pPr>
              <a:buNone/>
              <a:defRPr sz="1350" b="1" lang="en-US">
                <a:latin typeface="Aptos"/>
                <a:ea typeface="Aptos"/>
                <a:cs typeface="Aptos"/>
              </a:defRPr>
            </a:lvl7pPr>
            <a:lvl8pPr>
              <a:buNone/>
              <a:defRPr sz="1350" b="1" lang="en-US">
                <a:latin typeface="Aptos"/>
                <a:ea typeface="Aptos"/>
                <a:cs typeface="Aptos"/>
              </a:defRPr>
            </a:lvl8pPr>
            <a:lvl9pPr>
              <a:buNone/>
              <a:defRPr sz="135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sz="1349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AI+ + 15th Plan</a:t>
            </a:r>
            <a:endParaRPr sz="1200" lang="en-US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696CA8F-482B-4049-88C5-6E3C0AD5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02352"/>
            <a:ext cx="10863072" cy="65836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9B84DFD-F367-4BA7-AAE6-B5BD5882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230368"/>
            <a:ext cx="594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1" lang="en-US">
                <a:latin typeface="Aptos"/>
                <a:ea typeface="Aptos"/>
                <a:cs typeface="Aptos"/>
              </a:defRPr>
            </a:defPPr>
            <a:lvl1pPr>
              <a:defRPr sz="2100" b="1" lang="en-US">
                <a:latin typeface="Aptos"/>
                <a:ea typeface="Aptos"/>
                <a:cs typeface="Aptos"/>
              </a:defRPr>
            </a:lvl1pPr>
            <a:lvl2pPr>
              <a:defRPr sz="2100" b="1" lang="en-US">
                <a:latin typeface="Aptos"/>
                <a:ea typeface="Aptos"/>
                <a:cs typeface="Aptos"/>
              </a:defRPr>
            </a:lvl2pPr>
            <a:lvl3pPr>
              <a:defRPr sz="2100" b="1" lang="en-US">
                <a:latin typeface="Aptos"/>
                <a:ea typeface="Aptos"/>
                <a:cs typeface="Aptos"/>
              </a:defRPr>
            </a:lvl3pPr>
            <a:lvl4pPr>
              <a:defRPr sz="2100" b="1" lang="en-US">
                <a:latin typeface="Aptos"/>
                <a:ea typeface="Aptos"/>
                <a:cs typeface="Aptos"/>
              </a:defRPr>
            </a:lvl4pPr>
            <a:lvl5pPr>
              <a:defRPr sz="2100" b="1" lang="en-US">
                <a:latin typeface="Aptos"/>
                <a:ea typeface="Aptos"/>
                <a:cs typeface="Aptos"/>
              </a:defRPr>
            </a:lvl5pPr>
            <a:lvl6pPr>
              <a:defRPr sz="2100" b="1" lang="en-US">
                <a:latin typeface="Aptos"/>
                <a:ea typeface="Aptos"/>
                <a:cs typeface="Aptos"/>
              </a:defRPr>
            </a:lvl6pPr>
            <a:lvl7pPr>
              <a:defRPr sz="2100" b="1" lang="en-US">
                <a:latin typeface="Aptos"/>
                <a:ea typeface="Aptos"/>
                <a:cs typeface="Aptos"/>
              </a:defRPr>
            </a:lvl7pPr>
            <a:lvl8pPr>
              <a:defRPr sz="2100" b="1" lang="en-US">
                <a:latin typeface="Aptos"/>
                <a:ea typeface="Aptos"/>
                <a:cs typeface="Aptos"/>
              </a:defRPr>
            </a:lvl8pPr>
            <a:lvl9pPr>
              <a:defRPr sz="2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100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05</a:t>
            </a:r>
            <a:endParaRPr sz="2100" lang="en-US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EC816BF1-8B8B-47C3-9CCC-C4341B74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5257800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01" b="1" lang="en-US">
                <a:latin typeface="Aptos"/>
                <a:ea typeface="Aptos"/>
                <a:cs typeface="Aptos"/>
              </a:defRPr>
            </a:defPPr>
            <a:lvl1pPr>
              <a:defRPr sz="1701" b="1" lang="en-US">
                <a:latin typeface="Aptos"/>
                <a:ea typeface="Aptos"/>
                <a:cs typeface="Aptos"/>
              </a:defRPr>
            </a:lvl1pPr>
            <a:lvl2pPr>
              <a:defRPr sz="1701" b="1" lang="en-US">
                <a:latin typeface="Aptos"/>
                <a:ea typeface="Aptos"/>
                <a:cs typeface="Aptos"/>
              </a:defRPr>
            </a:lvl2pPr>
            <a:lvl3pPr>
              <a:defRPr sz="1701" b="1" lang="en-US">
                <a:latin typeface="Aptos"/>
                <a:ea typeface="Aptos"/>
                <a:cs typeface="Aptos"/>
              </a:defRPr>
            </a:lvl3pPr>
            <a:lvl4pPr>
              <a:defRPr sz="1701" b="1" lang="en-US">
                <a:latin typeface="Aptos"/>
                <a:ea typeface="Aptos"/>
                <a:cs typeface="Aptos"/>
              </a:defRPr>
            </a:lvl4pPr>
            <a:lvl5pPr>
              <a:defRPr sz="1701" b="1" lang="en-US">
                <a:latin typeface="Aptos"/>
                <a:ea typeface="Aptos"/>
                <a:cs typeface="Aptos"/>
              </a:defRPr>
            </a:lvl5pPr>
            <a:lvl6pPr>
              <a:defRPr sz="1701" b="1" lang="en-US">
                <a:latin typeface="Aptos"/>
                <a:ea typeface="Aptos"/>
                <a:cs typeface="Aptos"/>
              </a:defRPr>
            </a:lvl6pPr>
            <a:lvl7pPr>
              <a:defRPr sz="1701" b="1" lang="en-US">
                <a:latin typeface="Aptos"/>
                <a:ea typeface="Aptos"/>
                <a:cs typeface="Aptos"/>
              </a:defRPr>
            </a:lvl7pPr>
            <a:lvl8pPr>
              <a:defRPr sz="1701" b="1" lang="en-US">
                <a:latin typeface="Aptos"/>
                <a:ea typeface="Aptos"/>
                <a:cs typeface="Aptos"/>
              </a:defRPr>
            </a:lvl8pPr>
            <a:lvl9pPr>
              <a:defRPr sz="17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70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Where do the limitations emerge?</a:t>
            </a:r>
            <a:endParaRPr sz="1700" lang="en-US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13BCE43-7871-4112-B5CC-F7F847EE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5303520"/>
            <a:ext cx="283464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99" b="1" lang="en-US">
                <a:latin typeface="Aptos"/>
                <a:ea typeface="Aptos"/>
                <a:cs typeface="Aptos"/>
              </a:defRPr>
            </a:defPPr>
            <a:lvl1pPr>
              <a:buNone/>
              <a:defRPr sz="1350" b="1" lang="en-US">
                <a:latin typeface="Aptos"/>
                <a:ea typeface="Aptos"/>
                <a:cs typeface="Aptos"/>
              </a:defRPr>
            </a:lvl1pPr>
            <a:lvl2pPr>
              <a:buNone/>
              <a:defRPr sz="1350" b="1" lang="en-US">
                <a:latin typeface="Aptos"/>
                <a:ea typeface="Aptos"/>
                <a:cs typeface="Aptos"/>
              </a:defRPr>
            </a:lvl2pPr>
            <a:lvl3pPr>
              <a:buNone/>
              <a:defRPr sz="1350" b="1" lang="en-US">
                <a:latin typeface="Aptos"/>
                <a:ea typeface="Aptos"/>
                <a:cs typeface="Aptos"/>
              </a:defRPr>
            </a:lvl3pPr>
            <a:lvl4pPr>
              <a:buNone/>
              <a:defRPr sz="1350" b="1" lang="en-US">
                <a:latin typeface="Aptos"/>
                <a:ea typeface="Aptos"/>
                <a:cs typeface="Aptos"/>
              </a:defRPr>
            </a:lvl4pPr>
            <a:lvl5pPr>
              <a:buNone/>
              <a:defRPr sz="1350" b="1" lang="en-US">
                <a:latin typeface="Aptos"/>
                <a:ea typeface="Aptos"/>
                <a:cs typeface="Aptos"/>
              </a:defRPr>
            </a:lvl5pPr>
            <a:lvl6pPr>
              <a:buNone/>
              <a:defRPr sz="1350" b="1" lang="en-US">
                <a:latin typeface="Aptos"/>
                <a:ea typeface="Aptos"/>
                <a:cs typeface="Aptos"/>
              </a:defRPr>
            </a:lvl6pPr>
            <a:lvl7pPr>
              <a:buNone/>
              <a:defRPr sz="1350" b="1" lang="en-US">
                <a:latin typeface="Aptos"/>
                <a:ea typeface="Aptos"/>
                <a:cs typeface="Aptos"/>
              </a:defRPr>
            </a:lvl7pPr>
            <a:lvl8pPr>
              <a:buNone/>
              <a:defRPr sz="1350" b="1" lang="en-US">
                <a:latin typeface="Aptos"/>
                <a:ea typeface="Aptos"/>
                <a:cs typeface="Aptos"/>
              </a:defRPr>
            </a:lvl8pPr>
            <a:lvl9pPr>
              <a:buNone/>
              <a:defRPr sz="135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sz="1199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Chips + demand + exports</a:t>
            </a:r>
            <a:endParaRPr sz="1200" lang="en-US"/>
          </a:p>
        </p:txBody>
      </p:sp>
    </p:spTree>
    <p:extLst>
      <p:ext uri="{BB962C8B-B14F-4D97-AF65-F5344CB8AC3E}">
        <p14:creationId xmlns:p14="http://schemas.microsoft.com/office/powerpoint/2010/main" val="1519092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D50949EB-F5A8-4ACF-9096-50E27AC160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def1f5f22849da"/>
          <a:srcRect xmlns:a="http://schemas.openxmlformats.org/drawingml/2006/main" l="22056" t="0" r="22056" b="0"/>
          <a:stretch xmlns:a="http://schemas.openxmlformats.org/drawingml/2006/main"/>
        </p:blipFill>
        <p:spPr>
          <a:xfrm xmlns:a="http://schemas.openxmlformats.org/drawingml/2006/main">
            <a:off x="6400800" y="0"/>
            <a:ext cx="57908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D8C4D87E-AC54-4F37-8742-6D651B11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0"/>
            <a:ext cx="109728" cy="6858000"/>
          </a:xfrm>
          <a:prstGeom xmlns:a="http://schemas.openxmlformats.org/drawingml/2006/main" prst="roundRect">
            <a:avLst>
              <a:gd name="adj" fmla="val 133333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7FB213C-67CC-41F1-B198-45AC3AAE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01" b="1" lang="en-US">
                <a:latin typeface="Aptos"/>
                <a:ea typeface="Aptos"/>
                <a:cs typeface="Aptos"/>
              </a:defRPr>
            </a:defPPr>
            <a:lvl1pPr>
              <a:defRPr sz="1301" b="1" lang="en-US">
                <a:latin typeface="Aptos"/>
                <a:ea typeface="Aptos"/>
                <a:cs typeface="Aptos"/>
              </a:defRPr>
            </a:lvl1pPr>
            <a:lvl2pPr>
              <a:defRPr sz="1301" b="1" lang="en-US">
                <a:latin typeface="Aptos"/>
                <a:ea typeface="Aptos"/>
                <a:cs typeface="Aptos"/>
              </a:defRPr>
            </a:lvl2pPr>
            <a:lvl3pPr>
              <a:defRPr sz="1301" b="1" lang="en-US">
                <a:latin typeface="Aptos"/>
                <a:ea typeface="Aptos"/>
                <a:cs typeface="Aptos"/>
              </a:defRPr>
            </a:lvl3pPr>
            <a:lvl4pPr>
              <a:defRPr sz="1301" b="1" lang="en-US">
                <a:latin typeface="Aptos"/>
                <a:ea typeface="Aptos"/>
                <a:cs typeface="Aptos"/>
              </a:defRPr>
            </a:lvl4pPr>
            <a:lvl5pPr>
              <a:defRPr sz="1301" b="1" lang="en-US">
                <a:latin typeface="Aptos"/>
                <a:ea typeface="Aptos"/>
                <a:cs typeface="Aptos"/>
              </a:defRPr>
            </a:lvl5pPr>
            <a:lvl6pPr>
              <a:defRPr sz="1301" b="1" lang="en-US">
                <a:latin typeface="Aptos"/>
                <a:ea typeface="Aptos"/>
                <a:cs typeface="Aptos"/>
              </a:defRPr>
            </a:lvl6pPr>
            <a:lvl7pPr>
              <a:defRPr sz="1301" b="1" lang="en-US">
                <a:latin typeface="Aptos"/>
                <a:ea typeface="Aptos"/>
                <a:cs typeface="Aptos"/>
              </a:defRPr>
            </a:lvl7pPr>
            <a:lvl8pPr>
              <a:defRPr sz="1301" b="1" lang="en-US">
                <a:latin typeface="Aptos"/>
                <a:ea typeface="Aptos"/>
                <a:cs typeface="Aptos"/>
              </a:defRPr>
            </a:lvl8pPr>
            <a:lvl9pPr>
              <a:defRPr sz="13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01" b="1" spc="200" lang="en-US">
                <a:solidFill>
                  <a:srgbClr val="E6AB50"/>
                </a:solidFill>
                <a:latin typeface="Aptos"/>
                <a:ea typeface="Aptos"/>
                <a:cs typeface="Aptos"/>
              </a:rPr>
              <a:t>SECTION 01</a:t>
            </a:r>
            <a:endParaRPr sz="1300" lang="en-US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69FBC59-BEA6-4ADF-9A4B-98CBBC0D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07008"/>
            <a:ext cx="5394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00" b="1" lang="en-US">
                <a:latin typeface="Aptos"/>
                <a:ea typeface="Aptos"/>
                <a:cs typeface="Aptos"/>
              </a:defRPr>
            </a:defPPr>
            <a:lvl1pPr>
              <a:defRPr sz="2200" b="1" lang="en-US">
                <a:latin typeface="Aptos"/>
                <a:ea typeface="Aptos"/>
                <a:cs typeface="Aptos"/>
              </a:defRPr>
            </a:lvl1pPr>
            <a:lvl2pPr>
              <a:defRPr sz="2200" b="1" lang="en-US">
                <a:latin typeface="Aptos"/>
                <a:ea typeface="Aptos"/>
                <a:cs typeface="Aptos"/>
              </a:defRPr>
            </a:lvl2pPr>
            <a:lvl3pPr>
              <a:defRPr sz="2200" b="1" lang="en-US">
                <a:latin typeface="Aptos"/>
                <a:ea typeface="Aptos"/>
                <a:cs typeface="Aptos"/>
              </a:defRPr>
            </a:lvl3pPr>
            <a:lvl4pPr>
              <a:defRPr sz="2200" b="1" lang="en-US">
                <a:latin typeface="Aptos"/>
                <a:ea typeface="Aptos"/>
                <a:cs typeface="Aptos"/>
              </a:defRPr>
            </a:lvl4pPr>
            <a:lvl5pPr>
              <a:defRPr sz="2200" b="1" lang="en-US">
                <a:latin typeface="Aptos"/>
                <a:ea typeface="Aptos"/>
                <a:cs typeface="Aptos"/>
              </a:defRPr>
            </a:lvl5pPr>
            <a:lvl6pPr>
              <a:defRPr sz="2200" b="1" lang="en-US">
                <a:latin typeface="Aptos"/>
                <a:ea typeface="Aptos"/>
                <a:cs typeface="Aptos"/>
              </a:defRPr>
            </a:lvl6pPr>
            <a:lvl7pPr>
              <a:defRPr sz="2200" b="1" lang="en-US">
                <a:latin typeface="Aptos"/>
                <a:ea typeface="Aptos"/>
                <a:cs typeface="Aptos"/>
              </a:defRPr>
            </a:lvl7pPr>
            <a:lvl8pPr>
              <a:defRPr sz="2200" b="1" lang="en-US">
                <a:latin typeface="Aptos"/>
                <a:ea typeface="Aptos"/>
                <a:cs typeface="Aptos"/>
              </a:defRPr>
            </a:lvl8pPr>
            <a:lvl9pPr>
              <a:defRPr sz="22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200" b="1" spc="120" lang="en-US">
                <a:solidFill>
                  <a:srgbClr val="C6E9E6"/>
                </a:solidFill>
                <a:latin typeface="Aptos"/>
                <a:ea typeface="Aptos"/>
                <a:cs typeface="Aptos"/>
              </a:rPr>
              <a:t>HISTORY</a:t>
            </a:r>
            <a:endParaRPr sz="2200" lang="en-US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3C2E3D0-9FD4-424B-8EE8-0861C220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557784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1" b="1" lang="en-US">
                <a:latin typeface="Aptos"/>
                <a:ea typeface="Aptos"/>
                <a:cs typeface="Aptos"/>
              </a:defRPr>
            </a:defPPr>
            <a:lvl1pPr>
              <a:defRPr sz="3901" b="1" lang="en-US">
                <a:latin typeface="Aptos"/>
                <a:ea typeface="Aptos"/>
                <a:cs typeface="Aptos"/>
              </a:defRPr>
            </a:lvl1pPr>
            <a:lvl2pPr>
              <a:defRPr sz="3901" b="1" lang="en-US">
                <a:latin typeface="Aptos"/>
                <a:ea typeface="Aptos"/>
                <a:cs typeface="Aptos"/>
              </a:defRPr>
            </a:lvl2pPr>
            <a:lvl3pPr>
              <a:defRPr sz="3901" b="1" lang="en-US">
                <a:latin typeface="Aptos"/>
                <a:ea typeface="Aptos"/>
                <a:cs typeface="Aptos"/>
              </a:defRPr>
            </a:lvl3pPr>
            <a:lvl4pPr>
              <a:defRPr sz="3901" b="1" lang="en-US">
                <a:latin typeface="Aptos"/>
                <a:ea typeface="Aptos"/>
                <a:cs typeface="Aptos"/>
              </a:defRPr>
            </a:lvl4pPr>
            <a:lvl5pPr>
              <a:defRPr sz="3901" b="1" lang="en-US">
                <a:latin typeface="Aptos"/>
                <a:ea typeface="Aptos"/>
                <a:cs typeface="Aptos"/>
              </a:defRPr>
            </a:lvl5pPr>
            <a:lvl6pPr>
              <a:defRPr sz="3901" b="1" lang="en-US">
                <a:latin typeface="Aptos"/>
                <a:ea typeface="Aptos"/>
                <a:cs typeface="Aptos"/>
              </a:defRPr>
            </a:lvl6pPr>
            <a:lvl7pPr>
              <a:defRPr sz="3901" b="1" lang="en-US">
                <a:latin typeface="Aptos"/>
                <a:ea typeface="Aptos"/>
                <a:cs typeface="Aptos"/>
              </a:defRPr>
            </a:lvl7pPr>
            <a:lvl8pPr>
              <a:defRPr sz="3901" b="1" lang="en-US">
                <a:latin typeface="Aptos"/>
                <a:ea typeface="Aptos"/>
                <a:cs typeface="Aptos"/>
              </a:defRPr>
            </a:lvl8pPr>
            <a:lvl9pPr>
              <a:defRPr sz="39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390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Before AI,</a:t>
            </a:r>
            <a:endParaRPr sz="3900" lang="en-US"/>
          </a:p>
          <a:p xmlns:a="http://schemas.openxmlformats.org/drawingml/2006/main">
            <a:pPr marL="0" indent="0" algn="l">
              <a:buNone/>
            </a:pPr>
            <a:r>
              <a:rPr sz="390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there was industry</a:t>
            </a:r>
            <a:endParaRPr sz="3900" lang="en-US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A8E89BD-A71E-4DE2-AFE5-F0B36981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09160"/>
            <a:ext cx="55778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01" lang="en-US">
                <a:latin typeface="Aptos"/>
                <a:ea typeface="Aptos"/>
                <a:cs typeface="Aptos"/>
              </a:defRPr>
            </a:defPPr>
            <a:lvl1pPr>
              <a:defRPr sz="1701" lang="en-US">
                <a:latin typeface="Aptos"/>
                <a:ea typeface="Aptos"/>
                <a:cs typeface="Aptos"/>
              </a:defRPr>
            </a:lvl1pPr>
            <a:lvl2pPr>
              <a:defRPr sz="1701" lang="en-US">
                <a:latin typeface="Aptos"/>
                <a:ea typeface="Aptos"/>
                <a:cs typeface="Aptos"/>
              </a:defRPr>
            </a:lvl2pPr>
            <a:lvl3pPr>
              <a:defRPr sz="1701" lang="en-US">
                <a:latin typeface="Aptos"/>
                <a:ea typeface="Aptos"/>
                <a:cs typeface="Aptos"/>
              </a:defRPr>
            </a:lvl3pPr>
            <a:lvl4pPr>
              <a:defRPr sz="1701" lang="en-US">
                <a:latin typeface="Aptos"/>
                <a:ea typeface="Aptos"/>
                <a:cs typeface="Aptos"/>
              </a:defRPr>
            </a:lvl4pPr>
            <a:lvl5pPr>
              <a:defRPr sz="1701" lang="en-US">
                <a:latin typeface="Aptos"/>
                <a:ea typeface="Aptos"/>
                <a:cs typeface="Aptos"/>
              </a:defRPr>
            </a:lvl5pPr>
            <a:lvl6pPr>
              <a:defRPr sz="1701" lang="en-US">
                <a:latin typeface="Aptos"/>
                <a:ea typeface="Aptos"/>
                <a:cs typeface="Aptos"/>
              </a:defRPr>
            </a:lvl6pPr>
            <a:lvl7pPr>
              <a:defRPr sz="1701" lang="en-US">
                <a:latin typeface="Aptos"/>
                <a:ea typeface="Aptos"/>
                <a:cs typeface="Aptos"/>
              </a:defRPr>
            </a:lvl7pPr>
            <a:lvl8pPr>
              <a:defRPr sz="1701" lang="en-US">
                <a:latin typeface="Aptos"/>
                <a:ea typeface="Aptos"/>
                <a:cs typeface="Aptos"/>
              </a:defRPr>
            </a:lvl8pPr>
            <a:lvl9pPr>
              <a:defRPr sz="170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701" lang="en-US">
                <a:solidFill>
                  <a:srgbClr val="DEE8F0"/>
                </a:solidFill>
                <a:latin typeface="Aptos"/>
                <a:ea typeface="Aptos"/>
                <a:cs typeface="Aptos"/>
              </a:rPr>
              <a:t>Today's advantage rests on decades of investment,</a:t>
            </a:r>
            <a:endParaRPr sz="1700" lang="en-US"/>
          </a:p>
          <a:p xmlns:a="http://schemas.openxmlformats.org/drawingml/2006/main">
            <a:pPr marL="0" indent="0" algn="l">
              <a:buNone/>
            </a:pPr>
            <a:r>
              <a:rPr sz="1701" lang="en-US">
                <a:solidFill>
                  <a:srgbClr val="DEE8F0"/>
                </a:solidFill>
                <a:latin typeface="Aptos"/>
                <a:ea typeface="Aptos"/>
                <a:cs typeface="Aptos"/>
              </a:rPr>
              <a:t>learning, and production networks.</a:t>
            </a:r>
            <a:endParaRPr sz="1700" lang="en-US"/>
          </a:p>
        </p:txBody>
      </p:sp>
      <p:sp>
        <p:nvSpPr>
          <p:cNvPr id="8" name="illustration-caption-background">
            <a:extLst xmlns:a="http://schemas.openxmlformats.org/drawingml/2006/main">
              <a:ext uri="{FF2B5EF4-FFF2-40B4-BE49-F238E27FC236}">
                <a16:creationId xmlns:a16="http://schemas.microsoft.com/office/drawing/2014/main" id="{7B3593FC-D969-4BF9-99B8-0B11A59D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33350"/>
            <a:ext cx="1733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llustration-caption">
            <a:extLst xmlns:a="http://schemas.openxmlformats.org/drawingml/2006/main">
              <a:ext uri="{FF2B5EF4-FFF2-40B4-BE49-F238E27FC236}">
                <a16:creationId xmlns:a16="http://schemas.microsoft.com/office/drawing/2014/main" id="{3640066E-6794-4560-A1A9-2D9AC057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19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11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1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CONCEPTUAL ILLUSTRATION</a:t>
            </a:r>
          </a:p>
        </p:txBody>
      </p:sp>
    </p:spTree>
    <p:extLst>
      <p:ext uri="{BB962C8B-B14F-4D97-AF65-F5344CB8AC3E}">
        <p14:creationId xmlns:p14="http://schemas.microsoft.com/office/powerpoint/2010/main" val="17526278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5BA57E4-4C70-4A1E-9393-F31573A8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INDUSTRIAL TRAJECTORY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317DA0E-9122-4E07-99AE-E58427F2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Four stages, one continuous accumulation of capabilities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4BA57AB-FE5E-4E96-9DCB-A56C65A9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Teaching periodization: stages overlap and do not imply abrupt transitions.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02B581F-97F2-47D9-9212-1172BE20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03120"/>
            <a:ext cx="2642616" cy="3383280"/>
          </a:xfrm>
          <a:prstGeom xmlns:a="http://schemas.openxmlformats.org/drawingml/2006/main" prst="roundRect">
            <a:avLst>
              <a:gd name="adj" fmla="val 519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385C197-AF66-4514-8ED2-FF211BE3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59152"/>
            <a:ext cx="1600200" cy="338328"/>
          </a:xfrm>
          <a:prstGeom xmlns:a="http://schemas.openxmlformats.org/drawingml/2006/main" prst="roundRect">
            <a:avLst>
              <a:gd name="adj" fmla="val 43243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8BC7476-78E4-4611-B63B-F1062D2E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377440"/>
            <a:ext cx="1380744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40" b="1" lang="en-US">
                <a:latin typeface="Aptos"/>
                <a:ea typeface="Aptos"/>
                <a:cs typeface="Aptos"/>
              </a:defRPr>
            </a:defPPr>
            <a:lvl1pPr>
              <a:defRPr sz="1040" b="1" lang="en-US">
                <a:latin typeface="Aptos"/>
                <a:ea typeface="Aptos"/>
                <a:cs typeface="Aptos"/>
              </a:defRPr>
            </a:lvl1pPr>
            <a:lvl2pPr>
              <a:defRPr sz="1040" b="1" lang="en-US">
                <a:latin typeface="Aptos"/>
                <a:ea typeface="Aptos"/>
                <a:cs typeface="Aptos"/>
              </a:defRPr>
            </a:lvl2pPr>
            <a:lvl3pPr>
              <a:defRPr sz="1040" b="1" lang="en-US">
                <a:latin typeface="Aptos"/>
                <a:ea typeface="Aptos"/>
                <a:cs typeface="Aptos"/>
              </a:defRPr>
            </a:lvl3pPr>
            <a:lvl4pPr>
              <a:defRPr sz="1040" b="1" lang="en-US">
                <a:latin typeface="Aptos"/>
                <a:ea typeface="Aptos"/>
                <a:cs typeface="Aptos"/>
              </a:defRPr>
            </a:lvl4pPr>
            <a:lvl5pPr>
              <a:defRPr sz="1040" b="1" lang="en-US">
                <a:latin typeface="Aptos"/>
                <a:ea typeface="Aptos"/>
                <a:cs typeface="Aptos"/>
              </a:defRPr>
            </a:lvl5pPr>
            <a:lvl6pPr>
              <a:defRPr sz="1040" b="1" lang="en-US">
                <a:latin typeface="Aptos"/>
                <a:ea typeface="Aptos"/>
                <a:cs typeface="Aptos"/>
              </a:defRPr>
            </a:lvl6pPr>
            <a:lvl7pPr>
              <a:defRPr sz="1040" b="1" lang="en-US">
                <a:latin typeface="Aptos"/>
                <a:ea typeface="Aptos"/>
                <a:cs typeface="Aptos"/>
              </a:defRPr>
            </a:lvl7pPr>
            <a:lvl8pPr>
              <a:defRPr sz="1040" b="1" lang="en-US">
                <a:latin typeface="Aptos"/>
                <a:ea typeface="Aptos"/>
                <a:cs typeface="Aptos"/>
              </a:defRPr>
            </a:lvl8pPr>
            <a:lvl9pPr>
              <a:defRPr sz="104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040" b="1" spc="70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1978–2001</a:t>
            </a:r>
            <a:endParaRPr sz="1040" lang="en-US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1203912-AB82-4C41-86D4-691972B9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054096"/>
            <a:ext cx="2331720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99" b="1" lang="en-US">
                <a:latin typeface="Aptos"/>
                <a:ea typeface="Aptos"/>
                <a:cs typeface="Aptos"/>
              </a:defRPr>
            </a:defPPr>
            <a:lvl1pPr>
              <a:defRPr sz="2299" b="1" lang="en-US">
                <a:latin typeface="Aptos"/>
                <a:ea typeface="Aptos"/>
                <a:cs typeface="Aptos"/>
              </a:defRPr>
            </a:lvl1pPr>
            <a:lvl2pPr>
              <a:defRPr sz="2299" b="1" lang="en-US">
                <a:latin typeface="Aptos"/>
                <a:ea typeface="Aptos"/>
                <a:cs typeface="Aptos"/>
              </a:defRPr>
            </a:lvl2pPr>
            <a:lvl3pPr>
              <a:defRPr sz="2299" b="1" lang="en-US">
                <a:latin typeface="Aptos"/>
                <a:ea typeface="Aptos"/>
                <a:cs typeface="Aptos"/>
              </a:defRPr>
            </a:lvl3pPr>
            <a:lvl4pPr>
              <a:defRPr sz="2299" b="1" lang="en-US">
                <a:latin typeface="Aptos"/>
                <a:ea typeface="Aptos"/>
                <a:cs typeface="Aptos"/>
              </a:defRPr>
            </a:lvl4pPr>
            <a:lvl5pPr>
              <a:defRPr sz="2299" b="1" lang="en-US">
                <a:latin typeface="Aptos"/>
                <a:ea typeface="Aptos"/>
                <a:cs typeface="Aptos"/>
              </a:defRPr>
            </a:lvl5pPr>
            <a:lvl6pPr>
              <a:defRPr sz="2299" b="1" lang="en-US">
                <a:latin typeface="Aptos"/>
                <a:ea typeface="Aptos"/>
                <a:cs typeface="Aptos"/>
              </a:defRPr>
            </a:lvl6pPr>
            <a:lvl7pPr>
              <a:defRPr sz="2299" b="1" lang="en-US">
                <a:latin typeface="Aptos"/>
                <a:ea typeface="Aptos"/>
                <a:cs typeface="Aptos"/>
              </a:defRPr>
            </a:lvl7pPr>
            <a:lvl8pPr>
              <a:defRPr sz="2299" b="1" lang="en-US">
                <a:latin typeface="Aptos"/>
                <a:ea typeface="Aptos"/>
                <a:cs typeface="Aptos"/>
              </a:defRPr>
            </a:lvl8pPr>
            <a:lvl9pPr>
              <a:defRPr sz="22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2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Reform and</a:t>
            </a:r>
            <a:endParaRPr sz="2300" lang="en-US"/>
          </a:p>
          <a:p xmlns:a="http://schemas.openxmlformats.org/drawingml/2006/main">
            <a:pPr marL="0" indent="0" algn="l">
              <a:buNone/>
            </a:pPr>
            <a:r>
              <a:rPr sz="22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opening up</a:t>
            </a:r>
            <a:endParaRPr sz="2300" lang="en-US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214E015-8EFE-41D7-8AAB-12988C53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23944"/>
            <a:ext cx="2331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4E9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B8EF42E-1614-4DA8-9E6E-1EB48902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315968"/>
            <a:ext cx="2313432" cy="905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61" lang="en-US">
                <a:latin typeface="Aptos"/>
                <a:ea typeface="Aptos"/>
                <a:cs typeface="Aptos"/>
              </a:defRPr>
            </a:defPPr>
            <a:lvl1pPr>
              <a:defRPr sz="1361" lang="en-US">
                <a:latin typeface="Aptos"/>
                <a:ea typeface="Aptos"/>
                <a:cs typeface="Aptos"/>
              </a:defRPr>
            </a:lvl1pPr>
            <a:lvl2pPr>
              <a:defRPr sz="1361" lang="en-US">
                <a:latin typeface="Aptos"/>
                <a:ea typeface="Aptos"/>
                <a:cs typeface="Aptos"/>
              </a:defRPr>
            </a:lvl2pPr>
            <a:lvl3pPr>
              <a:defRPr sz="1361" lang="en-US">
                <a:latin typeface="Aptos"/>
                <a:ea typeface="Aptos"/>
                <a:cs typeface="Aptos"/>
              </a:defRPr>
            </a:lvl3pPr>
            <a:lvl4pPr>
              <a:defRPr sz="1361" lang="en-US">
                <a:latin typeface="Aptos"/>
                <a:ea typeface="Aptos"/>
                <a:cs typeface="Aptos"/>
              </a:defRPr>
            </a:lvl4pPr>
            <a:lvl5pPr>
              <a:defRPr sz="1361" lang="en-US">
                <a:latin typeface="Aptos"/>
                <a:ea typeface="Aptos"/>
                <a:cs typeface="Aptos"/>
              </a:defRPr>
            </a:lvl5pPr>
            <a:lvl6pPr>
              <a:defRPr sz="1361" lang="en-US">
                <a:latin typeface="Aptos"/>
                <a:ea typeface="Aptos"/>
                <a:cs typeface="Aptos"/>
              </a:defRPr>
            </a:lvl6pPr>
            <a:lvl7pPr>
              <a:defRPr sz="1361" lang="en-US">
                <a:latin typeface="Aptos"/>
                <a:ea typeface="Aptos"/>
                <a:cs typeface="Aptos"/>
              </a:defRPr>
            </a:lvl7pPr>
            <a:lvl8pPr>
              <a:defRPr sz="1361" lang="en-US">
                <a:latin typeface="Aptos"/>
                <a:ea typeface="Aptos"/>
                <a:cs typeface="Aptos"/>
              </a:defRPr>
            </a:lvl8pPr>
            <a:lvl9pPr>
              <a:defRPr sz="136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61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Investment, special economic zones,</a:t>
            </a:r>
            <a:endParaRPr sz="1360" lang="en-US"/>
          </a:p>
          <a:p xmlns:a="http://schemas.openxmlformats.org/drawingml/2006/main">
            <a:pPr marL="0" indent="0" algn="l">
              <a:buNone/>
            </a:pPr>
            <a:r>
              <a:rPr sz="1361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initial capabilities</a:t>
            </a:r>
            <a:endParaRPr sz="1360" lang="en-US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DD77AAB-B678-4DFF-A6D1-46D94BC9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103120"/>
            <a:ext cx="2642616" cy="3383280"/>
          </a:xfrm>
          <a:prstGeom xmlns:a="http://schemas.openxmlformats.org/drawingml/2006/main" prst="roundRect">
            <a:avLst>
              <a:gd name="adj" fmla="val 51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1B09EE2-2B74-4240-9F66-A35DCC05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359152"/>
            <a:ext cx="1600200" cy="338328"/>
          </a:xfrm>
          <a:prstGeom xmlns:a="http://schemas.openxmlformats.org/drawingml/2006/main" prst="roundRect">
            <a:avLst>
              <a:gd name="adj" fmla="val 43243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4D3615E-C71D-4A15-949B-0C4105F8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377440"/>
            <a:ext cx="1380744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40" b="1" lang="en-US">
                <a:latin typeface="Aptos"/>
                <a:ea typeface="Aptos"/>
                <a:cs typeface="Aptos"/>
              </a:defRPr>
            </a:defPPr>
            <a:lvl1pPr>
              <a:defRPr sz="1040" b="1" lang="en-US">
                <a:latin typeface="Aptos"/>
                <a:ea typeface="Aptos"/>
                <a:cs typeface="Aptos"/>
              </a:defRPr>
            </a:lvl1pPr>
            <a:lvl2pPr>
              <a:defRPr sz="1040" b="1" lang="en-US">
                <a:latin typeface="Aptos"/>
                <a:ea typeface="Aptos"/>
                <a:cs typeface="Aptos"/>
              </a:defRPr>
            </a:lvl2pPr>
            <a:lvl3pPr>
              <a:defRPr sz="1040" b="1" lang="en-US">
                <a:latin typeface="Aptos"/>
                <a:ea typeface="Aptos"/>
                <a:cs typeface="Aptos"/>
              </a:defRPr>
            </a:lvl3pPr>
            <a:lvl4pPr>
              <a:defRPr sz="1040" b="1" lang="en-US">
                <a:latin typeface="Aptos"/>
                <a:ea typeface="Aptos"/>
                <a:cs typeface="Aptos"/>
              </a:defRPr>
            </a:lvl4pPr>
            <a:lvl5pPr>
              <a:defRPr sz="1040" b="1" lang="en-US">
                <a:latin typeface="Aptos"/>
                <a:ea typeface="Aptos"/>
                <a:cs typeface="Aptos"/>
              </a:defRPr>
            </a:lvl5pPr>
            <a:lvl6pPr>
              <a:defRPr sz="1040" b="1" lang="en-US">
                <a:latin typeface="Aptos"/>
                <a:ea typeface="Aptos"/>
                <a:cs typeface="Aptos"/>
              </a:defRPr>
            </a:lvl6pPr>
            <a:lvl7pPr>
              <a:defRPr sz="1040" b="1" lang="en-US">
                <a:latin typeface="Aptos"/>
                <a:ea typeface="Aptos"/>
                <a:cs typeface="Aptos"/>
              </a:defRPr>
            </a:lvl7pPr>
            <a:lvl8pPr>
              <a:defRPr sz="1040" b="1" lang="en-US">
                <a:latin typeface="Aptos"/>
                <a:ea typeface="Aptos"/>
                <a:cs typeface="Aptos"/>
              </a:defRPr>
            </a:lvl8pPr>
            <a:lvl9pPr>
              <a:defRPr sz="104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040" b="1" spc="70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2001–2014</a:t>
            </a:r>
            <a:endParaRPr sz="1040" lang="en-US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5E9FDA6-62D6-43D0-BE82-C91CDDE5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54096"/>
            <a:ext cx="2331720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99" b="1" lang="en-US">
                <a:latin typeface="Aptos"/>
                <a:ea typeface="Aptos"/>
                <a:cs typeface="Aptos"/>
              </a:defRPr>
            </a:defPPr>
            <a:lvl1pPr>
              <a:defRPr sz="2299" b="1" lang="en-US">
                <a:latin typeface="Aptos"/>
                <a:ea typeface="Aptos"/>
                <a:cs typeface="Aptos"/>
              </a:defRPr>
            </a:lvl1pPr>
            <a:lvl2pPr>
              <a:defRPr sz="2299" b="1" lang="en-US">
                <a:latin typeface="Aptos"/>
                <a:ea typeface="Aptos"/>
                <a:cs typeface="Aptos"/>
              </a:defRPr>
            </a:lvl2pPr>
            <a:lvl3pPr>
              <a:defRPr sz="2299" b="1" lang="en-US">
                <a:latin typeface="Aptos"/>
                <a:ea typeface="Aptos"/>
                <a:cs typeface="Aptos"/>
              </a:defRPr>
            </a:lvl3pPr>
            <a:lvl4pPr>
              <a:defRPr sz="2299" b="1" lang="en-US">
                <a:latin typeface="Aptos"/>
                <a:ea typeface="Aptos"/>
                <a:cs typeface="Aptos"/>
              </a:defRPr>
            </a:lvl4pPr>
            <a:lvl5pPr>
              <a:defRPr sz="2299" b="1" lang="en-US">
                <a:latin typeface="Aptos"/>
                <a:ea typeface="Aptos"/>
                <a:cs typeface="Aptos"/>
              </a:defRPr>
            </a:lvl5pPr>
            <a:lvl6pPr>
              <a:defRPr sz="2299" b="1" lang="en-US">
                <a:latin typeface="Aptos"/>
                <a:ea typeface="Aptos"/>
                <a:cs typeface="Aptos"/>
              </a:defRPr>
            </a:lvl6pPr>
            <a:lvl7pPr>
              <a:defRPr sz="2299" b="1" lang="en-US">
                <a:latin typeface="Aptos"/>
                <a:ea typeface="Aptos"/>
                <a:cs typeface="Aptos"/>
              </a:defRPr>
            </a:lvl7pPr>
            <a:lvl8pPr>
              <a:defRPr sz="2299" b="1" lang="en-US">
                <a:latin typeface="Aptos"/>
                <a:ea typeface="Aptos"/>
                <a:cs typeface="Aptos"/>
              </a:defRPr>
            </a:lvl8pPr>
            <a:lvl9pPr>
              <a:defRPr sz="22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2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Global</a:t>
            </a:r>
            <a:endParaRPr sz="2300" lang="en-US"/>
          </a:p>
          <a:p xmlns:a="http://schemas.openxmlformats.org/drawingml/2006/main">
            <a:pPr marL="0" indent="0" algn="l">
              <a:buNone/>
            </a:pPr>
            <a:r>
              <a:rPr sz="22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integration</a:t>
            </a:r>
            <a:endParaRPr sz="2300" lang="en-US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BD42668-2216-4906-80A8-2803E306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4123944"/>
            <a:ext cx="2331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4E9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466381C-D938-4C96-B2BB-FE1C708E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15968"/>
            <a:ext cx="2313432" cy="905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61" lang="en-US">
                <a:latin typeface="Aptos"/>
                <a:ea typeface="Aptos"/>
                <a:cs typeface="Aptos"/>
              </a:defRPr>
            </a:defPPr>
            <a:lvl1pPr>
              <a:defRPr sz="1361" lang="en-US">
                <a:latin typeface="Aptos"/>
                <a:ea typeface="Aptos"/>
                <a:cs typeface="Aptos"/>
              </a:defRPr>
            </a:lvl1pPr>
            <a:lvl2pPr>
              <a:defRPr sz="1361" lang="en-US">
                <a:latin typeface="Aptos"/>
                <a:ea typeface="Aptos"/>
                <a:cs typeface="Aptos"/>
              </a:defRPr>
            </a:lvl2pPr>
            <a:lvl3pPr>
              <a:defRPr sz="1361" lang="en-US">
                <a:latin typeface="Aptos"/>
                <a:ea typeface="Aptos"/>
                <a:cs typeface="Aptos"/>
              </a:defRPr>
            </a:lvl3pPr>
            <a:lvl4pPr>
              <a:defRPr sz="1361" lang="en-US">
                <a:latin typeface="Aptos"/>
                <a:ea typeface="Aptos"/>
                <a:cs typeface="Aptos"/>
              </a:defRPr>
            </a:lvl4pPr>
            <a:lvl5pPr>
              <a:defRPr sz="1361" lang="en-US">
                <a:latin typeface="Aptos"/>
                <a:ea typeface="Aptos"/>
                <a:cs typeface="Aptos"/>
              </a:defRPr>
            </a:lvl5pPr>
            <a:lvl6pPr>
              <a:defRPr sz="1361" lang="en-US">
                <a:latin typeface="Aptos"/>
                <a:ea typeface="Aptos"/>
                <a:cs typeface="Aptos"/>
              </a:defRPr>
            </a:lvl6pPr>
            <a:lvl7pPr>
              <a:defRPr sz="1361" lang="en-US">
                <a:latin typeface="Aptos"/>
                <a:ea typeface="Aptos"/>
                <a:cs typeface="Aptos"/>
              </a:defRPr>
            </a:lvl7pPr>
            <a:lvl8pPr>
              <a:defRPr sz="1361" lang="en-US">
                <a:latin typeface="Aptos"/>
                <a:ea typeface="Aptos"/>
                <a:cs typeface="Aptos"/>
              </a:defRPr>
            </a:lvl8pPr>
            <a:lvl9pPr>
              <a:defRPr sz="136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61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Exports, logistics,</a:t>
            </a:r>
            <a:endParaRPr sz="1360" lang="en-US"/>
          </a:p>
          <a:p xmlns:a="http://schemas.openxmlformats.org/drawingml/2006/main">
            <a:pPr marL="0" indent="0" algn="l">
              <a:buNone/>
            </a:pPr>
            <a:r>
              <a:rPr sz="1361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suppliers, and learning</a:t>
            </a:r>
            <a:endParaRPr sz="1360" lang="en-US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24AA191-EBA1-4D28-869E-FC4CE6C0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103120"/>
            <a:ext cx="2642616" cy="3383280"/>
          </a:xfrm>
          <a:prstGeom xmlns:a="http://schemas.openxmlformats.org/drawingml/2006/main" prst="roundRect">
            <a:avLst>
              <a:gd name="adj" fmla="val 519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619CE5C4-AFC2-45A8-AA7A-0F6F771B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2359152"/>
            <a:ext cx="1600200" cy="338328"/>
          </a:xfrm>
          <a:prstGeom xmlns:a="http://schemas.openxmlformats.org/drawingml/2006/main" prst="roundRect">
            <a:avLst>
              <a:gd name="adj" fmla="val 43243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D8ECFFE-E4DC-4F62-9DD3-8C72B119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377440"/>
            <a:ext cx="1380744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40" b="1" lang="en-US">
                <a:latin typeface="Aptos"/>
                <a:ea typeface="Aptos"/>
                <a:cs typeface="Aptos"/>
              </a:defRPr>
            </a:defPPr>
            <a:lvl1pPr>
              <a:defRPr sz="1040" b="1" lang="en-US">
                <a:latin typeface="Aptos"/>
                <a:ea typeface="Aptos"/>
                <a:cs typeface="Aptos"/>
              </a:defRPr>
            </a:lvl1pPr>
            <a:lvl2pPr>
              <a:defRPr sz="1040" b="1" lang="en-US">
                <a:latin typeface="Aptos"/>
                <a:ea typeface="Aptos"/>
                <a:cs typeface="Aptos"/>
              </a:defRPr>
            </a:lvl2pPr>
            <a:lvl3pPr>
              <a:defRPr sz="1040" b="1" lang="en-US">
                <a:latin typeface="Aptos"/>
                <a:ea typeface="Aptos"/>
                <a:cs typeface="Aptos"/>
              </a:defRPr>
            </a:lvl3pPr>
            <a:lvl4pPr>
              <a:defRPr sz="1040" b="1" lang="en-US">
                <a:latin typeface="Aptos"/>
                <a:ea typeface="Aptos"/>
                <a:cs typeface="Aptos"/>
              </a:defRPr>
            </a:lvl4pPr>
            <a:lvl5pPr>
              <a:defRPr sz="1040" b="1" lang="en-US">
                <a:latin typeface="Aptos"/>
                <a:ea typeface="Aptos"/>
                <a:cs typeface="Aptos"/>
              </a:defRPr>
            </a:lvl5pPr>
            <a:lvl6pPr>
              <a:defRPr sz="1040" b="1" lang="en-US">
                <a:latin typeface="Aptos"/>
                <a:ea typeface="Aptos"/>
                <a:cs typeface="Aptos"/>
              </a:defRPr>
            </a:lvl6pPr>
            <a:lvl7pPr>
              <a:defRPr sz="1040" b="1" lang="en-US">
                <a:latin typeface="Aptos"/>
                <a:ea typeface="Aptos"/>
                <a:cs typeface="Aptos"/>
              </a:defRPr>
            </a:lvl7pPr>
            <a:lvl8pPr>
              <a:defRPr sz="1040" b="1" lang="en-US">
                <a:latin typeface="Aptos"/>
                <a:ea typeface="Aptos"/>
                <a:cs typeface="Aptos"/>
              </a:defRPr>
            </a:lvl8pPr>
            <a:lvl9pPr>
              <a:defRPr sz="104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040" b="1" spc="70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2015–2025</a:t>
            </a:r>
            <a:endParaRPr sz="1040" lang="en-US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E41EB9D-DE4F-498E-955D-547387F9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3054096"/>
            <a:ext cx="2331720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99" b="1" lang="en-US">
                <a:latin typeface="Aptos"/>
                <a:ea typeface="Aptos"/>
                <a:cs typeface="Aptos"/>
              </a:defRPr>
            </a:defPPr>
            <a:lvl1pPr>
              <a:defRPr sz="2299" b="1" lang="en-US">
                <a:latin typeface="Aptos"/>
                <a:ea typeface="Aptos"/>
                <a:cs typeface="Aptos"/>
              </a:defRPr>
            </a:lvl1pPr>
            <a:lvl2pPr>
              <a:defRPr sz="2299" b="1" lang="en-US">
                <a:latin typeface="Aptos"/>
                <a:ea typeface="Aptos"/>
                <a:cs typeface="Aptos"/>
              </a:defRPr>
            </a:lvl2pPr>
            <a:lvl3pPr>
              <a:defRPr sz="2299" b="1" lang="en-US">
                <a:latin typeface="Aptos"/>
                <a:ea typeface="Aptos"/>
                <a:cs typeface="Aptos"/>
              </a:defRPr>
            </a:lvl3pPr>
            <a:lvl4pPr>
              <a:defRPr sz="2299" b="1" lang="en-US">
                <a:latin typeface="Aptos"/>
                <a:ea typeface="Aptos"/>
                <a:cs typeface="Aptos"/>
              </a:defRPr>
            </a:lvl4pPr>
            <a:lvl5pPr>
              <a:defRPr sz="2299" b="1" lang="en-US">
                <a:latin typeface="Aptos"/>
                <a:ea typeface="Aptos"/>
                <a:cs typeface="Aptos"/>
              </a:defRPr>
            </a:lvl5pPr>
            <a:lvl6pPr>
              <a:defRPr sz="2299" b="1" lang="en-US">
                <a:latin typeface="Aptos"/>
                <a:ea typeface="Aptos"/>
                <a:cs typeface="Aptos"/>
              </a:defRPr>
            </a:lvl6pPr>
            <a:lvl7pPr>
              <a:defRPr sz="2299" b="1" lang="en-US">
                <a:latin typeface="Aptos"/>
                <a:ea typeface="Aptos"/>
                <a:cs typeface="Aptos"/>
              </a:defRPr>
            </a:lvl7pPr>
            <a:lvl8pPr>
              <a:defRPr sz="2299" b="1" lang="en-US">
                <a:latin typeface="Aptos"/>
                <a:ea typeface="Aptos"/>
                <a:cs typeface="Aptos"/>
              </a:defRPr>
            </a:lvl8pPr>
            <a:lvl9pPr>
              <a:defRPr sz="22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2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Industrial</a:t>
            </a:r>
            <a:endParaRPr sz="2300" lang="en-US"/>
          </a:p>
          <a:p xmlns:a="http://schemas.openxmlformats.org/drawingml/2006/main">
            <a:pPr marL="0" indent="0" algn="l">
              <a:buNone/>
            </a:pPr>
            <a:r>
              <a:rPr sz="22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modernization</a:t>
            </a:r>
            <a:endParaRPr sz="2300" lang="en-US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1F4DFBE-5F46-41A3-993B-DC6AA44A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4123944"/>
            <a:ext cx="2331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4E9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0AFC5AA-C7E5-468A-A1A2-317CD042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4315968"/>
            <a:ext cx="2313432" cy="905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61" lang="en-US">
                <a:latin typeface="Aptos"/>
                <a:ea typeface="Aptos"/>
                <a:cs typeface="Aptos"/>
              </a:defRPr>
            </a:defPPr>
            <a:lvl1pPr>
              <a:defRPr sz="1361" lang="en-US">
                <a:latin typeface="Aptos"/>
                <a:ea typeface="Aptos"/>
                <a:cs typeface="Aptos"/>
              </a:defRPr>
            </a:lvl1pPr>
            <a:lvl2pPr>
              <a:defRPr sz="1361" lang="en-US">
                <a:latin typeface="Aptos"/>
                <a:ea typeface="Aptos"/>
                <a:cs typeface="Aptos"/>
              </a:defRPr>
            </a:lvl2pPr>
            <a:lvl3pPr>
              <a:defRPr sz="1361" lang="en-US">
                <a:latin typeface="Aptos"/>
                <a:ea typeface="Aptos"/>
                <a:cs typeface="Aptos"/>
              </a:defRPr>
            </a:lvl3pPr>
            <a:lvl4pPr>
              <a:defRPr sz="1361" lang="en-US">
                <a:latin typeface="Aptos"/>
                <a:ea typeface="Aptos"/>
                <a:cs typeface="Aptos"/>
              </a:defRPr>
            </a:lvl4pPr>
            <a:lvl5pPr>
              <a:defRPr sz="1361" lang="en-US">
                <a:latin typeface="Aptos"/>
                <a:ea typeface="Aptos"/>
                <a:cs typeface="Aptos"/>
              </a:defRPr>
            </a:lvl5pPr>
            <a:lvl6pPr>
              <a:defRPr sz="1361" lang="en-US">
                <a:latin typeface="Aptos"/>
                <a:ea typeface="Aptos"/>
                <a:cs typeface="Aptos"/>
              </a:defRPr>
            </a:lvl6pPr>
            <a:lvl7pPr>
              <a:defRPr sz="1361" lang="en-US">
                <a:latin typeface="Aptos"/>
                <a:ea typeface="Aptos"/>
                <a:cs typeface="Aptos"/>
              </a:defRPr>
            </a:lvl7pPr>
            <a:lvl8pPr>
              <a:defRPr sz="1361" lang="en-US">
                <a:latin typeface="Aptos"/>
                <a:ea typeface="Aptos"/>
                <a:cs typeface="Aptos"/>
              </a:defRPr>
            </a:lvl8pPr>
            <a:lvl9pPr>
              <a:defRPr sz="136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61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Automation, R&amp;D,</a:t>
            </a:r>
            <a:endParaRPr sz="1360" lang="en-US"/>
          </a:p>
          <a:p xmlns:a="http://schemas.openxmlformats.org/drawingml/2006/main">
            <a:pPr marL="0" indent="0" algn="l">
              <a:buNone/>
            </a:pPr>
            <a:r>
              <a:rPr sz="1361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batteries, and equipment</a:t>
            </a:r>
            <a:endParaRPr sz="1360" lang="en-US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055523D-FBC0-44F8-A96B-1C79E834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103120"/>
            <a:ext cx="2642616" cy="3383280"/>
          </a:xfrm>
          <a:prstGeom xmlns:a="http://schemas.openxmlformats.org/drawingml/2006/main" prst="roundRect">
            <a:avLst>
              <a:gd name="adj" fmla="val 51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706602EA-425E-40B2-BF56-189EFB96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2359152"/>
            <a:ext cx="1600200" cy="338328"/>
          </a:xfrm>
          <a:prstGeom xmlns:a="http://schemas.openxmlformats.org/drawingml/2006/main" prst="roundRect">
            <a:avLst>
              <a:gd name="adj" fmla="val 43243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4C98B7E-080D-4252-AF42-4D6C724D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2377440"/>
            <a:ext cx="1380744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40" b="1" lang="en-US">
                <a:latin typeface="Aptos"/>
                <a:ea typeface="Aptos"/>
                <a:cs typeface="Aptos"/>
              </a:defRPr>
            </a:defPPr>
            <a:lvl1pPr>
              <a:defRPr sz="1040" b="1" lang="en-US">
                <a:latin typeface="Aptos"/>
                <a:ea typeface="Aptos"/>
                <a:cs typeface="Aptos"/>
              </a:defRPr>
            </a:lvl1pPr>
            <a:lvl2pPr>
              <a:defRPr sz="1040" b="1" lang="en-US">
                <a:latin typeface="Aptos"/>
                <a:ea typeface="Aptos"/>
                <a:cs typeface="Aptos"/>
              </a:defRPr>
            </a:lvl2pPr>
            <a:lvl3pPr>
              <a:defRPr sz="1040" b="1" lang="en-US">
                <a:latin typeface="Aptos"/>
                <a:ea typeface="Aptos"/>
                <a:cs typeface="Aptos"/>
              </a:defRPr>
            </a:lvl3pPr>
            <a:lvl4pPr>
              <a:defRPr sz="1040" b="1" lang="en-US">
                <a:latin typeface="Aptos"/>
                <a:ea typeface="Aptos"/>
                <a:cs typeface="Aptos"/>
              </a:defRPr>
            </a:lvl4pPr>
            <a:lvl5pPr>
              <a:defRPr sz="1040" b="1" lang="en-US">
                <a:latin typeface="Aptos"/>
                <a:ea typeface="Aptos"/>
                <a:cs typeface="Aptos"/>
              </a:defRPr>
            </a:lvl5pPr>
            <a:lvl6pPr>
              <a:defRPr sz="1040" b="1" lang="en-US">
                <a:latin typeface="Aptos"/>
                <a:ea typeface="Aptos"/>
                <a:cs typeface="Aptos"/>
              </a:defRPr>
            </a:lvl6pPr>
            <a:lvl7pPr>
              <a:defRPr sz="1040" b="1" lang="en-US">
                <a:latin typeface="Aptos"/>
                <a:ea typeface="Aptos"/>
                <a:cs typeface="Aptos"/>
              </a:defRPr>
            </a:lvl7pPr>
            <a:lvl8pPr>
              <a:defRPr sz="1040" b="1" lang="en-US">
                <a:latin typeface="Aptos"/>
                <a:ea typeface="Aptos"/>
                <a:cs typeface="Aptos"/>
              </a:defRPr>
            </a:lvl8pPr>
            <a:lvl9pPr>
              <a:defRPr sz="104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040" b="1" spc="70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2026–2030</a:t>
            </a:r>
            <a:endParaRPr sz="1040" lang="en-US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11B6884-8649-4B89-BE23-FEA8C1FF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744" y="3054096"/>
            <a:ext cx="2331720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99" b="1" lang="en-US">
                <a:latin typeface="Aptos"/>
                <a:ea typeface="Aptos"/>
                <a:cs typeface="Aptos"/>
              </a:defRPr>
            </a:defPPr>
            <a:lvl1pPr>
              <a:defRPr sz="2299" b="1" lang="en-US">
                <a:latin typeface="Aptos"/>
                <a:ea typeface="Aptos"/>
                <a:cs typeface="Aptos"/>
              </a:defRPr>
            </a:lvl1pPr>
            <a:lvl2pPr>
              <a:defRPr sz="2299" b="1" lang="en-US">
                <a:latin typeface="Aptos"/>
                <a:ea typeface="Aptos"/>
                <a:cs typeface="Aptos"/>
              </a:defRPr>
            </a:lvl2pPr>
            <a:lvl3pPr>
              <a:defRPr sz="2299" b="1" lang="en-US">
                <a:latin typeface="Aptos"/>
                <a:ea typeface="Aptos"/>
                <a:cs typeface="Aptos"/>
              </a:defRPr>
            </a:lvl3pPr>
            <a:lvl4pPr>
              <a:defRPr sz="2299" b="1" lang="en-US">
                <a:latin typeface="Aptos"/>
                <a:ea typeface="Aptos"/>
                <a:cs typeface="Aptos"/>
              </a:defRPr>
            </a:lvl4pPr>
            <a:lvl5pPr>
              <a:defRPr sz="2299" b="1" lang="en-US">
                <a:latin typeface="Aptos"/>
                <a:ea typeface="Aptos"/>
                <a:cs typeface="Aptos"/>
              </a:defRPr>
            </a:lvl5pPr>
            <a:lvl6pPr>
              <a:defRPr sz="2299" b="1" lang="en-US">
                <a:latin typeface="Aptos"/>
                <a:ea typeface="Aptos"/>
                <a:cs typeface="Aptos"/>
              </a:defRPr>
            </a:lvl6pPr>
            <a:lvl7pPr>
              <a:defRPr sz="2299" b="1" lang="en-US">
                <a:latin typeface="Aptos"/>
                <a:ea typeface="Aptos"/>
                <a:cs typeface="Aptos"/>
              </a:defRPr>
            </a:lvl7pPr>
            <a:lvl8pPr>
              <a:defRPr sz="2299" b="1" lang="en-US">
                <a:latin typeface="Aptos"/>
                <a:ea typeface="Aptos"/>
                <a:cs typeface="Aptos"/>
              </a:defRPr>
            </a:lvl8pPr>
            <a:lvl9pPr>
              <a:defRPr sz="22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2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Intelligent</a:t>
            </a:r>
            <a:endParaRPr sz="2300" lang="en-US"/>
          </a:p>
          <a:p xmlns:a="http://schemas.openxmlformats.org/drawingml/2006/main">
            <a:pPr marL="0" indent="0" algn="l">
              <a:buNone/>
            </a:pPr>
            <a:r>
              <a:rPr sz="22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convergence</a:t>
            </a:r>
            <a:endParaRPr sz="2300" lang="en-US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78727FAD-8E49-4CBD-ABFB-F0AC5572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4123944"/>
            <a:ext cx="2331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4E9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F9873491-E02A-4C5E-AC64-ECD00F9D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744" y="4315968"/>
            <a:ext cx="2313432" cy="905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61" lang="en-US">
                <a:latin typeface="Aptos"/>
                <a:ea typeface="Aptos"/>
                <a:cs typeface="Aptos"/>
              </a:defRPr>
            </a:defPPr>
            <a:lvl1pPr>
              <a:defRPr sz="1361" lang="en-US">
                <a:latin typeface="Aptos"/>
                <a:ea typeface="Aptos"/>
                <a:cs typeface="Aptos"/>
              </a:defRPr>
            </a:lvl1pPr>
            <a:lvl2pPr>
              <a:defRPr sz="1361" lang="en-US">
                <a:latin typeface="Aptos"/>
                <a:ea typeface="Aptos"/>
                <a:cs typeface="Aptos"/>
              </a:defRPr>
            </a:lvl2pPr>
            <a:lvl3pPr>
              <a:defRPr sz="1361" lang="en-US">
                <a:latin typeface="Aptos"/>
                <a:ea typeface="Aptos"/>
                <a:cs typeface="Aptos"/>
              </a:defRPr>
            </a:lvl3pPr>
            <a:lvl4pPr>
              <a:defRPr sz="1361" lang="en-US">
                <a:latin typeface="Aptos"/>
                <a:ea typeface="Aptos"/>
                <a:cs typeface="Aptos"/>
              </a:defRPr>
            </a:lvl4pPr>
            <a:lvl5pPr>
              <a:defRPr sz="1361" lang="en-US">
                <a:latin typeface="Aptos"/>
                <a:ea typeface="Aptos"/>
                <a:cs typeface="Aptos"/>
              </a:defRPr>
            </a:lvl5pPr>
            <a:lvl6pPr>
              <a:defRPr sz="1361" lang="en-US">
                <a:latin typeface="Aptos"/>
                <a:ea typeface="Aptos"/>
                <a:cs typeface="Aptos"/>
              </a:defRPr>
            </a:lvl6pPr>
            <a:lvl7pPr>
              <a:defRPr sz="1361" lang="en-US">
                <a:latin typeface="Aptos"/>
                <a:ea typeface="Aptos"/>
                <a:cs typeface="Aptos"/>
              </a:defRPr>
            </a:lvl7pPr>
            <a:lvl8pPr>
              <a:defRPr sz="1361" lang="en-US">
                <a:latin typeface="Aptos"/>
                <a:ea typeface="Aptos"/>
                <a:cs typeface="Aptos"/>
              </a:defRPr>
            </a:lvl8pPr>
            <a:lvl9pPr>
              <a:defRPr sz="136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61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AI+, industrial AI, robotics,</a:t>
            </a:r>
            <a:endParaRPr sz="1360" lang="en-US"/>
          </a:p>
          <a:p xmlns:a="http://schemas.openxmlformats.org/drawingml/2006/main">
            <a:pPr marL="0" indent="0" algn="l">
              <a:buNone/>
            </a:pPr>
            <a:r>
              <a:rPr sz="1361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and selective autonomy</a:t>
            </a:r>
            <a:endParaRPr sz="1360" lang="en-US"/>
          </a:p>
        </p:txBody>
      </p:sp>
    </p:spTree>
    <p:extLst>
      <p:ext uri="{BB962C8B-B14F-4D97-AF65-F5344CB8AC3E}">
        <p14:creationId xmlns:p14="http://schemas.microsoft.com/office/powerpoint/2010/main" val="317347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EEC754A-64A5-4BE0-AEE3-258BA566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THE GREAT SHIFT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C6214A-C01D-4140-A592-17DD17FC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From less than 3% to nearly one-third of the world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9114A66-2136-4F01-BCCE-7D183F9F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China's share of global manufacturing value added.</a:t>
            </a:r>
            <a:endParaRPr sz="1400" lang="en-US"/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4599877-C8D2-4F2B-9816-7094B37A78D5}"/>
              </a:ext>
            </a:extLst>
          </p:cNvPr>
          <p:cNvGraphicFramePr/>
          <p:nvPr/>
        </p:nvGraphicFramePr>
        <p:xfrm>
          <a:off xmlns:a="http://schemas.openxmlformats.org/drawingml/2006/main" x="619125" y="2047875"/>
          <a:ext xmlns:a="http://schemas.openxmlformats.org/drawingml/2006/main" cx="781050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3005df0e334f00"/>
          </a:graphicData>
        </a:graphic>
      </p:graphicFrame>
      <p:sp>
        <p:nvSpPr>
          <p:cNvPr id="6" name="relative-change">
            <a:extLst xmlns:a="http://schemas.openxmlformats.org/drawingml/2006/main">
              <a:ext uri="{FF2B5EF4-FFF2-40B4-BE49-F238E27FC236}">
                <a16:creationId xmlns:a16="http://schemas.microsoft.com/office/drawing/2014/main" id="{DB1DE00B-595F-41D4-A2FF-B3B726C9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5250" b="1" lang="en-US">
                <a:solidFill>
                  <a:srgbClr val="168C8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5250" b="1" lang="en-US">
                <a:solidFill>
                  <a:srgbClr val="168C8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5250" b="1" lang="en-US">
                <a:solidFill>
                  <a:srgbClr val="168C8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5250" b="1" lang="en-US">
                <a:solidFill>
                  <a:srgbClr val="168C8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5250" b="1" lang="en-US">
                <a:solidFill>
                  <a:srgbClr val="168C8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5250" b="1" lang="en-US">
                <a:solidFill>
                  <a:srgbClr val="168C8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5250" b="1" lang="en-US">
                <a:solidFill>
                  <a:srgbClr val="168C8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5250" b="1" lang="en-US">
                <a:solidFill>
                  <a:srgbClr val="168C8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5250" b="1" lang="en-US">
                <a:solidFill>
                  <a:srgbClr val="168C8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5250" b="1" lang="en-US">
                <a:solidFill>
                  <a:srgbClr val="168C8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5250" b="1" lang="en-US">
                <a:solidFill>
                  <a:srgbClr val="168C8B"/>
                </a:solidFill>
                <a:latin typeface="Aptos"/>
                <a:ea typeface="Aptos"/>
                <a:cs typeface="Aptos"/>
              </a:defRPr>
            </a:pPr>
            <a:r>
              <a:rPr sz="5250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×11.4</a:t>
            </a:r>
          </a:p>
        </p:txBody>
      </p:sp>
      <p:sp>
        <p:nvSpPr>
          <p:cNvPr id="7" name="relative-change-caption">
            <a:extLst xmlns:a="http://schemas.openxmlformats.org/drawingml/2006/main">
              <a:ext uri="{FF2B5EF4-FFF2-40B4-BE49-F238E27FC236}">
                <a16:creationId xmlns:a16="http://schemas.microsoft.com/office/drawing/2014/main" id="{825DE2E8-56BB-4487-B4E6-DF818066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242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9" b="0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725" b="0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pPr>
            <a:r>
              <a:rPr sz="1729" b="0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increase in the share</a:t>
            </a:r>
          </a:p>
          <a:p xmlns:a="http://schemas.openxmlformats.org/drawingml/2006/main">
            <a:pPr algn="l">
              <a:buNone/>
              <a:defRPr sz="1725" b="0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pPr>
            <a:r>
              <a:rPr sz="1729" b="0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between the two</a:t>
            </a:r>
          </a:p>
          <a:p xmlns:a="http://schemas.openxmlformats.org/drawingml/2006/main">
            <a:pPr algn="l">
              <a:buNone/>
              <a:defRPr sz="1725" b="0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pPr>
            <a:r>
              <a:rPr sz="1729" b="0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years</a:t>
            </a:r>
          </a:p>
        </p:txBody>
      </p:sp>
      <p:sp>
        <p:nvSpPr>
          <p:cNvPr id="8" name="metric-definition">
            <a:extLst xmlns:a="http://schemas.openxmlformats.org/drawingml/2006/main">
              <a:ext uri="{FF2B5EF4-FFF2-40B4-BE49-F238E27FC236}">
                <a16:creationId xmlns:a16="http://schemas.microsoft.com/office/drawing/2014/main" id="{1AE40B43-99B2-4DFC-B59A-C973C9CE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1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75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75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75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75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75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75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75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75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75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875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pPr>
            <a:r>
              <a:rPr sz="187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This share measures manufacturing value added, not productivity per worker.</a:t>
            </a:r>
          </a:p>
        </p:txBody>
      </p:sp>
    </p:spTree>
    <p:extLst>
      <p:ext uri="{BB962C8B-B14F-4D97-AF65-F5344CB8AC3E}">
        <p14:creationId xmlns:p14="http://schemas.microsoft.com/office/powerpoint/2010/main" val="13423386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134121-7B7A-40B5-9A6A-CEA6C79F52D0}"/>
              </a:ext>
            </a:extLst>
          </p:cNvPr>
          <p:cNvCxnSpPr>
            <a:stCxn xmlns:a="http://schemas.openxmlformats.org/drawingml/2006/main" id="25" idx="0"/>
            <a:endCxn xmlns:a="http://schemas.openxmlformats.org/drawingml/2006/main" id="28" idx="2"/>
          </p:cNvCxnSpPr>
          <p:nvPr/>
        </p:nvCxnSpPr>
        <p:spPr>
          <a:xfrm xmlns:a="http://schemas.openxmlformats.org/drawingml/2006/main" flipV="1">
            <a:off x="9810750" y="4295775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68C8B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1FFA10-0A6F-4ED9-8558-06EF7FE46C6C}"/>
              </a:ext>
            </a:extLst>
          </p:cNvPr>
          <p:cNvCxnSpPr>
            <a:stCxn xmlns:a="http://schemas.openxmlformats.org/drawingml/2006/main" id="23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9810750" y="28479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68C8B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FC6220-6C22-4174-8762-2198BC6E4880}"/>
              </a:ext>
            </a:extLst>
          </p:cNvPr>
          <p:cNvCxnSpPr>
            <a:stCxn xmlns:a="http://schemas.openxmlformats.org/drawingml/2006/main" id="17" idx="0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V="1">
            <a:off x="6096000" y="4295775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68C8B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C535C7-871C-4985-8D6B-237490AB0F73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096000" y="28479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68C8B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96B0A-215B-44A9-B2B2-20E38894C291}"/>
              </a:ext>
            </a:extLst>
          </p:cNvPr>
          <p:cNvCxnSpPr>
            <a:stCxn xmlns:a="http://schemas.openxmlformats.org/drawingml/2006/main" id="9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2381250" y="4295775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68C8B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99E833-6721-4F5C-9024-DC540BC2D0A7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2381250" y="28479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68C8B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37ADC7C-9F2D-4154-BE9C-4F141601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INDUSTRIAL CAPABILITIES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9F9EB3-23C1-4A6E-9D4C-4AB74D0F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A factory's strength depends on its ecosystem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D27F53F-ED32-4435-B5C1-10619C2A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Knowledge is distributed among firms and organizations.</a:t>
            </a:r>
            <a:endParaRPr sz="1400" lang="en-US"/>
          </a:p>
        </p:txBody>
      </p:sp>
      <p:sp>
        <p:nvSpPr>
          <p:cNvPr id="5" name="industrial-system">
            <a:extLst xmlns:a="http://schemas.openxmlformats.org/drawingml/2006/main">
              <a:ext uri="{FF2B5EF4-FFF2-40B4-BE49-F238E27FC236}">
                <a16:creationId xmlns:a16="http://schemas.microsoft.com/office/drawing/2014/main" id="{6E5D6FD5-3912-44B3-AFCD-08EFF40E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0668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ndustrial-system-title">
            <a:extLst xmlns:a="http://schemas.openxmlformats.org/drawingml/2006/main">
              <a:ext uri="{FF2B5EF4-FFF2-40B4-BE49-F238E27FC236}">
                <a16:creationId xmlns:a16="http://schemas.microsoft.com/office/drawing/2014/main" id="{7612ED16-1F93-472E-9DAC-43A1E116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701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2700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2700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2700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2700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2700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2700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2700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2700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2700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2700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COMPLEX PRODUCT</a:t>
            </a:r>
          </a:p>
        </p:txBody>
      </p:sp>
      <p:sp>
        <p:nvSpPr>
          <p:cNvPr id="7" name="top-node-0">
            <a:extLst xmlns:a="http://schemas.openxmlformats.org/drawingml/2006/main">
              <a:ext uri="{FF2B5EF4-FFF2-40B4-BE49-F238E27FC236}">
                <a16:creationId xmlns:a16="http://schemas.microsoft.com/office/drawing/2014/main" id="{709C70E6-3C1F-43D0-948D-B2F168A9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304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op-label-0">
            <a:extLst xmlns:a="http://schemas.openxmlformats.org/drawingml/2006/main">
              <a:ext uri="{FF2B5EF4-FFF2-40B4-BE49-F238E27FC236}">
                <a16:creationId xmlns:a16="http://schemas.microsoft.com/office/drawing/2014/main" id="{3FF482A6-7BD7-4524-BBAB-BF898FF5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pPr>
            <a:r>
              <a: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Universities</a:t>
            </a:r>
          </a:p>
        </p:txBody>
      </p:sp>
      <p:sp>
        <p:nvSpPr>
          <p:cNvPr id="9" name="bottom-node-0">
            <a:extLst xmlns:a="http://schemas.openxmlformats.org/drawingml/2006/main">
              <a:ext uri="{FF2B5EF4-FFF2-40B4-BE49-F238E27FC236}">
                <a16:creationId xmlns:a16="http://schemas.microsoft.com/office/drawing/2014/main" id="{DB0658D3-F18E-4AB7-820B-78F4AAC9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304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ttom-label-0">
            <a:extLst xmlns:a="http://schemas.openxmlformats.org/drawingml/2006/main">
              <a:ext uri="{FF2B5EF4-FFF2-40B4-BE49-F238E27FC236}">
                <a16:creationId xmlns:a16="http://schemas.microsoft.com/office/drawing/2014/main" id="{D1DC3794-019E-44EF-9C2E-492CE5DA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3872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pPr>
            <a:r>
              <a: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Logistics</a:t>
            </a:r>
          </a:p>
        </p:txBody>
      </p:sp>
      <p:sp>
        <p:nvSpPr>
          <p:cNvPr id="11" name="port-top-0">
            <a:extLst xmlns:a="http://schemas.openxmlformats.org/drawingml/2006/main">
              <a:ext uri="{FF2B5EF4-FFF2-40B4-BE49-F238E27FC236}">
                <a16:creationId xmlns:a16="http://schemas.microsoft.com/office/drawing/2014/main" id="{4513E5DD-0C33-461B-B7DB-77BBB8CA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2766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ort-bottom-0">
            <a:extLst xmlns:a="http://schemas.openxmlformats.org/drawingml/2006/main">
              <a:ext uri="{FF2B5EF4-FFF2-40B4-BE49-F238E27FC236}">
                <a16:creationId xmlns:a16="http://schemas.microsoft.com/office/drawing/2014/main" id="{F4FAEC82-1A33-4D67-A71B-43A6459A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2767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op-node-1">
            <a:extLst xmlns:a="http://schemas.openxmlformats.org/drawingml/2006/main">
              <a:ext uri="{FF2B5EF4-FFF2-40B4-BE49-F238E27FC236}">
                <a16:creationId xmlns:a16="http://schemas.microsoft.com/office/drawing/2014/main" id="{71289FDD-57FA-49FE-8C56-4CAC5482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43125"/>
            <a:ext cx="304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op-label-1">
            <a:extLst xmlns:a="http://schemas.openxmlformats.org/drawingml/2006/main">
              <a:ext uri="{FF2B5EF4-FFF2-40B4-BE49-F238E27FC236}">
                <a16:creationId xmlns:a16="http://schemas.microsoft.com/office/drawing/2014/main" id="{4E894037-0143-47D1-BB9F-95ADA785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2410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pPr>
            <a:r>
              <a: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Suppliers</a:t>
            </a:r>
          </a:p>
        </p:txBody>
      </p:sp>
      <p:sp>
        <p:nvSpPr>
          <p:cNvPr id="17" name="bottom-node-1">
            <a:extLst xmlns:a="http://schemas.openxmlformats.org/drawingml/2006/main">
              <a:ext uri="{FF2B5EF4-FFF2-40B4-BE49-F238E27FC236}">
                <a16:creationId xmlns:a16="http://schemas.microsoft.com/office/drawing/2014/main" id="{23C9A068-F06D-49B9-836C-51DB42ED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57750"/>
            <a:ext cx="304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ttom-label-1">
            <a:extLst xmlns:a="http://schemas.openxmlformats.org/drawingml/2006/main">
              <a:ext uri="{FF2B5EF4-FFF2-40B4-BE49-F238E27FC236}">
                <a16:creationId xmlns:a16="http://schemas.microsoft.com/office/drawing/2014/main" id="{68631CA8-2C47-4DA0-A33E-0EEDF18C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3872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pPr>
            <a:r>
              <a: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Companies</a:t>
            </a:r>
          </a:p>
        </p:txBody>
      </p:sp>
      <p:sp>
        <p:nvSpPr>
          <p:cNvPr id="19" name="port-top-1">
            <a:extLst xmlns:a="http://schemas.openxmlformats.org/drawingml/2006/main">
              <a:ext uri="{FF2B5EF4-FFF2-40B4-BE49-F238E27FC236}">
                <a16:creationId xmlns:a16="http://schemas.microsoft.com/office/drawing/2014/main" id="{028CA97B-307E-4F06-9731-3D1FE2F3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2766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ort-bottom-1">
            <a:extLst xmlns:a="http://schemas.openxmlformats.org/drawingml/2006/main">
              <a:ext uri="{FF2B5EF4-FFF2-40B4-BE49-F238E27FC236}">
                <a16:creationId xmlns:a16="http://schemas.microsoft.com/office/drawing/2014/main" id="{5879F133-C1E4-44F0-AE0E-5D536DCB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767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op-node-2">
            <a:extLst xmlns:a="http://schemas.openxmlformats.org/drawingml/2006/main">
              <a:ext uri="{FF2B5EF4-FFF2-40B4-BE49-F238E27FC236}">
                <a16:creationId xmlns:a16="http://schemas.microsoft.com/office/drawing/2014/main" id="{54DF84AE-403B-41D5-AAF9-16C887EE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304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op-label-2">
            <a:extLst xmlns:a="http://schemas.openxmlformats.org/drawingml/2006/main">
              <a:ext uri="{FF2B5EF4-FFF2-40B4-BE49-F238E27FC236}">
                <a16:creationId xmlns:a16="http://schemas.microsoft.com/office/drawing/2014/main" id="{DD00769B-B2EE-4AC9-8887-37634AAF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2410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pPr>
            <a:r>
              <a: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Financing</a:t>
            </a:r>
          </a:p>
        </p:txBody>
      </p:sp>
      <p:sp>
        <p:nvSpPr>
          <p:cNvPr id="25" name="bottom-node-2">
            <a:extLst xmlns:a="http://schemas.openxmlformats.org/drawingml/2006/main">
              <a:ext uri="{FF2B5EF4-FFF2-40B4-BE49-F238E27FC236}">
                <a16:creationId xmlns:a16="http://schemas.microsoft.com/office/drawing/2014/main" id="{D0D0D834-9EF6-4448-A5D5-5D3D2C10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57750"/>
            <a:ext cx="304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ttom-label-2">
            <a:extLst xmlns:a="http://schemas.openxmlformats.org/drawingml/2006/main">
              <a:ext uri="{FF2B5EF4-FFF2-40B4-BE49-F238E27FC236}">
                <a16:creationId xmlns:a16="http://schemas.microsoft.com/office/drawing/2014/main" id="{7A9F9BDA-ABCD-4333-90C4-AF027E11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3872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pPr>
            <a:r>
              <a: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Government and cities</a:t>
            </a:r>
          </a:p>
        </p:txBody>
      </p:sp>
      <p:sp>
        <p:nvSpPr>
          <p:cNvPr id="27" name="port-top-2">
            <a:extLst xmlns:a="http://schemas.openxmlformats.org/drawingml/2006/main">
              <a:ext uri="{FF2B5EF4-FFF2-40B4-BE49-F238E27FC236}">
                <a16:creationId xmlns:a16="http://schemas.microsoft.com/office/drawing/2014/main" id="{637996DC-D000-46C3-B1E0-60B3F196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2766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ort-bottom-2">
            <a:extLst xmlns:a="http://schemas.openxmlformats.org/drawingml/2006/main">
              <a:ext uri="{FF2B5EF4-FFF2-40B4-BE49-F238E27FC236}">
                <a16:creationId xmlns:a16="http://schemas.microsoft.com/office/drawing/2014/main" id="{A645262B-395E-4AC9-89F9-08622070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2767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network-lesson">
            <a:extLst xmlns:a="http://schemas.openxmlformats.org/drawingml/2006/main">
              <a:ext uri="{FF2B5EF4-FFF2-40B4-BE49-F238E27FC236}">
                <a16:creationId xmlns:a16="http://schemas.microsoft.com/office/drawing/2014/main" id="{E4FCDB57-6D26-4D0A-9974-ECA3B0FF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9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725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725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725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725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725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725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725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725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725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725" b="1" lang="en-US">
                <a:solidFill>
                  <a:srgbClr val="101D31"/>
                </a:solidFill>
                <a:latin typeface="Aptos"/>
                <a:ea typeface="Aptos"/>
                <a:cs typeface="Aptos"/>
              </a:defRPr>
            </a:pPr>
            <a:r>
              <a:rPr sz="172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Connections enable the sharing of knowledge, resources, and responsiveness.</a:t>
            </a:r>
          </a:p>
        </p:txBody>
      </p:sp>
    </p:spTree>
    <p:extLst>
      <p:ext uri="{BB962C8B-B14F-4D97-AF65-F5344CB8AC3E}">
        <p14:creationId xmlns:p14="http://schemas.microsoft.com/office/powerpoint/2010/main" val="20413970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6C75518-CE31-4B08-9039-0506E1AB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TEACHING EXERCISE 01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742DA6C-8291-4230-85DE-2E66FF00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Two companies design the same robotic hand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38FA904-7FA7-4EA9-8ABF-A8351AA5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Hypothetical example illustrating supplier coordination times.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0A0C630-467A-4DE5-BC6C-F47290BC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93392"/>
            <a:ext cx="5367528" cy="2350008"/>
          </a:xfrm>
          <a:prstGeom xmlns:a="http://schemas.openxmlformats.org/drawingml/2006/main" prst="roundRect">
            <a:avLst>
              <a:gd name="adj" fmla="val 70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22759DF-DB1A-42CE-8C54-35C83764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267712"/>
            <a:ext cx="1517904" cy="338328"/>
          </a:xfrm>
          <a:prstGeom xmlns:a="http://schemas.openxmlformats.org/drawingml/2006/main" prst="roundRect">
            <a:avLst>
              <a:gd name="adj" fmla="val 43243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0C65157-EA24-4125-A563-E129A743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286000"/>
            <a:ext cx="129844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40" b="1" lang="en-US">
                <a:latin typeface="Aptos"/>
                <a:ea typeface="Aptos"/>
                <a:cs typeface="Aptos"/>
              </a:defRPr>
            </a:defPPr>
            <a:lvl1pPr>
              <a:defRPr sz="1040" b="1" lang="en-US">
                <a:latin typeface="Aptos"/>
                <a:ea typeface="Aptos"/>
                <a:cs typeface="Aptos"/>
              </a:defRPr>
            </a:lvl1pPr>
            <a:lvl2pPr>
              <a:defRPr sz="1040" b="1" lang="en-US">
                <a:latin typeface="Aptos"/>
                <a:ea typeface="Aptos"/>
                <a:cs typeface="Aptos"/>
              </a:defRPr>
            </a:lvl2pPr>
            <a:lvl3pPr>
              <a:defRPr sz="1040" b="1" lang="en-US">
                <a:latin typeface="Aptos"/>
                <a:ea typeface="Aptos"/>
                <a:cs typeface="Aptos"/>
              </a:defRPr>
            </a:lvl3pPr>
            <a:lvl4pPr>
              <a:defRPr sz="1040" b="1" lang="en-US">
                <a:latin typeface="Aptos"/>
                <a:ea typeface="Aptos"/>
                <a:cs typeface="Aptos"/>
              </a:defRPr>
            </a:lvl4pPr>
            <a:lvl5pPr>
              <a:defRPr sz="1040" b="1" lang="en-US">
                <a:latin typeface="Aptos"/>
                <a:ea typeface="Aptos"/>
                <a:cs typeface="Aptos"/>
              </a:defRPr>
            </a:lvl5pPr>
            <a:lvl6pPr>
              <a:defRPr sz="1040" b="1" lang="en-US">
                <a:latin typeface="Aptos"/>
                <a:ea typeface="Aptos"/>
                <a:cs typeface="Aptos"/>
              </a:defRPr>
            </a:lvl6pPr>
            <a:lvl7pPr>
              <a:defRPr sz="1040" b="1" lang="en-US">
                <a:latin typeface="Aptos"/>
                <a:ea typeface="Aptos"/>
                <a:cs typeface="Aptos"/>
              </a:defRPr>
            </a:lvl7pPr>
            <a:lvl8pPr>
              <a:defRPr sz="1040" b="1" lang="en-US">
                <a:latin typeface="Aptos"/>
                <a:ea typeface="Aptos"/>
                <a:cs typeface="Aptos"/>
              </a:defRPr>
            </a:lvl8pPr>
            <a:lvl9pPr>
              <a:defRPr sz="104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040" b="1" spc="70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COMPANY A</a:t>
            </a:r>
            <a:endParaRPr sz="1040" lang="en-US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07F6D0E-D18B-4A02-ACFE-3F7F1EC5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07208"/>
            <a:ext cx="47548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01" b="1" lang="en-US">
                <a:latin typeface="Aptos"/>
                <a:ea typeface="Aptos"/>
                <a:cs typeface="Aptos"/>
              </a:defRPr>
            </a:defPPr>
            <a:lvl1pPr>
              <a:defRPr sz="1701" b="1" lang="en-US">
                <a:latin typeface="Aptos"/>
                <a:ea typeface="Aptos"/>
                <a:cs typeface="Aptos"/>
              </a:defRPr>
            </a:lvl1pPr>
            <a:lvl2pPr>
              <a:defRPr sz="1701" b="1" lang="en-US">
                <a:latin typeface="Aptos"/>
                <a:ea typeface="Aptos"/>
                <a:cs typeface="Aptos"/>
              </a:defRPr>
            </a:lvl2pPr>
            <a:lvl3pPr>
              <a:defRPr sz="1701" b="1" lang="en-US">
                <a:latin typeface="Aptos"/>
                <a:ea typeface="Aptos"/>
                <a:cs typeface="Aptos"/>
              </a:defRPr>
            </a:lvl3pPr>
            <a:lvl4pPr>
              <a:defRPr sz="1701" b="1" lang="en-US">
                <a:latin typeface="Aptos"/>
                <a:ea typeface="Aptos"/>
                <a:cs typeface="Aptos"/>
              </a:defRPr>
            </a:lvl4pPr>
            <a:lvl5pPr>
              <a:defRPr sz="1701" b="1" lang="en-US">
                <a:latin typeface="Aptos"/>
                <a:ea typeface="Aptos"/>
                <a:cs typeface="Aptos"/>
              </a:defRPr>
            </a:lvl5pPr>
            <a:lvl6pPr>
              <a:defRPr sz="1701" b="1" lang="en-US">
                <a:latin typeface="Aptos"/>
                <a:ea typeface="Aptos"/>
                <a:cs typeface="Aptos"/>
              </a:defRPr>
            </a:lvl6pPr>
            <a:lvl7pPr>
              <a:defRPr sz="1701" b="1" lang="en-US">
                <a:latin typeface="Aptos"/>
                <a:ea typeface="Aptos"/>
                <a:cs typeface="Aptos"/>
              </a:defRPr>
            </a:lvl7pPr>
            <a:lvl8pPr>
              <a:defRPr sz="1701" b="1" lang="en-US">
                <a:latin typeface="Aptos"/>
                <a:ea typeface="Aptos"/>
                <a:cs typeface="Aptos"/>
              </a:defRPr>
            </a:lvl8pPr>
            <a:lvl9pPr>
              <a:defRPr sz="17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701" b="1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Dispersed suppliers</a:t>
            </a:r>
            <a:endParaRPr sz="1700" lang="en-US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9D984AF-55EF-4BAD-BB78-9C17EBA2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328416"/>
            <a:ext cx="4937760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801" b="1" lang="en-US">
                <a:latin typeface="Aptos"/>
                <a:ea typeface="Aptos"/>
                <a:cs typeface="Aptos"/>
              </a:defRPr>
            </a:defPPr>
            <a:lvl1pPr>
              <a:defRPr sz="3801" b="1" lang="en-US">
                <a:latin typeface="Aptos"/>
                <a:ea typeface="Aptos"/>
                <a:cs typeface="Aptos"/>
              </a:defRPr>
            </a:lvl1pPr>
            <a:lvl2pPr>
              <a:defRPr sz="3801" b="1" lang="en-US">
                <a:latin typeface="Aptos"/>
                <a:ea typeface="Aptos"/>
                <a:cs typeface="Aptos"/>
              </a:defRPr>
            </a:lvl2pPr>
            <a:lvl3pPr>
              <a:defRPr sz="3801" b="1" lang="en-US">
                <a:latin typeface="Aptos"/>
                <a:ea typeface="Aptos"/>
                <a:cs typeface="Aptos"/>
              </a:defRPr>
            </a:lvl3pPr>
            <a:lvl4pPr>
              <a:defRPr sz="3801" b="1" lang="en-US">
                <a:latin typeface="Aptos"/>
                <a:ea typeface="Aptos"/>
                <a:cs typeface="Aptos"/>
              </a:defRPr>
            </a:lvl4pPr>
            <a:lvl5pPr>
              <a:defRPr sz="3801" b="1" lang="en-US">
                <a:latin typeface="Aptos"/>
                <a:ea typeface="Aptos"/>
                <a:cs typeface="Aptos"/>
              </a:defRPr>
            </a:lvl5pPr>
            <a:lvl6pPr>
              <a:defRPr sz="3801" b="1" lang="en-US">
                <a:latin typeface="Aptos"/>
                <a:ea typeface="Aptos"/>
                <a:cs typeface="Aptos"/>
              </a:defRPr>
            </a:lvl6pPr>
            <a:lvl7pPr>
              <a:defRPr sz="3801" b="1" lang="en-US">
                <a:latin typeface="Aptos"/>
                <a:ea typeface="Aptos"/>
                <a:cs typeface="Aptos"/>
              </a:defRPr>
            </a:lvl7pPr>
            <a:lvl8pPr>
              <a:defRPr sz="3801" b="1" lang="en-US">
                <a:latin typeface="Aptos"/>
                <a:ea typeface="Aptos"/>
                <a:cs typeface="Aptos"/>
              </a:defRPr>
            </a:lvl8pPr>
            <a:lvl9pPr>
              <a:defRPr sz="38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3801" b="1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20 weeks</a:t>
            </a:r>
            <a:endParaRPr sz="3800" lang="en-US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C2C0B59-8216-478B-8797-E6E9147A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993392"/>
            <a:ext cx="5367528" cy="2350008"/>
          </a:xfrm>
          <a:prstGeom xmlns:a="http://schemas.openxmlformats.org/drawingml/2006/main" prst="roundRect">
            <a:avLst>
              <a:gd name="adj" fmla="val 70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234B445-8326-4526-A8C6-FC559853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267712"/>
            <a:ext cx="1517904" cy="338328"/>
          </a:xfrm>
          <a:prstGeom xmlns:a="http://schemas.openxmlformats.org/drawingml/2006/main" prst="roundRect">
            <a:avLst>
              <a:gd name="adj" fmla="val 43243"/>
            </a:avLst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B109B46-8561-4BD0-A50E-43EA10A5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286000"/>
            <a:ext cx="129844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40" b="1" lang="en-US">
                <a:latin typeface="Aptos"/>
                <a:ea typeface="Aptos"/>
                <a:cs typeface="Aptos"/>
              </a:defRPr>
            </a:defPPr>
            <a:lvl1pPr>
              <a:defRPr sz="1040" b="1" lang="en-US">
                <a:latin typeface="Aptos"/>
                <a:ea typeface="Aptos"/>
                <a:cs typeface="Aptos"/>
              </a:defRPr>
            </a:lvl1pPr>
            <a:lvl2pPr>
              <a:defRPr sz="1040" b="1" lang="en-US">
                <a:latin typeface="Aptos"/>
                <a:ea typeface="Aptos"/>
                <a:cs typeface="Aptos"/>
              </a:defRPr>
            </a:lvl2pPr>
            <a:lvl3pPr>
              <a:defRPr sz="1040" b="1" lang="en-US">
                <a:latin typeface="Aptos"/>
                <a:ea typeface="Aptos"/>
                <a:cs typeface="Aptos"/>
              </a:defRPr>
            </a:lvl3pPr>
            <a:lvl4pPr>
              <a:defRPr sz="1040" b="1" lang="en-US">
                <a:latin typeface="Aptos"/>
                <a:ea typeface="Aptos"/>
                <a:cs typeface="Aptos"/>
              </a:defRPr>
            </a:lvl4pPr>
            <a:lvl5pPr>
              <a:defRPr sz="1040" b="1" lang="en-US">
                <a:latin typeface="Aptos"/>
                <a:ea typeface="Aptos"/>
                <a:cs typeface="Aptos"/>
              </a:defRPr>
            </a:lvl5pPr>
            <a:lvl6pPr>
              <a:defRPr sz="1040" b="1" lang="en-US">
                <a:latin typeface="Aptos"/>
                <a:ea typeface="Aptos"/>
                <a:cs typeface="Aptos"/>
              </a:defRPr>
            </a:lvl6pPr>
            <a:lvl7pPr>
              <a:defRPr sz="1040" b="1" lang="en-US">
                <a:latin typeface="Aptos"/>
                <a:ea typeface="Aptos"/>
                <a:cs typeface="Aptos"/>
              </a:defRPr>
            </a:lvl7pPr>
            <a:lvl8pPr>
              <a:defRPr sz="1040" b="1" lang="en-US">
                <a:latin typeface="Aptos"/>
                <a:ea typeface="Aptos"/>
                <a:cs typeface="Aptos"/>
              </a:defRPr>
            </a:lvl8pPr>
            <a:lvl9pPr>
              <a:defRPr sz="104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040" b="1" spc="70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COMPANY B</a:t>
            </a:r>
            <a:endParaRPr sz="1040" lang="en-US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B06EC52-B1CA-4A3B-A7AB-7EAB2EBA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807208"/>
            <a:ext cx="47548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01" b="1" lang="en-US">
                <a:latin typeface="Aptos"/>
                <a:ea typeface="Aptos"/>
                <a:cs typeface="Aptos"/>
              </a:defRPr>
            </a:defPPr>
            <a:lvl1pPr>
              <a:defRPr sz="1701" b="1" lang="en-US">
                <a:latin typeface="Aptos"/>
                <a:ea typeface="Aptos"/>
                <a:cs typeface="Aptos"/>
              </a:defRPr>
            </a:lvl1pPr>
            <a:lvl2pPr>
              <a:defRPr sz="1701" b="1" lang="en-US">
                <a:latin typeface="Aptos"/>
                <a:ea typeface="Aptos"/>
                <a:cs typeface="Aptos"/>
              </a:defRPr>
            </a:lvl2pPr>
            <a:lvl3pPr>
              <a:defRPr sz="1701" b="1" lang="en-US">
                <a:latin typeface="Aptos"/>
                <a:ea typeface="Aptos"/>
                <a:cs typeface="Aptos"/>
              </a:defRPr>
            </a:lvl3pPr>
            <a:lvl4pPr>
              <a:defRPr sz="1701" b="1" lang="en-US">
                <a:latin typeface="Aptos"/>
                <a:ea typeface="Aptos"/>
                <a:cs typeface="Aptos"/>
              </a:defRPr>
            </a:lvl4pPr>
            <a:lvl5pPr>
              <a:defRPr sz="1701" b="1" lang="en-US">
                <a:latin typeface="Aptos"/>
                <a:ea typeface="Aptos"/>
                <a:cs typeface="Aptos"/>
              </a:defRPr>
            </a:lvl5pPr>
            <a:lvl6pPr>
              <a:defRPr sz="1701" b="1" lang="en-US">
                <a:latin typeface="Aptos"/>
                <a:ea typeface="Aptos"/>
                <a:cs typeface="Aptos"/>
              </a:defRPr>
            </a:lvl6pPr>
            <a:lvl7pPr>
              <a:defRPr sz="1701" b="1" lang="en-US">
                <a:latin typeface="Aptos"/>
                <a:ea typeface="Aptos"/>
                <a:cs typeface="Aptos"/>
              </a:defRPr>
            </a:lvl7pPr>
            <a:lvl8pPr>
              <a:defRPr sz="1701" b="1" lang="en-US">
                <a:latin typeface="Aptos"/>
                <a:ea typeface="Aptos"/>
                <a:cs typeface="Aptos"/>
              </a:defRPr>
            </a:lvl8pPr>
            <a:lvl9pPr>
              <a:defRPr sz="17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701" b="1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Integrated supplier network</a:t>
            </a:r>
            <a:endParaRPr sz="1700" lang="en-US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32AC20F-5B43-444B-9637-F40046D5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28416"/>
            <a:ext cx="4937760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801" b="1" lang="en-US">
                <a:latin typeface="Aptos"/>
                <a:ea typeface="Aptos"/>
                <a:cs typeface="Aptos"/>
              </a:defRPr>
            </a:defPPr>
            <a:lvl1pPr>
              <a:defRPr sz="3801" b="1" lang="en-US">
                <a:latin typeface="Aptos"/>
                <a:ea typeface="Aptos"/>
                <a:cs typeface="Aptos"/>
              </a:defRPr>
            </a:lvl1pPr>
            <a:lvl2pPr>
              <a:defRPr sz="3801" b="1" lang="en-US">
                <a:latin typeface="Aptos"/>
                <a:ea typeface="Aptos"/>
                <a:cs typeface="Aptos"/>
              </a:defRPr>
            </a:lvl2pPr>
            <a:lvl3pPr>
              <a:defRPr sz="3801" b="1" lang="en-US">
                <a:latin typeface="Aptos"/>
                <a:ea typeface="Aptos"/>
                <a:cs typeface="Aptos"/>
              </a:defRPr>
            </a:lvl3pPr>
            <a:lvl4pPr>
              <a:defRPr sz="3801" b="1" lang="en-US">
                <a:latin typeface="Aptos"/>
                <a:ea typeface="Aptos"/>
                <a:cs typeface="Aptos"/>
              </a:defRPr>
            </a:lvl4pPr>
            <a:lvl5pPr>
              <a:defRPr sz="3801" b="1" lang="en-US">
                <a:latin typeface="Aptos"/>
                <a:ea typeface="Aptos"/>
                <a:cs typeface="Aptos"/>
              </a:defRPr>
            </a:lvl5pPr>
            <a:lvl6pPr>
              <a:defRPr sz="3801" b="1" lang="en-US">
                <a:latin typeface="Aptos"/>
                <a:ea typeface="Aptos"/>
                <a:cs typeface="Aptos"/>
              </a:defRPr>
            </a:lvl6pPr>
            <a:lvl7pPr>
              <a:defRPr sz="3801" b="1" lang="en-US">
                <a:latin typeface="Aptos"/>
                <a:ea typeface="Aptos"/>
                <a:cs typeface="Aptos"/>
              </a:defRPr>
            </a:lvl7pPr>
            <a:lvl8pPr>
              <a:defRPr sz="3801" b="1" lang="en-US">
                <a:latin typeface="Aptos"/>
                <a:ea typeface="Aptos"/>
                <a:cs typeface="Aptos"/>
              </a:defRPr>
            </a:lvl8pPr>
            <a:lvl9pPr>
              <a:defRPr sz="38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3801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8 weeks</a:t>
            </a:r>
            <a:endParaRPr sz="3800" lang="en-US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E161BD6-7694-426D-B3CC-F534E8A6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617720"/>
            <a:ext cx="10927080" cy="749808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C6E9E6"/>
          </a:solidFill>
          <a:ln xmlns:a="http://schemas.openxmlformats.org/drawingml/2006/main" w="12700">
            <a:solidFill>
              <a:srgbClr val="C6E9E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6E72993-548F-4976-A7B1-A32F022C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764024"/>
            <a:ext cx="104515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01" b="1" lang="en-US">
                <a:latin typeface="Aptos"/>
                <a:ea typeface="Aptos"/>
                <a:cs typeface="Aptos"/>
              </a:defRPr>
            </a:defPPr>
            <a:lvl1pPr>
              <a:defRPr sz="1701" b="1" lang="en-US">
                <a:latin typeface="Aptos"/>
                <a:ea typeface="Aptos"/>
                <a:cs typeface="Aptos"/>
              </a:defRPr>
            </a:lvl1pPr>
            <a:lvl2pPr>
              <a:defRPr sz="1701" b="1" lang="en-US">
                <a:latin typeface="Aptos"/>
                <a:ea typeface="Aptos"/>
                <a:cs typeface="Aptos"/>
              </a:defRPr>
            </a:lvl2pPr>
            <a:lvl3pPr>
              <a:defRPr sz="1701" b="1" lang="en-US">
                <a:latin typeface="Aptos"/>
                <a:ea typeface="Aptos"/>
                <a:cs typeface="Aptos"/>
              </a:defRPr>
            </a:lvl3pPr>
            <a:lvl4pPr>
              <a:defRPr sz="1701" b="1" lang="en-US">
                <a:latin typeface="Aptos"/>
                <a:ea typeface="Aptos"/>
                <a:cs typeface="Aptos"/>
              </a:defRPr>
            </a:lvl4pPr>
            <a:lvl5pPr>
              <a:defRPr sz="1701" b="1" lang="en-US">
                <a:latin typeface="Aptos"/>
                <a:ea typeface="Aptos"/>
                <a:cs typeface="Aptos"/>
              </a:defRPr>
            </a:lvl5pPr>
            <a:lvl6pPr>
              <a:defRPr sz="1701" b="1" lang="en-US">
                <a:latin typeface="Aptos"/>
                <a:ea typeface="Aptos"/>
                <a:cs typeface="Aptos"/>
              </a:defRPr>
            </a:lvl6pPr>
            <a:lvl7pPr>
              <a:defRPr sz="1701" b="1" lang="en-US">
                <a:latin typeface="Aptos"/>
                <a:ea typeface="Aptos"/>
                <a:cs typeface="Aptos"/>
              </a:defRPr>
            </a:lvl7pPr>
            <a:lvl8pPr>
              <a:defRPr sz="1701" b="1" lang="en-US">
                <a:latin typeface="Aptos"/>
                <a:ea typeface="Aptos"/>
                <a:cs typeface="Aptos"/>
              </a:defRPr>
            </a:lvl8pPr>
            <a:lvl9pPr>
              <a:defRPr sz="17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70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The difference is not “innate intelligence”: it is coordination, prototypes, learning, and logistics.</a:t>
            </a:r>
            <a:endParaRPr sz="1800" lang="en-US"/>
          </a:p>
        </p:txBody>
      </p:sp>
    </p:spTree>
    <p:extLst>
      <p:ext uri="{BB962C8B-B14F-4D97-AF65-F5344CB8AC3E}">
        <p14:creationId xmlns:p14="http://schemas.microsoft.com/office/powerpoint/2010/main" val="16334667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CC42016-559C-4440-B290-A121E577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INSTITUTIONS AND COMPETITION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54D2347-14E6-4B6F-965F-FBA848AD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Planning, local experimentation, and competition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2D64042-4F07-4791-B33E-787C6A33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Central coordination coexists with provincial experimentation and business competition.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8368C25-0E66-421C-9BCF-93B2C8FA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1938528"/>
            <a:ext cx="5376672" cy="1344168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4661BAC-B92B-4D88-99EC-4C1C369A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1938528"/>
            <a:ext cx="82296" cy="1344168"/>
          </a:xfrm>
          <a:prstGeom xmlns:a="http://schemas.openxmlformats.org/drawingml/2006/main" prst="roundRect">
            <a:avLst>
              <a:gd name="adj" fmla="val 177778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CCA9F0-3868-4147-A9F4-A1C0FDA3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167128"/>
            <a:ext cx="468172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99" b="1" lang="en-US">
                <a:latin typeface="Aptos"/>
                <a:ea typeface="Aptos"/>
                <a:cs typeface="Aptos"/>
              </a:defRPr>
            </a:defPPr>
            <a:lvl1pPr>
              <a:defRPr sz="1899" b="1" lang="en-US">
                <a:latin typeface="Aptos"/>
                <a:ea typeface="Aptos"/>
                <a:cs typeface="Aptos"/>
              </a:defRPr>
            </a:lvl1pPr>
            <a:lvl2pPr>
              <a:defRPr sz="1899" b="1" lang="en-US">
                <a:latin typeface="Aptos"/>
                <a:ea typeface="Aptos"/>
                <a:cs typeface="Aptos"/>
              </a:defRPr>
            </a:lvl2pPr>
            <a:lvl3pPr>
              <a:defRPr sz="1899" b="1" lang="en-US">
                <a:latin typeface="Aptos"/>
                <a:ea typeface="Aptos"/>
                <a:cs typeface="Aptos"/>
              </a:defRPr>
            </a:lvl3pPr>
            <a:lvl4pPr>
              <a:defRPr sz="1899" b="1" lang="en-US">
                <a:latin typeface="Aptos"/>
                <a:ea typeface="Aptos"/>
                <a:cs typeface="Aptos"/>
              </a:defRPr>
            </a:lvl4pPr>
            <a:lvl5pPr>
              <a:defRPr sz="1899" b="1" lang="en-US">
                <a:latin typeface="Aptos"/>
                <a:ea typeface="Aptos"/>
                <a:cs typeface="Aptos"/>
              </a:defRPr>
            </a:lvl5pPr>
            <a:lvl6pPr>
              <a:defRPr sz="1899" b="1" lang="en-US">
                <a:latin typeface="Aptos"/>
                <a:ea typeface="Aptos"/>
                <a:cs typeface="Aptos"/>
              </a:defRPr>
            </a:lvl6pPr>
            <a:lvl7pPr>
              <a:defRPr sz="1899" b="1" lang="en-US">
                <a:latin typeface="Aptos"/>
                <a:ea typeface="Aptos"/>
                <a:cs typeface="Aptos"/>
              </a:defRPr>
            </a:lvl7pPr>
            <a:lvl8pPr>
              <a:defRPr sz="1899" b="1" lang="en-US">
                <a:latin typeface="Aptos"/>
                <a:ea typeface="Aptos"/>
                <a:cs typeface="Aptos"/>
              </a:defRPr>
            </a:lvl8pPr>
            <a:lvl9pPr>
              <a:defRPr sz="18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8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CENTRAL GOVERNMENT</a:t>
            </a:r>
            <a:endParaRPr sz="1900" lang="en-US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EECE9C-316D-46D8-8E6A-77F10C4E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697480"/>
            <a:ext cx="466344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Plans, standards, priorities</a:t>
            </a:r>
            <a:endParaRPr sz="1400" lang="en-US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7283245-5DE1-4B0B-AE95-E7BA383A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1938528"/>
            <a:ext cx="5376672" cy="1344168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F91C37E-EEB0-4C99-B781-A07C2356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1938528"/>
            <a:ext cx="82296" cy="1344168"/>
          </a:xfrm>
          <a:prstGeom xmlns:a="http://schemas.openxmlformats.org/drawingml/2006/main" prst="roundRect">
            <a:avLst>
              <a:gd name="adj" fmla="val 177778"/>
            </a:avLst>
          </a:prstGeom>
          <a:solidFill xmlns:a="http://schemas.openxmlformats.org/drawingml/2006/main">
            <a:srgbClr val="E6AB50"/>
          </a:solidFill>
          <a:ln xmlns:a="http://schemas.openxmlformats.org/drawingml/2006/main" w="12700">
            <a:solidFill>
              <a:srgbClr val="E6AB5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581934D-1168-49D2-9001-90C57A2B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167128"/>
            <a:ext cx="468172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99" b="1" lang="en-US">
                <a:latin typeface="Aptos"/>
                <a:ea typeface="Aptos"/>
                <a:cs typeface="Aptos"/>
              </a:defRPr>
            </a:defPPr>
            <a:lvl1pPr>
              <a:defRPr sz="1899" b="1" lang="en-US">
                <a:latin typeface="Aptos"/>
                <a:ea typeface="Aptos"/>
                <a:cs typeface="Aptos"/>
              </a:defRPr>
            </a:lvl1pPr>
            <a:lvl2pPr>
              <a:defRPr sz="1899" b="1" lang="en-US">
                <a:latin typeface="Aptos"/>
                <a:ea typeface="Aptos"/>
                <a:cs typeface="Aptos"/>
              </a:defRPr>
            </a:lvl2pPr>
            <a:lvl3pPr>
              <a:defRPr sz="1899" b="1" lang="en-US">
                <a:latin typeface="Aptos"/>
                <a:ea typeface="Aptos"/>
                <a:cs typeface="Aptos"/>
              </a:defRPr>
            </a:lvl3pPr>
            <a:lvl4pPr>
              <a:defRPr sz="1899" b="1" lang="en-US">
                <a:latin typeface="Aptos"/>
                <a:ea typeface="Aptos"/>
                <a:cs typeface="Aptos"/>
              </a:defRPr>
            </a:lvl4pPr>
            <a:lvl5pPr>
              <a:defRPr sz="1899" b="1" lang="en-US">
                <a:latin typeface="Aptos"/>
                <a:ea typeface="Aptos"/>
                <a:cs typeface="Aptos"/>
              </a:defRPr>
            </a:lvl5pPr>
            <a:lvl6pPr>
              <a:defRPr sz="1899" b="1" lang="en-US">
                <a:latin typeface="Aptos"/>
                <a:ea typeface="Aptos"/>
                <a:cs typeface="Aptos"/>
              </a:defRPr>
            </a:lvl6pPr>
            <a:lvl7pPr>
              <a:defRPr sz="1899" b="1" lang="en-US">
                <a:latin typeface="Aptos"/>
                <a:ea typeface="Aptos"/>
                <a:cs typeface="Aptos"/>
              </a:defRPr>
            </a:lvl7pPr>
            <a:lvl8pPr>
              <a:defRPr sz="1899" b="1" lang="en-US">
                <a:latin typeface="Aptos"/>
                <a:ea typeface="Aptos"/>
                <a:cs typeface="Aptos"/>
              </a:defRPr>
            </a:lvl8pPr>
            <a:lvl9pPr>
              <a:defRPr sz="18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8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LOCAL GOVERNMENTS</a:t>
            </a:r>
            <a:endParaRPr sz="1900" lang="en-US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2B7A7BE-9B0C-48FA-A3EA-35FFD270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697480"/>
            <a:ext cx="466344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Industrial parks, infrastructure, incentives</a:t>
            </a:r>
            <a:endParaRPr sz="1400" lang="en-US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ADDFA6A-25FE-40E0-A7C8-511A9CF7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3511296"/>
            <a:ext cx="5376672" cy="1344168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2D88F5ED-646C-427A-B01B-88804196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3511296"/>
            <a:ext cx="82296" cy="1344168"/>
          </a:xfrm>
          <a:prstGeom xmlns:a="http://schemas.openxmlformats.org/drawingml/2006/main" prst="roundRect">
            <a:avLst>
              <a:gd name="adj" fmla="val 177778"/>
            </a:avLst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B038C11-6407-46E6-9096-E5BAB402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739896"/>
            <a:ext cx="468172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99" b="1" lang="en-US">
                <a:latin typeface="Aptos"/>
                <a:ea typeface="Aptos"/>
                <a:cs typeface="Aptos"/>
              </a:defRPr>
            </a:defPPr>
            <a:lvl1pPr>
              <a:defRPr sz="1899" b="1" lang="en-US">
                <a:latin typeface="Aptos"/>
                <a:ea typeface="Aptos"/>
                <a:cs typeface="Aptos"/>
              </a:defRPr>
            </a:lvl1pPr>
            <a:lvl2pPr>
              <a:defRPr sz="1899" b="1" lang="en-US">
                <a:latin typeface="Aptos"/>
                <a:ea typeface="Aptos"/>
                <a:cs typeface="Aptos"/>
              </a:defRPr>
            </a:lvl2pPr>
            <a:lvl3pPr>
              <a:defRPr sz="1899" b="1" lang="en-US">
                <a:latin typeface="Aptos"/>
                <a:ea typeface="Aptos"/>
                <a:cs typeface="Aptos"/>
              </a:defRPr>
            </a:lvl3pPr>
            <a:lvl4pPr>
              <a:defRPr sz="1899" b="1" lang="en-US">
                <a:latin typeface="Aptos"/>
                <a:ea typeface="Aptos"/>
                <a:cs typeface="Aptos"/>
              </a:defRPr>
            </a:lvl4pPr>
            <a:lvl5pPr>
              <a:defRPr sz="1899" b="1" lang="en-US">
                <a:latin typeface="Aptos"/>
                <a:ea typeface="Aptos"/>
                <a:cs typeface="Aptos"/>
              </a:defRPr>
            </a:lvl5pPr>
            <a:lvl6pPr>
              <a:defRPr sz="1899" b="1" lang="en-US">
                <a:latin typeface="Aptos"/>
                <a:ea typeface="Aptos"/>
                <a:cs typeface="Aptos"/>
              </a:defRPr>
            </a:lvl6pPr>
            <a:lvl7pPr>
              <a:defRPr sz="1899" b="1" lang="en-US">
                <a:latin typeface="Aptos"/>
                <a:ea typeface="Aptos"/>
                <a:cs typeface="Aptos"/>
              </a:defRPr>
            </a:lvl7pPr>
            <a:lvl8pPr>
              <a:defRPr sz="1899" b="1" lang="en-US">
                <a:latin typeface="Aptos"/>
                <a:ea typeface="Aptos"/>
                <a:cs typeface="Aptos"/>
              </a:defRPr>
            </a:lvl8pPr>
            <a:lvl9pPr>
              <a:defRPr sz="18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8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COMPANIES</a:t>
            </a:r>
            <a:endParaRPr sz="1900" lang="en-US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878DE4B-9929-4475-836A-336C7AED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270248"/>
            <a:ext cx="466344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Design, manufacturing, competition</a:t>
            </a:r>
            <a:endParaRPr sz="1400" lang="en-US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8D7D068-D7EB-43B1-9E0F-2A371F73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3511296"/>
            <a:ext cx="5376672" cy="1344168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2229AFB-CE1C-4E73-95CA-9134BC82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3511296"/>
            <a:ext cx="82296" cy="1344168"/>
          </a:xfrm>
          <a:prstGeom xmlns:a="http://schemas.openxmlformats.org/drawingml/2006/main" prst="roundRect">
            <a:avLst>
              <a:gd name="adj" fmla="val 177778"/>
            </a:avLst>
          </a:prstGeom>
          <a:solidFill xmlns:a="http://schemas.openxmlformats.org/drawingml/2006/main">
            <a:srgbClr val="203954"/>
          </a:solidFill>
          <a:ln xmlns:a="http://schemas.openxmlformats.org/drawingml/2006/main" w="12700">
            <a:solidFill>
              <a:srgbClr val="203954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C4B4BDA-836C-49D1-90C9-F9429051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739896"/>
            <a:ext cx="468172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99" b="1" lang="en-US">
                <a:latin typeface="Aptos"/>
                <a:ea typeface="Aptos"/>
                <a:cs typeface="Aptos"/>
              </a:defRPr>
            </a:defPPr>
            <a:lvl1pPr>
              <a:defRPr sz="1899" b="1" lang="en-US">
                <a:latin typeface="Aptos"/>
                <a:ea typeface="Aptos"/>
                <a:cs typeface="Aptos"/>
              </a:defRPr>
            </a:lvl1pPr>
            <a:lvl2pPr>
              <a:defRPr sz="1899" b="1" lang="en-US">
                <a:latin typeface="Aptos"/>
                <a:ea typeface="Aptos"/>
                <a:cs typeface="Aptos"/>
              </a:defRPr>
            </a:lvl2pPr>
            <a:lvl3pPr>
              <a:defRPr sz="1899" b="1" lang="en-US">
                <a:latin typeface="Aptos"/>
                <a:ea typeface="Aptos"/>
                <a:cs typeface="Aptos"/>
              </a:defRPr>
            </a:lvl3pPr>
            <a:lvl4pPr>
              <a:defRPr sz="1899" b="1" lang="en-US">
                <a:latin typeface="Aptos"/>
                <a:ea typeface="Aptos"/>
                <a:cs typeface="Aptos"/>
              </a:defRPr>
            </a:lvl4pPr>
            <a:lvl5pPr>
              <a:defRPr sz="1899" b="1" lang="en-US">
                <a:latin typeface="Aptos"/>
                <a:ea typeface="Aptos"/>
                <a:cs typeface="Aptos"/>
              </a:defRPr>
            </a:lvl5pPr>
            <a:lvl6pPr>
              <a:defRPr sz="1899" b="1" lang="en-US">
                <a:latin typeface="Aptos"/>
                <a:ea typeface="Aptos"/>
                <a:cs typeface="Aptos"/>
              </a:defRPr>
            </a:lvl6pPr>
            <a:lvl7pPr>
              <a:defRPr sz="1899" b="1" lang="en-US">
                <a:latin typeface="Aptos"/>
                <a:ea typeface="Aptos"/>
                <a:cs typeface="Aptos"/>
              </a:defRPr>
            </a:lvl7pPr>
            <a:lvl8pPr>
              <a:defRPr sz="1899" b="1" lang="en-US">
                <a:latin typeface="Aptos"/>
                <a:ea typeface="Aptos"/>
                <a:cs typeface="Aptos"/>
              </a:defRPr>
            </a:lvl8pPr>
            <a:lvl9pPr>
              <a:defRPr sz="18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8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SUPPLIERS</a:t>
            </a:r>
            <a:endParaRPr sz="1900" lang="en-US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46A705B-4D4E-436C-8E1C-0BCF637B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270248"/>
            <a:ext cx="466344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Components, lead times, improvements</a:t>
            </a:r>
            <a:endParaRPr sz="1400" lang="en-US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1638A07-1D5A-4ECC-9DF4-58218FC5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5632704"/>
            <a:ext cx="105156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01" b="1" lang="en-US">
                <a:latin typeface="Aptos"/>
                <a:ea typeface="Aptos"/>
                <a:cs typeface="Aptos"/>
              </a:defRPr>
            </a:defPPr>
            <a:lvl1pPr>
              <a:defRPr sz="1701" b="1" lang="en-US">
                <a:latin typeface="Aptos"/>
                <a:ea typeface="Aptos"/>
                <a:cs typeface="Aptos"/>
              </a:defRPr>
            </a:lvl1pPr>
            <a:lvl2pPr>
              <a:defRPr sz="1701" b="1" lang="en-US">
                <a:latin typeface="Aptos"/>
                <a:ea typeface="Aptos"/>
                <a:cs typeface="Aptos"/>
              </a:defRPr>
            </a:lvl2pPr>
            <a:lvl3pPr>
              <a:defRPr sz="1701" b="1" lang="en-US">
                <a:latin typeface="Aptos"/>
                <a:ea typeface="Aptos"/>
                <a:cs typeface="Aptos"/>
              </a:defRPr>
            </a:lvl3pPr>
            <a:lvl4pPr>
              <a:defRPr sz="1701" b="1" lang="en-US">
                <a:latin typeface="Aptos"/>
                <a:ea typeface="Aptos"/>
                <a:cs typeface="Aptos"/>
              </a:defRPr>
            </a:lvl4pPr>
            <a:lvl5pPr>
              <a:defRPr sz="1701" b="1" lang="en-US">
                <a:latin typeface="Aptos"/>
                <a:ea typeface="Aptos"/>
                <a:cs typeface="Aptos"/>
              </a:defRPr>
            </a:lvl5pPr>
            <a:lvl6pPr>
              <a:defRPr sz="1701" b="1" lang="en-US">
                <a:latin typeface="Aptos"/>
                <a:ea typeface="Aptos"/>
                <a:cs typeface="Aptos"/>
              </a:defRPr>
            </a:lvl6pPr>
            <a:lvl7pPr>
              <a:defRPr sz="1701" b="1" lang="en-US">
                <a:latin typeface="Aptos"/>
                <a:ea typeface="Aptos"/>
                <a:cs typeface="Aptos"/>
              </a:defRPr>
            </a:lvl7pPr>
            <a:lvl8pPr>
              <a:defRPr sz="1701" b="1" lang="en-US">
                <a:latin typeface="Aptos"/>
                <a:ea typeface="Aptos"/>
                <a:cs typeface="Aptos"/>
              </a:defRPr>
            </a:lvl8pPr>
            <a:lvl9pPr>
              <a:defRPr sz="17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701" b="1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POTENTIAL ADVANTAGE: learning   /   RISK: overinvestment and duplication</a:t>
            </a:r>
            <a:endParaRPr sz="1700" lang="en-US"/>
          </a:p>
        </p:txBody>
      </p:sp>
    </p:spTree>
    <p:extLst>
      <p:ext uri="{BB962C8B-B14F-4D97-AF65-F5344CB8AC3E}">
        <p14:creationId xmlns:p14="http://schemas.microsoft.com/office/powerpoint/2010/main" val="13826159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52F0C08-602E-41CA-88CD-956D2867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INDUSTRIAL GEOGRAPHY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12C840-FAED-48A5-876C-7A1D352B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China is a network of technological hubs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C110825-1F49-4700-9B64-5E366D82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Specializations are not exclusive: they overlap and evolve.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5F90012-57A8-4B34-BCD8-8462CE8F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74520"/>
            <a:ext cx="10698480" cy="59436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A5F25B6-77C7-450A-AF8B-C367B999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048256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BB27143-32DF-4C9D-BA65-5AF943A5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993392"/>
            <a:ext cx="3995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59" b="1" lang="en-US">
                <a:latin typeface="Aptos"/>
                <a:ea typeface="Aptos"/>
                <a:cs typeface="Aptos"/>
              </a:defRPr>
            </a:defPPr>
            <a:lvl1pPr>
              <a:defRPr sz="1559" b="1" lang="en-US">
                <a:latin typeface="Aptos"/>
                <a:ea typeface="Aptos"/>
                <a:cs typeface="Aptos"/>
              </a:defRPr>
            </a:lvl1pPr>
            <a:lvl2pPr>
              <a:defRPr sz="1559" b="1" lang="en-US">
                <a:latin typeface="Aptos"/>
                <a:ea typeface="Aptos"/>
                <a:cs typeface="Aptos"/>
              </a:defRPr>
            </a:lvl2pPr>
            <a:lvl3pPr>
              <a:defRPr sz="1559" b="1" lang="en-US">
                <a:latin typeface="Aptos"/>
                <a:ea typeface="Aptos"/>
                <a:cs typeface="Aptos"/>
              </a:defRPr>
            </a:lvl3pPr>
            <a:lvl4pPr>
              <a:defRPr sz="1559" b="1" lang="en-US">
                <a:latin typeface="Aptos"/>
                <a:ea typeface="Aptos"/>
                <a:cs typeface="Aptos"/>
              </a:defRPr>
            </a:lvl4pPr>
            <a:lvl5pPr>
              <a:defRPr sz="1559" b="1" lang="en-US">
                <a:latin typeface="Aptos"/>
                <a:ea typeface="Aptos"/>
                <a:cs typeface="Aptos"/>
              </a:defRPr>
            </a:lvl5pPr>
            <a:lvl6pPr>
              <a:defRPr sz="1559" b="1" lang="en-US">
                <a:latin typeface="Aptos"/>
                <a:ea typeface="Aptos"/>
                <a:cs typeface="Aptos"/>
              </a:defRPr>
            </a:lvl6pPr>
            <a:lvl7pPr>
              <a:defRPr sz="1559" b="1" lang="en-US">
                <a:latin typeface="Aptos"/>
                <a:ea typeface="Aptos"/>
                <a:cs typeface="Aptos"/>
              </a:defRPr>
            </a:lvl7pPr>
            <a:lvl8pPr>
              <a:defRPr sz="1559" b="1" lang="en-US">
                <a:latin typeface="Aptos"/>
                <a:ea typeface="Aptos"/>
                <a:cs typeface="Aptos"/>
              </a:defRPr>
            </a:lvl8pPr>
            <a:lvl9pPr>
              <a:defRPr sz="155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55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BEIJING</a:t>
            </a:r>
            <a:endParaRPr sz="1560" lang="en-US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3E44040-4BDC-4032-8187-91FBF6A8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2011680"/>
            <a:ext cx="5577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29" lang="en-US">
                <a:latin typeface="Aptos"/>
                <a:ea typeface="Aptos"/>
                <a:cs typeface="Aptos"/>
              </a:defRPr>
            </a:defPPr>
            <a:lvl1pPr>
              <a:defRPr sz="1429" lang="en-US">
                <a:latin typeface="Aptos"/>
                <a:ea typeface="Aptos"/>
                <a:cs typeface="Aptos"/>
              </a:defRPr>
            </a:lvl1pPr>
            <a:lvl2pPr>
              <a:defRPr sz="1429" lang="en-US">
                <a:latin typeface="Aptos"/>
                <a:ea typeface="Aptos"/>
                <a:cs typeface="Aptos"/>
              </a:defRPr>
            </a:lvl2pPr>
            <a:lvl3pPr>
              <a:defRPr sz="1429" lang="en-US">
                <a:latin typeface="Aptos"/>
                <a:ea typeface="Aptos"/>
                <a:cs typeface="Aptos"/>
              </a:defRPr>
            </a:lvl3pPr>
            <a:lvl4pPr>
              <a:defRPr sz="1429" lang="en-US">
                <a:latin typeface="Aptos"/>
                <a:ea typeface="Aptos"/>
                <a:cs typeface="Aptos"/>
              </a:defRPr>
            </a:lvl4pPr>
            <a:lvl5pPr>
              <a:defRPr sz="1429" lang="en-US">
                <a:latin typeface="Aptos"/>
                <a:ea typeface="Aptos"/>
                <a:cs typeface="Aptos"/>
              </a:defRPr>
            </a:lvl5pPr>
            <a:lvl6pPr>
              <a:defRPr sz="1429" lang="en-US">
                <a:latin typeface="Aptos"/>
                <a:ea typeface="Aptos"/>
                <a:cs typeface="Aptos"/>
              </a:defRPr>
            </a:lvl6pPr>
            <a:lvl7pPr>
              <a:defRPr sz="1429" lang="en-US">
                <a:latin typeface="Aptos"/>
                <a:ea typeface="Aptos"/>
                <a:cs typeface="Aptos"/>
              </a:defRPr>
            </a:lvl7pPr>
            <a:lvl8pPr>
              <a:defRPr sz="1429" lang="en-US">
                <a:latin typeface="Aptos"/>
                <a:ea typeface="Aptos"/>
                <a:cs typeface="Aptos"/>
              </a:defRPr>
            </a:lvl8pPr>
            <a:lvl9pPr>
              <a:defRPr sz="142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2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Universities, research, AI</a:t>
            </a:r>
            <a:endParaRPr sz="1430" lang="en-US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6F4C62F-6DD2-4A5A-8756-D47ADA60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33472"/>
            <a:ext cx="10698480" cy="59436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F2A4D01-5F3D-4DE5-A216-35530530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07208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5AE149D-C2A3-4594-9FD1-7C2C39D9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752344"/>
            <a:ext cx="3995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59" b="1" lang="en-US">
                <a:latin typeface="Aptos"/>
                <a:ea typeface="Aptos"/>
                <a:cs typeface="Aptos"/>
              </a:defRPr>
            </a:defPPr>
            <a:lvl1pPr>
              <a:defRPr sz="1559" b="1" lang="en-US">
                <a:latin typeface="Aptos"/>
                <a:ea typeface="Aptos"/>
                <a:cs typeface="Aptos"/>
              </a:defRPr>
            </a:lvl1pPr>
            <a:lvl2pPr>
              <a:defRPr sz="1559" b="1" lang="en-US">
                <a:latin typeface="Aptos"/>
                <a:ea typeface="Aptos"/>
                <a:cs typeface="Aptos"/>
              </a:defRPr>
            </a:lvl2pPr>
            <a:lvl3pPr>
              <a:defRPr sz="1559" b="1" lang="en-US">
                <a:latin typeface="Aptos"/>
                <a:ea typeface="Aptos"/>
                <a:cs typeface="Aptos"/>
              </a:defRPr>
            </a:lvl3pPr>
            <a:lvl4pPr>
              <a:defRPr sz="1559" b="1" lang="en-US">
                <a:latin typeface="Aptos"/>
                <a:ea typeface="Aptos"/>
                <a:cs typeface="Aptos"/>
              </a:defRPr>
            </a:lvl4pPr>
            <a:lvl5pPr>
              <a:defRPr sz="1559" b="1" lang="en-US">
                <a:latin typeface="Aptos"/>
                <a:ea typeface="Aptos"/>
                <a:cs typeface="Aptos"/>
              </a:defRPr>
            </a:lvl5pPr>
            <a:lvl6pPr>
              <a:defRPr sz="1559" b="1" lang="en-US">
                <a:latin typeface="Aptos"/>
                <a:ea typeface="Aptos"/>
                <a:cs typeface="Aptos"/>
              </a:defRPr>
            </a:lvl6pPr>
            <a:lvl7pPr>
              <a:defRPr sz="1559" b="1" lang="en-US">
                <a:latin typeface="Aptos"/>
                <a:ea typeface="Aptos"/>
                <a:cs typeface="Aptos"/>
              </a:defRPr>
            </a:lvl7pPr>
            <a:lvl8pPr>
              <a:defRPr sz="1559" b="1" lang="en-US">
                <a:latin typeface="Aptos"/>
                <a:ea typeface="Aptos"/>
                <a:cs typeface="Aptos"/>
              </a:defRPr>
            </a:lvl8pPr>
            <a:lvl9pPr>
              <a:defRPr sz="155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55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SHANGHAI / SUZHOU</a:t>
            </a:r>
            <a:endParaRPr sz="1560" lang="en-US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36FD6FA-3712-4C47-8085-E5E38701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2770632"/>
            <a:ext cx="5577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29" lang="en-US">
                <a:latin typeface="Aptos"/>
                <a:ea typeface="Aptos"/>
                <a:cs typeface="Aptos"/>
              </a:defRPr>
            </a:defPPr>
            <a:lvl1pPr>
              <a:defRPr sz="1429" lang="en-US">
                <a:latin typeface="Aptos"/>
                <a:ea typeface="Aptos"/>
                <a:cs typeface="Aptos"/>
              </a:defRPr>
            </a:lvl1pPr>
            <a:lvl2pPr>
              <a:defRPr sz="1429" lang="en-US">
                <a:latin typeface="Aptos"/>
                <a:ea typeface="Aptos"/>
                <a:cs typeface="Aptos"/>
              </a:defRPr>
            </a:lvl2pPr>
            <a:lvl3pPr>
              <a:defRPr sz="1429" lang="en-US">
                <a:latin typeface="Aptos"/>
                <a:ea typeface="Aptos"/>
                <a:cs typeface="Aptos"/>
              </a:defRPr>
            </a:lvl3pPr>
            <a:lvl4pPr>
              <a:defRPr sz="1429" lang="en-US">
                <a:latin typeface="Aptos"/>
                <a:ea typeface="Aptos"/>
                <a:cs typeface="Aptos"/>
              </a:defRPr>
            </a:lvl4pPr>
            <a:lvl5pPr>
              <a:defRPr sz="1429" lang="en-US">
                <a:latin typeface="Aptos"/>
                <a:ea typeface="Aptos"/>
                <a:cs typeface="Aptos"/>
              </a:defRPr>
            </a:lvl5pPr>
            <a:lvl6pPr>
              <a:defRPr sz="1429" lang="en-US">
                <a:latin typeface="Aptos"/>
                <a:ea typeface="Aptos"/>
                <a:cs typeface="Aptos"/>
              </a:defRPr>
            </a:lvl6pPr>
            <a:lvl7pPr>
              <a:defRPr sz="1429" lang="en-US">
                <a:latin typeface="Aptos"/>
                <a:ea typeface="Aptos"/>
                <a:cs typeface="Aptos"/>
              </a:defRPr>
            </a:lvl7pPr>
            <a:lvl8pPr>
              <a:defRPr sz="1429" lang="en-US">
                <a:latin typeface="Aptos"/>
                <a:ea typeface="Aptos"/>
                <a:cs typeface="Aptos"/>
              </a:defRPr>
            </a:lvl8pPr>
            <a:lvl9pPr>
              <a:defRPr sz="142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2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Advanced manufacturing and equipment</a:t>
            </a:r>
            <a:endParaRPr sz="1430" lang="en-US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A1436DA-9A54-4080-B3AF-34D7EAA7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92424"/>
            <a:ext cx="10698480" cy="59436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54A3802-E890-4B8B-AF75-48E1D84A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56616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08080B6-04AD-413E-AC82-65D0DAE7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511296"/>
            <a:ext cx="3995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59" b="1" lang="en-US">
                <a:latin typeface="Aptos"/>
                <a:ea typeface="Aptos"/>
                <a:cs typeface="Aptos"/>
              </a:defRPr>
            </a:defPPr>
            <a:lvl1pPr>
              <a:defRPr sz="1559" b="1" lang="en-US">
                <a:latin typeface="Aptos"/>
                <a:ea typeface="Aptos"/>
                <a:cs typeface="Aptos"/>
              </a:defRPr>
            </a:lvl1pPr>
            <a:lvl2pPr>
              <a:defRPr sz="1559" b="1" lang="en-US">
                <a:latin typeface="Aptos"/>
                <a:ea typeface="Aptos"/>
                <a:cs typeface="Aptos"/>
              </a:defRPr>
            </a:lvl2pPr>
            <a:lvl3pPr>
              <a:defRPr sz="1559" b="1" lang="en-US">
                <a:latin typeface="Aptos"/>
                <a:ea typeface="Aptos"/>
                <a:cs typeface="Aptos"/>
              </a:defRPr>
            </a:lvl3pPr>
            <a:lvl4pPr>
              <a:defRPr sz="1559" b="1" lang="en-US">
                <a:latin typeface="Aptos"/>
                <a:ea typeface="Aptos"/>
                <a:cs typeface="Aptos"/>
              </a:defRPr>
            </a:lvl4pPr>
            <a:lvl5pPr>
              <a:defRPr sz="1559" b="1" lang="en-US">
                <a:latin typeface="Aptos"/>
                <a:ea typeface="Aptos"/>
                <a:cs typeface="Aptos"/>
              </a:defRPr>
            </a:lvl5pPr>
            <a:lvl6pPr>
              <a:defRPr sz="1559" b="1" lang="en-US">
                <a:latin typeface="Aptos"/>
                <a:ea typeface="Aptos"/>
                <a:cs typeface="Aptos"/>
              </a:defRPr>
            </a:lvl6pPr>
            <a:lvl7pPr>
              <a:defRPr sz="1559" b="1" lang="en-US">
                <a:latin typeface="Aptos"/>
                <a:ea typeface="Aptos"/>
                <a:cs typeface="Aptos"/>
              </a:defRPr>
            </a:lvl7pPr>
            <a:lvl8pPr>
              <a:defRPr sz="1559" b="1" lang="en-US">
                <a:latin typeface="Aptos"/>
                <a:ea typeface="Aptos"/>
                <a:cs typeface="Aptos"/>
              </a:defRPr>
            </a:lvl8pPr>
            <a:lvl9pPr>
              <a:defRPr sz="155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55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SHENZHEN / GUANGDONG</a:t>
            </a:r>
            <a:endParaRPr sz="1560" lang="en-US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10AB8B6-8146-4BF4-976A-447C99E7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3529584"/>
            <a:ext cx="5577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29" lang="en-US">
                <a:latin typeface="Aptos"/>
                <a:ea typeface="Aptos"/>
                <a:cs typeface="Aptos"/>
              </a:defRPr>
            </a:defPPr>
            <a:lvl1pPr>
              <a:defRPr sz="1429" lang="en-US">
                <a:latin typeface="Aptos"/>
                <a:ea typeface="Aptos"/>
                <a:cs typeface="Aptos"/>
              </a:defRPr>
            </a:lvl1pPr>
            <a:lvl2pPr>
              <a:defRPr sz="1429" lang="en-US">
                <a:latin typeface="Aptos"/>
                <a:ea typeface="Aptos"/>
                <a:cs typeface="Aptos"/>
              </a:defRPr>
            </a:lvl2pPr>
            <a:lvl3pPr>
              <a:defRPr sz="1429" lang="en-US">
                <a:latin typeface="Aptos"/>
                <a:ea typeface="Aptos"/>
                <a:cs typeface="Aptos"/>
              </a:defRPr>
            </a:lvl3pPr>
            <a:lvl4pPr>
              <a:defRPr sz="1429" lang="en-US">
                <a:latin typeface="Aptos"/>
                <a:ea typeface="Aptos"/>
                <a:cs typeface="Aptos"/>
              </a:defRPr>
            </a:lvl4pPr>
            <a:lvl5pPr>
              <a:defRPr sz="1429" lang="en-US">
                <a:latin typeface="Aptos"/>
                <a:ea typeface="Aptos"/>
                <a:cs typeface="Aptos"/>
              </a:defRPr>
            </a:lvl5pPr>
            <a:lvl6pPr>
              <a:defRPr sz="1429" lang="en-US">
                <a:latin typeface="Aptos"/>
                <a:ea typeface="Aptos"/>
                <a:cs typeface="Aptos"/>
              </a:defRPr>
            </a:lvl6pPr>
            <a:lvl7pPr>
              <a:defRPr sz="1429" lang="en-US">
                <a:latin typeface="Aptos"/>
                <a:ea typeface="Aptos"/>
                <a:cs typeface="Aptos"/>
              </a:defRPr>
            </a:lvl7pPr>
            <a:lvl8pPr>
              <a:defRPr sz="1429" lang="en-US">
                <a:latin typeface="Aptos"/>
                <a:ea typeface="Aptos"/>
                <a:cs typeface="Aptos"/>
              </a:defRPr>
            </a:lvl8pPr>
            <a:lvl9pPr>
              <a:defRPr sz="142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2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Electronics, hardware, and vehicles</a:t>
            </a:r>
            <a:endParaRPr sz="1430" lang="en-US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84B3E5C-D74E-4981-A1EA-87F2D8A8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51376"/>
            <a:ext cx="10698480" cy="59436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FC2D70A-615A-47A2-99E6-F5C256B2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325112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1520C32-E0A9-4919-BFDB-22D59031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270248"/>
            <a:ext cx="3995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59" b="1" lang="en-US">
                <a:latin typeface="Aptos"/>
                <a:ea typeface="Aptos"/>
                <a:cs typeface="Aptos"/>
              </a:defRPr>
            </a:defPPr>
            <a:lvl1pPr>
              <a:defRPr sz="1559" b="1" lang="en-US">
                <a:latin typeface="Aptos"/>
                <a:ea typeface="Aptos"/>
                <a:cs typeface="Aptos"/>
              </a:defRPr>
            </a:lvl1pPr>
            <a:lvl2pPr>
              <a:defRPr sz="1559" b="1" lang="en-US">
                <a:latin typeface="Aptos"/>
                <a:ea typeface="Aptos"/>
                <a:cs typeface="Aptos"/>
              </a:defRPr>
            </a:lvl2pPr>
            <a:lvl3pPr>
              <a:defRPr sz="1559" b="1" lang="en-US">
                <a:latin typeface="Aptos"/>
                <a:ea typeface="Aptos"/>
                <a:cs typeface="Aptos"/>
              </a:defRPr>
            </a:lvl3pPr>
            <a:lvl4pPr>
              <a:defRPr sz="1559" b="1" lang="en-US">
                <a:latin typeface="Aptos"/>
                <a:ea typeface="Aptos"/>
                <a:cs typeface="Aptos"/>
              </a:defRPr>
            </a:lvl4pPr>
            <a:lvl5pPr>
              <a:defRPr sz="1559" b="1" lang="en-US">
                <a:latin typeface="Aptos"/>
                <a:ea typeface="Aptos"/>
                <a:cs typeface="Aptos"/>
              </a:defRPr>
            </a:lvl5pPr>
            <a:lvl6pPr>
              <a:defRPr sz="1559" b="1" lang="en-US">
                <a:latin typeface="Aptos"/>
                <a:ea typeface="Aptos"/>
                <a:cs typeface="Aptos"/>
              </a:defRPr>
            </a:lvl6pPr>
            <a:lvl7pPr>
              <a:defRPr sz="1559" b="1" lang="en-US">
                <a:latin typeface="Aptos"/>
                <a:ea typeface="Aptos"/>
                <a:cs typeface="Aptos"/>
              </a:defRPr>
            </a:lvl7pPr>
            <a:lvl8pPr>
              <a:defRPr sz="1559" b="1" lang="en-US">
                <a:latin typeface="Aptos"/>
                <a:ea typeface="Aptos"/>
                <a:cs typeface="Aptos"/>
              </a:defRPr>
            </a:lvl8pPr>
            <a:lvl9pPr>
              <a:defRPr sz="155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55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HANGZHOU</a:t>
            </a:r>
            <a:endParaRPr sz="1560" lang="en-US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CDAD3F4-AA47-445D-8A4E-145C598B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4288536"/>
            <a:ext cx="5577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29" lang="en-US">
                <a:latin typeface="Aptos"/>
                <a:ea typeface="Aptos"/>
                <a:cs typeface="Aptos"/>
              </a:defRPr>
            </a:defPPr>
            <a:lvl1pPr>
              <a:defRPr sz="1429" lang="en-US">
                <a:latin typeface="Aptos"/>
                <a:ea typeface="Aptos"/>
                <a:cs typeface="Aptos"/>
              </a:defRPr>
            </a:lvl1pPr>
            <a:lvl2pPr>
              <a:defRPr sz="1429" lang="en-US">
                <a:latin typeface="Aptos"/>
                <a:ea typeface="Aptos"/>
                <a:cs typeface="Aptos"/>
              </a:defRPr>
            </a:lvl2pPr>
            <a:lvl3pPr>
              <a:defRPr sz="1429" lang="en-US">
                <a:latin typeface="Aptos"/>
                <a:ea typeface="Aptos"/>
                <a:cs typeface="Aptos"/>
              </a:defRPr>
            </a:lvl3pPr>
            <a:lvl4pPr>
              <a:defRPr sz="1429" lang="en-US">
                <a:latin typeface="Aptos"/>
                <a:ea typeface="Aptos"/>
                <a:cs typeface="Aptos"/>
              </a:defRPr>
            </a:lvl4pPr>
            <a:lvl5pPr>
              <a:defRPr sz="1429" lang="en-US">
                <a:latin typeface="Aptos"/>
                <a:ea typeface="Aptos"/>
                <a:cs typeface="Aptos"/>
              </a:defRPr>
            </a:lvl5pPr>
            <a:lvl6pPr>
              <a:defRPr sz="1429" lang="en-US">
                <a:latin typeface="Aptos"/>
                <a:ea typeface="Aptos"/>
                <a:cs typeface="Aptos"/>
              </a:defRPr>
            </a:lvl6pPr>
            <a:lvl7pPr>
              <a:defRPr sz="1429" lang="en-US">
                <a:latin typeface="Aptos"/>
                <a:ea typeface="Aptos"/>
                <a:cs typeface="Aptos"/>
              </a:defRPr>
            </a:lvl7pPr>
            <a:lvl8pPr>
              <a:defRPr sz="1429" lang="en-US">
                <a:latin typeface="Aptos"/>
                <a:ea typeface="Aptos"/>
                <a:cs typeface="Aptos"/>
              </a:defRPr>
            </a:lvl8pPr>
            <a:lvl9pPr>
              <a:defRPr sz="142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2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Digital platforms and software</a:t>
            </a:r>
            <a:endParaRPr sz="1430" lang="en-US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7DD69579-A149-415C-A4D0-6BE81B4D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910328"/>
            <a:ext cx="10698480" cy="59436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AC39D22-1DC4-4475-8959-77115033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84064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0BC54EC-95E8-4808-B6F1-E7A10514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029200"/>
            <a:ext cx="3995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59" b="1" lang="en-US">
                <a:latin typeface="Aptos"/>
                <a:ea typeface="Aptos"/>
                <a:cs typeface="Aptos"/>
              </a:defRPr>
            </a:defPPr>
            <a:lvl1pPr>
              <a:defRPr sz="1559" b="1" lang="en-US">
                <a:latin typeface="Aptos"/>
                <a:ea typeface="Aptos"/>
                <a:cs typeface="Aptos"/>
              </a:defRPr>
            </a:lvl1pPr>
            <a:lvl2pPr>
              <a:defRPr sz="1559" b="1" lang="en-US">
                <a:latin typeface="Aptos"/>
                <a:ea typeface="Aptos"/>
                <a:cs typeface="Aptos"/>
              </a:defRPr>
            </a:lvl2pPr>
            <a:lvl3pPr>
              <a:defRPr sz="1559" b="1" lang="en-US">
                <a:latin typeface="Aptos"/>
                <a:ea typeface="Aptos"/>
                <a:cs typeface="Aptos"/>
              </a:defRPr>
            </a:lvl3pPr>
            <a:lvl4pPr>
              <a:defRPr sz="1559" b="1" lang="en-US">
                <a:latin typeface="Aptos"/>
                <a:ea typeface="Aptos"/>
                <a:cs typeface="Aptos"/>
              </a:defRPr>
            </a:lvl4pPr>
            <a:lvl5pPr>
              <a:defRPr sz="1559" b="1" lang="en-US">
                <a:latin typeface="Aptos"/>
                <a:ea typeface="Aptos"/>
                <a:cs typeface="Aptos"/>
              </a:defRPr>
            </a:lvl5pPr>
            <a:lvl6pPr>
              <a:defRPr sz="1559" b="1" lang="en-US">
                <a:latin typeface="Aptos"/>
                <a:ea typeface="Aptos"/>
                <a:cs typeface="Aptos"/>
              </a:defRPr>
            </a:lvl6pPr>
            <a:lvl7pPr>
              <a:defRPr sz="1559" b="1" lang="en-US">
                <a:latin typeface="Aptos"/>
                <a:ea typeface="Aptos"/>
                <a:cs typeface="Aptos"/>
              </a:defRPr>
            </a:lvl7pPr>
            <a:lvl8pPr>
              <a:defRPr sz="1559" b="1" lang="en-US">
                <a:latin typeface="Aptos"/>
                <a:ea typeface="Aptos"/>
                <a:cs typeface="Aptos"/>
              </a:defRPr>
            </a:lvl8pPr>
            <a:lvl9pPr>
              <a:defRPr sz="155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55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HEFEI / WUHAN / CHENGDU</a:t>
            </a:r>
            <a:endParaRPr sz="1560" lang="en-US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6A6A5CD-4C14-4B95-AE31-D0BC029B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5047488"/>
            <a:ext cx="5577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29" lang="en-US">
                <a:latin typeface="Aptos"/>
                <a:ea typeface="Aptos"/>
                <a:cs typeface="Aptos"/>
              </a:defRPr>
            </a:defPPr>
            <a:lvl1pPr>
              <a:defRPr sz="1429" lang="en-US">
                <a:latin typeface="Aptos"/>
                <a:ea typeface="Aptos"/>
                <a:cs typeface="Aptos"/>
              </a:defRPr>
            </a:lvl1pPr>
            <a:lvl2pPr>
              <a:defRPr sz="1429" lang="en-US">
                <a:latin typeface="Aptos"/>
                <a:ea typeface="Aptos"/>
                <a:cs typeface="Aptos"/>
              </a:defRPr>
            </a:lvl2pPr>
            <a:lvl3pPr>
              <a:defRPr sz="1429" lang="en-US">
                <a:latin typeface="Aptos"/>
                <a:ea typeface="Aptos"/>
                <a:cs typeface="Aptos"/>
              </a:defRPr>
            </a:lvl3pPr>
            <a:lvl4pPr>
              <a:defRPr sz="1429" lang="en-US">
                <a:latin typeface="Aptos"/>
                <a:ea typeface="Aptos"/>
                <a:cs typeface="Aptos"/>
              </a:defRPr>
            </a:lvl4pPr>
            <a:lvl5pPr>
              <a:defRPr sz="1429" lang="en-US">
                <a:latin typeface="Aptos"/>
                <a:ea typeface="Aptos"/>
                <a:cs typeface="Aptos"/>
              </a:defRPr>
            </a:lvl5pPr>
            <a:lvl6pPr>
              <a:defRPr sz="1429" lang="en-US">
                <a:latin typeface="Aptos"/>
                <a:ea typeface="Aptos"/>
                <a:cs typeface="Aptos"/>
              </a:defRPr>
            </a:lvl6pPr>
            <a:lvl7pPr>
              <a:defRPr sz="1429" lang="en-US">
                <a:latin typeface="Aptos"/>
                <a:ea typeface="Aptos"/>
                <a:cs typeface="Aptos"/>
              </a:defRPr>
            </a:lvl7pPr>
            <a:lvl8pPr>
              <a:defRPr sz="1429" lang="en-US">
                <a:latin typeface="Aptos"/>
                <a:ea typeface="Aptos"/>
                <a:cs typeface="Aptos"/>
              </a:defRPr>
            </a:lvl8pPr>
            <a:lvl9pPr>
              <a:defRPr sz="142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2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Specialized industrial hubs</a:t>
            </a:r>
            <a:endParaRPr sz="1430" lang="en-US"/>
          </a:p>
        </p:txBody>
      </p:sp>
    </p:spTree>
    <p:extLst>
      <p:ext uri="{BB962C8B-B14F-4D97-AF65-F5344CB8AC3E}">
        <p14:creationId xmlns:p14="http://schemas.microsoft.com/office/powerpoint/2010/main" val="10003612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3405145C-8772-4420-BC5B-65F089C028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28f5736f8b45ef"/>
          <a:srcRect xmlns:a="http://schemas.openxmlformats.org/drawingml/2006/main" l="2477" t="0" r="2477" b="0"/>
          <a:stretch xmlns:a="http://schemas.openxmlformats.org/drawingml/2006/main"/>
        </p:blipFill>
        <p:spPr>
          <a:xfrm xmlns:a="http://schemas.openxmlformats.org/drawingml/2006/main">
            <a:off x="6400800" y="0"/>
            <a:ext cx="57908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C526195F-FD13-4F53-B92F-7D1CB208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0"/>
            <a:ext cx="109728" cy="6858000"/>
          </a:xfrm>
          <a:prstGeom xmlns:a="http://schemas.openxmlformats.org/drawingml/2006/main" prst="roundRect">
            <a:avLst>
              <a:gd name="adj" fmla="val 133333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C587E31-4A13-4EFB-A5B0-87D01463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01" b="1" lang="en-US">
                <a:latin typeface="Aptos"/>
                <a:ea typeface="Aptos"/>
                <a:cs typeface="Aptos"/>
              </a:defRPr>
            </a:defPPr>
            <a:lvl1pPr>
              <a:defRPr sz="1301" b="1" lang="en-US">
                <a:latin typeface="Aptos"/>
                <a:ea typeface="Aptos"/>
                <a:cs typeface="Aptos"/>
              </a:defRPr>
            </a:lvl1pPr>
            <a:lvl2pPr>
              <a:defRPr sz="1301" b="1" lang="en-US">
                <a:latin typeface="Aptos"/>
                <a:ea typeface="Aptos"/>
                <a:cs typeface="Aptos"/>
              </a:defRPr>
            </a:lvl2pPr>
            <a:lvl3pPr>
              <a:defRPr sz="1301" b="1" lang="en-US">
                <a:latin typeface="Aptos"/>
                <a:ea typeface="Aptos"/>
                <a:cs typeface="Aptos"/>
              </a:defRPr>
            </a:lvl3pPr>
            <a:lvl4pPr>
              <a:defRPr sz="1301" b="1" lang="en-US">
                <a:latin typeface="Aptos"/>
                <a:ea typeface="Aptos"/>
                <a:cs typeface="Aptos"/>
              </a:defRPr>
            </a:lvl4pPr>
            <a:lvl5pPr>
              <a:defRPr sz="1301" b="1" lang="en-US">
                <a:latin typeface="Aptos"/>
                <a:ea typeface="Aptos"/>
                <a:cs typeface="Aptos"/>
              </a:defRPr>
            </a:lvl5pPr>
            <a:lvl6pPr>
              <a:defRPr sz="1301" b="1" lang="en-US">
                <a:latin typeface="Aptos"/>
                <a:ea typeface="Aptos"/>
                <a:cs typeface="Aptos"/>
              </a:defRPr>
            </a:lvl6pPr>
            <a:lvl7pPr>
              <a:defRPr sz="1301" b="1" lang="en-US">
                <a:latin typeface="Aptos"/>
                <a:ea typeface="Aptos"/>
                <a:cs typeface="Aptos"/>
              </a:defRPr>
            </a:lvl7pPr>
            <a:lvl8pPr>
              <a:defRPr sz="1301" b="1" lang="en-US">
                <a:latin typeface="Aptos"/>
                <a:ea typeface="Aptos"/>
                <a:cs typeface="Aptos"/>
              </a:defRPr>
            </a:lvl8pPr>
            <a:lvl9pPr>
              <a:defRPr sz="13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01" b="1" spc="200" lang="en-US">
                <a:solidFill>
                  <a:srgbClr val="E6AB50"/>
                </a:solidFill>
                <a:latin typeface="Aptos"/>
                <a:ea typeface="Aptos"/>
                <a:cs typeface="Aptos"/>
              </a:rPr>
              <a:t>SECTION 02</a:t>
            </a:r>
            <a:endParaRPr sz="1300" lang="en-US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BF340AE-F78D-4ACF-BC74-8EDF8BF1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07008"/>
            <a:ext cx="5394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00" b="1" lang="en-US">
                <a:latin typeface="Aptos"/>
                <a:ea typeface="Aptos"/>
                <a:cs typeface="Aptos"/>
              </a:defRPr>
            </a:defPPr>
            <a:lvl1pPr>
              <a:defRPr sz="2200" b="1" lang="en-US">
                <a:latin typeface="Aptos"/>
                <a:ea typeface="Aptos"/>
                <a:cs typeface="Aptos"/>
              </a:defRPr>
            </a:lvl1pPr>
            <a:lvl2pPr>
              <a:defRPr sz="2200" b="1" lang="en-US">
                <a:latin typeface="Aptos"/>
                <a:ea typeface="Aptos"/>
                <a:cs typeface="Aptos"/>
              </a:defRPr>
            </a:lvl2pPr>
            <a:lvl3pPr>
              <a:defRPr sz="2200" b="1" lang="en-US">
                <a:latin typeface="Aptos"/>
                <a:ea typeface="Aptos"/>
                <a:cs typeface="Aptos"/>
              </a:defRPr>
            </a:lvl3pPr>
            <a:lvl4pPr>
              <a:defRPr sz="2200" b="1" lang="en-US">
                <a:latin typeface="Aptos"/>
                <a:ea typeface="Aptos"/>
                <a:cs typeface="Aptos"/>
              </a:defRPr>
            </a:lvl4pPr>
            <a:lvl5pPr>
              <a:defRPr sz="2200" b="1" lang="en-US">
                <a:latin typeface="Aptos"/>
                <a:ea typeface="Aptos"/>
                <a:cs typeface="Aptos"/>
              </a:defRPr>
            </a:lvl5pPr>
            <a:lvl6pPr>
              <a:defRPr sz="2200" b="1" lang="en-US">
                <a:latin typeface="Aptos"/>
                <a:ea typeface="Aptos"/>
                <a:cs typeface="Aptos"/>
              </a:defRPr>
            </a:lvl6pPr>
            <a:lvl7pPr>
              <a:defRPr sz="2200" b="1" lang="en-US">
                <a:latin typeface="Aptos"/>
                <a:ea typeface="Aptos"/>
                <a:cs typeface="Aptos"/>
              </a:defRPr>
            </a:lvl7pPr>
            <a:lvl8pPr>
              <a:defRPr sz="2200" b="1" lang="en-US">
                <a:latin typeface="Aptos"/>
                <a:ea typeface="Aptos"/>
                <a:cs typeface="Aptos"/>
              </a:defRPr>
            </a:lvl8pPr>
            <a:lvl9pPr>
              <a:defRPr sz="22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200" b="1" spc="120" lang="en-US">
                <a:solidFill>
                  <a:srgbClr val="C6E9E6"/>
                </a:solidFill>
                <a:latin typeface="Aptos"/>
                <a:ea typeface="Aptos"/>
                <a:cs typeface="Aptos"/>
              </a:rPr>
              <a:t>THE SMART FACTORY</a:t>
            </a:r>
            <a:endParaRPr sz="2200" lang="en-US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A488315-A89F-4C96-B601-A6B4B476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557784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1" b="1" lang="en-US">
                <a:latin typeface="Aptos"/>
                <a:ea typeface="Aptos"/>
                <a:cs typeface="Aptos"/>
              </a:defRPr>
            </a:defPPr>
            <a:lvl1pPr>
              <a:defRPr sz="3901" b="1" lang="en-US">
                <a:latin typeface="Aptos"/>
                <a:ea typeface="Aptos"/>
                <a:cs typeface="Aptos"/>
              </a:defRPr>
            </a:lvl1pPr>
            <a:lvl2pPr>
              <a:defRPr sz="3901" b="1" lang="en-US">
                <a:latin typeface="Aptos"/>
                <a:ea typeface="Aptos"/>
                <a:cs typeface="Aptos"/>
              </a:defRPr>
            </a:lvl2pPr>
            <a:lvl3pPr>
              <a:defRPr sz="3901" b="1" lang="en-US">
                <a:latin typeface="Aptos"/>
                <a:ea typeface="Aptos"/>
                <a:cs typeface="Aptos"/>
              </a:defRPr>
            </a:lvl3pPr>
            <a:lvl4pPr>
              <a:defRPr sz="3901" b="1" lang="en-US">
                <a:latin typeface="Aptos"/>
                <a:ea typeface="Aptos"/>
                <a:cs typeface="Aptos"/>
              </a:defRPr>
            </a:lvl4pPr>
            <a:lvl5pPr>
              <a:defRPr sz="3901" b="1" lang="en-US">
                <a:latin typeface="Aptos"/>
                <a:ea typeface="Aptos"/>
                <a:cs typeface="Aptos"/>
              </a:defRPr>
            </a:lvl5pPr>
            <a:lvl6pPr>
              <a:defRPr sz="3901" b="1" lang="en-US">
                <a:latin typeface="Aptos"/>
                <a:ea typeface="Aptos"/>
                <a:cs typeface="Aptos"/>
              </a:defRPr>
            </a:lvl6pPr>
            <a:lvl7pPr>
              <a:defRPr sz="3901" b="1" lang="en-US">
                <a:latin typeface="Aptos"/>
                <a:ea typeface="Aptos"/>
                <a:cs typeface="Aptos"/>
              </a:defRPr>
            </a:lvl7pPr>
            <a:lvl8pPr>
              <a:defRPr sz="3901" b="1" lang="en-US">
                <a:latin typeface="Aptos"/>
                <a:ea typeface="Aptos"/>
                <a:cs typeface="Aptos"/>
              </a:defRPr>
            </a:lvl8pPr>
            <a:lvl9pPr>
              <a:defRPr sz="39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390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A machine is not</a:t>
            </a:r>
            <a:endParaRPr sz="3900" lang="en-US"/>
          </a:p>
          <a:p xmlns:a="http://schemas.openxmlformats.org/drawingml/2006/main">
            <a:pPr marL="0" indent="0" algn="l">
              <a:buNone/>
            </a:pPr>
            <a:r>
              <a:rPr sz="390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a factory</a:t>
            </a:r>
            <a:endParaRPr sz="3900" lang="en-US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DB85F41-C872-4F39-837D-1C2A27DF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09160"/>
            <a:ext cx="55778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01" lang="en-US">
                <a:latin typeface="Aptos"/>
                <a:ea typeface="Aptos"/>
                <a:cs typeface="Aptos"/>
              </a:defRPr>
            </a:defPPr>
            <a:lvl1pPr>
              <a:defRPr sz="1701" lang="en-US">
                <a:latin typeface="Aptos"/>
                <a:ea typeface="Aptos"/>
                <a:cs typeface="Aptos"/>
              </a:defRPr>
            </a:lvl1pPr>
            <a:lvl2pPr>
              <a:defRPr sz="1701" lang="en-US">
                <a:latin typeface="Aptos"/>
                <a:ea typeface="Aptos"/>
                <a:cs typeface="Aptos"/>
              </a:defRPr>
            </a:lvl2pPr>
            <a:lvl3pPr>
              <a:defRPr sz="1701" lang="en-US">
                <a:latin typeface="Aptos"/>
                <a:ea typeface="Aptos"/>
                <a:cs typeface="Aptos"/>
              </a:defRPr>
            </a:lvl3pPr>
            <a:lvl4pPr>
              <a:defRPr sz="1701" lang="en-US">
                <a:latin typeface="Aptos"/>
                <a:ea typeface="Aptos"/>
                <a:cs typeface="Aptos"/>
              </a:defRPr>
            </a:lvl4pPr>
            <a:lvl5pPr>
              <a:defRPr sz="1701" lang="en-US">
                <a:latin typeface="Aptos"/>
                <a:ea typeface="Aptos"/>
                <a:cs typeface="Aptos"/>
              </a:defRPr>
            </a:lvl5pPr>
            <a:lvl6pPr>
              <a:defRPr sz="1701" lang="en-US">
                <a:latin typeface="Aptos"/>
                <a:ea typeface="Aptos"/>
                <a:cs typeface="Aptos"/>
              </a:defRPr>
            </a:lvl6pPr>
            <a:lvl7pPr>
              <a:defRPr sz="1701" lang="en-US">
                <a:latin typeface="Aptos"/>
                <a:ea typeface="Aptos"/>
                <a:cs typeface="Aptos"/>
              </a:defRPr>
            </a:lvl7pPr>
            <a:lvl8pPr>
              <a:defRPr sz="1701" lang="en-US">
                <a:latin typeface="Aptos"/>
                <a:ea typeface="Aptos"/>
                <a:cs typeface="Aptos"/>
              </a:defRPr>
            </a:lvl8pPr>
            <a:lvl9pPr>
              <a:defRPr sz="170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701" lang="en-US">
                <a:solidFill>
                  <a:srgbClr val="DEE8F0"/>
                </a:solidFill>
                <a:latin typeface="Aptos"/>
                <a:ea typeface="Aptos"/>
                <a:cs typeface="Aptos"/>
              </a:rPr>
              <a:t>Digitalization, automation, and AI are distinct layers</a:t>
            </a:r>
            <a:endParaRPr sz="1700" lang="en-US"/>
          </a:p>
          <a:p xmlns:a="http://schemas.openxmlformats.org/drawingml/2006/main">
            <a:pPr marL="0" indent="0" algn="l">
              <a:buNone/>
            </a:pPr>
            <a:r>
              <a:rPr sz="1701" lang="en-US">
                <a:solidFill>
                  <a:srgbClr val="DEE8F0"/>
                </a:solidFill>
                <a:latin typeface="Aptos"/>
                <a:ea typeface="Aptos"/>
                <a:cs typeface="Aptos"/>
              </a:rPr>
              <a:t>of industrial capability.</a:t>
            </a:r>
            <a:endParaRPr sz="1700" lang="en-US"/>
          </a:p>
        </p:txBody>
      </p:sp>
      <p:sp>
        <p:nvSpPr>
          <p:cNvPr id="8" name="illustration-caption-background">
            <a:extLst xmlns:a="http://schemas.openxmlformats.org/drawingml/2006/main">
              <a:ext uri="{FF2B5EF4-FFF2-40B4-BE49-F238E27FC236}">
                <a16:creationId xmlns:a16="http://schemas.microsoft.com/office/drawing/2014/main" id="{2E872B7F-0480-40A2-BEE7-64DECFBD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33350"/>
            <a:ext cx="1733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llustration-caption">
            <a:extLst xmlns:a="http://schemas.openxmlformats.org/drawingml/2006/main">
              <a:ext uri="{FF2B5EF4-FFF2-40B4-BE49-F238E27FC236}">
                <a16:creationId xmlns:a16="http://schemas.microsoft.com/office/drawing/2014/main" id="{272B823D-FED2-4115-90F4-E9006255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19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11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1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CONCEPTUAL ILLUSTRATION</a:t>
            </a:r>
          </a:p>
        </p:txBody>
      </p:sp>
    </p:spTree>
    <p:extLst>
      <p:ext uri="{BB962C8B-B14F-4D97-AF65-F5344CB8AC3E}">
        <p14:creationId xmlns:p14="http://schemas.microsoft.com/office/powerpoint/2010/main" val="2885570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4183BA8-47B3-4054-8C1F-EED29413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THREE DISTINCT CONCEPTS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A14C1B-CB48-4A74-9E12-5F7655E4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Digitalization, automation, and artificial intelligence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52DE40B-6FF3-4B24-BD42-39083134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A factory can do one of these without necessarily doing the others.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59144A8-1895-4184-B1F9-AC89A6E1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93392"/>
            <a:ext cx="3630168" cy="3227832"/>
          </a:xfrm>
          <a:prstGeom xmlns:a="http://schemas.openxmlformats.org/drawingml/2006/main" prst="roundRect">
            <a:avLst>
              <a:gd name="adj" fmla="val 45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7D31CEB-D063-47F0-BB41-4E846128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93392"/>
            <a:ext cx="3630168" cy="91440"/>
          </a:xfrm>
          <a:prstGeom xmlns:a="http://schemas.openxmlformats.org/drawingml/2006/main" prst="roundRect">
            <a:avLst>
              <a:gd name="adj" fmla="val 160000"/>
            </a:avLst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420688D-DC4C-4495-BE47-96BD2CA6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276856"/>
            <a:ext cx="6217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01" b="1" lang="en-US">
                <a:latin typeface="Aptos"/>
                <a:ea typeface="Aptos"/>
                <a:cs typeface="Aptos"/>
              </a:defRPr>
            </a:defPPr>
            <a:lvl1pPr>
              <a:defRPr sz="2001" b="1" lang="en-US">
                <a:latin typeface="Aptos"/>
                <a:ea typeface="Aptos"/>
                <a:cs typeface="Aptos"/>
              </a:defRPr>
            </a:lvl1pPr>
            <a:lvl2pPr>
              <a:defRPr sz="2001" b="1" lang="en-US">
                <a:latin typeface="Aptos"/>
                <a:ea typeface="Aptos"/>
                <a:cs typeface="Aptos"/>
              </a:defRPr>
            </a:lvl2pPr>
            <a:lvl3pPr>
              <a:defRPr sz="2001" b="1" lang="en-US">
                <a:latin typeface="Aptos"/>
                <a:ea typeface="Aptos"/>
                <a:cs typeface="Aptos"/>
              </a:defRPr>
            </a:lvl3pPr>
            <a:lvl4pPr>
              <a:defRPr sz="2001" b="1" lang="en-US">
                <a:latin typeface="Aptos"/>
                <a:ea typeface="Aptos"/>
                <a:cs typeface="Aptos"/>
              </a:defRPr>
            </a:lvl4pPr>
            <a:lvl5pPr>
              <a:defRPr sz="2001" b="1" lang="en-US">
                <a:latin typeface="Aptos"/>
                <a:ea typeface="Aptos"/>
                <a:cs typeface="Aptos"/>
              </a:defRPr>
            </a:lvl5pPr>
            <a:lvl6pPr>
              <a:defRPr sz="2001" b="1" lang="en-US">
                <a:latin typeface="Aptos"/>
                <a:ea typeface="Aptos"/>
                <a:cs typeface="Aptos"/>
              </a:defRPr>
            </a:lvl6pPr>
            <a:lvl7pPr>
              <a:defRPr sz="2001" b="1" lang="en-US">
                <a:latin typeface="Aptos"/>
                <a:ea typeface="Aptos"/>
                <a:cs typeface="Aptos"/>
              </a:defRPr>
            </a:lvl7pPr>
            <a:lvl8pPr>
              <a:defRPr sz="2001" b="1" lang="en-US">
                <a:latin typeface="Aptos"/>
                <a:ea typeface="Aptos"/>
                <a:cs typeface="Aptos"/>
              </a:defRPr>
            </a:lvl8pPr>
            <a:lvl9pPr>
              <a:defRPr sz="20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001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01</a:t>
            </a:r>
            <a:endParaRPr sz="2000" lang="en-US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0F50C4F-23B4-4AC9-B3B0-ED7D1570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880360"/>
            <a:ext cx="3108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99" b="1" lang="en-US">
                <a:latin typeface="Aptos"/>
                <a:ea typeface="Aptos"/>
                <a:cs typeface="Aptos"/>
              </a:defRPr>
            </a:defPPr>
            <a:lvl1pPr>
              <a:defRPr sz="2299" b="1" lang="en-US">
                <a:latin typeface="Aptos"/>
                <a:ea typeface="Aptos"/>
                <a:cs typeface="Aptos"/>
              </a:defRPr>
            </a:lvl1pPr>
            <a:lvl2pPr>
              <a:defRPr sz="2299" b="1" lang="en-US">
                <a:latin typeface="Aptos"/>
                <a:ea typeface="Aptos"/>
                <a:cs typeface="Aptos"/>
              </a:defRPr>
            </a:lvl2pPr>
            <a:lvl3pPr>
              <a:defRPr sz="2299" b="1" lang="en-US">
                <a:latin typeface="Aptos"/>
                <a:ea typeface="Aptos"/>
                <a:cs typeface="Aptos"/>
              </a:defRPr>
            </a:lvl3pPr>
            <a:lvl4pPr>
              <a:defRPr sz="2299" b="1" lang="en-US">
                <a:latin typeface="Aptos"/>
                <a:ea typeface="Aptos"/>
                <a:cs typeface="Aptos"/>
              </a:defRPr>
            </a:lvl4pPr>
            <a:lvl5pPr>
              <a:defRPr sz="2299" b="1" lang="en-US">
                <a:latin typeface="Aptos"/>
                <a:ea typeface="Aptos"/>
                <a:cs typeface="Aptos"/>
              </a:defRPr>
            </a:lvl5pPr>
            <a:lvl6pPr>
              <a:defRPr sz="2299" b="1" lang="en-US">
                <a:latin typeface="Aptos"/>
                <a:ea typeface="Aptos"/>
                <a:cs typeface="Aptos"/>
              </a:defRPr>
            </a:lvl6pPr>
            <a:lvl7pPr>
              <a:defRPr sz="2299" b="1" lang="en-US">
                <a:latin typeface="Aptos"/>
                <a:ea typeface="Aptos"/>
                <a:cs typeface="Aptos"/>
              </a:defRPr>
            </a:lvl7pPr>
            <a:lvl8pPr>
              <a:defRPr sz="2299" b="1" lang="en-US">
                <a:latin typeface="Aptos"/>
                <a:ea typeface="Aptos"/>
                <a:cs typeface="Aptos"/>
              </a:defRPr>
            </a:lvl8pPr>
            <a:lvl9pPr>
              <a:defRPr sz="22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2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DIGITALIZE</a:t>
            </a:r>
            <a:endParaRPr sz="2300" lang="en-US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2F440BD-ADAD-47F3-8388-2A2C240C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675888"/>
            <a:ext cx="3136392" cy="557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lang="en-US">
                <a:latin typeface="Aptos"/>
                <a:ea typeface="Aptos"/>
                <a:cs typeface="Aptos"/>
              </a:defRPr>
            </a:defPPr>
            <a:lvl1pPr>
              <a:defRPr sz="1499" lang="en-US">
                <a:latin typeface="Aptos"/>
                <a:ea typeface="Aptos"/>
                <a:cs typeface="Aptos"/>
              </a:defRPr>
            </a:lvl1pPr>
            <a:lvl2pPr>
              <a:defRPr sz="1499" lang="en-US">
                <a:latin typeface="Aptos"/>
                <a:ea typeface="Aptos"/>
                <a:cs typeface="Aptos"/>
              </a:defRPr>
            </a:lvl2pPr>
            <a:lvl3pPr>
              <a:defRPr sz="1499" lang="en-US">
                <a:latin typeface="Aptos"/>
                <a:ea typeface="Aptos"/>
                <a:cs typeface="Aptos"/>
              </a:defRPr>
            </a:lvl3pPr>
            <a:lvl4pPr>
              <a:defRPr sz="1499" lang="en-US">
                <a:latin typeface="Aptos"/>
                <a:ea typeface="Aptos"/>
                <a:cs typeface="Aptos"/>
              </a:defRPr>
            </a:lvl4pPr>
            <a:lvl5pPr>
              <a:defRPr sz="1499" lang="en-US">
                <a:latin typeface="Aptos"/>
                <a:ea typeface="Aptos"/>
                <a:cs typeface="Aptos"/>
              </a:defRPr>
            </a:lvl5pPr>
            <a:lvl6pPr>
              <a:defRPr sz="1499" lang="en-US">
                <a:latin typeface="Aptos"/>
                <a:ea typeface="Aptos"/>
                <a:cs typeface="Aptos"/>
              </a:defRPr>
            </a:lvl6pPr>
            <a:lvl7pPr>
              <a:defRPr sz="1499" lang="en-US">
                <a:latin typeface="Aptos"/>
                <a:ea typeface="Aptos"/>
                <a:cs typeface="Aptos"/>
              </a:defRPr>
            </a:lvl7pPr>
            <a:lvl8pPr>
              <a:defRPr sz="1499" lang="en-US">
                <a:latin typeface="Aptos"/>
                <a:ea typeface="Aptos"/>
                <a:cs typeface="Aptos"/>
              </a:defRPr>
            </a:lvl8pPr>
            <a:lvl9pPr>
              <a:defRPr sz="149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Record and connect information</a:t>
            </a:r>
            <a:endParaRPr sz="1500" lang="en-US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238105D-6742-4F80-B0FB-CB5F514F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498848"/>
            <a:ext cx="31638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DCE4E9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EF72DC8-9E25-487B-B066-34944D41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599432"/>
            <a:ext cx="31363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Sensors, data, traceability</a:t>
            </a:r>
            <a:endParaRPr sz="1300" lang="en-US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3A99ADE-42E1-4FDB-92EC-B2AC434F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93392"/>
            <a:ext cx="3630168" cy="3227832"/>
          </a:xfrm>
          <a:prstGeom xmlns:a="http://schemas.openxmlformats.org/drawingml/2006/main" prst="roundRect">
            <a:avLst>
              <a:gd name="adj" fmla="val 45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A58D2B2-046F-4365-B4ED-AC1A19D6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93392"/>
            <a:ext cx="3630168" cy="91440"/>
          </a:xfrm>
          <a:prstGeom xmlns:a="http://schemas.openxmlformats.org/drawingml/2006/main" prst="roundRect">
            <a:avLst>
              <a:gd name="adj" fmla="val 160000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D959E24-7AC8-4A0D-8023-5B03B535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276856"/>
            <a:ext cx="6217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01" b="1" lang="en-US">
                <a:latin typeface="Aptos"/>
                <a:ea typeface="Aptos"/>
                <a:cs typeface="Aptos"/>
              </a:defRPr>
            </a:defPPr>
            <a:lvl1pPr>
              <a:defRPr sz="2001" b="1" lang="en-US">
                <a:latin typeface="Aptos"/>
                <a:ea typeface="Aptos"/>
                <a:cs typeface="Aptos"/>
              </a:defRPr>
            </a:lvl1pPr>
            <a:lvl2pPr>
              <a:defRPr sz="2001" b="1" lang="en-US">
                <a:latin typeface="Aptos"/>
                <a:ea typeface="Aptos"/>
                <a:cs typeface="Aptos"/>
              </a:defRPr>
            </a:lvl2pPr>
            <a:lvl3pPr>
              <a:defRPr sz="2001" b="1" lang="en-US">
                <a:latin typeface="Aptos"/>
                <a:ea typeface="Aptos"/>
                <a:cs typeface="Aptos"/>
              </a:defRPr>
            </a:lvl3pPr>
            <a:lvl4pPr>
              <a:defRPr sz="2001" b="1" lang="en-US">
                <a:latin typeface="Aptos"/>
                <a:ea typeface="Aptos"/>
                <a:cs typeface="Aptos"/>
              </a:defRPr>
            </a:lvl4pPr>
            <a:lvl5pPr>
              <a:defRPr sz="2001" b="1" lang="en-US">
                <a:latin typeface="Aptos"/>
                <a:ea typeface="Aptos"/>
                <a:cs typeface="Aptos"/>
              </a:defRPr>
            </a:lvl5pPr>
            <a:lvl6pPr>
              <a:defRPr sz="2001" b="1" lang="en-US">
                <a:latin typeface="Aptos"/>
                <a:ea typeface="Aptos"/>
                <a:cs typeface="Aptos"/>
              </a:defRPr>
            </a:lvl6pPr>
            <a:lvl7pPr>
              <a:defRPr sz="2001" b="1" lang="en-US">
                <a:latin typeface="Aptos"/>
                <a:ea typeface="Aptos"/>
                <a:cs typeface="Aptos"/>
              </a:defRPr>
            </a:lvl7pPr>
            <a:lvl8pPr>
              <a:defRPr sz="2001" b="1" lang="en-US">
                <a:latin typeface="Aptos"/>
                <a:ea typeface="Aptos"/>
                <a:cs typeface="Aptos"/>
              </a:defRPr>
            </a:lvl8pPr>
            <a:lvl9pPr>
              <a:defRPr sz="20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001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02</a:t>
            </a:r>
            <a:endParaRPr sz="2000" lang="en-US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94547AA-F55D-48D4-8370-E73A4A13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880360"/>
            <a:ext cx="3108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99" b="1" lang="en-US">
                <a:latin typeface="Aptos"/>
                <a:ea typeface="Aptos"/>
                <a:cs typeface="Aptos"/>
              </a:defRPr>
            </a:defPPr>
            <a:lvl1pPr>
              <a:defRPr sz="2299" b="1" lang="en-US">
                <a:latin typeface="Aptos"/>
                <a:ea typeface="Aptos"/>
                <a:cs typeface="Aptos"/>
              </a:defRPr>
            </a:lvl1pPr>
            <a:lvl2pPr>
              <a:defRPr sz="2299" b="1" lang="en-US">
                <a:latin typeface="Aptos"/>
                <a:ea typeface="Aptos"/>
                <a:cs typeface="Aptos"/>
              </a:defRPr>
            </a:lvl2pPr>
            <a:lvl3pPr>
              <a:defRPr sz="2299" b="1" lang="en-US">
                <a:latin typeface="Aptos"/>
                <a:ea typeface="Aptos"/>
                <a:cs typeface="Aptos"/>
              </a:defRPr>
            </a:lvl3pPr>
            <a:lvl4pPr>
              <a:defRPr sz="2299" b="1" lang="en-US">
                <a:latin typeface="Aptos"/>
                <a:ea typeface="Aptos"/>
                <a:cs typeface="Aptos"/>
              </a:defRPr>
            </a:lvl4pPr>
            <a:lvl5pPr>
              <a:defRPr sz="2299" b="1" lang="en-US">
                <a:latin typeface="Aptos"/>
                <a:ea typeface="Aptos"/>
                <a:cs typeface="Aptos"/>
              </a:defRPr>
            </a:lvl5pPr>
            <a:lvl6pPr>
              <a:defRPr sz="2299" b="1" lang="en-US">
                <a:latin typeface="Aptos"/>
                <a:ea typeface="Aptos"/>
                <a:cs typeface="Aptos"/>
              </a:defRPr>
            </a:lvl6pPr>
            <a:lvl7pPr>
              <a:defRPr sz="2299" b="1" lang="en-US">
                <a:latin typeface="Aptos"/>
                <a:ea typeface="Aptos"/>
                <a:cs typeface="Aptos"/>
              </a:defRPr>
            </a:lvl7pPr>
            <a:lvl8pPr>
              <a:defRPr sz="2299" b="1" lang="en-US">
                <a:latin typeface="Aptos"/>
                <a:ea typeface="Aptos"/>
                <a:cs typeface="Aptos"/>
              </a:defRPr>
            </a:lvl8pPr>
            <a:lvl9pPr>
              <a:defRPr sz="22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2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AUTOMATE</a:t>
            </a:r>
            <a:endParaRPr sz="2300" lang="en-US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8861444-0BC5-441C-9673-B65577B4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675888"/>
            <a:ext cx="3136392" cy="557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lang="en-US">
                <a:latin typeface="Aptos"/>
                <a:ea typeface="Aptos"/>
                <a:cs typeface="Aptos"/>
              </a:defRPr>
            </a:defPPr>
            <a:lvl1pPr>
              <a:defRPr sz="1499" lang="en-US">
                <a:latin typeface="Aptos"/>
                <a:ea typeface="Aptos"/>
                <a:cs typeface="Aptos"/>
              </a:defRPr>
            </a:lvl1pPr>
            <a:lvl2pPr>
              <a:defRPr sz="1499" lang="en-US">
                <a:latin typeface="Aptos"/>
                <a:ea typeface="Aptos"/>
                <a:cs typeface="Aptos"/>
              </a:defRPr>
            </a:lvl2pPr>
            <a:lvl3pPr>
              <a:defRPr sz="1499" lang="en-US">
                <a:latin typeface="Aptos"/>
                <a:ea typeface="Aptos"/>
                <a:cs typeface="Aptos"/>
              </a:defRPr>
            </a:lvl3pPr>
            <a:lvl4pPr>
              <a:defRPr sz="1499" lang="en-US">
                <a:latin typeface="Aptos"/>
                <a:ea typeface="Aptos"/>
                <a:cs typeface="Aptos"/>
              </a:defRPr>
            </a:lvl4pPr>
            <a:lvl5pPr>
              <a:defRPr sz="1499" lang="en-US">
                <a:latin typeface="Aptos"/>
                <a:ea typeface="Aptos"/>
                <a:cs typeface="Aptos"/>
              </a:defRPr>
            </a:lvl5pPr>
            <a:lvl6pPr>
              <a:defRPr sz="1499" lang="en-US">
                <a:latin typeface="Aptos"/>
                <a:ea typeface="Aptos"/>
                <a:cs typeface="Aptos"/>
              </a:defRPr>
            </a:lvl6pPr>
            <a:lvl7pPr>
              <a:defRPr sz="1499" lang="en-US">
                <a:latin typeface="Aptos"/>
                <a:ea typeface="Aptos"/>
                <a:cs typeface="Aptos"/>
              </a:defRPr>
            </a:lvl7pPr>
            <a:lvl8pPr>
              <a:defRPr sz="1499" lang="en-US">
                <a:latin typeface="Aptos"/>
                <a:ea typeface="Aptos"/>
                <a:cs typeface="Aptos"/>
              </a:defRPr>
            </a:lvl8pPr>
            <a:lvl9pPr>
              <a:defRPr sz="149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Perform tasks under automatic control</a:t>
            </a:r>
            <a:endParaRPr sz="1500" lang="en-US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04BB1A6-D3A8-4B21-977A-4D65921C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4024" y="4498848"/>
            <a:ext cx="31638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DCE4E9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0B3DBDC-C5DB-4179-A7B1-E07D02CD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599432"/>
            <a:ext cx="31363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PLCs, CNC, robots, actuators</a:t>
            </a:r>
            <a:endParaRPr sz="1300" lang="en-US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8C39B54-FF22-4E6F-AB9E-741D5522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993392"/>
            <a:ext cx="3630168" cy="3227832"/>
          </a:xfrm>
          <a:prstGeom xmlns:a="http://schemas.openxmlformats.org/drawingml/2006/main" prst="roundRect">
            <a:avLst>
              <a:gd name="adj" fmla="val 45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F4DE1C2-BB10-4BA0-9C0A-6D1C06E2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993392"/>
            <a:ext cx="3630168" cy="91440"/>
          </a:xfrm>
          <a:prstGeom xmlns:a="http://schemas.openxmlformats.org/drawingml/2006/main" prst="roundRect">
            <a:avLst>
              <a:gd name="adj" fmla="val 160000"/>
            </a:avLst>
          </a:prstGeom>
          <a:solidFill xmlns:a="http://schemas.openxmlformats.org/drawingml/2006/main">
            <a:srgbClr val="E6AB50"/>
          </a:solidFill>
          <a:ln xmlns:a="http://schemas.openxmlformats.org/drawingml/2006/main" w="12700">
            <a:solidFill>
              <a:srgbClr val="E6AB5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A2CABD8-904A-4462-B4F2-0A8AF58C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2276856"/>
            <a:ext cx="6217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01" b="1" lang="en-US">
                <a:latin typeface="Aptos"/>
                <a:ea typeface="Aptos"/>
                <a:cs typeface="Aptos"/>
              </a:defRPr>
            </a:defPPr>
            <a:lvl1pPr>
              <a:defRPr sz="2001" b="1" lang="en-US">
                <a:latin typeface="Aptos"/>
                <a:ea typeface="Aptos"/>
                <a:cs typeface="Aptos"/>
              </a:defRPr>
            </a:lvl1pPr>
            <a:lvl2pPr>
              <a:defRPr sz="2001" b="1" lang="en-US">
                <a:latin typeface="Aptos"/>
                <a:ea typeface="Aptos"/>
                <a:cs typeface="Aptos"/>
              </a:defRPr>
            </a:lvl2pPr>
            <a:lvl3pPr>
              <a:defRPr sz="2001" b="1" lang="en-US">
                <a:latin typeface="Aptos"/>
                <a:ea typeface="Aptos"/>
                <a:cs typeface="Aptos"/>
              </a:defRPr>
            </a:lvl3pPr>
            <a:lvl4pPr>
              <a:defRPr sz="2001" b="1" lang="en-US">
                <a:latin typeface="Aptos"/>
                <a:ea typeface="Aptos"/>
                <a:cs typeface="Aptos"/>
              </a:defRPr>
            </a:lvl4pPr>
            <a:lvl5pPr>
              <a:defRPr sz="2001" b="1" lang="en-US">
                <a:latin typeface="Aptos"/>
                <a:ea typeface="Aptos"/>
                <a:cs typeface="Aptos"/>
              </a:defRPr>
            </a:lvl5pPr>
            <a:lvl6pPr>
              <a:defRPr sz="2001" b="1" lang="en-US">
                <a:latin typeface="Aptos"/>
                <a:ea typeface="Aptos"/>
                <a:cs typeface="Aptos"/>
              </a:defRPr>
            </a:lvl6pPr>
            <a:lvl7pPr>
              <a:defRPr sz="2001" b="1" lang="en-US">
                <a:latin typeface="Aptos"/>
                <a:ea typeface="Aptos"/>
                <a:cs typeface="Aptos"/>
              </a:defRPr>
            </a:lvl7pPr>
            <a:lvl8pPr>
              <a:defRPr sz="2001" b="1" lang="en-US">
                <a:latin typeface="Aptos"/>
                <a:ea typeface="Aptos"/>
                <a:cs typeface="Aptos"/>
              </a:defRPr>
            </a:lvl8pPr>
            <a:lvl9pPr>
              <a:defRPr sz="20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001" b="1" lang="en-US">
                <a:solidFill>
                  <a:srgbClr val="E6AB50"/>
                </a:solidFill>
                <a:latin typeface="Aptos"/>
                <a:ea typeface="Aptos"/>
                <a:cs typeface="Aptos"/>
              </a:rPr>
              <a:t>03</a:t>
            </a:r>
            <a:endParaRPr sz="2000" lang="en-US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6CADB18-A320-4D95-B6C3-1B572825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2880360"/>
            <a:ext cx="3108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99" b="1" lang="en-US">
                <a:latin typeface="Aptos"/>
                <a:ea typeface="Aptos"/>
                <a:cs typeface="Aptos"/>
              </a:defRPr>
            </a:defPPr>
            <a:lvl1pPr>
              <a:defRPr sz="2299" b="1" lang="en-US">
                <a:latin typeface="Aptos"/>
                <a:ea typeface="Aptos"/>
                <a:cs typeface="Aptos"/>
              </a:defRPr>
            </a:lvl1pPr>
            <a:lvl2pPr>
              <a:defRPr sz="2299" b="1" lang="en-US">
                <a:latin typeface="Aptos"/>
                <a:ea typeface="Aptos"/>
                <a:cs typeface="Aptos"/>
              </a:defRPr>
            </a:lvl2pPr>
            <a:lvl3pPr>
              <a:defRPr sz="2299" b="1" lang="en-US">
                <a:latin typeface="Aptos"/>
                <a:ea typeface="Aptos"/>
                <a:cs typeface="Aptos"/>
              </a:defRPr>
            </a:lvl3pPr>
            <a:lvl4pPr>
              <a:defRPr sz="2299" b="1" lang="en-US">
                <a:latin typeface="Aptos"/>
                <a:ea typeface="Aptos"/>
                <a:cs typeface="Aptos"/>
              </a:defRPr>
            </a:lvl4pPr>
            <a:lvl5pPr>
              <a:defRPr sz="2299" b="1" lang="en-US">
                <a:latin typeface="Aptos"/>
                <a:ea typeface="Aptos"/>
                <a:cs typeface="Aptos"/>
              </a:defRPr>
            </a:lvl5pPr>
            <a:lvl6pPr>
              <a:defRPr sz="2299" b="1" lang="en-US">
                <a:latin typeface="Aptos"/>
                <a:ea typeface="Aptos"/>
                <a:cs typeface="Aptos"/>
              </a:defRPr>
            </a:lvl6pPr>
            <a:lvl7pPr>
              <a:defRPr sz="2299" b="1" lang="en-US">
                <a:latin typeface="Aptos"/>
                <a:ea typeface="Aptos"/>
                <a:cs typeface="Aptos"/>
              </a:defRPr>
            </a:lvl7pPr>
            <a:lvl8pPr>
              <a:defRPr sz="2299" b="1" lang="en-US">
                <a:latin typeface="Aptos"/>
                <a:ea typeface="Aptos"/>
                <a:cs typeface="Aptos"/>
              </a:defRPr>
            </a:lvl8pPr>
            <a:lvl9pPr>
              <a:defRPr sz="22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2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USE AI</a:t>
            </a:r>
            <a:endParaRPr sz="2300" lang="en-US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07F4A1E-C120-42BB-AC7B-3759C39E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3675888"/>
            <a:ext cx="3136392" cy="557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lang="en-US">
                <a:latin typeface="Aptos"/>
                <a:ea typeface="Aptos"/>
                <a:cs typeface="Aptos"/>
              </a:defRPr>
            </a:defPPr>
            <a:lvl1pPr>
              <a:defRPr sz="1499" lang="en-US">
                <a:latin typeface="Aptos"/>
                <a:ea typeface="Aptos"/>
                <a:cs typeface="Aptos"/>
              </a:defRPr>
            </a:lvl1pPr>
            <a:lvl2pPr>
              <a:defRPr sz="1499" lang="en-US">
                <a:latin typeface="Aptos"/>
                <a:ea typeface="Aptos"/>
                <a:cs typeface="Aptos"/>
              </a:defRPr>
            </a:lvl2pPr>
            <a:lvl3pPr>
              <a:defRPr sz="1499" lang="en-US">
                <a:latin typeface="Aptos"/>
                <a:ea typeface="Aptos"/>
                <a:cs typeface="Aptos"/>
              </a:defRPr>
            </a:lvl3pPr>
            <a:lvl4pPr>
              <a:defRPr sz="1499" lang="en-US">
                <a:latin typeface="Aptos"/>
                <a:ea typeface="Aptos"/>
                <a:cs typeface="Aptos"/>
              </a:defRPr>
            </a:lvl4pPr>
            <a:lvl5pPr>
              <a:defRPr sz="1499" lang="en-US">
                <a:latin typeface="Aptos"/>
                <a:ea typeface="Aptos"/>
                <a:cs typeface="Aptos"/>
              </a:defRPr>
            </a:lvl5pPr>
            <a:lvl6pPr>
              <a:defRPr sz="1499" lang="en-US">
                <a:latin typeface="Aptos"/>
                <a:ea typeface="Aptos"/>
                <a:cs typeface="Aptos"/>
              </a:defRPr>
            </a:lvl6pPr>
            <a:lvl7pPr>
              <a:defRPr sz="1499" lang="en-US">
                <a:latin typeface="Aptos"/>
                <a:ea typeface="Aptos"/>
                <a:cs typeface="Aptos"/>
              </a:defRPr>
            </a:lvl7pPr>
            <a:lvl8pPr>
              <a:defRPr sz="1499" lang="en-US">
                <a:latin typeface="Aptos"/>
                <a:ea typeface="Aptos"/>
                <a:cs typeface="Aptos"/>
              </a:defRPr>
            </a:lvl8pPr>
            <a:lvl9pPr>
              <a:defRPr sz="149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Infer patterns and support</a:t>
            </a:r>
            <a:endParaRPr sz="1500" lang="en-US"/>
          </a:p>
          <a:p xmlns:a="http://schemas.openxmlformats.org/drawingml/2006/main">
            <a:pPr marL="0" indent="0" algn="l">
              <a:buNone/>
            </a:pPr>
            <a:r>
              <a:rPr sz="149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decisions</a:t>
            </a:r>
            <a:endParaRPr sz="1500" lang="en-US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70AF4C1C-4B57-44E3-9F5E-F071BEAC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1936" y="4498848"/>
            <a:ext cx="31638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DCE4E9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42ACF27-B618-457C-8B7B-D7E72752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4599432"/>
            <a:ext cx="31363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3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23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Computer vision, prediction, optimization</a:t>
            </a:r>
            <a:endParaRPr sz="1300" lang="en-US"/>
          </a:p>
        </p:txBody>
      </p:sp>
    </p:spTree>
    <p:extLst>
      <p:ext uri="{BB962C8B-B14F-4D97-AF65-F5344CB8AC3E}">
        <p14:creationId xmlns:p14="http://schemas.microsoft.com/office/powerpoint/2010/main" val="6471616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CF3F2F8-E3DC-47E5-8D99-01571810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DECISION CHAIN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123EA96-3F5D-48DA-ACA3-43AF1D07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From a weld to a verifiable action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155B322-E8E2-4461-A428-AEF309C0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AI helps detect problems; control, engineering, and safety remain essential.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3933E42-1205-460A-A2C5-EBB0A3D8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2221992"/>
            <a:ext cx="2167128" cy="2039112"/>
          </a:xfrm>
          <a:prstGeom xmlns:a="http://schemas.openxmlformats.org/drawingml/2006/main" prst="roundRect">
            <a:avLst>
              <a:gd name="adj" fmla="val 7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EBBB676-9E93-43AF-99FE-122EE709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48716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954"/>
          </a:solidFill>
          <a:ln xmlns:a="http://schemas.openxmlformats.org/drawingml/2006/main" w="12700">
            <a:solidFill>
              <a:srgbClr val="203954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700F148-1A2B-450B-92B9-264B21FF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2615184"/>
            <a:ext cx="40233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01" b="1" lang="en-US">
                <a:latin typeface="Aptos"/>
                <a:ea typeface="Aptos"/>
                <a:cs typeface="Aptos"/>
              </a:defRPr>
            </a:defPPr>
            <a:lvl1pPr>
              <a:defRPr sz="1301" b="1" lang="en-US">
                <a:latin typeface="Aptos"/>
                <a:ea typeface="Aptos"/>
                <a:cs typeface="Aptos"/>
              </a:defRPr>
            </a:lvl1pPr>
            <a:lvl2pPr>
              <a:defRPr sz="1301" b="1" lang="en-US">
                <a:latin typeface="Aptos"/>
                <a:ea typeface="Aptos"/>
                <a:cs typeface="Aptos"/>
              </a:defRPr>
            </a:lvl2pPr>
            <a:lvl3pPr>
              <a:defRPr sz="1301" b="1" lang="en-US">
                <a:latin typeface="Aptos"/>
                <a:ea typeface="Aptos"/>
                <a:cs typeface="Aptos"/>
              </a:defRPr>
            </a:lvl3pPr>
            <a:lvl4pPr>
              <a:defRPr sz="1301" b="1" lang="en-US">
                <a:latin typeface="Aptos"/>
                <a:ea typeface="Aptos"/>
                <a:cs typeface="Aptos"/>
              </a:defRPr>
            </a:lvl4pPr>
            <a:lvl5pPr>
              <a:defRPr sz="1301" b="1" lang="en-US">
                <a:latin typeface="Aptos"/>
                <a:ea typeface="Aptos"/>
                <a:cs typeface="Aptos"/>
              </a:defRPr>
            </a:lvl5pPr>
            <a:lvl6pPr>
              <a:defRPr sz="1301" b="1" lang="en-US">
                <a:latin typeface="Aptos"/>
                <a:ea typeface="Aptos"/>
                <a:cs typeface="Aptos"/>
              </a:defRPr>
            </a:lvl6pPr>
            <a:lvl7pPr>
              <a:defRPr sz="1301" b="1" lang="en-US">
                <a:latin typeface="Aptos"/>
                <a:ea typeface="Aptos"/>
                <a:cs typeface="Aptos"/>
              </a:defRPr>
            </a:lvl7pPr>
            <a:lvl8pPr>
              <a:defRPr sz="1301" b="1" lang="en-US">
                <a:latin typeface="Aptos"/>
                <a:ea typeface="Aptos"/>
                <a:cs typeface="Aptos"/>
              </a:defRPr>
            </a:lvl8pPr>
            <a:lvl9pPr>
              <a:defRPr sz="13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0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300" lang="en-US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22FACB7-F3D4-45EB-89A0-4316B784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182112"/>
            <a:ext cx="191109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41" b="1" lang="en-US">
                <a:latin typeface="Aptos"/>
                <a:ea typeface="Aptos"/>
                <a:cs typeface="Aptos"/>
              </a:defRPr>
            </a:defPPr>
            <a:lvl1pPr>
              <a:defRPr sz="1641" b="1" lang="en-US">
                <a:latin typeface="Aptos"/>
                <a:ea typeface="Aptos"/>
                <a:cs typeface="Aptos"/>
              </a:defRPr>
            </a:lvl1pPr>
            <a:lvl2pPr>
              <a:defRPr sz="1641" b="1" lang="en-US">
                <a:latin typeface="Aptos"/>
                <a:ea typeface="Aptos"/>
                <a:cs typeface="Aptos"/>
              </a:defRPr>
            </a:lvl2pPr>
            <a:lvl3pPr>
              <a:defRPr sz="1641" b="1" lang="en-US">
                <a:latin typeface="Aptos"/>
                <a:ea typeface="Aptos"/>
                <a:cs typeface="Aptos"/>
              </a:defRPr>
            </a:lvl3pPr>
            <a:lvl4pPr>
              <a:defRPr sz="1641" b="1" lang="en-US">
                <a:latin typeface="Aptos"/>
                <a:ea typeface="Aptos"/>
                <a:cs typeface="Aptos"/>
              </a:defRPr>
            </a:lvl4pPr>
            <a:lvl5pPr>
              <a:defRPr sz="1641" b="1" lang="en-US">
                <a:latin typeface="Aptos"/>
                <a:ea typeface="Aptos"/>
                <a:cs typeface="Aptos"/>
              </a:defRPr>
            </a:lvl5pPr>
            <a:lvl6pPr>
              <a:defRPr sz="1641" b="1" lang="en-US">
                <a:latin typeface="Aptos"/>
                <a:ea typeface="Aptos"/>
                <a:cs typeface="Aptos"/>
              </a:defRPr>
            </a:lvl6pPr>
            <a:lvl7pPr>
              <a:defRPr sz="1641" b="1" lang="en-US">
                <a:latin typeface="Aptos"/>
                <a:ea typeface="Aptos"/>
                <a:cs typeface="Aptos"/>
              </a:defRPr>
            </a:lvl7pPr>
            <a:lvl8pPr>
              <a:defRPr sz="1641" b="1" lang="en-US">
                <a:latin typeface="Aptos"/>
                <a:ea typeface="Aptos"/>
                <a:cs typeface="Aptos"/>
              </a:defRPr>
            </a:lvl8pPr>
            <a:lvl9pPr>
              <a:defRPr sz="164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64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WELDING</a:t>
            </a:r>
            <a:endParaRPr sz="1640" lang="en-US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D6D411B-79C0-4E3C-A46D-9C9AD68B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685032"/>
            <a:ext cx="194767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Physical process</a:t>
            </a:r>
            <a:endParaRPr sz="1220" lang="en-US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FBBD980-191F-4942-A097-3B454A8C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3191256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94F45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BF1DB13-CE27-4C42-878E-A9B221EC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221992"/>
            <a:ext cx="2167128" cy="2039112"/>
          </a:xfrm>
          <a:prstGeom xmlns:a="http://schemas.openxmlformats.org/drawingml/2006/main" prst="roundRect">
            <a:avLst>
              <a:gd name="adj" fmla="val 7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51B1803-3FF8-4AEF-91F2-6D308431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248716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954"/>
          </a:solidFill>
          <a:ln xmlns:a="http://schemas.openxmlformats.org/drawingml/2006/main" w="12700">
            <a:solidFill>
              <a:srgbClr val="203954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20F57AB-B8F9-4900-8B23-58DEA2A8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72" y="2615184"/>
            <a:ext cx="40233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01" b="1" lang="en-US">
                <a:latin typeface="Aptos"/>
                <a:ea typeface="Aptos"/>
                <a:cs typeface="Aptos"/>
              </a:defRPr>
            </a:defPPr>
            <a:lvl1pPr>
              <a:defRPr sz="1301" b="1" lang="en-US">
                <a:latin typeface="Aptos"/>
                <a:ea typeface="Aptos"/>
                <a:cs typeface="Aptos"/>
              </a:defRPr>
            </a:lvl1pPr>
            <a:lvl2pPr>
              <a:defRPr sz="1301" b="1" lang="en-US">
                <a:latin typeface="Aptos"/>
                <a:ea typeface="Aptos"/>
                <a:cs typeface="Aptos"/>
              </a:defRPr>
            </a:lvl2pPr>
            <a:lvl3pPr>
              <a:defRPr sz="1301" b="1" lang="en-US">
                <a:latin typeface="Aptos"/>
                <a:ea typeface="Aptos"/>
                <a:cs typeface="Aptos"/>
              </a:defRPr>
            </a:lvl3pPr>
            <a:lvl4pPr>
              <a:defRPr sz="1301" b="1" lang="en-US">
                <a:latin typeface="Aptos"/>
                <a:ea typeface="Aptos"/>
                <a:cs typeface="Aptos"/>
              </a:defRPr>
            </a:lvl4pPr>
            <a:lvl5pPr>
              <a:defRPr sz="1301" b="1" lang="en-US">
                <a:latin typeface="Aptos"/>
                <a:ea typeface="Aptos"/>
                <a:cs typeface="Aptos"/>
              </a:defRPr>
            </a:lvl5pPr>
            <a:lvl6pPr>
              <a:defRPr sz="1301" b="1" lang="en-US">
                <a:latin typeface="Aptos"/>
                <a:ea typeface="Aptos"/>
                <a:cs typeface="Aptos"/>
              </a:defRPr>
            </a:lvl6pPr>
            <a:lvl7pPr>
              <a:defRPr sz="1301" b="1" lang="en-US">
                <a:latin typeface="Aptos"/>
                <a:ea typeface="Aptos"/>
                <a:cs typeface="Aptos"/>
              </a:defRPr>
            </a:lvl7pPr>
            <a:lvl8pPr>
              <a:defRPr sz="1301" b="1" lang="en-US">
                <a:latin typeface="Aptos"/>
                <a:ea typeface="Aptos"/>
                <a:cs typeface="Aptos"/>
              </a:defRPr>
            </a:lvl8pPr>
            <a:lvl9pPr>
              <a:defRPr sz="13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0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300" lang="en-US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B17C508-2F11-437E-A368-7EA050C5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3182112"/>
            <a:ext cx="191109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41" b="1" lang="en-US">
                <a:latin typeface="Aptos"/>
                <a:ea typeface="Aptos"/>
                <a:cs typeface="Aptos"/>
              </a:defRPr>
            </a:defPPr>
            <a:lvl1pPr>
              <a:defRPr sz="1641" b="1" lang="en-US">
                <a:latin typeface="Aptos"/>
                <a:ea typeface="Aptos"/>
                <a:cs typeface="Aptos"/>
              </a:defRPr>
            </a:lvl1pPr>
            <a:lvl2pPr>
              <a:defRPr sz="1641" b="1" lang="en-US">
                <a:latin typeface="Aptos"/>
                <a:ea typeface="Aptos"/>
                <a:cs typeface="Aptos"/>
              </a:defRPr>
            </a:lvl2pPr>
            <a:lvl3pPr>
              <a:defRPr sz="1641" b="1" lang="en-US">
                <a:latin typeface="Aptos"/>
                <a:ea typeface="Aptos"/>
                <a:cs typeface="Aptos"/>
              </a:defRPr>
            </a:lvl3pPr>
            <a:lvl4pPr>
              <a:defRPr sz="1641" b="1" lang="en-US">
                <a:latin typeface="Aptos"/>
                <a:ea typeface="Aptos"/>
                <a:cs typeface="Aptos"/>
              </a:defRPr>
            </a:lvl4pPr>
            <a:lvl5pPr>
              <a:defRPr sz="1641" b="1" lang="en-US">
                <a:latin typeface="Aptos"/>
                <a:ea typeface="Aptos"/>
                <a:cs typeface="Aptos"/>
              </a:defRPr>
            </a:lvl5pPr>
            <a:lvl6pPr>
              <a:defRPr sz="1641" b="1" lang="en-US">
                <a:latin typeface="Aptos"/>
                <a:ea typeface="Aptos"/>
                <a:cs typeface="Aptos"/>
              </a:defRPr>
            </a:lvl6pPr>
            <a:lvl7pPr>
              <a:defRPr sz="1641" b="1" lang="en-US">
                <a:latin typeface="Aptos"/>
                <a:ea typeface="Aptos"/>
                <a:cs typeface="Aptos"/>
              </a:defRPr>
            </a:lvl7pPr>
            <a:lvl8pPr>
              <a:defRPr sz="1641" b="1" lang="en-US">
                <a:latin typeface="Aptos"/>
                <a:ea typeface="Aptos"/>
                <a:cs typeface="Aptos"/>
              </a:defRPr>
            </a:lvl8pPr>
            <a:lvl9pPr>
              <a:defRPr sz="164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64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CAMERA</a:t>
            </a:r>
            <a:endParaRPr sz="1640" lang="en-US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B9C3BA5-5185-4377-9F4A-4A029BCE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664" y="3685032"/>
            <a:ext cx="194767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Image capture</a:t>
            </a:r>
            <a:endParaRPr sz="1220" lang="en-US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8E72AD9-6183-4229-845A-A109C2CA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191256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94F45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9D440-A17A-41E9-8E96-3CB98E2B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088" y="2221992"/>
            <a:ext cx="2167128" cy="2039112"/>
          </a:xfrm>
          <a:prstGeom xmlns:a="http://schemas.openxmlformats.org/drawingml/2006/main" prst="roundRect">
            <a:avLst>
              <a:gd name="adj" fmla="val 7175"/>
            </a:avLst>
          </a:prstGeom>
          <a:solidFill xmlns:a="http://schemas.openxmlformats.org/drawingml/2006/main">
            <a:srgbClr val="C6E9E6"/>
          </a:solidFill>
          <a:ln xmlns:a="http://schemas.openxmlformats.org/drawingml/2006/main" w="12700">
            <a:solidFill>
              <a:srgbClr val="C6E9E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96ACEED-A245-45F4-96B6-212D081D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248716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5940B08-BA09-45A4-BEF6-732015F3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615184"/>
            <a:ext cx="40233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01" b="1" lang="en-US">
                <a:latin typeface="Aptos"/>
                <a:ea typeface="Aptos"/>
                <a:cs typeface="Aptos"/>
              </a:defRPr>
            </a:defPPr>
            <a:lvl1pPr>
              <a:defRPr sz="1301" b="1" lang="en-US">
                <a:latin typeface="Aptos"/>
                <a:ea typeface="Aptos"/>
                <a:cs typeface="Aptos"/>
              </a:defRPr>
            </a:lvl1pPr>
            <a:lvl2pPr>
              <a:defRPr sz="1301" b="1" lang="en-US">
                <a:latin typeface="Aptos"/>
                <a:ea typeface="Aptos"/>
                <a:cs typeface="Aptos"/>
              </a:defRPr>
            </a:lvl2pPr>
            <a:lvl3pPr>
              <a:defRPr sz="1301" b="1" lang="en-US">
                <a:latin typeface="Aptos"/>
                <a:ea typeface="Aptos"/>
                <a:cs typeface="Aptos"/>
              </a:defRPr>
            </a:lvl3pPr>
            <a:lvl4pPr>
              <a:defRPr sz="1301" b="1" lang="en-US">
                <a:latin typeface="Aptos"/>
                <a:ea typeface="Aptos"/>
                <a:cs typeface="Aptos"/>
              </a:defRPr>
            </a:lvl4pPr>
            <a:lvl5pPr>
              <a:defRPr sz="1301" b="1" lang="en-US">
                <a:latin typeface="Aptos"/>
                <a:ea typeface="Aptos"/>
                <a:cs typeface="Aptos"/>
              </a:defRPr>
            </a:lvl5pPr>
            <a:lvl6pPr>
              <a:defRPr sz="1301" b="1" lang="en-US">
                <a:latin typeface="Aptos"/>
                <a:ea typeface="Aptos"/>
                <a:cs typeface="Aptos"/>
              </a:defRPr>
            </a:lvl6pPr>
            <a:lvl7pPr>
              <a:defRPr sz="1301" b="1" lang="en-US">
                <a:latin typeface="Aptos"/>
                <a:ea typeface="Aptos"/>
                <a:cs typeface="Aptos"/>
              </a:defRPr>
            </a:lvl7pPr>
            <a:lvl8pPr>
              <a:defRPr sz="1301" b="1" lang="en-US">
                <a:latin typeface="Aptos"/>
                <a:ea typeface="Aptos"/>
                <a:cs typeface="Aptos"/>
              </a:defRPr>
            </a:lvl8pPr>
            <a:lvl9pPr>
              <a:defRPr sz="13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0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300" lang="en-US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943AF7F-9B2B-4B06-A800-7D7B966D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104" y="3182112"/>
            <a:ext cx="191109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41" b="1" lang="en-US">
                <a:latin typeface="Aptos"/>
                <a:ea typeface="Aptos"/>
                <a:cs typeface="Aptos"/>
              </a:defRPr>
            </a:defPPr>
            <a:lvl1pPr>
              <a:defRPr sz="1641" b="1" lang="en-US">
                <a:latin typeface="Aptos"/>
                <a:ea typeface="Aptos"/>
                <a:cs typeface="Aptos"/>
              </a:defRPr>
            </a:lvl1pPr>
            <a:lvl2pPr>
              <a:defRPr sz="1641" b="1" lang="en-US">
                <a:latin typeface="Aptos"/>
                <a:ea typeface="Aptos"/>
                <a:cs typeface="Aptos"/>
              </a:defRPr>
            </a:lvl2pPr>
            <a:lvl3pPr>
              <a:defRPr sz="1641" b="1" lang="en-US">
                <a:latin typeface="Aptos"/>
                <a:ea typeface="Aptos"/>
                <a:cs typeface="Aptos"/>
              </a:defRPr>
            </a:lvl3pPr>
            <a:lvl4pPr>
              <a:defRPr sz="1641" b="1" lang="en-US">
                <a:latin typeface="Aptos"/>
                <a:ea typeface="Aptos"/>
                <a:cs typeface="Aptos"/>
              </a:defRPr>
            </a:lvl4pPr>
            <a:lvl5pPr>
              <a:defRPr sz="1641" b="1" lang="en-US">
                <a:latin typeface="Aptos"/>
                <a:ea typeface="Aptos"/>
                <a:cs typeface="Aptos"/>
              </a:defRPr>
            </a:lvl5pPr>
            <a:lvl6pPr>
              <a:defRPr sz="1641" b="1" lang="en-US">
                <a:latin typeface="Aptos"/>
                <a:ea typeface="Aptos"/>
                <a:cs typeface="Aptos"/>
              </a:defRPr>
            </a:lvl6pPr>
            <a:lvl7pPr>
              <a:defRPr sz="1641" b="1" lang="en-US">
                <a:latin typeface="Aptos"/>
                <a:ea typeface="Aptos"/>
                <a:cs typeface="Aptos"/>
              </a:defRPr>
            </a:lvl7pPr>
            <a:lvl8pPr>
              <a:defRPr sz="1641" b="1" lang="en-US">
                <a:latin typeface="Aptos"/>
                <a:ea typeface="Aptos"/>
                <a:cs typeface="Aptos"/>
              </a:defRPr>
            </a:lvl8pPr>
            <a:lvl9pPr>
              <a:defRPr sz="164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64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MODEL</a:t>
            </a:r>
            <a:endParaRPr sz="1640" lang="en-US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A027021-3403-4A78-82D4-ECFC58A7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685032"/>
            <a:ext cx="194767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Estimated anomaly</a:t>
            </a:r>
            <a:endParaRPr sz="1220" lang="en-US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8F4136C-F2FD-4A9F-B192-5A356C4E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216" y="3191256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94F45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8B429DE-7335-4C64-BC06-F0CE7075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384" y="2221992"/>
            <a:ext cx="2167128" cy="2039112"/>
          </a:xfrm>
          <a:prstGeom xmlns:a="http://schemas.openxmlformats.org/drawingml/2006/main" prst="roundRect">
            <a:avLst>
              <a:gd name="adj" fmla="val 7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3365DE07-770D-4FC0-976E-77A3CCC0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8716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954"/>
          </a:solidFill>
          <a:ln xmlns:a="http://schemas.openxmlformats.org/drawingml/2006/main" w="12700">
            <a:solidFill>
              <a:srgbClr val="203954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41463C3-806F-4284-9263-B8AEF166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064" y="2615184"/>
            <a:ext cx="40233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01" b="1" lang="en-US">
                <a:latin typeface="Aptos"/>
                <a:ea typeface="Aptos"/>
                <a:cs typeface="Aptos"/>
              </a:defRPr>
            </a:defPPr>
            <a:lvl1pPr>
              <a:defRPr sz="1301" b="1" lang="en-US">
                <a:latin typeface="Aptos"/>
                <a:ea typeface="Aptos"/>
                <a:cs typeface="Aptos"/>
              </a:defRPr>
            </a:lvl1pPr>
            <a:lvl2pPr>
              <a:defRPr sz="1301" b="1" lang="en-US">
                <a:latin typeface="Aptos"/>
                <a:ea typeface="Aptos"/>
                <a:cs typeface="Aptos"/>
              </a:defRPr>
            </a:lvl2pPr>
            <a:lvl3pPr>
              <a:defRPr sz="1301" b="1" lang="en-US">
                <a:latin typeface="Aptos"/>
                <a:ea typeface="Aptos"/>
                <a:cs typeface="Aptos"/>
              </a:defRPr>
            </a:lvl3pPr>
            <a:lvl4pPr>
              <a:defRPr sz="1301" b="1" lang="en-US">
                <a:latin typeface="Aptos"/>
                <a:ea typeface="Aptos"/>
                <a:cs typeface="Aptos"/>
              </a:defRPr>
            </a:lvl4pPr>
            <a:lvl5pPr>
              <a:defRPr sz="1301" b="1" lang="en-US">
                <a:latin typeface="Aptos"/>
                <a:ea typeface="Aptos"/>
                <a:cs typeface="Aptos"/>
              </a:defRPr>
            </a:lvl5pPr>
            <a:lvl6pPr>
              <a:defRPr sz="1301" b="1" lang="en-US">
                <a:latin typeface="Aptos"/>
                <a:ea typeface="Aptos"/>
                <a:cs typeface="Aptos"/>
              </a:defRPr>
            </a:lvl6pPr>
            <a:lvl7pPr>
              <a:defRPr sz="1301" b="1" lang="en-US">
                <a:latin typeface="Aptos"/>
                <a:ea typeface="Aptos"/>
                <a:cs typeface="Aptos"/>
              </a:defRPr>
            </a:lvl7pPr>
            <a:lvl8pPr>
              <a:defRPr sz="1301" b="1" lang="en-US">
                <a:latin typeface="Aptos"/>
                <a:ea typeface="Aptos"/>
                <a:cs typeface="Aptos"/>
              </a:defRPr>
            </a:lvl8pPr>
            <a:lvl9pPr>
              <a:defRPr sz="13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0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  <a:endParaRPr sz="1300" lang="en-US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7BCCCA41-ACBD-41B2-BB72-4D118006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82112"/>
            <a:ext cx="191109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41" b="1" lang="en-US">
                <a:latin typeface="Aptos"/>
                <a:ea typeface="Aptos"/>
                <a:cs typeface="Aptos"/>
              </a:defRPr>
            </a:defPPr>
            <a:lvl1pPr>
              <a:defRPr sz="1641" b="1" lang="en-US">
                <a:latin typeface="Aptos"/>
                <a:ea typeface="Aptos"/>
                <a:cs typeface="Aptos"/>
              </a:defRPr>
            </a:lvl1pPr>
            <a:lvl2pPr>
              <a:defRPr sz="1641" b="1" lang="en-US">
                <a:latin typeface="Aptos"/>
                <a:ea typeface="Aptos"/>
                <a:cs typeface="Aptos"/>
              </a:defRPr>
            </a:lvl2pPr>
            <a:lvl3pPr>
              <a:defRPr sz="1641" b="1" lang="en-US">
                <a:latin typeface="Aptos"/>
                <a:ea typeface="Aptos"/>
                <a:cs typeface="Aptos"/>
              </a:defRPr>
            </a:lvl3pPr>
            <a:lvl4pPr>
              <a:defRPr sz="1641" b="1" lang="en-US">
                <a:latin typeface="Aptos"/>
                <a:ea typeface="Aptos"/>
                <a:cs typeface="Aptos"/>
              </a:defRPr>
            </a:lvl4pPr>
            <a:lvl5pPr>
              <a:defRPr sz="1641" b="1" lang="en-US">
                <a:latin typeface="Aptos"/>
                <a:ea typeface="Aptos"/>
                <a:cs typeface="Aptos"/>
              </a:defRPr>
            </a:lvl5pPr>
            <a:lvl6pPr>
              <a:defRPr sz="1641" b="1" lang="en-US">
                <a:latin typeface="Aptos"/>
                <a:ea typeface="Aptos"/>
                <a:cs typeface="Aptos"/>
              </a:defRPr>
            </a:lvl6pPr>
            <a:lvl7pPr>
              <a:defRPr sz="1641" b="1" lang="en-US">
                <a:latin typeface="Aptos"/>
                <a:ea typeface="Aptos"/>
                <a:cs typeface="Aptos"/>
              </a:defRPr>
            </a:lvl7pPr>
            <a:lvl8pPr>
              <a:defRPr sz="1641" b="1" lang="en-US">
                <a:latin typeface="Aptos"/>
                <a:ea typeface="Aptos"/>
                <a:cs typeface="Aptos"/>
              </a:defRPr>
            </a:lvl8pPr>
            <a:lvl9pPr>
              <a:defRPr sz="164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64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VALIDATION</a:t>
            </a:r>
            <a:endParaRPr sz="1640" lang="en-US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DE43CC0-3FE4-489D-B6A9-BCB357FE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256" y="3685032"/>
            <a:ext cx="194767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Technician / rules</a:t>
            </a:r>
            <a:endParaRPr sz="1220" lang="en-US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B29F5FE8-0406-43BA-9942-2DD5AFC7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512" y="3191256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94F45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3DB19BCD-14FF-4B1C-86D2-07DA63F6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221992"/>
            <a:ext cx="2167128" cy="2039112"/>
          </a:xfrm>
          <a:prstGeom xmlns:a="http://schemas.openxmlformats.org/drawingml/2006/main" prst="roundRect">
            <a:avLst>
              <a:gd name="adj" fmla="val 7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581390D-F187-4713-9666-10D5C0CF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496" y="248716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954"/>
          </a:solidFill>
          <a:ln xmlns:a="http://schemas.openxmlformats.org/drawingml/2006/main" w="12700">
            <a:solidFill>
              <a:srgbClr val="203954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38773CD-EA8A-4787-BE7D-A0BFAE65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2615184"/>
            <a:ext cx="40233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01" b="1" lang="en-US">
                <a:latin typeface="Aptos"/>
                <a:ea typeface="Aptos"/>
                <a:cs typeface="Aptos"/>
              </a:defRPr>
            </a:defPPr>
            <a:lvl1pPr>
              <a:defRPr sz="1301" b="1" lang="en-US">
                <a:latin typeface="Aptos"/>
                <a:ea typeface="Aptos"/>
                <a:cs typeface="Aptos"/>
              </a:defRPr>
            </a:lvl1pPr>
            <a:lvl2pPr>
              <a:defRPr sz="1301" b="1" lang="en-US">
                <a:latin typeface="Aptos"/>
                <a:ea typeface="Aptos"/>
                <a:cs typeface="Aptos"/>
              </a:defRPr>
            </a:lvl2pPr>
            <a:lvl3pPr>
              <a:defRPr sz="1301" b="1" lang="en-US">
                <a:latin typeface="Aptos"/>
                <a:ea typeface="Aptos"/>
                <a:cs typeface="Aptos"/>
              </a:defRPr>
            </a:lvl3pPr>
            <a:lvl4pPr>
              <a:defRPr sz="1301" b="1" lang="en-US">
                <a:latin typeface="Aptos"/>
                <a:ea typeface="Aptos"/>
                <a:cs typeface="Aptos"/>
              </a:defRPr>
            </a:lvl4pPr>
            <a:lvl5pPr>
              <a:defRPr sz="1301" b="1" lang="en-US">
                <a:latin typeface="Aptos"/>
                <a:ea typeface="Aptos"/>
                <a:cs typeface="Aptos"/>
              </a:defRPr>
            </a:lvl5pPr>
            <a:lvl6pPr>
              <a:defRPr sz="1301" b="1" lang="en-US">
                <a:latin typeface="Aptos"/>
                <a:ea typeface="Aptos"/>
                <a:cs typeface="Aptos"/>
              </a:defRPr>
            </a:lvl6pPr>
            <a:lvl7pPr>
              <a:defRPr sz="1301" b="1" lang="en-US">
                <a:latin typeface="Aptos"/>
                <a:ea typeface="Aptos"/>
                <a:cs typeface="Aptos"/>
              </a:defRPr>
            </a:lvl7pPr>
            <a:lvl8pPr>
              <a:defRPr sz="1301" b="1" lang="en-US">
                <a:latin typeface="Aptos"/>
                <a:ea typeface="Aptos"/>
                <a:cs typeface="Aptos"/>
              </a:defRPr>
            </a:lvl8pPr>
            <a:lvl9pPr>
              <a:defRPr sz="13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0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  <a:endParaRPr sz="1300" lang="en-US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C4A5E3B8-664D-45C0-8E68-4EF544B9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696" y="3182112"/>
            <a:ext cx="191109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41" b="1" lang="en-US">
                <a:latin typeface="Aptos"/>
                <a:ea typeface="Aptos"/>
                <a:cs typeface="Aptos"/>
              </a:defRPr>
            </a:defPPr>
            <a:lvl1pPr>
              <a:defRPr sz="1641" b="1" lang="en-US">
                <a:latin typeface="Aptos"/>
                <a:ea typeface="Aptos"/>
                <a:cs typeface="Aptos"/>
              </a:defRPr>
            </a:lvl1pPr>
            <a:lvl2pPr>
              <a:defRPr sz="1641" b="1" lang="en-US">
                <a:latin typeface="Aptos"/>
                <a:ea typeface="Aptos"/>
                <a:cs typeface="Aptos"/>
              </a:defRPr>
            </a:lvl2pPr>
            <a:lvl3pPr>
              <a:defRPr sz="1641" b="1" lang="en-US">
                <a:latin typeface="Aptos"/>
                <a:ea typeface="Aptos"/>
                <a:cs typeface="Aptos"/>
              </a:defRPr>
            </a:lvl3pPr>
            <a:lvl4pPr>
              <a:defRPr sz="1641" b="1" lang="en-US">
                <a:latin typeface="Aptos"/>
                <a:ea typeface="Aptos"/>
                <a:cs typeface="Aptos"/>
              </a:defRPr>
            </a:lvl4pPr>
            <a:lvl5pPr>
              <a:defRPr sz="1641" b="1" lang="en-US">
                <a:latin typeface="Aptos"/>
                <a:ea typeface="Aptos"/>
                <a:cs typeface="Aptos"/>
              </a:defRPr>
            </a:lvl5pPr>
            <a:lvl6pPr>
              <a:defRPr sz="1641" b="1" lang="en-US">
                <a:latin typeface="Aptos"/>
                <a:ea typeface="Aptos"/>
                <a:cs typeface="Aptos"/>
              </a:defRPr>
            </a:lvl6pPr>
            <a:lvl7pPr>
              <a:defRPr sz="1641" b="1" lang="en-US">
                <a:latin typeface="Aptos"/>
                <a:ea typeface="Aptos"/>
                <a:cs typeface="Aptos"/>
              </a:defRPr>
            </a:lvl7pPr>
            <a:lvl8pPr>
              <a:defRPr sz="1641" b="1" lang="en-US">
                <a:latin typeface="Aptos"/>
                <a:ea typeface="Aptos"/>
                <a:cs typeface="Aptos"/>
              </a:defRPr>
            </a:lvl8pPr>
            <a:lvl9pPr>
              <a:defRPr sz="164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64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ACTION</a:t>
            </a:r>
            <a:endParaRPr sz="1640" lang="en-US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F0ACAE2-4D29-4F73-8266-F0B56E96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3685032"/>
            <a:ext cx="194767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Rework / alert</a:t>
            </a:r>
            <a:endParaRPr sz="1220" lang="en-US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B8802167-609C-4FFB-9FF8-2E7273CD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18888"/>
            <a:ext cx="10552176" cy="658368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1D9"/>
          </a:solidFill>
          <a:ln xmlns:a="http://schemas.openxmlformats.org/drawingml/2006/main" w="12700">
            <a:solidFill>
              <a:srgbClr val="FFF1D9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AEEA1502-3DC8-40C3-9744-7F1CA8B0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983480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99" b="1" lang="en-US">
                <a:latin typeface="Aptos"/>
                <a:ea typeface="Aptos"/>
                <a:cs typeface="Aptos"/>
              </a:defRPr>
            </a:defPPr>
            <a:lvl1pPr>
              <a:defRPr sz="1599" b="1" lang="en-US">
                <a:latin typeface="Aptos"/>
                <a:ea typeface="Aptos"/>
                <a:cs typeface="Aptos"/>
              </a:defRPr>
            </a:lvl1pPr>
            <a:lvl2pPr>
              <a:defRPr sz="1599" b="1" lang="en-US">
                <a:latin typeface="Aptos"/>
                <a:ea typeface="Aptos"/>
                <a:cs typeface="Aptos"/>
              </a:defRPr>
            </a:lvl2pPr>
            <a:lvl3pPr>
              <a:defRPr sz="1599" b="1" lang="en-US">
                <a:latin typeface="Aptos"/>
                <a:ea typeface="Aptos"/>
                <a:cs typeface="Aptos"/>
              </a:defRPr>
            </a:lvl3pPr>
            <a:lvl4pPr>
              <a:defRPr sz="1599" b="1" lang="en-US">
                <a:latin typeface="Aptos"/>
                <a:ea typeface="Aptos"/>
                <a:cs typeface="Aptos"/>
              </a:defRPr>
            </a:lvl4pPr>
            <a:lvl5pPr>
              <a:defRPr sz="1599" b="1" lang="en-US">
                <a:latin typeface="Aptos"/>
                <a:ea typeface="Aptos"/>
                <a:cs typeface="Aptos"/>
              </a:defRPr>
            </a:lvl5pPr>
            <a:lvl6pPr>
              <a:defRPr sz="1599" b="1" lang="en-US">
                <a:latin typeface="Aptos"/>
                <a:ea typeface="Aptos"/>
                <a:cs typeface="Aptos"/>
              </a:defRPr>
            </a:lvl6pPr>
            <a:lvl7pPr>
              <a:defRPr sz="1599" b="1" lang="en-US">
                <a:latin typeface="Aptos"/>
                <a:ea typeface="Aptos"/>
                <a:cs typeface="Aptos"/>
              </a:defRPr>
            </a:lvl7pPr>
            <a:lvl8pPr>
              <a:defRPr sz="1599" b="1" lang="en-US">
                <a:latin typeface="Aptos"/>
                <a:ea typeface="Aptos"/>
                <a:cs typeface="Aptos"/>
              </a:defRPr>
            </a:lvl8pPr>
            <a:lvl9pPr>
              <a:defRPr sz="15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5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A model cannot “see” every defect or bypass quality validation.</a:t>
            </a:r>
            <a:endParaRPr sz="1600" lang="en-US"/>
          </a:p>
        </p:txBody>
      </p:sp>
    </p:spTree>
    <p:extLst>
      <p:ext uri="{BB962C8B-B14F-4D97-AF65-F5344CB8AC3E}">
        <p14:creationId xmlns:p14="http://schemas.microsoft.com/office/powerpoint/2010/main" val="15918548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19D911B-0E0E-4E9A-8004-87AC8B6E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REAL-WORLD CASE · SHOUGANG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C33447-CBFD-42A8-AA83-828B3A07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Can AI help produce higher-quality steel?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08B7B76-52AB-4A7B-A2D5-9E69BFA3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Beijing Shougang Cold Rolling · Global Lighthouse Network.</a:t>
            </a:r>
            <a:endParaRPr sz="1400" lang="en-US"/>
          </a:p>
        </p:txBody>
      </p:sp>
      <p:pic>
        <p:nvPicPr>
          <p:cNvPr id="8" name="Image 0">
            <a:extLst xmlns:a="http://schemas.openxmlformats.org/drawingml/2006/main">
              <a:ext uri="{FF2B5EF4-FFF2-40B4-BE49-F238E27FC236}">
                <a16:creationId xmlns:a16="http://schemas.microsoft.com/office/drawing/2014/main" id="{3C0185BD-0053-4ECC-A657-4E62F14D7C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dcdc425a04db3"/>
          <a:srcRect xmlns:a="http://schemas.openxmlformats.org/drawingml/2006/main" l="0" t="21713" r="0" b="21713"/>
          <a:stretch xmlns:a="http://schemas.openxmlformats.org/drawingml/2006/main"/>
        </p:blipFill>
        <p:spPr>
          <a:xfrm xmlns:a="http://schemas.openxmlformats.org/drawingml/2006/main">
            <a:off x="566928" y="1929384"/>
            <a:ext cx="5715000" cy="3639312"/>
          </a:xfrm>
          <a:prstGeom xmlns:a="http://schemas.openxmlformats.org/drawingml/2006/main" prst="rect">
            <a:avLst/>
          </a:prstGeom>
        </p:spPr>
      </p:pic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CE123522-45D3-4789-A9FD-B14966CC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1929384"/>
            <a:ext cx="5056632" cy="3648456"/>
          </a:xfrm>
          <a:prstGeom xmlns:a="http://schemas.openxmlformats.org/drawingml/2006/main" prst="roundRect">
            <a:avLst>
              <a:gd name="adj" fmla="val 4010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8AE9547-A509-4410-B390-407B0034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258568"/>
            <a:ext cx="1874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4399" b="1" lang="en-US">
                <a:latin typeface="Aptos"/>
                <a:ea typeface="Aptos"/>
                <a:cs typeface="Aptos"/>
              </a:defRPr>
            </a:defPPr>
            <a:lvl1pPr>
              <a:defRPr sz="4399" b="1" lang="en-US">
                <a:latin typeface="Aptos"/>
                <a:ea typeface="Aptos"/>
                <a:cs typeface="Aptos"/>
              </a:defRPr>
            </a:lvl1pPr>
            <a:lvl2pPr>
              <a:defRPr sz="4399" b="1" lang="en-US">
                <a:latin typeface="Aptos"/>
                <a:ea typeface="Aptos"/>
                <a:cs typeface="Aptos"/>
              </a:defRPr>
            </a:lvl2pPr>
            <a:lvl3pPr>
              <a:defRPr sz="4399" b="1" lang="en-US">
                <a:latin typeface="Aptos"/>
                <a:ea typeface="Aptos"/>
                <a:cs typeface="Aptos"/>
              </a:defRPr>
            </a:lvl3pPr>
            <a:lvl4pPr>
              <a:defRPr sz="4399" b="1" lang="en-US">
                <a:latin typeface="Aptos"/>
                <a:ea typeface="Aptos"/>
                <a:cs typeface="Aptos"/>
              </a:defRPr>
            </a:lvl4pPr>
            <a:lvl5pPr>
              <a:defRPr sz="4399" b="1" lang="en-US">
                <a:latin typeface="Aptos"/>
                <a:ea typeface="Aptos"/>
                <a:cs typeface="Aptos"/>
              </a:defRPr>
            </a:lvl5pPr>
            <a:lvl6pPr>
              <a:defRPr sz="4399" b="1" lang="en-US">
                <a:latin typeface="Aptos"/>
                <a:ea typeface="Aptos"/>
                <a:cs typeface="Aptos"/>
              </a:defRPr>
            </a:lvl6pPr>
            <a:lvl7pPr>
              <a:defRPr sz="4399" b="1" lang="en-US">
                <a:latin typeface="Aptos"/>
                <a:ea typeface="Aptos"/>
                <a:cs typeface="Aptos"/>
              </a:defRPr>
            </a:lvl7pPr>
            <a:lvl8pPr>
              <a:defRPr sz="4399" b="1" lang="en-US">
                <a:latin typeface="Aptos"/>
                <a:ea typeface="Aptos"/>
                <a:cs typeface="Aptos"/>
              </a:defRPr>
            </a:lvl8pPr>
            <a:lvl9pPr>
              <a:defRPr sz="43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4399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67</a:t>
            </a:r>
            <a:endParaRPr sz="4400" lang="en-US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07F895D-E92C-41D1-AA72-8F861FD7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331720"/>
            <a:ext cx="280720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lang="en-US">
                <a:latin typeface="Aptos"/>
                <a:ea typeface="Aptos"/>
                <a:cs typeface="Aptos"/>
              </a:defRPr>
            </a:defPPr>
            <a:lvl1pPr>
              <a:defRPr sz="1499" lang="en-US">
                <a:latin typeface="Aptos"/>
                <a:ea typeface="Aptos"/>
                <a:cs typeface="Aptos"/>
              </a:defRPr>
            </a:lvl1pPr>
            <a:lvl2pPr>
              <a:defRPr sz="1499" lang="en-US">
                <a:latin typeface="Aptos"/>
                <a:ea typeface="Aptos"/>
                <a:cs typeface="Aptos"/>
              </a:defRPr>
            </a:lvl2pPr>
            <a:lvl3pPr>
              <a:defRPr sz="1499" lang="en-US">
                <a:latin typeface="Aptos"/>
                <a:ea typeface="Aptos"/>
                <a:cs typeface="Aptos"/>
              </a:defRPr>
            </a:lvl3pPr>
            <a:lvl4pPr>
              <a:defRPr sz="1499" lang="en-US">
                <a:latin typeface="Aptos"/>
                <a:ea typeface="Aptos"/>
                <a:cs typeface="Aptos"/>
              </a:defRPr>
            </a:lvl4pPr>
            <a:lvl5pPr>
              <a:defRPr sz="1499" lang="en-US">
                <a:latin typeface="Aptos"/>
                <a:ea typeface="Aptos"/>
                <a:cs typeface="Aptos"/>
              </a:defRPr>
            </a:lvl5pPr>
            <a:lvl6pPr>
              <a:defRPr sz="1499" lang="en-US">
                <a:latin typeface="Aptos"/>
                <a:ea typeface="Aptos"/>
                <a:cs typeface="Aptos"/>
              </a:defRPr>
            </a:lvl6pPr>
            <a:lvl7pPr>
              <a:defRPr sz="1499" lang="en-US">
                <a:latin typeface="Aptos"/>
                <a:ea typeface="Aptos"/>
                <a:cs typeface="Aptos"/>
              </a:defRPr>
            </a:lvl7pPr>
            <a:lvl8pPr>
              <a:defRPr sz="1499" lang="en-US">
                <a:latin typeface="Aptos"/>
                <a:ea typeface="Aptos"/>
                <a:cs typeface="Aptos"/>
              </a:defRPr>
            </a:lvl8pPr>
            <a:lvl9pPr>
              <a:defRPr sz="149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lang="en-US">
                <a:solidFill>
                  <a:srgbClr val="DEE7EE"/>
                </a:solidFill>
                <a:latin typeface="Aptos"/>
                <a:ea typeface="Aptos"/>
                <a:cs typeface="Aptos"/>
              </a:rPr>
              <a:t>advanced manufacturing</a:t>
            </a:r>
            <a:endParaRPr sz="1500" lang="en-US"/>
          </a:p>
          <a:p xmlns:a="http://schemas.openxmlformats.org/drawingml/2006/main">
            <a:pPr marL="0" indent="0" algn="l">
              <a:buNone/>
            </a:pPr>
            <a:r>
              <a:rPr sz="1499" lang="en-US">
                <a:solidFill>
                  <a:srgbClr val="DEE7EE"/>
                </a:solidFill>
                <a:latin typeface="Aptos"/>
                <a:ea typeface="Aptos"/>
                <a:cs typeface="Aptos"/>
              </a:rPr>
              <a:t>technology applications</a:t>
            </a:r>
            <a:endParaRPr sz="1500" lang="en-US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3660D77-7553-4C45-B65E-50452404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200400"/>
            <a:ext cx="43708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18192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9F42A84A-3251-4058-8D8C-CD73FC1F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410712"/>
            <a:ext cx="3063240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901" b="1" lang="en-US">
                <a:latin typeface="Aptos"/>
                <a:ea typeface="Aptos"/>
                <a:cs typeface="Aptos"/>
              </a:defRPr>
            </a:defPPr>
            <a:lvl1pPr>
              <a:defRPr sz="3901" b="1" lang="en-US">
                <a:latin typeface="Aptos"/>
                <a:ea typeface="Aptos"/>
                <a:cs typeface="Aptos"/>
              </a:defRPr>
            </a:lvl1pPr>
            <a:lvl2pPr>
              <a:defRPr sz="3901" b="1" lang="en-US">
                <a:latin typeface="Aptos"/>
                <a:ea typeface="Aptos"/>
                <a:cs typeface="Aptos"/>
              </a:defRPr>
            </a:lvl2pPr>
            <a:lvl3pPr>
              <a:defRPr sz="3901" b="1" lang="en-US">
                <a:latin typeface="Aptos"/>
                <a:ea typeface="Aptos"/>
                <a:cs typeface="Aptos"/>
              </a:defRPr>
            </a:lvl3pPr>
            <a:lvl4pPr>
              <a:defRPr sz="3901" b="1" lang="en-US">
                <a:latin typeface="Aptos"/>
                <a:ea typeface="Aptos"/>
                <a:cs typeface="Aptos"/>
              </a:defRPr>
            </a:lvl4pPr>
            <a:lvl5pPr>
              <a:defRPr sz="3901" b="1" lang="en-US">
                <a:latin typeface="Aptos"/>
                <a:ea typeface="Aptos"/>
                <a:cs typeface="Aptos"/>
              </a:defRPr>
            </a:lvl5pPr>
            <a:lvl6pPr>
              <a:defRPr sz="3901" b="1" lang="en-US">
                <a:latin typeface="Aptos"/>
                <a:ea typeface="Aptos"/>
                <a:cs typeface="Aptos"/>
              </a:defRPr>
            </a:lvl6pPr>
            <a:lvl7pPr>
              <a:defRPr sz="3901" b="1" lang="en-US">
                <a:latin typeface="Aptos"/>
                <a:ea typeface="Aptos"/>
                <a:cs typeface="Aptos"/>
              </a:defRPr>
            </a:lvl7pPr>
            <a:lvl8pPr>
              <a:defRPr sz="3901" b="1" lang="en-US">
                <a:latin typeface="Aptos"/>
                <a:ea typeface="Aptos"/>
                <a:cs typeface="Aptos"/>
              </a:defRPr>
            </a:lvl8pPr>
            <a:lvl9pPr>
              <a:defRPr sz="39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3901" b="1" lang="en-US">
                <a:solidFill>
                  <a:srgbClr val="E6AB50"/>
                </a:solidFill>
                <a:latin typeface="Aptos"/>
                <a:ea typeface="Aptos"/>
                <a:cs typeface="Aptos"/>
              </a:rPr>
              <a:t>61%</a:t>
            </a:r>
            <a:endParaRPr sz="3900" lang="en-US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7195F9C-DCDF-44CE-AE94-469BB970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4087368"/>
            <a:ext cx="4251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lang="en-US">
                <a:latin typeface="Aptos"/>
                <a:ea typeface="Aptos"/>
                <a:cs typeface="Aptos"/>
              </a:defRPr>
            </a:defPPr>
            <a:lvl1pPr>
              <a:defRPr sz="1499" lang="en-US">
                <a:latin typeface="Aptos"/>
                <a:ea typeface="Aptos"/>
                <a:cs typeface="Aptos"/>
              </a:defRPr>
            </a:lvl1pPr>
            <a:lvl2pPr>
              <a:defRPr sz="1499" lang="en-US">
                <a:latin typeface="Aptos"/>
                <a:ea typeface="Aptos"/>
                <a:cs typeface="Aptos"/>
              </a:defRPr>
            </a:lvl2pPr>
            <a:lvl3pPr>
              <a:defRPr sz="1499" lang="en-US">
                <a:latin typeface="Aptos"/>
                <a:ea typeface="Aptos"/>
                <a:cs typeface="Aptos"/>
              </a:defRPr>
            </a:lvl3pPr>
            <a:lvl4pPr>
              <a:defRPr sz="1499" lang="en-US">
                <a:latin typeface="Aptos"/>
                <a:ea typeface="Aptos"/>
                <a:cs typeface="Aptos"/>
              </a:defRPr>
            </a:lvl4pPr>
            <a:lvl5pPr>
              <a:defRPr sz="1499" lang="en-US">
                <a:latin typeface="Aptos"/>
                <a:ea typeface="Aptos"/>
                <a:cs typeface="Aptos"/>
              </a:defRPr>
            </a:lvl5pPr>
            <a:lvl6pPr>
              <a:defRPr sz="1499" lang="en-US">
                <a:latin typeface="Aptos"/>
                <a:ea typeface="Aptos"/>
                <a:cs typeface="Aptos"/>
              </a:defRPr>
            </a:lvl6pPr>
            <a:lvl7pPr>
              <a:defRPr sz="1499" lang="en-US">
                <a:latin typeface="Aptos"/>
                <a:ea typeface="Aptos"/>
                <a:cs typeface="Aptos"/>
              </a:defRPr>
            </a:lvl7pPr>
            <a:lvl8pPr>
              <a:defRPr sz="1499" lang="en-US">
                <a:latin typeface="Aptos"/>
                <a:ea typeface="Aptos"/>
                <a:cs typeface="Aptos"/>
              </a:defRPr>
            </a:lvl8pPr>
            <a:lvl9pPr>
              <a:defRPr sz="149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of them incorporated AI</a:t>
            </a:r>
            <a:endParaRPr sz="1500" lang="en-US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C49971D-DA1A-4179-A4FC-F510CDB4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4828032"/>
            <a:ext cx="427939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b="1" lang="en-US">
                <a:latin typeface="Aptos"/>
                <a:ea typeface="Aptos"/>
                <a:cs typeface="Aptos"/>
              </a:defRPr>
            </a:defPPr>
            <a:lvl1pPr>
              <a:buNone/>
              <a:defRPr sz="1350" b="1" lang="en-US">
                <a:latin typeface="Aptos"/>
                <a:ea typeface="Aptos"/>
                <a:cs typeface="Aptos"/>
              </a:defRPr>
            </a:lvl1pPr>
            <a:lvl2pPr>
              <a:buNone/>
              <a:defRPr sz="1350" b="1" lang="en-US">
                <a:latin typeface="Aptos"/>
                <a:ea typeface="Aptos"/>
                <a:cs typeface="Aptos"/>
              </a:defRPr>
            </a:lvl2pPr>
            <a:lvl3pPr>
              <a:buNone/>
              <a:defRPr sz="1350" b="1" lang="en-US">
                <a:latin typeface="Aptos"/>
                <a:ea typeface="Aptos"/>
                <a:cs typeface="Aptos"/>
              </a:defRPr>
            </a:lvl3pPr>
            <a:lvl4pPr>
              <a:buNone/>
              <a:defRPr sz="1350" b="1" lang="en-US">
                <a:latin typeface="Aptos"/>
                <a:ea typeface="Aptos"/>
                <a:cs typeface="Aptos"/>
              </a:defRPr>
            </a:lvl4pPr>
            <a:lvl5pPr>
              <a:buNone/>
              <a:defRPr sz="1350" b="1" lang="en-US">
                <a:latin typeface="Aptos"/>
                <a:ea typeface="Aptos"/>
                <a:cs typeface="Aptos"/>
              </a:defRPr>
            </a:lvl5pPr>
            <a:lvl6pPr>
              <a:buNone/>
              <a:defRPr sz="1350" b="1" lang="en-US">
                <a:latin typeface="Aptos"/>
                <a:ea typeface="Aptos"/>
                <a:cs typeface="Aptos"/>
              </a:defRPr>
            </a:lvl6pPr>
            <a:lvl7pPr>
              <a:buNone/>
              <a:defRPr sz="1350" b="1" lang="en-US">
                <a:latin typeface="Aptos"/>
                <a:ea typeface="Aptos"/>
                <a:cs typeface="Aptos"/>
              </a:defRPr>
            </a:lvl7pPr>
            <a:lvl8pPr>
              <a:buNone/>
              <a:defRPr sz="1350" b="1" lang="en-US">
                <a:latin typeface="Aptos"/>
                <a:ea typeface="Aptos"/>
                <a:cs typeface="Aptos"/>
              </a:defRPr>
            </a:lvl8pPr>
            <a:lvl9pPr>
              <a:buNone/>
              <a:defRPr sz="135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b="1" lang="en-US">
                <a:solidFill>
                  <a:srgbClr val="C6E9E6"/>
                </a:solidFill>
                <a:latin typeface="Aptos"/>
                <a:ea typeface="Aptos"/>
                <a:cs typeface="Aptos"/>
              </a:rPr>
              <a:t>TRADITIONAL INDUSTRY CASE</a:t>
            </a:r>
            <a:endParaRPr sz="1300" lang="en-US"/>
          </a:p>
        </p:txBody>
      </p:sp>
      <p:sp>
        <p:nvSpPr>
          <p:cNvPr id="16" name="illustration-caption-background">
            <a:extLst xmlns:a="http://schemas.openxmlformats.org/drawingml/2006/main">
              <a:ext uri="{FF2B5EF4-FFF2-40B4-BE49-F238E27FC236}">
                <a16:creationId xmlns:a16="http://schemas.microsoft.com/office/drawing/2014/main" id="{FC96F35E-2B9F-429C-B076-2D34F6DD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78" y="2062734"/>
            <a:ext cx="1733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llustration-caption">
            <a:extLst xmlns:a="http://schemas.openxmlformats.org/drawingml/2006/main">
              <a:ext uri="{FF2B5EF4-FFF2-40B4-BE49-F238E27FC236}">
                <a16:creationId xmlns:a16="http://schemas.microsoft.com/office/drawing/2014/main" id="{4005D22A-51A6-423C-8A77-E565CF2A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78" y="2091309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11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1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CONCEPTUAL ILLUSTRATION</a:t>
            </a:r>
          </a:p>
        </p:txBody>
      </p:sp>
    </p:spTree>
    <p:extLst>
      <p:ext uri="{BB962C8B-B14F-4D97-AF65-F5344CB8AC3E}">
        <p14:creationId xmlns:p14="http://schemas.microsoft.com/office/powerpoint/2010/main" val="15136341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5A72900-9C6F-4B4A-B338-B0549039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SHOUGANG · MEASURED IMPACT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C3AAA7D-54E2-4146-98FF-EC8CA0D5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Fewer defects; greater production efficiency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1370E29-6B92-48E6-B81A-9B80E577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Figures reported by the WEF case study, not a controlled causal experiment.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CEA23A1-86A7-44A9-9C8C-BE08CDE6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975104"/>
            <a:ext cx="3429000" cy="190195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66CC196-619E-4A1F-A1B2-8F50502C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103120"/>
            <a:ext cx="306324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4000" b="1" lang="en-US">
                <a:latin typeface="Aptos"/>
                <a:ea typeface="Aptos"/>
                <a:cs typeface="Aptos"/>
              </a:defRPr>
            </a:defPPr>
            <a:lvl1pPr>
              <a:defRPr sz="4000" b="1" lang="en-US">
                <a:latin typeface="Aptos"/>
                <a:ea typeface="Aptos"/>
                <a:cs typeface="Aptos"/>
              </a:defRPr>
            </a:lvl1pPr>
            <a:lvl2pPr>
              <a:defRPr sz="4000" b="1" lang="en-US">
                <a:latin typeface="Aptos"/>
                <a:ea typeface="Aptos"/>
                <a:cs typeface="Aptos"/>
              </a:defRPr>
            </a:lvl2pPr>
            <a:lvl3pPr>
              <a:defRPr sz="4000" b="1" lang="en-US">
                <a:latin typeface="Aptos"/>
                <a:ea typeface="Aptos"/>
                <a:cs typeface="Aptos"/>
              </a:defRPr>
            </a:lvl3pPr>
            <a:lvl4pPr>
              <a:defRPr sz="4000" b="1" lang="en-US">
                <a:latin typeface="Aptos"/>
                <a:ea typeface="Aptos"/>
                <a:cs typeface="Aptos"/>
              </a:defRPr>
            </a:lvl4pPr>
            <a:lvl5pPr>
              <a:defRPr sz="4000" b="1" lang="en-US">
                <a:latin typeface="Aptos"/>
                <a:ea typeface="Aptos"/>
                <a:cs typeface="Aptos"/>
              </a:defRPr>
            </a:lvl5pPr>
            <a:lvl6pPr>
              <a:defRPr sz="4000" b="1" lang="en-US">
                <a:latin typeface="Aptos"/>
                <a:ea typeface="Aptos"/>
                <a:cs typeface="Aptos"/>
              </a:defRPr>
            </a:lvl6pPr>
            <a:lvl7pPr>
              <a:defRPr sz="4000" b="1" lang="en-US">
                <a:latin typeface="Aptos"/>
                <a:ea typeface="Aptos"/>
                <a:cs typeface="Aptos"/>
              </a:defRPr>
            </a:lvl7pPr>
            <a:lvl8pPr>
              <a:defRPr sz="4000" b="1" lang="en-US">
                <a:latin typeface="Aptos"/>
                <a:ea typeface="Aptos"/>
                <a:cs typeface="Aptos"/>
              </a:defRPr>
            </a:lvl8pPr>
            <a:lvl9pPr>
              <a:defRPr sz="40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4000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−35%</a:t>
            </a:r>
            <a:endParaRPr sz="4000" lang="en-US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73A07B4-86E5-4D2D-BD9F-757E7B8D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07208"/>
            <a:ext cx="3026664" cy="941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Product defects</a:t>
            </a:r>
            <a:endParaRPr sz="1200" lang="en-US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9EEBE9D-683C-4139-BD15-A2725328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75104"/>
            <a:ext cx="3429000" cy="190195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05C3340-5064-4A1D-958D-602F0EAE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103120"/>
            <a:ext cx="306324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4000" b="1" lang="en-US">
                <a:latin typeface="Aptos"/>
                <a:ea typeface="Aptos"/>
                <a:cs typeface="Aptos"/>
              </a:defRPr>
            </a:defPPr>
            <a:lvl1pPr>
              <a:defRPr sz="4000" b="1" lang="en-US">
                <a:latin typeface="Aptos"/>
                <a:ea typeface="Aptos"/>
                <a:cs typeface="Aptos"/>
              </a:defRPr>
            </a:lvl1pPr>
            <a:lvl2pPr>
              <a:defRPr sz="4000" b="1" lang="en-US">
                <a:latin typeface="Aptos"/>
                <a:ea typeface="Aptos"/>
                <a:cs typeface="Aptos"/>
              </a:defRPr>
            </a:lvl2pPr>
            <a:lvl3pPr>
              <a:defRPr sz="4000" b="1" lang="en-US">
                <a:latin typeface="Aptos"/>
                <a:ea typeface="Aptos"/>
                <a:cs typeface="Aptos"/>
              </a:defRPr>
            </a:lvl3pPr>
            <a:lvl4pPr>
              <a:defRPr sz="4000" b="1" lang="en-US">
                <a:latin typeface="Aptos"/>
                <a:ea typeface="Aptos"/>
                <a:cs typeface="Aptos"/>
              </a:defRPr>
            </a:lvl4pPr>
            <a:lvl5pPr>
              <a:defRPr sz="4000" b="1" lang="en-US">
                <a:latin typeface="Aptos"/>
                <a:ea typeface="Aptos"/>
                <a:cs typeface="Aptos"/>
              </a:defRPr>
            </a:lvl5pPr>
            <a:lvl6pPr>
              <a:defRPr sz="4000" b="1" lang="en-US">
                <a:latin typeface="Aptos"/>
                <a:ea typeface="Aptos"/>
                <a:cs typeface="Aptos"/>
              </a:defRPr>
            </a:lvl6pPr>
            <a:lvl7pPr>
              <a:defRPr sz="4000" b="1" lang="en-US">
                <a:latin typeface="Aptos"/>
                <a:ea typeface="Aptos"/>
                <a:cs typeface="Aptos"/>
              </a:defRPr>
            </a:lvl7pPr>
            <a:lvl8pPr>
              <a:defRPr sz="4000" b="1" lang="en-US">
                <a:latin typeface="Aptos"/>
                <a:ea typeface="Aptos"/>
                <a:cs typeface="Aptos"/>
              </a:defRPr>
            </a:lvl8pPr>
            <a:lvl9pPr>
              <a:defRPr sz="40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4000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+21.2%</a:t>
            </a:r>
            <a:endParaRPr sz="4000" lang="en-US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5CE898E-76D8-4E92-B72C-A4EDF34F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2807208"/>
            <a:ext cx="3026664" cy="941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Production-line efficiency</a:t>
            </a:r>
            <a:endParaRPr sz="1200" lang="en-US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69D6EE3-D0E2-4788-9B78-C0A4AD12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1975104"/>
            <a:ext cx="3429000" cy="190195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56ECF5F-DA5F-421C-837C-D3B0B971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2103120"/>
            <a:ext cx="306324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4000" b="1" lang="en-US">
                <a:latin typeface="Aptos"/>
                <a:ea typeface="Aptos"/>
                <a:cs typeface="Aptos"/>
              </a:defRPr>
            </a:defPPr>
            <a:lvl1pPr>
              <a:defRPr sz="4000" b="1" lang="en-US">
                <a:latin typeface="Aptos"/>
                <a:ea typeface="Aptos"/>
                <a:cs typeface="Aptos"/>
              </a:defRPr>
            </a:lvl1pPr>
            <a:lvl2pPr>
              <a:defRPr sz="4000" b="1" lang="en-US">
                <a:latin typeface="Aptos"/>
                <a:ea typeface="Aptos"/>
                <a:cs typeface="Aptos"/>
              </a:defRPr>
            </a:lvl2pPr>
            <a:lvl3pPr>
              <a:defRPr sz="4000" b="1" lang="en-US">
                <a:latin typeface="Aptos"/>
                <a:ea typeface="Aptos"/>
                <a:cs typeface="Aptos"/>
              </a:defRPr>
            </a:lvl3pPr>
            <a:lvl4pPr>
              <a:defRPr sz="4000" b="1" lang="en-US">
                <a:latin typeface="Aptos"/>
                <a:ea typeface="Aptos"/>
                <a:cs typeface="Aptos"/>
              </a:defRPr>
            </a:lvl4pPr>
            <a:lvl5pPr>
              <a:defRPr sz="4000" b="1" lang="en-US">
                <a:latin typeface="Aptos"/>
                <a:ea typeface="Aptos"/>
                <a:cs typeface="Aptos"/>
              </a:defRPr>
            </a:lvl5pPr>
            <a:lvl6pPr>
              <a:defRPr sz="4000" b="1" lang="en-US">
                <a:latin typeface="Aptos"/>
                <a:ea typeface="Aptos"/>
                <a:cs typeface="Aptos"/>
              </a:defRPr>
            </a:lvl6pPr>
            <a:lvl7pPr>
              <a:defRPr sz="4000" b="1" lang="en-US">
                <a:latin typeface="Aptos"/>
                <a:ea typeface="Aptos"/>
                <a:cs typeface="Aptos"/>
              </a:defRPr>
            </a:lvl7pPr>
            <a:lvl8pPr>
              <a:defRPr sz="4000" b="1" lang="en-US">
                <a:latin typeface="Aptos"/>
                <a:ea typeface="Aptos"/>
                <a:cs typeface="Aptos"/>
              </a:defRPr>
            </a:lvl8pPr>
            <a:lvl9pPr>
              <a:defRPr sz="40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4000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−55%</a:t>
            </a:r>
            <a:endParaRPr sz="4000" lang="en-US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F7CE744-CDBE-452B-BC58-D6B8A1C6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807208"/>
            <a:ext cx="3026664" cy="941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Customer complaints</a:t>
            </a:r>
            <a:endParaRPr sz="1200" lang="en-US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E1FE66B-D018-4272-B3DC-BA291F81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325112"/>
            <a:ext cx="10689336" cy="9144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1D9"/>
          </a:solidFill>
          <a:ln xmlns:a="http://schemas.openxmlformats.org/drawingml/2006/main" w="12700">
            <a:solidFill>
              <a:srgbClr val="FFF1D9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4D16F45-CA7A-4EE1-A1D2-01C1470C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489704"/>
            <a:ext cx="10049256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01" b="1" lang="en-US">
                <a:latin typeface="Aptos"/>
                <a:ea typeface="Aptos"/>
                <a:cs typeface="Aptos"/>
              </a:defRPr>
            </a:defPPr>
            <a:lvl1pPr>
              <a:defRPr sz="2001" b="1" lang="en-US">
                <a:latin typeface="Aptos"/>
                <a:ea typeface="Aptos"/>
                <a:cs typeface="Aptos"/>
              </a:defRPr>
            </a:lvl1pPr>
            <a:lvl2pPr>
              <a:defRPr sz="2001" b="1" lang="en-US">
                <a:latin typeface="Aptos"/>
                <a:ea typeface="Aptos"/>
                <a:cs typeface="Aptos"/>
              </a:defRPr>
            </a:lvl2pPr>
            <a:lvl3pPr>
              <a:defRPr sz="2001" b="1" lang="en-US">
                <a:latin typeface="Aptos"/>
                <a:ea typeface="Aptos"/>
                <a:cs typeface="Aptos"/>
              </a:defRPr>
            </a:lvl3pPr>
            <a:lvl4pPr>
              <a:defRPr sz="2001" b="1" lang="en-US">
                <a:latin typeface="Aptos"/>
                <a:ea typeface="Aptos"/>
                <a:cs typeface="Aptos"/>
              </a:defRPr>
            </a:lvl4pPr>
            <a:lvl5pPr>
              <a:defRPr sz="2001" b="1" lang="en-US">
                <a:latin typeface="Aptos"/>
                <a:ea typeface="Aptos"/>
                <a:cs typeface="Aptos"/>
              </a:defRPr>
            </a:lvl5pPr>
            <a:lvl6pPr>
              <a:defRPr sz="2001" b="1" lang="en-US">
                <a:latin typeface="Aptos"/>
                <a:ea typeface="Aptos"/>
                <a:cs typeface="Aptos"/>
              </a:defRPr>
            </a:lvl6pPr>
            <a:lvl7pPr>
              <a:defRPr sz="2001" b="1" lang="en-US">
                <a:latin typeface="Aptos"/>
                <a:ea typeface="Aptos"/>
                <a:cs typeface="Aptos"/>
              </a:defRPr>
            </a:lvl7pPr>
            <a:lvl8pPr>
              <a:defRPr sz="2001" b="1" lang="en-US">
                <a:latin typeface="Aptos"/>
                <a:ea typeface="Aptos"/>
                <a:cs typeface="Aptos"/>
              </a:defRPr>
            </a:lvl8pPr>
            <a:lvl9pPr>
              <a:defRPr sz="20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200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If there were 100 defects before, a 35% reduction would leave 65.</a:t>
            </a:r>
            <a:endParaRPr sz="2000" lang="en-US"/>
          </a:p>
        </p:txBody>
      </p:sp>
    </p:spTree>
    <p:extLst>
      <p:ext uri="{BB962C8B-B14F-4D97-AF65-F5344CB8AC3E}">
        <p14:creationId xmlns:p14="http://schemas.microsoft.com/office/powerpoint/2010/main" val="12664321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B9FFE06-97D8-4F03-94F0-3E731DEA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REAL-WORLD CASE · MIDEA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269BDC7-F2B1-4EE9-89C3-DDA17706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A factory that learns to produce different orders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54001C4-EDCF-4AE2-9446-387E5291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Midea General Refrigeration, Chongqing · Refrigeration and industrial equipment.</a:t>
            </a:r>
            <a:endParaRPr sz="1400" lang="en-US"/>
          </a:p>
        </p:txBody>
      </p:sp>
      <p:pic>
        <p:nvPicPr>
          <p:cNvPr id="8" name="Image 0">
            <a:extLst xmlns:a="http://schemas.openxmlformats.org/drawingml/2006/main">
              <a:ext uri="{FF2B5EF4-FFF2-40B4-BE49-F238E27FC236}">
                <a16:creationId xmlns:a16="http://schemas.microsoft.com/office/drawing/2014/main" id="{AA00FE0F-4CF4-4123-97D3-52E844D194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ee232b74443aa"/>
          <a:srcRect xmlns:a="http://schemas.openxmlformats.org/drawingml/2006/main" l="0" t="19592" r="0" b="19592"/>
          <a:stretch xmlns:a="http://schemas.openxmlformats.org/drawingml/2006/main"/>
        </p:blipFill>
        <p:spPr>
          <a:xfrm xmlns:a="http://schemas.openxmlformats.org/drawingml/2006/main">
            <a:off x="585216" y="1874520"/>
            <a:ext cx="5623560" cy="3849624"/>
          </a:xfrm>
          <a:prstGeom xmlns:a="http://schemas.openxmlformats.org/drawingml/2006/main" prst="rect">
            <a:avLst/>
          </a:prstGeom>
        </p:spPr>
      </p:pic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9A4C053-D8D0-4D9E-9CFA-E3273164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1874520"/>
            <a:ext cx="5065776" cy="3849624"/>
          </a:xfrm>
          <a:prstGeom xmlns:a="http://schemas.openxmlformats.org/drawingml/2006/main" prst="roundRect">
            <a:avLst>
              <a:gd name="adj" fmla="val 3563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AF960015-0B04-4313-86E9-99A28A4D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148840"/>
            <a:ext cx="2267712" cy="338328"/>
          </a:xfrm>
          <a:prstGeom xmlns:a="http://schemas.openxmlformats.org/drawingml/2006/main" prst="roundRect">
            <a:avLst>
              <a:gd name="adj" fmla="val 43243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611AC9E-5C03-4772-AB64-3A581A10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2167128"/>
            <a:ext cx="2048256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40" b="1" lang="en-US">
                <a:latin typeface="Aptos"/>
                <a:ea typeface="Aptos"/>
                <a:cs typeface="Aptos"/>
              </a:defRPr>
            </a:defPPr>
            <a:lvl1pPr>
              <a:defRPr sz="1040" b="1" lang="en-US">
                <a:latin typeface="Aptos"/>
                <a:ea typeface="Aptos"/>
                <a:cs typeface="Aptos"/>
              </a:defRPr>
            </a:lvl1pPr>
            <a:lvl2pPr>
              <a:defRPr sz="1040" b="1" lang="en-US">
                <a:latin typeface="Aptos"/>
                <a:ea typeface="Aptos"/>
                <a:cs typeface="Aptos"/>
              </a:defRPr>
            </a:lvl2pPr>
            <a:lvl3pPr>
              <a:defRPr sz="1040" b="1" lang="en-US">
                <a:latin typeface="Aptos"/>
                <a:ea typeface="Aptos"/>
                <a:cs typeface="Aptos"/>
              </a:defRPr>
            </a:lvl3pPr>
            <a:lvl4pPr>
              <a:defRPr sz="1040" b="1" lang="en-US">
                <a:latin typeface="Aptos"/>
                <a:ea typeface="Aptos"/>
                <a:cs typeface="Aptos"/>
              </a:defRPr>
            </a:lvl4pPr>
            <a:lvl5pPr>
              <a:defRPr sz="1040" b="1" lang="en-US">
                <a:latin typeface="Aptos"/>
                <a:ea typeface="Aptos"/>
                <a:cs typeface="Aptos"/>
              </a:defRPr>
            </a:lvl5pPr>
            <a:lvl6pPr>
              <a:defRPr sz="1040" b="1" lang="en-US">
                <a:latin typeface="Aptos"/>
                <a:ea typeface="Aptos"/>
                <a:cs typeface="Aptos"/>
              </a:defRPr>
            </a:lvl6pPr>
            <a:lvl7pPr>
              <a:defRPr sz="1040" b="1" lang="en-US">
                <a:latin typeface="Aptos"/>
                <a:ea typeface="Aptos"/>
                <a:cs typeface="Aptos"/>
              </a:defRPr>
            </a:lvl7pPr>
            <a:lvl8pPr>
              <a:defRPr sz="1040" b="1" lang="en-US">
                <a:latin typeface="Aptos"/>
                <a:ea typeface="Aptos"/>
                <a:cs typeface="Aptos"/>
              </a:defRPr>
            </a:lvl8pPr>
            <a:lvl9pPr>
              <a:defRPr sz="104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040" b="1" spc="70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FLEXIBLE PRODUCTION</a:t>
            </a:r>
            <a:endParaRPr sz="1040" lang="en-US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89CE1CA-62B4-45A1-B3C4-603FF6CC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2743200"/>
            <a:ext cx="2313432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5301" b="1" lang="en-US">
                <a:latin typeface="Aptos"/>
                <a:ea typeface="Aptos"/>
                <a:cs typeface="Aptos"/>
              </a:defRPr>
            </a:defPPr>
            <a:lvl1pPr>
              <a:defRPr sz="5301" b="1" lang="en-US">
                <a:latin typeface="Aptos"/>
                <a:ea typeface="Aptos"/>
                <a:cs typeface="Aptos"/>
              </a:defRPr>
            </a:lvl1pPr>
            <a:lvl2pPr>
              <a:defRPr sz="5301" b="1" lang="en-US">
                <a:latin typeface="Aptos"/>
                <a:ea typeface="Aptos"/>
                <a:cs typeface="Aptos"/>
              </a:defRPr>
            </a:lvl2pPr>
            <a:lvl3pPr>
              <a:defRPr sz="5301" b="1" lang="en-US">
                <a:latin typeface="Aptos"/>
                <a:ea typeface="Aptos"/>
                <a:cs typeface="Aptos"/>
              </a:defRPr>
            </a:lvl3pPr>
            <a:lvl4pPr>
              <a:defRPr sz="5301" b="1" lang="en-US">
                <a:latin typeface="Aptos"/>
                <a:ea typeface="Aptos"/>
                <a:cs typeface="Aptos"/>
              </a:defRPr>
            </a:lvl4pPr>
            <a:lvl5pPr>
              <a:defRPr sz="5301" b="1" lang="en-US">
                <a:latin typeface="Aptos"/>
                <a:ea typeface="Aptos"/>
                <a:cs typeface="Aptos"/>
              </a:defRPr>
            </a:lvl5pPr>
            <a:lvl6pPr>
              <a:defRPr sz="5301" b="1" lang="en-US">
                <a:latin typeface="Aptos"/>
                <a:ea typeface="Aptos"/>
                <a:cs typeface="Aptos"/>
              </a:defRPr>
            </a:lvl6pPr>
            <a:lvl7pPr>
              <a:defRPr sz="5301" b="1" lang="en-US">
                <a:latin typeface="Aptos"/>
                <a:ea typeface="Aptos"/>
                <a:cs typeface="Aptos"/>
              </a:defRPr>
            </a:lvl7pPr>
            <a:lvl8pPr>
              <a:defRPr sz="5301" b="1" lang="en-US">
                <a:latin typeface="Aptos"/>
                <a:ea typeface="Aptos"/>
                <a:cs typeface="Aptos"/>
              </a:defRPr>
            </a:lvl8pPr>
            <a:lvl9pPr>
              <a:defRPr sz="53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530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79</a:t>
            </a:r>
            <a:endParaRPr sz="5300" lang="en-US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BCF6A59-393A-41ED-8647-E85703D5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336" y="2816352"/>
            <a:ext cx="2642616" cy="7955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99" lang="en-US">
                <a:latin typeface="Aptos"/>
                <a:ea typeface="Aptos"/>
                <a:cs typeface="Aptos"/>
              </a:defRPr>
            </a:defPPr>
            <a:lvl1pPr>
              <a:defRPr sz="1599" lang="en-US">
                <a:latin typeface="Aptos"/>
                <a:ea typeface="Aptos"/>
                <a:cs typeface="Aptos"/>
              </a:defRPr>
            </a:lvl1pPr>
            <a:lvl2pPr>
              <a:defRPr sz="1599" lang="en-US">
                <a:latin typeface="Aptos"/>
                <a:ea typeface="Aptos"/>
                <a:cs typeface="Aptos"/>
              </a:defRPr>
            </a:lvl2pPr>
            <a:lvl3pPr>
              <a:defRPr sz="1599" lang="en-US">
                <a:latin typeface="Aptos"/>
                <a:ea typeface="Aptos"/>
                <a:cs typeface="Aptos"/>
              </a:defRPr>
            </a:lvl3pPr>
            <a:lvl4pPr>
              <a:defRPr sz="1599" lang="en-US">
                <a:latin typeface="Aptos"/>
                <a:ea typeface="Aptos"/>
                <a:cs typeface="Aptos"/>
              </a:defRPr>
            </a:lvl4pPr>
            <a:lvl5pPr>
              <a:defRPr sz="1599" lang="en-US">
                <a:latin typeface="Aptos"/>
                <a:ea typeface="Aptos"/>
                <a:cs typeface="Aptos"/>
              </a:defRPr>
            </a:lvl5pPr>
            <a:lvl6pPr>
              <a:defRPr sz="1599" lang="en-US">
                <a:latin typeface="Aptos"/>
                <a:ea typeface="Aptos"/>
                <a:cs typeface="Aptos"/>
              </a:defRPr>
            </a:lvl6pPr>
            <a:lvl7pPr>
              <a:defRPr sz="1599" lang="en-US">
                <a:latin typeface="Aptos"/>
                <a:ea typeface="Aptos"/>
                <a:cs typeface="Aptos"/>
              </a:defRPr>
            </a:lvl7pPr>
            <a:lvl8pPr>
              <a:defRPr sz="1599" lang="en-US">
                <a:latin typeface="Aptos"/>
                <a:ea typeface="Aptos"/>
                <a:cs typeface="Aptos"/>
              </a:defRPr>
            </a:lvl8pPr>
            <a:lvl9pPr>
              <a:defRPr sz="159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599" lang="en-US">
                <a:solidFill>
                  <a:srgbClr val="DEE9F0"/>
                </a:solidFill>
                <a:latin typeface="Aptos"/>
                <a:ea typeface="Aptos"/>
                <a:cs typeface="Aptos"/>
              </a:rPr>
              <a:t>digital use cases deployed</a:t>
            </a:r>
            <a:endParaRPr sz="1600" lang="en-US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9A6EDEE9-81A5-40A6-8C25-4E81D322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3968496"/>
            <a:ext cx="43982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4778D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798BA83-671B-4A08-957E-28FC6DB3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4187952"/>
            <a:ext cx="44988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99" b="1" lang="en-US">
                <a:latin typeface="Aptos"/>
                <a:ea typeface="Aptos"/>
                <a:cs typeface="Aptos"/>
              </a:defRPr>
            </a:defPPr>
            <a:lvl1pPr>
              <a:defRPr sz="1599" b="1" lang="en-US">
                <a:latin typeface="Aptos"/>
                <a:ea typeface="Aptos"/>
                <a:cs typeface="Aptos"/>
              </a:defRPr>
            </a:lvl1pPr>
            <a:lvl2pPr>
              <a:defRPr sz="1599" b="1" lang="en-US">
                <a:latin typeface="Aptos"/>
                <a:ea typeface="Aptos"/>
                <a:cs typeface="Aptos"/>
              </a:defRPr>
            </a:lvl2pPr>
            <a:lvl3pPr>
              <a:defRPr sz="1599" b="1" lang="en-US">
                <a:latin typeface="Aptos"/>
                <a:ea typeface="Aptos"/>
                <a:cs typeface="Aptos"/>
              </a:defRPr>
            </a:lvl3pPr>
            <a:lvl4pPr>
              <a:defRPr sz="1599" b="1" lang="en-US">
                <a:latin typeface="Aptos"/>
                <a:ea typeface="Aptos"/>
                <a:cs typeface="Aptos"/>
              </a:defRPr>
            </a:lvl4pPr>
            <a:lvl5pPr>
              <a:defRPr sz="1599" b="1" lang="en-US">
                <a:latin typeface="Aptos"/>
                <a:ea typeface="Aptos"/>
                <a:cs typeface="Aptos"/>
              </a:defRPr>
            </a:lvl5pPr>
            <a:lvl6pPr>
              <a:defRPr sz="1599" b="1" lang="en-US">
                <a:latin typeface="Aptos"/>
                <a:ea typeface="Aptos"/>
                <a:cs typeface="Aptos"/>
              </a:defRPr>
            </a:lvl6pPr>
            <a:lvl7pPr>
              <a:defRPr sz="1599" b="1" lang="en-US">
                <a:latin typeface="Aptos"/>
                <a:ea typeface="Aptos"/>
                <a:cs typeface="Aptos"/>
              </a:defRPr>
            </a:lvl7pPr>
            <a:lvl8pPr>
              <a:defRPr sz="1599" b="1" lang="en-US">
                <a:latin typeface="Aptos"/>
                <a:ea typeface="Aptos"/>
                <a:cs typeface="Aptos"/>
              </a:defRPr>
            </a:lvl8pPr>
            <a:lvl9pPr>
              <a:defRPr sz="15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599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Customized orders:</a:t>
            </a:r>
            <a:endParaRPr sz="1600" lang="en-US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5D427D1-B3FE-4201-82C0-89D876AD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4599432"/>
            <a:ext cx="455371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500" b="1" lang="en-US">
                <a:latin typeface="Aptos"/>
                <a:ea typeface="Aptos"/>
                <a:cs typeface="Aptos"/>
              </a:defRPr>
            </a:defPPr>
            <a:lvl1pPr>
              <a:defRPr sz="2500" b="1" lang="en-US">
                <a:latin typeface="Aptos"/>
                <a:ea typeface="Aptos"/>
                <a:cs typeface="Aptos"/>
              </a:defRPr>
            </a:lvl1pPr>
            <a:lvl2pPr>
              <a:defRPr sz="2500" b="1" lang="en-US">
                <a:latin typeface="Aptos"/>
                <a:ea typeface="Aptos"/>
                <a:cs typeface="Aptos"/>
              </a:defRPr>
            </a:lvl2pPr>
            <a:lvl3pPr>
              <a:defRPr sz="2500" b="1" lang="en-US">
                <a:latin typeface="Aptos"/>
                <a:ea typeface="Aptos"/>
                <a:cs typeface="Aptos"/>
              </a:defRPr>
            </a:lvl3pPr>
            <a:lvl4pPr>
              <a:defRPr sz="2500" b="1" lang="en-US">
                <a:latin typeface="Aptos"/>
                <a:ea typeface="Aptos"/>
                <a:cs typeface="Aptos"/>
              </a:defRPr>
            </a:lvl4pPr>
            <a:lvl5pPr>
              <a:defRPr sz="2500" b="1" lang="en-US">
                <a:latin typeface="Aptos"/>
                <a:ea typeface="Aptos"/>
                <a:cs typeface="Aptos"/>
              </a:defRPr>
            </a:lvl5pPr>
            <a:lvl6pPr>
              <a:defRPr sz="2500" b="1" lang="en-US">
                <a:latin typeface="Aptos"/>
                <a:ea typeface="Aptos"/>
                <a:cs typeface="Aptos"/>
              </a:defRPr>
            </a:lvl6pPr>
            <a:lvl7pPr>
              <a:defRPr sz="2500" b="1" lang="en-US">
                <a:latin typeface="Aptos"/>
                <a:ea typeface="Aptos"/>
                <a:cs typeface="Aptos"/>
              </a:defRPr>
            </a:lvl7pPr>
            <a:lvl8pPr>
              <a:defRPr sz="2500" b="1" lang="en-US">
                <a:latin typeface="Aptos"/>
                <a:ea typeface="Aptos"/>
                <a:cs typeface="Aptos"/>
              </a:defRPr>
            </a:lvl8pPr>
            <a:lvl9pPr>
              <a:defRPr sz="25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500" b="1" lang="en-US">
                <a:solidFill>
                  <a:srgbClr val="E6AB50"/>
                </a:solidFill>
                <a:latin typeface="Aptos"/>
                <a:ea typeface="Aptos"/>
                <a:cs typeface="Aptos"/>
              </a:rPr>
              <a:t>from 31% to 87%</a:t>
            </a:r>
            <a:endParaRPr sz="2500" lang="en-US"/>
          </a:p>
        </p:txBody>
      </p:sp>
      <p:sp>
        <p:nvSpPr>
          <p:cNvPr id="17" name="illustration-caption-background">
            <a:extLst xmlns:a="http://schemas.openxmlformats.org/drawingml/2006/main">
              <a:ext uri="{FF2B5EF4-FFF2-40B4-BE49-F238E27FC236}">
                <a16:creationId xmlns:a16="http://schemas.microsoft.com/office/drawing/2014/main" id="{EE0810D5-0D73-4E2C-9962-3082A189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566" y="2007870"/>
            <a:ext cx="1733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illustration-caption">
            <a:extLst xmlns:a="http://schemas.openxmlformats.org/drawingml/2006/main">
              <a:ext uri="{FF2B5EF4-FFF2-40B4-BE49-F238E27FC236}">
                <a16:creationId xmlns:a16="http://schemas.microsoft.com/office/drawing/2014/main" id="{9C70E413-B775-4846-9E89-FA68AA9C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66" y="203644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11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1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CONCEPTUAL ILLUSTRATION</a:t>
            </a:r>
          </a:p>
        </p:txBody>
      </p:sp>
    </p:spTree>
    <p:extLst>
      <p:ext uri="{BB962C8B-B14F-4D97-AF65-F5344CB8AC3E}">
        <p14:creationId xmlns:p14="http://schemas.microsoft.com/office/powerpoint/2010/main" val="19294247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AAB6A07-26CE-474F-99AE-D5A0DB43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MIDEA · RESULTS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03FF58E-5B05-41E2-B09E-8C5C0AA3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Customization without sacrificing speed or quality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72BFC1A-0F9E-48CD-AED1-89B5038A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WEF case study: indicators reported following the plant's digital transformation.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D65634E-EB3E-4F5D-BEBF-89B81BFD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993392"/>
            <a:ext cx="3410712" cy="1947672"/>
          </a:xfrm>
          <a:prstGeom xmlns:a="http://schemas.openxmlformats.org/drawingml/2006/main" prst="roundRect">
            <a:avLst>
              <a:gd name="adj" fmla="val 6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D4C0EDE-33D6-4CEC-8E92-0180A231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121408"/>
            <a:ext cx="3044952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4300" b="1" lang="en-US">
                <a:latin typeface="Aptos"/>
                <a:ea typeface="Aptos"/>
                <a:cs typeface="Aptos"/>
              </a:defRPr>
            </a:defPPr>
            <a:lvl1pPr>
              <a:defRPr sz="4300" b="1" lang="en-US">
                <a:latin typeface="Aptos"/>
                <a:ea typeface="Aptos"/>
                <a:cs typeface="Aptos"/>
              </a:defRPr>
            </a:lvl1pPr>
            <a:lvl2pPr>
              <a:defRPr sz="4300" b="1" lang="en-US">
                <a:latin typeface="Aptos"/>
                <a:ea typeface="Aptos"/>
                <a:cs typeface="Aptos"/>
              </a:defRPr>
            </a:lvl2pPr>
            <a:lvl3pPr>
              <a:defRPr sz="4300" b="1" lang="en-US">
                <a:latin typeface="Aptos"/>
                <a:ea typeface="Aptos"/>
                <a:cs typeface="Aptos"/>
              </a:defRPr>
            </a:lvl3pPr>
            <a:lvl4pPr>
              <a:defRPr sz="4300" b="1" lang="en-US">
                <a:latin typeface="Aptos"/>
                <a:ea typeface="Aptos"/>
                <a:cs typeface="Aptos"/>
              </a:defRPr>
            </a:lvl4pPr>
            <a:lvl5pPr>
              <a:defRPr sz="4300" b="1" lang="en-US">
                <a:latin typeface="Aptos"/>
                <a:ea typeface="Aptos"/>
                <a:cs typeface="Aptos"/>
              </a:defRPr>
            </a:lvl5pPr>
            <a:lvl6pPr>
              <a:defRPr sz="4300" b="1" lang="en-US">
                <a:latin typeface="Aptos"/>
                <a:ea typeface="Aptos"/>
                <a:cs typeface="Aptos"/>
              </a:defRPr>
            </a:lvl6pPr>
            <a:lvl7pPr>
              <a:defRPr sz="4300" b="1" lang="en-US">
                <a:latin typeface="Aptos"/>
                <a:ea typeface="Aptos"/>
                <a:cs typeface="Aptos"/>
              </a:defRPr>
            </a:lvl7pPr>
            <a:lvl8pPr>
              <a:defRPr sz="4300" b="1" lang="en-US">
                <a:latin typeface="Aptos"/>
                <a:ea typeface="Aptos"/>
                <a:cs typeface="Aptos"/>
              </a:defRPr>
            </a:lvl8pPr>
            <a:lvl9pPr>
              <a:defRPr sz="43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4300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−81%</a:t>
            </a:r>
            <a:endParaRPr sz="4300" lang="en-US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C5E9878-696D-45DA-BA07-0362011A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25496"/>
            <a:ext cx="3008376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Setup time</a:t>
            </a:r>
            <a:endParaRPr sz="1200" lang="en-US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AB76D3F-11AE-4744-B87D-F4D08F75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993392"/>
            <a:ext cx="3410712" cy="1947672"/>
          </a:xfrm>
          <a:prstGeom xmlns:a="http://schemas.openxmlformats.org/drawingml/2006/main" prst="roundRect">
            <a:avLst>
              <a:gd name="adj" fmla="val 6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52E2DD1-E6E6-46AB-B1F0-7B107EA3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2121408"/>
            <a:ext cx="3044952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4300" b="1" lang="en-US">
                <a:latin typeface="Aptos"/>
                <a:ea typeface="Aptos"/>
                <a:cs typeface="Aptos"/>
              </a:defRPr>
            </a:defPPr>
            <a:lvl1pPr>
              <a:defRPr sz="4300" b="1" lang="en-US">
                <a:latin typeface="Aptos"/>
                <a:ea typeface="Aptos"/>
                <a:cs typeface="Aptos"/>
              </a:defRPr>
            </a:lvl1pPr>
            <a:lvl2pPr>
              <a:defRPr sz="4300" b="1" lang="en-US">
                <a:latin typeface="Aptos"/>
                <a:ea typeface="Aptos"/>
                <a:cs typeface="Aptos"/>
              </a:defRPr>
            </a:lvl2pPr>
            <a:lvl3pPr>
              <a:defRPr sz="4300" b="1" lang="en-US">
                <a:latin typeface="Aptos"/>
                <a:ea typeface="Aptos"/>
                <a:cs typeface="Aptos"/>
              </a:defRPr>
            </a:lvl3pPr>
            <a:lvl4pPr>
              <a:defRPr sz="4300" b="1" lang="en-US">
                <a:latin typeface="Aptos"/>
                <a:ea typeface="Aptos"/>
                <a:cs typeface="Aptos"/>
              </a:defRPr>
            </a:lvl4pPr>
            <a:lvl5pPr>
              <a:defRPr sz="4300" b="1" lang="en-US">
                <a:latin typeface="Aptos"/>
                <a:ea typeface="Aptos"/>
                <a:cs typeface="Aptos"/>
              </a:defRPr>
            </a:lvl5pPr>
            <a:lvl6pPr>
              <a:defRPr sz="4300" b="1" lang="en-US">
                <a:latin typeface="Aptos"/>
                <a:ea typeface="Aptos"/>
                <a:cs typeface="Aptos"/>
              </a:defRPr>
            </a:lvl6pPr>
            <a:lvl7pPr>
              <a:defRPr sz="4300" b="1" lang="en-US">
                <a:latin typeface="Aptos"/>
                <a:ea typeface="Aptos"/>
                <a:cs typeface="Aptos"/>
              </a:defRPr>
            </a:lvl7pPr>
            <a:lvl8pPr>
              <a:defRPr sz="4300" b="1" lang="en-US">
                <a:latin typeface="Aptos"/>
                <a:ea typeface="Aptos"/>
                <a:cs typeface="Aptos"/>
              </a:defRPr>
            </a:lvl8pPr>
            <a:lvl9pPr>
              <a:defRPr sz="43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4300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−45%</a:t>
            </a:r>
            <a:endParaRPr sz="4300" lang="en-US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9B26839-2BEC-49E7-AC48-6F5316F7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25496"/>
            <a:ext cx="3008376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Design time</a:t>
            </a:r>
            <a:endParaRPr sz="1200" lang="en-US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0B63FB4-9CF8-412C-B6E3-A8D5DD3A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993392"/>
            <a:ext cx="3410712" cy="1947672"/>
          </a:xfrm>
          <a:prstGeom xmlns:a="http://schemas.openxmlformats.org/drawingml/2006/main" prst="roundRect">
            <a:avLst>
              <a:gd name="adj" fmla="val 6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8BA2BB6-D7AF-484B-8C8A-EE8B9141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21408"/>
            <a:ext cx="3044952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4300" b="1" lang="en-US">
                <a:latin typeface="Aptos"/>
                <a:ea typeface="Aptos"/>
                <a:cs typeface="Aptos"/>
              </a:defRPr>
            </a:defPPr>
            <a:lvl1pPr>
              <a:defRPr sz="4300" b="1" lang="en-US">
                <a:latin typeface="Aptos"/>
                <a:ea typeface="Aptos"/>
                <a:cs typeface="Aptos"/>
              </a:defRPr>
            </a:lvl1pPr>
            <a:lvl2pPr>
              <a:defRPr sz="4300" b="1" lang="en-US">
                <a:latin typeface="Aptos"/>
                <a:ea typeface="Aptos"/>
                <a:cs typeface="Aptos"/>
              </a:defRPr>
            </a:lvl2pPr>
            <a:lvl3pPr>
              <a:defRPr sz="4300" b="1" lang="en-US">
                <a:latin typeface="Aptos"/>
                <a:ea typeface="Aptos"/>
                <a:cs typeface="Aptos"/>
              </a:defRPr>
            </a:lvl3pPr>
            <a:lvl4pPr>
              <a:defRPr sz="4300" b="1" lang="en-US">
                <a:latin typeface="Aptos"/>
                <a:ea typeface="Aptos"/>
                <a:cs typeface="Aptos"/>
              </a:defRPr>
            </a:lvl4pPr>
            <a:lvl5pPr>
              <a:defRPr sz="4300" b="1" lang="en-US">
                <a:latin typeface="Aptos"/>
                <a:ea typeface="Aptos"/>
                <a:cs typeface="Aptos"/>
              </a:defRPr>
            </a:lvl5pPr>
            <a:lvl6pPr>
              <a:defRPr sz="4300" b="1" lang="en-US">
                <a:latin typeface="Aptos"/>
                <a:ea typeface="Aptos"/>
                <a:cs typeface="Aptos"/>
              </a:defRPr>
            </a:lvl6pPr>
            <a:lvl7pPr>
              <a:defRPr sz="4300" b="1" lang="en-US">
                <a:latin typeface="Aptos"/>
                <a:ea typeface="Aptos"/>
                <a:cs typeface="Aptos"/>
              </a:defRPr>
            </a:lvl7pPr>
            <a:lvl8pPr>
              <a:defRPr sz="4300" b="1" lang="en-US">
                <a:latin typeface="Aptos"/>
                <a:ea typeface="Aptos"/>
                <a:cs typeface="Aptos"/>
              </a:defRPr>
            </a:lvl8pPr>
            <a:lvl9pPr>
              <a:defRPr sz="43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4300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−31%</a:t>
            </a:r>
            <a:endParaRPr sz="4300" lang="en-US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FCA7479-F69D-4AB1-BAB2-252E5D16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825496"/>
            <a:ext cx="3008376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After-sales failures</a:t>
            </a:r>
            <a:endParaRPr sz="1200" lang="en-US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0BF7062-D0BA-4106-A83A-7AB38994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370832"/>
            <a:ext cx="10735056" cy="932688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C6E9E6"/>
          </a:solidFill>
          <a:ln xmlns:a="http://schemas.openxmlformats.org/drawingml/2006/main" w="12700">
            <a:solidFill>
              <a:srgbClr val="C6E9E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E9DA6DB-DFCE-4D95-95D6-272E47A2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562856"/>
            <a:ext cx="1008583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 lang="en-US">
                <a:latin typeface="Aptos"/>
                <a:ea typeface="Aptos"/>
                <a:cs typeface="Aptos"/>
              </a:defRPr>
            </a:defPPr>
            <a:lvl1pPr>
              <a:defRPr sz="1800" b="1" lang="en-US">
                <a:latin typeface="Aptos"/>
                <a:ea typeface="Aptos"/>
                <a:cs typeface="Aptos"/>
              </a:defRPr>
            </a:lvl1pPr>
            <a:lvl2pPr>
              <a:defRPr sz="1800" b="1" lang="en-US">
                <a:latin typeface="Aptos"/>
                <a:ea typeface="Aptos"/>
                <a:cs typeface="Aptos"/>
              </a:defRPr>
            </a:lvl2pPr>
            <a:lvl3pPr>
              <a:defRPr sz="1800" b="1" lang="en-US">
                <a:latin typeface="Aptos"/>
                <a:ea typeface="Aptos"/>
                <a:cs typeface="Aptos"/>
              </a:defRPr>
            </a:lvl3pPr>
            <a:lvl4pPr>
              <a:defRPr sz="1800" b="1" lang="en-US">
                <a:latin typeface="Aptos"/>
                <a:ea typeface="Aptos"/>
                <a:cs typeface="Aptos"/>
              </a:defRPr>
            </a:lvl4pPr>
            <a:lvl5pPr>
              <a:defRPr sz="1800" b="1" lang="en-US">
                <a:latin typeface="Aptos"/>
                <a:ea typeface="Aptos"/>
                <a:cs typeface="Aptos"/>
              </a:defRPr>
            </a:lvl5pPr>
            <a:lvl6pPr>
              <a:defRPr sz="1800" b="1" lang="en-US">
                <a:latin typeface="Aptos"/>
                <a:ea typeface="Aptos"/>
                <a:cs typeface="Aptos"/>
              </a:defRPr>
            </a:lvl6pPr>
            <a:lvl7pPr>
              <a:defRPr sz="1800" b="1" lang="en-US">
                <a:latin typeface="Aptos"/>
                <a:ea typeface="Aptos"/>
                <a:cs typeface="Aptos"/>
              </a:defRPr>
            </a:lvl7pPr>
            <a:lvl8pPr>
              <a:defRPr sz="1800" b="1" lang="en-US">
                <a:latin typeface="Aptos"/>
                <a:ea typeface="Aptos"/>
                <a:cs typeface="Aptos"/>
              </a:defRPr>
            </a:lvl8pPr>
            <a:lvl9pPr>
              <a:defRPr sz="18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If setup took 100 minutes, an 81% reduction would bring it down to 19 minutes.</a:t>
            </a:r>
            <a:endParaRPr sz="1800" lang="en-US"/>
          </a:p>
        </p:txBody>
      </p:sp>
    </p:spTree>
    <p:extLst>
      <p:ext uri="{BB962C8B-B14F-4D97-AF65-F5344CB8AC3E}">
        <p14:creationId xmlns:p14="http://schemas.microsoft.com/office/powerpoint/2010/main" val="7647092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74F0D37-29AD-4760-9B3E-A77F9D01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REAL-WORLD ROBOTICS · IFR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4742DC1-7502-4F0C-AE92-244C15D0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China accounts for 59% of new robot installations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789485A-E013-42F7-A6AA-4F0F6820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Industrial robot installations in 2025, a different category from humanoids.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3CED0DA-6447-4168-B4C0-340ECBC4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956816"/>
            <a:ext cx="5175504" cy="2112264"/>
          </a:xfrm>
          <a:prstGeom xmlns:a="http://schemas.openxmlformats.org/drawingml/2006/main" prst="roundRect">
            <a:avLst>
              <a:gd name="adj" fmla="val 5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A15184A-3B4A-426B-861A-7CA06811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084832"/>
            <a:ext cx="4809744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4399" b="1" lang="en-US">
                <a:latin typeface="Aptos"/>
                <a:ea typeface="Aptos"/>
                <a:cs typeface="Aptos"/>
              </a:defRPr>
            </a:defPPr>
            <a:lvl1pPr>
              <a:defRPr sz="4399" b="1" lang="en-US">
                <a:latin typeface="Aptos"/>
                <a:ea typeface="Aptos"/>
                <a:cs typeface="Aptos"/>
              </a:defRPr>
            </a:lvl1pPr>
            <a:lvl2pPr>
              <a:defRPr sz="4399" b="1" lang="en-US">
                <a:latin typeface="Aptos"/>
                <a:ea typeface="Aptos"/>
                <a:cs typeface="Aptos"/>
              </a:defRPr>
            </a:lvl2pPr>
            <a:lvl3pPr>
              <a:defRPr sz="4399" b="1" lang="en-US">
                <a:latin typeface="Aptos"/>
                <a:ea typeface="Aptos"/>
                <a:cs typeface="Aptos"/>
              </a:defRPr>
            </a:lvl3pPr>
            <a:lvl4pPr>
              <a:defRPr sz="4399" b="1" lang="en-US">
                <a:latin typeface="Aptos"/>
                <a:ea typeface="Aptos"/>
                <a:cs typeface="Aptos"/>
              </a:defRPr>
            </a:lvl4pPr>
            <a:lvl5pPr>
              <a:defRPr sz="4399" b="1" lang="en-US">
                <a:latin typeface="Aptos"/>
                <a:ea typeface="Aptos"/>
                <a:cs typeface="Aptos"/>
              </a:defRPr>
            </a:lvl5pPr>
            <a:lvl6pPr>
              <a:defRPr sz="4399" b="1" lang="en-US">
                <a:latin typeface="Aptos"/>
                <a:ea typeface="Aptos"/>
                <a:cs typeface="Aptos"/>
              </a:defRPr>
            </a:lvl6pPr>
            <a:lvl7pPr>
              <a:defRPr sz="4399" b="1" lang="en-US">
                <a:latin typeface="Aptos"/>
                <a:ea typeface="Aptos"/>
                <a:cs typeface="Aptos"/>
              </a:defRPr>
            </a:lvl7pPr>
            <a:lvl8pPr>
              <a:defRPr sz="4399" b="1" lang="en-US">
                <a:latin typeface="Aptos"/>
                <a:ea typeface="Aptos"/>
                <a:cs typeface="Aptos"/>
              </a:defRPr>
            </a:lvl8pPr>
            <a:lvl9pPr>
              <a:defRPr sz="43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4399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354,000</a:t>
            </a:r>
            <a:endParaRPr sz="4400" lang="en-US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C24E627-E6E7-48C5-AC7B-2E9B4502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788920"/>
            <a:ext cx="4773168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Industrial robots installed in China</a:t>
            </a:r>
            <a:endParaRPr sz="1200" lang="en-US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5D28D94-4C3C-4505-BA90-2EFDA501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1956816"/>
            <a:ext cx="5175504" cy="2112264"/>
          </a:xfrm>
          <a:prstGeom xmlns:a="http://schemas.openxmlformats.org/drawingml/2006/main" prst="roundRect">
            <a:avLst>
              <a:gd name="adj" fmla="val 5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7A8A559-04D2-4808-86DA-078A13F4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2084832"/>
            <a:ext cx="4809744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4399" b="1" lang="en-US">
                <a:latin typeface="Aptos"/>
                <a:ea typeface="Aptos"/>
                <a:cs typeface="Aptos"/>
              </a:defRPr>
            </a:defPPr>
            <a:lvl1pPr>
              <a:defRPr sz="4399" b="1" lang="en-US">
                <a:latin typeface="Aptos"/>
                <a:ea typeface="Aptos"/>
                <a:cs typeface="Aptos"/>
              </a:defRPr>
            </a:lvl1pPr>
            <a:lvl2pPr>
              <a:defRPr sz="4399" b="1" lang="en-US">
                <a:latin typeface="Aptos"/>
                <a:ea typeface="Aptos"/>
                <a:cs typeface="Aptos"/>
              </a:defRPr>
            </a:lvl2pPr>
            <a:lvl3pPr>
              <a:defRPr sz="4399" b="1" lang="en-US">
                <a:latin typeface="Aptos"/>
                <a:ea typeface="Aptos"/>
                <a:cs typeface="Aptos"/>
              </a:defRPr>
            </a:lvl3pPr>
            <a:lvl4pPr>
              <a:defRPr sz="4399" b="1" lang="en-US">
                <a:latin typeface="Aptos"/>
                <a:ea typeface="Aptos"/>
                <a:cs typeface="Aptos"/>
              </a:defRPr>
            </a:lvl4pPr>
            <a:lvl5pPr>
              <a:defRPr sz="4399" b="1" lang="en-US">
                <a:latin typeface="Aptos"/>
                <a:ea typeface="Aptos"/>
                <a:cs typeface="Aptos"/>
              </a:defRPr>
            </a:lvl5pPr>
            <a:lvl6pPr>
              <a:defRPr sz="4399" b="1" lang="en-US">
                <a:latin typeface="Aptos"/>
                <a:ea typeface="Aptos"/>
                <a:cs typeface="Aptos"/>
              </a:defRPr>
            </a:lvl6pPr>
            <a:lvl7pPr>
              <a:defRPr sz="4399" b="1" lang="en-US">
                <a:latin typeface="Aptos"/>
                <a:ea typeface="Aptos"/>
                <a:cs typeface="Aptos"/>
              </a:defRPr>
            </a:lvl7pPr>
            <a:lvl8pPr>
              <a:defRPr sz="4399" b="1" lang="en-US">
                <a:latin typeface="Aptos"/>
                <a:ea typeface="Aptos"/>
                <a:cs typeface="Aptos"/>
              </a:defRPr>
            </a:lvl8pPr>
            <a:lvl9pPr>
              <a:defRPr sz="43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4399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59%</a:t>
            </a:r>
            <a:endParaRPr sz="4400" lang="en-US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5E76EEA-55FD-431E-8C32-9A262E53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788920"/>
            <a:ext cx="4773168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Share of global installations</a:t>
            </a:r>
            <a:endParaRPr sz="1200" lang="en-US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6ADD488-989C-4AF6-BAE2-FB804EBA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407408"/>
            <a:ext cx="10588752" cy="96012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D12A2A6-8A7D-4628-B7F9-4127E6A3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590288"/>
            <a:ext cx="239572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599" b="1" lang="en-US">
                <a:latin typeface="Aptos"/>
                <a:ea typeface="Aptos"/>
                <a:cs typeface="Aptos"/>
              </a:defRPr>
            </a:defPPr>
            <a:lvl1pPr>
              <a:defRPr sz="2599" b="1" lang="en-US">
                <a:latin typeface="Aptos"/>
                <a:ea typeface="Aptos"/>
                <a:cs typeface="Aptos"/>
              </a:defRPr>
            </a:lvl1pPr>
            <a:lvl2pPr>
              <a:defRPr sz="2599" b="1" lang="en-US">
                <a:latin typeface="Aptos"/>
                <a:ea typeface="Aptos"/>
                <a:cs typeface="Aptos"/>
              </a:defRPr>
            </a:lvl2pPr>
            <a:lvl3pPr>
              <a:defRPr sz="2599" b="1" lang="en-US">
                <a:latin typeface="Aptos"/>
                <a:ea typeface="Aptos"/>
                <a:cs typeface="Aptos"/>
              </a:defRPr>
            </a:lvl3pPr>
            <a:lvl4pPr>
              <a:defRPr sz="2599" b="1" lang="en-US">
                <a:latin typeface="Aptos"/>
                <a:ea typeface="Aptos"/>
                <a:cs typeface="Aptos"/>
              </a:defRPr>
            </a:lvl4pPr>
            <a:lvl5pPr>
              <a:defRPr sz="2599" b="1" lang="en-US">
                <a:latin typeface="Aptos"/>
                <a:ea typeface="Aptos"/>
                <a:cs typeface="Aptos"/>
              </a:defRPr>
            </a:lvl5pPr>
            <a:lvl6pPr>
              <a:defRPr sz="2599" b="1" lang="en-US">
                <a:latin typeface="Aptos"/>
                <a:ea typeface="Aptos"/>
                <a:cs typeface="Aptos"/>
              </a:defRPr>
            </a:lvl6pPr>
            <a:lvl7pPr>
              <a:defRPr sz="2599" b="1" lang="en-US">
                <a:latin typeface="Aptos"/>
                <a:ea typeface="Aptos"/>
                <a:cs typeface="Aptos"/>
              </a:defRPr>
            </a:lvl7pPr>
            <a:lvl8pPr>
              <a:defRPr sz="2599" b="1" lang="en-US">
                <a:latin typeface="Aptos"/>
                <a:ea typeface="Aptos"/>
                <a:cs typeface="Aptos"/>
              </a:defRPr>
            </a:lvl8pPr>
            <a:lvl9pPr>
              <a:defRPr sz="25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599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55%</a:t>
            </a:r>
            <a:endParaRPr sz="2600" lang="en-US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ADD3360-D221-44B9-ACF9-391E27BF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136" y="4626864"/>
            <a:ext cx="74706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01" b="1" lang="en-US">
                <a:latin typeface="Aptos"/>
                <a:ea typeface="Aptos"/>
                <a:cs typeface="Aptos"/>
              </a:defRPr>
            </a:defPPr>
            <a:lvl1pPr>
              <a:defRPr sz="1701" b="1" lang="en-US">
                <a:latin typeface="Aptos"/>
                <a:ea typeface="Aptos"/>
                <a:cs typeface="Aptos"/>
              </a:defRPr>
            </a:lvl1pPr>
            <a:lvl2pPr>
              <a:defRPr sz="1701" b="1" lang="en-US">
                <a:latin typeface="Aptos"/>
                <a:ea typeface="Aptos"/>
                <a:cs typeface="Aptos"/>
              </a:defRPr>
            </a:lvl2pPr>
            <a:lvl3pPr>
              <a:defRPr sz="1701" b="1" lang="en-US">
                <a:latin typeface="Aptos"/>
                <a:ea typeface="Aptos"/>
                <a:cs typeface="Aptos"/>
              </a:defRPr>
            </a:lvl3pPr>
            <a:lvl4pPr>
              <a:defRPr sz="1701" b="1" lang="en-US">
                <a:latin typeface="Aptos"/>
                <a:ea typeface="Aptos"/>
                <a:cs typeface="Aptos"/>
              </a:defRPr>
            </a:lvl4pPr>
            <a:lvl5pPr>
              <a:defRPr sz="1701" b="1" lang="en-US">
                <a:latin typeface="Aptos"/>
                <a:ea typeface="Aptos"/>
                <a:cs typeface="Aptos"/>
              </a:defRPr>
            </a:lvl5pPr>
            <a:lvl6pPr>
              <a:defRPr sz="1701" b="1" lang="en-US">
                <a:latin typeface="Aptos"/>
                <a:ea typeface="Aptos"/>
                <a:cs typeface="Aptos"/>
              </a:defRPr>
            </a:lvl6pPr>
            <a:lvl7pPr>
              <a:defRPr sz="1701" b="1" lang="en-US">
                <a:latin typeface="Aptos"/>
                <a:ea typeface="Aptos"/>
                <a:cs typeface="Aptos"/>
              </a:defRPr>
            </a:lvl7pPr>
            <a:lvl8pPr>
              <a:defRPr sz="1701" b="1" lang="en-US">
                <a:latin typeface="Aptos"/>
                <a:ea typeface="Aptos"/>
                <a:cs typeface="Aptos"/>
              </a:defRPr>
            </a:lvl8pPr>
            <a:lvl9pPr>
              <a:defRPr sz="17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70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share held by Chinese suppliers in their domestic market</a:t>
            </a:r>
            <a:endParaRPr sz="1700" lang="en-US"/>
          </a:p>
        </p:txBody>
      </p:sp>
    </p:spTree>
    <p:extLst>
      <p:ext uri="{BB962C8B-B14F-4D97-AF65-F5344CB8AC3E}">
        <p14:creationId xmlns:p14="http://schemas.microsoft.com/office/powerpoint/2010/main" val="6537533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60D6775-A685-4FD1-8BC2-9545D54F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TWO KINDS OF ROBOTICS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2931F3-41F7-4593-B688-17FBD692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An industrial arm and a humanoid are not equivalent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2479FB9-5BD9-4881-8FCF-FFB414BD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Humanoids are visually compelling; evidence of mass industrial adoption is different.</a:t>
            </a:r>
            <a:endParaRPr sz="1400" lang="en-US"/>
          </a:p>
        </p:txBody>
      </p:sp>
      <p:pic>
        <p:nvPicPr>
          <p:cNvPr id="8" name="Image 0">
            <a:extLst xmlns:a="http://schemas.openxmlformats.org/drawingml/2006/main">
              <a:ext uri="{FF2B5EF4-FFF2-40B4-BE49-F238E27FC236}">
                <a16:creationId xmlns:a16="http://schemas.microsoft.com/office/drawing/2014/main" id="{AB23EDA9-6DB9-4028-AB1F-9EAF610765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ef1d893d84ea1"/>
          <a:srcRect xmlns:a="http://schemas.openxmlformats.org/drawingml/2006/main" l="0" t="469" r="0" b="469"/>
          <a:stretch xmlns:a="http://schemas.openxmlformats.org/drawingml/2006/main"/>
        </p:blipFill>
        <p:spPr>
          <a:xfrm xmlns:a="http://schemas.openxmlformats.org/drawingml/2006/main">
            <a:off x="667512" y="1938528"/>
            <a:ext cx="5257800" cy="3447288"/>
          </a:xfrm>
          <a:prstGeom xmlns:a="http://schemas.openxmlformats.org/drawingml/2006/main" prst="rect">
            <a:avLst/>
          </a:prstGeom>
        </p:spPr>
      </p:pic>
      <p:pic>
        <p:nvPicPr>
          <p:cNvPr id="9" name="Image 1">
            <a:extLst xmlns:a="http://schemas.openxmlformats.org/drawingml/2006/main">
              <a:ext uri="{FF2B5EF4-FFF2-40B4-BE49-F238E27FC236}">
                <a16:creationId xmlns:a16="http://schemas.microsoft.com/office/drawing/2014/main" id="{19801A6B-DAE6-40EF-BD6F-9545416018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767e199774d15"/>
          <a:srcRect xmlns:a="http://schemas.openxmlformats.org/drawingml/2006/main" l="0" t="599" r="0" b="599"/>
          <a:stretch xmlns:a="http://schemas.openxmlformats.org/drawingml/2006/main"/>
        </p:blipFill>
        <p:spPr>
          <a:xfrm xmlns:a="http://schemas.openxmlformats.org/drawingml/2006/main">
            <a:off x="6236208" y="1938528"/>
            <a:ext cx="5257800" cy="3447288"/>
          </a:xfrm>
          <a:prstGeom xmlns:a="http://schemas.openxmlformats.org/drawingml/2006/main" prst="rect">
            <a:avLst/>
          </a:prstGeom>
        </p:spPr>
      </p:pic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80657BC1-D146-4F65-A3CE-65EB6680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385816"/>
            <a:ext cx="5257800" cy="475488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40D1FA18-B842-41AA-AF10-1729DE1C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504688"/>
            <a:ext cx="497433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b="1" lang="en-US">
                <a:latin typeface="Aptos"/>
                <a:ea typeface="Aptos"/>
                <a:cs typeface="Aptos"/>
              </a:defRPr>
            </a:defPPr>
            <a:lvl1pPr>
              <a:defRPr sz="1400" b="1" lang="en-US">
                <a:latin typeface="Aptos"/>
                <a:ea typeface="Aptos"/>
                <a:cs typeface="Aptos"/>
              </a:defRPr>
            </a:lvl1pPr>
            <a:lvl2pPr>
              <a:defRPr sz="1400" b="1" lang="en-US">
                <a:latin typeface="Aptos"/>
                <a:ea typeface="Aptos"/>
                <a:cs typeface="Aptos"/>
              </a:defRPr>
            </a:lvl2pPr>
            <a:lvl3pPr>
              <a:defRPr sz="1400" b="1" lang="en-US">
                <a:latin typeface="Aptos"/>
                <a:ea typeface="Aptos"/>
                <a:cs typeface="Aptos"/>
              </a:defRPr>
            </a:lvl3pPr>
            <a:lvl4pPr>
              <a:defRPr sz="1400" b="1" lang="en-US">
                <a:latin typeface="Aptos"/>
                <a:ea typeface="Aptos"/>
                <a:cs typeface="Aptos"/>
              </a:defRPr>
            </a:lvl4pPr>
            <a:lvl5pPr>
              <a:defRPr sz="1400" b="1" lang="en-US">
                <a:latin typeface="Aptos"/>
                <a:ea typeface="Aptos"/>
                <a:cs typeface="Aptos"/>
              </a:defRPr>
            </a:lvl5pPr>
            <a:lvl6pPr>
              <a:defRPr sz="1400" b="1" lang="en-US">
                <a:latin typeface="Aptos"/>
                <a:ea typeface="Aptos"/>
                <a:cs typeface="Aptos"/>
              </a:defRPr>
            </a:lvl6pPr>
            <a:lvl7pPr>
              <a:defRPr sz="1400" b="1" lang="en-US">
                <a:latin typeface="Aptos"/>
                <a:ea typeface="Aptos"/>
                <a:cs typeface="Aptos"/>
              </a:defRPr>
            </a:lvl7pPr>
            <a:lvl8pPr>
              <a:defRPr sz="1400" b="1" lang="en-US">
                <a:latin typeface="Aptos"/>
                <a:ea typeface="Aptos"/>
                <a:cs typeface="Aptos"/>
              </a:defRPr>
            </a:lvl8pPr>
            <a:lvl9pPr>
              <a:defRPr sz="14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400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INDUSTRIAL ROBOT · repeatable task</a:t>
            </a:r>
            <a:endParaRPr sz="1400" lang="en-US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D4DB766-A20C-4F8A-A736-5CFC2F4C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5385816"/>
            <a:ext cx="5257800" cy="475488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F905ACB-1D16-4DFA-A21B-7E085CA1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5504688"/>
            <a:ext cx="504748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b="1" lang="en-US">
                <a:latin typeface="Aptos"/>
                <a:ea typeface="Aptos"/>
                <a:cs typeface="Aptos"/>
              </a:defRPr>
            </a:defPPr>
            <a:lvl1pPr>
              <a:defRPr sz="1400" b="1" lang="en-US">
                <a:latin typeface="Aptos"/>
                <a:ea typeface="Aptos"/>
                <a:cs typeface="Aptos"/>
              </a:defRPr>
            </a:lvl1pPr>
            <a:lvl2pPr>
              <a:defRPr sz="1400" b="1" lang="en-US">
                <a:latin typeface="Aptos"/>
                <a:ea typeface="Aptos"/>
                <a:cs typeface="Aptos"/>
              </a:defRPr>
            </a:lvl2pPr>
            <a:lvl3pPr>
              <a:defRPr sz="1400" b="1" lang="en-US">
                <a:latin typeface="Aptos"/>
                <a:ea typeface="Aptos"/>
                <a:cs typeface="Aptos"/>
              </a:defRPr>
            </a:lvl3pPr>
            <a:lvl4pPr>
              <a:defRPr sz="1400" b="1" lang="en-US">
                <a:latin typeface="Aptos"/>
                <a:ea typeface="Aptos"/>
                <a:cs typeface="Aptos"/>
              </a:defRPr>
            </a:lvl4pPr>
            <a:lvl5pPr>
              <a:defRPr sz="1400" b="1" lang="en-US">
                <a:latin typeface="Aptos"/>
                <a:ea typeface="Aptos"/>
                <a:cs typeface="Aptos"/>
              </a:defRPr>
            </a:lvl5pPr>
            <a:lvl6pPr>
              <a:defRPr sz="1400" b="1" lang="en-US">
                <a:latin typeface="Aptos"/>
                <a:ea typeface="Aptos"/>
                <a:cs typeface="Aptos"/>
              </a:defRPr>
            </a:lvl6pPr>
            <a:lvl7pPr>
              <a:defRPr sz="1400" b="1" lang="en-US">
                <a:latin typeface="Aptos"/>
                <a:ea typeface="Aptos"/>
                <a:cs typeface="Aptos"/>
              </a:defRPr>
            </a:lvl7pPr>
            <a:lvl8pPr>
              <a:defRPr sz="1400" b="1" lang="en-US">
                <a:latin typeface="Aptos"/>
                <a:ea typeface="Aptos"/>
                <a:cs typeface="Aptos"/>
              </a:defRPr>
            </a:lvl8pPr>
            <a:lvl9pPr>
              <a:defRPr sz="14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400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HUMANOID · mobility and manipulation</a:t>
            </a:r>
            <a:endParaRPr sz="1400" lang="en-US"/>
          </a:p>
        </p:txBody>
      </p:sp>
      <p:sp>
        <p:nvSpPr>
          <p:cNvPr id="14" name="illustration-caption-background">
            <a:extLst xmlns:a="http://schemas.openxmlformats.org/drawingml/2006/main">
              <a:ext uri="{FF2B5EF4-FFF2-40B4-BE49-F238E27FC236}">
                <a16:creationId xmlns:a16="http://schemas.microsoft.com/office/drawing/2014/main" id="{F52DD35C-A272-4A4F-8210-C627E1DD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62" y="2071878"/>
            <a:ext cx="1733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llustration-caption">
            <a:extLst xmlns:a="http://schemas.openxmlformats.org/drawingml/2006/main">
              <a:ext uri="{FF2B5EF4-FFF2-40B4-BE49-F238E27FC236}">
                <a16:creationId xmlns:a16="http://schemas.microsoft.com/office/drawing/2014/main" id="{B6EF4AC8-F264-47E4-8EC8-A6DD1E54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062" y="2100453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11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1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CONCEPTUAL ILLUSTRATION</a:t>
            </a:r>
          </a:p>
        </p:txBody>
      </p:sp>
    </p:spTree>
    <p:extLst>
      <p:ext uri="{BB962C8B-B14F-4D97-AF65-F5344CB8AC3E}">
        <p14:creationId xmlns:p14="http://schemas.microsoft.com/office/powerpoint/2010/main" val="9101850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580B2CF-3807-47AB-B28C-74E41FEE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UNITREE CASE · G1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01C800D-61D4-4EE7-895F-EED89038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A humanoid embodies an entire industrial network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18D4B6A-678A-427C-AB76-B4D309DF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Behind its movements lie electronics, motors, control, sensors, and batteries.</a:t>
            </a:r>
            <a:endParaRPr sz="1400" lang="en-US"/>
          </a:p>
        </p:txBody>
      </p:sp>
      <p:pic>
        <p:nvPicPr>
          <p:cNvPr id="8" name="Image 0">
            <a:extLst xmlns:a="http://schemas.openxmlformats.org/drawingml/2006/main">
              <a:ext uri="{FF2B5EF4-FFF2-40B4-BE49-F238E27FC236}">
                <a16:creationId xmlns:a16="http://schemas.microsoft.com/office/drawing/2014/main" id="{C40B260E-13D4-4633-8D2C-0EC5B35316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01afb08f284be4"/>
          <a:srcRect xmlns:a="http://schemas.openxmlformats.org/drawingml/2006/main" l="14215" t="0" r="14215" b="0"/>
          <a:stretch xmlns:a="http://schemas.openxmlformats.org/drawingml/2006/main"/>
        </p:blipFill>
        <p:spPr>
          <a:xfrm xmlns:a="http://schemas.openxmlformats.org/drawingml/2006/main">
            <a:off x="685800" y="1920240"/>
            <a:ext cx="4270248" cy="3959352"/>
          </a:xfrm>
          <a:prstGeom xmlns:a="http://schemas.openxmlformats.org/drawingml/2006/main" prst="rect">
            <a:avLst/>
          </a:prstGeom>
        </p:spPr>
      </p:pic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32D3A74-CDB8-4B86-92AC-CB169AB1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1920240"/>
            <a:ext cx="6053328" cy="557784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B057DEEE-6629-4BDE-9884-25D03C23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2075688"/>
            <a:ext cx="246888" cy="2468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4E35FE9-F30D-4125-A2F0-71953964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2011680"/>
            <a:ext cx="193852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b="1" lang="en-US">
                <a:latin typeface="Aptos"/>
                <a:ea typeface="Aptos"/>
                <a:cs typeface="Aptos"/>
              </a:defRPr>
            </a:defPPr>
            <a:lvl1pPr>
              <a:defRPr sz="1499" b="1" lang="en-US">
                <a:latin typeface="Aptos"/>
                <a:ea typeface="Aptos"/>
                <a:cs typeface="Aptos"/>
              </a:defRPr>
            </a:lvl1pPr>
            <a:lvl2pPr>
              <a:defRPr sz="1499" b="1" lang="en-US">
                <a:latin typeface="Aptos"/>
                <a:ea typeface="Aptos"/>
                <a:cs typeface="Aptos"/>
              </a:defRPr>
            </a:lvl2pPr>
            <a:lvl3pPr>
              <a:defRPr sz="1499" b="1" lang="en-US">
                <a:latin typeface="Aptos"/>
                <a:ea typeface="Aptos"/>
                <a:cs typeface="Aptos"/>
              </a:defRPr>
            </a:lvl3pPr>
            <a:lvl4pPr>
              <a:defRPr sz="1499" b="1" lang="en-US">
                <a:latin typeface="Aptos"/>
                <a:ea typeface="Aptos"/>
                <a:cs typeface="Aptos"/>
              </a:defRPr>
            </a:lvl4pPr>
            <a:lvl5pPr>
              <a:defRPr sz="1499" b="1" lang="en-US">
                <a:latin typeface="Aptos"/>
                <a:ea typeface="Aptos"/>
                <a:cs typeface="Aptos"/>
              </a:defRPr>
            </a:lvl5pPr>
            <a:lvl6pPr>
              <a:defRPr sz="1499" b="1" lang="en-US">
                <a:latin typeface="Aptos"/>
                <a:ea typeface="Aptos"/>
                <a:cs typeface="Aptos"/>
              </a:defRPr>
            </a:lvl6pPr>
            <a:lvl7pPr>
              <a:defRPr sz="1499" b="1" lang="en-US">
                <a:latin typeface="Aptos"/>
                <a:ea typeface="Aptos"/>
                <a:cs typeface="Aptos"/>
              </a:defRPr>
            </a:lvl7pPr>
            <a:lvl8pPr>
              <a:defRPr sz="1499" b="1" lang="en-US">
                <a:latin typeface="Aptos"/>
                <a:ea typeface="Aptos"/>
                <a:cs typeface="Aptos"/>
              </a:defRPr>
            </a:lvl8pPr>
            <a:lvl9pPr>
              <a:defRPr sz="14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ACTUATORS</a:t>
            </a:r>
            <a:endParaRPr sz="1500" lang="en-US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1583E8B-245D-45AC-8582-6C382335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2020824"/>
            <a:ext cx="312724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Motors and transmission</a:t>
            </a:r>
            <a:endParaRPr sz="1400" lang="en-US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0D10A382-B971-45AB-9B9C-3A65261B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606040"/>
            <a:ext cx="6053328" cy="557784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85FE4BB-CF0D-4D71-9D36-D8C518BC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2761488"/>
            <a:ext cx="246888" cy="2468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DC6338E-EEFA-47CE-9A57-FBAA7652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2697480"/>
            <a:ext cx="193852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b="1" lang="en-US">
                <a:latin typeface="Aptos"/>
                <a:ea typeface="Aptos"/>
                <a:cs typeface="Aptos"/>
              </a:defRPr>
            </a:defPPr>
            <a:lvl1pPr>
              <a:defRPr sz="1499" b="1" lang="en-US">
                <a:latin typeface="Aptos"/>
                <a:ea typeface="Aptos"/>
                <a:cs typeface="Aptos"/>
              </a:defRPr>
            </a:lvl1pPr>
            <a:lvl2pPr>
              <a:defRPr sz="1499" b="1" lang="en-US">
                <a:latin typeface="Aptos"/>
                <a:ea typeface="Aptos"/>
                <a:cs typeface="Aptos"/>
              </a:defRPr>
            </a:lvl2pPr>
            <a:lvl3pPr>
              <a:defRPr sz="1499" b="1" lang="en-US">
                <a:latin typeface="Aptos"/>
                <a:ea typeface="Aptos"/>
                <a:cs typeface="Aptos"/>
              </a:defRPr>
            </a:lvl3pPr>
            <a:lvl4pPr>
              <a:defRPr sz="1499" b="1" lang="en-US">
                <a:latin typeface="Aptos"/>
                <a:ea typeface="Aptos"/>
                <a:cs typeface="Aptos"/>
              </a:defRPr>
            </a:lvl4pPr>
            <a:lvl5pPr>
              <a:defRPr sz="1499" b="1" lang="en-US">
                <a:latin typeface="Aptos"/>
                <a:ea typeface="Aptos"/>
                <a:cs typeface="Aptos"/>
              </a:defRPr>
            </a:lvl5pPr>
            <a:lvl6pPr>
              <a:defRPr sz="1499" b="1" lang="en-US">
                <a:latin typeface="Aptos"/>
                <a:ea typeface="Aptos"/>
                <a:cs typeface="Aptos"/>
              </a:defRPr>
            </a:lvl6pPr>
            <a:lvl7pPr>
              <a:defRPr sz="1499" b="1" lang="en-US">
                <a:latin typeface="Aptos"/>
                <a:ea typeface="Aptos"/>
                <a:cs typeface="Aptos"/>
              </a:defRPr>
            </a:lvl7pPr>
            <a:lvl8pPr>
              <a:defRPr sz="1499" b="1" lang="en-US">
                <a:latin typeface="Aptos"/>
                <a:ea typeface="Aptos"/>
                <a:cs typeface="Aptos"/>
              </a:defRPr>
            </a:lvl8pPr>
            <a:lvl9pPr>
              <a:defRPr sz="14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PERCEPTION</a:t>
            </a:r>
            <a:endParaRPr sz="1500" lang="en-US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77C3052-4BF6-44AD-85FD-5A7F215B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2706624"/>
            <a:ext cx="312724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Cameras and sensors</a:t>
            </a:r>
            <a:endParaRPr sz="1400" lang="en-US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54176E9-6692-42EE-AFB2-9C1CD805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3291840"/>
            <a:ext cx="6053328" cy="557784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2F3F0E77-E663-41BF-B21B-D9F6B663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3447288"/>
            <a:ext cx="246888" cy="2468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858AFA2-29CF-473E-A505-489B17EA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3383280"/>
            <a:ext cx="193852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b="1" lang="en-US">
                <a:latin typeface="Aptos"/>
                <a:ea typeface="Aptos"/>
                <a:cs typeface="Aptos"/>
              </a:defRPr>
            </a:defPPr>
            <a:lvl1pPr>
              <a:defRPr sz="1499" b="1" lang="en-US">
                <a:latin typeface="Aptos"/>
                <a:ea typeface="Aptos"/>
                <a:cs typeface="Aptos"/>
              </a:defRPr>
            </a:lvl1pPr>
            <a:lvl2pPr>
              <a:defRPr sz="1499" b="1" lang="en-US">
                <a:latin typeface="Aptos"/>
                <a:ea typeface="Aptos"/>
                <a:cs typeface="Aptos"/>
              </a:defRPr>
            </a:lvl2pPr>
            <a:lvl3pPr>
              <a:defRPr sz="1499" b="1" lang="en-US">
                <a:latin typeface="Aptos"/>
                <a:ea typeface="Aptos"/>
                <a:cs typeface="Aptos"/>
              </a:defRPr>
            </a:lvl3pPr>
            <a:lvl4pPr>
              <a:defRPr sz="1499" b="1" lang="en-US">
                <a:latin typeface="Aptos"/>
                <a:ea typeface="Aptos"/>
                <a:cs typeface="Aptos"/>
              </a:defRPr>
            </a:lvl4pPr>
            <a:lvl5pPr>
              <a:defRPr sz="1499" b="1" lang="en-US">
                <a:latin typeface="Aptos"/>
                <a:ea typeface="Aptos"/>
                <a:cs typeface="Aptos"/>
              </a:defRPr>
            </a:lvl5pPr>
            <a:lvl6pPr>
              <a:defRPr sz="1499" b="1" lang="en-US">
                <a:latin typeface="Aptos"/>
                <a:ea typeface="Aptos"/>
                <a:cs typeface="Aptos"/>
              </a:defRPr>
            </a:lvl6pPr>
            <a:lvl7pPr>
              <a:defRPr sz="1499" b="1" lang="en-US">
                <a:latin typeface="Aptos"/>
                <a:ea typeface="Aptos"/>
                <a:cs typeface="Aptos"/>
              </a:defRPr>
            </a:lvl7pPr>
            <a:lvl8pPr>
              <a:defRPr sz="1499" b="1" lang="en-US">
                <a:latin typeface="Aptos"/>
                <a:ea typeface="Aptos"/>
                <a:cs typeface="Aptos"/>
              </a:defRPr>
            </a:lvl8pPr>
            <a:lvl9pPr>
              <a:defRPr sz="14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COMPUTING</a:t>
            </a:r>
            <a:endParaRPr sz="1500" lang="en-US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A909FE6-4CB8-430F-910B-609E9ACE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3392424"/>
            <a:ext cx="312724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Chips and software</a:t>
            </a:r>
            <a:endParaRPr sz="1400" lang="en-US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B8D1277C-5044-4E3C-8D12-EB200477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3977640"/>
            <a:ext cx="6053328" cy="557784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E52F2865-D743-40AE-811B-FB3BA9C2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4133088"/>
            <a:ext cx="246888" cy="2468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AC1915CD-B8C8-43DD-B4B1-91EA7026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4069080"/>
            <a:ext cx="193852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b="1" lang="en-US">
                <a:latin typeface="Aptos"/>
                <a:ea typeface="Aptos"/>
                <a:cs typeface="Aptos"/>
              </a:defRPr>
            </a:defPPr>
            <a:lvl1pPr>
              <a:defRPr sz="1499" b="1" lang="en-US">
                <a:latin typeface="Aptos"/>
                <a:ea typeface="Aptos"/>
                <a:cs typeface="Aptos"/>
              </a:defRPr>
            </a:lvl1pPr>
            <a:lvl2pPr>
              <a:defRPr sz="1499" b="1" lang="en-US">
                <a:latin typeface="Aptos"/>
                <a:ea typeface="Aptos"/>
                <a:cs typeface="Aptos"/>
              </a:defRPr>
            </a:lvl2pPr>
            <a:lvl3pPr>
              <a:defRPr sz="1499" b="1" lang="en-US">
                <a:latin typeface="Aptos"/>
                <a:ea typeface="Aptos"/>
                <a:cs typeface="Aptos"/>
              </a:defRPr>
            </a:lvl3pPr>
            <a:lvl4pPr>
              <a:defRPr sz="1499" b="1" lang="en-US">
                <a:latin typeface="Aptos"/>
                <a:ea typeface="Aptos"/>
                <a:cs typeface="Aptos"/>
              </a:defRPr>
            </a:lvl4pPr>
            <a:lvl5pPr>
              <a:defRPr sz="1499" b="1" lang="en-US">
                <a:latin typeface="Aptos"/>
                <a:ea typeface="Aptos"/>
                <a:cs typeface="Aptos"/>
              </a:defRPr>
            </a:lvl5pPr>
            <a:lvl6pPr>
              <a:defRPr sz="1499" b="1" lang="en-US">
                <a:latin typeface="Aptos"/>
                <a:ea typeface="Aptos"/>
                <a:cs typeface="Aptos"/>
              </a:defRPr>
            </a:lvl6pPr>
            <a:lvl7pPr>
              <a:defRPr sz="1499" b="1" lang="en-US">
                <a:latin typeface="Aptos"/>
                <a:ea typeface="Aptos"/>
                <a:cs typeface="Aptos"/>
              </a:defRPr>
            </a:lvl7pPr>
            <a:lvl8pPr>
              <a:defRPr sz="1499" b="1" lang="en-US">
                <a:latin typeface="Aptos"/>
                <a:ea typeface="Aptos"/>
                <a:cs typeface="Aptos"/>
              </a:defRPr>
            </a:lvl8pPr>
            <a:lvl9pPr>
              <a:defRPr sz="14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ENERGY</a:t>
            </a:r>
            <a:endParaRPr sz="1500" lang="en-US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94878D30-CD2F-43C8-8975-C488BC30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4078224"/>
            <a:ext cx="312724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Batteries and management</a:t>
            </a:r>
            <a:endParaRPr sz="1400" lang="en-US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8231136-DDF8-4E99-A246-3F3A15FB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4663440"/>
            <a:ext cx="6053328" cy="557784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5454504-A66A-44CA-AD94-BAEEF43D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4818888"/>
            <a:ext cx="246888" cy="2468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17F5BF1F-2344-4C29-B77B-D869FF96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4754880"/>
            <a:ext cx="193852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b="1" lang="en-US">
                <a:latin typeface="Aptos"/>
                <a:ea typeface="Aptos"/>
                <a:cs typeface="Aptos"/>
              </a:defRPr>
            </a:defPPr>
            <a:lvl1pPr>
              <a:defRPr sz="1499" b="1" lang="en-US">
                <a:latin typeface="Aptos"/>
                <a:ea typeface="Aptos"/>
                <a:cs typeface="Aptos"/>
              </a:defRPr>
            </a:lvl1pPr>
            <a:lvl2pPr>
              <a:defRPr sz="1499" b="1" lang="en-US">
                <a:latin typeface="Aptos"/>
                <a:ea typeface="Aptos"/>
                <a:cs typeface="Aptos"/>
              </a:defRPr>
            </a:lvl2pPr>
            <a:lvl3pPr>
              <a:defRPr sz="1499" b="1" lang="en-US">
                <a:latin typeface="Aptos"/>
                <a:ea typeface="Aptos"/>
                <a:cs typeface="Aptos"/>
              </a:defRPr>
            </a:lvl3pPr>
            <a:lvl4pPr>
              <a:defRPr sz="1499" b="1" lang="en-US">
                <a:latin typeface="Aptos"/>
                <a:ea typeface="Aptos"/>
                <a:cs typeface="Aptos"/>
              </a:defRPr>
            </a:lvl4pPr>
            <a:lvl5pPr>
              <a:defRPr sz="1499" b="1" lang="en-US">
                <a:latin typeface="Aptos"/>
                <a:ea typeface="Aptos"/>
                <a:cs typeface="Aptos"/>
              </a:defRPr>
            </a:lvl5pPr>
            <a:lvl6pPr>
              <a:defRPr sz="1499" b="1" lang="en-US">
                <a:latin typeface="Aptos"/>
                <a:ea typeface="Aptos"/>
                <a:cs typeface="Aptos"/>
              </a:defRPr>
            </a:lvl6pPr>
            <a:lvl7pPr>
              <a:defRPr sz="1499" b="1" lang="en-US">
                <a:latin typeface="Aptos"/>
                <a:ea typeface="Aptos"/>
                <a:cs typeface="Aptos"/>
              </a:defRPr>
            </a:lvl7pPr>
            <a:lvl8pPr>
              <a:defRPr sz="1499" b="1" lang="en-US">
                <a:latin typeface="Aptos"/>
                <a:ea typeface="Aptos"/>
                <a:cs typeface="Aptos"/>
              </a:defRPr>
            </a:lvl8pPr>
            <a:lvl9pPr>
              <a:defRPr sz="14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CONTROL</a:t>
            </a:r>
            <a:endParaRPr sz="1500" lang="en-US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09A49D30-7BB7-4F71-948E-1EBDC319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4764024"/>
            <a:ext cx="312724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Motion and balance</a:t>
            </a:r>
            <a:endParaRPr sz="1400" lang="en-US"/>
          </a:p>
        </p:txBody>
      </p:sp>
      <p:sp>
        <p:nvSpPr>
          <p:cNvPr id="29" name="illustration-caption-background">
            <a:extLst xmlns:a="http://schemas.openxmlformats.org/drawingml/2006/main">
              <a:ext uri="{FF2B5EF4-FFF2-40B4-BE49-F238E27FC236}">
                <a16:creationId xmlns:a16="http://schemas.microsoft.com/office/drawing/2014/main" id="{8A2ECDA7-33F1-48A6-9BC5-8D6FE408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3590"/>
            <a:ext cx="1733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illustration-caption">
            <a:extLst xmlns:a="http://schemas.openxmlformats.org/drawingml/2006/main">
              <a:ext uri="{FF2B5EF4-FFF2-40B4-BE49-F238E27FC236}">
                <a16:creationId xmlns:a16="http://schemas.microsoft.com/office/drawing/2014/main" id="{4D16A512-4CCE-4369-A328-E0A58FB2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8216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11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1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CONCEPTUAL ILLUSTRATION</a:t>
            </a:r>
          </a:p>
        </p:txBody>
      </p:sp>
    </p:spTree>
    <p:extLst>
      <p:ext uri="{BB962C8B-B14F-4D97-AF65-F5344CB8AC3E}">
        <p14:creationId xmlns:p14="http://schemas.microsoft.com/office/powerpoint/2010/main" val="105012719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93AE861-2210-4E81-9FE5-0FE5B8CD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UNITREE · EVIDENCE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2FD07EF-8D0B-4D4F-8F89-9F307AC8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An impressive video does not prove industrial autonomy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109DD43-64EE-42B5-8F14-C663283E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Three levels of evidence that must not be confused.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3099D06-F9E3-4D6E-8FAA-528FB49F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965960"/>
            <a:ext cx="10735056" cy="1060704"/>
          </a:xfrm>
          <a:prstGeom xmlns:a="http://schemas.openxmlformats.org/drawingml/2006/main" prst="roundRect">
            <a:avLst>
              <a:gd name="adj" fmla="val 11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E785776-D36E-43C8-902D-CD522FA2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57984"/>
            <a:ext cx="557784" cy="320040"/>
          </a:xfrm>
          <a:prstGeom xmlns:a="http://schemas.openxmlformats.org/drawingml/2006/main" prst="roundRect">
            <a:avLst>
              <a:gd name="adj" fmla="val 4571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AEC930A-B275-4F2A-ADB2-D29F5A2F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176272"/>
            <a:ext cx="338328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40" b="1" lang="en-US">
                <a:latin typeface="Aptos"/>
                <a:ea typeface="Aptos"/>
                <a:cs typeface="Aptos"/>
              </a:defRPr>
            </a:defPPr>
            <a:lvl1pPr>
              <a:defRPr sz="1040" b="1" lang="en-US">
                <a:latin typeface="Aptos"/>
                <a:ea typeface="Aptos"/>
                <a:cs typeface="Aptos"/>
              </a:defRPr>
            </a:lvl1pPr>
            <a:lvl2pPr>
              <a:defRPr sz="1040" b="1" lang="en-US">
                <a:latin typeface="Aptos"/>
                <a:ea typeface="Aptos"/>
                <a:cs typeface="Aptos"/>
              </a:defRPr>
            </a:lvl2pPr>
            <a:lvl3pPr>
              <a:defRPr sz="1040" b="1" lang="en-US">
                <a:latin typeface="Aptos"/>
                <a:ea typeface="Aptos"/>
                <a:cs typeface="Aptos"/>
              </a:defRPr>
            </a:lvl3pPr>
            <a:lvl4pPr>
              <a:defRPr sz="1040" b="1" lang="en-US">
                <a:latin typeface="Aptos"/>
                <a:ea typeface="Aptos"/>
                <a:cs typeface="Aptos"/>
              </a:defRPr>
            </a:lvl4pPr>
            <a:lvl5pPr>
              <a:defRPr sz="1040" b="1" lang="en-US">
                <a:latin typeface="Aptos"/>
                <a:ea typeface="Aptos"/>
                <a:cs typeface="Aptos"/>
              </a:defRPr>
            </a:lvl5pPr>
            <a:lvl6pPr>
              <a:defRPr sz="1040" b="1" lang="en-US">
                <a:latin typeface="Aptos"/>
                <a:ea typeface="Aptos"/>
                <a:cs typeface="Aptos"/>
              </a:defRPr>
            </a:lvl6pPr>
            <a:lvl7pPr>
              <a:defRPr sz="1040" b="1" lang="en-US">
                <a:latin typeface="Aptos"/>
                <a:ea typeface="Aptos"/>
                <a:cs typeface="Aptos"/>
              </a:defRPr>
            </a:lvl7pPr>
            <a:lvl8pPr>
              <a:defRPr sz="1040" b="1" lang="en-US">
                <a:latin typeface="Aptos"/>
                <a:ea typeface="Aptos"/>
                <a:cs typeface="Aptos"/>
              </a:defRPr>
            </a:lvl8pPr>
            <a:lvl9pPr>
              <a:defRPr sz="104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040" b="1" spc="70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  <a:endParaRPr sz="1040" lang="en-US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6367DD0-46E7-4D8F-8B97-361BA311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504" y="2121408"/>
            <a:ext cx="2834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 lang="en-US">
                <a:latin typeface="Aptos"/>
                <a:ea typeface="Aptos"/>
                <a:cs typeface="Aptos"/>
              </a:defRPr>
            </a:defPPr>
            <a:lvl1pPr>
              <a:defRPr sz="1800" b="1" lang="en-US">
                <a:latin typeface="Aptos"/>
                <a:ea typeface="Aptos"/>
                <a:cs typeface="Aptos"/>
              </a:defRPr>
            </a:lvl1pPr>
            <a:lvl2pPr>
              <a:defRPr sz="1800" b="1" lang="en-US">
                <a:latin typeface="Aptos"/>
                <a:ea typeface="Aptos"/>
                <a:cs typeface="Aptos"/>
              </a:defRPr>
            </a:lvl2pPr>
            <a:lvl3pPr>
              <a:defRPr sz="1800" b="1" lang="en-US">
                <a:latin typeface="Aptos"/>
                <a:ea typeface="Aptos"/>
                <a:cs typeface="Aptos"/>
              </a:defRPr>
            </a:lvl3pPr>
            <a:lvl4pPr>
              <a:defRPr sz="1800" b="1" lang="en-US">
                <a:latin typeface="Aptos"/>
                <a:ea typeface="Aptos"/>
                <a:cs typeface="Aptos"/>
              </a:defRPr>
            </a:lvl4pPr>
            <a:lvl5pPr>
              <a:defRPr sz="1800" b="1" lang="en-US">
                <a:latin typeface="Aptos"/>
                <a:ea typeface="Aptos"/>
                <a:cs typeface="Aptos"/>
              </a:defRPr>
            </a:lvl5pPr>
            <a:lvl6pPr>
              <a:defRPr sz="1800" b="1" lang="en-US">
                <a:latin typeface="Aptos"/>
                <a:ea typeface="Aptos"/>
                <a:cs typeface="Aptos"/>
              </a:defRPr>
            </a:lvl6pPr>
            <a:lvl7pPr>
              <a:defRPr sz="1800" b="1" lang="en-US">
                <a:latin typeface="Aptos"/>
                <a:ea typeface="Aptos"/>
                <a:cs typeface="Aptos"/>
              </a:defRPr>
            </a:lvl7pPr>
            <a:lvl8pPr>
              <a:defRPr sz="1800" b="1" lang="en-US">
                <a:latin typeface="Aptos"/>
                <a:ea typeface="Aptos"/>
                <a:cs typeface="Aptos"/>
              </a:defRPr>
            </a:lvl8pPr>
            <a:lvl9pPr>
              <a:defRPr sz="18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DEMONSTRATION</a:t>
            </a:r>
            <a:endParaRPr sz="1800" lang="en-US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6000D98-7070-41BB-A973-848A8CB0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2130552"/>
            <a:ext cx="6355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Walks, dances, or performs a routine.</a:t>
            </a:r>
            <a:endParaRPr sz="1400" lang="en-US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3E16F56-8B31-48C9-9EB3-7D9BF341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2532888"/>
            <a:ext cx="637336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Teleoperated? How many attempts?</a:t>
            </a:r>
            <a:endParaRPr sz="1200" lang="en-US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140CD13-584B-4068-8833-65577715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3218688"/>
            <a:ext cx="10735056" cy="1060704"/>
          </a:xfrm>
          <a:prstGeom xmlns:a="http://schemas.openxmlformats.org/drawingml/2006/main" prst="roundRect">
            <a:avLst>
              <a:gd name="adj" fmla="val 11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41921A1-5A77-499F-9A75-0F9E76F1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410712"/>
            <a:ext cx="557784" cy="320040"/>
          </a:xfrm>
          <a:prstGeom xmlns:a="http://schemas.openxmlformats.org/drawingml/2006/main" prst="roundRect">
            <a:avLst>
              <a:gd name="adj" fmla="val 4571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6512960-78FF-4CA3-B7DD-D3102F28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429000"/>
            <a:ext cx="338328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40" b="1" lang="en-US">
                <a:latin typeface="Aptos"/>
                <a:ea typeface="Aptos"/>
                <a:cs typeface="Aptos"/>
              </a:defRPr>
            </a:defPPr>
            <a:lvl1pPr>
              <a:defRPr sz="1040" b="1" lang="en-US">
                <a:latin typeface="Aptos"/>
                <a:ea typeface="Aptos"/>
                <a:cs typeface="Aptos"/>
              </a:defRPr>
            </a:lvl1pPr>
            <a:lvl2pPr>
              <a:defRPr sz="1040" b="1" lang="en-US">
                <a:latin typeface="Aptos"/>
                <a:ea typeface="Aptos"/>
                <a:cs typeface="Aptos"/>
              </a:defRPr>
            </a:lvl2pPr>
            <a:lvl3pPr>
              <a:defRPr sz="1040" b="1" lang="en-US">
                <a:latin typeface="Aptos"/>
                <a:ea typeface="Aptos"/>
                <a:cs typeface="Aptos"/>
              </a:defRPr>
            </a:lvl3pPr>
            <a:lvl4pPr>
              <a:defRPr sz="1040" b="1" lang="en-US">
                <a:latin typeface="Aptos"/>
                <a:ea typeface="Aptos"/>
                <a:cs typeface="Aptos"/>
              </a:defRPr>
            </a:lvl4pPr>
            <a:lvl5pPr>
              <a:defRPr sz="1040" b="1" lang="en-US">
                <a:latin typeface="Aptos"/>
                <a:ea typeface="Aptos"/>
                <a:cs typeface="Aptos"/>
              </a:defRPr>
            </a:lvl5pPr>
            <a:lvl6pPr>
              <a:defRPr sz="1040" b="1" lang="en-US">
                <a:latin typeface="Aptos"/>
                <a:ea typeface="Aptos"/>
                <a:cs typeface="Aptos"/>
              </a:defRPr>
            </a:lvl6pPr>
            <a:lvl7pPr>
              <a:defRPr sz="1040" b="1" lang="en-US">
                <a:latin typeface="Aptos"/>
                <a:ea typeface="Aptos"/>
                <a:cs typeface="Aptos"/>
              </a:defRPr>
            </a:lvl7pPr>
            <a:lvl8pPr>
              <a:defRPr sz="1040" b="1" lang="en-US">
                <a:latin typeface="Aptos"/>
                <a:ea typeface="Aptos"/>
                <a:cs typeface="Aptos"/>
              </a:defRPr>
            </a:lvl8pPr>
            <a:lvl9pPr>
              <a:defRPr sz="104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040" b="1" spc="70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  <a:endParaRPr sz="1040" lang="en-US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9FCFF3E-47B8-46B6-82EA-F30AA9BE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504" y="3374136"/>
            <a:ext cx="2834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 lang="en-US">
                <a:latin typeface="Aptos"/>
                <a:ea typeface="Aptos"/>
                <a:cs typeface="Aptos"/>
              </a:defRPr>
            </a:defPPr>
            <a:lvl1pPr>
              <a:defRPr sz="1800" b="1" lang="en-US">
                <a:latin typeface="Aptos"/>
                <a:ea typeface="Aptos"/>
                <a:cs typeface="Aptos"/>
              </a:defRPr>
            </a:lvl1pPr>
            <a:lvl2pPr>
              <a:defRPr sz="1800" b="1" lang="en-US">
                <a:latin typeface="Aptos"/>
                <a:ea typeface="Aptos"/>
                <a:cs typeface="Aptos"/>
              </a:defRPr>
            </a:lvl2pPr>
            <a:lvl3pPr>
              <a:defRPr sz="1800" b="1" lang="en-US">
                <a:latin typeface="Aptos"/>
                <a:ea typeface="Aptos"/>
                <a:cs typeface="Aptos"/>
              </a:defRPr>
            </a:lvl3pPr>
            <a:lvl4pPr>
              <a:defRPr sz="1800" b="1" lang="en-US">
                <a:latin typeface="Aptos"/>
                <a:ea typeface="Aptos"/>
                <a:cs typeface="Aptos"/>
              </a:defRPr>
            </a:lvl4pPr>
            <a:lvl5pPr>
              <a:defRPr sz="1800" b="1" lang="en-US">
                <a:latin typeface="Aptos"/>
                <a:ea typeface="Aptos"/>
                <a:cs typeface="Aptos"/>
              </a:defRPr>
            </a:lvl5pPr>
            <a:lvl6pPr>
              <a:defRPr sz="1800" b="1" lang="en-US">
                <a:latin typeface="Aptos"/>
                <a:ea typeface="Aptos"/>
                <a:cs typeface="Aptos"/>
              </a:defRPr>
            </a:lvl6pPr>
            <a:lvl7pPr>
              <a:defRPr sz="1800" b="1" lang="en-US">
                <a:latin typeface="Aptos"/>
                <a:ea typeface="Aptos"/>
                <a:cs typeface="Aptos"/>
              </a:defRPr>
            </a:lvl7pPr>
            <a:lvl8pPr>
              <a:defRPr sz="1800" b="1" lang="en-US">
                <a:latin typeface="Aptos"/>
                <a:ea typeface="Aptos"/>
                <a:cs typeface="Aptos"/>
              </a:defRPr>
            </a:lvl8pPr>
            <a:lvl9pPr>
              <a:defRPr sz="18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TECHNICAL CAPABILITY</a:t>
            </a:r>
            <a:endParaRPr sz="1800" lang="en-US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E7741E0-C623-4F6F-96B4-D3A637E9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3383280"/>
            <a:ext cx="6355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Perceives, controls joints, manipulates objects.</a:t>
            </a:r>
            <a:endParaRPr sz="1400" lang="en-US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C9939EA-2FA5-449B-A91F-24F9C946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3785616"/>
            <a:ext cx="637336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With what precision and in what environment?</a:t>
            </a:r>
            <a:endParaRPr sz="1200" lang="en-US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0C11F0F-D707-4917-9F32-1F705C7D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471416"/>
            <a:ext cx="10735056" cy="1060704"/>
          </a:xfrm>
          <a:prstGeom xmlns:a="http://schemas.openxmlformats.org/drawingml/2006/main" prst="roundRect">
            <a:avLst>
              <a:gd name="adj" fmla="val 11207"/>
            </a:avLst>
          </a:prstGeom>
          <a:solidFill xmlns:a="http://schemas.openxmlformats.org/drawingml/2006/main">
            <a:srgbClr val="C6E9E6"/>
          </a:solidFill>
          <a:ln xmlns:a="http://schemas.openxmlformats.org/drawingml/2006/main" w="12700">
            <a:solidFill>
              <a:srgbClr val="C6E9E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CBDAA363-3A92-46AA-9338-200FD973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663440"/>
            <a:ext cx="557784" cy="320040"/>
          </a:xfrm>
          <a:prstGeom xmlns:a="http://schemas.openxmlformats.org/drawingml/2006/main" prst="roundRect">
            <a:avLst>
              <a:gd name="adj" fmla="val 45714"/>
            </a:avLst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52FC29A-07C8-42E4-A2A8-CE2F64F4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681728"/>
            <a:ext cx="338328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40" b="1" lang="en-US">
                <a:latin typeface="Aptos"/>
                <a:ea typeface="Aptos"/>
                <a:cs typeface="Aptos"/>
              </a:defRPr>
            </a:defPPr>
            <a:lvl1pPr>
              <a:defRPr sz="1040" b="1" lang="en-US">
                <a:latin typeface="Aptos"/>
                <a:ea typeface="Aptos"/>
                <a:cs typeface="Aptos"/>
              </a:defRPr>
            </a:lvl1pPr>
            <a:lvl2pPr>
              <a:defRPr sz="1040" b="1" lang="en-US">
                <a:latin typeface="Aptos"/>
                <a:ea typeface="Aptos"/>
                <a:cs typeface="Aptos"/>
              </a:defRPr>
            </a:lvl2pPr>
            <a:lvl3pPr>
              <a:defRPr sz="1040" b="1" lang="en-US">
                <a:latin typeface="Aptos"/>
                <a:ea typeface="Aptos"/>
                <a:cs typeface="Aptos"/>
              </a:defRPr>
            </a:lvl3pPr>
            <a:lvl4pPr>
              <a:defRPr sz="1040" b="1" lang="en-US">
                <a:latin typeface="Aptos"/>
                <a:ea typeface="Aptos"/>
                <a:cs typeface="Aptos"/>
              </a:defRPr>
            </a:lvl4pPr>
            <a:lvl5pPr>
              <a:defRPr sz="1040" b="1" lang="en-US">
                <a:latin typeface="Aptos"/>
                <a:ea typeface="Aptos"/>
                <a:cs typeface="Aptos"/>
              </a:defRPr>
            </a:lvl5pPr>
            <a:lvl6pPr>
              <a:defRPr sz="1040" b="1" lang="en-US">
                <a:latin typeface="Aptos"/>
                <a:ea typeface="Aptos"/>
                <a:cs typeface="Aptos"/>
              </a:defRPr>
            </a:lvl6pPr>
            <a:lvl7pPr>
              <a:defRPr sz="1040" b="1" lang="en-US">
                <a:latin typeface="Aptos"/>
                <a:ea typeface="Aptos"/>
                <a:cs typeface="Aptos"/>
              </a:defRPr>
            </a:lvl7pPr>
            <a:lvl8pPr>
              <a:defRPr sz="1040" b="1" lang="en-US">
                <a:latin typeface="Aptos"/>
                <a:ea typeface="Aptos"/>
                <a:cs typeface="Aptos"/>
              </a:defRPr>
            </a:lvl8pPr>
            <a:lvl9pPr>
              <a:defRPr sz="104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040" b="1" spc="70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  <a:endParaRPr sz="1040" lang="en-US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BEB688C-BA62-4843-A682-BE38E02C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504" y="4626864"/>
            <a:ext cx="2834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 lang="en-US">
                <a:latin typeface="Aptos"/>
                <a:ea typeface="Aptos"/>
                <a:cs typeface="Aptos"/>
              </a:defRPr>
            </a:defPPr>
            <a:lvl1pPr>
              <a:defRPr sz="1800" b="1" lang="en-US">
                <a:latin typeface="Aptos"/>
                <a:ea typeface="Aptos"/>
                <a:cs typeface="Aptos"/>
              </a:defRPr>
            </a:lvl1pPr>
            <a:lvl2pPr>
              <a:defRPr sz="1800" b="1" lang="en-US">
                <a:latin typeface="Aptos"/>
                <a:ea typeface="Aptos"/>
                <a:cs typeface="Aptos"/>
              </a:defRPr>
            </a:lvl2pPr>
            <a:lvl3pPr>
              <a:defRPr sz="1800" b="1" lang="en-US">
                <a:latin typeface="Aptos"/>
                <a:ea typeface="Aptos"/>
                <a:cs typeface="Aptos"/>
              </a:defRPr>
            </a:lvl3pPr>
            <a:lvl4pPr>
              <a:defRPr sz="1800" b="1" lang="en-US">
                <a:latin typeface="Aptos"/>
                <a:ea typeface="Aptos"/>
                <a:cs typeface="Aptos"/>
              </a:defRPr>
            </a:lvl4pPr>
            <a:lvl5pPr>
              <a:defRPr sz="1800" b="1" lang="en-US">
                <a:latin typeface="Aptos"/>
                <a:ea typeface="Aptos"/>
                <a:cs typeface="Aptos"/>
              </a:defRPr>
            </a:lvl5pPr>
            <a:lvl6pPr>
              <a:defRPr sz="1800" b="1" lang="en-US">
                <a:latin typeface="Aptos"/>
                <a:ea typeface="Aptos"/>
                <a:cs typeface="Aptos"/>
              </a:defRPr>
            </a:lvl6pPr>
            <a:lvl7pPr>
              <a:defRPr sz="1800" b="1" lang="en-US">
                <a:latin typeface="Aptos"/>
                <a:ea typeface="Aptos"/>
                <a:cs typeface="Aptos"/>
              </a:defRPr>
            </a:lvl7pPr>
            <a:lvl8pPr>
              <a:defRPr sz="1800" b="1" lang="en-US">
                <a:latin typeface="Aptos"/>
                <a:ea typeface="Aptos"/>
                <a:cs typeface="Aptos"/>
              </a:defRPr>
            </a:lvl8pPr>
            <a:lvl9pPr>
              <a:defRPr sz="18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PRODUCTIVE VALUE</a:t>
            </a:r>
            <a:endParaRPr sz="1800" lang="en-US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532E2D2-1AC1-42B9-BAA9-4FCFA799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4636008"/>
            <a:ext cx="6355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Works safely, reliably, and at competitive cost.</a:t>
            </a:r>
            <a:endParaRPr sz="1400" lang="en-US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23DD422-204E-4E36-B19E-2341A763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5038344"/>
            <a:ext cx="637336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What are its uptime, failure rate, and cost?</a:t>
            </a:r>
            <a:endParaRPr sz="1200" lang="en-US"/>
          </a:p>
        </p:txBody>
      </p:sp>
    </p:spTree>
    <p:extLst>
      <p:ext uri="{BB962C8B-B14F-4D97-AF65-F5344CB8AC3E}">
        <p14:creationId xmlns:p14="http://schemas.microsoft.com/office/powerpoint/2010/main" val="106520356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227310D-32EE-44C1-A2F9-C5FFEF10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TEACHING EXERCISE 02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11FC5F-D927-4E61-8E48-F4926520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The same 20 robots, different outcomes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824EF48-5D93-4068-A339-83E934B1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Assumptions: same workforce, shifts, complexity, and required quality.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AB95F6C-B93D-49D0-8EAC-210E0F0C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947672"/>
            <a:ext cx="5358384" cy="3163824"/>
          </a:xfrm>
          <a:prstGeom xmlns:a="http://schemas.openxmlformats.org/drawingml/2006/main" prst="roundRect">
            <a:avLst>
              <a:gd name="adj" fmla="val 43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41E467F-E457-4FAD-8E32-919B44C5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2185416"/>
            <a:ext cx="137160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A2D7A25-9ADF-4DD5-8543-F72817E8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203704"/>
            <a:ext cx="115214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40" b="1" lang="en-US">
                <a:latin typeface="Aptos"/>
                <a:ea typeface="Aptos"/>
                <a:cs typeface="Aptos"/>
              </a:defRPr>
            </a:defPPr>
            <a:lvl1pPr>
              <a:defRPr sz="1040" b="1" lang="en-US">
                <a:latin typeface="Aptos"/>
                <a:ea typeface="Aptos"/>
                <a:cs typeface="Aptos"/>
              </a:defRPr>
            </a:lvl1pPr>
            <a:lvl2pPr>
              <a:defRPr sz="1040" b="1" lang="en-US">
                <a:latin typeface="Aptos"/>
                <a:ea typeface="Aptos"/>
                <a:cs typeface="Aptos"/>
              </a:defRPr>
            </a:lvl2pPr>
            <a:lvl3pPr>
              <a:defRPr sz="1040" b="1" lang="en-US">
                <a:latin typeface="Aptos"/>
                <a:ea typeface="Aptos"/>
                <a:cs typeface="Aptos"/>
              </a:defRPr>
            </a:lvl3pPr>
            <a:lvl4pPr>
              <a:defRPr sz="1040" b="1" lang="en-US">
                <a:latin typeface="Aptos"/>
                <a:ea typeface="Aptos"/>
                <a:cs typeface="Aptos"/>
              </a:defRPr>
            </a:lvl4pPr>
            <a:lvl5pPr>
              <a:defRPr sz="1040" b="1" lang="en-US">
                <a:latin typeface="Aptos"/>
                <a:ea typeface="Aptos"/>
                <a:cs typeface="Aptos"/>
              </a:defRPr>
            </a:lvl5pPr>
            <a:lvl6pPr>
              <a:defRPr sz="1040" b="1" lang="en-US">
                <a:latin typeface="Aptos"/>
                <a:ea typeface="Aptos"/>
                <a:cs typeface="Aptos"/>
              </a:defRPr>
            </a:lvl6pPr>
            <a:lvl7pPr>
              <a:defRPr sz="1040" b="1" lang="en-US">
                <a:latin typeface="Aptos"/>
                <a:ea typeface="Aptos"/>
                <a:cs typeface="Aptos"/>
              </a:defRPr>
            </a:lvl7pPr>
            <a:lvl8pPr>
              <a:defRPr sz="1040" b="1" lang="en-US">
                <a:latin typeface="Aptos"/>
                <a:ea typeface="Aptos"/>
                <a:cs typeface="Aptos"/>
              </a:defRPr>
            </a:lvl8pPr>
            <a:lvl9pPr>
              <a:defRPr sz="104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040" b="1" spc="70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FACTORY A</a:t>
            </a:r>
            <a:endParaRPr sz="1040" lang="en-US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6CAA7BC-EA1B-4121-816D-BA1E9C8F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2715768"/>
            <a:ext cx="475488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99" b="1" lang="en-US">
                <a:latin typeface="Aptos"/>
                <a:ea typeface="Aptos"/>
                <a:cs typeface="Aptos"/>
              </a:defRPr>
            </a:defPPr>
            <a:lvl1pPr>
              <a:defRPr sz="1599" b="1" lang="en-US">
                <a:latin typeface="Aptos"/>
                <a:ea typeface="Aptos"/>
                <a:cs typeface="Aptos"/>
              </a:defRPr>
            </a:lvl1pPr>
            <a:lvl2pPr>
              <a:defRPr sz="1599" b="1" lang="en-US">
                <a:latin typeface="Aptos"/>
                <a:ea typeface="Aptos"/>
                <a:cs typeface="Aptos"/>
              </a:defRPr>
            </a:lvl2pPr>
            <a:lvl3pPr>
              <a:defRPr sz="1599" b="1" lang="en-US">
                <a:latin typeface="Aptos"/>
                <a:ea typeface="Aptos"/>
                <a:cs typeface="Aptos"/>
              </a:defRPr>
            </a:lvl3pPr>
            <a:lvl4pPr>
              <a:defRPr sz="1599" b="1" lang="en-US">
                <a:latin typeface="Aptos"/>
                <a:ea typeface="Aptos"/>
                <a:cs typeface="Aptos"/>
              </a:defRPr>
            </a:lvl4pPr>
            <a:lvl5pPr>
              <a:defRPr sz="1599" b="1" lang="en-US">
                <a:latin typeface="Aptos"/>
                <a:ea typeface="Aptos"/>
                <a:cs typeface="Aptos"/>
              </a:defRPr>
            </a:lvl5pPr>
            <a:lvl6pPr>
              <a:defRPr sz="1599" b="1" lang="en-US">
                <a:latin typeface="Aptos"/>
                <a:ea typeface="Aptos"/>
                <a:cs typeface="Aptos"/>
              </a:defRPr>
            </a:lvl6pPr>
            <a:lvl7pPr>
              <a:defRPr sz="1599" b="1" lang="en-US">
                <a:latin typeface="Aptos"/>
                <a:ea typeface="Aptos"/>
                <a:cs typeface="Aptos"/>
              </a:defRPr>
            </a:lvl7pPr>
            <a:lvl8pPr>
              <a:defRPr sz="1599" b="1" lang="en-US">
                <a:latin typeface="Aptos"/>
                <a:ea typeface="Aptos"/>
                <a:cs typeface="Aptos"/>
              </a:defRPr>
            </a:lvl8pPr>
            <a:lvl9pPr>
              <a:defRPr sz="15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5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100 workers + 20 robots</a:t>
            </a:r>
            <a:endParaRPr sz="1600" lang="en-US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85F94C7-B558-46BA-B120-E0968512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3227832"/>
            <a:ext cx="476402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lang="en-US">
                <a:latin typeface="Aptos"/>
                <a:ea typeface="Aptos"/>
                <a:cs typeface="Aptos"/>
              </a:defRPr>
            </a:defPPr>
            <a:lvl1pPr>
              <a:defRPr sz="1499" lang="en-US">
                <a:latin typeface="Aptos"/>
                <a:ea typeface="Aptos"/>
                <a:cs typeface="Aptos"/>
              </a:defRPr>
            </a:lvl1pPr>
            <a:lvl2pPr>
              <a:defRPr sz="1499" lang="en-US">
                <a:latin typeface="Aptos"/>
                <a:ea typeface="Aptos"/>
                <a:cs typeface="Aptos"/>
              </a:defRPr>
            </a:lvl2pPr>
            <a:lvl3pPr>
              <a:defRPr sz="1499" lang="en-US">
                <a:latin typeface="Aptos"/>
                <a:ea typeface="Aptos"/>
                <a:cs typeface="Aptos"/>
              </a:defRPr>
            </a:lvl3pPr>
            <a:lvl4pPr>
              <a:defRPr sz="1499" lang="en-US">
                <a:latin typeface="Aptos"/>
                <a:ea typeface="Aptos"/>
                <a:cs typeface="Aptos"/>
              </a:defRPr>
            </a:lvl4pPr>
            <a:lvl5pPr>
              <a:defRPr sz="1499" lang="en-US">
                <a:latin typeface="Aptos"/>
                <a:ea typeface="Aptos"/>
                <a:cs typeface="Aptos"/>
              </a:defRPr>
            </a:lvl5pPr>
            <a:lvl6pPr>
              <a:defRPr sz="1499" lang="en-US">
                <a:latin typeface="Aptos"/>
                <a:ea typeface="Aptos"/>
                <a:cs typeface="Aptos"/>
              </a:defRPr>
            </a:lvl6pPr>
            <a:lvl7pPr>
              <a:defRPr sz="1499" lang="en-US">
                <a:latin typeface="Aptos"/>
                <a:ea typeface="Aptos"/>
                <a:cs typeface="Aptos"/>
              </a:defRPr>
            </a:lvl7pPr>
            <a:lvl8pPr>
              <a:defRPr sz="1499" lang="en-US">
                <a:latin typeface="Aptos"/>
                <a:ea typeface="Aptos"/>
                <a:cs typeface="Aptos"/>
              </a:defRPr>
            </a:lvl8pPr>
            <a:lvl9pPr>
              <a:defRPr sz="149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1,000 parts · 5% defects</a:t>
            </a:r>
            <a:endParaRPr sz="1500" lang="en-US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6CCFBE2-7365-449D-A812-557D97C5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3794760"/>
            <a:ext cx="468172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801" b="1" lang="en-US">
                <a:latin typeface="Aptos"/>
                <a:ea typeface="Aptos"/>
                <a:cs typeface="Aptos"/>
              </a:defRPr>
            </a:defPPr>
            <a:lvl1pPr>
              <a:defRPr sz="3801" b="1" lang="en-US">
                <a:latin typeface="Aptos"/>
                <a:ea typeface="Aptos"/>
                <a:cs typeface="Aptos"/>
              </a:defRPr>
            </a:lvl1pPr>
            <a:lvl2pPr>
              <a:defRPr sz="3801" b="1" lang="en-US">
                <a:latin typeface="Aptos"/>
                <a:ea typeface="Aptos"/>
                <a:cs typeface="Aptos"/>
              </a:defRPr>
            </a:lvl2pPr>
            <a:lvl3pPr>
              <a:defRPr sz="3801" b="1" lang="en-US">
                <a:latin typeface="Aptos"/>
                <a:ea typeface="Aptos"/>
                <a:cs typeface="Aptos"/>
              </a:defRPr>
            </a:lvl3pPr>
            <a:lvl4pPr>
              <a:defRPr sz="3801" b="1" lang="en-US">
                <a:latin typeface="Aptos"/>
                <a:ea typeface="Aptos"/>
                <a:cs typeface="Aptos"/>
              </a:defRPr>
            </a:lvl4pPr>
            <a:lvl5pPr>
              <a:defRPr sz="3801" b="1" lang="en-US">
                <a:latin typeface="Aptos"/>
                <a:ea typeface="Aptos"/>
                <a:cs typeface="Aptos"/>
              </a:defRPr>
            </a:lvl5pPr>
            <a:lvl6pPr>
              <a:defRPr sz="3801" b="1" lang="en-US">
                <a:latin typeface="Aptos"/>
                <a:ea typeface="Aptos"/>
                <a:cs typeface="Aptos"/>
              </a:defRPr>
            </a:lvl6pPr>
            <a:lvl7pPr>
              <a:defRPr sz="3801" b="1" lang="en-US">
                <a:latin typeface="Aptos"/>
                <a:ea typeface="Aptos"/>
                <a:cs typeface="Aptos"/>
              </a:defRPr>
            </a:lvl7pPr>
            <a:lvl8pPr>
              <a:defRPr sz="3801" b="1" lang="en-US">
                <a:latin typeface="Aptos"/>
                <a:ea typeface="Aptos"/>
                <a:cs typeface="Aptos"/>
              </a:defRPr>
            </a:lvl8pPr>
            <a:lvl9pPr>
              <a:defRPr sz="38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3801" b="1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950</a:t>
            </a:r>
            <a:endParaRPr sz="3800" lang="en-US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833A032-4F33-49B7-81F6-3E846737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442569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good parts per day</a:t>
            </a:r>
            <a:endParaRPr sz="1300" lang="en-US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086BEB1-02E3-4B50-8AD0-CC26865B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1947672"/>
            <a:ext cx="5358384" cy="3163824"/>
          </a:xfrm>
          <a:prstGeom xmlns:a="http://schemas.openxmlformats.org/drawingml/2006/main" prst="roundRect">
            <a:avLst>
              <a:gd name="adj" fmla="val 43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C03D280-9778-4BC7-AE0D-8C750EC7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2185416"/>
            <a:ext cx="137160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16FB65D-CDDB-4E8F-BA4B-D0A8F6AA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2203704"/>
            <a:ext cx="115214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40" b="1" lang="en-US">
                <a:latin typeface="Aptos"/>
                <a:ea typeface="Aptos"/>
                <a:cs typeface="Aptos"/>
              </a:defRPr>
            </a:defPPr>
            <a:lvl1pPr>
              <a:defRPr sz="1040" b="1" lang="en-US">
                <a:latin typeface="Aptos"/>
                <a:ea typeface="Aptos"/>
                <a:cs typeface="Aptos"/>
              </a:defRPr>
            </a:lvl1pPr>
            <a:lvl2pPr>
              <a:defRPr sz="1040" b="1" lang="en-US">
                <a:latin typeface="Aptos"/>
                <a:ea typeface="Aptos"/>
                <a:cs typeface="Aptos"/>
              </a:defRPr>
            </a:lvl2pPr>
            <a:lvl3pPr>
              <a:defRPr sz="1040" b="1" lang="en-US">
                <a:latin typeface="Aptos"/>
                <a:ea typeface="Aptos"/>
                <a:cs typeface="Aptos"/>
              </a:defRPr>
            </a:lvl3pPr>
            <a:lvl4pPr>
              <a:defRPr sz="1040" b="1" lang="en-US">
                <a:latin typeface="Aptos"/>
                <a:ea typeface="Aptos"/>
                <a:cs typeface="Aptos"/>
              </a:defRPr>
            </a:lvl4pPr>
            <a:lvl5pPr>
              <a:defRPr sz="1040" b="1" lang="en-US">
                <a:latin typeface="Aptos"/>
                <a:ea typeface="Aptos"/>
                <a:cs typeface="Aptos"/>
              </a:defRPr>
            </a:lvl5pPr>
            <a:lvl6pPr>
              <a:defRPr sz="1040" b="1" lang="en-US">
                <a:latin typeface="Aptos"/>
                <a:ea typeface="Aptos"/>
                <a:cs typeface="Aptos"/>
              </a:defRPr>
            </a:lvl6pPr>
            <a:lvl7pPr>
              <a:defRPr sz="1040" b="1" lang="en-US">
                <a:latin typeface="Aptos"/>
                <a:ea typeface="Aptos"/>
                <a:cs typeface="Aptos"/>
              </a:defRPr>
            </a:lvl7pPr>
            <a:lvl8pPr>
              <a:defRPr sz="1040" b="1" lang="en-US">
                <a:latin typeface="Aptos"/>
                <a:ea typeface="Aptos"/>
                <a:cs typeface="Aptos"/>
              </a:defRPr>
            </a:lvl8pPr>
            <a:lvl9pPr>
              <a:defRPr sz="104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040" b="1" spc="70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FACTORY B</a:t>
            </a:r>
            <a:endParaRPr sz="1040" lang="en-US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2E933DC-8755-4C0A-B1DF-BC865197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2715768"/>
            <a:ext cx="475488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99" b="1" lang="en-US">
                <a:latin typeface="Aptos"/>
                <a:ea typeface="Aptos"/>
                <a:cs typeface="Aptos"/>
              </a:defRPr>
            </a:defPPr>
            <a:lvl1pPr>
              <a:defRPr sz="1599" b="1" lang="en-US">
                <a:latin typeface="Aptos"/>
                <a:ea typeface="Aptos"/>
                <a:cs typeface="Aptos"/>
              </a:defRPr>
            </a:lvl1pPr>
            <a:lvl2pPr>
              <a:defRPr sz="1599" b="1" lang="en-US">
                <a:latin typeface="Aptos"/>
                <a:ea typeface="Aptos"/>
                <a:cs typeface="Aptos"/>
              </a:defRPr>
            </a:lvl2pPr>
            <a:lvl3pPr>
              <a:defRPr sz="1599" b="1" lang="en-US">
                <a:latin typeface="Aptos"/>
                <a:ea typeface="Aptos"/>
                <a:cs typeface="Aptos"/>
              </a:defRPr>
            </a:lvl3pPr>
            <a:lvl4pPr>
              <a:defRPr sz="1599" b="1" lang="en-US">
                <a:latin typeface="Aptos"/>
                <a:ea typeface="Aptos"/>
                <a:cs typeface="Aptos"/>
              </a:defRPr>
            </a:lvl4pPr>
            <a:lvl5pPr>
              <a:defRPr sz="1599" b="1" lang="en-US">
                <a:latin typeface="Aptos"/>
                <a:ea typeface="Aptos"/>
                <a:cs typeface="Aptos"/>
              </a:defRPr>
            </a:lvl5pPr>
            <a:lvl6pPr>
              <a:defRPr sz="1599" b="1" lang="en-US">
                <a:latin typeface="Aptos"/>
                <a:ea typeface="Aptos"/>
                <a:cs typeface="Aptos"/>
              </a:defRPr>
            </a:lvl6pPr>
            <a:lvl7pPr>
              <a:defRPr sz="1599" b="1" lang="en-US">
                <a:latin typeface="Aptos"/>
                <a:ea typeface="Aptos"/>
                <a:cs typeface="Aptos"/>
              </a:defRPr>
            </a:lvl7pPr>
            <a:lvl8pPr>
              <a:defRPr sz="1599" b="1" lang="en-US">
                <a:latin typeface="Aptos"/>
                <a:ea typeface="Aptos"/>
                <a:cs typeface="Aptos"/>
              </a:defRPr>
            </a:lvl8pPr>
            <a:lvl9pPr>
              <a:defRPr sz="15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5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100 workers + 20 robots</a:t>
            </a:r>
            <a:endParaRPr sz="1600" lang="en-US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12089DB-3937-47AE-82C9-33A8A5F6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3227832"/>
            <a:ext cx="476402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lang="en-US">
                <a:latin typeface="Aptos"/>
                <a:ea typeface="Aptos"/>
                <a:cs typeface="Aptos"/>
              </a:defRPr>
            </a:defPPr>
            <a:lvl1pPr>
              <a:defRPr sz="1499" lang="en-US">
                <a:latin typeface="Aptos"/>
                <a:ea typeface="Aptos"/>
                <a:cs typeface="Aptos"/>
              </a:defRPr>
            </a:lvl1pPr>
            <a:lvl2pPr>
              <a:defRPr sz="1499" lang="en-US">
                <a:latin typeface="Aptos"/>
                <a:ea typeface="Aptos"/>
                <a:cs typeface="Aptos"/>
              </a:defRPr>
            </a:lvl2pPr>
            <a:lvl3pPr>
              <a:defRPr sz="1499" lang="en-US">
                <a:latin typeface="Aptos"/>
                <a:ea typeface="Aptos"/>
                <a:cs typeface="Aptos"/>
              </a:defRPr>
            </a:lvl3pPr>
            <a:lvl4pPr>
              <a:defRPr sz="1499" lang="en-US">
                <a:latin typeface="Aptos"/>
                <a:ea typeface="Aptos"/>
                <a:cs typeface="Aptos"/>
              </a:defRPr>
            </a:lvl4pPr>
            <a:lvl5pPr>
              <a:defRPr sz="1499" lang="en-US">
                <a:latin typeface="Aptos"/>
                <a:ea typeface="Aptos"/>
                <a:cs typeface="Aptos"/>
              </a:defRPr>
            </a:lvl5pPr>
            <a:lvl6pPr>
              <a:defRPr sz="1499" lang="en-US">
                <a:latin typeface="Aptos"/>
                <a:ea typeface="Aptos"/>
                <a:cs typeface="Aptos"/>
              </a:defRPr>
            </a:lvl6pPr>
            <a:lvl7pPr>
              <a:defRPr sz="1499" lang="en-US">
                <a:latin typeface="Aptos"/>
                <a:ea typeface="Aptos"/>
                <a:cs typeface="Aptos"/>
              </a:defRPr>
            </a:lvl7pPr>
            <a:lvl8pPr>
              <a:defRPr sz="1499" lang="en-US">
                <a:latin typeface="Aptos"/>
                <a:ea typeface="Aptos"/>
                <a:cs typeface="Aptos"/>
              </a:defRPr>
            </a:lvl8pPr>
            <a:lvl9pPr>
              <a:defRPr sz="149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1,150 parts · 2% defects</a:t>
            </a:r>
            <a:endParaRPr sz="1500" lang="en-US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9496F12-19B7-473C-8510-B23C7FFD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3794760"/>
            <a:ext cx="468172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801" b="1" lang="en-US">
                <a:latin typeface="Aptos"/>
                <a:ea typeface="Aptos"/>
                <a:cs typeface="Aptos"/>
              </a:defRPr>
            </a:defPPr>
            <a:lvl1pPr>
              <a:defRPr sz="3801" b="1" lang="en-US">
                <a:latin typeface="Aptos"/>
                <a:ea typeface="Aptos"/>
                <a:cs typeface="Aptos"/>
              </a:defRPr>
            </a:lvl1pPr>
            <a:lvl2pPr>
              <a:defRPr sz="3801" b="1" lang="en-US">
                <a:latin typeface="Aptos"/>
                <a:ea typeface="Aptos"/>
                <a:cs typeface="Aptos"/>
              </a:defRPr>
            </a:lvl2pPr>
            <a:lvl3pPr>
              <a:defRPr sz="3801" b="1" lang="en-US">
                <a:latin typeface="Aptos"/>
                <a:ea typeface="Aptos"/>
                <a:cs typeface="Aptos"/>
              </a:defRPr>
            </a:lvl3pPr>
            <a:lvl4pPr>
              <a:defRPr sz="3801" b="1" lang="en-US">
                <a:latin typeface="Aptos"/>
                <a:ea typeface="Aptos"/>
                <a:cs typeface="Aptos"/>
              </a:defRPr>
            </a:lvl4pPr>
            <a:lvl5pPr>
              <a:defRPr sz="3801" b="1" lang="en-US">
                <a:latin typeface="Aptos"/>
                <a:ea typeface="Aptos"/>
                <a:cs typeface="Aptos"/>
              </a:defRPr>
            </a:lvl5pPr>
            <a:lvl6pPr>
              <a:defRPr sz="3801" b="1" lang="en-US">
                <a:latin typeface="Aptos"/>
                <a:ea typeface="Aptos"/>
                <a:cs typeface="Aptos"/>
              </a:defRPr>
            </a:lvl6pPr>
            <a:lvl7pPr>
              <a:defRPr sz="3801" b="1" lang="en-US">
                <a:latin typeface="Aptos"/>
                <a:ea typeface="Aptos"/>
                <a:cs typeface="Aptos"/>
              </a:defRPr>
            </a:lvl7pPr>
            <a:lvl8pPr>
              <a:defRPr sz="3801" b="1" lang="en-US">
                <a:latin typeface="Aptos"/>
                <a:ea typeface="Aptos"/>
                <a:cs typeface="Aptos"/>
              </a:defRPr>
            </a:lvl8pPr>
            <a:lvl9pPr>
              <a:defRPr sz="38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3801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1,127</a:t>
            </a:r>
            <a:endParaRPr sz="3800" lang="en-US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E699D6A-E9CF-455B-A938-A761D8EB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442569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good parts per day</a:t>
            </a:r>
            <a:endParaRPr sz="1300" lang="en-US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7128938-0526-4D5A-B71C-F654F3C0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5385816"/>
            <a:ext cx="10780776" cy="484632"/>
          </a:xfrm>
          <a:prstGeom xmlns:a="http://schemas.openxmlformats.org/drawingml/2006/main" prst="roundRect">
            <a:avLst>
              <a:gd name="adj" fmla="val 22642"/>
            </a:avLst>
          </a:prstGeom>
          <a:solidFill xmlns:a="http://schemas.openxmlformats.org/drawingml/2006/main">
            <a:srgbClr val="FFF1D9"/>
          </a:solidFill>
          <a:ln xmlns:a="http://schemas.openxmlformats.org/drawingml/2006/main" w="12700">
            <a:solidFill>
              <a:srgbClr val="FFF1D9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5BA04DB-70D2-449C-BC54-C70337FE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95544"/>
            <a:ext cx="1025956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99" b="1" lang="en-US">
                <a:latin typeface="Aptos"/>
                <a:ea typeface="Aptos"/>
                <a:cs typeface="Aptos"/>
              </a:defRPr>
            </a:defPPr>
            <a:lvl1pPr>
              <a:defRPr sz="1599" b="1" lang="en-US">
                <a:latin typeface="Aptos"/>
                <a:ea typeface="Aptos"/>
                <a:cs typeface="Aptos"/>
              </a:defRPr>
            </a:lvl1pPr>
            <a:lvl2pPr>
              <a:defRPr sz="1599" b="1" lang="en-US">
                <a:latin typeface="Aptos"/>
                <a:ea typeface="Aptos"/>
                <a:cs typeface="Aptos"/>
              </a:defRPr>
            </a:lvl2pPr>
            <a:lvl3pPr>
              <a:defRPr sz="1599" b="1" lang="en-US">
                <a:latin typeface="Aptos"/>
                <a:ea typeface="Aptos"/>
                <a:cs typeface="Aptos"/>
              </a:defRPr>
            </a:lvl3pPr>
            <a:lvl4pPr>
              <a:defRPr sz="1599" b="1" lang="en-US">
                <a:latin typeface="Aptos"/>
                <a:ea typeface="Aptos"/>
                <a:cs typeface="Aptos"/>
              </a:defRPr>
            </a:lvl4pPr>
            <a:lvl5pPr>
              <a:defRPr sz="1599" b="1" lang="en-US">
                <a:latin typeface="Aptos"/>
                <a:ea typeface="Aptos"/>
                <a:cs typeface="Aptos"/>
              </a:defRPr>
            </a:lvl5pPr>
            <a:lvl6pPr>
              <a:defRPr sz="1599" b="1" lang="en-US">
                <a:latin typeface="Aptos"/>
                <a:ea typeface="Aptos"/>
                <a:cs typeface="Aptos"/>
              </a:defRPr>
            </a:lvl6pPr>
            <a:lvl7pPr>
              <a:defRPr sz="1599" b="1" lang="en-US">
                <a:latin typeface="Aptos"/>
                <a:ea typeface="Aptos"/>
                <a:cs typeface="Aptos"/>
              </a:defRPr>
            </a:lvl7pPr>
            <a:lvl8pPr>
              <a:defRPr sz="1599" b="1" lang="en-US">
                <a:latin typeface="Aptos"/>
                <a:ea typeface="Aptos"/>
                <a:cs typeface="Aptos"/>
              </a:defRPr>
            </a:lvl8pPr>
            <a:lvl9pPr>
              <a:defRPr sz="15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5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Factory B produces 177 more good parts per day: +18.6% without buying more robots.</a:t>
            </a:r>
            <a:endParaRPr sz="1700" lang="en-US"/>
          </a:p>
        </p:txBody>
      </p:sp>
    </p:spTree>
    <p:extLst>
      <p:ext uri="{BB962C8B-B14F-4D97-AF65-F5344CB8AC3E}">
        <p14:creationId xmlns:p14="http://schemas.microsoft.com/office/powerpoint/2010/main" val="21061286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0E625AD-8391-480E-92D6-82B6C438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THE ECONOMIC LOGIC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178CC51-1E0A-4DE9-A7C5-D8779CC8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701" b="1" lang="en-US">
                <a:latin typeface="Aptos"/>
                <a:ea typeface="Aptos"/>
                <a:cs typeface="Aptos"/>
              </a:defRPr>
            </a:defPPr>
            <a:lvl1pPr>
              <a:defRPr sz="2701" b="1" lang="en-US">
                <a:latin typeface="Aptos"/>
                <a:ea typeface="Aptos"/>
                <a:cs typeface="Aptos"/>
              </a:defRPr>
            </a:lvl1pPr>
            <a:lvl2pPr>
              <a:defRPr sz="2701" b="1" lang="en-US">
                <a:latin typeface="Aptos"/>
                <a:ea typeface="Aptos"/>
                <a:cs typeface="Aptos"/>
              </a:defRPr>
            </a:lvl2pPr>
            <a:lvl3pPr>
              <a:defRPr sz="2701" b="1" lang="en-US">
                <a:latin typeface="Aptos"/>
                <a:ea typeface="Aptos"/>
                <a:cs typeface="Aptos"/>
              </a:defRPr>
            </a:lvl3pPr>
            <a:lvl4pPr>
              <a:defRPr sz="2701" b="1" lang="en-US">
                <a:latin typeface="Aptos"/>
                <a:ea typeface="Aptos"/>
                <a:cs typeface="Aptos"/>
              </a:defRPr>
            </a:lvl4pPr>
            <a:lvl5pPr>
              <a:defRPr sz="2701" b="1" lang="en-US">
                <a:latin typeface="Aptos"/>
                <a:ea typeface="Aptos"/>
                <a:cs typeface="Aptos"/>
              </a:defRPr>
            </a:lvl5pPr>
            <a:lvl6pPr>
              <a:defRPr sz="2701" b="1" lang="en-US">
                <a:latin typeface="Aptos"/>
                <a:ea typeface="Aptos"/>
                <a:cs typeface="Aptos"/>
              </a:defRPr>
            </a:lvl6pPr>
            <a:lvl7pPr>
              <a:defRPr sz="2701" b="1" lang="en-US">
                <a:latin typeface="Aptos"/>
                <a:ea typeface="Aptos"/>
                <a:cs typeface="Aptos"/>
              </a:defRPr>
            </a:lvl7pPr>
            <a:lvl8pPr>
              <a:defRPr sz="2701" b="1" lang="en-US">
                <a:latin typeface="Aptos"/>
                <a:ea typeface="Aptos"/>
                <a:cs typeface="Aptos"/>
              </a:defRPr>
            </a:lvl8pPr>
            <a:lvl9pPr>
              <a:defRPr sz="27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70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More robots do not automatically mean higher productivity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F6BBA6-520D-48AD-A25F-C8B6E9BD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Five conditions must be evaluated before investing.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5F31A4B-4074-4708-9D09-BDE8CAC6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911096"/>
            <a:ext cx="10479024" cy="539496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C456A8-17E7-4BA1-B1E8-55072526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039112"/>
            <a:ext cx="539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b="1" lang="en-US">
                <a:latin typeface="Aptos"/>
                <a:ea typeface="Aptos"/>
                <a:cs typeface="Aptos"/>
              </a:defRPr>
            </a:defPPr>
            <a:lvl1pPr>
              <a:defRPr sz="1499" b="1" lang="en-US">
                <a:latin typeface="Aptos"/>
                <a:ea typeface="Aptos"/>
                <a:cs typeface="Aptos"/>
              </a:defRPr>
            </a:lvl1pPr>
            <a:lvl2pPr>
              <a:defRPr sz="1499" b="1" lang="en-US">
                <a:latin typeface="Aptos"/>
                <a:ea typeface="Aptos"/>
                <a:cs typeface="Aptos"/>
              </a:defRPr>
            </a:lvl2pPr>
            <a:lvl3pPr>
              <a:defRPr sz="1499" b="1" lang="en-US">
                <a:latin typeface="Aptos"/>
                <a:ea typeface="Aptos"/>
                <a:cs typeface="Aptos"/>
              </a:defRPr>
            </a:lvl3pPr>
            <a:lvl4pPr>
              <a:defRPr sz="1499" b="1" lang="en-US">
                <a:latin typeface="Aptos"/>
                <a:ea typeface="Aptos"/>
                <a:cs typeface="Aptos"/>
              </a:defRPr>
            </a:lvl4pPr>
            <a:lvl5pPr>
              <a:defRPr sz="1499" b="1" lang="en-US">
                <a:latin typeface="Aptos"/>
                <a:ea typeface="Aptos"/>
                <a:cs typeface="Aptos"/>
              </a:defRPr>
            </a:lvl5pPr>
            <a:lvl6pPr>
              <a:defRPr sz="1499" b="1" lang="en-US">
                <a:latin typeface="Aptos"/>
                <a:ea typeface="Aptos"/>
                <a:cs typeface="Aptos"/>
              </a:defRPr>
            </a:lvl6pPr>
            <a:lvl7pPr>
              <a:defRPr sz="1499" b="1" lang="en-US">
                <a:latin typeface="Aptos"/>
                <a:ea typeface="Aptos"/>
                <a:cs typeface="Aptos"/>
              </a:defRPr>
            </a:lvl7pPr>
            <a:lvl8pPr>
              <a:defRPr sz="1499" b="1" lang="en-US">
                <a:latin typeface="Aptos"/>
                <a:ea typeface="Aptos"/>
                <a:cs typeface="Aptos"/>
              </a:defRPr>
            </a:lvl8pPr>
            <a:lvl9pPr>
              <a:defRPr sz="14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01</a:t>
            </a:r>
            <a:endParaRPr sz="1500" lang="en-US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D8A4D92-8A97-4BFA-83F2-0C23BDC4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020824"/>
            <a:ext cx="331012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99" b="1" lang="en-US">
                <a:latin typeface="Aptos"/>
                <a:ea typeface="Aptos"/>
                <a:cs typeface="Aptos"/>
              </a:defRPr>
            </a:defPPr>
            <a:lvl1pPr>
              <a:defRPr sz="1599" b="1" lang="en-US">
                <a:latin typeface="Aptos"/>
                <a:ea typeface="Aptos"/>
                <a:cs typeface="Aptos"/>
              </a:defRPr>
            </a:lvl1pPr>
            <a:lvl2pPr>
              <a:defRPr sz="1599" b="1" lang="en-US">
                <a:latin typeface="Aptos"/>
                <a:ea typeface="Aptos"/>
                <a:cs typeface="Aptos"/>
              </a:defRPr>
            </a:lvl2pPr>
            <a:lvl3pPr>
              <a:defRPr sz="1599" b="1" lang="en-US">
                <a:latin typeface="Aptos"/>
                <a:ea typeface="Aptos"/>
                <a:cs typeface="Aptos"/>
              </a:defRPr>
            </a:lvl3pPr>
            <a:lvl4pPr>
              <a:defRPr sz="1599" b="1" lang="en-US">
                <a:latin typeface="Aptos"/>
                <a:ea typeface="Aptos"/>
                <a:cs typeface="Aptos"/>
              </a:defRPr>
            </a:lvl4pPr>
            <a:lvl5pPr>
              <a:defRPr sz="1599" b="1" lang="en-US">
                <a:latin typeface="Aptos"/>
                <a:ea typeface="Aptos"/>
                <a:cs typeface="Aptos"/>
              </a:defRPr>
            </a:lvl5pPr>
            <a:lvl6pPr>
              <a:defRPr sz="1599" b="1" lang="en-US">
                <a:latin typeface="Aptos"/>
                <a:ea typeface="Aptos"/>
                <a:cs typeface="Aptos"/>
              </a:defRPr>
            </a:lvl6pPr>
            <a:lvl7pPr>
              <a:defRPr sz="1599" b="1" lang="en-US">
                <a:latin typeface="Aptos"/>
                <a:ea typeface="Aptos"/>
                <a:cs typeface="Aptos"/>
              </a:defRPr>
            </a:lvl7pPr>
            <a:lvl8pPr>
              <a:defRPr sz="1599" b="1" lang="en-US">
                <a:latin typeface="Aptos"/>
                <a:ea typeface="Aptos"/>
                <a:cs typeface="Aptos"/>
              </a:defRPr>
            </a:lvl8pPr>
            <a:lvl9pPr>
              <a:defRPr sz="15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5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CAPITAL</a:t>
            </a:r>
            <a:endParaRPr sz="1600" lang="en-US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5998F6B-655E-4466-BCB0-2F457E2C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944" y="2011680"/>
            <a:ext cx="5669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lang="en-US">
                <a:latin typeface="Aptos"/>
                <a:ea typeface="Aptos"/>
                <a:cs typeface="Aptos"/>
              </a:defRPr>
            </a:defPPr>
            <a:lvl1pPr>
              <a:defRPr sz="1499" lang="en-US">
                <a:latin typeface="Aptos"/>
                <a:ea typeface="Aptos"/>
                <a:cs typeface="Aptos"/>
              </a:defRPr>
            </a:lvl1pPr>
            <a:lvl2pPr>
              <a:defRPr sz="1499" lang="en-US">
                <a:latin typeface="Aptos"/>
                <a:ea typeface="Aptos"/>
                <a:cs typeface="Aptos"/>
              </a:defRPr>
            </a:lvl2pPr>
            <a:lvl3pPr>
              <a:defRPr sz="1499" lang="en-US">
                <a:latin typeface="Aptos"/>
                <a:ea typeface="Aptos"/>
                <a:cs typeface="Aptos"/>
              </a:defRPr>
            </a:lvl3pPr>
            <a:lvl4pPr>
              <a:defRPr sz="1499" lang="en-US">
                <a:latin typeface="Aptos"/>
                <a:ea typeface="Aptos"/>
                <a:cs typeface="Aptos"/>
              </a:defRPr>
            </a:lvl4pPr>
            <a:lvl5pPr>
              <a:defRPr sz="1499" lang="en-US">
                <a:latin typeface="Aptos"/>
                <a:ea typeface="Aptos"/>
                <a:cs typeface="Aptos"/>
              </a:defRPr>
            </a:lvl5pPr>
            <a:lvl6pPr>
              <a:defRPr sz="1499" lang="en-US">
                <a:latin typeface="Aptos"/>
                <a:ea typeface="Aptos"/>
                <a:cs typeface="Aptos"/>
              </a:defRPr>
            </a:lvl6pPr>
            <a:lvl7pPr>
              <a:defRPr sz="1499" lang="en-US">
                <a:latin typeface="Aptos"/>
                <a:ea typeface="Aptos"/>
                <a:cs typeface="Aptos"/>
              </a:defRPr>
            </a:lvl7pPr>
            <a:lvl8pPr>
              <a:defRPr sz="1499" lang="en-US">
                <a:latin typeface="Aptos"/>
                <a:ea typeface="Aptos"/>
                <a:cs typeface="Aptos"/>
              </a:defRPr>
            </a:lvl8pPr>
            <a:lvl9pPr>
              <a:defRPr sz="149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Purchase price and installation</a:t>
            </a:r>
            <a:endParaRPr sz="1500" lang="en-US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9F356F9-23C6-4505-A5AC-5046F93D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06040"/>
            <a:ext cx="10479024" cy="539496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CEF46E8-7183-4078-AFA8-BBC6D263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734056"/>
            <a:ext cx="539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b="1" lang="en-US">
                <a:latin typeface="Aptos"/>
                <a:ea typeface="Aptos"/>
                <a:cs typeface="Aptos"/>
              </a:defRPr>
            </a:defPPr>
            <a:lvl1pPr>
              <a:defRPr sz="1499" b="1" lang="en-US">
                <a:latin typeface="Aptos"/>
                <a:ea typeface="Aptos"/>
                <a:cs typeface="Aptos"/>
              </a:defRPr>
            </a:lvl1pPr>
            <a:lvl2pPr>
              <a:defRPr sz="1499" b="1" lang="en-US">
                <a:latin typeface="Aptos"/>
                <a:ea typeface="Aptos"/>
                <a:cs typeface="Aptos"/>
              </a:defRPr>
            </a:lvl2pPr>
            <a:lvl3pPr>
              <a:defRPr sz="1499" b="1" lang="en-US">
                <a:latin typeface="Aptos"/>
                <a:ea typeface="Aptos"/>
                <a:cs typeface="Aptos"/>
              </a:defRPr>
            </a:lvl3pPr>
            <a:lvl4pPr>
              <a:defRPr sz="1499" b="1" lang="en-US">
                <a:latin typeface="Aptos"/>
                <a:ea typeface="Aptos"/>
                <a:cs typeface="Aptos"/>
              </a:defRPr>
            </a:lvl4pPr>
            <a:lvl5pPr>
              <a:defRPr sz="1499" b="1" lang="en-US">
                <a:latin typeface="Aptos"/>
                <a:ea typeface="Aptos"/>
                <a:cs typeface="Aptos"/>
              </a:defRPr>
            </a:lvl5pPr>
            <a:lvl6pPr>
              <a:defRPr sz="1499" b="1" lang="en-US">
                <a:latin typeface="Aptos"/>
                <a:ea typeface="Aptos"/>
                <a:cs typeface="Aptos"/>
              </a:defRPr>
            </a:lvl6pPr>
            <a:lvl7pPr>
              <a:defRPr sz="1499" b="1" lang="en-US">
                <a:latin typeface="Aptos"/>
                <a:ea typeface="Aptos"/>
                <a:cs typeface="Aptos"/>
              </a:defRPr>
            </a:lvl7pPr>
            <a:lvl8pPr>
              <a:defRPr sz="1499" b="1" lang="en-US">
                <a:latin typeface="Aptos"/>
                <a:ea typeface="Aptos"/>
                <a:cs typeface="Aptos"/>
              </a:defRPr>
            </a:lvl8pPr>
            <a:lvl9pPr>
              <a:defRPr sz="14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02</a:t>
            </a:r>
            <a:endParaRPr sz="1500" lang="en-US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B371C83-35CA-4452-A3C1-413AFB3E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715768"/>
            <a:ext cx="331012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99" b="1" lang="en-US">
                <a:latin typeface="Aptos"/>
                <a:ea typeface="Aptos"/>
                <a:cs typeface="Aptos"/>
              </a:defRPr>
            </a:defPPr>
            <a:lvl1pPr>
              <a:defRPr sz="1599" b="1" lang="en-US">
                <a:latin typeface="Aptos"/>
                <a:ea typeface="Aptos"/>
                <a:cs typeface="Aptos"/>
              </a:defRPr>
            </a:lvl1pPr>
            <a:lvl2pPr>
              <a:defRPr sz="1599" b="1" lang="en-US">
                <a:latin typeface="Aptos"/>
                <a:ea typeface="Aptos"/>
                <a:cs typeface="Aptos"/>
              </a:defRPr>
            </a:lvl2pPr>
            <a:lvl3pPr>
              <a:defRPr sz="1599" b="1" lang="en-US">
                <a:latin typeface="Aptos"/>
                <a:ea typeface="Aptos"/>
                <a:cs typeface="Aptos"/>
              </a:defRPr>
            </a:lvl3pPr>
            <a:lvl4pPr>
              <a:defRPr sz="1599" b="1" lang="en-US">
                <a:latin typeface="Aptos"/>
                <a:ea typeface="Aptos"/>
                <a:cs typeface="Aptos"/>
              </a:defRPr>
            </a:lvl4pPr>
            <a:lvl5pPr>
              <a:defRPr sz="1599" b="1" lang="en-US">
                <a:latin typeface="Aptos"/>
                <a:ea typeface="Aptos"/>
                <a:cs typeface="Aptos"/>
              </a:defRPr>
            </a:lvl5pPr>
            <a:lvl6pPr>
              <a:defRPr sz="1599" b="1" lang="en-US">
                <a:latin typeface="Aptos"/>
                <a:ea typeface="Aptos"/>
                <a:cs typeface="Aptos"/>
              </a:defRPr>
            </a:lvl6pPr>
            <a:lvl7pPr>
              <a:defRPr sz="1599" b="1" lang="en-US">
                <a:latin typeface="Aptos"/>
                <a:ea typeface="Aptos"/>
                <a:cs typeface="Aptos"/>
              </a:defRPr>
            </a:lvl7pPr>
            <a:lvl8pPr>
              <a:defRPr sz="1599" b="1" lang="en-US">
                <a:latin typeface="Aptos"/>
                <a:ea typeface="Aptos"/>
                <a:cs typeface="Aptos"/>
              </a:defRPr>
            </a:lvl8pPr>
            <a:lvl9pPr>
              <a:defRPr sz="15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5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OPERATIONS</a:t>
            </a:r>
            <a:endParaRPr sz="1600" lang="en-US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01BE595-4C1D-4FEA-8AE1-C1FF6957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944" y="2706624"/>
            <a:ext cx="5669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lang="en-US">
                <a:latin typeface="Aptos"/>
                <a:ea typeface="Aptos"/>
                <a:cs typeface="Aptos"/>
              </a:defRPr>
            </a:defPPr>
            <a:lvl1pPr>
              <a:defRPr sz="1499" lang="en-US">
                <a:latin typeface="Aptos"/>
                <a:ea typeface="Aptos"/>
                <a:cs typeface="Aptos"/>
              </a:defRPr>
            </a:lvl1pPr>
            <a:lvl2pPr>
              <a:defRPr sz="1499" lang="en-US">
                <a:latin typeface="Aptos"/>
                <a:ea typeface="Aptos"/>
                <a:cs typeface="Aptos"/>
              </a:defRPr>
            </a:lvl2pPr>
            <a:lvl3pPr>
              <a:defRPr sz="1499" lang="en-US">
                <a:latin typeface="Aptos"/>
                <a:ea typeface="Aptos"/>
                <a:cs typeface="Aptos"/>
              </a:defRPr>
            </a:lvl3pPr>
            <a:lvl4pPr>
              <a:defRPr sz="1499" lang="en-US">
                <a:latin typeface="Aptos"/>
                <a:ea typeface="Aptos"/>
                <a:cs typeface="Aptos"/>
              </a:defRPr>
            </a:lvl4pPr>
            <a:lvl5pPr>
              <a:defRPr sz="1499" lang="en-US">
                <a:latin typeface="Aptos"/>
                <a:ea typeface="Aptos"/>
                <a:cs typeface="Aptos"/>
              </a:defRPr>
            </a:lvl5pPr>
            <a:lvl6pPr>
              <a:defRPr sz="1499" lang="en-US">
                <a:latin typeface="Aptos"/>
                <a:ea typeface="Aptos"/>
                <a:cs typeface="Aptos"/>
              </a:defRPr>
            </a:lvl6pPr>
            <a:lvl7pPr>
              <a:defRPr sz="1499" lang="en-US">
                <a:latin typeface="Aptos"/>
                <a:ea typeface="Aptos"/>
                <a:cs typeface="Aptos"/>
              </a:defRPr>
            </a:lvl7pPr>
            <a:lvl8pPr>
              <a:defRPr sz="1499" lang="en-US">
                <a:latin typeface="Aptos"/>
                <a:ea typeface="Aptos"/>
                <a:cs typeface="Aptos"/>
              </a:defRPr>
            </a:lvl8pPr>
            <a:lvl9pPr>
              <a:defRPr sz="149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Uptime and failures</a:t>
            </a:r>
            <a:endParaRPr sz="1500" lang="en-US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B8748E2-71DF-41D5-B673-E817EE34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300984"/>
            <a:ext cx="10479024" cy="539496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B3E79B7-CE8D-4478-96CF-6D719FF1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429000"/>
            <a:ext cx="539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b="1" lang="en-US">
                <a:latin typeface="Aptos"/>
                <a:ea typeface="Aptos"/>
                <a:cs typeface="Aptos"/>
              </a:defRPr>
            </a:defPPr>
            <a:lvl1pPr>
              <a:defRPr sz="1499" b="1" lang="en-US">
                <a:latin typeface="Aptos"/>
                <a:ea typeface="Aptos"/>
                <a:cs typeface="Aptos"/>
              </a:defRPr>
            </a:lvl1pPr>
            <a:lvl2pPr>
              <a:defRPr sz="1499" b="1" lang="en-US">
                <a:latin typeface="Aptos"/>
                <a:ea typeface="Aptos"/>
                <a:cs typeface="Aptos"/>
              </a:defRPr>
            </a:lvl2pPr>
            <a:lvl3pPr>
              <a:defRPr sz="1499" b="1" lang="en-US">
                <a:latin typeface="Aptos"/>
                <a:ea typeface="Aptos"/>
                <a:cs typeface="Aptos"/>
              </a:defRPr>
            </a:lvl3pPr>
            <a:lvl4pPr>
              <a:defRPr sz="1499" b="1" lang="en-US">
                <a:latin typeface="Aptos"/>
                <a:ea typeface="Aptos"/>
                <a:cs typeface="Aptos"/>
              </a:defRPr>
            </a:lvl4pPr>
            <a:lvl5pPr>
              <a:defRPr sz="1499" b="1" lang="en-US">
                <a:latin typeface="Aptos"/>
                <a:ea typeface="Aptos"/>
                <a:cs typeface="Aptos"/>
              </a:defRPr>
            </a:lvl5pPr>
            <a:lvl6pPr>
              <a:defRPr sz="1499" b="1" lang="en-US">
                <a:latin typeface="Aptos"/>
                <a:ea typeface="Aptos"/>
                <a:cs typeface="Aptos"/>
              </a:defRPr>
            </a:lvl6pPr>
            <a:lvl7pPr>
              <a:defRPr sz="1499" b="1" lang="en-US">
                <a:latin typeface="Aptos"/>
                <a:ea typeface="Aptos"/>
                <a:cs typeface="Aptos"/>
              </a:defRPr>
            </a:lvl7pPr>
            <a:lvl8pPr>
              <a:defRPr sz="1499" b="1" lang="en-US">
                <a:latin typeface="Aptos"/>
                <a:ea typeface="Aptos"/>
                <a:cs typeface="Aptos"/>
              </a:defRPr>
            </a:lvl8pPr>
            <a:lvl9pPr>
              <a:defRPr sz="14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03</a:t>
            </a:r>
            <a:endParaRPr sz="1500" lang="en-US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7546EA2-A371-46C4-B22D-346CEB35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410712"/>
            <a:ext cx="331012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99" b="1" lang="en-US">
                <a:latin typeface="Aptos"/>
                <a:ea typeface="Aptos"/>
                <a:cs typeface="Aptos"/>
              </a:defRPr>
            </a:defPPr>
            <a:lvl1pPr>
              <a:defRPr sz="1599" b="1" lang="en-US">
                <a:latin typeface="Aptos"/>
                <a:ea typeface="Aptos"/>
                <a:cs typeface="Aptos"/>
              </a:defRPr>
            </a:lvl1pPr>
            <a:lvl2pPr>
              <a:defRPr sz="1599" b="1" lang="en-US">
                <a:latin typeface="Aptos"/>
                <a:ea typeface="Aptos"/>
                <a:cs typeface="Aptos"/>
              </a:defRPr>
            </a:lvl2pPr>
            <a:lvl3pPr>
              <a:defRPr sz="1599" b="1" lang="en-US">
                <a:latin typeface="Aptos"/>
                <a:ea typeface="Aptos"/>
                <a:cs typeface="Aptos"/>
              </a:defRPr>
            </a:lvl3pPr>
            <a:lvl4pPr>
              <a:defRPr sz="1599" b="1" lang="en-US">
                <a:latin typeface="Aptos"/>
                <a:ea typeface="Aptos"/>
                <a:cs typeface="Aptos"/>
              </a:defRPr>
            </a:lvl4pPr>
            <a:lvl5pPr>
              <a:defRPr sz="1599" b="1" lang="en-US">
                <a:latin typeface="Aptos"/>
                <a:ea typeface="Aptos"/>
                <a:cs typeface="Aptos"/>
              </a:defRPr>
            </a:lvl5pPr>
            <a:lvl6pPr>
              <a:defRPr sz="1599" b="1" lang="en-US">
                <a:latin typeface="Aptos"/>
                <a:ea typeface="Aptos"/>
                <a:cs typeface="Aptos"/>
              </a:defRPr>
            </a:lvl6pPr>
            <a:lvl7pPr>
              <a:defRPr sz="1599" b="1" lang="en-US">
                <a:latin typeface="Aptos"/>
                <a:ea typeface="Aptos"/>
                <a:cs typeface="Aptos"/>
              </a:defRPr>
            </a:lvl7pPr>
            <a:lvl8pPr>
              <a:defRPr sz="1599" b="1" lang="en-US">
                <a:latin typeface="Aptos"/>
                <a:ea typeface="Aptos"/>
                <a:cs typeface="Aptos"/>
              </a:defRPr>
            </a:lvl8pPr>
            <a:lvl9pPr>
              <a:defRPr sz="15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5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PEOPLE</a:t>
            </a:r>
            <a:endParaRPr sz="1600" lang="en-US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F3B4220-B1B3-4A95-8AFE-F3056722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944" y="3401568"/>
            <a:ext cx="5669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lang="en-US">
                <a:latin typeface="Aptos"/>
                <a:ea typeface="Aptos"/>
                <a:cs typeface="Aptos"/>
              </a:defRPr>
            </a:defPPr>
            <a:lvl1pPr>
              <a:defRPr sz="1499" lang="en-US">
                <a:latin typeface="Aptos"/>
                <a:ea typeface="Aptos"/>
                <a:cs typeface="Aptos"/>
              </a:defRPr>
            </a:lvl1pPr>
            <a:lvl2pPr>
              <a:defRPr sz="1499" lang="en-US">
                <a:latin typeface="Aptos"/>
                <a:ea typeface="Aptos"/>
                <a:cs typeface="Aptos"/>
              </a:defRPr>
            </a:lvl2pPr>
            <a:lvl3pPr>
              <a:defRPr sz="1499" lang="en-US">
                <a:latin typeface="Aptos"/>
                <a:ea typeface="Aptos"/>
                <a:cs typeface="Aptos"/>
              </a:defRPr>
            </a:lvl3pPr>
            <a:lvl4pPr>
              <a:defRPr sz="1499" lang="en-US">
                <a:latin typeface="Aptos"/>
                <a:ea typeface="Aptos"/>
                <a:cs typeface="Aptos"/>
              </a:defRPr>
            </a:lvl4pPr>
            <a:lvl5pPr>
              <a:defRPr sz="1499" lang="en-US">
                <a:latin typeface="Aptos"/>
                <a:ea typeface="Aptos"/>
                <a:cs typeface="Aptos"/>
              </a:defRPr>
            </a:lvl5pPr>
            <a:lvl6pPr>
              <a:defRPr sz="1499" lang="en-US">
                <a:latin typeface="Aptos"/>
                <a:ea typeface="Aptos"/>
                <a:cs typeface="Aptos"/>
              </a:defRPr>
            </a:lvl6pPr>
            <a:lvl7pPr>
              <a:defRPr sz="1499" lang="en-US">
                <a:latin typeface="Aptos"/>
                <a:ea typeface="Aptos"/>
                <a:cs typeface="Aptos"/>
              </a:defRPr>
            </a:lvl7pPr>
            <a:lvl8pPr>
              <a:defRPr sz="1499" lang="en-US">
                <a:latin typeface="Aptos"/>
                <a:ea typeface="Aptos"/>
                <a:cs typeface="Aptos"/>
              </a:defRPr>
            </a:lvl8pPr>
            <a:lvl9pPr>
              <a:defRPr sz="149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Engineering and training</a:t>
            </a:r>
            <a:endParaRPr sz="1500" lang="en-US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AB58DA0-7816-4D8A-9045-337D3062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995928"/>
            <a:ext cx="10479024" cy="539496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3CB2875-B697-444F-A19D-06DE2372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123944"/>
            <a:ext cx="539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b="1" lang="en-US">
                <a:latin typeface="Aptos"/>
                <a:ea typeface="Aptos"/>
                <a:cs typeface="Aptos"/>
              </a:defRPr>
            </a:defPPr>
            <a:lvl1pPr>
              <a:defRPr sz="1499" b="1" lang="en-US">
                <a:latin typeface="Aptos"/>
                <a:ea typeface="Aptos"/>
                <a:cs typeface="Aptos"/>
              </a:defRPr>
            </a:lvl1pPr>
            <a:lvl2pPr>
              <a:defRPr sz="1499" b="1" lang="en-US">
                <a:latin typeface="Aptos"/>
                <a:ea typeface="Aptos"/>
                <a:cs typeface="Aptos"/>
              </a:defRPr>
            </a:lvl2pPr>
            <a:lvl3pPr>
              <a:defRPr sz="1499" b="1" lang="en-US">
                <a:latin typeface="Aptos"/>
                <a:ea typeface="Aptos"/>
                <a:cs typeface="Aptos"/>
              </a:defRPr>
            </a:lvl3pPr>
            <a:lvl4pPr>
              <a:defRPr sz="1499" b="1" lang="en-US">
                <a:latin typeface="Aptos"/>
                <a:ea typeface="Aptos"/>
                <a:cs typeface="Aptos"/>
              </a:defRPr>
            </a:lvl4pPr>
            <a:lvl5pPr>
              <a:defRPr sz="1499" b="1" lang="en-US">
                <a:latin typeface="Aptos"/>
                <a:ea typeface="Aptos"/>
                <a:cs typeface="Aptos"/>
              </a:defRPr>
            </a:lvl5pPr>
            <a:lvl6pPr>
              <a:defRPr sz="1499" b="1" lang="en-US">
                <a:latin typeface="Aptos"/>
                <a:ea typeface="Aptos"/>
                <a:cs typeface="Aptos"/>
              </a:defRPr>
            </a:lvl6pPr>
            <a:lvl7pPr>
              <a:defRPr sz="1499" b="1" lang="en-US">
                <a:latin typeface="Aptos"/>
                <a:ea typeface="Aptos"/>
                <a:cs typeface="Aptos"/>
              </a:defRPr>
            </a:lvl7pPr>
            <a:lvl8pPr>
              <a:defRPr sz="1499" b="1" lang="en-US">
                <a:latin typeface="Aptos"/>
                <a:ea typeface="Aptos"/>
                <a:cs typeface="Aptos"/>
              </a:defRPr>
            </a:lvl8pPr>
            <a:lvl9pPr>
              <a:defRPr sz="14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04</a:t>
            </a:r>
            <a:endParaRPr sz="1500" lang="en-US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D76EB94-E220-442F-8168-970F7D97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05656"/>
            <a:ext cx="331012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99" b="1" lang="en-US">
                <a:latin typeface="Aptos"/>
                <a:ea typeface="Aptos"/>
                <a:cs typeface="Aptos"/>
              </a:defRPr>
            </a:defPPr>
            <a:lvl1pPr>
              <a:defRPr sz="1599" b="1" lang="en-US">
                <a:latin typeface="Aptos"/>
                <a:ea typeface="Aptos"/>
                <a:cs typeface="Aptos"/>
              </a:defRPr>
            </a:lvl1pPr>
            <a:lvl2pPr>
              <a:defRPr sz="1599" b="1" lang="en-US">
                <a:latin typeface="Aptos"/>
                <a:ea typeface="Aptos"/>
                <a:cs typeface="Aptos"/>
              </a:defRPr>
            </a:lvl2pPr>
            <a:lvl3pPr>
              <a:defRPr sz="1599" b="1" lang="en-US">
                <a:latin typeface="Aptos"/>
                <a:ea typeface="Aptos"/>
                <a:cs typeface="Aptos"/>
              </a:defRPr>
            </a:lvl3pPr>
            <a:lvl4pPr>
              <a:defRPr sz="1599" b="1" lang="en-US">
                <a:latin typeface="Aptos"/>
                <a:ea typeface="Aptos"/>
                <a:cs typeface="Aptos"/>
              </a:defRPr>
            </a:lvl4pPr>
            <a:lvl5pPr>
              <a:defRPr sz="1599" b="1" lang="en-US">
                <a:latin typeface="Aptos"/>
                <a:ea typeface="Aptos"/>
                <a:cs typeface="Aptos"/>
              </a:defRPr>
            </a:lvl5pPr>
            <a:lvl6pPr>
              <a:defRPr sz="1599" b="1" lang="en-US">
                <a:latin typeface="Aptos"/>
                <a:ea typeface="Aptos"/>
                <a:cs typeface="Aptos"/>
              </a:defRPr>
            </a:lvl6pPr>
            <a:lvl7pPr>
              <a:defRPr sz="1599" b="1" lang="en-US">
                <a:latin typeface="Aptos"/>
                <a:ea typeface="Aptos"/>
                <a:cs typeface="Aptos"/>
              </a:defRPr>
            </a:lvl7pPr>
            <a:lvl8pPr>
              <a:defRPr sz="1599" b="1" lang="en-US">
                <a:latin typeface="Aptos"/>
                <a:ea typeface="Aptos"/>
                <a:cs typeface="Aptos"/>
              </a:defRPr>
            </a:lvl8pPr>
            <a:lvl9pPr>
              <a:defRPr sz="15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5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QUALITY</a:t>
            </a:r>
            <a:endParaRPr sz="1600" lang="en-US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9528229-96E7-402C-92C9-2B327E1C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944" y="4096512"/>
            <a:ext cx="5669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lang="en-US">
                <a:latin typeface="Aptos"/>
                <a:ea typeface="Aptos"/>
                <a:cs typeface="Aptos"/>
              </a:defRPr>
            </a:defPPr>
            <a:lvl1pPr>
              <a:defRPr sz="1499" lang="en-US">
                <a:latin typeface="Aptos"/>
                <a:ea typeface="Aptos"/>
                <a:cs typeface="Aptos"/>
              </a:defRPr>
            </a:lvl1pPr>
            <a:lvl2pPr>
              <a:defRPr sz="1499" lang="en-US">
                <a:latin typeface="Aptos"/>
                <a:ea typeface="Aptos"/>
                <a:cs typeface="Aptos"/>
              </a:defRPr>
            </a:lvl2pPr>
            <a:lvl3pPr>
              <a:defRPr sz="1499" lang="en-US">
                <a:latin typeface="Aptos"/>
                <a:ea typeface="Aptos"/>
                <a:cs typeface="Aptos"/>
              </a:defRPr>
            </a:lvl3pPr>
            <a:lvl4pPr>
              <a:defRPr sz="1499" lang="en-US">
                <a:latin typeface="Aptos"/>
                <a:ea typeface="Aptos"/>
                <a:cs typeface="Aptos"/>
              </a:defRPr>
            </a:lvl4pPr>
            <a:lvl5pPr>
              <a:defRPr sz="1499" lang="en-US">
                <a:latin typeface="Aptos"/>
                <a:ea typeface="Aptos"/>
                <a:cs typeface="Aptos"/>
              </a:defRPr>
            </a:lvl5pPr>
            <a:lvl6pPr>
              <a:defRPr sz="1499" lang="en-US">
                <a:latin typeface="Aptos"/>
                <a:ea typeface="Aptos"/>
                <a:cs typeface="Aptos"/>
              </a:defRPr>
            </a:lvl6pPr>
            <a:lvl7pPr>
              <a:defRPr sz="1499" lang="en-US">
                <a:latin typeface="Aptos"/>
                <a:ea typeface="Aptos"/>
                <a:cs typeface="Aptos"/>
              </a:defRPr>
            </a:lvl7pPr>
            <a:lvl8pPr>
              <a:defRPr sz="1499" lang="en-US">
                <a:latin typeface="Aptos"/>
                <a:ea typeface="Aptos"/>
                <a:cs typeface="Aptos"/>
              </a:defRPr>
            </a:lvl8pPr>
            <a:lvl9pPr>
              <a:defRPr sz="149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Defects and rework</a:t>
            </a:r>
            <a:endParaRPr sz="1500" lang="en-US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8DED70D-4058-45A6-BD2A-D28AEC3D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690872"/>
            <a:ext cx="10479024" cy="539496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C84C260-532A-4819-BD3B-61FFA454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818888"/>
            <a:ext cx="539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b="1" lang="en-US">
                <a:latin typeface="Aptos"/>
                <a:ea typeface="Aptos"/>
                <a:cs typeface="Aptos"/>
              </a:defRPr>
            </a:defPPr>
            <a:lvl1pPr>
              <a:defRPr sz="1499" b="1" lang="en-US">
                <a:latin typeface="Aptos"/>
                <a:ea typeface="Aptos"/>
                <a:cs typeface="Aptos"/>
              </a:defRPr>
            </a:lvl1pPr>
            <a:lvl2pPr>
              <a:defRPr sz="1499" b="1" lang="en-US">
                <a:latin typeface="Aptos"/>
                <a:ea typeface="Aptos"/>
                <a:cs typeface="Aptos"/>
              </a:defRPr>
            </a:lvl2pPr>
            <a:lvl3pPr>
              <a:defRPr sz="1499" b="1" lang="en-US">
                <a:latin typeface="Aptos"/>
                <a:ea typeface="Aptos"/>
                <a:cs typeface="Aptos"/>
              </a:defRPr>
            </a:lvl3pPr>
            <a:lvl4pPr>
              <a:defRPr sz="1499" b="1" lang="en-US">
                <a:latin typeface="Aptos"/>
                <a:ea typeface="Aptos"/>
                <a:cs typeface="Aptos"/>
              </a:defRPr>
            </a:lvl4pPr>
            <a:lvl5pPr>
              <a:defRPr sz="1499" b="1" lang="en-US">
                <a:latin typeface="Aptos"/>
                <a:ea typeface="Aptos"/>
                <a:cs typeface="Aptos"/>
              </a:defRPr>
            </a:lvl5pPr>
            <a:lvl6pPr>
              <a:defRPr sz="1499" b="1" lang="en-US">
                <a:latin typeface="Aptos"/>
                <a:ea typeface="Aptos"/>
                <a:cs typeface="Aptos"/>
              </a:defRPr>
            </a:lvl6pPr>
            <a:lvl7pPr>
              <a:defRPr sz="1499" b="1" lang="en-US">
                <a:latin typeface="Aptos"/>
                <a:ea typeface="Aptos"/>
                <a:cs typeface="Aptos"/>
              </a:defRPr>
            </a:lvl7pPr>
            <a:lvl8pPr>
              <a:defRPr sz="1499" b="1" lang="en-US">
                <a:latin typeface="Aptos"/>
                <a:ea typeface="Aptos"/>
                <a:cs typeface="Aptos"/>
              </a:defRPr>
            </a:lvl8pPr>
            <a:lvl9pPr>
              <a:defRPr sz="14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05</a:t>
            </a:r>
            <a:endParaRPr sz="1500" lang="en-US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83EBEC9-2CC4-4F3E-ABD1-8DDD93B9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00600"/>
            <a:ext cx="331012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99" b="1" lang="en-US">
                <a:latin typeface="Aptos"/>
                <a:ea typeface="Aptos"/>
                <a:cs typeface="Aptos"/>
              </a:defRPr>
            </a:defPPr>
            <a:lvl1pPr>
              <a:defRPr sz="1599" b="1" lang="en-US">
                <a:latin typeface="Aptos"/>
                <a:ea typeface="Aptos"/>
                <a:cs typeface="Aptos"/>
              </a:defRPr>
            </a:lvl1pPr>
            <a:lvl2pPr>
              <a:defRPr sz="1599" b="1" lang="en-US">
                <a:latin typeface="Aptos"/>
                <a:ea typeface="Aptos"/>
                <a:cs typeface="Aptos"/>
              </a:defRPr>
            </a:lvl2pPr>
            <a:lvl3pPr>
              <a:defRPr sz="1599" b="1" lang="en-US">
                <a:latin typeface="Aptos"/>
                <a:ea typeface="Aptos"/>
                <a:cs typeface="Aptos"/>
              </a:defRPr>
            </a:lvl3pPr>
            <a:lvl4pPr>
              <a:defRPr sz="1599" b="1" lang="en-US">
                <a:latin typeface="Aptos"/>
                <a:ea typeface="Aptos"/>
                <a:cs typeface="Aptos"/>
              </a:defRPr>
            </a:lvl4pPr>
            <a:lvl5pPr>
              <a:defRPr sz="1599" b="1" lang="en-US">
                <a:latin typeface="Aptos"/>
                <a:ea typeface="Aptos"/>
                <a:cs typeface="Aptos"/>
              </a:defRPr>
            </a:lvl5pPr>
            <a:lvl6pPr>
              <a:defRPr sz="1599" b="1" lang="en-US">
                <a:latin typeface="Aptos"/>
                <a:ea typeface="Aptos"/>
                <a:cs typeface="Aptos"/>
              </a:defRPr>
            </a:lvl6pPr>
            <a:lvl7pPr>
              <a:defRPr sz="1599" b="1" lang="en-US">
                <a:latin typeface="Aptos"/>
                <a:ea typeface="Aptos"/>
                <a:cs typeface="Aptos"/>
              </a:defRPr>
            </a:lvl7pPr>
            <a:lvl8pPr>
              <a:defRPr sz="1599" b="1" lang="en-US">
                <a:latin typeface="Aptos"/>
                <a:ea typeface="Aptos"/>
                <a:cs typeface="Aptos"/>
              </a:defRPr>
            </a:lvl8pPr>
            <a:lvl9pPr>
              <a:defRPr sz="15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5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DEMAND</a:t>
            </a:r>
            <a:endParaRPr sz="1600" lang="en-US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CCB0150-2601-4641-8DB6-FD06555D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944" y="4791456"/>
            <a:ext cx="5669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lang="en-US">
                <a:latin typeface="Aptos"/>
                <a:ea typeface="Aptos"/>
                <a:cs typeface="Aptos"/>
              </a:defRPr>
            </a:defPPr>
            <a:lvl1pPr>
              <a:defRPr sz="1499" lang="en-US">
                <a:latin typeface="Aptos"/>
                <a:ea typeface="Aptos"/>
                <a:cs typeface="Aptos"/>
              </a:defRPr>
            </a:lvl1pPr>
            <a:lvl2pPr>
              <a:defRPr sz="1499" lang="en-US">
                <a:latin typeface="Aptos"/>
                <a:ea typeface="Aptos"/>
                <a:cs typeface="Aptos"/>
              </a:defRPr>
            </a:lvl2pPr>
            <a:lvl3pPr>
              <a:defRPr sz="1499" lang="en-US">
                <a:latin typeface="Aptos"/>
                <a:ea typeface="Aptos"/>
                <a:cs typeface="Aptos"/>
              </a:defRPr>
            </a:lvl3pPr>
            <a:lvl4pPr>
              <a:defRPr sz="1499" lang="en-US">
                <a:latin typeface="Aptos"/>
                <a:ea typeface="Aptos"/>
                <a:cs typeface="Aptos"/>
              </a:defRPr>
            </a:lvl4pPr>
            <a:lvl5pPr>
              <a:defRPr sz="1499" lang="en-US">
                <a:latin typeface="Aptos"/>
                <a:ea typeface="Aptos"/>
                <a:cs typeface="Aptos"/>
              </a:defRPr>
            </a:lvl5pPr>
            <a:lvl6pPr>
              <a:defRPr sz="1499" lang="en-US">
                <a:latin typeface="Aptos"/>
                <a:ea typeface="Aptos"/>
                <a:cs typeface="Aptos"/>
              </a:defRPr>
            </a:lvl6pPr>
            <a:lvl7pPr>
              <a:defRPr sz="1499" lang="en-US">
                <a:latin typeface="Aptos"/>
                <a:ea typeface="Aptos"/>
                <a:cs typeface="Aptos"/>
              </a:defRPr>
            </a:lvl7pPr>
            <a:lvl8pPr>
              <a:defRPr sz="1499" lang="en-US">
                <a:latin typeface="Aptos"/>
                <a:ea typeface="Aptos"/>
                <a:cs typeface="Aptos"/>
              </a:defRPr>
            </a:lvl8pPr>
            <a:lvl9pPr>
              <a:defRPr sz="149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Sales needed to recoup investment</a:t>
            </a:r>
            <a:endParaRPr sz="1500" lang="en-US"/>
          </a:p>
        </p:txBody>
      </p:sp>
    </p:spTree>
    <p:extLst>
      <p:ext uri="{BB962C8B-B14F-4D97-AF65-F5344CB8AC3E}">
        <p14:creationId xmlns:p14="http://schemas.microsoft.com/office/powerpoint/2010/main" val="192702959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FF3ADA3-3D20-414B-B6BD-B068D5E6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CASE STUDY · XIAOMI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41D146A-08FD-4C3F-A986-BFCC2339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From electronics to the electric car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F8601F-F5B4-40F9-8328-CF2EB340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A case of capability transfer: software, hardware, suppliers, and engineering.</a:t>
            </a:r>
            <a:endParaRPr sz="1400" lang="en-US"/>
          </a:p>
        </p:txBody>
      </p:sp>
      <p:pic>
        <p:nvPicPr>
          <p:cNvPr id="8" name="Image 0">
            <a:extLst xmlns:a="http://schemas.openxmlformats.org/drawingml/2006/main">
              <a:ext uri="{FF2B5EF4-FFF2-40B4-BE49-F238E27FC236}">
                <a16:creationId xmlns:a16="http://schemas.microsoft.com/office/drawing/2014/main" id="{DBC4F5E1-7469-4009-96F8-D0C30E08C1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442cdf80a4323"/>
          <a:srcRect xmlns:a="http://schemas.openxmlformats.org/drawingml/2006/main" l="0" t="5537" r="0" b="5537"/>
          <a:stretch xmlns:a="http://schemas.openxmlformats.org/drawingml/2006/main"/>
        </p:blipFill>
        <p:spPr>
          <a:xfrm xmlns:a="http://schemas.openxmlformats.org/drawingml/2006/main">
            <a:off x="667512" y="1901952"/>
            <a:ext cx="6400800" cy="3767328"/>
          </a:xfrm>
          <a:prstGeom xmlns:a="http://schemas.openxmlformats.org/drawingml/2006/main" prst="rect">
            <a:avLst/>
          </a:prstGeom>
        </p:spPr>
      </p:pic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D3FB84B-9D7F-4183-9EEE-1C5C20F7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6" y="1975104"/>
            <a:ext cx="4078224" cy="941832"/>
          </a:xfrm>
          <a:prstGeom xmlns:a="http://schemas.openxmlformats.org/drawingml/2006/main" prst="roundRect">
            <a:avLst>
              <a:gd name="adj" fmla="val 12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B22E0D4-26B4-404E-89D4-0601FF32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2" y="2093976"/>
            <a:ext cx="3575304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b="1" lang="en-US">
                <a:latin typeface="Aptos"/>
                <a:ea typeface="Aptos"/>
                <a:cs typeface="Aptos"/>
              </a:defRPr>
            </a:defPPr>
            <a:lvl1pPr>
              <a:buNone/>
              <a:defRPr sz="1350" b="1" lang="en-US">
                <a:latin typeface="Aptos"/>
                <a:ea typeface="Aptos"/>
                <a:cs typeface="Aptos"/>
              </a:defRPr>
            </a:lvl1pPr>
            <a:lvl2pPr>
              <a:buNone/>
              <a:defRPr sz="1350" b="1" lang="en-US">
                <a:latin typeface="Aptos"/>
                <a:ea typeface="Aptos"/>
                <a:cs typeface="Aptos"/>
              </a:defRPr>
            </a:lvl2pPr>
            <a:lvl3pPr>
              <a:buNone/>
              <a:defRPr sz="1350" b="1" lang="en-US">
                <a:latin typeface="Aptos"/>
                <a:ea typeface="Aptos"/>
                <a:cs typeface="Aptos"/>
              </a:defRPr>
            </a:lvl3pPr>
            <a:lvl4pPr>
              <a:buNone/>
              <a:defRPr sz="1350" b="1" lang="en-US">
                <a:latin typeface="Aptos"/>
                <a:ea typeface="Aptos"/>
                <a:cs typeface="Aptos"/>
              </a:defRPr>
            </a:lvl4pPr>
            <a:lvl5pPr>
              <a:buNone/>
              <a:defRPr sz="1350" b="1" lang="en-US">
                <a:latin typeface="Aptos"/>
                <a:ea typeface="Aptos"/>
                <a:cs typeface="Aptos"/>
              </a:defRPr>
            </a:lvl5pPr>
            <a:lvl6pPr>
              <a:buNone/>
              <a:defRPr sz="1350" b="1" lang="en-US">
                <a:latin typeface="Aptos"/>
                <a:ea typeface="Aptos"/>
                <a:cs typeface="Aptos"/>
              </a:defRPr>
            </a:lvl6pPr>
            <a:lvl7pPr>
              <a:buNone/>
              <a:defRPr sz="1350" b="1" lang="en-US">
                <a:latin typeface="Aptos"/>
                <a:ea typeface="Aptos"/>
                <a:cs typeface="Aptos"/>
              </a:defRPr>
            </a:lvl7pPr>
            <a:lvl8pPr>
              <a:buNone/>
              <a:defRPr sz="1350" b="1" lang="en-US">
                <a:latin typeface="Aptos"/>
                <a:ea typeface="Aptos"/>
                <a:cs typeface="Aptos"/>
              </a:defRPr>
            </a:lvl8pPr>
            <a:lvl9pPr>
              <a:buNone/>
              <a:defRPr sz="135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BEFORE</a:t>
            </a:r>
            <a:endParaRPr sz="1200" lang="en-US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CEA108E-1F6A-41A3-A944-59505A25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2" y="2404872"/>
            <a:ext cx="357530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61" b="1" lang="en-US">
                <a:latin typeface="Aptos"/>
                <a:ea typeface="Aptos"/>
                <a:cs typeface="Aptos"/>
              </a:defRPr>
            </a:defPPr>
            <a:lvl1pPr>
              <a:defRPr sz="1361" b="1" lang="en-US">
                <a:latin typeface="Aptos"/>
                <a:ea typeface="Aptos"/>
                <a:cs typeface="Aptos"/>
              </a:defRPr>
            </a:lvl1pPr>
            <a:lvl2pPr>
              <a:defRPr sz="1361" b="1" lang="en-US">
                <a:latin typeface="Aptos"/>
                <a:ea typeface="Aptos"/>
                <a:cs typeface="Aptos"/>
              </a:defRPr>
            </a:lvl2pPr>
            <a:lvl3pPr>
              <a:defRPr sz="1361" b="1" lang="en-US">
                <a:latin typeface="Aptos"/>
                <a:ea typeface="Aptos"/>
                <a:cs typeface="Aptos"/>
              </a:defRPr>
            </a:lvl3pPr>
            <a:lvl4pPr>
              <a:defRPr sz="1361" b="1" lang="en-US">
                <a:latin typeface="Aptos"/>
                <a:ea typeface="Aptos"/>
                <a:cs typeface="Aptos"/>
              </a:defRPr>
            </a:lvl4pPr>
            <a:lvl5pPr>
              <a:defRPr sz="1361" b="1" lang="en-US">
                <a:latin typeface="Aptos"/>
                <a:ea typeface="Aptos"/>
                <a:cs typeface="Aptos"/>
              </a:defRPr>
            </a:lvl5pPr>
            <a:lvl6pPr>
              <a:defRPr sz="1361" b="1" lang="en-US">
                <a:latin typeface="Aptos"/>
                <a:ea typeface="Aptos"/>
                <a:cs typeface="Aptos"/>
              </a:defRPr>
            </a:lvl6pPr>
            <a:lvl7pPr>
              <a:defRPr sz="1361" b="1" lang="en-US">
                <a:latin typeface="Aptos"/>
                <a:ea typeface="Aptos"/>
                <a:cs typeface="Aptos"/>
              </a:defRPr>
            </a:lvl7pPr>
            <a:lvl8pPr>
              <a:defRPr sz="1361" b="1" lang="en-US">
                <a:latin typeface="Aptos"/>
                <a:ea typeface="Aptos"/>
                <a:cs typeface="Aptos"/>
              </a:defRPr>
            </a:lvl8pPr>
            <a:lvl9pPr>
              <a:defRPr sz="136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6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Electronics and connected devices</a:t>
            </a:r>
            <a:endParaRPr sz="1360" lang="en-US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B0E7A29D-C9FC-4BE1-A0DC-CD83E9E4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6" y="3163824"/>
            <a:ext cx="4078224" cy="941832"/>
          </a:xfrm>
          <a:prstGeom xmlns:a="http://schemas.openxmlformats.org/drawingml/2006/main" prst="roundRect">
            <a:avLst>
              <a:gd name="adj" fmla="val 12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F804EF2-B7D3-4AF4-A13D-E959CEFD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2" y="3282696"/>
            <a:ext cx="3575304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b="1" lang="en-US">
                <a:latin typeface="Aptos"/>
                <a:ea typeface="Aptos"/>
                <a:cs typeface="Aptos"/>
              </a:defRPr>
            </a:defPPr>
            <a:lvl1pPr>
              <a:buNone/>
              <a:defRPr sz="1350" b="1" lang="en-US">
                <a:latin typeface="Aptos"/>
                <a:ea typeface="Aptos"/>
                <a:cs typeface="Aptos"/>
              </a:defRPr>
            </a:lvl1pPr>
            <a:lvl2pPr>
              <a:buNone/>
              <a:defRPr sz="1350" b="1" lang="en-US">
                <a:latin typeface="Aptos"/>
                <a:ea typeface="Aptos"/>
                <a:cs typeface="Aptos"/>
              </a:defRPr>
            </a:lvl2pPr>
            <a:lvl3pPr>
              <a:buNone/>
              <a:defRPr sz="1350" b="1" lang="en-US">
                <a:latin typeface="Aptos"/>
                <a:ea typeface="Aptos"/>
                <a:cs typeface="Aptos"/>
              </a:defRPr>
            </a:lvl3pPr>
            <a:lvl4pPr>
              <a:buNone/>
              <a:defRPr sz="1350" b="1" lang="en-US">
                <a:latin typeface="Aptos"/>
                <a:ea typeface="Aptos"/>
                <a:cs typeface="Aptos"/>
              </a:defRPr>
            </a:lvl4pPr>
            <a:lvl5pPr>
              <a:buNone/>
              <a:defRPr sz="1350" b="1" lang="en-US">
                <a:latin typeface="Aptos"/>
                <a:ea typeface="Aptos"/>
                <a:cs typeface="Aptos"/>
              </a:defRPr>
            </a:lvl5pPr>
            <a:lvl6pPr>
              <a:buNone/>
              <a:defRPr sz="1350" b="1" lang="en-US">
                <a:latin typeface="Aptos"/>
                <a:ea typeface="Aptos"/>
                <a:cs typeface="Aptos"/>
              </a:defRPr>
            </a:lvl6pPr>
            <a:lvl7pPr>
              <a:buNone/>
              <a:defRPr sz="1350" b="1" lang="en-US">
                <a:latin typeface="Aptos"/>
                <a:ea typeface="Aptos"/>
                <a:cs typeface="Aptos"/>
              </a:defRPr>
            </a:lvl7pPr>
            <a:lvl8pPr>
              <a:buNone/>
              <a:defRPr sz="1350" b="1" lang="en-US">
                <a:latin typeface="Aptos"/>
                <a:ea typeface="Aptos"/>
                <a:cs typeface="Aptos"/>
              </a:defRPr>
            </a:lvl8pPr>
            <a:lvl9pPr>
              <a:buNone/>
              <a:defRPr sz="135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CAPABILITY TRANSFER</a:t>
            </a:r>
            <a:endParaRPr sz="1200" lang="en-US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32C7680-352F-4F41-8958-1F78170E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2" y="3593592"/>
            <a:ext cx="357530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61" b="1" lang="en-US">
                <a:latin typeface="Aptos"/>
                <a:ea typeface="Aptos"/>
                <a:cs typeface="Aptos"/>
              </a:defRPr>
            </a:defPPr>
            <a:lvl1pPr>
              <a:defRPr sz="1361" b="1" lang="en-US">
                <a:latin typeface="Aptos"/>
                <a:ea typeface="Aptos"/>
                <a:cs typeface="Aptos"/>
              </a:defRPr>
            </a:lvl1pPr>
            <a:lvl2pPr>
              <a:defRPr sz="1361" b="1" lang="en-US">
                <a:latin typeface="Aptos"/>
                <a:ea typeface="Aptos"/>
                <a:cs typeface="Aptos"/>
              </a:defRPr>
            </a:lvl2pPr>
            <a:lvl3pPr>
              <a:defRPr sz="1361" b="1" lang="en-US">
                <a:latin typeface="Aptos"/>
                <a:ea typeface="Aptos"/>
                <a:cs typeface="Aptos"/>
              </a:defRPr>
            </a:lvl3pPr>
            <a:lvl4pPr>
              <a:defRPr sz="1361" b="1" lang="en-US">
                <a:latin typeface="Aptos"/>
                <a:ea typeface="Aptos"/>
                <a:cs typeface="Aptos"/>
              </a:defRPr>
            </a:lvl4pPr>
            <a:lvl5pPr>
              <a:defRPr sz="1361" b="1" lang="en-US">
                <a:latin typeface="Aptos"/>
                <a:ea typeface="Aptos"/>
                <a:cs typeface="Aptos"/>
              </a:defRPr>
            </a:lvl5pPr>
            <a:lvl6pPr>
              <a:defRPr sz="1361" b="1" lang="en-US">
                <a:latin typeface="Aptos"/>
                <a:ea typeface="Aptos"/>
                <a:cs typeface="Aptos"/>
              </a:defRPr>
            </a:lvl6pPr>
            <a:lvl7pPr>
              <a:defRPr sz="1361" b="1" lang="en-US">
                <a:latin typeface="Aptos"/>
                <a:ea typeface="Aptos"/>
                <a:cs typeface="Aptos"/>
              </a:defRPr>
            </a:lvl7pPr>
            <a:lvl8pPr>
              <a:defRPr sz="1361" b="1" lang="en-US">
                <a:latin typeface="Aptos"/>
                <a:ea typeface="Aptos"/>
                <a:cs typeface="Aptos"/>
              </a:defRPr>
            </a:lvl8pPr>
            <a:lvl9pPr>
              <a:defRPr sz="136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6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Design, software, supply chain</a:t>
            </a:r>
            <a:endParaRPr sz="1360" lang="en-US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A35B53FA-ADDB-42D7-935E-DDEFA1DC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6" y="4352544"/>
            <a:ext cx="4078224" cy="941832"/>
          </a:xfrm>
          <a:prstGeom xmlns:a="http://schemas.openxmlformats.org/drawingml/2006/main" prst="roundRect">
            <a:avLst>
              <a:gd name="adj" fmla="val 12621"/>
            </a:avLst>
          </a:prstGeom>
          <a:solidFill xmlns:a="http://schemas.openxmlformats.org/drawingml/2006/main">
            <a:srgbClr val="C6E9E6"/>
          </a:solidFill>
          <a:ln xmlns:a="http://schemas.openxmlformats.org/drawingml/2006/main" w="12700">
            <a:solidFill>
              <a:srgbClr val="C6E9E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77D582F-0878-4763-B8C6-EDC7B6F3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2" y="4471416"/>
            <a:ext cx="3575304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b="1" lang="en-US">
                <a:latin typeface="Aptos"/>
                <a:ea typeface="Aptos"/>
                <a:cs typeface="Aptos"/>
              </a:defRPr>
            </a:defPPr>
            <a:lvl1pPr>
              <a:buNone/>
              <a:defRPr sz="1350" b="1" lang="en-US">
                <a:latin typeface="Aptos"/>
                <a:ea typeface="Aptos"/>
                <a:cs typeface="Aptos"/>
              </a:defRPr>
            </a:lvl1pPr>
            <a:lvl2pPr>
              <a:buNone/>
              <a:defRPr sz="1350" b="1" lang="en-US">
                <a:latin typeface="Aptos"/>
                <a:ea typeface="Aptos"/>
                <a:cs typeface="Aptos"/>
              </a:defRPr>
            </a:lvl2pPr>
            <a:lvl3pPr>
              <a:buNone/>
              <a:defRPr sz="1350" b="1" lang="en-US">
                <a:latin typeface="Aptos"/>
                <a:ea typeface="Aptos"/>
                <a:cs typeface="Aptos"/>
              </a:defRPr>
            </a:lvl3pPr>
            <a:lvl4pPr>
              <a:buNone/>
              <a:defRPr sz="1350" b="1" lang="en-US">
                <a:latin typeface="Aptos"/>
                <a:ea typeface="Aptos"/>
                <a:cs typeface="Aptos"/>
              </a:defRPr>
            </a:lvl4pPr>
            <a:lvl5pPr>
              <a:buNone/>
              <a:defRPr sz="1350" b="1" lang="en-US">
                <a:latin typeface="Aptos"/>
                <a:ea typeface="Aptos"/>
                <a:cs typeface="Aptos"/>
              </a:defRPr>
            </a:lvl5pPr>
            <a:lvl6pPr>
              <a:buNone/>
              <a:defRPr sz="1350" b="1" lang="en-US">
                <a:latin typeface="Aptos"/>
                <a:ea typeface="Aptos"/>
                <a:cs typeface="Aptos"/>
              </a:defRPr>
            </a:lvl6pPr>
            <a:lvl7pPr>
              <a:buNone/>
              <a:defRPr sz="1350" b="1" lang="en-US">
                <a:latin typeface="Aptos"/>
                <a:ea typeface="Aptos"/>
                <a:cs typeface="Aptos"/>
              </a:defRPr>
            </a:lvl7pPr>
            <a:lvl8pPr>
              <a:buNone/>
              <a:defRPr sz="1350" b="1" lang="en-US">
                <a:latin typeface="Aptos"/>
                <a:ea typeface="Aptos"/>
                <a:cs typeface="Aptos"/>
              </a:defRPr>
            </a:lvl8pPr>
            <a:lvl9pPr>
              <a:buNone/>
              <a:defRPr sz="135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NEW SECTOR</a:t>
            </a:r>
            <a:endParaRPr sz="1200" lang="en-US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BF743D1-FFFC-46A1-8CFA-48DCFA83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2" y="4782312"/>
            <a:ext cx="357530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61" b="1" lang="en-US">
                <a:latin typeface="Aptos"/>
                <a:ea typeface="Aptos"/>
                <a:cs typeface="Aptos"/>
              </a:defRPr>
            </a:defPPr>
            <a:lvl1pPr>
              <a:defRPr sz="1361" b="1" lang="en-US">
                <a:latin typeface="Aptos"/>
                <a:ea typeface="Aptos"/>
                <a:cs typeface="Aptos"/>
              </a:defRPr>
            </a:lvl1pPr>
            <a:lvl2pPr>
              <a:defRPr sz="1361" b="1" lang="en-US">
                <a:latin typeface="Aptos"/>
                <a:ea typeface="Aptos"/>
                <a:cs typeface="Aptos"/>
              </a:defRPr>
            </a:lvl2pPr>
            <a:lvl3pPr>
              <a:defRPr sz="1361" b="1" lang="en-US">
                <a:latin typeface="Aptos"/>
                <a:ea typeface="Aptos"/>
                <a:cs typeface="Aptos"/>
              </a:defRPr>
            </a:lvl3pPr>
            <a:lvl4pPr>
              <a:defRPr sz="1361" b="1" lang="en-US">
                <a:latin typeface="Aptos"/>
                <a:ea typeface="Aptos"/>
                <a:cs typeface="Aptos"/>
              </a:defRPr>
            </a:lvl4pPr>
            <a:lvl5pPr>
              <a:defRPr sz="1361" b="1" lang="en-US">
                <a:latin typeface="Aptos"/>
                <a:ea typeface="Aptos"/>
                <a:cs typeface="Aptos"/>
              </a:defRPr>
            </a:lvl5pPr>
            <a:lvl6pPr>
              <a:defRPr sz="1361" b="1" lang="en-US">
                <a:latin typeface="Aptos"/>
                <a:ea typeface="Aptos"/>
                <a:cs typeface="Aptos"/>
              </a:defRPr>
            </a:lvl6pPr>
            <a:lvl7pPr>
              <a:defRPr sz="1361" b="1" lang="en-US">
                <a:latin typeface="Aptos"/>
                <a:ea typeface="Aptos"/>
                <a:cs typeface="Aptos"/>
              </a:defRPr>
            </a:lvl7pPr>
            <a:lvl8pPr>
              <a:defRPr sz="1361" b="1" lang="en-US">
                <a:latin typeface="Aptos"/>
                <a:ea typeface="Aptos"/>
                <a:cs typeface="Aptos"/>
              </a:defRPr>
            </a:lvl8pPr>
            <a:lvl9pPr>
              <a:defRPr sz="136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6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Electric vehicles and integrated manufacturing</a:t>
            </a:r>
            <a:endParaRPr sz="1360" lang="en-US"/>
          </a:p>
        </p:txBody>
      </p:sp>
      <p:sp>
        <p:nvSpPr>
          <p:cNvPr id="18" name="illustration-caption-background">
            <a:extLst xmlns:a="http://schemas.openxmlformats.org/drawingml/2006/main">
              <a:ext uri="{FF2B5EF4-FFF2-40B4-BE49-F238E27FC236}">
                <a16:creationId xmlns:a16="http://schemas.microsoft.com/office/drawing/2014/main" id="{3EC8A8BE-0CFD-44BF-B66E-EF75EF0B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62" y="2035302"/>
            <a:ext cx="1733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llustration-caption">
            <a:extLst xmlns:a="http://schemas.openxmlformats.org/drawingml/2006/main">
              <a:ext uri="{FF2B5EF4-FFF2-40B4-BE49-F238E27FC236}">
                <a16:creationId xmlns:a16="http://schemas.microsoft.com/office/drawing/2014/main" id="{A8723994-5588-4EAF-9F3E-8ABA0A02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062" y="2063877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11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1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CONCEPTUAL ILLUSTRATION</a:t>
            </a:r>
          </a:p>
        </p:txBody>
      </p:sp>
    </p:spTree>
    <p:extLst>
      <p:ext uri="{BB962C8B-B14F-4D97-AF65-F5344CB8AC3E}">
        <p14:creationId xmlns:p14="http://schemas.microsoft.com/office/powerpoint/2010/main" val="90942526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5199DB5-FD55-4D67-A0D5-24CE917E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THE ELECTRIC VEHICLE ECOSYSTEM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66AF1B0-D0FE-4115-9533-36F53707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701" b="1" lang="en-US">
                <a:latin typeface="Aptos"/>
                <a:ea typeface="Aptos"/>
                <a:cs typeface="Aptos"/>
              </a:defRPr>
            </a:defPPr>
            <a:lvl1pPr>
              <a:defRPr sz="2701" b="1" lang="en-US">
                <a:latin typeface="Aptos"/>
                <a:ea typeface="Aptos"/>
                <a:cs typeface="Aptos"/>
              </a:defRPr>
            </a:lvl1pPr>
            <a:lvl2pPr>
              <a:defRPr sz="2701" b="1" lang="en-US">
                <a:latin typeface="Aptos"/>
                <a:ea typeface="Aptos"/>
                <a:cs typeface="Aptos"/>
              </a:defRPr>
            </a:lvl2pPr>
            <a:lvl3pPr>
              <a:defRPr sz="2701" b="1" lang="en-US">
                <a:latin typeface="Aptos"/>
                <a:ea typeface="Aptos"/>
                <a:cs typeface="Aptos"/>
              </a:defRPr>
            </a:lvl3pPr>
            <a:lvl4pPr>
              <a:defRPr sz="2701" b="1" lang="en-US">
                <a:latin typeface="Aptos"/>
                <a:ea typeface="Aptos"/>
                <a:cs typeface="Aptos"/>
              </a:defRPr>
            </a:lvl4pPr>
            <a:lvl5pPr>
              <a:defRPr sz="2701" b="1" lang="en-US">
                <a:latin typeface="Aptos"/>
                <a:ea typeface="Aptos"/>
                <a:cs typeface="Aptos"/>
              </a:defRPr>
            </a:lvl5pPr>
            <a:lvl6pPr>
              <a:defRPr sz="2701" b="1" lang="en-US">
                <a:latin typeface="Aptos"/>
                <a:ea typeface="Aptos"/>
                <a:cs typeface="Aptos"/>
              </a:defRPr>
            </a:lvl6pPr>
            <a:lvl7pPr>
              <a:defRPr sz="2701" b="1" lang="en-US">
                <a:latin typeface="Aptos"/>
                <a:ea typeface="Aptos"/>
                <a:cs typeface="Aptos"/>
              </a:defRPr>
            </a:lvl7pPr>
            <a:lvl8pPr>
              <a:defRPr sz="2701" b="1" lang="en-US">
                <a:latin typeface="Aptos"/>
                <a:ea typeface="Aptos"/>
                <a:cs typeface="Aptos"/>
              </a:defRPr>
            </a:lvl8pPr>
            <a:lvl9pPr>
              <a:defRPr sz="27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70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China turns industrial capabilities into a new sector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F72B3C1-9716-484A-BEB1-EDFEE9D1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Electric vehicles in China, BEVs and PHEVs. Data for 2025.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EBED548-51DA-406E-A5D4-AD5CC788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938528"/>
            <a:ext cx="3447288" cy="2139696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53F090D-74D2-4F64-8CA8-E5F107CD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066544"/>
            <a:ext cx="3081528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4099" b="1" lang="en-US">
                <a:latin typeface="Aptos"/>
                <a:ea typeface="Aptos"/>
                <a:cs typeface="Aptos"/>
              </a:defRPr>
            </a:defPPr>
            <a:lvl1pPr>
              <a:defRPr sz="4099" b="1" lang="en-US">
                <a:latin typeface="Aptos"/>
                <a:ea typeface="Aptos"/>
                <a:cs typeface="Aptos"/>
              </a:defRPr>
            </a:lvl1pPr>
            <a:lvl2pPr>
              <a:defRPr sz="4099" b="1" lang="en-US">
                <a:latin typeface="Aptos"/>
                <a:ea typeface="Aptos"/>
                <a:cs typeface="Aptos"/>
              </a:defRPr>
            </a:lvl2pPr>
            <a:lvl3pPr>
              <a:defRPr sz="4099" b="1" lang="en-US">
                <a:latin typeface="Aptos"/>
                <a:ea typeface="Aptos"/>
                <a:cs typeface="Aptos"/>
              </a:defRPr>
            </a:lvl3pPr>
            <a:lvl4pPr>
              <a:defRPr sz="4099" b="1" lang="en-US">
                <a:latin typeface="Aptos"/>
                <a:ea typeface="Aptos"/>
                <a:cs typeface="Aptos"/>
              </a:defRPr>
            </a:lvl4pPr>
            <a:lvl5pPr>
              <a:defRPr sz="4099" b="1" lang="en-US">
                <a:latin typeface="Aptos"/>
                <a:ea typeface="Aptos"/>
                <a:cs typeface="Aptos"/>
              </a:defRPr>
            </a:lvl5pPr>
            <a:lvl6pPr>
              <a:defRPr sz="4099" b="1" lang="en-US">
                <a:latin typeface="Aptos"/>
                <a:ea typeface="Aptos"/>
                <a:cs typeface="Aptos"/>
              </a:defRPr>
            </a:lvl6pPr>
            <a:lvl7pPr>
              <a:defRPr sz="4099" b="1" lang="en-US">
                <a:latin typeface="Aptos"/>
                <a:ea typeface="Aptos"/>
                <a:cs typeface="Aptos"/>
              </a:defRPr>
            </a:lvl7pPr>
            <a:lvl8pPr>
              <a:defRPr sz="4099" b="1" lang="en-US">
                <a:latin typeface="Aptos"/>
                <a:ea typeface="Aptos"/>
                <a:cs typeface="Aptos"/>
              </a:defRPr>
            </a:lvl8pPr>
            <a:lvl9pPr>
              <a:defRPr sz="40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4099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≈ 16 M</a:t>
            </a:r>
            <a:endParaRPr sz="4100" lang="en-US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23CFAFD-63E2-411D-84F2-6D154444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70632"/>
            <a:ext cx="3044952" cy="11795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Electric vehicles manufactured in</a:t>
            </a:r>
            <a:endParaRPr sz="1200" lang="en-US"/>
          </a:p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China</a:t>
            </a:r>
            <a:endParaRPr sz="1200" lang="en-US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F7957C1-7A12-4535-86AC-0CB273F0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938528"/>
            <a:ext cx="3447288" cy="2139696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014A713-4D6E-481E-A2FE-7D520C49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2066544"/>
            <a:ext cx="3081528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4099" b="1" lang="en-US">
                <a:latin typeface="Aptos"/>
                <a:ea typeface="Aptos"/>
                <a:cs typeface="Aptos"/>
              </a:defRPr>
            </a:defPPr>
            <a:lvl1pPr>
              <a:defRPr sz="4099" b="1" lang="en-US">
                <a:latin typeface="Aptos"/>
                <a:ea typeface="Aptos"/>
                <a:cs typeface="Aptos"/>
              </a:defRPr>
            </a:lvl1pPr>
            <a:lvl2pPr>
              <a:defRPr sz="4099" b="1" lang="en-US">
                <a:latin typeface="Aptos"/>
                <a:ea typeface="Aptos"/>
                <a:cs typeface="Aptos"/>
              </a:defRPr>
            </a:lvl2pPr>
            <a:lvl3pPr>
              <a:defRPr sz="4099" b="1" lang="en-US">
                <a:latin typeface="Aptos"/>
                <a:ea typeface="Aptos"/>
                <a:cs typeface="Aptos"/>
              </a:defRPr>
            </a:lvl3pPr>
            <a:lvl4pPr>
              <a:defRPr sz="4099" b="1" lang="en-US">
                <a:latin typeface="Aptos"/>
                <a:ea typeface="Aptos"/>
                <a:cs typeface="Aptos"/>
              </a:defRPr>
            </a:lvl4pPr>
            <a:lvl5pPr>
              <a:defRPr sz="4099" b="1" lang="en-US">
                <a:latin typeface="Aptos"/>
                <a:ea typeface="Aptos"/>
                <a:cs typeface="Aptos"/>
              </a:defRPr>
            </a:lvl5pPr>
            <a:lvl6pPr>
              <a:defRPr sz="4099" b="1" lang="en-US">
                <a:latin typeface="Aptos"/>
                <a:ea typeface="Aptos"/>
                <a:cs typeface="Aptos"/>
              </a:defRPr>
            </a:lvl6pPr>
            <a:lvl7pPr>
              <a:defRPr sz="4099" b="1" lang="en-US">
                <a:latin typeface="Aptos"/>
                <a:ea typeface="Aptos"/>
                <a:cs typeface="Aptos"/>
              </a:defRPr>
            </a:lvl7pPr>
            <a:lvl8pPr>
              <a:defRPr sz="4099" b="1" lang="en-US">
                <a:latin typeface="Aptos"/>
                <a:ea typeface="Aptos"/>
                <a:cs typeface="Aptos"/>
              </a:defRPr>
            </a:lvl8pPr>
            <a:lvl9pPr>
              <a:defRPr sz="40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4099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≈ 75%</a:t>
            </a:r>
            <a:endParaRPr sz="4100" lang="en-US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6B06A61-4E84-477A-8584-A9091675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70632"/>
            <a:ext cx="3044952" cy="11795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Share of global production, 2025</a:t>
            </a:r>
            <a:endParaRPr sz="1200" lang="en-US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C2BB153-23EA-4014-8316-439C9742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938528"/>
            <a:ext cx="3447288" cy="2139696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3A493F1-A180-4628-99FA-C3CD156B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066544"/>
            <a:ext cx="3081528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4099" b="1" lang="en-US">
                <a:latin typeface="Aptos"/>
                <a:ea typeface="Aptos"/>
                <a:cs typeface="Aptos"/>
              </a:defRPr>
            </a:defPPr>
            <a:lvl1pPr>
              <a:defRPr sz="4099" b="1" lang="en-US">
                <a:latin typeface="Aptos"/>
                <a:ea typeface="Aptos"/>
                <a:cs typeface="Aptos"/>
              </a:defRPr>
            </a:lvl1pPr>
            <a:lvl2pPr>
              <a:defRPr sz="4099" b="1" lang="en-US">
                <a:latin typeface="Aptos"/>
                <a:ea typeface="Aptos"/>
                <a:cs typeface="Aptos"/>
              </a:defRPr>
            </a:lvl2pPr>
            <a:lvl3pPr>
              <a:defRPr sz="4099" b="1" lang="en-US">
                <a:latin typeface="Aptos"/>
                <a:ea typeface="Aptos"/>
                <a:cs typeface="Aptos"/>
              </a:defRPr>
            </a:lvl3pPr>
            <a:lvl4pPr>
              <a:defRPr sz="4099" b="1" lang="en-US">
                <a:latin typeface="Aptos"/>
                <a:ea typeface="Aptos"/>
                <a:cs typeface="Aptos"/>
              </a:defRPr>
            </a:lvl4pPr>
            <a:lvl5pPr>
              <a:defRPr sz="4099" b="1" lang="en-US">
                <a:latin typeface="Aptos"/>
                <a:ea typeface="Aptos"/>
                <a:cs typeface="Aptos"/>
              </a:defRPr>
            </a:lvl5pPr>
            <a:lvl6pPr>
              <a:defRPr sz="4099" b="1" lang="en-US">
                <a:latin typeface="Aptos"/>
                <a:ea typeface="Aptos"/>
                <a:cs typeface="Aptos"/>
              </a:defRPr>
            </a:lvl6pPr>
            <a:lvl7pPr>
              <a:defRPr sz="4099" b="1" lang="en-US">
                <a:latin typeface="Aptos"/>
                <a:ea typeface="Aptos"/>
                <a:cs typeface="Aptos"/>
              </a:defRPr>
            </a:lvl7pPr>
            <a:lvl8pPr>
              <a:defRPr sz="4099" b="1" lang="en-US">
                <a:latin typeface="Aptos"/>
                <a:ea typeface="Aptos"/>
                <a:cs typeface="Aptos"/>
              </a:defRPr>
            </a:lvl8pPr>
            <a:lvl9pPr>
              <a:defRPr sz="40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4099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&gt;2.5 M</a:t>
            </a:r>
            <a:endParaRPr sz="4100" lang="en-US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76BE283-638B-43B3-9B9D-5FACFD95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2770632"/>
            <a:ext cx="3044952" cy="11795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China's electric vehicle exports</a:t>
            </a:r>
            <a:endParaRPr sz="1200" lang="en-US"/>
          </a:p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in 2025</a:t>
            </a:r>
            <a:endParaRPr sz="1200" lang="en-US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B8E643E-22F1-4E55-AE50-E5E22352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4498848"/>
            <a:ext cx="10826496" cy="694944"/>
          </a:xfrm>
          <a:prstGeom xmlns:a="http://schemas.openxmlformats.org/drawingml/2006/main" prst="roundRect">
            <a:avLst>
              <a:gd name="adj" fmla="val 17105"/>
            </a:avLst>
          </a:prstGeom>
          <a:solidFill xmlns:a="http://schemas.openxmlformats.org/drawingml/2006/main">
            <a:srgbClr val="C6E9E6"/>
          </a:solidFill>
          <a:ln xmlns:a="http://schemas.openxmlformats.org/drawingml/2006/main" w="12700">
            <a:solidFill>
              <a:srgbClr val="C6E9E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94336AD-8513-4079-AC8C-D1E91BD4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626864"/>
            <a:ext cx="1035100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 lang="en-US">
                <a:latin typeface="Aptos"/>
                <a:ea typeface="Aptos"/>
                <a:cs typeface="Aptos"/>
              </a:defRPr>
            </a:defPPr>
            <a:lvl1pPr>
              <a:defRPr sz="1800" b="1" lang="en-US">
                <a:latin typeface="Aptos"/>
                <a:ea typeface="Aptos"/>
                <a:cs typeface="Aptos"/>
              </a:defRPr>
            </a:lvl1pPr>
            <a:lvl2pPr>
              <a:defRPr sz="1800" b="1" lang="en-US">
                <a:latin typeface="Aptos"/>
                <a:ea typeface="Aptos"/>
                <a:cs typeface="Aptos"/>
              </a:defRPr>
            </a:lvl2pPr>
            <a:lvl3pPr>
              <a:defRPr sz="1800" b="1" lang="en-US">
                <a:latin typeface="Aptos"/>
                <a:ea typeface="Aptos"/>
                <a:cs typeface="Aptos"/>
              </a:defRPr>
            </a:lvl3pPr>
            <a:lvl4pPr>
              <a:defRPr sz="1800" b="1" lang="en-US">
                <a:latin typeface="Aptos"/>
                <a:ea typeface="Aptos"/>
                <a:cs typeface="Aptos"/>
              </a:defRPr>
            </a:lvl4pPr>
            <a:lvl5pPr>
              <a:defRPr sz="1800" b="1" lang="en-US">
                <a:latin typeface="Aptos"/>
                <a:ea typeface="Aptos"/>
                <a:cs typeface="Aptos"/>
              </a:defRPr>
            </a:lvl5pPr>
            <a:lvl6pPr>
              <a:defRPr sz="1800" b="1" lang="en-US">
                <a:latin typeface="Aptos"/>
                <a:ea typeface="Aptos"/>
                <a:cs typeface="Aptos"/>
              </a:defRPr>
            </a:lvl6pPr>
            <a:lvl7pPr>
              <a:defRPr sz="1800" b="1" lang="en-US">
                <a:latin typeface="Aptos"/>
                <a:ea typeface="Aptos"/>
                <a:cs typeface="Aptos"/>
              </a:defRPr>
            </a:lvl7pPr>
            <a:lvl8pPr>
              <a:defRPr sz="1800" b="1" lang="en-US">
                <a:latin typeface="Aptos"/>
                <a:ea typeface="Aptos"/>
                <a:cs typeface="Aptos"/>
              </a:defRPr>
            </a:lvl8pPr>
            <a:lvl9pPr>
              <a:defRPr sz="18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Batteries + motors + chips + software + suppliers + market = integrated industry</a:t>
            </a:r>
            <a:endParaRPr sz="1800" lang="en-US"/>
          </a:p>
        </p:txBody>
      </p:sp>
    </p:spTree>
    <p:extLst>
      <p:ext uri="{BB962C8B-B14F-4D97-AF65-F5344CB8AC3E}">
        <p14:creationId xmlns:p14="http://schemas.microsoft.com/office/powerpoint/2010/main" val="15005361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0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B6B1BB5A-3CAA-45A8-9086-B6DF674F0E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7df4e27064125"/>
          <a:srcRect xmlns:a="http://schemas.openxmlformats.org/drawingml/2006/main" l="21983" t="0" r="21983" b="0"/>
          <a:stretch xmlns:a="http://schemas.openxmlformats.org/drawingml/2006/main"/>
        </p:blipFill>
        <p:spPr>
          <a:xfrm xmlns:a="http://schemas.openxmlformats.org/drawingml/2006/main">
            <a:off x="6400800" y="0"/>
            <a:ext cx="57908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1F967FCE-6472-4388-B96B-745C5732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0"/>
            <a:ext cx="109728" cy="6858000"/>
          </a:xfrm>
          <a:prstGeom xmlns:a="http://schemas.openxmlformats.org/drawingml/2006/main" prst="roundRect">
            <a:avLst>
              <a:gd name="adj" fmla="val 133333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8610E4E-6F54-44A4-B778-8550C8D6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01" b="1" lang="en-US">
                <a:latin typeface="Aptos"/>
                <a:ea typeface="Aptos"/>
                <a:cs typeface="Aptos"/>
              </a:defRPr>
            </a:defPPr>
            <a:lvl1pPr>
              <a:defRPr sz="1301" b="1" lang="en-US">
                <a:latin typeface="Aptos"/>
                <a:ea typeface="Aptos"/>
                <a:cs typeface="Aptos"/>
              </a:defRPr>
            </a:lvl1pPr>
            <a:lvl2pPr>
              <a:defRPr sz="1301" b="1" lang="en-US">
                <a:latin typeface="Aptos"/>
                <a:ea typeface="Aptos"/>
                <a:cs typeface="Aptos"/>
              </a:defRPr>
            </a:lvl2pPr>
            <a:lvl3pPr>
              <a:defRPr sz="1301" b="1" lang="en-US">
                <a:latin typeface="Aptos"/>
                <a:ea typeface="Aptos"/>
                <a:cs typeface="Aptos"/>
              </a:defRPr>
            </a:lvl3pPr>
            <a:lvl4pPr>
              <a:defRPr sz="1301" b="1" lang="en-US">
                <a:latin typeface="Aptos"/>
                <a:ea typeface="Aptos"/>
                <a:cs typeface="Aptos"/>
              </a:defRPr>
            </a:lvl4pPr>
            <a:lvl5pPr>
              <a:defRPr sz="1301" b="1" lang="en-US">
                <a:latin typeface="Aptos"/>
                <a:ea typeface="Aptos"/>
                <a:cs typeface="Aptos"/>
              </a:defRPr>
            </a:lvl5pPr>
            <a:lvl6pPr>
              <a:defRPr sz="1301" b="1" lang="en-US">
                <a:latin typeface="Aptos"/>
                <a:ea typeface="Aptos"/>
                <a:cs typeface="Aptos"/>
              </a:defRPr>
            </a:lvl6pPr>
            <a:lvl7pPr>
              <a:defRPr sz="1301" b="1" lang="en-US">
                <a:latin typeface="Aptos"/>
                <a:ea typeface="Aptos"/>
                <a:cs typeface="Aptos"/>
              </a:defRPr>
            </a:lvl7pPr>
            <a:lvl8pPr>
              <a:defRPr sz="1301" b="1" lang="en-US">
                <a:latin typeface="Aptos"/>
                <a:ea typeface="Aptos"/>
                <a:cs typeface="Aptos"/>
              </a:defRPr>
            </a:lvl8pPr>
            <a:lvl9pPr>
              <a:defRPr sz="13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01" b="1" spc="200" lang="en-US">
                <a:solidFill>
                  <a:srgbClr val="E6AB50"/>
                </a:solidFill>
                <a:latin typeface="Aptos"/>
                <a:ea typeface="Aptos"/>
                <a:cs typeface="Aptos"/>
              </a:rPr>
              <a:t>SECTION 03</a:t>
            </a:r>
            <a:endParaRPr sz="1300" lang="en-US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D223327-88CB-4827-A0BD-30AC48F1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07008"/>
            <a:ext cx="5394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00" b="1" lang="en-US">
                <a:latin typeface="Aptos"/>
                <a:ea typeface="Aptos"/>
                <a:cs typeface="Aptos"/>
              </a:defRPr>
            </a:defPPr>
            <a:lvl1pPr>
              <a:defRPr sz="2200" b="1" lang="en-US">
                <a:latin typeface="Aptos"/>
                <a:ea typeface="Aptos"/>
                <a:cs typeface="Aptos"/>
              </a:defRPr>
            </a:lvl1pPr>
            <a:lvl2pPr>
              <a:defRPr sz="2200" b="1" lang="en-US">
                <a:latin typeface="Aptos"/>
                <a:ea typeface="Aptos"/>
                <a:cs typeface="Aptos"/>
              </a:defRPr>
            </a:lvl2pPr>
            <a:lvl3pPr>
              <a:defRPr sz="2200" b="1" lang="en-US">
                <a:latin typeface="Aptos"/>
                <a:ea typeface="Aptos"/>
                <a:cs typeface="Aptos"/>
              </a:defRPr>
            </a:lvl3pPr>
            <a:lvl4pPr>
              <a:defRPr sz="2200" b="1" lang="en-US">
                <a:latin typeface="Aptos"/>
                <a:ea typeface="Aptos"/>
                <a:cs typeface="Aptos"/>
              </a:defRPr>
            </a:lvl4pPr>
            <a:lvl5pPr>
              <a:defRPr sz="2200" b="1" lang="en-US">
                <a:latin typeface="Aptos"/>
                <a:ea typeface="Aptos"/>
                <a:cs typeface="Aptos"/>
              </a:defRPr>
            </a:lvl5pPr>
            <a:lvl6pPr>
              <a:defRPr sz="2200" b="1" lang="en-US">
                <a:latin typeface="Aptos"/>
                <a:ea typeface="Aptos"/>
                <a:cs typeface="Aptos"/>
              </a:defRPr>
            </a:lvl6pPr>
            <a:lvl7pPr>
              <a:defRPr sz="2200" b="1" lang="en-US">
                <a:latin typeface="Aptos"/>
                <a:ea typeface="Aptos"/>
                <a:cs typeface="Aptos"/>
              </a:defRPr>
            </a:lvl7pPr>
            <a:lvl8pPr>
              <a:defRPr sz="2200" b="1" lang="en-US">
                <a:latin typeface="Aptos"/>
                <a:ea typeface="Aptos"/>
                <a:cs typeface="Aptos"/>
              </a:defRPr>
            </a:lvl8pPr>
            <a:lvl9pPr>
              <a:defRPr sz="22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200" b="1" spc="120" lang="en-US">
                <a:solidFill>
                  <a:srgbClr val="C6E9E6"/>
                </a:solidFill>
                <a:latin typeface="Aptos"/>
                <a:ea typeface="Aptos"/>
                <a:cs typeface="Aptos"/>
              </a:rPr>
              <a:t>AI + INDUSTRY</a:t>
            </a:r>
            <a:endParaRPr sz="2200" lang="en-US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97029ED-82F8-47E9-AD0E-20A1E93E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557784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1" b="1" lang="en-US">
                <a:latin typeface="Aptos"/>
                <a:ea typeface="Aptos"/>
                <a:cs typeface="Aptos"/>
              </a:defRPr>
            </a:defPPr>
            <a:lvl1pPr>
              <a:defRPr sz="3901" b="1" lang="en-US">
                <a:latin typeface="Aptos"/>
                <a:ea typeface="Aptos"/>
                <a:cs typeface="Aptos"/>
              </a:defRPr>
            </a:lvl1pPr>
            <a:lvl2pPr>
              <a:defRPr sz="3901" b="1" lang="en-US">
                <a:latin typeface="Aptos"/>
                <a:ea typeface="Aptos"/>
                <a:cs typeface="Aptos"/>
              </a:defRPr>
            </a:lvl2pPr>
            <a:lvl3pPr>
              <a:defRPr sz="3901" b="1" lang="en-US">
                <a:latin typeface="Aptos"/>
                <a:ea typeface="Aptos"/>
                <a:cs typeface="Aptos"/>
              </a:defRPr>
            </a:lvl3pPr>
            <a:lvl4pPr>
              <a:defRPr sz="3901" b="1" lang="en-US">
                <a:latin typeface="Aptos"/>
                <a:ea typeface="Aptos"/>
                <a:cs typeface="Aptos"/>
              </a:defRPr>
            </a:lvl4pPr>
            <a:lvl5pPr>
              <a:defRPr sz="3901" b="1" lang="en-US">
                <a:latin typeface="Aptos"/>
                <a:ea typeface="Aptos"/>
                <a:cs typeface="Aptos"/>
              </a:defRPr>
            </a:lvl5pPr>
            <a:lvl6pPr>
              <a:defRPr sz="3901" b="1" lang="en-US">
                <a:latin typeface="Aptos"/>
                <a:ea typeface="Aptos"/>
                <a:cs typeface="Aptos"/>
              </a:defRPr>
            </a:lvl6pPr>
            <a:lvl7pPr>
              <a:defRPr sz="3901" b="1" lang="en-US">
                <a:latin typeface="Aptos"/>
                <a:ea typeface="Aptos"/>
                <a:cs typeface="Aptos"/>
              </a:defRPr>
            </a:lvl7pPr>
            <a:lvl8pPr>
              <a:defRPr sz="3901" b="1" lang="en-US">
                <a:latin typeface="Aptos"/>
                <a:ea typeface="Aptos"/>
                <a:cs typeface="Aptos"/>
              </a:defRPr>
            </a:lvl8pPr>
            <a:lvl9pPr>
              <a:defRPr sz="39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390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Artificial</a:t>
            </a:r>
            <a:endParaRPr sz="3900" lang="en-US"/>
          </a:p>
          <a:p xmlns:a="http://schemas.openxmlformats.org/drawingml/2006/main">
            <a:pPr marL="0" indent="0" algn="l">
              <a:buNone/>
            </a:pPr>
            <a:r>
              <a:rPr sz="390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intelligence leaves</a:t>
            </a:r>
            <a:endParaRPr sz="3900" lang="en-US"/>
          </a:p>
          <a:p xmlns:a="http://schemas.openxmlformats.org/drawingml/2006/main">
            <a:pPr marL="0" indent="0" algn="l">
              <a:buNone/>
            </a:pPr>
            <a:r>
              <a:rPr sz="390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laboratory</a:t>
            </a:r>
            <a:endParaRPr sz="3900" lang="en-US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34BCEF5-733C-48C5-AC45-80CD3A3F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09160"/>
            <a:ext cx="55778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01" lang="en-US">
                <a:latin typeface="Aptos"/>
                <a:ea typeface="Aptos"/>
                <a:cs typeface="Aptos"/>
              </a:defRPr>
            </a:defPPr>
            <a:lvl1pPr>
              <a:defRPr sz="1701" lang="en-US">
                <a:latin typeface="Aptos"/>
                <a:ea typeface="Aptos"/>
                <a:cs typeface="Aptos"/>
              </a:defRPr>
            </a:lvl1pPr>
            <a:lvl2pPr>
              <a:defRPr sz="1701" lang="en-US">
                <a:latin typeface="Aptos"/>
                <a:ea typeface="Aptos"/>
                <a:cs typeface="Aptos"/>
              </a:defRPr>
            </a:lvl2pPr>
            <a:lvl3pPr>
              <a:defRPr sz="1701" lang="en-US">
                <a:latin typeface="Aptos"/>
                <a:ea typeface="Aptos"/>
                <a:cs typeface="Aptos"/>
              </a:defRPr>
            </a:lvl3pPr>
            <a:lvl4pPr>
              <a:defRPr sz="1701" lang="en-US">
                <a:latin typeface="Aptos"/>
                <a:ea typeface="Aptos"/>
                <a:cs typeface="Aptos"/>
              </a:defRPr>
            </a:lvl4pPr>
            <a:lvl5pPr>
              <a:defRPr sz="1701" lang="en-US">
                <a:latin typeface="Aptos"/>
                <a:ea typeface="Aptos"/>
                <a:cs typeface="Aptos"/>
              </a:defRPr>
            </a:lvl5pPr>
            <a:lvl6pPr>
              <a:defRPr sz="1701" lang="en-US">
                <a:latin typeface="Aptos"/>
                <a:ea typeface="Aptos"/>
                <a:cs typeface="Aptos"/>
              </a:defRPr>
            </a:lvl6pPr>
            <a:lvl7pPr>
              <a:defRPr sz="1701" lang="en-US">
                <a:latin typeface="Aptos"/>
                <a:ea typeface="Aptos"/>
                <a:cs typeface="Aptos"/>
              </a:defRPr>
            </a:lvl7pPr>
            <a:lvl8pPr>
              <a:defRPr sz="1701" lang="en-US">
                <a:latin typeface="Aptos"/>
                <a:ea typeface="Aptos"/>
                <a:cs typeface="Aptos"/>
              </a:defRPr>
            </a:lvl8pPr>
            <a:lvl9pPr>
              <a:defRPr sz="170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701" lang="en-US">
                <a:solidFill>
                  <a:srgbClr val="DEE8F0"/>
                </a:solidFill>
                <a:latin typeface="Aptos"/>
                <a:ea typeface="Aptos"/>
                <a:cs typeface="Aptos"/>
              </a:rPr>
              <a:t>Its value depends on data, people, and processes</a:t>
            </a:r>
            <a:endParaRPr sz="1700" lang="en-US"/>
          </a:p>
          <a:p xmlns:a="http://schemas.openxmlformats.org/drawingml/2006/main">
            <a:pPr marL="0" indent="0" algn="l">
              <a:buNone/>
            </a:pPr>
            <a:r>
              <a:rPr sz="1701" lang="en-US">
                <a:solidFill>
                  <a:srgbClr val="DEE8F0"/>
                </a:solidFill>
                <a:latin typeface="Aptos"/>
                <a:ea typeface="Aptos"/>
                <a:cs typeface="Aptos"/>
              </a:rPr>
              <a:t>capable of putting it to work.</a:t>
            </a:r>
            <a:endParaRPr sz="1700" lang="en-US"/>
          </a:p>
        </p:txBody>
      </p:sp>
      <p:sp>
        <p:nvSpPr>
          <p:cNvPr id="8" name="illustration-caption-background">
            <a:extLst xmlns:a="http://schemas.openxmlformats.org/drawingml/2006/main">
              <a:ext uri="{FF2B5EF4-FFF2-40B4-BE49-F238E27FC236}">
                <a16:creationId xmlns:a16="http://schemas.microsoft.com/office/drawing/2014/main" id="{0F07618F-F8B7-4C86-AA8F-76588CE4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33350"/>
            <a:ext cx="1733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llustration-caption">
            <a:extLst xmlns:a="http://schemas.openxmlformats.org/drawingml/2006/main">
              <a:ext uri="{FF2B5EF4-FFF2-40B4-BE49-F238E27FC236}">
                <a16:creationId xmlns:a16="http://schemas.microsoft.com/office/drawing/2014/main" id="{24999546-2973-48D1-9BD5-E476B70A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19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11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1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CONCEPTUAL ILLUSTRATION</a:t>
            </a:r>
          </a:p>
        </p:txBody>
      </p:sp>
    </p:spTree>
    <p:extLst>
      <p:ext uri="{BB962C8B-B14F-4D97-AF65-F5344CB8AC3E}">
        <p14:creationId xmlns:p14="http://schemas.microsoft.com/office/powerpoint/2010/main" val="209338474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1F0BB2A-C368-4813-A6EA-3F8B214C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OFFICIAL CONCEPT · AI+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CF76764-3584-449E-A012-BF49EDDE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Six areas of application for artificial intelligence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BAC0A43-4C3D-425B-AE1D-7EDC909A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China's State Council · Guidelines issued in August 2025.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1E5CD23-F0BC-46DE-A6D7-CD1B4EF0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3593592" cy="1353312"/>
          </a:xfrm>
          <a:prstGeom xmlns:a="http://schemas.openxmlformats.org/drawingml/2006/main" prst="roundRect">
            <a:avLst>
              <a:gd name="adj" fmla="val 87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812D124-2158-498D-B908-0B17EF31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157984"/>
            <a:ext cx="393192" cy="3931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48644D7-3A59-4148-8FA1-287493A6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2249424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100" lang="en-US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9E1D513-FDDC-4F3E-8630-92009BF9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2176272"/>
            <a:ext cx="263347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01" b="1" lang="en-US">
                <a:latin typeface="Aptos"/>
                <a:ea typeface="Aptos"/>
                <a:cs typeface="Aptos"/>
              </a:defRPr>
            </a:defPPr>
            <a:lvl1pPr>
              <a:defRPr sz="1701" b="1" lang="en-US">
                <a:latin typeface="Aptos"/>
                <a:ea typeface="Aptos"/>
                <a:cs typeface="Aptos"/>
              </a:defRPr>
            </a:lvl1pPr>
            <a:lvl2pPr>
              <a:defRPr sz="1701" b="1" lang="en-US">
                <a:latin typeface="Aptos"/>
                <a:ea typeface="Aptos"/>
                <a:cs typeface="Aptos"/>
              </a:defRPr>
            </a:lvl2pPr>
            <a:lvl3pPr>
              <a:defRPr sz="1701" b="1" lang="en-US">
                <a:latin typeface="Aptos"/>
                <a:ea typeface="Aptos"/>
                <a:cs typeface="Aptos"/>
              </a:defRPr>
            </a:lvl3pPr>
            <a:lvl4pPr>
              <a:defRPr sz="1701" b="1" lang="en-US">
                <a:latin typeface="Aptos"/>
                <a:ea typeface="Aptos"/>
                <a:cs typeface="Aptos"/>
              </a:defRPr>
            </a:lvl4pPr>
            <a:lvl5pPr>
              <a:defRPr sz="1701" b="1" lang="en-US">
                <a:latin typeface="Aptos"/>
                <a:ea typeface="Aptos"/>
                <a:cs typeface="Aptos"/>
              </a:defRPr>
            </a:lvl5pPr>
            <a:lvl6pPr>
              <a:defRPr sz="1701" b="1" lang="en-US">
                <a:latin typeface="Aptos"/>
                <a:ea typeface="Aptos"/>
                <a:cs typeface="Aptos"/>
              </a:defRPr>
            </a:lvl6pPr>
            <a:lvl7pPr>
              <a:defRPr sz="1701" b="1" lang="en-US">
                <a:latin typeface="Aptos"/>
                <a:ea typeface="Aptos"/>
                <a:cs typeface="Aptos"/>
              </a:defRPr>
            </a:lvl7pPr>
            <a:lvl8pPr>
              <a:defRPr sz="1701" b="1" lang="en-US">
                <a:latin typeface="Aptos"/>
                <a:ea typeface="Aptos"/>
                <a:cs typeface="Aptos"/>
              </a:defRPr>
            </a:lvl8pPr>
            <a:lvl9pPr>
              <a:defRPr sz="17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70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SCIENCE</a:t>
            </a:r>
            <a:endParaRPr sz="1700" lang="en-US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B3EA7F6-F657-4028-84EB-31E02F85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2642616"/>
            <a:ext cx="2587752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Discovery and simulation</a:t>
            </a:r>
            <a:endParaRPr sz="1300" lang="en-US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7785247-0502-4A31-9B2E-906983DE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1965960"/>
            <a:ext cx="3593592" cy="1353312"/>
          </a:xfrm>
          <a:prstGeom xmlns:a="http://schemas.openxmlformats.org/drawingml/2006/main" prst="roundRect">
            <a:avLst>
              <a:gd name="adj" fmla="val 87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60DF81C-CC94-4418-9D12-5681CE66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2157984"/>
            <a:ext cx="393192" cy="3931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63CEE60-A0BB-493E-BE91-3B0A8C1C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49424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100" lang="en-US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EE61890-3013-4F93-9993-CAE2491B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944" y="2176272"/>
            <a:ext cx="263347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01" b="1" lang="en-US">
                <a:latin typeface="Aptos"/>
                <a:ea typeface="Aptos"/>
                <a:cs typeface="Aptos"/>
              </a:defRPr>
            </a:defPPr>
            <a:lvl1pPr>
              <a:defRPr sz="1701" b="1" lang="en-US">
                <a:latin typeface="Aptos"/>
                <a:ea typeface="Aptos"/>
                <a:cs typeface="Aptos"/>
              </a:defRPr>
            </a:lvl1pPr>
            <a:lvl2pPr>
              <a:defRPr sz="1701" b="1" lang="en-US">
                <a:latin typeface="Aptos"/>
                <a:ea typeface="Aptos"/>
                <a:cs typeface="Aptos"/>
              </a:defRPr>
            </a:lvl2pPr>
            <a:lvl3pPr>
              <a:defRPr sz="1701" b="1" lang="en-US">
                <a:latin typeface="Aptos"/>
                <a:ea typeface="Aptos"/>
                <a:cs typeface="Aptos"/>
              </a:defRPr>
            </a:lvl3pPr>
            <a:lvl4pPr>
              <a:defRPr sz="1701" b="1" lang="en-US">
                <a:latin typeface="Aptos"/>
                <a:ea typeface="Aptos"/>
                <a:cs typeface="Aptos"/>
              </a:defRPr>
            </a:lvl4pPr>
            <a:lvl5pPr>
              <a:defRPr sz="1701" b="1" lang="en-US">
                <a:latin typeface="Aptos"/>
                <a:ea typeface="Aptos"/>
                <a:cs typeface="Aptos"/>
              </a:defRPr>
            </a:lvl5pPr>
            <a:lvl6pPr>
              <a:defRPr sz="1701" b="1" lang="en-US">
                <a:latin typeface="Aptos"/>
                <a:ea typeface="Aptos"/>
                <a:cs typeface="Aptos"/>
              </a:defRPr>
            </a:lvl6pPr>
            <a:lvl7pPr>
              <a:defRPr sz="1701" b="1" lang="en-US">
                <a:latin typeface="Aptos"/>
                <a:ea typeface="Aptos"/>
                <a:cs typeface="Aptos"/>
              </a:defRPr>
            </a:lvl7pPr>
            <a:lvl8pPr>
              <a:defRPr sz="1701" b="1" lang="en-US">
                <a:latin typeface="Aptos"/>
                <a:ea typeface="Aptos"/>
                <a:cs typeface="Aptos"/>
              </a:defRPr>
            </a:lvl8pPr>
            <a:lvl9pPr>
              <a:defRPr sz="17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70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INDUSTRY</a:t>
            </a:r>
            <a:endParaRPr sz="1700" lang="en-US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27120B5-4027-4DB0-9797-ADFBB911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42616"/>
            <a:ext cx="2587752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Manufacturing and processes</a:t>
            </a:r>
            <a:endParaRPr sz="1300" lang="en-US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CD5FD8E-DCEB-4766-8774-881CBB25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1965960"/>
            <a:ext cx="3593592" cy="1353312"/>
          </a:xfrm>
          <a:prstGeom xmlns:a="http://schemas.openxmlformats.org/drawingml/2006/main" prst="roundRect">
            <a:avLst>
              <a:gd name="adj" fmla="val 87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EB7DE0B-9EAB-4896-B485-DEB26BB6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2157984"/>
            <a:ext cx="393192" cy="3931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B50"/>
          </a:solidFill>
          <a:ln xmlns:a="http://schemas.openxmlformats.org/drawingml/2006/main" w="12700">
            <a:solidFill>
              <a:srgbClr val="E6AB5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72E69F0-2785-4697-8FC4-9099B86E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1936" y="2249424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100" lang="en-US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573D7B6-B528-4426-BF31-134CA0BF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176272"/>
            <a:ext cx="263347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01" b="1" lang="en-US">
                <a:latin typeface="Aptos"/>
                <a:ea typeface="Aptos"/>
                <a:cs typeface="Aptos"/>
              </a:defRPr>
            </a:defPPr>
            <a:lvl1pPr>
              <a:defRPr sz="1701" b="1" lang="en-US">
                <a:latin typeface="Aptos"/>
                <a:ea typeface="Aptos"/>
                <a:cs typeface="Aptos"/>
              </a:defRPr>
            </a:lvl1pPr>
            <a:lvl2pPr>
              <a:defRPr sz="1701" b="1" lang="en-US">
                <a:latin typeface="Aptos"/>
                <a:ea typeface="Aptos"/>
                <a:cs typeface="Aptos"/>
              </a:defRPr>
            </a:lvl2pPr>
            <a:lvl3pPr>
              <a:defRPr sz="1701" b="1" lang="en-US">
                <a:latin typeface="Aptos"/>
                <a:ea typeface="Aptos"/>
                <a:cs typeface="Aptos"/>
              </a:defRPr>
            </a:lvl3pPr>
            <a:lvl4pPr>
              <a:defRPr sz="1701" b="1" lang="en-US">
                <a:latin typeface="Aptos"/>
                <a:ea typeface="Aptos"/>
                <a:cs typeface="Aptos"/>
              </a:defRPr>
            </a:lvl4pPr>
            <a:lvl5pPr>
              <a:defRPr sz="1701" b="1" lang="en-US">
                <a:latin typeface="Aptos"/>
                <a:ea typeface="Aptos"/>
                <a:cs typeface="Aptos"/>
              </a:defRPr>
            </a:lvl5pPr>
            <a:lvl6pPr>
              <a:defRPr sz="1701" b="1" lang="en-US">
                <a:latin typeface="Aptos"/>
                <a:ea typeface="Aptos"/>
                <a:cs typeface="Aptos"/>
              </a:defRPr>
            </a:lvl6pPr>
            <a:lvl7pPr>
              <a:defRPr sz="1701" b="1" lang="en-US">
                <a:latin typeface="Aptos"/>
                <a:ea typeface="Aptos"/>
                <a:cs typeface="Aptos"/>
              </a:defRPr>
            </a:lvl7pPr>
            <a:lvl8pPr>
              <a:defRPr sz="1701" b="1" lang="en-US">
                <a:latin typeface="Aptos"/>
                <a:ea typeface="Aptos"/>
                <a:cs typeface="Aptos"/>
              </a:defRPr>
            </a:lvl8pPr>
            <a:lvl9pPr>
              <a:defRPr sz="17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70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CONSUMPTION</a:t>
            </a:r>
            <a:endParaRPr sz="1700" lang="en-US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3C0E626-1F7F-44E5-A4CB-1F440BF2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642616"/>
            <a:ext cx="2587752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Products and services</a:t>
            </a:r>
            <a:endParaRPr sz="1300" lang="en-US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0F7FCFE-3F3B-47BB-8BD5-C4376B6D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7016"/>
            <a:ext cx="3593592" cy="1353312"/>
          </a:xfrm>
          <a:prstGeom xmlns:a="http://schemas.openxmlformats.org/drawingml/2006/main" prst="roundRect">
            <a:avLst>
              <a:gd name="adj" fmla="val 87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7276A409-31B0-4288-9EA3-D4E27237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3749040"/>
            <a:ext cx="393192" cy="3931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7E7F427-179C-4B08-98D4-28BD7C20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3840480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  <a:endParaRPr sz="1100" lang="en-US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4466536-1023-4D0A-90B8-96F7AD32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3767328"/>
            <a:ext cx="263347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01" b="1" lang="en-US">
                <a:latin typeface="Aptos"/>
                <a:ea typeface="Aptos"/>
                <a:cs typeface="Aptos"/>
              </a:defRPr>
            </a:defPPr>
            <a:lvl1pPr>
              <a:defRPr sz="1701" b="1" lang="en-US">
                <a:latin typeface="Aptos"/>
                <a:ea typeface="Aptos"/>
                <a:cs typeface="Aptos"/>
              </a:defRPr>
            </a:lvl1pPr>
            <a:lvl2pPr>
              <a:defRPr sz="1701" b="1" lang="en-US">
                <a:latin typeface="Aptos"/>
                <a:ea typeface="Aptos"/>
                <a:cs typeface="Aptos"/>
              </a:defRPr>
            </a:lvl2pPr>
            <a:lvl3pPr>
              <a:defRPr sz="1701" b="1" lang="en-US">
                <a:latin typeface="Aptos"/>
                <a:ea typeface="Aptos"/>
                <a:cs typeface="Aptos"/>
              </a:defRPr>
            </a:lvl3pPr>
            <a:lvl4pPr>
              <a:defRPr sz="1701" b="1" lang="en-US">
                <a:latin typeface="Aptos"/>
                <a:ea typeface="Aptos"/>
                <a:cs typeface="Aptos"/>
              </a:defRPr>
            </a:lvl4pPr>
            <a:lvl5pPr>
              <a:defRPr sz="1701" b="1" lang="en-US">
                <a:latin typeface="Aptos"/>
                <a:ea typeface="Aptos"/>
                <a:cs typeface="Aptos"/>
              </a:defRPr>
            </a:lvl5pPr>
            <a:lvl6pPr>
              <a:defRPr sz="1701" b="1" lang="en-US">
                <a:latin typeface="Aptos"/>
                <a:ea typeface="Aptos"/>
                <a:cs typeface="Aptos"/>
              </a:defRPr>
            </a:lvl6pPr>
            <a:lvl7pPr>
              <a:defRPr sz="1701" b="1" lang="en-US">
                <a:latin typeface="Aptos"/>
                <a:ea typeface="Aptos"/>
                <a:cs typeface="Aptos"/>
              </a:defRPr>
            </a:lvl7pPr>
            <a:lvl8pPr>
              <a:defRPr sz="1701" b="1" lang="en-US">
                <a:latin typeface="Aptos"/>
                <a:ea typeface="Aptos"/>
                <a:cs typeface="Aptos"/>
              </a:defRPr>
            </a:lvl8pPr>
            <a:lvl9pPr>
              <a:defRPr sz="17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70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PUBLIC WELL-BEING</a:t>
            </a:r>
            <a:endParaRPr sz="1700" lang="en-US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EDAB904-A3F5-484C-ADB9-298C5708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4233672"/>
            <a:ext cx="2587752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Health and education</a:t>
            </a:r>
            <a:endParaRPr sz="1300" lang="en-US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F628197D-50EA-43FE-BDEA-969962E2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3557016"/>
            <a:ext cx="3593592" cy="1353312"/>
          </a:xfrm>
          <a:prstGeom xmlns:a="http://schemas.openxmlformats.org/drawingml/2006/main" prst="roundRect">
            <a:avLst>
              <a:gd name="adj" fmla="val 87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7EA9C72-8B3B-47F5-8AE2-63578E00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3749040"/>
            <a:ext cx="393192" cy="3931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DE1889F-30EA-4970-AE31-80EB1420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40480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  <a:endParaRPr sz="1100" lang="en-US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F8EF384-F5FB-4CBD-870B-59BD52DF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944" y="3767328"/>
            <a:ext cx="263347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01" b="1" lang="en-US">
                <a:latin typeface="Aptos"/>
                <a:ea typeface="Aptos"/>
                <a:cs typeface="Aptos"/>
              </a:defRPr>
            </a:defPPr>
            <a:lvl1pPr>
              <a:defRPr sz="1701" b="1" lang="en-US">
                <a:latin typeface="Aptos"/>
                <a:ea typeface="Aptos"/>
                <a:cs typeface="Aptos"/>
              </a:defRPr>
            </a:lvl1pPr>
            <a:lvl2pPr>
              <a:defRPr sz="1701" b="1" lang="en-US">
                <a:latin typeface="Aptos"/>
                <a:ea typeface="Aptos"/>
                <a:cs typeface="Aptos"/>
              </a:defRPr>
            </a:lvl2pPr>
            <a:lvl3pPr>
              <a:defRPr sz="1701" b="1" lang="en-US">
                <a:latin typeface="Aptos"/>
                <a:ea typeface="Aptos"/>
                <a:cs typeface="Aptos"/>
              </a:defRPr>
            </a:lvl3pPr>
            <a:lvl4pPr>
              <a:defRPr sz="1701" b="1" lang="en-US">
                <a:latin typeface="Aptos"/>
                <a:ea typeface="Aptos"/>
                <a:cs typeface="Aptos"/>
              </a:defRPr>
            </a:lvl4pPr>
            <a:lvl5pPr>
              <a:defRPr sz="1701" b="1" lang="en-US">
                <a:latin typeface="Aptos"/>
                <a:ea typeface="Aptos"/>
                <a:cs typeface="Aptos"/>
              </a:defRPr>
            </a:lvl5pPr>
            <a:lvl6pPr>
              <a:defRPr sz="1701" b="1" lang="en-US">
                <a:latin typeface="Aptos"/>
                <a:ea typeface="Aptos"/>
                <a:cs typeface="Aptos"/>
              </a:defRPr>
            </a:lvl6pPr>
            <a:lvl7pPr>
              <a:defRPr sz="1701" b="1" lang="en-US">
                <a:latin typeface="Aptos"/>
                <a:ea typeface="Aptos"/>
                <a:cs typeface="Aptos"/>
              </a:defRPr>
            </a:lvl7pPr>
            <a:lvl8pPr>
              <a:defRPr sz="1701" b="1" lang="en-US">
                <a:latin typeface="Aptos"/>
                <a:ea typeface="Aptos"/>
                <a:cs typeface="Aptos"/>
              </a:defRPr>
            </a:lvl8pPr>
            <a:lvl9pPr>
              <a:defRPr sz="17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70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GOVERNANCE</a:t>
            </a:r>
            <a:endParaRPr sz="1700" lang="en-US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6EB52D0-2B72-45F1-84B0-D2633252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233672"/>
            <a:ext cx="2587752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Public administration</a:t>
            </a:r>
            <a:endParaRPr sz="1300" lang="en-US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21987A9D-C236-4DA4-82E1-76813CC2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557016"/>
            <a:ext cx="3593592" cy="1353312"/>
          </a:xfrm>
          <a:prstGeom xmlns:a="http://schemas.openxmlformats.org/drawingml/2006/main" prst="roundRect">
            <a:avLst>
              <a:gd name="adj" fmla="val 87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A8CC28F5-D42B-48D0-8564-1BA6F218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3749040"/>
            <a:ext cx="393192" cy="3931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B50"/>
          </a:solidFill>
          <a:ln xmlns:a="http://schemas.openxmlformats.org/drawingml/2006/main" w="12700">
            <a:solidFill>
              <a:srgbClr val="E6AB5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5A08E530-6434-4DB1-B6A6-5174E29C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1936" y="3840480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  <a:endParaRPr sz="1100" lang="en-US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45E81954-918F-4C8B-B0D3-76E18392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767328"/>
            <a:ext cx="263347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01" b="1" lang="en-US">
                <a:latin typeface="Aptos"/>
                <a:ea typeface="Aptos"/>
                <a:cs typeface="Aptos"/>
              </a:defRPr>
            </a:defPPr>
            <a:lvl1pPr>
              <a:defRPr sz="1701" b="1" lang="en-US">
                <a:latin typeface="Aptos"/>
                <a:ea typeface="Aptos"/>
                <a:cs typeface="Aptos"/>
              </a:defRPr>
            </a:lvl1pPr>
            <a:lvl2pPr>
              <a:defRPr sz="1701" b="1" lang="en-US">
                <a:latin typeface="Aptos"/>
                <a:ea typeface="Aptos"/>
                <a:cs typeface="Aptos"/>
              </a:defRPr>
            </a:lvl2pPr>
            <a:lvl3pPr>
              <a:defRPr sz="1701" b="1" lang="en-US">
                <a:latin typeface="Aptos"/>
                <a:ea typeface="Aptos"/>
                <a:cs typeface="Aptos"/>
              </a:defRPr>
            </a:lvl3pPr>
            <a:lvl4pPr>
              <a:defRPr sz="1701" b="1" lang="en-US">
                <a:latin typeface="Aptos"/>
                <a:ea typeface="Aptos"/>
                <a:cs typeface="Aptos"/>
              </a:defRPr>
            </a:lvl4pPr>
            <a:lvl5pPr>
              <a:defRPr sz="1701" b="1" lang="en-US">
                <a:latin typeface="Aptos"/>
                <a:ea typeface="Aptos"/>
                <a:cs typeface="Aptos"/>
              </a:defRPr>
            </a:lvl5pPr>
            <a:lvl6pPr>
              <a:defRPr sz="1701" b="1" lang="en-US">
                <a:latin typeface="Aptos"/>
                <a:ea typeface="Aptos"/>
                <a:cs typeface="Aptos"/>
              </a:defRPr>
            </a:lvl6pPr>
            <a:lvl7pPr>
              <a:defRPr sz="1701" b="1" lang="en-US">
                <a:latin typeface="Aptos"/>
                <a:ea typeface="Aptos"/>
                <a:cs typeface="Aptos"/>
              </a:defRPr>
            </a:lvl7pPr>
            <a:lvl8pPr>
              <a:defRPr sz="1701" b="1" lang="en-US">
                <a:latin typeface="Aptos"/>
                <a:ea typeface="Aptos"/>
                <a:cs typeface="Aptos"/>
              </a:defRPr>
            </a:lvl8pPr>
            <a:lvl9pPr>
              <a:defRPr sz="17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70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COOPERATION</a:t>
            </a:r>
            <a:endParaRPr sz="1700" lang="en-US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EB643B7-9216-460A-BFBC-51B5F8A9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4233672"/>
            <a:ext cx="2587752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International cooperation</a:t>
            </a:r>
            <a:endParaRPr sz="1300" lang="en-US"/>
          </a:p>
        </p:txBody>
      </p:sp>
    </p:spTree>
    <p:extLst>
      <p:ext uri="{BB962C8B-B14F-4D97-AF65-F5344CB8AC3E}">
        <p14:creationId xmlns:p14="http://schemas.microsoft.com/office/powerpoint/2010/main" val="111637294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3C51E3-9D3D-4C78-BDB1-EF0B5A96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AI+ · TARGETS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621B009-E253-45B5-98FD-702D257C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The AI+ targets for 2027 and 2030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7318AA6-1CB2-4A24-B019-CB194D68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Target penetration of next-generation smart terminals and AI agent applications.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DE1E91-6D96-4600-BD27-A676FD9C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066544"/>
            <a:ext cx="3419856" cy="2212848"/>
          </a:xfrm>
          <a:prstGeom xmlns:a="http://schemas.openxmlformats.org/drawingml/2006/main" prst="roundRect">
            <a:avLst>
              <a:gd name="adj" fmla="val 5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BCE0157-78AA-41CE-A940-FA5DCDAC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194560"/>
            <a:ext cx="305409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4399" b="1" lang="en-US">
                <a:latin typeface="Aptos"/>
                <a:ea typeface="Aptos"/>
                <a:cs typeface="Aptos"/>
              </a:defRPr>
            </a:defPPr>
            <a:lvl1pPr>
              <a:defRPr sz="4399" b="1" lang="en-US">
                <a:latin typeface="Aptos"/>
                <a:ea typeface="Aptos"/>
                <a:cs typeface="Aptos"/>
              </a:defRPr>
            </a:lvl1pPr>
            <a:lvl2pPr>
              <a:defRPr sz="4399" b="1" lang="en-US">
                <a:latin typeface="Aptos"/>
                <a:ea typeface="Aptos"/>
                <a:cs typeface="Aptos"/>
              </a:defRPr>
            </a:lvl2pPr>
            <a:lvl3pPr>
              <a:defRPr sz="4399" b="1" lang="en-US">
                <a:latin typeface="Aptos"/>
                <a:ea typeface="Aptos"/>
                <a:cs typeface="Aptos"/>
              </a:defRPr>
            </a:lvl3pPr>
            <a:lvl4pPr>
              <a:defRPr sz="4399" b="1" lang="en-US">
                <a:latin typeface="Aptos"/>
                <a:ea typeface="Aptos"/>
                <a:cs typeface="Aptos"/>
              </a:defRPr>
            </a:lvl4pPr>
            <a:lvl5pPr>
              <a:defRPr sz="4399" b="1" lang="en-US">
                <a:latin typeface="Aptos"/>
                <a:ea typeface="Aptos"/>
                <a:cs typeface="Aptos"/>
              </a:defRPr>
            </a:lvl5pPr>
            <a:lvl6pPr>
              <a:defRPr sz="4399" b="1" lang="en-US">
                <a:latin typeface="Aptos"/>
                <a:ea typeface="Aptos"/>
                <a:cs typeface="Aptos"/>
              </a:defRPr>
            </a:lvl6pPr>
            <a:lvl7pPr>
              <a:defRPr sz="4399" b="1" lang="en-US">
                <a:latin typeface="Aptos"/>
                <a:ea typeface="Aptos"/>
                <a:cs typeface="Aptos"/>
              </a:defRPr>
            </a:lvl7pPr>
            <a:lvl8pPr>
              <a:defRPr sz="4399" b="1" lang="en-US">
                <a:latin typeface="Aptos"/>
                <a:ea typeface="Aptos"/>
                <a:cs typeface="Aptos"/>
              </a:defRPr>
            </a:lvl8pPr>
            <a:lvl9pPr>
              <a:defRPr sz="43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4399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&gt;70%</a:t>
            </a:r>
            <a:endParaRPr sz="4400" lang="en-US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302FDD4-F8BF-4F12-81FB-FEC9FF8F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98648"/>
            <a:ext cx="3017520" cy="1252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Official target for 2027</a:t>
            </a:r>
            <a:endParaRPr sz="1200" lang="en-US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8229A76-30C4-4C2E-B725-CD8F4993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2066544"/>
            <a:ext cx="3419856" cy="2212848"/>
          </a:xfrm>
          <a:prstGeom xmlns:a="http://schemas.openxmlformats.org/drawingml/2006/main" prst="roundRect">
            <a:avLst>
              <a:gd name="adj" fmla="val 5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5860F23-6999-4439-BEE6-23B1D1AA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2194560"/>
            <a:ext cx="305409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4399" b="1" lang="en-US">
                <a:latin typeface="Aptos"/>
                <a:ea typeface="Aptos"/>
                <a:cs typeface="Aptos"/>
              </a:defRPr>
            </a:defPPr>
            <a:lvl1pPr>
              <a:defRPr sz="4399" b="1" lang="en-US">
                <a:latin typeface="Aptos"/>
                <a:ea typeface="Aptos"/>
                <a:cs typeface="Aptos"/>
              </a:defRPr>
            </a:lvl1pPr>
            <a:lvl2pPr>
              <a:defRPr sz="4399" b="1" lang="en-US">
                <a:latin typeface="Aptos"/>
                <a:ea typeface="Aptos"/>
                <a:cs typeface="Aptos"/>
              </a:defRPr>
            </a:lvl2pPr>
            <a:lvl3pPr>
              <a:defRPr sz="4399" b="1" lang="en-US">
                <a:latin typeface="Aptos"/>
                <a:ea typeface="Aptos"/>
                <a:cs typeface="Aptos"/>
              </a:defRPr>
            </a:lvl3pPr>
            <a:lvl4pPr>
              <a:defRPr sz="4399" b="1" lang="en-US">
                <a:latin typeface="Aptos"/>
                <a:ea typeface="Aptos"/>
                <a:cs typeface="Aptos"/>
              </a:defRPr>
            </a:lvl4pPr>
            <a:lvl5pPr>
              <a:defRPr sz="4399" b="1" lang="en-US">
                <a:latin typeface="Aptos"/>
                <a:ea typeface="Aptos"/>
                <a:cs typeface="Aptos"/>
              </a:defRPr>
            </a:lvl5pPr>
            <a:lvl6pPr>
              <a:defRPr sz="4399" b="1" lang="en-US">
                <a:latin typeface="Aptos"/>
                <a:ea typeface="Aptos"/>
                <a:cs typeface="Aptos"/>
              </a:defRPr>
            </a:lvl6pPr>
            <a:lvl7pPr>
              <a:defRPr sz="4399" b="1" lang="en-US">
                <a:latin typeface="Aptos"/>
                <a:ea typeface="Aptos"/>
                <a:cs typeface="Aptos"/>
              </a:defRPr>
            </a:lvl7pPr>
            <a:lvl8pPr>
              <a:defRPr sz="4399" b="1" lang="en-US">
                <a:latin typeface="Aptos"/>
                <a:ea typeface="Aptos"/>
                <a:cs typeface="Aptos"/>
              </a:defRPr>
            </a:lvl8pPr>
            <a:lvl9pPr>
              <a:defRPr sz="43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4399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&gt;90%</a:t>
            </a:r>
            <a:endParaRPr sz="4400" lang="en-US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953F992-7D25-4A2A-BFA3-F2897AD3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2898648"/>
            <a:ext cx="3017520" cy="1252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Official target for 2030</a:t>
            </a:r>
            <a:endParaRPr sz="1200" lang="en-US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118566B-0251-4555-B1B5-302D4FDA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2066544"/>
            <a:ext cx="3419856" cy="2212848"/>
          </a:xfrm>
          <a:prstGeom xmlns:a="http://schemas.openxmlformats.org/drawingml/2006/main" prst="roundRect">
            <a:avLst>
              <a:gd name="adj" fmla="val 5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724CD05-F352-4024-BD68-2E714DA1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2194560"/>
            <a:ext cx="305409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4201" b="1" lang="en-US">
                <a:latin typeface="Aptos"/>
                <a:ea typeface="Aptos"/>
                <a:cs typeface="Aptos"/>
              </a:defRPr>
            </a:defPPr>
            <a:lvl1pPr>
              <a:defRPr sz="4201" b="1" lang="en-US">
                <a:latin typeface="Aptos"/>
                <a:ea typeface="Aptos"/>
                <a:cs typeface="Aptos"/>
              </a:defRPr>
            </a:lvl1pPr>
            <a:lvl2pPr>
              <a:defRPr sz="4201" b="1" lang="en-US">
                <a:latin typeface="Aptos"/>
                <a:ea typeface="Aptos"/>
                <a:cs typeface="Aptos"/>
              </a:defRPr>
            </a:lvl2pPr>
            <a:lvl3pPr>
              <a:defRPr sz="4201" b="1" lang="en-US">
                <a:latin typeface="Aptos"/>
                <a:ea typeface="Aptos"/>
                <a:cs typeface="Aptos"/>
              </a:defRPr>
            </a:lvl3pPr>
            <a:lvl4pPr>
              <a:defRPr sz="4201" b="1" lang="en-US">
                <a:latin typeface="Aptos"/>
                <a:ea typeface="Aptos"/>
                <a:cs typeface="Aptos"/>
              </a:defRPr>
            </a:lvl4pPr>
            <a:lvl5pPr>
              <a:defRPr sz="4201" b="1" lang="en-US">
                <a:latin typeface="Aptos"/>
                <a:ea typeface="Aptos"/>
                <a:cs typeface="Aptos"/>
              </a:defRPr>
            </a:lvl5pPr>
            <a:lvl6pPr>
              <a:defRPr sz="4201" b="1" lang="en-US">
                <a:latin typeface="Aptos"/>
                <a:ea typeface="Aptos"/>
                <a:cs typeface="Aptos"/>
              </a:defRPr>
            </a:lvl6pPr>
            <a:lvl7pPr>
              <a:defRPr sz="4201" b="1" lang="en-US">
                <a:latin typeface="Aptos"/>
                <a:ea typeface="Aptos"/>
                <a:cs typeface="Aptos"/>
              </a:defRPr>
            </a:lvl7pPr>
            <a:lvl8pPr>
              <a:defRPr sz="4201" b="1" lang="en-US">
                <a:latin typeface="Aptos"/>
                <a:ea typeface="Aptos"/>
                <a:cs typeface="Aptos"/>
              </a:defRPr>
            </a:lvl8pPr>
            <a:lvl9pPr>
              <a:defRPr sz="42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4201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2035</a:t>
            </a:r>
            <a:endParaRPr sz="4200" lang="en-US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C9AAF06-2837-4B50-AD3D-20324CFD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2898648"/>
            <a:ext cx="3017520" cy="1252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Horizon for an intelligent economy</a:t>
            </a:r>
            <a:endParaRPr sz="1200" lang="en-US"/>
          </a:p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and society</a:t>
            </a:r>
            <a:endParaRPr sz="1200" lang="en-US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B70E649-3CB5-4AC8-B17C-78A417CA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4599432"/>
            <a:ext cx="10735056" cy="83210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D9"/>
          </a:solidFill>
          <a:ln xmlns:a="http://schemas.openxmlformats.org/drawingml/2006/main" w="12700">
            <a:solidFill>
              <a:srgbClr val="FFF1D9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EC87E94-E99D-48CF-9A0B-A394DCB1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4791456"/>
            <a:ext cx="10232136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01" b="1" lang="en-US">
                <a:latin typeface="Aptos"/>
                <a:ea typeface="Aptos"/>
                <a:cs typeface="Aptos"/>
              </a:defRPr>
            </a:defPPr>
            <a:lvl1pPr>
              <a:defRPr sz="1701" b="1" lang="en-US">
                <a:latin typeface="Aptos"/>
                <a:ea typeface="Aptos"/>
                <a:cs typeface="Aptos"/>
              </a:defRPr>
            </a:lvl1pPr>
            <a:lvl2pPr>
              <a:defRPr sz="1701" b="1" lang="en-US">
                <a:latin typeface="Aptos"/>
                <a:ea typeface="Aptos"/>
                <a:cs typeface="Aptos"/>
              </a:defRPr>
            </a:lvl2pPr>
            <a:lvl3pPr>
              <a:defRPr sz="1701" b="1" lang="en-US">
                <a:latin typeface="Aptos"/>
                <a:ea typeface="Aptos"/>
                <a:cs typeface="Aptos"/>
              </a:defRPr>
            </a:lvl3pPr>
            <a:lvl4pPr>
              <a:defRPr sz="1701" b="1" lang="en-US">
                <a:latin typeface="Aptos"/>
                <a:ea typeface="Aptos"/>
                <a:cs typeface="Aptos"/>
              </a:defRPr>
            </a:lvl4pPr>
            <a:lvl5pPr>
              <a:defRPr sz="1701" b="1" lang="en-US">
                <a:latin typeface="Aptos"/>
                <a:ea typeface="Aptos"/>
                <a:cs typeface="Aptos"/>
              </a:defRPr>
            </a:lvl5pPr>
            <a:lvl6pPr>
              <a:defRPr sz="1701" b="1" lang="en-US">
                <a:latin typeface="Aptos"/>
                <a:ea typeface="Aptos"/>
                <a:cs typeface="Aptos"/>
              </a:defRPr>
            </a:lvl6pPr>
            <a:lvl7pPr>
              <a:defRPr sz="1701" b="1" lang="en-US">
                <a:latin typeface="Aptos"/>
                <a:ea typeface="Aptos"/>
                <a:cs typeface="Aptos"/>
              </a:defRPr>
            </a:lvl7pPr>
            <a:lvl8pPr>
              <a:defRPr sz="1701" b="1" lang="en-US">
                <a:latin typeface="Aptos"/>
                <a:ea typeface="Aptos"/>
                <a:cs typeface="Aptos"/>
              </a:defRPr>
            </a:lvl8pPr>
            <a:lvl9pPr>
              <a:defRPr sz="17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70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The indicator refers to smart terminals and AI agent applications.</a:t>
            </a:r>
            <a:endParaRPr sz="1700" lang="en-US"/>
          </a:p>
        </p:txBody>
      </p:sp>
    </p:spTree>
    <p:extLst>
      <p:ext uri="{BB962C8B-B14F-4D97-AF65-F5344CB8AC3E}">
        <p14:creationId xmlns:p14="http://schemas.microsoft.com/office/powerpoint/2010/main" val="105218764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3E12C55-59CA-417A-8C33-70596E07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TEACHING EXERCISE 03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F540C8C-80D4-4078-95D1-0AE0A5C2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How can AI help prevent a machine from stopping?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1E499A-2B1F-4B8B-811A-11299920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HYPOTHETICAL example of predictive maintenance.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83A57EC-A456-4790-9C41-BA464C6D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3392"/>
            <a:ext cx="5385816" cy="2313432"/>
          </a:xfrm>
          <a:prstGeom xmlns:a="http://schemas.openxmlformats.org/drawingml/2006/main" prst="roundRect">
            <a:avLst>
              <a:gd name="adj" fmla="val 5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D57235B-5913-49E5-BC79-F9786623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7712"/>
            <a:ext cx="1097280" cy="338328"/>
          </a:xfrm>
          <a:prstGeom xmlns:a="http://schemas.openxmlformats.org/drawingml/2006/main" prst="roundRect">
            <a:avLst>
              <a:gd name="adj" fmla="val 43243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37A20B4-0A0A-4FF3-B478-7C7260E1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286000"/>
            <a:ext cx="877824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40" b="1" lang="en-US">
                <a:latin typeface="Aptos"/>
                <a:ea typeface="Aptos"/>
                <a:cs typeface="Aptos"/>
              </a:defRPr>
            </a:defPPr>
            <a:lvl1pPr>
              <a:defRPr sz="1040" b="1" lang="en-US">
                <a:latin typeface="Aptos"/>
                <a:ea typeface="Aptos"/>
                <a:cs typeface="Aptos"/>
              </a:defRPr>
            </a:lvl1pPr>
            <a:lvl2pPr>
              <a:defRPr sz="1040" b="1" lang="en-US">
                <a:latin typeface="Aptos"/>
                <a:ea typeface="Aptos"/>
                <a:cs typeface="Aptos"/>
              </a:defRPr>
            </a:lvl2pPr>
            <a:lvl3pPr>
              <a:defRPr sz="1040" b="1" lang="en-US">
                <a:latin typeface="Aptos"/>
                <a:ea typeface="Aptos"/>
                <a:cs typeface="Aptos"/>
              </a:defRPr>
            </a:lvl3pPr>
            <a:lvl4pPr>
              <a:defRPr sz="1040" b="1" lang="en-US">
                <a:latin typeface="Aptos"/>
                <a:ea typeface="Aptos"/>
                <a:cs typeface="Aptos"/>
              </a:defRPr>
            </a:lvl4pPr>
            <a:lvl5pPr>
              <a:defRPr sz="1040" b="1" lang="en-US">
                <a:latin typeface="Aptos"/>
                <a:ea typeface="Aptos"/>
                <a:cs typeface="Aptos"/>
              </a:defRPr>
            </a:lvl5pPr>
            <a:lvl6pPr>
              <a:defRPr sz="1040" b="1" lang="en-US">
                <a:latin typeface="Aptos"/>
                <a:ea typeface="Aptos"/>
                <a:cs typeface="Aptos"/>
              </a:defRPr>
            </a:lvl6pPr>
            <a:lvl7pPr>
              <a:defRPr sz="1040" b="1" lang="en-US">
                <a:latin typeface="Aptos"/>
                <a:ea typeface="Aptos"/>
                <a:cs typeface="Aptos"/>
              </a:defRPr>
            </a:lvl7pPr>
            <a:lvl8pPr>
              <a:defRPr sz="1040" b="1" lang="en-US">
                <a:latin typeface="Aptos"/>
                <a:ea typeface="Aptos"/>
                <a:cs typeface="Aptos"/>
              </a:defRPr>
            </a:lvl8pPr>
            <a:lvl9pPr>
              <a:defRPr sz="104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040" b="1" spc="70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BEFORE</a:t>
            </a:r>
            <a:endParaRPr sz="1040" lang="en-US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170C375-AB02-4092-AA82-88508362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816352"/>
            <a:ext cx="36118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4399" b="1" lang="en-US">
                <a:latin typeface="Aptos"/>
                <a:ea typeface="Aptos"/>
                <a:cs typeface="Aptos"/>
              </a:defRPr>
            </a:defPPr>
            <a:lvl1pPr>
              <a:defRPr sz="4399" b="1" lang="en-US">
                <a:latin typeface="Aptos"/>
                <a:ea typeface="Aptos"/>
                <a:cs typeface="Aptos"/>
              </a:defRPr>
            </a:lvl1pPr>
            <a:lvl2pPr>
              <a:defRPr sz="4399" b="1" lang="en-US">
                <a:latin typeface="Aptos"/>
                <a:ea typeface="Aptos"/>
                <a:cs typeface="Aptos"/>
              </a:defRPr>
            </a:lvl2pPr>
            <a:lvl3pPr>
              <a:defRPr sz="4399" b="1" lang="en-US">
                <a:latin typeface="Aptos"/>
                <a:ea typeface="Aptos"/>
                <a:cs typeface="Aptos"/>
              </a:defRPr>
            </a:lvl3pPr>
            <a:lvl4pPr>
              <a:defRPr sz="4399" b="1" lang="en-US">
                <a:latin typeface="Aptos"/>
                <a:ea typeface="Aptos"/>
                <a:cs typeface="Aptos"/>
              </a:defRPr>
            </a:lvl4pPr>
            <a:lvl5pPr>
              <a:defRPr sz="4399" b="1" lang="en-US">
                <a:latin typeface="Aptos"/>
                <a:ea typeface="Aptos"/>
                <a:cs typeface="Aptos"/>
              </a:defRPr>
            </a:lvl5pPr>
            <a:lvl6pPr>
              <a:defRPr sz="4399" b="1" lang="en-US">
                <a:latin typeface="Aptos"/>
                <a:ea typeface="Aptos"/>
                <a:cs typeface="Aptos"/>
              </a:defRPr>
            </a:lvl6pPr>
            <a:lvl7pPr>
              <a:defRPr sz="4399" b="1" lang="en-US">
                <a:latin typeface="Aptos"/>
                <a:ea typeface="Aptos"/>
                <a:cs typeface="Aptos"/>
              </a:defRPr>
            </a:lvl7pPr>
            <a:lvl8pPr>
              <a:defRPr sz="4399" b="1" lang="en-US">
                <a:latin typeface="Aptos"/>
                <a:ea typeface="Aptos"/>
                <a:cs typeface="Aptos"/>
              </a:defRPr>
            </a:lvl8pPr>
            <a:lvl9pPr>
              <a:defRPr sz="43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4399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160 h</a:t>
            </a:r>
            <a:endParaRPr sz="4400" lang="en-US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0CDCB64-B057-4B7B-8044-00128FD6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721608"/>
            <a:ext cx="4663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of unplanned downtime per year</a:t>
            </a:r>
            <a:endParaRPr sz="1400" lang="en-US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39C06C7-9785-4963-9834-61CFDEE2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1993392"/>
            <a:ext cx="5385816" cy="2313432"/>
          </a:xfrm>
          <a:prstGeom xmlns:a="http://schemas.openxmlformats.org/drawingml/2006/main" prst="roundRect">
            <a:avLst>
              <a:gd name="adj" fmla="val 5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DCAD15A-BCD2-4B92-AB34-C24C0504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2267712"/>
            <a:ext cx="1097280" cy="338328"/>
          </a:xfrm>
          <a:prstGeom xmlns:a="http://schemas.openxmlformats.org/drawingml/2006/main" prst="roundRect">
            <a:avLst>
              <a:gd name="adj" fmla="val 43243"/>
            </a:avLst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F0300B9-C716-44A0-876F-1CDB5C65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286000"/>
            <a:ext cx="877824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40" b="1" lang="en-US">
                <a:latin typeface="Aptos"/>
                <a:ea typeface="Aptos"/>
                <a:cs typeface="Aptos"/>
              </a:defRPr>
            </a:defPPr>
            <a:lvl1pPr>
              <a:defRPr sz="1040" b="1" lang="en-US">
                <a:latin typeface="Aptos"/>
                <a:ea typeface="Aptos"/>
                <a:cs typeface="Aptos"/>
              </a:defRPr>
            </a:lvl1pPr>
            <a:lvl2pPr>
              <a:defRPr sz="1040" b="1" lang="en-US">
                <a:latin typeface="Aptos"/>
                <a:ea typeface="Aptos"/>
                <a:cs typeface="Aptos"/>
              </a:defRPr>
            </a:lvl2pPr>
            <a:lvl3pPr>
              <a:defRPr sz="1040" b="1" lang="en-US">
                <a:latin typeface="Aptos"/>
                <a:ea typeface="Aptos"/>
                <a:cs typeface="Aptos"/>
              </a:defRPr>
            </a:lvl3pPr>
            <a:lvl4pPr>
              <a:defRPr sz="1040" b="1" lang="en-US">
                <a:latin typeface="Aptos"/>
                <a:ea typeface="Aptos"/>
                <a:cs typeface="Aptos"/>
              </a:defRPr>
            </a:lvl4pPr>
            <a:lvl5pPr>
              <a:defRPr sz="1040" b="1" lang="en-US">
                <a:latin typeface="Aptos"/>
                <a:ea typeface="Aptos"/>
                <a:cs typeface="Aptos"/>
              </a:defRPr>
            </a:lvl5pPr>
            <a:lvl6pPr>
              <a:defRPr sz="1040" b="1" lang="en-US">
                <a:latin typeface="Aptos"/>
                <a:ea typeface="Aptos"/>
                <a:cs typeface="Aptos"/>
              </a:defRPr>
            </a:lvl6pPr>
            <a:lvl7pPr>
              <a:defRPr sz="1040" b="1" lang="en-US">
                <a:latin typeface="Aptos"/>
                <a:ea typeface="Aptos"/>
                <a:cs typeface="Aptos"/>
              </a:defRPr>
            </a:lvl7pPr>
            <a:lvl8pPr>
              <a:defRPr sz="1040" b="1" lang="en-US">
                <a:latin typeface="Aptos"/>
                <a:ea typeface="Aptos"/>
                <a:cs typeface="Aptos"/>
              </a:defRPr>
            </a:lvl8pPr>
            <a:lvl9pPr>
              <a:defRPr sz="104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040" b="1" spc="70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AFTER</a:t>
            </a:r>
            <a:endParaRPr sz="1040" lang="en-US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F012907-42DA-4894-AC91-2D058BB1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2816352"/>
            <a:ext cx="36118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4399" b="1" lang="en-US">
                <a:latin typeface="Aptos"/>
                <a:ea typeface="Aptos"/>
                <a:cs typeface="Aptos"/>
              </a:defRPr>
            </a:defPPr>
            <a:lvl1pPr>
              <a:defRPr sz="4399" b="1" lang="en-US">
                <a:latin typeface="Aptos"/>
                <a:ea typeface="Aptos"/>
                <a:cs typeface="Aptos"/>
              </a:defRPr>
            </a:lvl1pPr>
            <a:lvl2pPr>
              <a:defRPr sz="4399" b="1" lang="en-US">
                <a:latin typeface="Aptos"/>
                <a:ea typeface="Aptos"/>
                <a:cs typeface="Aptos"/>
              </a:defRPr>
            </a:lvl2pPr>
            <a:lvl3pPr>
              <a:defRPr sz="4399" b="1" lang="en-US">
                <a:latin typeface="Aptos"/>
                <a:ea typeface="Aptos"/>
                <a:cs typeface="Aptos"/>
              </a:defRPr>
            </a:lvl3pPr>
            <a:lvl4pPr>
              <a:defRPr sz="4399" b="1" lang="en-US">
                <a:latin typeface="Aptos"/>
                <a:ea typeface="Aptos"/>
                <a:cs typeface="Aptos"/>
              </a:defRPr>
            </a:lvl4pPr>
            <a:lvl5pPr>
              <a:defRPr sz="4399" b="1" lang="en-US">
                <a:latin typeface="Aptos"/>
                <a:ea typeface="Aptos"/>
                <a:cs typeface="Aptos"/>
              </a:defRPr>
            </a:lvl5pPr>
            <a:lvl6pPr>
              <a:defRPr sz="4399" b="1" lang="en-US">
                <a:latin typeface="Aptos"/>
                <a:ea typeface="Aptos"/>
                <a:cs typeface="Aptos"/>
              </a:defRPr>
            </a:lvl6pPr>
            <a:lvl7pPr>
              <a:defRPr sz="4399" b="1" lang="en-US">
                <a:latin typeface="Aptos"/>
                <a:ea typeface="Aptos"/>
                <a:cs typeface="Aptos"/>
              </a:defRPr>
            </a:lvl7pPr>
            <a:lvl8pPr>
              <a:defRPr sz="4399" b="1" lang="en-US">
                <a:latin typeface="Aptos"/>
                <a:ea typeface="Aptos"/>
                <a:cs typeface="Aptos"/>
              </a:defRPr>
            </a:lvl8pPr>
            <a:lvl9pPr>
              <a:defRPr sz="43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4399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80 h</a:t>
            </a:r>
            <a:endParaRPr sz="4400" lang="en-US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1A4CFA8-237C-499C-B67D-4B4A6AEC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3721608"/>
            <a:ext cx="4663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of unplanned downtime per year</a:t>
            </a:r>
            <a:endParaRPr sz="1400" lang="en-US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437D923-9064-41FA-9AF1-48220BE9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709160"/>
            <a:ext cx="10762488" cy="777240"/>
          </a:xfrm>
          <a:prstGeom xmlns:a="http://schemas.openxmlformats.org/drawingml/2006/main" prst="roundRect">
            <a:avLst>
              <a:gd name="adj" fmla="val 15294"/>
            </a:avLst>
          </a:prstGeom>
          <a:solidFill xmlns:a="http://schemas.openxmlformats.org/drawingml/2006/main">
            <a:srgbClr val="C6E9E6"/>
          </a:solidFill>
          <a:ln xmlns:a="http://schemas.openxmlformats.org/drawingml/2006/main" w="12700">
            <a:solidFill>
              <a:srgbClr val="C6E9E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776C950-99EF-4715-9FA6-8901E61E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910328"/>
            <a:ext cx="101132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99" b="1" lang="en-US">
                <a:latin typeface="Aptos"/>
                <a:ea typeface="Aptos"/>
                <a:cs typeface="Aptos"/>
              </a:defRPr>
            </a:defPPr>
            <a:lvl1pPr>
              <a:defRPr sz="1899" b="1" lang="en-US">
                <a:latin typeface="Aptos"/>
                <a:ea typeface="Aptos"/>
                <a:cs typeface="Aptos"/>
              </a:defRPr>
            </a:lvl1pPr>
            <a:lvl2pPr>
              <a:defRPr sz="1899" b="1" lang="en-US">
                <a:latin typeface="Aptos"/>
                <a:ea typeface="Aptos"/>
                <a:cs typeface="Aptos"/>
              </a:defRPr>
            </a:lvl2pPr>
            <a:lvl3pPr>
              <a:defRPr sz="1899" b="1" lang="en-US">
                <a:latin typeface="Aptos"/>
                <a:ea typeface="Aptos"/>
                <a:cs typeface="Aptos"/>
              </a:defRPr>
            </a:lvl3pPr>
            <a:lvl4pPr>
              <a:defRPr sz="1899" b="1" lang="en-US">
                <a:latin typeface="Aptos"/>
                <a:ea typeface="Aptos"/>
                <a:cs typeface="Aptos"/>
              </a:defRPr>
            </a:lvl4pPr>
            <a:lvl5pPr>
              <a:defRPr sz="1899" b="1" lang="en-US">
                <a:latin typeface="Aptos"/>
                <a:ea typeface="Aptos"/>
                <a:cs typeface="Aptos"/>
              </a:defRPr>
            </a:lvl5pPr>
            <a:lvl6pPr>
              <a:defRPr sz="1899" b="1" lang="en-US">
                <a:latin typeface="Aptos"/>
                <a:ea typeface="Aptos"/>
                <a:cs typeface="Aptos"/>
              </a:defRPr>
            </a:lvl6pPr>
            <a:lvl7pPr>
              <a:defRPr sz="1899" b="1" lang="en-US">
                <a:latin typeface="Aptos"/>
                <a:ea typeface="Aptos"/>
                <a:cs typeface="Aptos"/>
              </a:defRPr>
            </a:lvl7pPr>
            <a:lvl8pPr>
              <a:defRPr sz="1899" b="1" lang="en-US">
                <a:latin typeface="Aptos"/>
                <a:ea typeface="Aptos"/>
                <a:cs typeface="Aptos"/>
              </a:defRPr>
            </a:lvl8pPr>
            <a:lvl9pPr>
              <a:defRPr sz="18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8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50% less downtime does NOT mean 50% more total production.</a:t>
            </a:r>
            <a:endParaRPr sz="1900" lang="en-US"/>
          </a:p>
        </p:txBody>
      </p:sp>
    </p:spTree>
    <p:extLst>
      <p:ext uri="{BB962C8B-B14F-4D97-AF65-F5344CB8AC3E}">
        <p14:creationId xmlns:p14="http://schemas.microsoft.com/office/powerpoint/2010/main" val="172723538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77E11C-A425-42B4-B9DD-B40CE1EC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CONDITIONS FOR USE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359DF20-8139-4140-BCAF-EAAE6B93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The requirements for industrial AI adoption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842CB89-55D3-4596-8DE0-449DEE50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Buying a model is not the same as improving a factory.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769849E-B6C0-4736-897A-84346E00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984248"/>
            <a:ext cx="5394960" cy="1353312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22E9116-F814-4951-8C22-54E2EA49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94560"/>
            <a:ext cx="4919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1" lang="en-US">
                <a:latin typeface="Aptos"/>
                <a:ea typeface="Aptos"/>
                <a:cs typeface="Aptos"/>
              </a:defRPr>
            </a:defPPr>
            <a:lvl1pPr>
              <a:defRPr sz="2100" b="1" lang="en-US">
                <a:latin typeface="Aptos"/>
                <a:ea typeface="Aptos"/>
                <a:cs typeface="Aptos"/>
              </a:defRPr>
            </a:lvl1pPr>
            <a:lvl2pPr>
              <a:defRPr sz="2100" b="1" lang="en-US">
                <a:latin typeface="Aptos"/>
                <a:ea typeface="Aptos"/>
                <a:cs typeface="Aptos"/>
              </a:defRPr>
            </a:lvl2pPr>
            <a:lvl3pPr>
              <a:defRPr sz="2100" b="1" lang="en-US">
                <a:latin typeface="Aptos"/>
                <a:ea typeface="Aptos"/>
                <a:cs typeface="Aptos"/>
              </a:defRPr>
            </a:lvl3pPr>
            <a:lvl4pPr>
              <a:defRPr sz="2100" b="1" lang="en-US">
                <a:latin typeface="Aptos"/>
                <a:ea typeface="Aptos"/>
                <a:cs typeface="Aptos"/>
              </a:defRPr>
            </a:lvl4pPr>
            <a:lvl5pPr>
              <a:defRPr sz="2100" b="1" lang="en-US">
                <a:latin typeface="Aptos"/>
                <a:ea typeface="Aptos"/>
                <a:cs typeface="Aptos"/>
              </a:defRPr>
            </a:lvl5pPr>
            <a:lvl6pPr>
              <a:defRPr sz="2100" b="1" lang="en-US">
                <a:latin typeface="Aptos"/>
                <a:ea typeface="Aptos"/>
                <a:cs typeface="Aptos"/>
              </a:defRPr>
            </a:lvl6pPr>
            <a:lvl7pPr>
              <a:defRPr sz="2100" b="1" lang="en-US">
                <a:latin typeface="Aptos"/>
                <a:ea typeface="Aptos"/>
                <a:cs typeface="Aptos"/>
              </a:defRPr>
            </a:lvl7pPr>
            <a:lvl8pPr>
              <a:defRPr sz="2100" b="1" lang="en-US">
                <a:latin typeface="Aptos"/>
                <a:ea typeface="Aptos"/>
                <a:cs typeface="Aptos"/>
              </a:defRPr>
            </a:lvl8pPr>
            <a:lvl9pPr>
              <a:defRPr sz="2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100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DATA</a:t>
            </a:r>
            <a:endParaRPr sz="2100" lang="en-US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4C84384-44E6-441C-A30F-1D3CA0AC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706624"/>
            <a:ext cx="4800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lang="en-US">
                <a:latin typeface="Aptos"/>
                <a:ea typeface="Aptos"/>
                <a:cs typeface="Aptos"/>
              </a:defRPr>
            </a:defPPr>
            <a:lvl1pPr>
              <a:defRPr sz="1499" lang="en-US">
                <a:latin typeface="Aptos"/>
                <a:ea typeface="Aptos"/>
                <a:cs typeface="Aptos"/>
              </a:defRPr>
            </a:lvl1pPr>
            <a:lvl2pPr>
              <a:defRPr sz="1499" lang="en-US">
                <a:latin typeface="Aptos"/>
                <a:ea typeface="Aptos"/>
                <a:cs typeface="Aptos"/>
              </a:defRPr>
            </a:lvl2pPr>
            <a:lvl3pPr>
              <a:defRPr sz="1499" lang="en-US">
                <a:latin typeface="Aptos"/>
                <a:ea typeface="Aptos"/>
                <a:cs typeface="Aptos"/>
              </a:defRPr>
            </a:lvl3pPr>
            <a:lvl4pPr>
              <a:defRPr sz="1499" lang="en-US">
                <a:latin typeface="Aptos"/>
                <a:ea typeface="Aptos"/>
                <a:cs typeface="Aptos"/>
              </a:defRPr>
            </a:lvl4pPr>
            <a:lvl5pPr>
              <a:defRPr sz="1499" lang="en-US">
                <a:latin typeface="Aptos"/>
                <a:ea typeface="Aptos"/>
                <a:cs typeface="Aptos"/>
              </a:defRPr>
            </a:lvl5pPr>
            <a:lvl6pPr>
              <a:defRPr sz="1499" lang="en-US">
                <a:latin typeface="Aptos"/>
                <a:ea typeface="Aptos"/>
                <a:cs typeface="Aptos"/>
              </a:defRPr>
            </a:lvl6pPr>
            <a:lvl7pPr>
              <a:defRPr sz="1499" lang="en-US">
                <a:latin typeface="Aptos"/>
                <a:ea typeface="Aptos"/>
                <a:cs typeface="Aptos"/>
              </a:defRPr>
            </a:lvl7pPr>
            <a:lvl8pPr>
              <a:defRPr sz="1499" lang="en-US">
                <a:latin typeface="Aptos"/>
                <a:ea typeface="Aptos"/>
                <a:cs typeface="Aptos"/>
              </a:defRPr>
            </a:lvl8pPr>
            <a:lvl9pPr>
              <a:defRPr sz="149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Are the sensors reliable?</a:t>
            </a:r>
            <a:endParaRPr sz="1500" lang="en-US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9170A47-2C9F-4C82-A575-2CDC2C65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1984248"/>
            <a:ext cx="5394960" cy="1353312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A162577-4D9C-4181-8552-937E9548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194560"/>
            <a:ext cx="4919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1" lang="en-US">
                <a:latin typeface="Aptos"/>
                <a:ea typeface="Aptos"/>
                <a:cs typeface="Aptos"/>
              </a:defRPr>
            </a:defPPr>
            <a:lvl1pPr>
              <a:defRPr sz="2100" b="1" lang="en-US">
                <a:latin typeface="Aptos"/>
                <a:ea typeface="Aptos"/>
                <a:cs typeface="Aptos"/>
              </a:defRPr>
            </a:lvl1pPr>
            <a:lvl2pPr>
              <a:defRPr sz="2100" b="1" lang="en-US">
                <a:latin typeface="Aptos"/>
                <a:ea typeface="Aptos"/>
                <a:cs typeface="Aptos"/>
              </a:defRPr>
            </a:lvl2pPr>
            <a:lvl3pPr>
              <a:defRPr sz="2100" b="1" lang="en-US">
                <a:latin typeface="Aptos"/>
                <a:ea typeface="Aptos"/>
                <a:cs typeface="Aptos"/>
              </a:defRPr>
            </a:lvl3pPr>
            <a:lvl4pPr>
              <a:defRPr sz="2100" b="1" lang="en-US">
                <a:latin typeface="Aptos"/>
                <a:ea typeface="Aptos"/>
                <a:cs typeface="Aptos"/>
              </a:defRPr>
            </a:lvl4pPr>
            <a:lvl5pPr>
              <a:defRPr sz="2100" b="1" lang="en-US">
                <a:latin typeface="Aptos"/>
                <a:ea typeface="Aptos"/>
                <a:cs typeface="Aptos"/>
              </a:defRPr>
            </a:lvl5pPr>
            <a:lvl6pPr>
              <a:defRPr sz="2100" b="1" lang="en-US">
                <a:latin typeface="Aptos"/>
                <a:ea typeface="Aptos"/>
                <a:cs typeface="Aptos"/>
              </a:defRPr>
            </a:lvl6pPr>
            <a:lvl7pPr>
              <a:defRPr sz="2100" b="1" lang="en-US">
                <a:latin typeface="Aptos"/>
                <a:ea typeface="Aptos"/>
                <a:cs typeface="Aptos"/>
              </a:defRPr>
            </a:lvl7pPr>
            <a:lvl8pPr>
              <a:defRPr sz="2100" b="1" lang="en-US">
                <a:latin typeface="Aptos"/>
                <a:ea typeface="Aptos"/>
                <a:cs typeface="Aptos"/>
              </a:defRPr>
            </a:lvl8pPr>
            <a:lvl9pPr>
              <a:defRPr sz="2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100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MODELS</a:t>
            </a:r>
            <a:endParaRPr sz="2100" lang="en-US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F405DD3-4F6F-43FA-B7DF-17E9D409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2706624"/>
            <a:ext cx="4800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lang="en-US">
                <a:latin typeface="Aptos"/>
                <a:ea typeface="Aptos"/>
                <a:cs typeface="Aptos"/>
              </a:defRPr>
            </a:defPPr>
            <a:lvl1pPr>
              <a:defRPr sz="1499" lang="en-US">
                <a:latin typeface="Aptos"/>
                <a:ea typeface="Aptos"/>
                <a:cs typeface="Aptos"/>
              </a:defRPr>
            </a:lvl1pPr>
            <a:lvl2pPr>
              <a:defRPr sz="1499" lang="en-US">
                <a:latin typeface="Aptos"/>
                <a:ea typeface="Aptos"/>
                <a:cs typeface="Aptos"/>
              </a:defRPr>
            </a:lvl2pPr>
            <a:lvl3pPr>
              <a:defRPr sz="1499" lang="en-US">
                <a:latin typeface="Aptos"/>
                <a:ea typeface="Aptos"/>
                <a:cs typeface="Aptos"/>
              </a:defRPr>
            </a:lvl3pPr>
            <a:lvl4pPr>
              <a:defRPr sz="1499" lang="en-US">
                <a:latin typeface="Aptos"/>
                <a:ea typeface="Aptos"/>
                <a:cs typeface="Aptos"/>
              </a:defRPr>
            </a:lvl4pPr>
            <a:lvl5pPr>
              <a:defRPr sz="1499" lang="en-US">
                <a:latin typeface="Aptos"/>
                <a:ea typeface="Aptos"/>
                <a:cs typeface="Aptos"/>
              </a:defRPr>
            </a:lvl5pPr>
            <a:lvl6pPr>
              <a:defRPr sz="1499" lang="en-US">
                <a:latin typeface="Aptos"/>
                <a:ea typeface="Aptos"/>
                <a:cs typeface="Aptos"/>
              </a:defRPr>
            </a:lvl6pPr>
            <a:lvl7pPr>
              <a:defRPr sz="1499" lang="en-US">
                <a:latin typeface="Aptos"/>
                <a:ea typeface="Aptos"/>
                <a:cs typeface="Aptos"/>
              </a:defRPr>
            </a:lvl7pPr>
            <a:lvl8pPr>
              <a:defRPr sz="1499" lang="en-US">
                <a:latin typeface="Aptos"/>
                <a:ea typeface="Aptos"/>
                <a:cs typeface="Aptos"/>
              </a:defRPr>
            </a:lvl8pPr>
            <a:lvl9pPr>
              <a:defRPr sz="149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Do they solve a real problem?</a:t>
            </a:r>
            <a:endParaRPr sz="1500" lang="en-US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5A081B7-2746-4B87-9BC0-88D242DC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575304"/>
            <a:ext cx="5394960" cy="1353312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35A9B7C-3691-4A9D-B8C4-A298F587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85616"/>
            <a:ext cx="4919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1" lang="en-US">
                <a:latin typeface="Aptos"/>
                <a:ea typeface="Aptos"/>
                <a:cs typeface="Aptos"/>
              </a:defRPr>
            </a:defPPr>
            <a:lvl1pPr>
              <a:defRPr sz="2100" b="1" lang="en-US">
                <a:latin typeface="Aptos"/>
                <a:ea typeface="Aptos"/>
                <a:cs typeface="Aptos"/>
              </a:defRPr>
            </a:lvl1pPr>
            <a:lvl2pPr>
              <a:defRPr sz="2100" b="1" lang="en-US">
                <a:latin typeface="Aptos"/>
                <a:ea typeface="Aptos"/>
                <a:cs typeface="Aptos"/>
              </a:defRPr>
            </a:lvl2pPr>
            <a:lvl3pPr>
              <a:defRPr sz="2100" b="1" lang="en-US">
                <a:latin typeface="Aptos"/>
                <a:ea typeface="Aptos"/>
                <a:cs typeface="Aptos"/>
              </a:defRPr>
            </a:lvl3pPr>
            <a:lvl4pPr>
              <a:defRPr sz="2100" b="1" lang="en-US">
                <a:latin typeface="Aptos"/>
                <a:ea typeface="Aptos"/>
                <a:cs typeface="Aptos"/>
              </a:defRPr>
            </a:lvl4pPr>
            <a:lvl5pPr>
              <a:defRPr sz="2100" b="1" lang="en-US">
                <a:latin typeface="Aptos"/>
                <a:ea typeface="Aptos"/>
                <a:cs typeface="Aptos"/>
              </a:defRPr>
            </a:lvl5pPr>
            <a:lvl6pPr>
              <a:defRPr sz="2100" b="1" lang="en-US">
                <a:latin typeface="Aptos"/>
                <a:ea typeface="Aptos"/>
                <a:cs typeface="Aptos"/>
              </a:defRPr>
            </a:lvl6pPr>
            <a:lvl7pPr>
              <a:defRPr sz="2100" b="1" lang="en-US">
                <a:latin typeface="Aptos"/>
                <a:ea typeface="Aptos"/>
                <a:cs typeface="Aptos"/>
              </a:defRPr>
            </a:lvl7pPr>
            <a:lvl8pPr>
              <a:defRPr sz="2100" b="1" lang="en-US">
                <a:latin typeface="Aptos"/>
                <a:ea typeface="Aptos"/>
                <a:cs typeface="Aptos"/>
              </a:defRPr>
            </a:lvl8pPr>
            <a:lvl9pPr>
              <a:defRPr sz="2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100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PEOPLE</a:t>
            </a:r>
            <a:endParaRPr sz="2100" lang="en-US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0A70DD7-1596-4F14-9165-C246BE52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297680"/>
            <a:ext cx="4800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lang="en-US">
                <a:latin typeface="Aptos"/>
                <a:ea typeface="Aptos"/>
                <a:cs typeface="Aptos"/>
              </a:defRPr>
            </a:defPPr>
            <a:lvl1pPr>
              <a:defRPr sz="1499" lang="en-US">
                <a:latin typeface="Aptos"/>
                <a:ea typeface="Aptos"/>
                <a:cs typeface="Aptos"/>
              </a:defRPr>
            </a:lvl1pPr>
            <a:lvl2pPr>
              <a:defRPr sz="1499" lang="en-US">
                <a:latin typeface="Aptos"/>
                <a:ea typeface="Aptos"/>
                <a:cs typeface="Aptos"/>
              </a:defRPr>
            </a:lvl2pPr>
            <a:lvl3pPr>
              <a:defRPr sz="1499" lang="en-US">
                <a:latin typeface="Aptos"/>
                <a:ea typeface="Aptos"/>
                <a:cs typeface="Aptos"/>
              </a:defRPr>
            </a:lvl3pPr>
            <a:lvl4pPr>
              <a:defRPr sz="1499" lang="en-US">
                <a:latin typeface="Aptos"/>
                <a:ea typeface="Aptos"/>
                <a:cs typeface="Aptos"/>
              </a:defRPr>
            </a:lvl4pPr>
            <a:lvl5pPr>
              <a:defRPr sz="1499" lang="en-US">
                <a:latin typeface="Aptos"/>
                <a:ea typeface="Aptos"/>
                <a:cs typeface="Aptos"/>
              </a:defRPr>
            </a:lvl5pPr>
            <a:lvl6pPr>
              <a:defRPr sz="1499" lang="en-US">
                <a:latin typeface="Aptos"/>
                <a:ea typeface="Aptos"/>
                <a:cs typeface="Aptos"/>
              </a:defRPr>
            </a:lvl6pPr>
            <a:lvl7pPr>
              <a:defRPr sz="1499" lang="en-US">
                <a:latin typeface="Aptos"/>
                <a:ea typeface="Aptos"/>
                <a:cs typeface="Aptos"/>
              </a:defRPr>
            </a:lvl7pPr>
            <a:lvl8pPr>
              <a:defRPr sz="1499" lang="en-US">
                <a:latin typeface="Aptos"/>
                <a:ea typeface="Aptos"/>
                <a:cs typeface="Aptos"/>
              </a:defRPr>
            </a:lvl8pPr>
            <a:lvl9pPr>
              <a:defRPr sz="149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Who validates and repairs?</a:t>
            </a:r>
            <a:endParaRPr sz="1500" lang="en-US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AAD7F86-FE11-4A6A-9089-E9CE8065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3575304"/>
            <a:ext cx="5394960" cy="1353312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AF127F4-A1D8-4E04-B68F-F6013F6F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785616"/>
            <a:ext cx="4919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1" lang="en-US">
                <a:latin typeface="Aptos"/>
                <a:ea typeface="Aptos"/>
                <a:cs typeface="Aptos"/>
              </a:defRPr>
            </a:defPPr>
            <a:lvl1pPr>
              <a:defRPr sz="2100" b="1" lang="en-US">
                <a:latin typeface="Aptos"/>
                <a:ea typeface="Aptos"/>
                <a:cs typeface="Aptos"/>
              </a:defRPr>
            </a:lvl1pPr>
            <a:lvl2pPr>
              <a:defRPr sz="2100" b="1" lang="en-US">
                <a:latin typeface="Aptos"/>
                <a:ea typeface="Aptos"/>
                <a:cs typeface="Aptos"/>
              </a:defRPr>
            </a:lvl2pPr>
            <a:lvl3pPr>
              <a:defRPr sz="2100" b="1" lang="en-US">
                <a:latin typeface="Aptos"/>
                <a:ea typeface="Aptos"/>
                <a:cs typeface="Aptos"/>
              </a:defRPr>
            </a:lvl3pPr>
            <a:lvl4pPr>
              <a:defRPr sz="2100" b="1" lang="en-US">
                <a:latin typeface="Aptos"/>
                <a:ea typeface="Aptos"/>
                <a:cs typeface="Aptos"/>
              </a:defRPr>
            </a:lvl4pPr>
            <a:lvl5pPr>
              <a:defRPr sz="2100" b="1" lang="en-US">
                <a:latin typeface="Aptos"/>
                <a:ea typeface="Aptos"/>
                <a:cs typeface="Aptos"/>
              </a:defRPr>
            </a:lvl5pPr>
            <a:lvl6pPr>
              <a:defRPr sz="2100" b="1" lang="en-US">
                <a:latin typeface="Aptos"/>
                <a:ea typeface="Aptos"/>
                <a:cs typeface="Aptos"/>
              </a:defRPr>
            </a:lvl6pPr>
            <a:lvl7pPr>
              <a:defRPr sz="2100" b="1" lang="en-US">
                <a:latin typeface="Aptos"/>
                <a:ea typeface="Aptos"/>
                <a:cs typeface="Aptos"/>
              </a:defRPr>
            </a:lvl7pPr>
            <a:lvl8pPr>
              <a:defRPr sz="2100" b="1" lang="en-US">
                <a:latin typeface="Aptos"/>
                <a:ea typeface="Aptos"/>
                <a:cs typeface="Aptos"/>
              </a:defRPr>
            </a:lvl8pPr>
            <a:lvl9pPr>
              <a:defRPr sz="2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100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PROCESSES</a:t>
            </a:r>
            <a:endParaRPr sz="2100" lang="en-US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29C1777-6FF2-4F48-8C03-4270CA22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4297680"/>
            <a:ext cx="4800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lang="en-US">
                <a:latin typeface="Aptos"/>
                <a:ea typeface="Aptos"/>
                <a:cs typeface="Aptos"/>
              </a:defRPr>
            </a:defPPr>
            <a:lvl1pPr>
              <a:defRPr sz="1499" lang="en-US">
                <a:latin typeface="Aptos"/>
                <a:ea typeface="Aptos"/>
                <a:cs typeface="Aptos"/>
              </a:defRPr>
            </a:lvl1pPr>
            <a:lvl2pPr>
              <a:defRPr sz="1499" lang="en-US">
                <a:latin typeface="Aptos"/>
                <a:ea typeface="Aptos"/>
                <a:cs typeface="Aptos"/>
              </a:defRPr>
            </a:lvl2pPr>
            <a:lvl3pPr>
              <a:defRPr sz="1499" lang="en-US">
                <a:latin typeface="Aptos"/>
                <a:ea typeface="Aptos"/>
                <a:cs typeface="Aptos"/>
              </a:defRPr>
            </a:lvl3pPr>
            <a:lvl4pPr>
              <a:defRPr sz="1499" lang="en-US">
                <a:latin typeface="Aptos"/>
                <a:ea typeface="Aptos"/>
                <a:cs typeface="Aptos"/>
              </a:defRPr>
            </a:lvl4pPr>
            <a:lvl5pPr>
              <a:defRPr sz="1499" lang="en-US">
                <a:latin typeface="Aptos"/>
                <a:ea typeface="Aptos"/>
                <a:cs typeface="Aptos"/>
              </a:defRPr>
            </a:lvl5pPr>
            <a:lvl6pPr>
              <a:defRPr sz="1499" lang="en-US">
                <a:latin typeface="Aptos"/>
                <a:ea typeface="Aptos"/>
                <a:cs typeface="Aptos"/>
              </a:defRPr>
            </a:lvl6pPr>
            <a:lvl7pPr>
              <a:defRPr sz="1499" lang="en-US">
                <a:latin typeface="Aptos"/>
                <a:ea typeface="Aptos"/>
                <a:cs typeface="Aptos"/>
              </a:defRPr>
            </a:lvl7pPr>
            <a:lvl8pPr>
              <a:defRPr sz="1499" lang="en-US">
                <a:latin typeface="Aptos"/>
                <a:ea typeface="Aptos"/>
                <a:cs typeface="Aptos"/>
              </a:defRPr>
            </a:lvl8pPr>
            <a:lvl9pPr>
              <a:defRPr sz="149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Can the decision actually be implemented?</a:t>
            </a:r>
            <a:endParaRPr sz="1500" lang="en-US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D5F7555-A243-459B-9D74-F0EA0B3C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2392"/>
            <a:ext cx="10817352" cy="402336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8748449-27E9-450D-8AEC-6CECB02A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5495544"/>
            <a:ext cx="101864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99" b="1" lang="en-US">
                <a:latin typeface="Aptos"/>
                <a:ea typeface="Aptos"/>
                <a:cs typeface="Aptos"/>
              </a:defRPr>
            </a:defPPr>
            <a:lvl1pPr>
              <a:defRPr sz="1599" b="1" lang="en-US">
                <a:latin typeface="Aptos"/>
                <a:ea typeface="Aptos"/>
                <a:cs typeface="Aptos"/>
              </a:defRPr>
            </a:lvl1pPr>
            <a:lvl2pPr>
              <a:defRPr sz="1599" b="1" lang="en-US">
                <a:latin typeface="Aptos"/>
                <a:ea typeface="Aptos"/>
                <a:cs typeface="Aptos"/>
              </a:defRPr>
            </a:lvl2pPr>
            <a:lvl3pPr>
              <a:defRPr sz="1599" b="1" lang="en-US">
                <a:latin typeface="Aptos"/>
                <a:ea typeface="Aptos"/>
                <a:cs typeface="Aptos"/>
              </a:defRPr>
            </a:lvl3pPr>
            <a:lvl4pPr>
              <a:defRPr sz="1599" b="1" lang="en-US">
                <a:latin typeface="Aptos"/>
                <a:ea typeface="Aptos"/>
                <a:cs typeface="Aptos"/>
              </a:defRPr>
            </a:lvl4pPr>
            <a:lvl5pPr>
              <a:defRPr sz="1599" b="1" lang="en-US">
                <a:latin typeface="Aptos"/>
                <a:ea typeface="Aptos"/>
                <a:cs typeface="Aptos"/>
              </a:defRPr>
            </a:lvl5pPr>
            <a:lvl6pPr>
              <a:defRPr sz="1599" b="1" lang="en-US">
                <a:latin typeface="Aptos"/>
                <a:ea typeface="Aptos"/>
                <a:cs typeface="Aptos"/>
              </a:defRPr>
            </a:lvl6pPr>
            <a:lvl7pPr>
              <a:defRPr sz="1599" b="1" lang="en-US">
                <a:latin typeface="Aptos"/>
                <a:ea typeface="Aptos"/>
                <a:cs typeface="Aptos"/>
              </a:defRPr>
            </a:lvl7pPr>
            <a:lvl8pPr>
              <a:defRPr sz="1599" b="1" lang="en-US">
                <a:latin typeface="Aptos"/>
                <a:ea typeface="Aptos"/>
                <a:cs typeface="Aptos"/>
              </a:defRPr>
            </a:lvl8pPr>
            <a:lvl9pPr>
              <a:defRPr sz="15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599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Integration determines how effectively technology is used.</a:t>
            </a:r>
            <a:endParaRPr sz="1600" lang="en-US"/>
          </a:p>
        </p:txBody>
      </p:sp>
    </p:spTree>
    <p:extLst>
      <p:ext uri="{BB962C8B-B14F-4D97-AF65-F5344CB8AC3E}">
        <p14:creationId xmlns:p14="http://schemas.microsoft.com/office/powerpoint/2010/main" val="174448806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0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D990CCF6-032F-4101-B1F5-08297F3009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51578e23f14cbd"/>
          <a:srcRect xmlns:a="http://schemas.openxmlformats.org/drawingml/2006/main" l="22056" t="0" r="22056" b="0"/>
          <a:stretch xmlns:a="http://schemas.openxmlformats.org/drawingml/2006/main"/>
        </p:blipFill>
        <p:spPr>
          <a:xfrm xmlns:a="http://schemas.openxmlformats.org/drawingml/2006/main">
            <a:off x="6400800" y="0"/>
            <a:ext cx="57908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4264B62D-3698-4928-9A83-B3D33EA1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0"/>
            <a:ext cx="109728" cy="6858000"/>
          </a:xfrm>
          <a:prstGeom xmlns:a="http://schemas.openxmlformats.org/drawingml/2006/main" prst="roundRect">
            <a:avLst>
              <a:gd name="adj" fmla="val 133333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FE97831-AB22-4F53-8691-F8235641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01" b="1" lang="en-US">
                <a:latin typeface="Aptos"/>
                <a:ea typeface="Aptos"/>
                <a:cs typeface="Aptos"/>
              </a:defRPr>
            </a:defPPr>
            <a:lvl1pPr>
              <a:defRPr sz="1301" b="1" lang="en-US">
                <a:latin typeface="Aptos"/>
                <a:ea typeface="Aptos"/>
                <a:cs typeface="Aptos"/>
              </a:defRPr>
            </a:lvl1pPr>
            <a:lvl2pPr>
              <a:defRPr sz="1301" b="1" lang="en-US">
                <a:latin typeface="Aptos"/>
                <a:ea typeface="Aptos"/>
                <a:cs typeface="Aptos"/>
              </a:defRPr>
            </a:lvl2pPr>
            <a:lvl3pPr>
              <a:defRPr sz="1301" b="1" lang="en-US">
                <a:latin typeface="Aptos"/>
                <a:ea typeface="Aptos"/>
                <a:cs typeface="Aptos"/>
              </a:defRPr>
            </a:lvl3pPr>
            <a:lvl4pPr>
              <a:defRPr sz="1301" b="1" lang="en-US">
                <a:latin typeface="Aptos"/>
                <a:ea typeface="Aptos"/>
                <a:cs typeface="Aptos"/>
              </a:defRPr>
            </a:lvl4pPr>
            <a:lvl5pPr>
              <a:defRPr sz="1301" b="1" lang="en-US">
                <a:latin typeface="Aptos"/>
                <a:ea typeface="Aptos"/>
                <a:cs typeface="Aptos"/>
              </a:defRPr>
            </a:lvl5pPr>
            <a:lvl6pPr>
              <a:defRPr sz="1301" b="1" lang="en-US">
                <a:latin typeface="Aptos"/>
                <a:ea typeface="Aptos"/>
                <a:cs typeface="Aptos"/>
              </a:defRPr>
            </a:lvl6pPr>
            <a:lvl7pPr>
              <a:defRPr sz="1301" b="1" lang="en-US">
                <a:latin typeface="Aptos"/>
                <a:ea typeface="Aptos"/>
                <a:cs typeface="Aptos"/>
              </a:defRPr>
            </a:lvl7pPr>
            <a:lvl8pPr>
              <a:defRPr sz="1301" b="1" lang="en-US">
                <a:latin typeface="Aptos"/>
                <a:ea typeface="Aptos"/>
                <a:cs typeface="Aptos"/>
              </a:defRPr>
            </a:lvl8pPr>
            <a:lvl9pPr>
              <a:defRPr sz="13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01" b="1" spc="200" lang="en-US">
                <a:solidFill>
                  <a:srgbClr val="E6AB50"/>
                </a:solidFill>
                <a:latin typeface="Aptos"/>
                <a:ea typeface="Aptos"/>
                <a:cs typeface="Aptos"/>
              </a:rPr>
              <a:t>SECTION 04</a:t>
            </a:r>
            <a:endParaRPr sz="1300" lang="en-US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EA50BC1-D0B7-4BAE-B2D7-138A10D3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07008"/>
            <a:ext cx="5394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00" b="1" lang="en-US">
                <a:latin typeface="Aptos"/>
                <a:ea typeface="Aptos"/>
                <a:cs typeface="Aptos"/>
              </a:defRPr>
            </a:defPPr>
            <a:lvl1pPr>
              <a:defRPr sz="2200" b="1" lang="en-US">
                <a:latin typeface="Aptos"/>
                <a:ea typeface="Aptos"/>
                <a:cs typeface="Aptos"/>
              </a:defRPr>
            </a:lvl1pPr>
            <a:lvl2pPr>
              <a:defRPr sz="2200" b="1" lang="en-US">
                <a:latin typeface="Aptos"/>
                <a:ea typeface="Aptos"/>
                <a:cs typeface="Aptos"/>
              </a:defRPr>
            </a:lvl2pPr>
            <a:lvl3pPr>
              <a:defRPr sz="2200" b="1" lang="en-US">
                <a:latin typeface="Aptos"/>
                <a:ea typeface="Aptos"/>
                <a:cs typeface="Aptos"/>
              </a:defRPr>
            </a:lvl3pPr>
            <a:lvl4pPr>
              <a:defRPr sz="2200" b="1" lang="en-US">
                <a:latin typeface="Aptos"/>
                <a:ea typeface="Aptos"/>
                <a:cs typeface="Aptos"/>
              </a:defRPr>
            </a:lvl4pPr>
            <a:lvl5pPr>
              <a:defRPr sz="2200" b="1" lang="en-US">
                <a:latin typeface="Aptos"/>
                <a:ea typeface="Aptos"/>
                <a:cs typeface="Aptos"/>
              </a:defRPr>
            </a:lvl5pPr>
            <a:lvl6pPr>
              <a:defRPr sz="2200" b="1" lang="en-US">
                <a:latin typeface="Aptos"/>
                <a:ea typeface="Aptos"/>
                <a:cs typeface="Aptos"/>
              </a:defRPr>
            </a:lvl6pPr>
            <a:lvl7pPr>
              <a:defRPr sz="2200" b="1" lang="en-US">
                <a:latin typeface="Aptos"/>
                <a:ea typeface="Aptos"/>
                <a:cs typeface="Aptos"/>
              </a:defRPr>
            </a:lvl7pPr>
            <a:lvl8pPr>
              <a:defRPr sz="2200" b="1" lang="en-US">
                <a:latin typeface="Aptos"/>
                <a:ea typeface="Aptos"/>
                <a:cs typeface="Aptos"/>
              </a:defRPr>
            </a:lvl8pPr>
            <a:lvl9pPr>
              <a:defRPr sz="22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200" b="1" spc="120" lang="en-US">
                <a:solidFill>
                  <a:srgbClr val="C6E9E6"/>
                </a:solidFill>
                <a:latin typeface="Aptos"/>
                <a:ea typeface="Aptos"/>
                <a:cs typeface="Aptos"/>
              </a:rPr>
              <a:t>STRATEGY 2030</a:t>
            </a:r>
            <a:endParaRPr sz="2200" lang="en-US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1495FF7-567A-4C0A-A905-83BF6B53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557784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1" b="1" lang="en-US">
                <a:latin typeface="Aptos"/>
                <a:ea typeface="Aptos"/>
                <a:cs typeface="Aptos"/>
              </a:defRPr>
            </a:defPPr>
            <a:lvl1pPr>
              <a:defRPr sz="3901" b="1" lang="en-US">
                <a:latin typeface="Aptos"/>
                <a:ea typeface="Aptos"/>
                <a:cs typeface="Aptos"/>
              </a:defRPr>
            </a:lvl1pPr>
            <a:lvl2pPr>
              <a:defRPr sz="3901" b="1" lang="en-US">
                <a:latin typeface="Aptos"/>
                <a:ea typeface="Aptos"/>
                <a:cs typeface="Aptos"/>
              </a:defRPr>
            </a:lvl2pPr>
            <a:lvl3pPr>
              <a:defRPr sz="3901" b="1" lang="en-US">
                <a:latin typeface="Aptos"/>
                <a:ea typeface="Aptos"/>
                <a:cs typeface="Aptos"/>
              </a:defRPr>
            </a:lvl3pPr>
            <a:lvl4pPr>
              <a:defRPr sz="3901" b="1" lang="en-US">
                <a:latin typeface="Aptos"/>
                <a:ea typeface="Aptos"/>
                <a:cs typeface="Aptos"/>
              </a:defRPr>
            </a:lvl4pPr>
            <a:lvl5pPr>
              <a:defRPr sz="3901" b="1" lang="en-US">
                <a:latin typeface="Aptos"/>
                <a:ea typeface="Aptos"/>
                <a:cs typeface="Aptos"/>
              </a:defRPr>
            </a:lvl5pPr>
            <a:lvl6pPr>
              <a:defRPr sz="3901" b="1" lang="en-US">
                <a:latin typeface="Aptos"/>
                <a:ea typeface="Aptos"/>
                <a:cs typeface="Aptos"/>
              </a:defRPr>
            </a:lvl6pPr>
            <a:lvl7pPr>
              <a:defRPr sz="3901" b="1" lang="en-US">
                <a:latin typeface="Aptos"/>
                <a:ea typeface="Aptos"/>
                <a:cs typeface="Aptos"/>
              </a:defRPr>
            </a:lvl7pPr>
            <a:lvl8pPr>
              <a:defRPr sz="3901" b="1" lang="en-US">
                <a:latin typeface="Aptos"/>
                <a:ea typeface="Aptos"/>
                <a:cs typeface="Aptos"/>
              </a:defRPr>
            </a:lvl8pPr>
            <a:lvl9pPr>
              <a:defRPr sz="39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390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15th</a:t>
            </a:r>
          </a:p>
          <a:p xmlns:a="http://schemas.openxmlformats.org/drawingml/2006/main">
            <a:pPr marL="0" indent="0" algn="l">
              <a:buNone/>
            </a:pPr>
            <a:r>
              <a:rPr sz="390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Five-Year Plan:</a:t>
            </a:r>
          </a:p>
          <a:p xmlns:a="http://schemas.openxmlformats.org/drawingml/2006/main">
            <a:pPr marL="0" indent="0" algn="l">
              <a:buNone/>
            </a:pPr>
            <a:r>
              <a:rPr sz="390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new productive</a:t>
            </a:r>
          </a:p>
          <a:p xmlns:a="http://schemas.openxmlformats.org/drawingml/2006/main">
            <a:pPr marL="0" indent="0" algn="l">
              <a:buNone/>
            </a:pPr>
            <a:r>
              <a:rPr sz="390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capabilities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DAF40E9-BC68-4A60-A674-6293BD71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09160"/>
            <a:ext cx="55778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01" lang="en-US">
                <a:latin typeface="Aptos"/>
                <a:ea typeface="Aptos"/>
                <a:cs typeface="Aptos"/>
              </a:defRPr>
            </a:defPPr>
            <a:lvl1pPr>
              <a:defRPr sz="1701" lang="en-US">
                <a:latin typeface="Aptos"/>
                <a:ea typeface="Aptos"/>
                <a:cs typeface="Aptos"/>
              </a:defRPr>
            </a:lvl1pPr>
            <a:lvl2pPr>
              <a:defRPr sz="1701" lang="en-US">
                <a:latin typeface="Aptos"/>
                <a:ea typeface="Aptos"/>
                <a:cs typeface="Aptos"/>
              </a:defRPr>
            </a:lvl2pPr>
            <a:lvl3pPr>
              <a:defRPr sz="1701" lang="en-US">
                <a:latin typeface="Aptos"/>
                <a:ea typeface="Aptos"/>
                <a:cs typeface="Aptos"/>
              </a:defRPr>
            </a:lvl3pPr>
            <a:lvl4pPr>
              <a:defRPr sz="1701" lang="en-US">
                <a:latin typeface="Aptos"/>
                <a:ea typeface="Aptos"/>
                <a:cs typeface="Aptos"/>
              </a:defRPr>
            </a:lvl4pPr>
            <a:lvl5pPr>
              <a:defRPr sz="1701" lang="en-US">
                <a:latin typeface="Aptos"/>
                <a:ea typeface="Aptos"/>
                <a:cs typeface="Aptos"/>
              </a:defRPr>
            </a:lvl5pPr>
            <a:lvl6pPr>
              <a:defRPr sz="1701" lang="en-US">
                <a:latin typeface="Aptos"/>
                <a:ea typeface="Aptos"/>
                <a:cs typeface="Aptos"/>
              </a:defRPr>
            </a:lvl6pPr>
            <a:lvl7pPr>
              <a:defRPr sz="1701" lang="en-US">
                <a:latin typeface="Aptos"/>
                <a:ea typeface="Aptos"/>
                <a:cs typeface="Aptos"/>
              </a:defRPr>
            </a:lvl7pPr>
            <a:lvl8pPr>
              <a:defRPr sz="1701" lang="en-US">
                <a:latin typeface="Aptos"/>
                <a:ea typeface="Aptos"/>
                <a:cs typeface="Aptos"/>
              </a:defRPr>
            </a:lvl8pPr>
            <a:lvl9pPr>
              <a:defRPr sz="170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701" lang="en-US">
                <a:solidFill>
                  <a:srgbClr val="DEE8F0"/>
                </a:solidFill>
                <a:latin typeface="Aptos"/>
                <a:ea typeface="Aptos"/>
                <a:cs typeface="Aptos"/>
              </a:rPr>
              <a:t>The objective is to reshape the industry's technology mix, not merely increase its output.</a:t>
            </a:r>
          </a:p>
        </p:txBody>
      </p:sp>
      <p:sp>
        <p:nvSpPr>
          <p:cNvPr id="8" name="illustration-caption-background">
            <a:extLst xmlns:a="http://schemas.openxmlformats.org/drawingml/2006/main">
              <a:ext uri="{FF2B5EF4-FFF2-40B4-BE49-F238E27FC236}">
                <a16:creationId xmlns:a16="http://schemas.microsoft.com/office/drawing/2014/main" id="{2E649D35-6482-4F54-9F70-E200FC2F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33350"/>
            <a:ext cx="1733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llustration-caption">
            <a:extLst xmlns:a="http://schemas.openxmlformats.org/drawingml/2006/main">
              <a:ext uri="{FF2B5EF4-FFF2-40B4-BE49-F238E27FC236}">
                <a16:creationId xmlns:a16="http://schemas.microsoft.com/office/drawing/2014/main" id="{9AD5049C-5EAC-42DB-8024-E3B9057F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19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11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1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CONCEPTUAL ILLUSTRATION</a:t>
            </a:r>
          </a:p>
        </p:txBody>
      </p:sp>
    </p:spTree>
    <p:extLst>
      <p:ext uri="{BB962C8B-B14F-4D97-AF65-F5344CB8AC3E}">
        <p14:creationId xmlns:p14="http://schemas.microsoft.com/office/powerpoint/2010/main" val="92381322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87FDBEA-ACDB-4103-A84A-9343BCE7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THREE POLICY HORIZONS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2A1C52A-9D45-4668-A009-0952C1C4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Three instruments of industrial modernization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B6EFE04-5912-4A01-A27E-F0FCCCA2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Distinct instruments that overlap and respond to changing needs.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8370A32-5FC7-4DD0-BD8F-69593C71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02536"/>
            <a:ext cx="3639312" cy="3282696"/>
          </a:xfrm>
          <a:prstGeom xmlns:a="http://schemas.openxmlformats.org/drawingml/2006/main" prst="roundRect">
            <a:avLst>
              <a:gd name="adj" fmla="val 39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7EC8FB2-8410-457C-8014-27479AB1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295144"/>
            <a:ext cx="150876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03018E5-53A9-431D-BD93-2330B1E1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2313432"/>
            <a:ext cx="12893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40" b="1" lang="en-US">
                <a:latin typeface="Aptos"/>
                <a:ea typeface="Aptos"/>
                <a:cs typeface="Aptos"/>
              </a:defRPr>
            </a:defPPr>
            <a:lvl1pPr>
              <a:defRPr sz="1040" b="1" lang="en-US">
                <a:latin typeface="Aptos"/>
                <a:ea typeface="Aptos"/>
                <a:cs typeface="Aptos"/>
              </a:defRPr>
            </a:lvl1pPr>
            <a:lvl2pPr>
              <a:defRPr sz="1040" b="1" lang="en-US">
                <a:latin typeface="Aptos"/>
                <a:ea typeface="Aptos"/>
                <a:cs typeface="Aptos"/>
              </a:defRPr>
            </a:lvl2pPr>
            <a:lvl3pPr>
              <a:defRPr sz="1040" b="1" lang="en-US">
                <a:latin typeface="Aptos"/>
                <a:ea typeface="Aptos"/>
                <a:cs typeface="Aptos"/>
              </a:defRPr>
            </a:lvl3pPr>
            <a:lvl4pPr>
              <a:defRPr sz="1040" b="1" lang="en-US">
                <a:latin typeface="Aptos"/>
                <a:ea typeface="Aptos"/>
                <a:cs typeface="Aptos"/>
              </a:defRPr>
            </a:lvl4pPr>
            <a:lvl5pPr>
              <a:defRPr sz="1040" b="1" lang="en-US">
                <a:latin typeface="Aptos"/>
                <a:ea typeface="Aptos"/>
                <a:cs typeface="Aptos"/>
              </a:defRPr>
            </a:lvl5pPr>
            <a:lvl6pPr>
              <a:defRPr sz="1040" b="1" lang="en-US">
                <a:latin typeface="Aptos"/>
                <a:ea typeface="Aptos"/>
                <a:cs typeface="Aptos"/>
              </a:defRPr>
            </a:lvl6pPr>
            <a:lvl7pPr>
              <a:defRPr sz="1040" b="1" lang="en-US">
                <a:latin typeface="Aptos"/>
                <a:ea typeface="Aptos"/>
                <a:cs typeface="Aptos"/>
              </a:defRPr>
            </a:lvl7pPr>
            <a:lvl8pPr>
              <a:defRPr sz="1040" b="1" lang="en-US">
                <a:latin typeface="Aptos"/>
                <a:ea typeface="Aptos"/>
                <a:cs typeface="Aptos"/>
              </a:defRPr>
            </a:lvl8pPr>
            <a:lvl9pPr>
              <a:defRPr sz="104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040" b="1" spc="70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2015</a:t>
            </a:r>
            <a:endParaRPr sz="1040" lang="en-US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76F8F88-849E-4F80-A46E-5736A697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935224"/>
            <a:ext cx="3182112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 lang="en-US">
                <a:latin typeface="Aptos"/>
                <a:ea typeface="Aptos"/>
                <a:cs typeface="Aptos"/>
              </a:defRPr>
            </a:defPPr>
            <a:lvl1pPr>
              <a:defRPr sz="2100" b="1" lang="en-US">
                <a:latin typeface="Aptos"/>
                <a:ea typeface="Aptos"/>
                <a:cs typeface="Aptos"/>
              </a:defRPr>
            </a:lvl1pPr>
            <a:lvl2pPr>
              <a:defRPr sz="2100" b="1" lang="en-US">
                <a:latin typeface="Aptos"/>
                <a:ea typeface="Aptos"/>
                <a:cs typeface="Aptos"/>
              </a:defRPr>
            </a:lvl2pPr>
            <a:lvl3pPr>
              <a:defRPr sz="2100" b="1" lang="en-US">
                <a:latin typeface="Aptos"/>
                <a:ea typeface="Aptos"/>
                <a:cs typeface="Aptos"/>
              </a:defRPr>
            </a:lvl3pPr>
            <a:lvl4pPr>
              <a:defRPr sz="2100" b="1" lang="en-US">
                <a:latin typeface="Aptos"/>
                <a:ea typeface="Aptos"/>
                <a:cs typeface="Aptos"/>
              </a:defRPr>
            </a:lvl4pPr>
            <a:lvl5pPr>
              <a:defRPr sz="2100" b="1" lang="en-US">
                <a:latin typeface="Aptos"/>
                <a:ea typeface="Aptos"/>
                <a:cs typeface="Aptos"/>
              </a:defRPr>
            </a:lvl5pPr>
            <a:lvl6pPr>
              <a:defRPr sz="2100" b="1" lang="en-US">
                <a:latin typeface="Aptos"/>
                <a:ea typeface="Aptos"/>
                <a:cs typeface="Aptos"/>
              </a:defRPr>
            </a:lvl6pPr>
            <a:lvl7pPr>
              <a:defRPr sz="2100" b="1" lang="en-US">
                <a:latin typeface="Aptos"/>
                <a:ea typeface="Aptos"/>
                <a:cs typeface="Aptos"/>
              </a:defRPr>
            </a:lvl7pPr>
            <a:lvl8pPr>
              <a:defRPr sz="2100" b="1" lang="en-US">
                <a:latin typeface="Aptos"/>
                <a:ea typeface="Aptos"/>
                <a:cs typeface="Aptos"/>
              </a:defRPr>
            </a:lvl8pPr>
            <a:lvl9pPr>
              <a:defRPr sz="2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1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MADE IN CHINA 2025</a:t>
            </a:r>
            <a:endParaRPr sz="2100" lang="en-US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B8C4322-59DB-425D-8D8E-562F6BF8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014216"/>
            <a:ext cx="320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DCE4E9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2CB749E-9E95-4B7F-A48A-444DD6BD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197096"/>
            <a:ext cx="318211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b="1" lang="en-US">
                <a:latin typeface="Aptos"/>
                <a:ea typeface="Aptos"/>
                <a:cs typeface="Aptos"/>
              </a:defRPr>
            </a:defPPr>
            <a:lvl1pPr>
              <a:defRPr sz="1400" b="1" lang="en-US">
                <a:latin typeface="Aptos"/>
                <a:ea typeface="Aptos"/>
                <a:cs typeface="Aptos"/>
              </a:defRPr>
            </a:lvl1pPr>
            <a:lvl2pPr>
              <a:defRPr sz="1400" b="1" lang="en-US">
                <a:latin typeface="Aptos"/>
                <a:ea typeface="Aptos"/>
                <a:cs typeface="Aptos"/>
              </a:defRPr>
            </a:lvl2pPr>
            <a:lvl3pPr>
              <a:defRPr sz="1400" b="1" lang="en-US">
                <a:latin typeface="Aptos"/>
                <a:ea typeface="Aptos"/>
                <a:cs typeface="Aptos"/>
              </a:defRPr>
            </a:lvl3pPr>
            <a:lvl4pPr>
              <a:defRPr sz="1400" b="1" lang="en-US">
                <a:latin typeface="Aptos"/>
                <a:ea typeface="Aptos"/>
                <a:cs typeface="Aptos"/>
              </a:defRPr>
            </a:lvl4pPr>
            <a:lvl5pPr>
              <a:defRPr sz="1400" b="1" lang="en-US">
                <a:latin typeface="Aptos"/>
                <a:ea typeface="Aptos"/>
                <a:cs typeface="Aptos"/>
              </a:defRPr>
            </a:lvl5pPr>
            <a:lvl6pPr>
              <a:defRPr sz="1400" b="1" lang="en-US">
                <a:latin typeface="Aptos"/>
                <a:ea typeface="Aptos"/>
                <a:cs typeface="Aptos"/>
              </a:defRPr>
            </a:lvl6pPr>
            <a:lvl7pPr>
              <a:defRPr sz="1400" b="1" lang="en-US">
                <a:latin typeface="Aptos"/>
                <a:ea typeface="Aptos"/>
                <a:cs typeface="Aptos"/>
              </a:defRPr>
            </a:lvl7pPr>
            <a:lvl8pPr>
              <a:defRPr sz="1400" b="1" lang="en-US">
                <a:latin typeface="Aptos"/>
                <a:ea typeface="Aptos"/>
                <a:cs typeface="Aptos"/>
              </a:defRPr>
            </a:lvl8pPr>
            <a:lvl9pPr>
              <a:defRPr sz="14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b="1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Modernize industries, equipment,</a:t>
            </a:r>
            <a:endParaRPr sz="1400" lang="en-US"/>
          </a:p>
          <a:p xmlns:a="http://schemas.openxmlformats.org/drawingml/2006/main">
            <a:pPr marL="0" indent="0" algn="l">
              <a:buNone/>
            </a:pPr>
            <a:r>
              <a:rPr sz="1400" b="1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and components.</a:t>
            </a:r>
            <a:endParaRPr sz="1400" lang="en-US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0E8D7C0-A42D-464C-9A47-744B7E8F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002536"/>
            <a:ext cx="3639312" cy="3282696"/>
          </a:xfrm>
          <a:prstGeom xmlns:a="http://schemas.openxmlformats.org/drawingml/2006/main" prst="roundRect">
            <a:avLst>
              <a:gd name="adj" fmla="val 39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97D4BD6-A4DE-4A91-9840-C81F94EB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295144"/>
            <a:ext cx="150876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31F4232-3514-4781-9F99-DEAB66E3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2313432"/>
            <a:ext cx="12893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40" b="1" lang="en-US">
                <a:latin typeface="Aptos"/>
                <a:ea typeface="Aptos"/>
                <a:cs typeface="Aptos"/>
              </a:defRPr>
            </a:defPPr>
            <a:lvl1pPr>
              <a:defRPr sz="1040" b="1" lang="en-US">
                <a:latin typeface="Aptos"/>
                <a:ea typeface="Aptos"/>
                <a:cs typeface="Aptos"/>
              </a:defRPr>
            </a:lvl1pPr>
            <a:lvl2pPr>
              <a:defRPr sz="1040" b="1" lang="en-US">
                <a:latin typeface="Aptos"/>
                <a:ea typeface="Aptos"/>
                <a:cs typeface="Aptos"/>
              </a:defRPr>
            </a:lvl2pPr>
            <a:lvl3pPr>
              <a:defRPr sz="1040" b="1" lang="en-US">
                <a:latin typeface="Aptos"/>
                <a:ea typeface="Aptos"/>
                <a:cs typeface="Aptos"/>
              </a:defRPr>
            </a:lvl3pPr>
            <a:lvl4pPr>
              <a:defRPr sz="1040" b="1" lang="en-US">
                <a:latin typeface="Aptos"/>
                <a:ea typeface="Aptos"/>
                <a:cs typeface="Aptos"/>
              </a:defRPr>
            </a:lvl4pPr>
            <a:lvl5pPr>
              <a:defRPr sz="1040" b="1" lang="en-US">
                <a:latin typeface="Aptos"/>
                <a:ea typeface="Aptos"/>
                <a:cs typeface="Aptos"/>
              </a:defRPr>
            </a:lvl5pPr>
            <a:lvl6pPr>
              <a:defRPr sz="1040" b="1" lang="en-US">
                <a:latin typeface="Aptos"/>
                <a:ea typeface="Aptos"/>
                <a:cs typeface="Aptos"/>
              </a:defRPr>
            </a:lvl6pPr>
            <a:lvl7pPr>
              <a:defRPr sz="1040" b="1" lang="en-US">
                <a:latin typeface="Aptos"/>
                <a:ea typeface="Aptos"/>
                <a:cs typeface="Aptos"/>
              </a:defRPr>
            </a:lvl7pPr>
            <a:lvl8pPr>
              <a:defRPr sz="1040" b="1" lang="en-US">
                <a:latin typeface="Aptos"/>
                <a:ea typeface="Aptos"/>
                <a:cs typeface="Aptos"/>
              </a:defRPr>
            </a:lvl8pPr>
            <a:lvl9pPr>
              <a:defRPr sz="104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040" b="1" spc="70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2025</a:t>
            </a:r>
            <a:endParaRPr sz="1040" lang="en-US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35D6B20-9805-4CBC-8F93-65EC5E74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935224"/>
            <a:ext cx="3182112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 lang="en-US">
                <a:latin typeface="Aptos"/>
                <a:ea typeface="Aptos"/>
                <a:cs typeface="Aptos"/>
              </a:defRPr>
            </a:defPPr>
            <a:lvl1pPr>
              <a:defRPr sz="2100" b="1" lang="en-US">
                <a:latin typeface="Aptos"/>
                <a:ea typeface="Aptos"/>
                <a:cs typeface="Aptos"/>
              </a:defRPr>
            </a:lvl1pPr>
            <a:lvl2pPr>
              <a:defRPr sz="2100" b="1" lang="en-US">
                <a:latin typeface="Aptos"/>
                <a:ea typeface="Aptos"/>
                <a:cs typeface="Aptos"/>
              </a:defRPr>
            </a:lvl2pPr>
            <a:lvl3pPr>
              <a:defRPr sz="2100" b="1" lang="en-US">
                <a:latin typeface="Aptos"/>
                <a:ea typeface="Aptos"/>
                <a:cs typeface="Aptos"/>
              </a:defRPr>
            </a:lvl3pPr>
            <a:lvl4pPr>
              <a:defRPr sz="2100" b="1" lang="en-US">
                <a:latin typeface="Aptos"/>
                <a:ea typeface="Aptos"/>
                <a:cs typeface="Aptos"/>
              </a:defRPr>
            </a:lvl4pPr>
            <a:lvl5pPr>
              <a:defRPr sz="2100" b="1" lang="en-US">
                <a:latin typeface="Aptos"/>
                <a:ea typeface="Aptos"/>
                <a:cs typeface="Aptos"/>
              </a:defRPr>
            </a:lvl5pPr>
            <a:lvl6pPr>
              <a:defRPr sz="2100" b="1" lang="en-US">
                <a:latin typeface="Aptos"/>
                <a:ea typeface="Aptos"/>
                <a:cs typeface="Aptos"/>
              </a:defRPr>
            </a:lvl6pPr>
            <a:lvl7pPr>
              <a:defRPr sz="2100" b="1" lang="en-US">
                <a:latin typeface="Aptos"/>
                <a:ea typeface="Aptos"/>
                <a:cs typeface="Aptos"/>
              </a:defRPr>
            </a:lvl7pPr>
            <a:lvl8pPr>
              <a:defRPr sz="2100" b="1" lang="en-US">
                <a:latin typeface="Aptos"/>
                <a:ea typeface="Aptos"/>
                <a:cs typeface="Aptos"/>
              </a:defRPr>
            </a:lvl8pPr>
            <a:lvl9pPr>
              <a:defRPr sz="2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1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ARTIFICIAL</a:t>
            </a:r>
            <a:endParaRPr sz="2100" lang="en-US"/>
          </a:p>
          <a:p xmlns:a="http://schemas.openxmlformats.org/drawingml/2006/main">
            <a:pPr marL="0" indent="0" algn="l">
              <a:buNone/>
            </a:pPr>
            <a:r>
              <a:rPr sz="21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INTELLIGENCE+</a:t>
            </a:r>
            <a:endParaRPr sz="2100" lang="en-US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4AD58F8-B057-45B5-A907-59E43B22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4014216"/>
            <a:ext cx="320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DCE4E9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76572E5-821F-4C7D-B245-FAF395F1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197096"/>
            <a:ext cx="318211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b="1" lang="en-US">
                <a:latin typeface="Aptos"/>
                <a:ea typeface="Aptos"/>
                <a:cs typeface="Aptos"/>
              </a:defRPr>
            </a:defPPr>
            <a:lvl1pPr>
              <a:defRPr sz="1400" b="1" lang="en-US">
                <a:latin typeface="Aptos"/>
                <a:ea typeface="Aptos"/>
                <a:cs typeface="Aptos"/>
              </a:defRPr>
            </a:lvl1pPr>
            <a:lvl2pPr>
              <a:defRPr sz="1400" b="1" lang="en-US">
                <a:latin typeface="Aptos"/>
                <a:ea typeface="Aptos"/>
                <a:cs typeface="Aptos"/>
              </a:defRPr>
            </a:lvl2pPr>
            <a:lvl3pPr>
              <a:defRPr sz="1400" b="1" lang="en-US">
                <a:latin typeface="Aptos"/>
                <a:ea typeface="Aptos"/>
                <a:cs typeface="Aptos"/>
              </a:defRPr>
            </a:lvl3pPr>
            <a:lvl4pPr>
              <a:defRPr sz="1400" b="1" lang="en-US">
                <a:latin typeface="Aptos"/>
                <a:ea typeface="Aptos"/>
                <a:cs typeface="Aptos"/>
              </a:defRPr>
            </a:lvl4pPr>
            <a:lvl5pPr>
              <a:defRPr sz="1400" b="1" lang="en-US">
                <a:latin typeface="Aptos"/>
                <a:ea typeface="Aptos"/>
                <a:cs typeface="Aptos"/>
              </a:defRPr>
            </a:lvl5pPr>
            <a:lvl6pPr>
              <a:defRPr sz="1400" b="1" lang="en-US">
                <a:latin typeface="Aptos"/>
                <a:ea typeface="Aptos"/>
                <a:cs typeface="Aptos"/>
              </a:defRPr>
            </a:lvl6pPr>
            <a:lvl7pPr>
              <a:defRPr sz="1400" b="1" lang="en-US">
                <a:latin typeface="Aptos"/>
                <a:ea typeface="Aptos"/>
                <a:cs typeface="Aptos"/>
              </a:defRPr>
            </a:lvl7pPr>
            <a:lvl8pPr>
              <a:defRPr sz="1400" b="1" lang="en-US">
                <a:latin typeface="Aptos"/>
                <a:ea typeface="Aptos"/>
                <a:cs typeface="Aptos"/>
              </a:defRPr>
            </a:lvl8pPr>
            <a:lvl9pPr>
              <a:defRPr sz="14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b="1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Spread AI across many sectors</a:t>
            </a:r>
            <a:endParaRPr sz="1400" lang="en-US"/>
          </a:p>
          <a:p xmlns:a="http://schemas.openxmlformats.org/drawingml/2006/main">
            <a:pPr marL="0" indent="0" algn="l">
              <a:buNone/>
            </a:pPr>
            <a:r>
              <a:rPr sz="1400" b="1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of the economy.</a:t>
            </a:r>
            <a:endParaRPr sz="1400" lang="en-US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8A4660C-7723-4BB1-BABC-D9F77777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002536"/>
            <a:ext cx="3639312" cy="3282696"/>
          </a:xfrm>
          <a:prstGeom xmlns:a="http://schemas.openxmlformats.org/drawingml/2006/main" prst="roundRect">
            <a:avLst>
              <a:gd name="adj" fmla="val 39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B231E5D1-62E3-4112-A383-A17B6F13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2295144"/>
            <a:ext cx="150876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4AEA804-B0AF-406A-92B5-52A8549B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313432"/>
            <a:ext cx="12893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40" b="1" lang="en-US">
                <a:latin typeface="Aptos"/>
                <a:ea typeface="Aptos"/>
                <a:cs typeface="Aptos"/>
              </a:defRPr>
            </a:defPPr>
            <a:lvl1pPr>
              <a:defRPr sz="1040" b="1" lang="en-US">
                <a:latin typeface="Aptos"/>
                <a:ea typeface="Aptos"/>
                <a:cs typeface="Aptos"/>
              </a:defRPr>
            </a:lvl1pPr>
            <a:lvl2pPr>
              <a:defRPr sz="1040" b="1" lang="en-US">
                <a:latin typeface="Aptos"/>
                <a:ea typeface="Aptos"/>
                <a:cs typeface="Aptos"/>
              </a:defRPr>
            </a:lvl2pPr>
            <a:lvl3pPr>
              <a:defRPr sz="1040" b="1" lang="en-US">
                <a:latin typeface="Aptos"/>
                <a:ea typeface="Aptos"/>
                <a:cs typeface="Aptos"/>
              </a:defRPr>
            </a:lvl3pPr>
            <a:lvl4pPr>
              <a:defRPr sz="1040" b="1" lang="en-US">
                <a:latin typeface="Aptos"/>
                <a:ea typeface="Aptos"/>
                <a:cs typeface="Aptos"/>
              </a:defRPr>
            </a:lvl4pPr>
            <a:lvl5pPr>
              <a:defRPr sz="1040" b="1" lang="en-US">
                <a:latin typeface="Aptos"/>
                <a:ea typeface="Aptos"/>
                <a:cs typeface="Aptos"/>
              </a:defRPr>
            </a:lvl5pPr>
            <a:lvl6pPr>
              <a:defRPr sz="1040" b="1" lang="en-US">
                <a:latin typeface="Aptos"/>
                <a:ea typeface="Aptos"/>
                <a:cs typeface="Aptos"/>
              </a:defRPr>
            </a:lvl6pPr>
            <a:lvl7pPr>
              <a:defRPr sz="1040" b="1" lang="en-US">
                <a:latin typeface="Aptos"/>
                <a:ea typeface="Aptos"/>
                <a:cs typeface="Aptos"/>
              </a:defRPr>
            </a:lvl7pPr>
            <a:lvl8pPr>
              <a:defRPr sz="1040" b="1" lang="en-US">
                <a:latin typeface="Aptos"/>
                <a:ea typeface="Aptos"/>
                <a:cs typeface="Aptos"/>
              </a:defRPr>
            </a:lvl8pPr>
            <a:lvl9pPr>
              <a:defRPr sz="104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040" b="1" spc="70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2026–2030</a:t>
            </a:r>
            <a:endParaRPr sz="1040" lang="en-US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10BC2DB-41BA-415F-9002-BD1B4978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2935224"/>
            <a:ext cx="3182112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 lang="en-US">
                <a:latin typeface="Aptos"/>
                <a:ea typeface="Aptos"/>
                <a:cs typeface="Aptos"/>
              </a:defRPr>
            </a:defPPr>
            <a:lvl1pPr>
              <a:defRPr sz="2100" b="1" lang="en-US">
                <a:latin typeface="Aptos"/>
                <a:ea typeface="Aptos"/>
                <a:cs typeface="Aptos"/>
              </a:defRPr>
            </a:lvl1pPr>
            <a:lvl2pPr>
              <a:defRPr sz="2100" b="1" lang="en-US">
                <a:latin typeface="Aptos"/>
                <a:ea typeface="Aptos"/>
                <a:cs typeface="Aptos"/>
              </a:defRPr>
            </a:lvl2pPr>
            <a:lvl3pPr>
              <a:defRPr sz="2100" b="1" lang="en-US">
                <a:latin typeface="Aptos"/>
                <a:ea typeface="Aptos"/>
                <a:cs typeface="Aptos"/>
              </a:defRPr>
            </a:lvl3pPr>
            <a:lvl4pPr>
              <a:defRPr sz="2100" b="1" lang="en-US">
                <a:latin typeface="Aptos"/>
                <a:ea typeface="Aptos"/>
                <a:cs typeface="Aptos"/>
              </a:defRPr>
            </a:lvl4pPr>
            <a:lvl5pPr>
              <a:defRPr sz="2100" b="1" lang="en-US">
                <a:latin typeface="Aptos"/>
                <a:ea typeface="Aptos"/>
                <a:cs typeface="Aptos"/>
              </a:defRPr>
            </a:lvl5pPr>
            <a:lvl6pPr>
              <a:defRPr sz="2100" b="1" lang="en-US">
                <a:latin typeface="Aptos"/>
                <a:ea typeface="Aptos"/>
                <a:cs typeface="Aptos"/>
              </a:defRPr>
            </a:lvl6pPr>
            <a:lvl7pPr>
              <a:defRPr sz="2100" b="1" lang="en-US">
                <a:latin typeface="Aptos"/>
                <a:ea typeface="Aptos"/>
                <a:cs typeface="Aptos"/>
              </a:defRPr>
            </a:lvl7pPr>
            <a:lvl8pPr>
              <a:defRPr sz="2100" b="1" lang="en-US">
                <a:latin typeface="Aptos"/>
                <a:ea typeface="Aptos"/>
                <a:cs typeface="Aptos"/>
              </a:defRPr>
            </a:lvl8pPr>
            <a:lvl9pPr>
              <a:defRPr sz="2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1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15TH FIVE-YEAR PLAN</a:t>
            </a:r>
            <a:endParaRPr sz="2100" lang="en-US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14E7D55-BFD6-4D37-9288-73890FF8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4014216"/>
            <a:ext cx="320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DCE4E9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B584CB0-AA5E-4CA5-9104-DA1F4D4C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4197096"/>
            <a:ext cx="318211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b="1" lang="en-US">
                <a:latin typeface="Aptos"/>
                <a:ea typeface="Aptos"/>
                <a:cs typeface="Aptos"/>
              </a:defRPr>
            </a:defPPr>
            <a:lvl1pPr>
              <a:defRPr sz="1400" b="1" lang="en-US">
                <a:latin typeface="Aptos"/>
                <a:ea typeface="Aptos"/>
                <a:cs typeface="Aptos"/>
              </a:defRPr>
            </a:lvl1pPr>
            <a:lvl2pPr>
              <a:defRPr sz="1400" b="1" lang="en-US">
                <a:latin typeface="Aptos"/>
                <a:ea typeface="Aptos"/>
                <a:cs typeface="Aptos"/>
              </a:defRPr>
            </a:lvl2pPr>
            <a:lvl3pPr>
              <a:defRPr sz="1400" b="1" lang="en-US">
                <a:latin typeface="Aptos"/>
                <a:ea typeface="Aptos"/>
                <a:cs typeface="Aptos"/>
              </a:defRPr>
            </a:lvl3pPr>
            <a:lvl4pPr>
              <a:defRPr sz="1400" b="1" lang="en-US">
                <a:latin typeface="Aptos"/>
                <a:ea typeface="Aptos"/>
                <a:cs typeface="Aptos"/>
              </a:defRPr>
            </a:lvl4pPr>
            <a:lvl5pPr>
              <a:defRPr sz="1400" b="1" lang="en-US">
                <a:latin typeface="Aptos"/>
                <a:ea typeface="Aptos"/>
                <a:cs typeface="Aptos"/>
              </a:defRPr>
            </a:lvl5pPr>
            <a:lvl6pPr>
              <a:defRPr sz="1400" b="1" lang="en-US">
                <a:latin typeface="Aptos"/>
                <a:ea typeface="Aptos"/>
                <a:cs typeface="Aptos"/>
              </a:defRPr>
            </a:lvl6pPr>
            <a:lvl7pPr>
              <a:defRPr sz="1400" b="1" lang="en-US">
                <a:latin typeface="Aptos"/>
                <a:ea typeface="Aptos"/>
                <a:cs typeface="Aptos"/>
              </a:defRPr>
            </a:lvl7pPr>
            <a:lvl8pPr>
              <a:defRPr sz="1400" b="1" lang="en-US">
                <a:latin typeface="Aptos"/>
                <a:ea typeface="Aptos"/>
                <a:cs typeface="Aptos"/>
              </a:defRPr>
            </a:lvl8pPr>
            <a:lvl9pPr>
              <a:defRPr sz="14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b="1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Integrate innovation, industry,</a:t>
            </a:r>
            <a:endParaRPr sz="1400" lang="en-US"/>
          </a:p>
          <a:p xmlns:a="http://schemas.openxmlformats.org/drawingml/2006/main">
            <a:pPr marL="0" indent="0" algn="l">
              <a:buNone/>
            </a:pPr>
            <a:r>
              <a:rPr sz="1400" b="1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and technological security.</a:t>
            </a:r>
            <a:endParaRPr sz="1400" lang="en-US"/>
          </a:p>
        </p:txBody>
      </p:sp>
    </p:spTree>
    <p:extLst>
      <p:ext uri="{BB962C8B-B14F-4D97-AF65-F5344CB8AC3E}">
        <p14:creationId xmlns:p14="http://schemas.microsoft.com/office/powerpoint/2010/main" val="76452172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31ABE71-F9D2-4D02-B218-B7B5D511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A NEW DEVELOPMENT CONCEPT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3DD83F5-D683-4B24-A98A-408DBF18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“New quality productive forces”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83C624-9C05-4D84-95A3-3BA39B15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Three industrial horizons under the 15th Five-Year Plan.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1197F18-4553-42E8-9748-FB9E8719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4248"/>
            <a:ext cx="10597896" cy="100584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84BA654-5395-425D-8B88-2A3B34CC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4248"/>
            <a:ext cx="118872" cy="1005840"/>
          </a:xfrm>
          <a:prstGeom xmlns:a="http://schemas.openxmlformats.org/drawingml/2006/main" prst="roundRect">
            <a:avLst>
              <a:gd name="adj" fmla="val 123077"/>
            </a:avLst>
          </a:prstGeom>
          <a:solidFill xmlns:a="http://schemas.openxmlformats.org/drawingml/2006/main">
            <a:srgbClr val="203954"/>
          </a:solidFill>
          <a:ln xmlns:a="http://schemas.openxmlformats.org/drawingml/2006/main" w="12700">
            <a:solidFill>
              <a:srgbClr val="203954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A1C1A68-9684-4ED5-8D59-731CE3A4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231136"/>
            <a:ext cx="59436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500" b="1" lang="en-US">
                <a:latin typeface="Aptos"/>
                <a:ea typeface="Aptos"/>
                <a:cs typeface="Aptos"/>
              </a:defRPr>
            </a:defPPr>
            <a:lvl1pPr>
              <a:defRPr sz="2500" b="1" lang="en-US">
                <a:latin typeface="Aptos"/>
                <a:ea typeface="Aptos"/>
                <a:cs typeface="Aptos"/>
              </a:defRPr>
            </a:lvl1pPr>
            <a:lvl2pPr>
              <a:defRPr sz="2500" b="1" lang="en-US">
                <a:latin typeface="Aptos"/>
                <a:ea typeface="Aptos"/>
                <a:cs typeface="Aptos"/>
              </a:defRPr>
            </a:lvl2pPr>
            <a:lvl3pPr>
              <a:defRPr sz="2500" b="1" lang="en-US">
                <a:latin typeface="Aptos"/>
                <a:ea typeface="Aptos"/>
                <a:cs typeface="Aptos"/>
              </a:defRPr>
            </a:lvl3pPr>
            <a:lvl4pPr>
              <a:defRPr sz="2500" b="1" lang="en-US">
                <a:latin typeface="Aptos"/>
                <a:ea typeface="Aptos"/>
                <a:cs typeface="Aptos"/>
              </a:defRPr>
            </a:lvl4pPr>
            <a:lvl5pPr>
              <a:defRPr sz="2500" b="1" lang="en-US">
                <a:latin typeface="Aptos"/>
                <a:ea typeface="Aptos"/>
                <a:cs typeface="Aptos"/>
              </a:defRPr>
            </a:lvl5pPr>
            <a:lvl6pPr>
              <a:defRPr sz="2500" b="1" lang="en-US">
                <a:latin typeface="Aptos"/>
                <a:ea typeface="Aptos"/>
                <a:cs typeface="Aptos"/>
              </a:defRPr>
            </a:lvl6pPr>
            <a:lvl7pPr>
              <a:defRPr sz="2500" b="1" lang="en-US">
                <a:latin typeface="Aptos"/>
                <a:ea typeface="Aptos"/>
                <a:cs typeface="Aptos"/>
              </a:defRPr>
            </a:lvl7pPr>
            <a:lvl8pPr>
              <a:defRPr sz="2500" b="1" lang="en-US">
                <a:latin typeface="Aptos"/>
                <a:ea typeface="Aptos"/>
                <a:cs typeface="Aptos"/>
              </a:defRPr>
            </a:lvl8pPr>
            <a:lvl9pPr>
              <a:defRPr sz="25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500" b="1" lang="en-US">
                <a:solidFill>
                  <a:srgbClr val="203954"/>
                </a:solidFill>
                <a:latin typeface="Aptos"/>
                <a:ea typeface="Aptos"/>
                <a:cs typeface="Aptos"/>
              </a:rPr>
              <a:t>01</a:t>
            </a:r>
            <a:endParaRPr sz="2500" lang="en-US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7AB7D82-C5EC-42AA-817B-EFEAD61D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664" y="2112264"/>
            <a:ext cx="379476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 lang="en-US">
                <a:latin typeface="Aptos"/>
                <a:ea typeface="Aptos"/>
                <a:cs typeface="Aptos"/>
              </a:defRPr>
            </a:defPPr>
            <a:lvl1pPr>
              <a:defRPr sz="1800" b="1" lang="en-US">
                <a:latin typeface="Aptos"/>
                <a:ea typeface="Aptos"/>
                <a:cs typeface="Aptos"/>
              </a:defRPr>
            </a:lvl1pPr>
            <a:lvl2pPr>
              <a:defRPr sz="1800" b="1" lang="en-US">
                <a:latin typeface="Aptos"/>
                <a:ea typeface="Aptos"/>
                <a:cs typeface="Aptos"/>
              </a:defRPr>
            </a:lvl2pPr>
            <a:lvl3pPr>
              <a:defRPr sz="1800" b="1" lang="en-US">
                <a:latin typeface="Aptos"/>
                <a:ea typeface="Aptos"/>
                <a:cs typeface="Aptos"/>
              </a:defRPr>
            </a:lvl3pPr>
            <a:lvl4pPr>
              <a:defRPr sz="1800" b="1" lang="en-US">
                <a:latin typeface="Aptos"/>
                <a:ea typeface="Aptos"/>
                <a:cs typeface="Aptos"/>
              </a:defRPr>
            </a:lvl4pPr>
            <a:lvl5pPr>
              <a:defRPr sz="1800" b="1" lang="en-US">
                <a:latin typeface="Aptos"/>
                <a:ea typeface="Aptos"/>
                <a:cs typeface="Aptos"/>
              </a:defRPr>
            </a:lvl5pPr>
            <a:lvl6pPr>
              <a:defRPr sz="1800" b="1" lang="en-US">
                <a:latin typeface="Aptos"/>
                <a:ea typeface="Aptos"/>
                <a:cs typeface="Aptos"/>
              </a:defRPr>
            </a:lvl6pPr>
            <a:lvl7pPr>
              <a:defRPr sz="1800" b="1" lang="en-US">
                <a:latin typeface="Aptos"/>
                <a:ea typeface="Aptos"/>
                <a:cs typeface="Aptos"/>
              </a:defRPr>
            </a:lvl7pPr>
            <a:lvl8pPr>
              <a:defRPr sz="1800" b="1" lang="en-US">
                <a:latin typeface="Aptos"/>
                <a:ea typeface="Aptos"/>
                <a:cs typeface="Aptos"/>
              </a:defRPr>
            </a:lvl8pPr>
            <a:lvl9pPr>
              <a:defRPr sz="18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UPGRADE EXISTING INDUSTRIES</a:t>
            </a:r>
            <a:endParaRPr sz="1800" lang="en-US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7B7603E-CFD4-420C-AF69-FBCFBDB9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144" y="2148840"/>
            <a:ext cx="5321808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Steel, machinery, chemicals: quality and efficiency.</a:t>
            </a:r>
            <a:endParaRPr sz="1400" lang="en-US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53CECC1-A5A3-4F41-B1F3-2785A8F6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46120"/>
            <a:ext cx="10597896" cy="100584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F984452-DC36-4041-A730-831A0550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46120"/>
            <a:ext cx="118872" cy="1005840"/>
          </a:xfrm>
          <a:prstGeom xmlns:a="http://schemas.openxmlformats.org/drawingml/2006/main" prst="roundRect">
            <a:avLst>
              <a:gd name="adj" fmla="val 123077"/>
            </a:avLst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4438A16-FE99-4344-996F-25A90CBF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93008"/>
            <a:ext cx="59436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500" b="1" lang="en-US">
                <a:latin typeface="Aptos"/>
                <a:ea typeface="Aptos"/>
                <a:cs typeface="Aptos"/>
              </a:defRPr>
            </a:defPPr>
            <a:lvl1pPr>
              <a:defRPr sz="2500" b="1" lang="en-US">
                <a:latin typeface="Aptos"/>
                <a:ea typeface="Aptos"/>
                <a:cs typeface="Aptos"/>
              </a:defRPr>
            </a:lvl1pPr>
            <a:lvl2pPr>
              <a:defRPr sz="2500" b="1" lang="en-US">
                <a:latin typeface="Aptos"/>
                <a:ea typeface="Aptos"/>
                <a:cs typeface="Aptos"/>
              </a:defRPr>
            </a:lvl2pPr>
            <a:lvl3pPr>
              <a:defRPr sz="2500" b="1" lang="en-US">
                <a:latin typeface="Aptos"/>
                <a:ea typeface="Aptos"/>
                <a:cs typeface="Aptos"/>
              </a:defRPr>
            </a:lvl3pPr>
            <a:lvl4pPr>
              <a:defRPr sz="2500" b="1" lang="en-US">
                <a:latin typeface="Aptos"/>
                <a:ea typeface="Aptos"/>
                <a:cs typeface="Aptos"/>
              </a:defRPr>
            </a:lvl4pPr>
            <a:lvl5pPr>
              <a:defRPr sz="2500" b="1" lang="en-US">
                <a:latin typeface="Aptos"/>
                <a:ea typeface="Aptos"/>
                <a:cs typeface="Aptos"/>
              </a:defRPr>
            </a:lvl5pPr>
            <a:lvl6pPr>
              <a:defRPr sz="2500" b="1" lang="en-US">
                <a:latin typeface="Aptos"/>
                <a:ea typeface="Aptos"/>
                <a:cs typeface="Aptos"/>
              </a:defRPr>
            </a:lvl6pPr>
            <a:lvl7pPr>
              <a:defRPr sz="2500" b="1" lang="en-US">
                <a:latin typeface="Aptos"/>
                <a:ea typeface="Aptos"/>
                <a:cs typeface="Aptos"/>
              </a:defRPr>
            </a:lvl7pPr>
            <a:lvl8pPr>
              <a:defRPr sz="2500" b="1" lang="en-US">
                <a:latin typeface="Aptos"/>
                <a:ea typeface="Aptos"/>
                <a:cs typeface="Aptos"/>
              </a:defRPr>
            </a:lvl8pPr>
            <a:lvl9pPr>
              <a:defRPr sz="25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500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02</a:t>
            </a:r>
            <a:endParaRPr sz="2500" lang="en-US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C10065B-E800-4E01-AC77-DB45AEB3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664" y="3374136"/>
            <a:ext cx="379476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49" b="1" lang="en-US">
                <a:latin typeface="Aptos"/>
                <a:ea typeface="Aptos"/>
                <a:cs typeface="Aptos"/>
              </a:defRPr>
            </a:defPPr>
            <a:lvl1pPr>
              <a:defRPr sz="1749" b="1" lang="en-US">
                <a:latin typeface="Aptos"/>
                <a:ea typeface="Aptos"/>
                <a:cs typeface="Aptos"/>
              </a:defRPr>
            </a:lvl1pPr>
            <a:lvl2pPr>
              <a:defRPr sz="1749" b="1" lang="en-US">
                <a:latin typeface="Aptos"/>
                <a:ea typeface="Aptos"/>
                <a:cs typeface="Aptos"/>
              </a:defRPr>
            </a:lvl2pPr>
            <a:lvl3pPr>
              <a:defRPr sz="1749" b="1" lang="en-US">
                <a:latin typeface="Aptos"/>
                <a:ea typeface="Aptos"/>
                <a:cs typeface="Aptos"/>
              </a:defRPr>
            </a:lvl3pPr>
            <a:lvl4pPr>
              <a:defRPr sz="1749" b="1" lang="en-US">
                <a:latin typeface="Aptos"/>
                <a:ea typeface="Aptos"/>
                <a:cs typeface="Aptos"/>
              </a:defRPr>
            </a:lvl4pPr>
            <a:lvl5pPr>
              <a:defRPr sz="1749" b="1" lang="en-US">
                <a:latin typeface="Aptos"/>
                <a:ea typeface="Aptos"/>
                <a:cs typeface="Aptos"/>
              </a:defRPr>
            </a:lvl5pPr>
            <a:lvl6pPr>
              <a:defRPr sz="1749" b="1" lang="en-US">
                <a:latin typeface="Aptos"/>
                <a:ea typeface="Aptos"/>
                <a:cs typeface="Aptos"/>
              </a:defRPr>
            </a:lvl6pPr>
            <a:lvl7pPr>
              <a:defRPr sz="1749" b="1" lang="en-US">
                <a:latin typeface="Aptos"/>
                <a:ea typeface="Aptos"/>
                <a:cs typeface="Aptos"/>
              </a:defRPr>
            </a:lvl7pPr>
            <a:lvl8pPr>
              <a:defRPr sz="1749" b="1" lang="en-US">
                <a:latin typeface="Aptos"/>
                <a:ea typeface="Aptos"/>
                <a:cs typeface="Aptos"/>
              </a:defRPr>
            </a:lvl8pPr>
            <a:lvl9pPr>
              <a:defRPr sz="174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74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SCALE UP EMERGING INDUSTRIES</a:t>
            </a:r>
            <a:endParaRPr sz="1800" lang="en-US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0A3314D-A7D1-4B9D-A7B2-89A07837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144" y="3410712"/>
            <a:ext cx="5321808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Robotics, smart vehicles, new materials.</a:t>
            </a:r>
            <a:endParaRPr sz="1400" lang="en-US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C56C1E4-3B02-4237-8A9E-339D3609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07992"/>
            <a:ext cx="10597896" cy="100584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C6E9E6"/>
          </a:solidFill>
          <a:ln xmlns:a="http://schemas.openxmlformats.org/drawingml/2006/main" w="12700">
            <a:solidFill>
              <a:srgbClr val="C6E9E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BF87206-D737-463D-B6AE-8EA59907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07992"/>
            <a:ext cx="118872" cy="1005840"/>
          </a:xfrm>
          <a:prstGeom xmlns:a="http://schemas.openxmlformats.org/drawingml/2006/main" prst="roundRect">
            <a:avLst>
              <a:gd name="adj" fmla="val 123077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3F1C999-9AA8-4EB9-9BB0-B0364098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59436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500" b="1" lang="en-US">
                <a:latin typeface="Aptos"/>
                <a:ea typeface="Aptos"/>
                <a:cs typeface="Aptos"/>
              </a:defRPr>
            </a:defPPr>
            <a:lvl1pPr>
              <a:defRPr sz="2500" b="1" lang="en-US">
                <a:latin typeface="Aptos"/>
                <a:ea typeface="Aptos"/>
                <a:cs typeface="Aptos"/>
              </a:defRPr>
            </a:lvl1pPr>
            <a:lvl2pPr>
              <a:defRPr sz="2500" b="1" lang="en-US">
                <a:latin typeface="Aptos"/>
                <a:ea typeface="Aptos"/>
                <a:cs typeface="Aptos"/>
              </a:defRPr>
            </a:lvl2pPr>
            <a:lvl3pPr>
              <a:defRPr sz="2500" b="1" lang="en-US">
                <a:latin typeface="Aptos"/>
                <a:ea typeface="Aptos"/>
                <a:cs typeface="Aptos"/>
              </a:defRPr>
            </a:lvl3pPr>
            <a:lvl4pPr>
              <a:defRPr sz="2500" b="1" lang="en-US">
                <a:latin typeface="Aptos"/>
                <a:ea typeface="Aptos"/>
                <a:cs typeface="Aptos"/>
              </a:defRPr>
            </a:lvl4pPr>
            <a:lvl5pPr>
              <a:defRPr sz="2500" b="1" lang="en-US">
                <a:latin typeface="Aptos"/>
                <a:ea typeface="Aptos"/>
                <a:cs typeface="Aptos"/>
              </a:defRPr>
            </a:lvl5pPr>
            <a:lvl6pPr>
              <a:defRPr sz="2500" b="1" lang="en-US">
                <a:latin typeface="Aptos"/>
                <a:ea typeface="Aptos"/>
                <a:cs typeface="Aptos"/>
              </a:defRPr>
            </a:lvl6pPr>
            <a:lvl7pPr>
              <a:defRPr sz="2500" b="1" lang="en-US">
                <a:latin typeface="Aptos"/>
                <a:ea typeface="Aptos"/>
                <a:cs typeface="Aptos"/>
              </a:defRPr>
            </a:lvl7pPr>
            <a:lvl8pPr>
              <a:defRPr sz="2500" b="1" lang="en-US">
                <a:latin typeface="Aptos"/>
                <a:ea typeface="Aptos"/>
                <a:cs typeface="Aptos"/>
              </a:defRPr>
            </a:lvl8pPr>
            <a:lvl9pPr>
              <a:defRPr sz="25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500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03</a:t>
            </a:r>
            <a:endParaRPr sz="2500" lang="en-US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C45E0B6-2856-401E-ACEC-4D3D537F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664" y="4636008"/>
            <a:ext cx="379476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 lang="en-US">
                <a:latin typeface="Aptos"/>
                <a:ea typeface="Aptos"/>
                <a:cs typeface="Aptos"/>
              </a:defRPr>
            </a:defPPr>
            <a:lvl1pPr>
              <a:defRPr sz="1800" b="1" lang="en-US">
                <a:latin typeface="Aptos"/>
                <a:ea typeface="Aptos"/>
                <a:cs typeface="Aptos"/>
              </a:defRPr>
            </a:lvl1pPr>
            <a:lvl2pPr>
              <a:defRPr sz="1800" b="1" lang="en-US">
                <a:latin typeface="Aptos"/>
                <a:ea typeface="Aptos"/>
                <a:cs typeface="Aptos"/>
              </a:defRPr>
            </a:lvl2pPr>
            <a:lvl3pPr>
              <a:defRPr sz="1800" b="1" lang="en-US">
                <a:latin typeface="Aptos"/>
                <a:ea typeface="Aptos"/>
                <a:cs typeface="Aptos"/>
              </a:defRPr>
            </a:lvl3pPr>
            <a:lvl4pPr>
              <a:defRPr sz="1800" b="1" lang="en-US">
                <a:latin typeface="Aptos"/>
                <a:ea typeface="Aptos"/>
                <a:cs typeface="Aptos"/>
              </a:defRPr>
            </a:lvl4pPr>
            <a:lvl5pPr>
              <a:defRPr sz="1800" b="1" lang="en-US">
                <a:latin typeface="Aptos"/>
                <a:ea typeface="Aptos"/>
                <a:cs typeface="Aptos"/>
              </a:defRPr>
            </a:lvl5pPr>
            <a:lvl6pPr>
              <a:defRPr sz="1800" b="1" lang="en-US">
                <a:latin typeface="Aptos"/>
                <a:ea typeface="Aptos"/>
                <a:cs typeface="Aptos"/>
              </a:defRPr>
            </a:lvl6pPr>
            <a:lvl7pPr>
              <a:defRPr sz="1800" b="1" lang="en-US">
                <a:latin typeface="Aptos"/>
                <a:ea typeface="Aptos"/>
                <a:cs typeface="Aptos"/>
              </a:defRPr>
            </a:lvl7pPr>
            <a:lvl8pPr>
              <a:defRPr sz="1800" b="1" lang="en-US">
                <a:latin typeface="Aptos"/>
                <a:ea typeface="Aptos"/>
                <a:cs typeface="Aptos"/>
              </a:defRPr>
            </a:lvl8pPr>
            <a:lvl9pPr>
              <a:defRPr sz="18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EXPLORE FUTURE INDUSTRIES</a:t>
            </a:r>
            <a:endParaRPr sz="1800" lang="en-US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7137FE3-8E16-4048-B8A3-5625A67A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144" y="4672584"/>
            <a:ext cx="5321808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Embodied AI, quantum technologies, 6G, and more.</a:t>
            </a:r>
            <a:endParaRPr sz="1400" lang="en-US"/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916343-8EC0-4CEB-98C8-BAA2AFC948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290a51bad4898"/>
          <a:stretch xmlns:a="http://schemas.openxmlformats.org/drawingml/2006/main"/>
        </p:blipFill>
        <p:spPr>
          <a:xfrm xmlns:a="http://schemas.openxmlformats.org/drawingml/2006/main">
            <a:off x="6667500" y="685800"/>
            <a:ext cx="1905000" cy="590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2473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DB51D-2618-4723-ADB7-6F22D3F2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FROM POLICY DECISIONS TO DATA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5449159-6972-4D70-BE69-9DE2F3B5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A plan is not an operational factory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FE9990F-822E-4DCD-B3BA-551F4888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How to assess an industrial program at four different levels.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73421EC-A673-4C1B-B3D8-385039B8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276856"/>
            <a:ext cx="2670048" cy="2816352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AB81ED7-4C09-4898-9497-B11CE834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2587752"/>
            <a:ext cx="23225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99" b="1" lang="en-US">
                <a:latin typeface="Aptos"/>
                <a:ea typeface="Aptos"/>
                <a:cs typeface="Aptos"/>
              </a:defRPr>
            </a:defPPr>
            <a:lvl1pPr>
              <a:defRPr sz="2999" b="1" lang="en-US">
                <a:latin typeface="Aptos"/>
                <a:ea typeface="Aptos"/>
                <a:cs typeface="Aptos"/>
              </a:defRPr>
            </a:lvl1pPr>
            <a:lvl2pPr>
              <a:defRPr sz="2999" b="1" lang="en-US">
                <a:latin typeface="Aptos"/>
                <a:ea typeface="Aptos"/>
                <a:cs typeface="Aptos"/>
              </a:defRPr>
            </a:lvl2pPr>
            <a:lvl3pPr>
              <a:defRPr sz="2999" b="1" lang="en-US">
                <a:latin typeface="Aptos"/>
                <a:ea typeface="Aptos"/>
                <a:cs typeface="Aptos"/>
              </a:defRPr>
            </a:lvl3pPr>
            <a:lvl4pPr>
              <a:defRPr sz="2999" b="1" lang="en-US">
                <a:latin typeface="Aptos"/>
                <a:ea typeface="Aptos"/>
                <a:cs typeface="Aptos"/>
              </a:defRPr>
            </a:lvl4pPr>
            <a:lvl5pPr>
              <a:defRPr sz="2999" b="1" lang="en-US">
                <a:latin typeface="Aptos"/>
                <a:ea typeface="Aptos"/>
                <a:cs typeface="Aptos"/>
              </a:defRPr>
            </a:lvl5pPr>
            <a:lvl6pPr>
              <a:defRPr sz="2999" b="1" lang="en-US">
                <a:latin typeface="Aptos"/>
                <a:ea typeface="Aptos"/>
                <a:cs typeface="Aptos"/>
              </a:defRPr>
            </a:lvl6pPr>
            <a:lvl7pPr>
              <a:defRPr sz="2999" b="1" lang="en-US">
                <a:latin typeface="Aptos"/>
                <a:ea typeface="Aptos"/>
                <a:cs typeface="Aptos"/>
              </a:defRPr>
            </a:lvl7pPr>
            <a:lvl8pPr>
              <a:defRPr sz="2999" b="1" lang="en-US">
                <a:latin typeface="Aptos"/>
                <a:ea typeface="Aptos"/>
                <a:cs typeface="Aptos"/>
              </a:defRPr>
            </a:lvl8pPr>
            <a:lvl9pPr>
              <a:defRPr sz="29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99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01</a:t>
            </a:r>
            <a:endParaRPr sz="3000" lang="en-US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94C3BD4-65AB-42D5-94BF-0FDD6735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3319272"/>
            <a:ext cx="228600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99" b="1" lang="en-US">
                <a:latin typeface="Aptos"/>
                <a:ea typeface="Aptos"/>
                <a:cs typeface="Aptos"/>
              </a:defRPr>
            </a:defPPr>
            <a:lvl1pPr>
              <a:defRPr sz="1899" b="1" lang="en-US">
                <a:latin typeface="Aptos"/>
                <a:ea typeface="Aptos"/>
                <a:cs typeface="Aptos"/>
              </a:defRPr>
            </a:lvl1pPr>
            <a:lvl2pPr>
              <a:defRPr sz="1899" b="1" lang="en-US">
                <a:latin typeface="Aptos"/>
                <a:ea typeface="Aptos"/>
                <a:cs typeface="Aptos"/>
              </a:defRPr>
            </a:lvl2pPr>
            <a:lvl3pPr>
              <a:defRPr sz="1899" b="1" lang="en-US">
                <a:latin typeface="Aptos"/>
                <a:ea typeface="Aptos"/>
                <a:cs typeface="Aptos"/>
              </a:defRPr>
            </a:lvl3pPr>
            <a:lvl4pPr>
              <a:defRPr sz="1899" b="1" lang="en-US">
                <a:latin typeface="Aptos"/>
                <a:ea typeface="Aptos"/>
                <a:cs typeface="Aptos"/>
              </a:defRPr>
            </a:lvl4pPr>
            <a:lvl5pPr>
              <a:defRPr sz="1899" b="1" lang="en-US">
                <a:latin typeface="Aptos"/>
                <a:ea typeface="Aptos"/>
                <a:cs typeface="Aptos"/>
              </a:defRPr>
            </a:lvl5pPr>
            <a:lvl6pPr>
              <a:defRPr sz="1899" b="1" lang="en-US">
                <a:latin typeface="Aptos"/>
                <a:ea typeface="Aptos"/>
                <a:cs typeface="Aptos"/>
              </a:defRPr>
            </a:lvl6pPr>
            <a:lvl7pPr>
              <a:defRPr sz="1899" b="1" lang="en-US">
                <a:latin typeface="Aptos"/>
                <a:ea typeface="Aptos"/>
                <a:cs typeface="Aptos"/>
              </a:defRPr>
            </a:lvl7pPr>
            <a:lvl8pPr>
              <a:defRPr sz="1899" b="1" lang="en-US">
                <a:latin typeface="Aptos"/>
                <a:ea typeface="Aptos"/>
                <a:cs typeface="Aptos"/>
              </a:defRPr>
            </a:lvl8pPr>
            <a:lvl9pPr>
              <a:defRPr sz="18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8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ANNOUNCEMENT</a:t>
            </a:r>
            <a:endParaRPr sz="1900" lang="en-US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89BC021-2FE9-4AE3-B71B-A547FA90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3986784"/>
            <a:ext cx="22311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DCE4E9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2FE7C17-48A5-4819-83BE-05A899A9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4169664"/>
            <a:ext cx="2295144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defRPr sz="1349" lang="en-US">
                <a:latin typeface="Aptos"/>
                <a:ea typeface="Aptos"/>
                <a:cs typeface="Aptos"/>
              </a:defRPr>
            </a:lvl1pPr>
            <a:lvl2pPr>
              <a:defRPr sz="1349" lang="en-US">
                <a:latin typeface="Aptos"/>
                <a:ea typeface="Aptos"/>
                <a:cs typeface="Aptos"/>
              </a:defRPr>
            </a:lvl2pPr>
            <a:lvl3pPr>
              <a:defRPr sz="1349" lang="en-US">
                <a:latin typeface="Aptos"/>
                <a:ea typeface="Aptos"/>
                <a:cs typeface="Aptos"/>
              </a:defRPr>
            </a:lvl3pPr>
            <a:lvl4pPr>
              <a:defRPr sz="1349" lang="en-US">
                <a:latin typeface="Aptos"/>
                <a:ea typeface="Aptos"/>
                <a:cs typeface="Aptos"/>
              </a:defRPr>
            </a:lvl4pPr>
            <a:lvl5pPr>
              <a:defRPr sz="1349" lang="en-US">
                <a:latin typeface="Aptos"/>
                <a:ea typeface="Aptos"/>
                <a:cs typeface="Aptos"/>
              </a:defRPr>
            </a:lvl5pPr>
            <a:lvl6pPr>
              <a:defRPr sz="1349" lang="en-US">
                <a:latin typeface="Aptos"/>
                <a:ea typeface="Aptos"/>
                <a:cs typeface="Aptos"/>
              </a:defRPr>
            </a:lvl6pPr>
            <a:lvl7pPr>
              <a:defRPr sz="1349" lang="en-US">
                <a:latin typeface="Aptos"/>
                <a:ea typeface="Aptos"/>
                <a:cs typeface="Aptos"/>
              </a:defRPr>
            </a:lvl7pPr>
            <a:lvl8pPr>
              <a:defRPr sz="1349" lang="en-US">
                <a:latin typeface="Aptos"/>
                <a:ea typeface="Aptos"/>
                <a:cs typeface="Aptos"/>
              </a:defRPr>
            </a:lvl8pPr>
            <a:lvl9pPr>
              <a:defRPr sz="134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Goals and priorities</a:t>
            </a:r>
            <a:endParaRPr sz="1350" lang="en-US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98D3DBA-8479-4564-BE31-015E95DF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276856"/>
            <a:ext cx="2670048" cy="2816352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1E224BE-31E9-44FC-B312-3C2253B5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72" y="2587752"/>
            <a:ext cx="23225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99" b="1" lang="en-US">
                <a:latin typeface="Aptos"/>
                <a:ea typeface="Aptos"/>
                <a:cs typeface="Aptos"/>
              </a:defRPr>
            </a:defPPr>
            <a:lvl1pPr>
              <a:defRPr sz="2999" b="1" lang="en-US">
                <a:latin typeface="Aptos"/>
                <a:ea typeface="Aptos"/>
                <a:cs typeface="Aptos"/>
              </a:defRPr>
            </a:lvl1pPr>
            <a:lvl2pPr>
              <a:defRPr sz="2999" b="1" lang="en-US">
                <a:latin typeface="Aptos"/>
                <a:ea typeface="Aptos"/>
                <a:cs typeface="Aptos"/>
              </a:defRPr>
            </a:lvl2pPr>
            <a:lvl3pPr>
              <a:defRPr sz="2999" b="1" lang="en-US">
                <a:latin typeface="Aptos"/>
                <a:ea typeface="Aptos"/>
                <a:cs typeface="Aptos"/>
              </a:defRPr>
            </a:lvl3pPr>
            <a:lvl4pPr>
              <a:defRPr sz="2999" b="1" lang="en-US">
                <a:latin typeface="Aptos"/>
                <a:ea typeface="Aptos"/>
                <a:cs typeface="Aptos"/>
              </a:defRPr>
            </a:lvl4pPr>
            <a:lvl5pPr>
              <a:defRPr sz="2999" b="1" lang="en-US">
                <a:latin typeface="Aptos"/>
                <a:ea typeface="Aptos"/>
                <a:cs typeface="Aptos"/>
              </a:defRPr>
            </a:lvl5pPr>
            <a:lvl6pPr>
              <a:defRPr sz="2999" b="1" lang="en-US">
                <a:latin typeface="Aptos"/>
                <a:ea typeface="Aptos"/>
                <a:cs typeface="Aptos"/>
              </a:defRPr>
            </a:lvl6pPr>
            <a:lvl7pPr>
              <a:defRPr sz="2999" b="1" lang="en-US">
                <a:latin typeface="Aptos"/>
                <a:ea typeface="Aptos"/>
                <a:cs typeface="Aptos"/>
              </a:defRPr>
            </a:lvl7pPr>
            <a:lvl8pPr>
              <a:defRPr sz="2999" b="1" lang="en-US">
                <a:latin typeface="Aptos"/>
                <a:ea typeface="Aptos"/>
                <a:cs typeface="Aptos"/>
              </a:defRPr>
            </a:lvl8pPr>
            <a:lvl9pPr>
              <a:defRPr sz="29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99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02</a:t>
            </a:r>
            <a:endParaRPr sz="3000" lang="en-US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4592D99-72FA-4B76-9506-9C2CF3AB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72" y="3319272"/>
            <a:ext cx="228600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99" b="1" lang="en-US">
                <a:latin typeface="Aptos"/>
                <a:ea typeface="Aptos"/>
                <a:cs typeface="Aptos"/>
              </a:defRPr>
            </a:defPPr>
            <a:lvl1pPr>
              <a:defRPr sz="1899" b="1" lang="en-US">
                <a:latin typeface="Aptos"/>
                <a:ea typeface="Aptos"/>
                <a:cs typeface="Aptos"/>
              </a:defRPr>
            </a:lvl1pPr>
            <a:lvl2pPr>
              <a:defRPr sz="1899" b="1" lang="en-US">
                <a:latin typeface="Aptos"/>
                <a:ea typeface="Aptos"/>
                <a:cs typeface="Aptos"/>
              </a:defRPr>
            </a:lvl2pPr>
            <a:lvl3pPr>
              <a:defRPr sz="1899" b="1" lang="en-US">
                <a:latin typeface="Aptos"/>
                <a:ea typeface="Aptos"/>
                <a:cs typeface="Aptos"/>
              </a:defRPr>
            </a:lvl3pPr>
            <a:lvl4pPr>
              <a:defRPr sz="1899" b="1" lang="en-US">
                <a:latin typeface="Aptos"/>
                <a:ea typeface="Aptos"/>
                <a:cs typeface="Aptos"/>
              </a:defRPr>
            </a:lvl4pPr>
            <a:lvl5pPr>
              <a:defRPr sz="1899" b="1" lang="en-US">
                <a:latin typeface="Aptos"/>
                <a:ea typeface="Aptos"/>
                <a:cs typeface="Aptos"/>
              </a:defRPr>
            </a:lvl5pPr>
            <a:lvl6pPr>
              <a:defRPr sz="1899" b="1" lang="en-US">
                <a:latin typeface="Aptos"/>
                <a:ea typeface="Aptos"/>
                <a:cs typeface="Aptos"/>
              </a:defRPr>
            </a:lvl6pPr>
            <a:lvl7pPr>
              <a:defRPr sz="1899" b="1" lang="en-US">
                <a:latin typeface="Aptos"/>
                <a:ea typeface="Aptos"/>
                <a:cs typeface="Aptos"/>
              </a:defRPr>
            </a:lvl7pPr>
            <a:lvl8pPr>
              <a:defRPr sz="1899" b="1" lang="en-US">
                <a:latin typeface="Aptos"/>
                <a:ea typeface="Aptos"/>
                <a:cs typeface="Aptos"/>
              </a:defRPr>
            </a:lvl8pPr>
            <a:lvl9pPr>
              <a:defRPr sz="18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8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POLICY INSTRUMENT</a:t>
            </a:r>
            <a:endParaRPr sz="1900" lang="en-US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9F0E5F1-7C6D-4A08-AFC7-53538BEE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72" y="3986784"/>
            <a:ext cx="22311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DCE4E9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7B288DC-C171-4512-964C-54A7BE14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72" y="4169664"/>
            <a:ext cx="2295144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defRPr sz="1349" lang="en-US">
                <a:latin typeface="Aptos"/>
                <a:ea typeface="Aptos"/>
                <a:cs typeface="Aptos"/>
              </a:defRPr>
            </a:lvl1pPr>
            <a:lvl2pPr>
              <a:defRPr sz="1349" lang="en-US">
                <a:latin typeface="Aptos"/>
                <a:ea typeface="Aptos"/>
                <a:cs typeface="Aptos"/>
              </a:defRPr>
            </a:lvl2pPr>
            <a:lvl3pPr>
              <a:defRPr sz="1349" lang="en-US">
                <a:latin typeface="Aptos"/>
                <a:ea typeface="Aptos"/>
                <a:cs typeface="Aptos"/>
              </a:defRPr>
            </a:lvl3pPr>
            <a:lvl4pPr>
              <a:defRPr sz="1349" lang="en-US">
                <a:latin typeface="Aptos"/>
                <a:ea typeface="Aptos"/>
                <a:cs typeface="Aptos"/>
              </a:defRPr>
            </a:lvl4pPr>
            <a:lvl5pPr>
              <a:defRPr sz="1349" lang="en-US">
                <a:latin typeface="Aptos"/>
                <a:ea typeface="Aptos"/>
                <a:cs typeface="Aptos"/>
              </a:defRPr>
            </a:lvl5pPr>
            <a:lvl6pPr>
              <a:defRPr sz="1349" lang="en-US">
                <a:latin typeface="Aptos"/>
                <a:ea typeface="Aptos"/>
                <a:cs typeface="Aptos"/>
              </a:defRPr>
            </a:lvl6pPr>
            <a:lvl7pPr>
              <a:defRPr sz="1349" lang="en-US">
                <a:latin typeface="Aptos"/>
                <a:ea typeface="Aptos"/>
                <a:cs typeface="Aptos"/>
              </a:defRPr>
            </a:lvl7pPr>
            <a:lvl8pPr>
              <a:defRPr sz="1349" lang="en-US">
                <a:latin typeface="Aptos"/>
                <a:ea typeface="Aptos"/>
                <a:cs typeface="Aptos"/>
              </a:defRPr>
            </a:lvl8pPr>
            <a:lvl9pPr>
              <a:defRPr sz="134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Rules, budgets,</a:t>
            </a:r>
            <a:endParaRPr sz="1350" lang="en-US"/>
          </a:p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incentives</a:t>
            </a:r>
            <a:endParaRPr sz="1350" lang="en-US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788EAD8-FB20-4ADC-B783-2698A37C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276856"/>
            <a:ext cx="2670048" cy="2816352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4F89015-340C-4583-8F47-25C553D8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87752"/>
            <a:ext cx="23225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99" b="1" lang="en-US">
                <a:latin typeface="Aptos"/>
                <a:ea typeface="Aptos"/>
                <a:cs typeface="Aptos"/>
              </a:defRPr>
            </a:defPPr>
            <a:lvl1pPr>
              <a:defRPr sz="2999" b="1" lang="en-US">
                <a:latin typeface="Aptos"/>
                <a:ea typeface="Aptos"/>
                <a:cs typeface="Aptos"/>
              </a:defRPr>
            </a:lvl1pPr>
            <a:lvl2pPr>
              <a:defRPr sz="2999" b="1" lang="en-US">
                <a:latin typeface="Aptos"/>
                <a:ea typeface="Aptos"/>
                <a:cs typeface="Aptos"/>
              </a:defRPr>
            </a:lvl2pPr>
            <a:lvl3pPr>
              <a:defRPr sz="2999" b="1" lang="en-US">
                <a:latin typeface="Aptos"/>
                <a:ea typeface="Aptos"/>
                <a:cs typeface="Aptos"/>
              </a:defRPr>
            </a:lvl3pPr>
            <a:lvl4pPr>
              <a:defRPr sz="2999" b="1" lang="en-US">
                <a:latin typeface="Aptos"/>
                <a:ea typeface="Aptos"/>
                <a:cs typeface="Aptos"/>
              </a:defRPr>
            </a:lvl4pPr>
            <a:lvl5pPr>
              <a:defRPr sz="2999" b="1" lang="en-US">
                <a:latin typeface="Aptos"/>
                <a:ea typeface="Aptos"/>
                <a:cs typeface="Aptos"/>
              </a:defRPr>
            </a:lvl5pPr>
            <a:lvl6pPr>
              <a:defRPr sz="2999" b="1" lang="en-US">
                <a:latin typeface="Aptos"/>
                <a:ea typeface="Aptos"/>
                <a:cs typeface="Aptos"/>
              </a:defRPr>
            </a:lvl6pPr>
            <a:lvl7pPr>
              <a:defRPr sz="2999" b="1" lang="en-US">
                <a:latin typeface="Aptos"/>
                <a:ea typeface="Aptos"/>
                <a:cs typeface="Aptos"/>
              </a:defRPr>
            </a:lvl7pPr>
            <a:lvl8pPr>
              <a:defRPr sz="2999" b="1" lang="en-US">
                <a:latin typeface="Aptos"/>
                <a:ea typeface="Aptos"/>
                <a:cs typeface="Aptos"/>
              </a:defRPr>
            </a:lvl8pPr>
            <a:lvl9pPr>
              <a:defRPr sz="29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99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03</a:t>
            </a:r>
            <a:endParaRPr sz="3000" lang="en-US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502D8F2-E9C0-46CA-8462-068B808A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19272"/>
            <a:ext cx="228600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99" b="1" lang="en-US">
                <a:latin typeface="Aptos"/>
                <a:ea typeface="Aptos"/>
                <a:cs typeface="Aptos"/>
              </a:defRPr>
            </a:defPPr>
            <a:lvl1pPr>
              <a:defRPr sz="1899" b="1" lang="en-US">
                <a:latin typeface="Aptos"/>
                <a:ea typeface="Aptos"/>
                <a:cs typeface="Aptos"/>
              </a:defRPr>
            </a:lvl1pPr>
            <a:lvl2pPr>
              <a:defRPr sz="1899" b="1" lang="en-US">
                <a:latin typeface="Aptos"/>
                <a:ea typeface="Aptos"/>
                <a:cs typeface="Aptos"/>
              </a:defRPr>
            </a:lvl2pPr>
            <a:lvl3pPr>
              <a:defRPr sz="1899" b="1" lang="en-US">
                <a:latin typeface="Aptos"/>
                <a:ea typeface="Aptos"/>
                <a:cs typeface="Aptos"/>
              </a:defRPr>
            </a:lvl3pPr>
            <a:lvl4pPr>
              <a:defRPr sz="1899" b="1" lang="en-US">
                <a:latin typeface="Aptos"/>
                <a:ea typeface="Aptos"/>
                <a:cs typeface="Aptos"/>
              </a:defRPr>
            </a:lvl4pPr>
            <a:lvl5pPr>
              <a:defRPr sz="1899" b="1" lang="en-US">
                <a:latin typeface="Aptos"/>
                <a:ea typeface="Aptos"/>
                <a:cs typeface="Aptos"/>
              </a:defRPr>
            </a:lvl5pPr>
            <a:lvl6pPr>
              <a:defRPr sz="1899" b="1" lang="en-US">
                <a:latin typeface="Aptos"/>
                <a:ea typeface="Aptos"/>
                <a:cs typeface="Aptos"/>
              </a:defRPr>
            </a:lvl6pPr>
            <a:lvl7pPr>
              <a:defRPr sz="1899" b="1" lang="en-US">
                <a:latin typeface="Aptos"/>
                <a:ea typeface="Aptos"/>
                <a:cs typeface="Aptos"/>
              </a:defRPr>
            </a:lvl7pPr>
            <a:lvl8pPr>
              <a:defRPr sz="1899" b="1" lang="en-US">
                <a:latin typeface="Aptos"/>
                <a:ea typeface="Aptos"/>
                <a:cs typeface="Aptos"/>
              </a:defRPr>
            </a:lvl8pPr>
            <a:lvl9pPr>
              <a:defRPr sz="18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8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IMPLEMENTATION</a:t>
            </a:r>
            <a:endParaRPr sz="1900" lang="en-US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9190E04-E067-4A77-80B3-97C745EC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86784"/>
            <a:ext cx="22311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DCE4E9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D6FF130-667E-4F12-A405-7FD22D40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69664"/>
            <a:ext cx="2295144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defRPr sz="1349" lang="en-US">
                <a:latin typeface="Aptos"/>
                <a:ea typeface="Aptos"/>
                <a:cs typeface="Aptos"/>
              </a:defRPr>
            </a:lvl1pPr>
            <a:lvl2pPr>
              <a:defRPr sz="1349" lang="en-US">
                <a:latin typeface="Aptos"/>
                <a:ea typeface="Aptos"/>
                <a:cs typeface="Aptos"/>
              </a:defRPr>
            </a:lvl2pPr>
            <a:lvl3pPr>
              <a:defRPr sz="1349" lang="en-US">
                <a:latin typeface="Aptos"/>
                <a:ea typeface="Aptos"/>
                <a:cs typeface="Aptos"/>
              </a:defRPr>
            </a:lvl3pPr>
            <a:lvl4pPr>
              <a:defRPr sz="1349" lang="en-US">
                <a:latin typeface="Aptos"/>
                <a:ea typeface="Aptos"/>
                <a:cs typeface="Aptos"/>
              </a:defRPr>
            </a:lvl4pPr>
            <a:lvl5pPr>
              <a:defRPr sz="1349" lang="en-US">
                <a:latin typeface="Aptos"/>
                <a:ea typeface="Aptos"/>
                <a:cs typeface="Aptos"/>
              </a:defRPr>
            </a:lvl5pPr>
            <a:lvl6pPr>
              <a:defRPr sz="1349" lang="en-US">
                <a:latin typeface="Aptos"/>
                <a:ea typeface="Aptos"/>
                <a:cs typeface="Aptos"/>
              </a:defRPr>
            </a:lvl6pPr>
            <a:lvl7pPr>
              <a:defRPr sz="1349" lang="en-US">
                <a:latin typeface="Aptos"/>
                <a:ea typeface="Aptos"/>
                <a:cs typeface="Aptos"/>
              </a:defRPr>
            </a:lvl7pPr>
            <a:lvl8pPr>
              <a:defRPr sz="1349" lang="en-US">
                <a:latin typeface="Aptos"/>
                <a:ea typeface="Aptos"/>
                <a:cs typeface="Aptos"/>
              </a:defRPr>
            </a:lvl8pPr>
            <a:lvl9pPr>
              <a:defRPr sz="134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Plants, contracts,</a:t>
            </a:r>
            <a:endParaRPr sz="1350" lang="en-US"/>
          </a:p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training</a:t>
            </a:r>
            <a:endParaRPr sz="1350" lang="en-US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30EA9C6-E636-4C49-98BE-590011D6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2276856"/>
            <a:ext cx="2670048" cy="2816352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C6E9E6"/>
          </a:solidFill>
          <a:ln xmlns:a="http://schemas.openxmlformats.org/drawingml/2006/main" w="12700">
            <a:solidFill>
              <a:srgbClr val="C6E9E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5E84E90-8B05-4B10-80D0-FB4065AC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328" y="2587752"/>
            <a:ext cx="23225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99" b="1" lang="en-US">
                <a:latin typeface="Aptos"/>
                <a:ea typeface="Aptos"/>
                <a:cs typeface="Aptos"/>
              </a:defRPr>
            </a:defPPr>
            <a:lvl1pPr>
              <a:defRPr sz="2999" b="1" lang="en-US">
                <a:latin typeface="Aptos"/>
                <a:ea typeface="Aptos"/>
                <a:cs typeface="Aptos"/>
              </a:defRPr>
            </a:lvl1pPr>
            <a:lvl2pPr>
              <a:defRPr sz="2999" b="1" lang="en-US">
                <a:latin typeface="Aptos"/>
                <a:ea typeface="Aptos"/>
                <a:cs typeface="Aptos"/>
              </a:defRPr>
            </a:lvl2pPr>
            <a:lvl3pPr>
              <a:defRPr sz="2999" b="1" lang="en-US">
                <a:latin typeface="Aptos"/>
                <a:ea typeface="Aptos"/>
                <a:cs typeface="Aptos"/>
              </a:defRPr>
            </a:lvl3pPr>
            <a:lvl4pPr>
              <a:defRPr sz="2999" b="1" lang="en-US">
                <a:latin typeface="Aptos"/>
                <a:ea typeface="Aptos"/>
                <a:cs typeface="Aptos"/>
              </a:defRPr>
            </a:lvl4pPr>
            <a:lvl5pPr>
              <a:defRPr sz="2999" b="1" lang="en-US">
                <a:latin typeface="Aptos"/>
                <a:ea typeface="Aptos"/>
                <a:cs typeface="Aptos"/>
              </a:defRPr>
            </a:lvl5pPr>
            <a:lvl6pPr>
              <a:defRPr sz="2999" b="1" lang="en-US">
                <a:latin typeface="Aptos"/>
                <a:ea typeface="Aptos"/>
                <a:cs typeface="Aptos"/>
              </a:defRPr>
            </a:lvl6pPr>
            <a:lvl7pPr>
              <a:defRPr sz="2999" b="1" lang="en-US">
                <a:latin typeface="Aptos"/>
                <a:ea typeface="Aptos"/>
                <a:cs typeface="Aptos"/>
              </a:defRPr>
            </a:lvl7pPr>
            <a:lvl8pPr>
              <a:defRPr sz="2999" b="1" lang="en-US">
                <a:latin typeface="Aptos"/>
                <a:ea typeface="Aptos"/>
                <a:cs typeface="Aptos"/>
              </a:defRPr>
            </a:lvl8pPr>
            <a:lvl9pPr>
              <a:defRPr sz="29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99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04</a:t>
            </a:r>
            <a:endParaRPr sz="3000" lang="en-US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0D72776-0F77-461C-8CD6-16C4F9F9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328" y="3319272"/>
            <a:ext cx="228600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99" b="1" lang="en-US">
                <a:latin typeface="Aptos"/>
                <a:ea typeface="Aptos"/>
                <a:cs typeface="Aptos"/>
              </a:defRPr>
            </a:defPPr>
            <a:lvl1pPr>
              <a:defRPr sz="1899" b="1" lang="en-US">
                <a:latin typeface="Aptos"/>
                <a:ea typeface="Aptos"/>
                <a:cs typeface="Aptos"/>
              </a:defRPr>
            </a:lvl1pPr>
            <a:lvl2pPr>
              <a:defRPr sz="1899" b="1" lang="en-US">
                <a:latin typeface="Aptos"/>
                <a:ea typeface="Aptos"/>
                <a:cs typeface="Aptos"/>
              </a:defRPr>
            </a:lvl2pPr>
            <a:lvl3pPr>
              <a:defRPr sz="1899" b="1" lang="en-US">
                <a:latin typeface="Aptos"/>
                <a:ea typeface="Aptos"/>
                <a:cs typeface="Aptos"/>
              </a:defRPr>
            </a:lvl3pPr>
            <a:lvl4pPr>
              <a:defRPr sz="1899" b="1" lang="en-US">
                <a:latin typeface="Aptos"/>
                <a:ea typeface="Aptos"/>
                <a:cs typeface="Aptos"/>
              </a:defRPr>
            </a:lvl4pPr>
            <a:lvl5pPr>
              <a:defRPr sz="1899" b="1" lang="en-US">
                <a:latin typeface="Aptos"/>
                <a:ea typeface="Aptos"/>
                <a:cs typeface="Aptos"/>
              </a:defRPr>
            </a:lvl5pPr>
            <a:lvl6pPr>
              <a:defRPr sz="1899" b="1" lang="en-US">
                <a:latin typeface="Aptos"/>
                <a:ea typeface="Aptos"/>
                <a:cs typeface="Aptos"/>
              </a:defRPr>
            </a:lvl6pPr>
            <a:lvl7pPr>
              <a:defRPr sz="1899" b="1" lang="en-US">
                <a:latin typeface="Aptos"/>
                <a:ea typeface="Aptos"/>
                <a:cs typeface="Aptos"/>
              </a:defRPr>
            </a:lvl7pPr>
            <a:lvl8pPr>
              <a:defRPr sz="1899" b="1" lang="en-US">
                <a:latin typeface="Aptos"/>
                <a:ea typeface="Aptos"/>
                <a:cs typeface="Aptos"/>
              </a:defRPr>
            </a:lvl8pPr>
            <a:lvl9pPr>
              <a:defRPr sz="18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8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OUTCOME</a:t>
            </a:r>
            <a:endParaRPr sz="1900" lang="en-US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65A4B666-3108-4C8F-BAE5-DBFE5496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328" y="3986784"/>
            <a:ext cx="22311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DCE4E9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662BC7F-DC9C-4C5D-AD3D-83EC46C4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328" y="4169664"/>
            <a:ext cx="2295144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defRPr sz="1349" lang="en-US">
                <a:latin typeface="Aptos"/>
                <a:ea typeface="Aptos"/>
                <a:cs typeface="Aptos"/>
              </a:defRPr>
            </a:lvl1pPr>
            <a:lvl2pPr>
              <a:defRPr sz="1349" lang="en-US">
                <a:latin typeface="Aptos"/>
                <a:ea typeface="Aptos"/>
                <a:cs typeface="Aptos"/>
              </a:defRPr>
            </a:lvl2pPr>
            <a:lvl3pPr>
              <a:defRPr sz="1349" lang="en-US">
                <a:latin typeface="Aptos"/>
                <a:ea typeface="Aptos"/>
                <a:cs typeface="Aptos"/>
              </a:defRPr>
            </a:lvl3pPr>
            <a:lvl4pPr>
              <a:defRPr sz="1349" lang="en-US">
                <a:latin typeface="Aptos"/>
                <a:ea typeface="Aptos"/>
                <a:cs typeface="Aptos"/>
              </a:defRPr>
            </a:lvl4pPr>
            <a:lvl5pPr>
              <a:defRPr sz="1349" lang="en-US">
                <a:latin typeface="Aptos"/>
                <a:ea typeface="Aptos"/>
                <a:cs typeface="Aptos"/>
              </a:defRPr>
            </a:lvl5pPr>
            <a:lvl6pPr>
              <a:defRPr sz="1349" lang="en-US">
                <a:latin typeface="Aptos"/>
                <a:ea typeface="Aptos"/>
                <a:cs typeface="Aptos"/>
              </a:defRPr>
            </a:lvl6pPr>
            <a:lvl7pPr>
              <a:defRPr sz="1349" lang="en-US">
                <a:latin typeface="Aptos"/>
                <a:ea typeface="Aptos"/>
                <a:cs typeface="Aptos"/>
              </a:defRPr>
            </a:lvl7pPr>
            <a:lvl8pPr>
              <a:defRPr sz="1349" lang="en-US">
                <a:latin typeface="Aptos"/>
                <a:ea typeface="Aptos"/>
                <a:cs typeface="Aptos"/>
              </a:defRPr>
            </a:lvl8pPr>
            <a:lvl9pPr>
              <a:defRPr sz="134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Productivity, quality,</a:t>
            </a:r>
            <a:endParaRPr sz="1350" lang="en-US"/>
          </a:p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sales</a:t>
            </a:r>
            <a:endParaRPr sz="1350" lang="en-US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C9B682BE-8D58-4BAB-B4F8-A7F7595E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13248"/>
            <a:ext cx="10762488" cy="4572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1D9"/>
          </a:solidFill>
          <a:ln xmlns:a="http://schemas.openxmlformats.org/drawingml/2006/main" w="12700">
            <a:solidFill>
              <a:srgbClr val="FFF1D9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759CE12-0EF4-4FF0-9492-F7C536C6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5495544"/>
            <a:ext cx="10222992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99" b="1" lang="en-US">
                <a:latin typeface="Aptos"/>
                <a:ea typeface="Aptos"/>
                <a:cs typeface="Aptos"/>
              </a:defRPr>
            </a:defPPr>
            <a:lvl1pPr>
              <a:defRPr sz="1599" b="1" lang="en-US">
                <a:latin typeface="Aptos"/>
                <a:ea typeface="Aptos"/>
                <a:cs typeface="Aptos"/>
              </a:defRPr>
            </a:lvl1pPr>
            <a:lvl2pPr>
              <a:defRPr sz="1599" b="1" lang="en-US">
                <a:latin typeface="Aptos"/>
                <a:ea typeface="Aptos"/>
                <a:cs typeface="Aptos"/>
              </a:defRPr>
            </a:lvl2pPr>
            <a:lvl3pPr>
              <a:defRPr sz="1599" b="1" lang="en-US">
                <a:latin typeface="Aptos"/>
                <a:ea typeface="Aptos"/>
                <a:cs typeface="Aptos"/>
              </a:defRPr>
            </a:lvl3pPr>
            <a:lvl4pPr>
              <a:defRPr sz="1599" b="1" lang="en-US">
                <a:latin typeface="Aptos"/>
                <a:ea typeface="Aptos"/>
                <a:cs typeface="Aptos"/>
              </a:defRPr>
            </a:lvl4pPr>
            <a:lvl5pPr>
              <a:defRPr sz="1599" b="1" lang="en-US">
                <a:latin typeface="Aptos"/>
                <a:ea typeface="Aptos"/>
                <a:cs typeface="Aptos"/>
              </a:defRPr>
            </a:lvl5pPr>
            <a:lvl6pPr>
              <a:defRPr sz="1599" b="1" lang="en-US">
                <a:latin typeface="Aptos"/>
                <a:ea typeface="Aptos"/>
                <a:cs typeface="Aptos"/>
              </a:defRPr>
            </a:lvl6pPr>
            <a:lvl7pPr>
              <a:defRPr sz="1599" b="1" lang="en-US">
                <a:latin typeface="Aptos"/>
                <a:ea typeface="Aptos"/>
                <a:cs typeface="Aptos"/>
              </a:defRPr>
            </a:lvl7pPr>
            <a:lvl8pPr>
              <a:defRPr sz="1599" b="1" lang="en-US">
                <a:latin typeface="Aptos"/>
                <a:ea typeface="Aptos"/>
                <a:cs typeface="Aptos"/>
              </a:defRPr>
            </a:lvl8pPr>
            <a:lvl9pPr>
              <a:defRPr sz="15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5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Four distinct levels: an official target does not prove that an investment was profitable.</a:t>
            </a:r>
            <a:endParaRPr sz="1600" lang="en-US"/>
          </a:p>
        </p:txBody>
      </p:sp>
    </p:spTree>
    <p:extLst>
      <p:ext uri="{BB962C8B-B14F-4D97-AF65-F5344CB8AC3E}">
        <p14:creationId xmlns:p14="http://schemas.microsoft.com/office/powerpoint/2010/main" val="202364176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10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B452359F-683A-448B-8F5B-868937E54D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b29d19d384a27"/>
          <a:srcRect xmlns:a="http://schemas.openxmlformats.org/drawingml/2006/main" l="21983" t="0" r="21983" b="0"/>
          <a:stretch xmlns:a="http://schemas.openxmlformats.org/drawingml/2006/main"/>
        </p:blipFill>
        <p:spPr>
          <a:xfrm xmlns:a="http://schemas.openxmlformats.org/drawingml/2006/main">
            <a:off x="6400800" y="0"/>
            <a:ext cx="57908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B2F93812-8D2D-46E9-AD14-F9A78B56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0"/>
            <a:ext cx="109728" cy="6858000"/>
          </a:xfrm>
          <a:prstGeom xmlns:a="http://schemas.openxmlformats.org/drawingml/2006/main" prst="roundRect">
            <a:avLst>
              <a:gd name="adj" fmla="val 133333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625F940-BE60-421F-AF98-55F83461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01" b="1" lang="en-US">
                <a:latin typeface="Aptos"/>
                <a:ea typeface="Aptos"/>
                <a:cs typeface="Aptos"/>
              </a:defRPr>
            </a:defPPr>
            <a:lvl1pPr>
              <a:defRPr sz="1301" b="1" lang="en-US">
                <a:latin typeface="Aptos"/>
                <a:ea typeface="Aptos"/>
                <a:cs typeface="Aptos"/>
              </a:defRPr>
            </a:lvl1pPr>
            <a:lvl2pPr>
              <a:defRPr sz="1301" b="1" lang="en-US">
                <a:latin typeface="Aptos"/>
                <a:ea typeface="Aptos"/>
                <a:cs typeface="Aptos"/>
              </a:defRPr>
            </a:lvl2pPr>
            <a:lvl3pPr>
              <a:defRPr sz="1301" b="1" lang="en-US">
                <a:latin typeface="Aptos"/>
                <a:ea typeface="Aptos"/>
                <a:cs typeface="Aptos"/>
              </a:defRPr>
            </a:lvl3pPr>
            <a:lvl4pPr>
              <a:defRPr sz="1301" b="1" lang="en-US">
                <a:latin typeface="Aptos"/>
                <a:ea typeface="Aptos"/>
                <a:cs typeface="Aptos"/>
              </a:defRPr>
            </a:lvl4pPr>
            <a:lvl5pPr>
              <a:defRPr sz="1301" b="1" lang="en-US">
                <a:latin typeface="Aptos"/>
                <a:ea typeface="Aptos"/>
                <a:cs typeface="Aptos"/>
              </a:defRPr>
            </a:lvl5pPr>
            <a:lvl6pPr>
              <a:defRPr sz="1301" b="1" lang="en-US">
                <a:latin typeface="Aptos"/>
                <a:ea typeface="Aptos"/>
                <a:cs typeface="Aptos"/>
              </a:defRPr>
            </a:lvl6pPr>
            <a:lvl7pPr>
              <a:defRPr sz="1301" b="1" lang="en-US">
                <a:latin typeface="Aptos"/>
                <a:ea typeface="Aptos"/>
                <a:cs typeface="Aptos"/>
              </a:defRPr>
            </a:lvl7pPr>
            <a:lvl8pPr>
              <a:defRPr sz="1301" b="1" lang="en-US">
                <a:latin typeface="Aptos"/>
                <a:ea typeface="Aptos"/>
                <a:cs typeface="Aptos"/>
              </a:defRPr>
            </a:lvl8pPr>
            <a:lvl9pPr>
              <a:defRPr sz="13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01" b="1" spc="200" lang="en-US">
                <a:solidFill>
                  <a:srgbClr val="E6AB50"/>
                </a:solidFill>
                <a:latin typeface="Aptos"/>
                <a:ea typeface="Aptos"/>
                <a:cs typeface="Aptos"/>
              </a:rPr>
              <a:t>SECTION 05</a:t>
            </a:r>
            <a:endParaRPr sz="1300" lang="en-US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640068E-F60F-4E82-93B7-36A5D68A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07008"/>
            <a:ext cx="5394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00" b="1" lang="en-US">
                <a:latin typeface="Aptos"/>
                <a:ea typeface="Aptos"/>
                <a:cs typeface="Aptos"/>
              </a:defRPr>
            </a:defPPr>
            <a:lvl1pPr>
              <a:defRPr sz="2200" b="1" lang="en-US">
                <a:latin typeface="Aptos"/>
                <a:ea typeface="Aptos"/>
                <a:cs typeface="Aptos"/>
              </a:defRPr>
            </a:lvl1pPr>
            <a:lvl2pPr>
              <a:defRPr sz="2200" b="1" lang="en-US">
                <a:latin typeface="Aptos"/>
                <a:ea typeface="Aptos"/>
                <a:cs typeface="Aptos"/>
              </a:defRPr>
            </a:lvl2pPr>
            <a:lvl3pPr>
              <a:defRPr sz="2200" b="1" lang="en-US">
                <a:latin typeface="Aptos"/>
                <a:ea typeface="Aptos"/>
                <a:cs typeface="Aptos"/>
              </a:defRPr>
            </a:lvl3pPr>
            <a:lvl4pPr>
              <a:defRPr sz="2200" b="1" lang="en-US">
                <a:latin typeface="Aptos"/>
                <a:ea typeface="Aptos"/>
                <a:cs typeface="Aptos"/>
              </a:defRPr>
            </a:lvl4pPr>
            <a:lvl5pPr>
              <a:defRPr sz="2200" b="1" lang="en-US">
                <a:latin typeface="Aptos"/>
                <a:ea typeface="Aptos"/>
                <a:cs typeface="Aptos"/>
              </a:defRPr>
            </a:lvl5pPr>
            <a:lvl6pPr>
              <a:defRPr sz="2200" b="1" lang="en-US">
                <a:latin typeface="Aptos"/>
                <a:ea typeface="Aptos"/>
                <a:cs typeface="Aptos"/>
              </a:defRPr>
            </a:lvl6pPr>
            <a:lvl7pPr>
              <a:defRPr sz="2200" b="1" lang="en-US">
                <a:latin typeface="Aptos"/>
                <a:ea typeface="Aptos"/>
                <a:cs typeface="Aptos"/>
              </a:defRPr>
            </a:lvl7pPr>
            <a:lvl8pPr>
              <a:defRPr sz="2200" b="1" lang="en-US">
                <a:latin typeface="Aptos"/>
                <a:ea typeface="Aptos"/>
                <a:cs typeface="Aptos"/>
              </a:defRPr>
            </a:lvl8pPr>
            <a:lvl9pPr>
              <a:defRPr sz="22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200" b="1" spc="120" lang="en-US">
                <a:solidFill>
                  <a:srgbClr val="C6E9E6"/>
                </a:solidFill>
                <a:latin typeface="Aptos"/>
                <a:ea typeface="Aptos"/>
                <a:cs typeface="Aptos"/>
              </a:rPr>
              <a:t>GEOPOLITICS</a:t>
            </a:r>
            <a:endParaRPr sz="2200" lang="en-US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6E576E9-B8E3-4809-8EB0-FB19D035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557784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1" b="1" lang="en-US">
                <a:latin typeface="Aptos"/>
                <a:ea typeface="Aptos"/>
                <a:cs typeface="Aptos"/>
              </a:defRPr>
            </a:defPPr>
            <a:lvl1pPr>
              <a:defRPr sz="3901" b="1" lang="en-US">
                <a:latin typeface="Aptos"/>
                <a:ea typeface="Aptos"/>
                <a:cs typeface="Aptos"/>
              </a:defRPr>
            </a:lvl1pPr>
            <a:lvl2pPr>
              <a:defRPr sz="3901" b="1" lang="en-US">
                <a:latin typeface="Aptos"/>
                <a:ea typeface="Aptos"/>
                <a:cs typeface="Aptos"/>
              </a:defRPr>
            </a:lvl2pPr>
            <a:lvl3pPr>
              <a:defRPr sz="3901" b="1" lang="en-US">
                <a:latin typeface="Aptos"/>
                <a:ea typeface="Aptos"/>
                <a:cs typeface="Aptos"/>
              </a:defRPr>
            </a:lvl3pPr>
            <a:lvl4pPr>
              <a:defRPr sz="3901" b="1" lang="en-US">
                <a:latin typeface="Aptos"/>
                <a:ea typeface="Aptos"/>
                <a:cs typeface="Aptos"/>
              </a:defRPr>
            </a:lvl4pPr>
            <a:lvl5pPr>
              <a:defRPr sz="3901" b="1" lang="en-US">
                <a:latin typeface="Aptos"/>
                <a:ea typeface="Aptos"/>
                <a:cs typeface="Aptos"/>
              </a:defRPr>
            </a:lvl5pPr>
            <a:lvl6pPr>
              <a:defRPr sz="3901" b="1" lang="en-US">
                <a:latin typeface="Aptos"/>
                <a:ea typeface="Aptos"/>
                <a:cs typeface="Aptos"/>
              </a:defRPr>
            </a:lvl6pPr>
            <a:lvl7pPr>
              <a:defRPr sz="3901" b="1" lang="en-US">
                <a:latin typeface="Aptos"/>
                <a:ea typeface="Aptos"/>
                <a:cs typeface="Aptos"/>
              </a:defRPr>
            </a:lvl7pPr>
            <a:lvl8pPr>
              <a:defRPr sz="3901" b="1" lang="en-US">
                <a:latin typeface="Aptos"/>
                <a:ea typeface="Aptos"/>
                <a:cs typeface="Aptos"/>
              </a:defRPr>
            </a:lvl8pPr>
            <a:lvl9pPr>
              <a:defRPr sz="39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390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network also has</a:t>
            </a:r>
            <a:endParaRPr sz="3900" lang="en-US"/>
          </a:p>
          <a:p xmlns:a="http://schemas.openxmlformats.org/drawingml/2006/main">
            <a:pPr marL="0" indent="0" algn="l">
              <a:buNone/>
            </a:pPr>
            <a:r>
              <a:rPr sz="390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weak points</a:t>
            </a:r>
            <a:endParaRPr sz="3900" lang="en-US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7A4D59F-CA79-48F3-904C-1DA514C4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09160"/>
            <a:ext cx="55778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01" lang="en-US">
                <a:latin typeface="Aptos"/>
                <a:ea typeface="Aptos"/>
                <a:cs typeface="Aptos"/>
              </a:defRPr>
            </a:defPPr>
            <a:lvl1pPr>
              <a:defRPr sz="1701" lang="en-US">
                <a:latin typeface="Aptos"/>
                <a:ea typeface="Aptos"/>
                <a:cs typeface="Aptos"/>
              </a:defRPr>
            </a:lvl1pPr>
            <a:lvl2pPr>
              <a:defRPr sz="1701" lang="en-US">
                <a:latin typeface="Aptos"/>
                <a:ea typeface="Aptos"/>
                <a:cs typeface="Aptos"/>
              </a:defRPr>
            </a:lvl2pPr>
            <a:lvl3pPr>
              <a:defRPr sz="1701" lang="en-US">
                <a:latin typeface="Aptos"/>
                <a:ea typeface="Aptos"/>
                <a:cs typeface="Aptos"/>
              </a:defRPr>
            </a:lvl3pPr>
            <a:lvl4pPr>
              <a:defRPr sz="1701" lang="en-US">
                <a:latin typeface="Aptos"/>
                <a:ea typeface="Aptos"/>
                <a:cs typeface="Aptos"/>
              </a:defRPr>
            </a:lvl4pPr>
            <a:lvl5pPr>
              <a:defRPr sz="1701" lang="en-US">
                <a:latin typeface="Aptos"/>
                <a:ea typeface="Aptos"/>
                <a:cs typeface="Aptos"/>
              </a:defRPr>
            </a:lvl5pPr>
            <a:lvl6pPr>
              <a:defRPr sz="1701" lang="en-US">
                <a:latin typeface="Aptos"/>
                <a:ea typeface="Aptos"/>
                <a:cs typeface="Aptos"/>
              </a:defRPr>
            </a:lvl6pPr>
            <a:lvl7pPr>
              <a:defRPr sz="1701" lang="en-US">
                <a:latin typeface="Aptos"/>
                <a:ea typeface="Aptos"/>
                <a:cs typeface="Aptos"/>
              </a:defRPr>
            </a:lvl7pPr>
            <a:lvl8pPr>
              <a:defRPr sz="1701" lang="en-US">
                <a:latin typeface="Aptos"/>
                <a:ea typeface="Aptos"/>
                <a:cs typeface="Aptos"/>
              </a:defRPr>
            </a:lvl8pPr>
            <a:lvl9pPr>
              <a:defRPr sz="170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701" lang="en-US">
                <a:solidFill>
                  <a:srgbClr val="DEE8F0"/>
                </a:solidFill>
                <a:latin typeface="Aptos"/>
                <a:ea typeface="Aptos"/>
                <a:cs typeface="Aptos"/>
              </a:rPr>
              <a:t>Manufacturing strength can coexist with</a:t>
            </a:r>
            <a:endParaRPr sz="1700" lang="en-US"/>
          </a:p>
          <a:p xmlns:a="http://schemas.openxmlformats.org/drawingml/2006/main">
            <a:pPr marL="0" indent="0" algn="l">
              <a:buNone/>
            </a:pPr>
            <a:r>
              <a:rPr sz="1701" lang="en-US">
                <a:solidFill>
                  <a:srgbClr val="DEE8F0"/>
                </a:solidFill>
                <a:latin typeface="Aptos"/>
                <a:ea typeface="Aptos"/>
                <a:cs typeface="Aptos"/>
              </a:rPr>
              <a:t>dependence, overinvestment, and vulnerability.</a:t>
            </a:r>
            <a:endParaRPr sz="1700" lang="en-US"/>
          </a:p>
        </p:txBody>
      </p:sp>
      <p:sp>
        <p:nvSpPr>
          <p:cNvPr id="8" name="illustration-caption-background">
            <a:extLst xmlns:a="http://schemas.openxmlformats.org/drawingml/2006/main">
              <a:ext uri="{FF2B5EF4-FFF2-40B4-BE49-F238E27FC236}">
                <a16:creationId xmlns:a16="http://schemas.microsoft.com/office/drawing/2014/main" id="{B7400835-EAE7-4E0B-890D-69202C08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33350"/>
            <a:ext cx="1733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llustration-caption">
            <a:extLst xmlns:a="http://schemas.openxmlformats.org/drawingml/2006/main">
              <a:ext uri="{FF2B5EF4-FFF2-40B4-BE49-F238E27FC236}">
                <a16:creationId xmlns:a16="http://schemas.microsoft.com/office/drawing/2014/main" id="{3AE541E5-78E9-4B52-9F6B-C323C40E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19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11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1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CONCEPTUAL ILLUSTRATION</a:t>
            </a:r>
          </a:p>
        </p:txBody>
      </p:sp>
    </p:spTree>
    <p:extLst>
      <p:ext uri="{BB962C8B-B14F-4D97-AF65-F5344CB8AC3E}">
        <p14:creationId xmlns:p14="http://schemas.microsoft.com/office/powerpoint/2010/main" val="17221604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BEFC6AC-43FC-4383-89EB-88444FD1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TEACHING EXERCISE 04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EB0B2F5-6588-4CE9-8A44-BE603B27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One missing part can stop the entire line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61E4831-08AB-4880-8846-B7B58D97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Hypothetical example: one essential chip per device, with no substitute.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69441C3-A14D-4682-8023-630F4932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002536"/>
            <a:ext cx="5102352" cy="2212848"/>
          </a:xfrm>
          <a:prstGeom xmlns:a="http://schemas.openxmlformats.org/drawingml/2006/main" prst="roundRect">
            <a:avLst>
              <a:gd name="adj" fmla="val 5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809343C-C079-4A9B-9FCF-D529FF9D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130552"/>
            <a:ext cx="4736592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4601" b="1" lang="en-US">
                <a:latin typeface="Aptos"/>
                <a:ea typeface="Aptos"/>
                <a:cs typeface="Aptos"/>
              </a:defRPr>
            </a:defPPr>
            <a:lvl1pPr>
              <a:defRPr sz="4601" b="1" lang="en-US">
                <a:latin typeface="Aptos"/>
                <a:ea typeface="Aptos"/>
                <a:cs typeface="Aptos"/>
              </a:defRPr>
            </a:lvl1pPr>
            <a:lvl2pPr>
              <a:defRPr sz="4601" b="1" lang="en-US">
                <a:latin typeface="Aptos"/>
                <a:ea typeface="Aptos"/>
                <a:cs typeface="Aptos"/>
              </a:defRPr>
            </a:lvl2pPr>
            <a:lvl3pPr>
              <a:defRPr sz="4601" b="1" lang="en-US">
                <a:latin typeface="Aptos"/>
                <a:ea typeface="Aptos"/>
                <a:cs typeface="Aptos"/>
              </a:defRPr>
            </a:lvl3pPr>
            <a:lvl4pPr>
              <a:defRPr sz="4601" b="1" lang="en-US">
                <a:latin typeface="Aptos"/>
                <a:ea typeface="Aptos"/>
                <a:cs typeface="Aptos"/>
              </a:defRPr>
            </a:lvl4pPr>
            <a:lvl5pPr>
              <a:defRPr sz="4601" b="1" lang="en-US">
                <a:latin typeface="Aptos"/>
                <a:ea typeface="Aptos"/>
                <a:cs typeface="Aptos"/>
              </a:defRPr>
            </a:lvl5pPr>
            <a:lvl6pPr>
              <a:defRPr sz="4601" b="1" lang="en-US">
                <a:latin typeface="Aptos"/>
                <a:ea typeface="Aptos"/>
                <a:cs typeface="Aptos"/>
              </a:defRPr>
            </a:lvl6pPr>
            <a:lvl7pPr>
              <a:defRPr sz="4601" b="1" lang="en-US">
                <a:latin typeface="Aptos"/>
                <a:ea typeface="Aptos"/>
                <a:cs typeface="Aptos"/>
              </a:defRPr>
            </a:lvl7pPr>
            <a:lvl8pPr>
              <a:defRPr sz="4601" b="1" lang="en-US">
                <a:latin typeface="Aptos"/>
                <a:ea typeface="Aptos"/>
                <a:cs typeface="Aptos"/>
              </a:defRPr>
            </a:lvl8pPr>
            <a:lvl9pPr>
              <a:defRPr sz="46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4601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10,000</a:t>
            </a:r>
            <a:endParaRPr sz="4600" lang="en-US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56D482F-BB2C-4FAF-8019-9FBB699F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834640"/>
            <a:ext cx="4700016" cy="1252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Weekly factory capacity</a:t>
            </a:r>
            <a:endParaRPr sz="1200" lang="en-US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BC695CF-DA30-45C8-AD77-8A0EAB4C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2002536"/>
            <a:ext cx="5102352" cy="2212848"/>
          </a:xfrm>
          <a:prstGeom xmlns:a="http://schemas.openxmlformats.org/drawingml/2006/main" prst="roundRect">
            <a:avLst>
              <a:gd name="adj" fmla="val 5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A2B0CEF-E0C5-4943-B105-638B6702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130552"/>
            <a:ext cx="4736592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4601" b="1" lang="en-US">
                <a:latin typeface="Aptos"/>
                <a:ea typeface="Aptos"/>
                <a:cs typeface="Aptos"/>
              </a:defRPr>
            </a:defPPr>
            <a:lvl1pPr>
              <a:defRPr sz="4601" b="1" lang="en-US">
                <a:latin typeface="Aptos"/>
                <a:ea typeface="Aptos"/>
                <a:cs typeface="Aptos"/>
              </a:defRPr>
            </a:lvl1pPr>
            <a:lvl2pPr>
              <a:defRPr sz="4601" b="1" lang="en-US">
                <a:latin typeface="Aptos"/>
                <a:ea typeface="Aptos"/>
                <a:cs typeface="Aptos"/>
              </a:defRPr>
            </a:lvl2pPr>
            <a:lvl3pPr>
              <a:defRPr sz="4601" b="1" lang="en-US">
                <a:latin typeface="Aptos"/>
                <a:ea typeface="Aptos"/>
                <a:cs typeface="Aptos"/>
              </a:defRPr>
            </a:lvl3pPr>
            <a:lvl4pPr>
              <a:defRPr sz="4601" b="1" lang="en-US">
                <a:latin typeface="Aptos"/>
                <a:ea typeface="Aptos"/>
                <a:cs typeface="Aptos"/>
              </a:defRPr>
            </a:lvl4pPr>
            <a:lvl5pPr>
              <a:defRPr sz="4601" b="1" lang="en-US">
                <a:latin typeface="Aptos"/>
                <a:ea typeface="Aptos"/>
                <a:cs typeface="Aptos"/>
              </a:defRPr>
            </a:lvl5pPr>
            <a:lvl6pPr>
              <a:defRPr sz="4601" b="1" lang="en-US">
                <a:latin typeface="Aptos"/>
                <a:ea typeface="Aptos"/>
                <a:cs typeface="Aptos"/>
              </a:defRPr>
            </a:lvl6pPr>
            <a:lvl7pPr>
              <a:defRPr sz="4601" b="1" lang="en-US">
                <a:latin typeface="Aptos"/>
                <a:ea typeface="Aptos"/>
                <a:cs typeface="Aptos"/>
              </a:defRPr>
            </a:lvl7pPr>
            <a:lvl8pPr>
              <a:defRPr sz="4601" b="1" lang="en-US">
                <a:latin typeface="Aptos"/>
                <a:ea typeface="Aptos"/>
                <a:cs typeface="Aptos"/>
              </a:defRPr>
            </a:lvl8pPr>
            <a:lvl9pPr>
              <a:defRPr sz="46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4601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6,000</a:t>
            </a:r>
            <a:endParaRPr sz="4600" lang="en-US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7B868DD-2A6E-4B31-9F8D-F0BF18E0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34640"/>
            <a:ext cx="4700016" cy="1252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Critical chips available</a:t>
            </a:r>
            <a:endParaRPr sz="1200" lang="en-US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083A07D-8CCE-42F9-9252-78B69B5E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572000"/>
            <a:ext cx="10579608" cy="713232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4E66ED7-6066-4D9C-83C0-A9829A53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727448"/>
            <a:ext cx="10168128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 lang="en-US">
                <a:latin typeface="Aptos"/>
                <a:ea typeface="Aptos"/>
                <a:cs typeface="Aptos"/>
              </a:defRPr>
            </a:defPPr>
            <a:lvl1pPr>
              <a:defRPr sz="1800" b="1" lang="en-US">
                <a:latin typeface="Aptos"/>
                <a:ea typeface="Aptos"/>
                <a:cs typeface="Aptos"/>
              </a:defRPr>
            </a:lvl1pPr>
            <a:lvl2pPr>
              <a:defRPr sz="1800" b="1" lang="en-US">
                <a:latin typeface="Aptos"/>
                <a:ea typeface="Aptos"/>
                <a:cs typeface="Aptos"/>
              </a:defRPr>
            </a:lvl2pPr>
            <a:lvl3pPr>
              <a:defRPr sz="1800" b="1" lang="en-US">
                <a:latin typeface="Aptos"/>
                <a:ea typeface="Aptos"/>
                <a:cs typeface="Aptos"/>
              </a:defRPr>
            </a:lvl3pPr>
            <a:lvl4pPr>
              <a:defRPr sz="1800" b="1" lang="en-US">
                <a:latin typeface="Aptos"/>
                <a:ea typeface="Aptos"/>
                <a:cs typeface="Aptos"/>
              </a:defRPr>
            </a:lvl4pPr>
            <a:lvl5pPr>
              <a:defRPr sz="1800" b="1" lang="en-US">
                <a:latin typeface="Aptos"/>
                <a:ea typeface="Aptos"/>
                <a:cs typeface="Aptos"/>
              </a:defRPr>
            </a:lvl5pPr>
            <a:lvl6pPr>
              <a:defRPr sz="1800" b="1" lang="en-US">
                <a:latin typeface="Aptos"/>
                <a:ea typeface="Aptos"/>
                <a:cs typeface="Aptos"/>
              </a:defRPr>
            </a:lvl6pPr>
            <a:lvl7pPr>
              <a:defRPr sz="1800" b="1" lang="en-US">
                <a:latin typeface="Aptos"/>
                <a:ea typeface="Aptos"/>
                <a:cs typeface="Aptos"/>
              </a:defRPr>
            </a:lvl7pPr>
            <a:lvl8pPr>
              <a:defRPr sz="1800" b="1" lang="en-US">
                <a:latin typeface="Aptos"/>
                <a:ea typeface="Aptos"/>
                <a:cs typeface="Aptos"/>
              </a:defRPr>
            </a:lvl8pPr>
            <a:lvl9pPr>
              <a:defRPr sz="18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800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Maximum possible output: 6,000 devices  →  40% of capacity unused</a:t>
            </a:r>
          </a:p>
        </p:txBody>
      </p:sp>
    </p:spTree>
    <p:extLst>
      <p:ext uri="{BB962C8B-B14F-4D97-AF65-F5344CB8AC3E}">
        <p14:creationId xmlns:p14="http://schemas.microsoft.com/office/powerpoint/2010/main" val="91426727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20A3B6D-81FA-4DF3-B5F6-AF48A997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TECHNOLOGICAL RIVALRY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D843DB0-E8D8-4577-B6B1-7526EA56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China and the United States have different strengths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6A364E9-DAE2-4785-93DA-6401A9E5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Competition depends on the segment analyzed, not one overall scoreboard.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576936B-BEE0-45A4-ABEB-16F0DEB7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1956816"/>
            <a:ext cx="5303520" cy="3410712"/>
          </a:xfrm>
          <a:prstGeom xmlns:a="http://schemas.openxmlformats.org/drawingml/2006/main" prst="roundRect">
            <a:avLst>
              <a:gd name="adj" fmla="val 42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5FF786A-63EE-4D44-86F9-71733AE3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56816"/>
            <a:ext cx="5303520" cy="3410712"/>
          </a:xfrm>
          <a:prstGeom xmlns:a="http://schemas.openxmlformats.org/drawingml/2006/main" prst="roundRect">
            <a:avLst>
              <a:gd name="adj" fmla="val 42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1A1CF9D-9EF8-4440-BB41-96A1664D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221992"/>
            <a:ext cx="1344168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F839258-0998-4599-98C3-73B54DED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240280"/>
            <a:ext cx="11247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40" b="1" lang="en-US">
                <a:latin typeface="Aptos"/>
                <a:ea typeface="Aptos"/>
                <a:cs typeface="Aptos"/>
              </a:defRPr>
            </a:defPPr>
            <a:lvl1pPr>
              <a:defRPr sz="1040" b="1" lang="en-US">
                <a:latin typeface="Aptos"/>
                <a:ea typeface="Aptos"/>
                <a:cs typeface="Aptos"/>
              </a:defRPr>
            </a:lvl1pPr>
            <a:lvl2pPr>
              <a:defRPr sz="1040" b="1" lang="en-US">
                <a:latin typeface="Aptos"/>
                <a:ea typeface="Aptos"/>
                <a:cs typeface="Aptos"/>
              </a:defRPr>
            </a:lvl2pPr>
            <a:lvl3pPr>
              <a:defRPr sz="1040" b="1" lang="en-US">
                <a:latin typeface="Aptos"/>
                <a:ea typeface="Aptos"/>
                <a:cs typeface="Aptos"/>
              </a:defRPr>
            </a:lvl3pPr>
            <a:lvl4pPr>
              <a:defRPr sz="1040" b="1" lang="en-US">
                <a:latin typeface="Aptos"/>
                <a:ea typeface="Aptos"/>
                <a:cs typeface="Aptos"/>
              </a:defRPr>
            </a:lvl4pPr>
            <a:lvl5pPr>
              <a:defRPr sz="1040" b="1" lang="en-US">
                <a:latin typeface="Aptos"/>
                <a:ea typeface="Aptos"/>
                <a:cs typeface="Aptos"/>
              </a:defRPr>
            </a:lvl5pPr>
            <a:lvl6pPr>
              <a:defRPr sz="1040" b="1" lang="en-US">
                <a:latin typeface="Aptos"/>
                <a:ea typeface="Aptos"/>
                <a:cs typeface="Aptos"/>
              </a:defRPr>
            </a:lvl6pPr>
            <a:lvl7pPr>
              <a:defRPr sz="1040" b="1" lang="en-US">
                <a:latin typeface="Aptos"/>
                <a:ea typeface="Aptos"/>
                <a:cs typeface="Aptos"/>
              </a:defRPr>
            </a:lvl7pPr>
            <a:lvl8pPr>
              <a:defRPr sz="1040" b="1" lang="en-US">
                <a:latin typeface="Aptos"/>
                <a:ea typeface="Aptos"/>
                <a:cs typeface="Aptos"/>
              </a:defRPr>
            </a:lvl8pPr>
            <a:lvl9pPr>
              <a:defRPr sz="104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040" b="1" spc="70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CHINA</a:t>
            </a:r>
            <a:endParaRPr sz="1040" lang="en-US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3B0F367-4C00-4686-802B-04BCE141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21992"/>
            <a:ext cx="228600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DBAC603-6E02-4C08-8732-369BB933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2240280"/>
            <a:ext cx="206654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40" b="1" lang="en-US">
                <a:latin typeface="Aptos"/>
                <a:ea typeface="Aptos"/>
                <a:cs typeface="Aptos"/>
              </a:defRPr>
            </a:defPPr>
            <a:lvl1pPr>
              <a:defRPr sz="1040" b="1" lang="en-US">
                <a:latin typeface="Aptos"/>
                <a:ea typeface="Aptos"/>
                <a:cs typeface="Aptos"/>
              </a:defRPr>
            </a:lvl1pPr>
            <a:lvl2pPr>
              <a:defRPr sz="1040" b="1" lang="en-US">
                <a:latin typeface="Aptos"/>
                <a:ea typeface="Aptos"/>
                <a:cs typeface="Aptos"/>
              </a:defRPr>
            </a:lvl2pPr>
            <a:lvl3pPr>
              <a:defRPr sz="1040" b="1" lang="en-US">
                <a:latin typeface="Aptos"/>
                <a:ea typeface="Aptos"/>
                <a:cs typeface="Aptos"/>
              </a:defRPr>
            </a:lvl3pPr>
            <a:lvl4pPr>
              <a:defRPr sz="1040" b="1" lang="en-US">
                <a:latin typeface="Aptos"/>
                <a:ea typeface="Aptos"/>
                <a:cs typeface="Aptos"/>
              </a:defRPr>
            </a:lvl4pPr>
            <a:lvl5pPr>
              <a:defRPr sz="1040" b="1" lang="en-US">
                <a:latin typeface="Aptos"/>
                <a:ea typeface="Aptos"/>
                <a:cs typeface="Aptos"/>
              </a:defRPr>
            </a:lvl5pPr>
            <a:lvl6pPr>
              <a:defRPr sz="1040" b="1" lang="en-US">
                <a:latin typeface="Aptos"/>
                <a:ea typeface="Aptos"/>
                <a:cs typeface="Aptos"/>
              </a:defRPr>
            </a:lvl6pPr>
            <a:lvl7pPr>
              <a:defRPr sz="1040" b="1" lang="en-US">
                <a:latin typeface="Aptos"/>
                <a:ea typeface="Aptos"/>
                <a:cs typeface="Aptos"/>
              </a:defRPr>
            </a:lvl7pPr>
            <a:lvl8pPr>
              <a:defRPr sz="1040" b="1" lang="en-US">
                <a:latin typeface="Aptos"/>
                <a:ea typeface="Aptos"/>
                <a:cs typeface="Aptos"/>
              </a:defRPr>
            </a:lvl8pPr>
            <a:lvl9pPr>
              <a:defRPr sz="104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040" b="1" spc="70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UNITED STATES</a:t>
            </a:r>
            <a:endParaRPr sz="1040" lang="en-US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3403F51-32A7-4399-A5B6-B16F40B6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1693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D5C7EA8-2FC4-4A47-A771-015E5B76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807208"/>
            <a:ext cx="4334256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lang="en-US">
                <a:latin typeface="Aptos"/>
                <a:ea typeface="Aptos"/>
                <a:cs typeface="Aptos"/>
              </a:defRPr>
            </a:defPPr>
            <a:lvl1pPr>
              <a:defRPr sz="1499" lang="en-US">
                <a:latin typeface="Aptos"/>
                <a:ea typeface="Aptos"/>
                <a:cs typeface="Aptos"/>
              </a:defRPr>
            </a:lvl1pPr>
            <a:lvl2pPr>
              <a:defRPr sz="1499" lang="en-US">
                <a:latin typeface="Aptos"/>
                <a:ea typeface="Aptos"/>
                <a:cs typeface="Aptos"/>
              </a:defRPr>
            </a:lvl2pPr>
            <a:lvl3pPr>
              <a:defRPr sz="1499" lang="en-US">
                <a:latin typeface="Aptos"/>
                <a:ea typeface="Aptos"/>
                <a:cs typeface="Aptos"/>
              </a:defRPr>
            </a:lvl3pPr>
            <a:lvl4pPr>
              <a:defRPr sz="1499" lang="en-US">
                <a:latin typeface="Aptos"/>
                <a:ea typeface="Aptos"/>
                <a:cs typeface="Aptos"/>
              </a:defRPr>
            </a:lvl4pPr>
            <a:lvl5pPr>
              <a:defRPr sz="1499" lang="en-US">
                <a:latin typeface="Aptos"/>
                <a:ea typeface="Aptos"/>
                <a:cs typeface="Aptos"/>
              </a:defRPr>
            </a:lvl5pPr>
            <a:lvl6pPr>
              <a:defRPr sz="1499" lang="en-US">
                <a:latin typeface="Aptos"/>
                <a:ea typeface="Aptos"/>
                <a:cs typeface="Aptos"/>
              </a:defRPr>
            </a:lvl6pPr>
            <a:lvl7pPr>
              <a:defRPr sz="1499" lang="en-US">
                <a:latin typeface="Aptos"/>
                <a:ea typeface="Aptos"/>
                <a:cs typeface="Aptos"/>
              </a:defRPr>
            </a:lvl7pPr>
            <a:lvl8pPr>
              <a:defRPr sz="1499" lang="en-US">
                <a:latin typeface="Aptos"/>
                <a:ea typeface="Aptos"/>
                <a:cs typeface="Aptos"/>
              </a:defRPr>
            </a:lvl8pPr>
            <a:lvl9pPr>
              <a:defRPr sz="149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Manufacturing scale</a:t>
            </a:r>
            <a:endParaRPr sz="1500" lang="en-US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2B101A9-21F6-4190-8235-69B651BC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C83301B-788C-4D03-B7C4-44F4B1B2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319272"/>
            <a:ext cx="4334256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lang="en-US">
                <a:latin typeface="Aptos"/>
                <a:ea typeface="Aptos"/>
                <a:cs typeface="Aptos"/>
              </a:defRPr>
            </a:defPPr>
            <a:lvl1pPr>
              <a:defRPr sz="1499" lang="en-US">
                <a:latin typeface="Aptos"/>
                <a:ea typeface="Aptos"/>
                <a:cs typeface="Aptos"/>
              </a:defRPr>
            </a:lvl1pPr>
            <a:lvl2pPr>
              <a:defRPr sz="1499" lang="en-US">
                <a:latin typeface="Aptos"/>
                <a:ea typeface="Aptos"/>
                <a:cs typeface="Aptos"/>
              </a:defRPr>
            </a:lvl2pPr>
            <a:lvl3pPr>
              <a:defRPr sz="1499" lang="en-US">
                <a:latin typeface="Aptos"/>
                <a:ea typeface="Aptos"/>
                <a:cs typeface="Aptos"/>
              </a:defRPr>
            </a:lvl3pPr>
            <a:lvl4pPr>
              <a:defRPr sz="1499" lang="en-US">
                <a:latin typeface="Aptos"/>
                <a:ea typeface="Aptos"/>
                <a:cs typeface="Aptos"/>
              </a:defRPr>
            </a:lvl4pPr>
            <a:lvl5pPr>
              <a:defRPr sz="1499" lang="en-US">
                <a:latin typeface="Aptos"/>
                <a:ea typeface="Aptos"/>
                <a:cs typeface="Aptos"/>
              </a:defRPr>
            </a:lvl5pPr>
            <a:lvl6pPr>
              <a:defRPr sz="1499" lang="en-US">
                <a:latin typeface="Aptos"/>
                <a:ea typeface="Aptos"/>
                <a:cs typeface="Aptos"/>
              </a:defRPr>
            </a:lvl6pPr>
            <a:lvl7pPr>
              <a:defRPr sz="1499" lang="en-US">
                <a:latin typeface="Aptos"/>
                <a:ea typeface="Aptos"/>
                <a:cs typeface="Aptos"/>
              </a:defRPr>
            </a:lvl7pPr>
            <a:lvl8pPr>
              <a:defRPr sz="1499" lang="en-US">
                <a:latin typeface="Aptos"/>
                <a:ea typeface="Aptos"/>
                <a:cs typeface="Aptos"/>
              </a:defRPr>
            </a:lvl8pPr>
            <a:lvl9pPr>
              <a:defRPr sz="149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Dense supplier networks</a:t>
            </a:r>
            <a:endParaRPr sz="1500" lang="en-US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218CC34-2C0C-4335-8F28-5FD77B03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941064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DE28441-49AC-4862-9E82-F1E95224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831336"/>
            <a:ext cx="4334256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lang="en-US">
                <a:latin typeface="Aptos"/>
                <a:ea typeface="Aptos"/>
                <a:cs typeface="Aptos"/>
              </a:defRPr>
            </a:defPPr>
            <a:lvl1pPr>
              <a:defRPr sz="1499" lang="en-US">
                <a:latin typeface="Aptos"/>
                <a:ea typeface="Aptos"/>
                <a:cs typeface="Aptos"/>
              </a:defRPr>
            </a:lvl1pPr>
            <a:lvl2pPr>
              <a:defRPr sz="1499" lang="en-US">
                <a:latin typeface="Aptos"/>
                <a:ea typeface="Aptos"/>
                <a:cs typeface="Aptos"/>
              </a:defRPr>
            </a:lvl2pPr>
            <a:lvl3pPr>
              <a:defRPr sz="1499" lang="en-US">
                <a:latin typeface="Aptos"/>
                <a:ea typeface="Aptos"/>
                <a:cs typeface="Aptos"/>
              </a:defRPr>
            </a:lvl3pPr>
            <a:lvl4pPr>
              <a:defRPr sz="1499" lang="en-US">
                <a:latin typeface="Aptos"/>
                <a:ea typeface="Aptos"/>
                <a:cs typeface="Aptos"/>
              </a:defRPr>
            </a:lvl4pPr>
            <a:lvl5pPr>
              <a:defRPr sz="1499" lang="en-US">
                <a:latin typeface="Aptos"/>
                <a:ea typeface="Aptos"/>
                <a:cs typeface="Aptos"/>
              </a:defRPr>
            </a:lvl5pPr>
            <a:lvl6pPr>
              <a:defRPr sz="1499" lang="en-US">
                <a:latin typeface="Aptos"/>
                <a:ea typeface="Aptos"/>
                <a:cs typeface="Aptos"/>
              </a:defRPr>
            </a:lvl6pPr>
            <a:lvl7pPr>
              <a:defRPr sz="1499" lang="en-US">
                <a:latin typeface="Aptos"/>
                <a:ea typeface="Aptos"/>
                <a:cs typeface="Aptos"/>
              </a:defRPr>
            </a:lvl7pPr>
            <a:lvl8pPr>
              <a:defRPr sz="1499" lang="en-US">
                <a:latin typeface="Aptos"/>
                <a:ea typeface="Aptos"/>
                <a:cs typeface="Aptos"/>
              </a:defRPr>
            </a:lvl8pPr>
            <a:lvl9pPr>
              <a:defRPr sz="149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Industrial robot installations</a:t>
            </a:r>
            <a:endParaRPr sz="1500" lang="en-US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611B0F6-8062-48A1-9EC4-BDF1B7E3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53128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AA907C3-00BD-4611-A5AD-2DF64356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343400"/>
            <a:ext cx="4334256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99" lang="en-US">
                <a:latin typeface="Aptos"/>
                <a:ea typeface="Aptos"/>
                <a:cs typeface="Aptos"/>
              </a:defRPr>
            </a:defPPr>
            <a:lvl1pPr>
              <a:defRPr sz="1499" lang="en-US">
                <a:latin typeface="Aptos"/>
                <a:ea typeface="Aptos"/>
                <a:cs typeface="Aptos"/>
              </a:defRPr>
            </a:lvl1pPr>
            <a:lvl2pPr>
              <a:defRPr sz="1499" lang="en-US">
                <a:latin typeface="Aptos"/>
                <a:ea typeface="Aptos"/>
                <a:cs typeface="Aptos"/>
              </a:defRPr>
            </a:lvl2pPr>
            <a:lvl3pPr>
              <a:defRPr sz="1499" lang="en-US">
                <a:latin typeface="Aptos"/>
                <a:ea typeface="Aptos"/>
                <a:cs typeface="Aptos"/>
              </a:defRPr>
            </a:lvl3pPr>
            <a:lvl4pPr>
              <a:defRPr sz="1499" lang="en-US">
                <a:latin typeface="Aptos"/>
                <a:ea typeface="Aptos"/>
                <a:cs typeface="Aptos"/>
              </a:defRPr>
            </a:lvl4pPr>
            <a:lvl5pPr>
              <a:defRPr sz="1499" lang="en-US">
                <a:latin typeface="Aptos"/>
                <a:ea typeface="Aptos"/>
                <a:cs typeface="Aptos"/>
              </a:defRPr>
            </a:lvl5pPr>
            <a:lvl6pPr>
              <a:defRPr sz="1499" lang="en-US">
                <a:latin typeface="Aptos"/>
                <a:ea typeface="Aptos"/>
                <a:cs typeface="Aptos"/>
              </a:defRPr>
            </a:lvl6pPr>
            <a:lvl7pPr>
              <a:defRPr sz="1499" lang="en-US">
                <a:latin typeface="Aptos"/>
                <a:ea typeface="Aptos"/>
                <a:cs typeface="Aptos"/>
              </a:defRPr>
            </a:lvl7pPr>
            <a:lvl8pPr>
              <a:defRPr sz="1499" lang="en-US">
                <a:latin typeface="Aptos"/>
                <a:ea typeface="Aptos"/>
                <a:cs typeface="Aptos"/>
              </a:defRPr>
            </a:lvl8pPr>
            <a:lvl9pPr>
              <a:defRPr sz="149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9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Batteries and electric vehicles</a:t>
            </a:r>
            <a:endParaRPr sz="1500" lang="en-US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3681CCE-FEA7-4C18-AE3F-D755C9F6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291693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A9F8162-29D7-453A-A5BB-CA045F8C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7208"/>
            <a:ext cx="43434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20" lang="en-US">
                <a:latin typeface="Aptos"/>
                <a:ea typeface="Aptos"/>
                <a:cs typeface="Aptos"/>
              </a:defRPr>
            </a:defPPr>
            <a:lvl1pPr>
              <a:defRPr sz="1420" lang="en-US">
                <a:latin typeface="Aptos"/>
                <a:ea typeface="Aptos"/>
                <a:cs typeface="Aptos"/>
              </a:defRPr>
            </a:lvl1pPr>
            <a:lvl2pPr>
              <a:defRPr sz="1420" lang="en-US">
                <a:latin typeface="Aptos"/>
                <a:ea typeface="Aptos"/>
                <a:cs typeface="Aptos"/>
              </a:defRPr>
            </a:lvl2pPr>
            <a:lvl3pPr>
              <a:defRPr sz="1420" lang="en-US">
                <a:latin typeface="Aptos"/>
                <a:ea typeface="Aptos"/>
                <a:cs typeface="Aptos"/>
              </a:defRPr>
            </a:lvl3pPr>
            <a:lvl4pPr>
              <a:defRPr sz="1420" lang="en-US">
                <a:latin typeface="Aptos"/>
                <a:ea typeface="Aptos"/>
                <a:cs typeface="Aptos"/>
              </a:defRPr>
            </a:lvl4pPr>
            <a:lvl5pPr>
              <a:defRPr sz="1420" lang="en-US">
                <a:latin typeface="Aptos"/>
                <a:ea typeface="Aptos"/>
                <a:cs typeface="Aptos"/>
              </a:defRPr>
            </a:lvl5pPr>
            <a:lvl6pPr>
              <a:defRPr sz="1420" lang="en-US">
                <a:latin typeface="Aptos"/>
                <a:ea typeface="Aptos"/>
                <a:cs typeface="Aptos"/>
              </a:defRPr>
            </a:lvl6pPr>
            <a:lvl7pPr>
              <a:defRPr sz="1420" lang="en-US">
                <a:latin typeface="Aptos"/>
                <a:ea typeface="Aptos"/>
                <a:cs typeface="Aptos"/>
              </a:defRPr>
            </a:lvl7pPr>
            <a:lvl8pPr>
              <a:defRPr sz="1420" lang="en-US">
                <a:latin typeface="Aptos"/>
                <a:ea typeface="Aptos"/>
                <a:cs typeface="Aptos"/>
              </a:defRPr>
            </a:lvl8pPr>
            <a:lvl9pPr>
              <a:defRPr sz="142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2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Frontier-model ecosystem</a:t>
            </a:r>
            <a:endParaRPr sz="1420" lang="en-US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B7DA462-5CF5-4D0C-ACBB-56E2B5F3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342900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9CFDDBE-772B-43F2-9741-9629F780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19272"/>
            <a:ext cx="43434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20" lang="en-US">
                <a:latin typeface="Aptos"/>
                <a:ea typeface="Aptos"/>
                <a:cs typeface="Aptos"/>
              </a:defRPr>
            </a:defPPr>
            <a:lvl1pPr>
              <a:defRPr sz="1420" lang="en-US">
                <a:latin typeface="Aptos"/>
                <a:ea typeface="Aptos"/>
                <a:cs typeface="Aptos"/>
              </a:defRPr>
            </a:lvl1pPr>
            <a:lvl2pPr>
              <a:defRPr sz="1420" lang="en-US">
                <a:latin typeface="Aptos"/>
                <a:ea typeface="Aptos"/>
                <a:cs typeface="Aptos"/>
              </a:defRPr>
            </a:lvl2pPr>
            <a:lvl3pPr>
              <a:defRPr sz="1420" lang="en-US">
                <a:latin typeface="Aptos"/>
                <a:ea typeface="Aptos"/>
                <a:cs typeface="Aptos"/>
              </a:defRPr>
            </a:lvl3pPr>
            <a:lvl4pPr>
              <a:defRPr sz="1420" lang="en-US">
                <a:latin typeface="Aptos"/>
                <a:ea typeface="Aptos"/>
                <a:cs typeface="Aptos"/>
              </a:defRPr>
            </a:lvl4pPr>
            <a:lvl5pPr>
              <a:defRPr sz="1420" lang="en-US">
                <a:latin typeface="Aptos"/>
                <a:ea typeface="Aptos"/>
                <a:cs typeface="Aptos"/>
              </a:defRPr>
            </a:lvl5pPr>
            <a:lvl6pPr>
              <a:defRPr sz="1420" lang="en-US">
                <a:latin typeface="Aptos"/>
                <a:ea typeface="Aptos"/>
                <a:cs typeface="Aptos"/>
              </a:defRPr>
            </a:lvl6pPr>
            <a:lvl7pPr>
              <a:defRPr sz="1420" lang="en-US">
                <a:latin typeface="Aptos"/>
                <a:ea typeface="Aptos"/>
                <a:cs typeface="Aptos"/>
              </a:defRPr>
            </a:lvl7pPr>
            <a:lvl8pPr>
              <a:defRPr sz="1420" lang="en-US">
                <a:latin typeface="Aptos"/>
                <a:ea typeface="Aptos"/>
                <a:cs typeface="Aptos"/>
              </a:defRPr>
            </a:lvl8pPr>
            <a:lvl9pPr>
              <a:defRPr sz="142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2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Cloud computing and digital platforms</a:t>
            </a:r>
            <a:endParaRPr sz="1420" lang="en-US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DFC6CB7-7FFD-492E-BD29-2873C94B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3941064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5D3C691-A08C-4005-B593-C19701FA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31336"/>
            <a:ext cx="43434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20" lang="en-US">
                <a:latin typeface="Aptos"/>
                <a:ea typeface="Aptos"/>
                <a:cs typeface="Aptos"/>
              </a:defRPr>
            </a:defPPr>
            <a:lvl1pPr>
              <a:defRPr sz="1420" lang="en-US">
                <a:latin typeface="Aptos"/>
                <a:ea typeface="Aptos"/>
                <a:cs typeface="Aptos"/>
              </a:defRPr>
            </a:lvl1pPr>
            <a:lvl2pPr>
              <a:defRPr sz="1420" lang="en-US">
                <a:latin typeface="Aptos"/>
                <a:ea typeface="Aptos"/>
                <a:cs typeface="Aptos"/>
              </a:defRPr>
            </a:lvl2pPr>
            <a:lvl3pPr>
              <a:defRPr sz="1420" lang="en-US">
                <a:latin typeface="Aptos"/>
                <a:ea typeface="Aptos"/>
                <a:cs typeface="Aptos"/>
              </a:defRPr>
            </a:lvl3pPr>
            <a:lvl4pPr>
              <a:defRPr sz="1420" lang="en-US">
                <a:latin typeface="Aptos"/>
                <a:ea typeface="Aptos"/>
                <a:cs typeface="Aptos"/>
              </a:defRPr>
            </a:lvl4pPr>
            <a:lvl5pPr>
              <a:defRPr sz="1420" lang="en-US">
                <a:latin typeface="Aptos"/>
                <a:ea typeface="Aptos"/>
                <a:cs typeface="Aptos"/>
              </a:defRPr>
            </a:lvl5pPr>
            <a:lvl6pPr>
              <a:defRPr sz="1420" lang="en-US">
                <a:latin typeface="Aptos"/>
                <a:ea typeface="Aptos"/>
                <a:cs typeface="Aptos"/>
              </a:defRPr>
            </a:lvl6pPr>
            <a:lvl7pPr>
              <a:defRPr sz="1420" lang="en-US">
                <a:latin typeface="Aptos"/>
                <a:ea typeface="Aptos"/>
                <a:cs typeface="Aptos"/>
              </a:defRPr>
            </a:lvl7pPr>
            <a:lvl8pPr>
              <a:defRPr sz="1420" lang="en-US">
                <a:latin typeface="Aptos"/>
                <a:ea typeface="Aptos"/>
                <a:cs typeface="Aptos"/>
              </a:defRPr>
            </a:lvl8pPr>
            <a:lvl9pPr>
              <a:defRPr sz="142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2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Specialized software and tools</a:t>
            </a:r>
            <a:endParaRPr sz="1420" lang="en-US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414E46E3-5D56-4A3F-B614-C7E872C4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4453128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12A84E5-E510-45AD-80CC-56A954DB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43400"/>
            <a:ext cx="43434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20" lang="en-US">
                <a:latin typeface="Aptos"/>
                <a:ea typeface="Aptos"/>
                <a:cs typeface="Aptos"/>
              </a:defRPr>
            </a:defPPr>
            <a:lvl1pPr>
              <a:defRPr sz="1420" lang="en-US">
                <a:latin typeface="Aptos"/>
                <a:ea typeface="Aptos"/>
                <a:cs typeface="Aptos"/>
              </a:defRPr>
            </a:lvl1pPr>
            <a:lvl2pPr>
              <a:defRPr sz="1420" lang="en-US">
                <a:latin typeface="Aptos"/>
                <a:ea typeface="Aptos"/>
                <a:cs typeface="Aptos"/>
              </a:defRPr>
            </a:lvl2pPr>
            <a:lvl3pPr>
              <a:defRPr sz="1420" lang="en-US">
                <a:latin typeface="Aptos"/>
                <a:ea typeface="Aptos"/>
                <a:cs typeface="Aptos"/>
              </a:defRPr>
            </a:lvl3pPr>
            <a:lvl4pPr>
              <a:defRPr sz="1420" lang="en-US">
                <a:latin typeface="Aptos"/>
                <a:ea typeface="Aptos"/>
                <a:cs typeface="Aptos"/>
              </a:defRPr>
            </a:lvl4pPr>
            <a:lvl5pPr>
              <a:defRPr sz="1420" lang="en-US">
                <a:latin typeface="Aptos"/>
                <a:ea typeface="Aptos"/>
                <a:cs typeface="Aptos"/>
              </a:defRPr>
            </a:lvl5pPr>
            <a:lvl6pPr>
              <a:defRPr sz="1420" lang="en-US">
                <a:latin typeface="Aptos"/>
                <a:ea typeface="Aptos"/>
                <a:cs typeface="Aptos"/>
              </a:defRPr>
            </a:lvl6pPr>
            <a:lvl7pPr>
              <a:defRPr sz="1420" lang="en-US">
                <a:latin typeface="Aptos"/>
                <a:ea typeface="Aptos"/>
                <a:cs typeface="Aptos"/>
              </a:defRPr>
            </a:lvl7pPr>
            <a:lvl8pPr>
              <a:defRPr sz="1420" lang="en-US">
                <a:latin typeface="Aptos"/>
                <a:ea typeface="Aptos"/>
                <a:cs typeface="Aptos"/>
              </a:defRPr>
            </a:lvl8pPr>
            <a:lvl9pPr>
              <a:defRPr sz="142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2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International technology alliances</a:t>
            </a:r>
            <a:endParaRPr sz="1420" lang="en-US"/>
          </a:p>
        </p:txBody>
      </p:sp>
    </p:spTree>
    <p:extLst>
      <p:ext uri="{BB962C8B-B14F-4D97-AF65-F5344CB8AC3E}">
        <p14:creationId xmlns:p14="http://schemas.microsoft.com/office/powerpoint/2010/main" val="193495823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972A66F-6CD6-4774-97E1-373DEA59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THE PARADOX OF SUCCESS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15369C2-2E2E-46F7-8CD4-2C54864D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A strong industry can also generate excess capacity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0BBC3E3-F57C-450B-AEF6-D2EDA418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Hypothetical example of installed capacity and demand in comparable units.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70DB63D-A37B-4979-A770-C57EF324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947672"/>
            <a:ext cx="10479024" cy="3502152"/>
          </a:xfrm>
          <a:prstGeom xmlns:a="http://schemas.openxmlformats.org/drawingml/2006/main" prst="roundRect">
            <a:avLst>
              <a:gd name="adj" fmla="val 41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E6432B1-E144-4E3A-A496-9B49FE04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2359152"/>
            <a:ext cx="459943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01" b="1" lang="en-US">
                <a:latin typeface="Aptos"/>
                <a:ea typeface="Aptos"/>
                <a:cs typeface="Aptos"/>
              </a:defRPr>
            </a:defPPr>
            <a:lvl1pPr>
              <a:defRPr sz="1701" b="1" lang="en-US">
                <a:latin typeface="Aptos"/>
                <a:ea typeface="Aptos"/>
                <a:cs typeface="Aptos"/>
              </a:defRPr>
            </a:lvl1pPr>
            <a:lvl2pPr>
              <a:defRPr sz="1701" b="1" lang="en-US">
                <a:latin typeface="Aptos"/>
                <a:ea typeface="Aptos"/>
                <a:cs typeface="Aptos"/>
              </a:defRPr>
            </a:lvl2pPr>
            <a:lvl3pPr>
              <a:defRPr sz="1701" b="1" lang="en-US">
                <a:latin typeface="Aptos"/>
                <a:ea typeface="Aptos"/>
                <a:cs typeface="Aptos"/>
              </a:defRPr>
            </a:lvl3pPr>
            <a:lvl4pPr>
              <a:defRPr sz="1701" b="1" lang="en-US">
                <a:latin typeface="Aptos"/>
                <a:ea typeface="Aptos"/>
                <a:cs typeface="Aptos"/>
              </a:defRPr>
            </a:lvl4pPr>
            <a:lvl5pPr>
              <a:defRPr sz="1701" b="1" lang="en-US">
                <a:latin typeface="Aptos"/>
                <a:ea typeface="Aptos"/>
                <a:cs typeface="Aptos"/>
              </a:defRPr>
            </a:lvl5pPr>
            <a:lvl6pPr>
              <a:defRPr sz="1701" b="1" lang="en-US">
                <a:latin typeface="Aptos"/>
                <a:ea typeface="Aptos"/>
                <a:cs typeface="Aptos"/>
              </a:defRPr>
            </a:lvl6pPr>
            <a:lvl7pPr>
              <a:defRPr sz="1701" b="1" lang="en-US">
                <a:latin typeface="Aptos"/>
                <a:ea typeface="Aptos"/>
                <a:cs typeface="Aptos"/>
              </a:defRPr>
            </a:lvl7pPr>
            <a:lvl8pPr>
              <a:defRPr sz="1701" b="1" lang="en-US">
                <a:latin typeface="Aptos"/>
                <a:ea typeface="Aptos"/>
                <a:cs typeface="Aptos"/>
              </a:defRPr>
            </a:lvl8pPr>
            <a:lvl9pPr>
              <a:defRPr sz="17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70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INSTALLED CAPACITY</a:t>
            </a:r>
            <a:endParaRPr sz="1700" lang="en-US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D8FAEC2-202E-4DC6-809B-F5834946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313432"/>
            <a:ext cx="2404872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500" b="1" lang="en-US">
                <a:latin typeface="Aptos"/>
                <a:ea typeface="Aptos"/>
                <a:cs typeface="Aptos"/>
              </a:defRPr>
            </a:defPPr>
            <a:lvl1pPr>
              <a:defRPr sz="2500" b="1" lang="en-US">
                <a:latin typeface="Aptos"/>
                <a:ea typeface="Aptos"/>
                <a:cs typeface="Aptos"/>
              </a:defRPr>
            </a:lvl1pPr>
            <a:lvl2pPr>
              <a:defRPr sz="2500" b="1" lang="en-US">
                <a:latin typeface="Aptos"/>
                <a:ea typeface="Aptos"/>
                <a:cs typeface="Aptos"/>
              </a:defRPr>
            </a:lvl2pPr>
            <a:lvl3pPr>
              <a:defRPr sz="2500" b="1" lang="en-US">
                <a:latin typeface="Aptos"/>
                <a:ea typeface="Aptos"/>
                <a:cs typeface="Aptos"/>
              </a:defRPr>
            </a:lvl3pPr>
            <a:lvl4pPr>
              <a:defRPr sz="2500" b="1" lang="en-US">
                <a:latin typeface="Aptos"/>
                <a:ea typeface="Aptos"/>
                <a:cs typeface="Aptos"/>
              </a:defRPr>
            </a:lvl4pPr>
            <a:lvl5pPr>
              <a:defRPr sz="2500" b="1" lang="en-US">
                <a:latin typeface="Aptos"/>
                <a:ea typeface="Aptos"/>
                <a:cs typeface="Aptos"/>
              </a:defRPr>
            </a:lvl5pPr>
            <a:lvl6pPr>
              <a:defRPr sz="2500" b="1" lang="en-US">
                <a:latin typeface="Aptos"/>
                <a:ea typeface="Aptos"/>
                <a:cs typeface="Aptos"/>
              </a:defRPr>
            </a:lvl6pPr>
            <a:lvl7pPr>
              <a:defRPr sz="2500" b="1" lang="en-US">
                <a:latin typeface="Aptos"/>
                <a:ea typeface="Aptos"/>
                <a:cs typeface="Aptos"/>
              </a:defRPr>
            </a:lvl7pPr>
            <a:lvl8pPr>
              <a:defRPr sz="2500" b="1" lang="en-US">
                <a:latin typeface="Aptos"/>
                <a:ea typeface="Aptos"/>
                <a:cs typeface="Aptos"/>
              </a:defRPr>
            </a:lvl8pPr>
            <a:lvl9pPr>
              <a:defRPr sz="25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sz="25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1,000,000</a:t>
            </a:r>
            <a:endParaRPr sz="2500" lang="en-US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4AE925B-CCD3-4AA7-80CA-2D4DDF61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2889504"/>
            <a:ext cx="9592056" cy="310896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E7EDF3"/>
          </a:solidFill>
          <a:ln xmlns:a="http://schemas.openxmlformats.org/drawingml/2006/main" w="12700">
            <a:solidFill>
              <a:srgbClr val="E7EDF3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85314FB-9084-4935-94D7-62C90E41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2889504"/>
            <a:ext cx="9592056" cy="310896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65788A"/>
          </a:solidFill>
          <a:ln xmlns:a="http://schemas.openxmlformats.org/drawingml/2006/main" w="12700">
            <a:solidFill>
              <a:srgbClr val="65788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43EA120-F30F-4988-9A52-3BF1DD9D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3483864"/>
            <a:ext cx="451713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01" b="1" lang="en-US">
                <a:latin typeface="Aptos"/>
                <a:ea typeface="Aptos"/>
                <a:cs typeface="Aptos"/>
              </a:defRPr>
            </a:defPPr>
            <a:lvl1pPr>
              <a:defRPr sz="1701" b="1" lang="en-US">
                <a:latin typeface="Aptos"/>
                <a:ea typeface="Aptos"/>
                <a:cs typeface="Aptos"/>
              </a:defRPr>
            </a:lvl1pPr>
            <a:lvl2pPr>
              <a:defRPr sz="1701" b="1" lang="en-US">
                <a:latin typeface="Aptos"/>
                <a:ea typeface="Aptos"/>
                <a:cs typeface="Aptos"/>
              </a:defRPr>
            </a:lvl2pPr>
            <a:lvl3pPr>
              <a:defRPr sz="1701" b="1" lang="en-US">
                <a:latin typeface="Aptos"/>
                <a:ea typeface="Aptos"/>
                <a:cs typeface="Aptos"/>
              </a:defRPr>
            </a:lvl3pPr>
            <a:lvl4pPr>
              <a:defRPr sz="1701" b="1" lang="en-US">
                <a:latin typeface="Aptos"/>
                <a:ea typeface="Aptos"/>
                <a:cs typeface="Aptos"/>
              </a:defRPr>
            </a:lvl4pPr>
            <a:lvl5pPr>
              <a:defRPr sz="1701" b="1" lang="en-US">
                <a:latin typeface="Aptos"/>
                <a:ea typeface="Aptos"/>
                <a:cs typeface="Aptos"/>
              </a:defRPr>
            </a:lvl5pPr>
            <a:lvl6pPr>
              <a:defRPr sz="1701" b="1" lang="en-US">
                <a:latin typeface="Aptos"/>
                <a:ea typeface="Aptos"/>
                <a:cs typeface="Aptos"/>
              </a:defRPr>
            </a:lvl6pPr>
            <a:lvl7pPr>
              <a:defRPr sz="1701" b="1" lang="en-US">
                <a:latin typeface="Aptos"/>
                <a:ea typeface="Aptos"/>
                <a:cs typeface="Aptos"/>
              </a:defRPr>
            </a:lvl7pPr>
            <a:lvl8pPr>
              <a:defRPr sz="1701" b="1" lang="en-US">
                <a:latin typeface="Aptos"/>
                <a:ea typeface="Aptos"/>
                <a:cs typeface="Aptos"/>
              </a:defRPr>
            </a:lvl8pPr>
            <a:lvl9pPr>
              <a:defRPr sz="17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70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EFFECTIVE DEMAND</a:t>
            </a:r>
            <a:endParaRPr sz="1700" lang="en-US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EFD4E11-4BAB-4050-8F51-A73149D5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3465576"/>
            <a:ext cx="2267712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500" b="1" lang="en-US">
                <a:latin typeface="Aptos"/>
                <a:ea typeface="Aptos"/>
                <a:cs typeface="Aptos"/>
              </a:defRPr>
            </a:defPPr>
            <a:lvl1pPr>
              <a:defRPr sz="2500" b="1" lang="en-US">
                <a:latin typeface="Aptos"/>
                <a:ea typeface="Aptos"/>
                <a:cs typeface="Aptos"/>
              </a:defRPr>
            </a:lvl1pPr>
            <a:lvl2pPr>
              <a:defRPr sz="2500" b="1" lang="en-US">
                <a:latin typeface="Aptos"/>
                <a:ea typeface="Aptos"/>
                <a:cs typeface="Aptos"/>
              </a:defRPr>
            </a:lvl2pPr>
            <a:lvl3pPr>
              <a:defRPr sz="2500" b="1" lang="en-US">
                <a:latin typeface="Aptos"/>
                <a:ea typeface="Aptos"/>
                <a:cs typeface="Aptos"/>
              </a:defRPr>
            </a:lvl3pPr>
            <a:lvl4pPr>
              <a:defRPr sz="2500" b="1" lang="en-US">
                <a:latin typeface="Aptos"/>
                <a:ea typeface="Aptos"/>
                <a:cs typeface="Aptos"/>
              </a:defRPr>
            </a:lvl4pPr>
            <a:lvl5pPr>
              <a:defRPr sz="2500" b="1" lang="en-US">
                <a:latin typeface="Aptos"/>
                <a:ea typeface="Aptos"/>
                <a:cs typeface="Aptos"/>
              </a:defRPr>
            </a:lvl5pPr>
            <a:lvl6pPr>
              <a:defRPr sz="2500" b="1" lang="en-US">
                <a:latin typeface="Aptos"/>
                <a:ea typeface="Aptos"/>
                <a:cs typeface="Aptos"/>
              </a:defRPr>
            </a:lvl6pPr>
            <a:lvl7pPr>
              <a:defRPr sz="2500" b="1" lang="en-US">
                <a:latin typeface="Aptos"/>
                <a:ea typeface="Aptos"/>
                <a:cs typeface="Aptos"/>
              </a:defRPr>
            </a:lvl7pPr>
            <a:lvl8pPr>
              <a:defRPr sz="2500" b="1" lang="en-US">
                <a:latin typeface="Aptos"/>
                <a:ea typeface="Aptos"/>
                <a:cs typeface="Aptos"/>
              </a:defRPr>
            </a:lvl8pPr>
            <a:lvl9pPr>
              <a:defRPr sz="25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sz="2500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650,000</a:t>
            </a:r>
            <a:endParaRPr sz="2500" lang="en-US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65355C2-4F49-4D69-92B0-C53A9129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4023360"/>
            <a:ext cx="9592056" cy="310896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E7EDF3"/>
          </a:solidFill>
          <a:ln xmlns:a="http://schemas.openxmlformats.org/drawingml/2006/main" w="12700">
            <a:solidFill>
              <a:srgbClr val="E7EDF3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D392899-3BAB-4331-A193-2E650DB1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4023360"/>
            <a:ext cx="6236208" cy="310896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16803CC-A676-43D7-9E48-B687C106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81728"/>
            <a:ext cx="9473184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99" b="1" lang="en-US">
                <a:latin typeface="Aptos"/>
                <a:ea typeface="Aptos"/>
                <a:cs typeface="Aptos"/>
              </a:defRPr>
            </a:defPPr>
            <a:lvl1pPr>
              <a:defRPr sz="1899" b="1" lang="en-US">
                <a:latin typeface="Aptos"/>
                <a:ea typeface="Aptos"/>
                <a:cs typeface="Aptos"/>
              </a:defRPr>
            </a:lvl1pPr>
            <a:lvl2pPr>
              <a:defRPr sz="1899" b="1" lang="en-US">
                <a:latin typeface="Aptos"/>
                <a:ea typeface="Aptos"/>
                <a:cs typeface="Aptos"/>
              </a:defRPr>
            </a:lvl2pPr>
            <a:lvl3pPr>
              <a:defRPr sz="1899" b="1" lang="en-US">
                <a:latin typeface="Aptos"/>
                <a:ea typeface="Aptos"/>
                <a:cs typeface="Aptos"/>
              </a:defRPr>
            </a:lvl3pPr>
            <a:lvl4pPr>
              <a:defRPr sz="1899" b="1" lang="en-US">
                <a:latin typeface="Aptos"/>
                <a:ea typeface="Aptos"/>
                <a:cs typeface="Aptos"/>
              </a:defRPr>
            </a:lvl4pPr>
            <a:lvl5pPr>
              <a:defRPr sz="1899" b="1" lang="en-US">
                <a:latin typeface="Aptos"/>
                <a:ea typeface="Aptos"/>
                <a:cs typeface="Aptos"/>
              </a:defRPr>
            </a:lvl5pPr>
            <a:lvl6pPr>
              <a:defRPr sz="1899" b="1" lang="en-US">
                <a:latin typeface="Aptos"/>
                <a:ea typeface="Aptos"/>
                <a:cs typeface="Aptos"/>
              </a:defRPr>
            </a:lvl6pPr>
            <a:lvl7pPr>
              <a:defRPr sz="1899" b="1" lang="en-US">
                <a:latin typeface="Aptos"/>
                <a:ea typeface="Aptos"/>
                <a:cs typeface="Aptos"/>
              </a:defRPr>
            </a:lvl7pPr>
            <a:lvl8pPr>
              <a:defRPr sz="1899" b="1" lang="en-US">
                <a:latin typeface="Aptos"/>
                <a:ea typeface="Aptos"/>
                <a:cs typeface="Aptos"/>
              </a:defRPr>
            </a:lvl8pPr>
            <a:lvl9pPr>
              <a:defRPr sz="18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899" b="1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65% utilization · 35% idle capacity</a:t>
            </a:r>
            <a:endParaRPr sz="1900" lang="en-US"/>
          </a:p>
        </p:txBody>
      </p:sp>
    </p:spTree>
    <p:extLst>
      <p:ext uri="{BB962C8B-B14F-4D97-AF65-F5344CB8AC3E}">
        <p14:creationId xmlns:p14="http://schemas.microsoft.com/office/powerpoint/2010/main" val="28069469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3261A46-02DC-40C8-B9CB-A74214A5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REAL-WORLD CASE · ELECTRIC VEHICLES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5D14ECE-5F23-46D1-9EA6-62ACDEE3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More production, intense competition, and rising exports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4690F6-F6A0-40C1-809A-0D350A3B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Electric vehicles in 2025. Production, sales, and exports are different series.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9FC6ED4-B0ED-41C6-8F64-30488C34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947672"/>
            <a:ext cx="3648456" cy="2029968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FA14684-E706-4E69-B24F-10609917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03704"/>
            <a:ext cx="3227832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99" b="1" lang="en-US">
                <a:latin typeface="Aptos"/>
                <a:ea typeface="Aptos"/>
                <a:cs typeface="Aptos"/>
              </a:defRPr>
            </a:defPPr>
            <a:lvl1pPr>
              <a:defRPr sz="3699" b="1" lang="en-US">
                <a:latin typeface="Aptos"/>
                <a:ea typeface="Aptos"/>
                <a:cs typeface="Aptos"/>
              </a:defRPr>
            </a:lvl1pPr>
            <a:lvl2pPr>
              <a:defRPr sz="3699" b="1" lang="en-US">
                <a:latin typeface="Aptos"/>
                <a:ea typeface="Aptos"/>
                <a:cs typeface="Aptos"/>
              </a:defRPr>
            </a:lvl2pPr>
            <a:lvl3pPr>
              <a:defRPr sz="3699" b="1" lang="en-US">
                <a:latin typeface="Aptos"/>
                <a:ea typeface="Aptos"/>
                <a:cs typeface="Aptos"/>
              </a:defRPr>
            </a:lvl3pPr>
            <a:lvl4pPr>
              <a:defRPr sz="3699" b="1" lang="en-US">
                <a:latin typeface="Aptos"/>
                <a:ea typeface="Aptos"/>
                <a:cs typeface="Aptos"/>
              </a:defRPr>
            </a:lvl4pPr>
            <a:lvl5pPr>
              <a:defRPr sz="3699" b="1" lang="en-US">
                <a:latin typeface="Aptos"/>
                <a:ea typeface="Aptos"/>
                <a:cs typeface="Aptos"/>
              </a:defRPr>
            </a:lvl5pPr>
            <a:lvl6pPr>
              <a:defRPr sz="3699" b="1" lang="en-US">
                <a:latin typeface="Aptos"/>
                <a:ea typeface="Aptos"/>
                <a:cs typeface="Aptos"/>
              </a:defRPr>
            </a:lvl6pPr>
            <a:lvl7pPr>
              <a:defRPr sz="3699" b="1" lang="en-US">
                <a:latin typeface="Aptos"/>
                <a:ea typeface="Aptos"/>
                <a:cs typeface="Aptos"/>
              </a:defRPr>
            </a:lvl7pPr>
            <a:lvl8pPr>
              <a:defRPr sz="3699" b="1" lang="en-US">
                <a:latin typeface="Aptos"/>
                <a:ea typeface="Aptos"/>
                <a:cs typeface="Aptos"/>
              </a:defRPr>
            </a:lvl8pPr>
            <a:lvl9pPr>
              <a:defRPr sz="36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3699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≈16 M</a:t>
            </a:r>
            <a:endParaRPr sz="3700" lang="en-US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D85EF4D-7573-49C4-A18D-C7E2D070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063240"/>
            <a:ext cx="3209544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40" lang="en-US">
                <a:latin typeface="Aptos"/>
                <a:ea typeface="Aptos"/>
                <a:cs typeface="Aptos"/>
              </a:defRPr>
            </a:defPPr>
            <a:lvl1pPr>
              <a:defRPr sz="1440" lang="en-US">
                <a:latin typeface="Aptos"/>
                <a:ea typeface="Aptos"/>
                <a:cs typeface="Aptos"/>
              </a:defRPr>
            </a:lvl1pPr>
            <a:lvl2pPr>
              <a:defRPr sz="1440" lang="en-US">
                <a:latin typeface="Aptos"/>
                <a:ea typeface="Aptos"/>
                <a:cs typeface="Aptos"/>
              </a:defRPr>
            </a:lvl2pPr>
            <a:lvl3pPr>
              <a:defRPr sz="1440" lang="en-US">
                <a:latin typeface="Aptos"/>
                <a:ea typeface="Aptos"/>
                <a:cs typeface="Aptos"/>
              </a:defRPr>
            </a:lvl3pPr>
            <a:lvl4pPr>
              <a:defRPr sz="1440" lang="en-US">
                <a:latin typeface="Aptos"/>
                <a:ea typeface="Aptos"/>
                <a:cs typeface="Aptos"/>
              </a:defRPr>
            </a:lvl4pPr>
            <a:lvl5pPr>
              <a:defRPr sz="1440" lang="en-US">
                <a:latin typeface="Aptos"/>
                <a:ea typeface="Aptos"/>
                <a:cs typeface="Aptos"/>
              </a:defRPr>
            </a:lvl5pPr>
            <a:lvl6pPr>
              <a:defRPr sz="1440" lang="en-US">
                <a:latin typeface="Aptos"/>
                <a:ea typeface="Aptos"/>
                <a:cs typeface="Aptos"/>
              </a:defRPr>
            </a:lvl6pPr>
            <a:lvl7pPr>
              <a:defRPr sz="1440" lang="en-US">
                <a:latin typeface="Aptos"/>
                <a:ea typeface="Aptos"/>
                <a:cs typeface="Aptos"/>
              </a:defRPr>
            </a:lvl7pPr>
            <a:lvl8pPr>
              <a:defRPr sz="1440" lang="en-US">
                <a:latin typeface="Aptos"/>
                <a:ea typeface="Aptos"/>
                <a:cs typeface="Aptos"/>
              </a:defRPr>
            </a:lvl8pPr>
            <a:lvl9pPr>
              <a:defRPr sz="144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4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EVs manufactured in</a:t>
            </a:r>
            <a:endParaRPr sz="1440" lang="en-US"/>
          </a:p>
          <a:p xmlns:a="http://schemas.openxmlformats.org/drawingml/2006/main">
            <a:pPr marL="0" indent="0" algn="l">
              <a:buNone/>
            </a:pPr>
            <a:r>
              <a:rPr sz="144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China</a:t>
            </a:r>
            <a:endParaRPr sz="1440" lang="en-US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43D84D1-1197-42FE-BC53-2B9479B4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47672"/>
            <a:ext cx="3648456" cy="2029968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A9FE761-6FC2-4D8F-9EBB-79957AE9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2203704"/>
            <a:ext cx="3227832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99" b="1" lang="en-US">
                <a:latin typeface="Aptos"/>
                <a:ea typeface="Aptos"/>
                <a:cs typeface="Aptos"/>
              </a:defRPr>
            </a:defPPr>
            <a:lvl1pPr>
              <a:defRPr sz="3699" b="1" lang="en-US">
                <a:latin typeface="Aptos"/>
                <a:ea typeface="Aptos"/>
                <a:cs typeface="Aptos"/>
              </a:defRPr>
            </a:lvl1pPr>
            <a:lvl2pPr>
              <a:defRPr sz="3699" b="1" lang="en-US">
                <a:latin typeface="Aptos"/>
                <a:ea typeface="Aptos"/>
                <a:cs typeface="Aptos"/>
              </a:defRPr>
            </a:lvl2pPr>
            <a:lvl3pPr>
              <a:defRPr sz="3699" b="1" lang="en-US">
                <a:latin typeface="Aptos"/>
                <a:ea typeface="Aptos"/>
                <a:cs typeface="Aptos"/>
              </a:defRPr>
            </a:lvl3pPr>
            <a:lvl4pPr>
              <a:defRPr sz="3699" b="1" lang="en-US">
                <a:latin typeface="Aptos"/>
                <a:ea typeface="Aptos"/>
                <a:cs typeface="Aptos"/>
              </a:defRPr>
            </a:lvl4pPr>
            <a:lvl5pPr>
              <a:defRPr sz="3699" b="1" lang="en-US">
                <a:latin typeface="Aptos"/>
                <a:ea typeface="Aptos"/>
                <a:cs typeface="Aptos"/>
              </a:defRPr>
            </a:lvl5pPr>
            <a:lvl6pPr>
              <a:defRPr sz="3699" b="1" lang="en-US">
                <a:latin typeface="Aptos"/>
                <a:ea typeface="Aptos"/>
                <a:cs typeface="Aptos"/>
              </a:defRPr>
            </a:lvl6pPr>
            <a:lvl7pPr>
              <a:defRPr sz="3699" b="1" lang="en-US">
                <a:latin typeface="Aptos"/>
                <a:ea typeface="Aptos"/>
                <a:cs typeface="Aptos"/>
              </a:defRPr>
            </a:lvl7pPr>
            <a:lvl8pPr>
              <a:defRPr sz="3699" b="1" lang="en-US">
                <a:latin typeface="Aptos"/>
                <a:ea typeface="Aptos"/>
                <a:cs typeface="Aptos"/>
              </a:defRPr>
            </a:lvl8pPr>
            <a:lvl9pPr>
              <a:defRPr sz="36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3699" b="1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&gt;13 M</a:t>
            </a:r>
            <a:endParaRPr sz="3700" lang="en-US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510A508-0BA9-4ED7-ABC3-6F868AA8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3063240"/>
            <a:ext cx="3209544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40" lang="en-US">
                <a:latin typeface="Aptos"/>
                <a:ea typeface="Aptos"/>
                <a:cs typeface="Aptos"/>
              </a:defRPr>
            </a:defPPr>
            <a:lvl1pPr>
              <a:defRPr sz="1440" lang="en-US">
                <a:latin typeface="Aptos"/>
                <a:ea typeface="Aptos"/>
                <a:cs typeface="Aptos"/>
              </a:defRPr>
            </a:lvl1pPr>
            <a:lvl2pPr>
              <a:defRPr sz="1440" lang="en-US">
                <a:latin typeface="Aptos"/>
                <a:ea typeface="Aptos"/>
                <a:cs typeface="Aptos"/>
              </a:defRPr>
            </a:lvl2pPr>
            <a:lvl3pPr>
              <a:defRPr sz="1440" lang="en-US">
                <a:latin typeface="Aptos"/>
                <a:ea typeface="Aptos"/>
                <a:cs typeface="Aptos"/>
              </a:defRPr>
            </a:lvl3pPr>
            <a:lvl4pPr>
              <a:defRPr sz="1440" lang="en-US">
                <a:latin typeface="Aptos"/>
                <a:ea typeface="Aptos"/>
                <a:cs typeface="Aptos"/>
              </a:defRPr>
            </a:lvl4pPr>
            <a:lvl5pPr>
              <a:defRPr sz="1440" lang="en-US">
                <a:latin typeface="Aptos"/>
                <a:ea typeface="Aptos"/>
                <a:cs typeface="Aptos"/>
              </a:defRPr>
            </a:lvl5pPr>
            <a:lvl6pPr>
              <a:defRPr sz="1440" lang="en-US">
                <a:latin typeface="Aptos"/>
                <a:ea typeface="Aptos"/>
                <a:cs typeface="Aptos"/>
              </a:defRPr>
            </a:lvl6pPr>
            <a:lvl7pPr>
              <a:defRPr sz="1440" lang="en-US">
                <a:latin typeface="Aptos"/>
                <a:ea typeface="Aptos"/>
                <a:cs typeface="Aptos"/>
              </a:defRPr>
            </a:lvl7pPr>
            <a:lvl8pPr>
              <a:defRPr sz="1440" lang="en-US">
                <a:latin typeface="Aptos"/>
                <a:ea typeface="Aptos"/>
                <a:cs typeface="Aptos"/>
              </a:defRPr>
            </a:lvl8pPr>
            <a:lvl9pPr>
              <a:defRPr sz="144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4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Domestic sales in 2025</a:t>
            </a:r>
            <a:endParaRPr sz="1440" lang="en-US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4AE8FD5-C919-4DBD-A281-C3A78646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336" y="1947672"/>
            <a:ext cx="3648456" cy="2029968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F1C2122-9889-45E9-AEC5-4AC13B73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2203704"/>
            <a:ext cx="3227832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99" b="1" lang="en-US">
                <a:latin typeface="Aptos"/>
                <a:ea typeface="Aptos"/>
                <a:cs typeface="Aptos"/>
              </a:defRPr>
            </a:defPPr>
            <a:lvl1pPr>
              <a:defRPr sz="3699" b="1" lang="en-US">
                <a:latin typeface="Aptos"/>
                <a:ea typeface="Aptos"/>
                <a:cs typeface="Aptos"/>
              </a:defRPr>
            </a:lvl1pPr>
            <a:lvl2pPr>
              <a:defRPr sz="3699" b="1" lang="en-US">
                <a:latin typeface="Aptos"/>
                <a:ea typeface="Aptos"/>
                <a:cs typeface="Aptos"/>
              </a:defRPr>
            </a:lvl2pPr>
            <a:lvl3pPr>
              <a:defRPr sz="3699" b="1" lang="en-US">
                <a:latin typeface="Aptos"/>
                <a:ea typeface="Aptos"/>
                <a:cs typeface="Aptos"/>
              </a:defRPr>
            </a:lvl3pPr>
            <a:lvl4pPr>
              <a:defRPr sz="3699" b="1" lang="en-US">
                <a:latin typeface="Aptos"/>
                <a:ea typeface="Aptos"/>
                <a:cs typeface="Aptos"/>
              </a:defRPr>
            </a:lvl4pPr>
            <a:lvl5pPr>
              <a:defRPr sz="3699" b="1" lang="en-US">
                <a:latin typeface="Aptos"/>
                <a:ea typeface="Aptos"/>
                <a:cs typeface="Aptos"/>
              </a:defRPr>
            </a:lvl5pPr>
            <a:lvl6pPr>
              <a:defRPr sz="3699" b="1" lang="en-US">
                <a:latin typeface="Aptos"/>
                <a:ea typeface="Aptos"/>
                <a:cs typeface="Aptos"/>
              </a:defRPr>
            </a:lvl6pPr>
            <a:lvl7pPr>
              <a:defRPr sz="3699" b="1" lang="en-US">
                <a:latin typeface="Aptos"/>
                <a:ea typeface="Aptos"/>
                <a:cs typeface="Aptos"/>
              </a:defRPr>
            </a:lvl7pPr>
            <a:lvl8pPr>
              <a:defRPr sz="3699" b="1" lang="en-US">
                <a:latin typeface="Aptos"/>
                <a:ea typeface="Aptos"/>
                <a:cs typeface="Aptos"/>
              </a:defRPr>
            </a:lvl8pPr>
            <a:lvl9pPr>
              <a:defRPr sz="36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3699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&gt;2.5 M</a:t>
            </a:r>
            <a:endParaRPr sz="3700" lang="en-US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19A83C4-5A4F-416C-95AB-4E05F503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3063240"/>
            <a:ext cx="3209544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40" lang="en-US">
                <a:latin typeface="Aptos"/>
                <a:ea typeface="Aptos"/>
                <a:cs typeface="Aptos"/>
              </a:defRPr>
            </a:defPPr>
            <a:lvl1pPr>
              <a:defRPr sz="1440" lang="en-US">
                <a:latin typeface="Aptos"/>
                <a:ea typeface="Aptos"/>
                <a:cs typeface="Aptos"/>
              </a:defRPr>
            </a:lvl1pPr>
            <a:lvl2pPr>
              <a:defRPr sz="1440" lang="en-US">
                <a:latin typeface="Aptos"/>
                <a:ea typeface="Aptos"/>
                <a:cs typeface="Aptos"/>
              </a:defRPr>
            </a:lvl2pPr>
            <a:lvl3pPr>
              <a:defRPr sz="1440" lang="en-US">
                <a:latin typeface="Aptos"/>
                <a:ea typeface="Aptos"/>
                <a:cs typeface="Aptos"/>
              </a:defRPr>
            </a:lvl3pPr>
            <a:lvl4pPr>
              <a:defRPr sz="1440" lang="en-US">
                <a:latin typeface="Aptos"/>
                <a:ea typeface="Aptos"/>
                <a:cs typeface="Aptos"/>
              </a:defRPr>
            </a:lvl4pPr>
            <a:lvl5pPr>
              <a:defRPr sz="1440" lang="en-US">
                <a:latin typeface="Aptos"/>
                <a:ea typeface="Aptos"/>
                <a:cs typeface="Aptos"/>
              </a:defRPr>
            </a:lvl5pPr>
            <a:lvl6pPr>
              <a:defRPr sz="1440" lang="en-US">
                <a:latin typeface="Aptos"/>
                <a:ea typeface="Aptos"/>
                <a:cs typeface="Aptos"/>
              </a:defRPr>
            </a:lvl6pPr>
            <a:lvl7pPr>
              <a:defRPr sz="1440" lang="en-US">
                <a:latin typeface="Aptos"/>
                <a:ea typeface="Aptos"/>
                <a:cs typeface="Aptos"/>
              </a:defRPr>
            </a:lvl7pPr>
            <a:lvl8pPr>
              <a:defRPr sz="1440" lang="en-US">
                <a:latin typeface="Aptos"/>
                <a:ea typeface="Aptos"/>
                <a:cs typeface="Aptos"/>
              </a:defRPr>
            </a:lvl8pPr>
            <a:lvl9pPr>
              <a:defRPr sz="144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4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Exports from China in 2025</a:t>
            </a:r>
            <a:endParaRPr sz="1440" lang="en-US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A810374-53C4-4E5C-A1EA-E7D48EF7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4416552"/>
            <a:ext cx="10661904" cy="969264"/>
          </a:xfrm>
          <a:prstGeom xmlns:a="http://schemas.openxmlformats.org/drawingml/2006/main" prst="roundRect">
            <a:avLst>
              <a:gd name="adj" fmla="val 12264"/>
            </a:avLst>
          </a:prstGeom>
          <a:solidFill xmlns:a="http://schemas.openxmlformats.org/drawingml/2006/main">
            <a:srgbClr val="FFF1D9"/>
          </a:solidFill>
          <a:ln xmlns:a="http://schemas.openxmlformats.org/drawingml/2006/main" w="12700">
            <a:solidFill>
              <a:srgbClr val="FFF1D9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C9E3403-2466-4558-94A5-D95CF8E0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608576"/>
            <a:ext cx="1011326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49" b="1" lang="en-US">
                <a:latin typeface="Aptos"/>
                <a:ea typeface="Aptos"/>
                <a:cs typeface="Aptos"/>
              </a:defRPr>
            </a:defPPr>
            <a:lvl1pPr>
              <a:defRPr sz="1749" b="1" lang="en-US">
                <a:latin typeface="Aptos"/>
                <a:ea typeface="Aptos"/>
                <a:cs typeface="Aptos"/>
              </a:defRPr>
            </a:lvl1pPr>
            <a:lvl2pPr>
              <a:defRPr sz="1749" b="1" lang="en-US">
                <a:latin typeface="Aptos"/>
                <a:ea typeface="Aptos"/>
                <a:cs typeface="Aptos"/>
              </a:defRPr>
            </a:lvl2pPr>
            <a:lvl3pPr>
              <a:defRPr sz="1749" b="1" lang="en-US">
                <a:latin typeface="Aptos"/>
                <a:ea typeface="Aptos"/>
                <a:cs typeface="Aptos"/>
              </a:defRPr>
            </a:lvl3pPr>
            <a:lvl4pPr>
              <a:defRPr sz="1749" b="1" lang="en-US">
                <a:latin typeface="Aptos"/>
                <a:ea typeface="Aptos"/>
                <a:cs typeface="Aptos"/>
              </a:defRPr>
            </a:lvl4pPr>
            <a:lvl5pPr>
              <a:defRPr sz="1749" b="1" lang="en-US">
                <a:latin typeface="Aptos"/>
                <a:ea typeface="Aptos"/>
                <a:cs typeface="Aptos"/>
              </a:defRPr>
            </a:lvl5pPr>
            <a:lvl6pPr>
              <a:defRPr sz="1749" b="1" lang="en-US">
                <a:latin typeface="Aptos"/>
                <a:ea typeface="Aptos"/>
                <a:cs typeface="Aptos"/>
              </a:defRPr>
            </a:lvl6pPr>
            <a:lvl7pPr>
              <a:defRPr sz="1749" b="1" lang="en-US">
                <a:latin typeface="Aptos"/>
                <a:ea typeface="Aptos"/>
                <a:cs typeface="Aptos"/>
              </a:defRPr>
            </a:lvl7pPr>
            <a:lvl8pPr>
              <a:defRPr sz="1749" b="1" lang="en-US">
                <a:latin typeface="Aptos"/>
                <a:ea typeface="Aptos"/>
                <a:cs typeface="Aptos"/>
              </a:defRPr>
            </a:lvl8pPr>
            <a:lvl9pPr>
              <a:defRPr sz="174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74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Price competition squeezes margins: exports can help sustain sales.</a:t>
            </a:r>
            <a:endParaRPr sz="1750" lang="en-US"/>
          </a:p>
        </p:txBody>
      </p:sp>
    </p:spTree>
    <p:extLst>
      <p:ext uri="{BB962C8B-B14F-4D97-AF65-F5344CB8AC3E}">
        <p14:creationId xmlns:p14="http://schemas.microsoft.com/office/powerpoint/2010/main" val="129331542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13CE8BE-0C6B-4B10-A580-963E9147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A RIGOROUS READING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D86F60F-C0BE-440E-82FB-B095DFB9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Four common confusions to avoid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10D1CAE-A3F2-41DA-B7D7-BD522BF2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Government, corporate, and teaching data have different evidentiary weight.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9FED380-2C0A-4787-8469-BCEB8AE5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929384"/>
            <a:ext cx="10652760" cy="722376"/>
          </a:xfrm>
          <a:prstGeom xmlns:a="http://schemas.openxmlformats.org/drawingml/2006/main" prst="roundRect">
            <a:avLst>
              <a:gd name="adj" fmla="val 16456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3890524-80C7-4FD8-B995-1F7D4138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84832"/>
            <a:ext cx="640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1" lang="en-US">
                <a:latin typeface="Aptos"/>
                <a:ea typeface="Aptos"/>
                <a:cs typeface="Aptos"/>
              </a:defRPr>
            </a:defPPr>
            <a:lvl1pPr>
              <a:defRPr sz="2100" b="1" lang="en-US">
                <a:latin typeface="Aptos"/>
                <a:ea typeface="Aptos"/>
                <a:cs typeface="Aptos"/>
              </a:defRPr>
            </a:lvl1pPr>
            <a:lvl2pPr>
              <a:defRPr sz="2100" b="1" lang="en-US">
                <a:latin typeface="Aptos"/>
                <a:ea typeface="Aptos"/>
                <a:cs typeface="Aptos"/>
              </a:defRPr>
            </a:lvl2pPr>
            <a:lvl3pPr>
              <a:defRPr sz="2100" b="1" lang="en-US">
                <a:latin typeface="Aptos"/>
                <a:ea typeface="Aptos"/>
                <a:cs typeface="Aptos"/>
              </a:defRPr>
            </a:lvl3pPr>
            <a:lvl4pPr>
              <a:defRPr sz="2100" b="1" lang="en-US">
                <a:latin typeface="Aptos"/>
                <a:ea typeface="Aptos"/>
                <a:cs typeface="Aptos"/>
              </a:defRPr>
            </a:lvl4pPr>
            <a:lvl5pPr>
              <a:defRPr sz="2100" b="1" lang="en-US">
                <a:latin typeface="Aptos"/>
                <a:ea typeface="Aptos"/>
                <a:cs typeface="Aptos"/>
              </a:defRPr>
            </a:lvl5pPr>
            <a:lvl6pPr>
              <a:defRPr sz="2100" b="1" lang="en-US">
                <a:latin typeface="Aptos"/>
                <a:ea typeface="Aptos"/>
                <a:cs typeface="Aptos"/>
              </a:defRPr>
            </a:lvl6pPr>
            <a:lvl7pPr>
              <a:defRPr sz="2100" b="1" lang="en-US">
                <a:latin typeface="Aptos"/>
                <a:ea typeface="Aptos"/>
                <a:cs typeface="Aptos"/>
              </a:defRPr>
            </a:lvl7pPr>
            <a:lvl8pPr>
              <a:defRPr sz="2100" b="1" lang="en-US">
                <a:latin typeface="Aptos"/>
                <a:ea typeface="Aptos"/>
                <a:cs typeface="Aptos"/>
              </a:defRPr>
            </a:lvl8pPr>
            <a:lvl9pPr>
              <a:defRPr sz="2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100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01</a:t>
            </a:r>
            <a:endParaRPr sz="2100" lang="en-US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A89B543-14C8-4CC8-B01F-6AE16C13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075688"/>
            <a:ext cx="3794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60" b="1" lang="en-US">
                <a:latin typeface="Aptos"/>
                <a:ea typeface="Aptos"/>
                <a:cs typeface="Aptos"/>
              </a:defRPr>
            </a:defPPr>
            <a:lvl1pPr>
              <a:defRPr sz="1660" b="1" lang="en-US">
                <a:latin typeface="Aptos"/>
                <a:ea typeface="Aptos"/>
                <a:cs typeface="Aptos"/>
              </a:defRPr>
            </a:lvl1pPr>
            <a:lvl2pPr>
              <a:defRPr sz="1660" b="1" lang="en-US">
                <a:latin typeface="Aptos"/>
                <a:ea typeface="Aptos"/>
                <a:cs typeface="Aptos"/>
              </a:defRPr>
            </a:lvl2pPr>
            <a:lvl3pPr>
              <a:defRPr sz="1660" b="1" lang="en-US">
                <a:latin typeface="Aptos"/>
                <a:ea typeface="Aptos"/>
                <a:cs typeface="Aptos"/>
              </a:defRPr>
            </a:lvl3pPr>
            <a:lvl4pPr>
              <a:defRPr sz="1660" b="1" lang="en-US">
                <a:latin typeface="Aptos"/>
                <a:ea typeface="Aptos"/>
                <a:cs typeface="Aptos"/>
              </a:defRPr>
            </a:lvl4pPr>
            <a:lvl5pPr>
              <a:defRPr sz="1660" b="1" lang="en-US">
                <a:latin typeface="Aptos"/>
                <a:ea typeface="Aptos"/>
                <a:cs typeface="Aptos"/>
              </a:defRPr>
            </a:lvl5pPr>
            <a:lvl6pPr>
              <a:defRPr sz="1660" b="1" lang="en-US">
                <a:latin typeface="Aptos"/>
                <a:ea typeface="Aptos"/>
                <a:cs typeface="Aptos"/>
              </a:defRPr>
            </a:lvl6pPr>
            <a:lvl7pPr>
              <a:defRPr sz="1660" b="1" lang="en-US">
                <a:latin typeface="Aptos"/>
                <a:ea typeface="Aptos"/>
                <a:cs typeface="Aptos"/>
              </a:defRPr>
            </a:lvl7pPr>
            <a:lvl8pPr>
              <a:defRPr sz="1660" b="1" lang="en-US">
                <a:latin typeface="Aptos"/>
                <a:ea typeface="Aptos"/>
                <a:cs typeface="Aptos"/>
              </a:defRPr>
            </a:lvl8pPr>
            <a:lvl9pPr>
              <a:defRPr sz="166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66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ANNOUNCEMENT ≠ ACHIEVEMENT</a:t>
            </a:r>
            <a:endParaRPr sz="1700" lang="en-US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451CBBE-EB9F-484F-9183-4BE57324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568" y="2075688"/>
            <a:ext cx="53675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89" lang="en-US">
                <a:latin typeface="Aptos"/>
                <a:ea typeface="Aptos"/>
                <a:cs typeface="Aptos"/>
              </a:defRPr>
            </a:defPPr>
            <a:lvl1pPr>
              <a:defRPr sz="1389" lang="en-US">
                <a:latin typeface="Aptos"/>
                <a:ea typeface="Aptos"/>
                <a:cs typeface="Aptos"/>
              </a:defRPr>
            </a:lvl1pPr>
            <a:lvl2pPr>
              <a:defRPr sz="1389" lang="en-US">
                <a:latin typeface="Aptos"/>
                <a:ea typeface="Aptos"/>
                <a:cs typeface="Aptos"/>
              </a:defRPr>
            </a:lvl2pPr>
            <a:lvl3pPr>
              <a:defRPr sz="1389" lang="en-US">
                <a:latin typeface="Aptos"/>
                <a:ea typeface="Aptos"/>
                <a:cs typeface="Aptos"/>
              </a:defRPr>
            </a:lvl3pPr>
            <a:lvl4pPr>
              <a:defRPr sz="1389" lang="en-US">
                <a:latin typeface="Aptos"/>
                <a:ea typeface="Aptos"/>
                <a:cs typeface="Aptos"/>
              </a:defRPr>
            </a:lvl4pPr>
            <a:lvl5pPr>
              <a:defRPr sz="1389" lang="en-US">
                <a:latin typeface="Aptos"/>
                <a:ea typeface="Aptos"/>
                <a:cs typeface="Aptos"/>
              </a:defRPr>
            </a:lvl5pPr>
            <a:lvl6pPr>
              <a:defRPr sz="1389" lang="en-US">
                <a:latin typeface="Aptos"/>
                <a:ea typeface="Aptos"/>
                <a:cs typeface="Aptos"/>
              </a:defRPr>
            </a:lvl6pPr>
            <a:lvl7pPr>
              <a:defRPr sz="1389" lang="en-US">
                <a:latin typeface="Aptos"/>
                <a:ea typeface="Aptos"/>
                <a:cs typeface="Aptos"/>
              </a:defRPr>
            </a:lvl7pPr>
            <a:lvl8pPr>
              <a:defRPr sz="1389" lang="en-US">
                <a:latin typeface="Aptos"/>
                <a:ea typeface="Aptos"/>
                <a:cs typeface="Aptos"/>
              </a:defRPr>
            </a:lvl8pPr>
            <a:lvl9pPr>
              <a:defRPr sz="138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8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A plan specifies targets, not results.</a:t>
            </a:r>
            <a:endParaRPr sz="1390" lang="en-US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26C5D3-AFC9-4307-8DBA-B0571BCB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852928"/>
            <a:ext cx="10652760" cy="722376"/>
          </a:xfrm>
          <a:prstGeom xmlns:a="http://schemas.openxmlformats.org/drawingml/2006/main" prst="roundRect">
            <a:avLst>
              <a:gd name="adj" fmla="val 164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BF9D131-0FD9-4E64-9DBD-9AD0AD6A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008376"/>
            <a:ext cx="640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1" lang="en-US">
                <a:latin typeface="Aptos"/>
                <a:ea typeface="Aptos"/>
                <a:cs typeface="Aptos"/>
              </a:defRPr>
            </a:defPPr>
            <a:lvl1pPr>
              <a:defRPr sz="2100" b="1" lang="en-US">
                <a:latin typeface="Aptos"/>
                <a:ea typeface="Aptos"/>
                <a:cs typeface="Aptos"/>
              </a:defRPr>
            </a:lvl1pPr>
            <a:lvl2pPr>
              <a:defRPr sz="2100" b="1" lang="en-US">
                <a:latin typeface="Aptos"/>
                <a:ea typeface="Aptos"/>
                <a:cs typeface="Aptos"/>
              </a:defRPr>
            </a:lvl2pPr>
            <a:lvl3pPr>
              <a:defRPr sz="2100" b="1" lang="en-US">
                <a:latin typeface="Aptos"/>
                <a:ea typeface="Aptos"/>
                <a:cs typeface="Aptos"/>
              </a:defRPr>
            </a:lvl3pPr>
            <a:lvl4pPr>
              <a:defRPr sz="2100" b="1" lang="en-US">
                <a:latin typeface="Aptos"/>
                <a:ea typeface="Aptos"/>
                <a:cs typeface="Aptos"/>
              </a:defRPr>
            </a:lvl4pPr>
            <a:lvl5pPr>
              <a:defRPr sz="2100" b="1" lang="en-US">
                <a:latin typeface="Aptos"/>
                <a:ea typeface="Aptos"/>
                <a:cs typeface="Aptos"/>
              </a:defRPr>
            </a:lvl5pPr>
            <a:lvl6pPr>
              <a:defRPr sz="2100" b="1" lang="en-US">
                <a:latin typeface="Aptos"/>
                <a:ea typeface="Aptos"/>
                <a:cs typeface="Aptos"/>
              </a:defRPr>
            </a:lvl6pPr>
            <a:lvl7pPr>
              <a:defRPr sz="2100" b="1" lang="en-US">
                <a:latin typeface="Aptos"/>
                <a:ea typeface="Aptos"/>
                <a:cs typeface="Aptos"/>
              </a:defRPr>
            </a:lvl7pPr>
            <a:lvl8pPr>
              <a:defRPr sz="2100" b="1" lang="en-US">
                <a:latin typeface="Aptos"/>
                <a:ea typeface="Aptos"/>
                <a:cs typeface="Aptos"/>
              </a:defRPr>
            </a:lvl8pPr>
            <a:lvl9pPr>
              <a:defRPr sz="2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100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02</a:t>
            </a:r>
            <a:endParaRPr sz="2100" lang="en-US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7FADE42-3591-457A-9CF8-719D7396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999232"/>
            <a:ext cx="3794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01" b="1" lang="en-US">
                <a:latin typeface="Aptos"/>
                <a:ea typeface="Aptos"/>
                <a:cs typeface="Aptos"/>
              </a:defRPr>
            </a:defPPr>
            <a:lvl1pPr>
              <a:defRPr sz="1701" b="1" lang="en-US">
                <a:latin typeface="Aptos"/>
                <a:ea typeface="Aptos"/>
                <a:cs typeface="Aptos"/>
              </a:defRPr>
            </a:lvl1pPr>
            <a:lvl2pPr>
              <a:defRPr sz="1701" b="1" lang="en-US">
                <a:latin typeface="Aptos"/>
                <a:ea typeface="Aptos"/>
                <a:cs typeface="Aptos"/>
              </a:defRPr>
            </a:lvl2pPr>
            <a:lvl3pPr>
              <a:defRPr sz="1701" b="1" lang="en-US">
                <a:latin typeface="Aptos"/>
                <a:ea typeface="Aptos"/>
                <a:cs typeface="Aptos"/>
              </a:defRPr>
            </a:lvl3pPr>
            <a:lvl4pPr>
              <a:defRPr sz="1701" b="1" lang="en-US">
                <a:latin typeface="Aptos"/>
                <a:ea typeface="Aptos"/>
                <a:cs typeface="Aptos"/>
              </a:defRPr>
            </a:lvl4pPr>
            <a:lvl5pPr>
              <a:defRPr sz="1701" b="1" lang="en-US">
                <a:latin typeface="Aptos"/>
                <a:ea typeface="Aptos"/>
                <a:cs typeface="Aptos"/>
              </a:defRPr>
            </a:lvl5pPr>
            <a:lvl6pPr>
              <a:defRPr sz="1701" b="1" lang="en-US">
                <a:latin typeface="Aptos"/>
                <a:ea typeface="Aptos"/>
                <a:cs typeface="Aptos"/>
              </a:defRPr>
            </a:lvl6pPr>
            <a:lvl7pPr>
              <a:defRPr sz="1701" b="1" lang="en-US">
                <a:latin typeface="Aptos"/>
                <a:ea typeface="Aptos"/>
                <a:cs typeface="Aptos"/>
              </a:defRPr>
            </a:lvl7pPr>
            <a:lvl8pPr>
              <a:defRPr sz="1701" b="1" lang="en-US">
                <a:latin typeface="Aptos"/>
                <a:ea typeface="Aptos"/>
                <a:cs typeface="Aptos"/>
              </a:defRPr>
            </a:lvl8pPr>
            <a:lvl9pPr>
              <a:defRPr sz="17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70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DEMO ≠ AUTONOMY</a:t>
            </a:r>
            <a:endParaRPr sz="1700" lang="en-US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89A27AE-9B4B-47F9-A1CA-DD84F02B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568" y="2999232"/>
            <a:ext cx="53675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89" lang="en-US">
                <a:latin typeface="Aptos"/>
                <a:ea typeface="Aptos"/>
                <a:cs typeface="Aptos"/>
              </a:defRPr>
            </a:defPPr>
            <a:lvl1pPr>
              <a:defRPr sz="1389" lang="en-US">
                <a:latin typeface="Aptos"/>
                <a:ea typeface="Aptos"/>
                <a:cs typeface="Aptos"/>
              </a:defRPr>
            </a:lvl1pPr>
            <a:lvl2pPr>
              <a:defRPr sz="1389" lang="en-US">
                <a:latin typeface="Aptos"/>
                <a:ea typeface="Aptos"/>
                <a:cs typeface="Aptos"/>
              </a:defRPr>
            </a:lvl2pPr>
            <a:lvl3pPr>
              <a:defRPr sz="1389" lang="en-US">
                <a:latin typeface="Aptos"/>
                <a:ea typeface="Aptos"/>
                <a:cs typeface="Aptos"/>
              </a:defRPr>
            </a:lvl3pPr>
            <a:lvl4pPr>
              <a:defRPr sz="1389" lang="en-US">
                <a:latin typeface="Aptos"/>
                <a:ea typeface="Aptos"/>
                <a:cs typeface="Aptos"/>
              </a:defRPr>
            </a:lvl4pPr>
            <a:lvl5pPr>
              <a:defRPr sz="1389" lang="en-US">
                <a:latin typeface="Aptos"/>
                <a:ea typeface="Aptos"/>
                <a:cs typeface="Aptos"/>
              </a:defRPr>
            </a:lvl5pPr>
            <a:lvl6pPr>
              <a:defRPr sz="1389" lang="en-US">
                <a:latin typeface="Aptos"/>
                <a:ea typeface="Aptos"/>
                <a:cs typeface="Aptos"/>
              </a:defRPr>
            </a:lvl6pPr>
            <a:lvl7pPr>
              <a:defRPr sz="1389" lang="en-US">
                <a:latin typeface="Aptos"/>
                <a:ea typeface="Aptos"/>
                <a:cs typeface="Aptos"/>
              </a:defRPr>
            </a:lvl7pPr>
            <a:lvl8pPr>
              <a:defRPr sz="1389" lang="en-US">
                <a:latin typeface="Aptos"/>
                <a:ea typeface="Aptos"/>
                <a:cs typeface="Aptos"/>
              </a:defRPr>
            </a:lvl8pPr>
            <a:lvl9pPr>
              <a:defRPr sz="138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8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A walking robot does not prove profitable work.</a:t>
            </a:r>
            <a:endParaRPr sz="1390" lang="en-US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F3C2F2D-65F7-4A82-8DFD-3ECF315C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776472"/>
            <a:ext cx="10652760" cy="722376"/>
          </a:xfrm>
          <a:prstGeom xmlns:a="http://schemas.openxmlformats.org/drawingml/2006/main" prst="roundRect">
            <a:avLst>
              <a:gd name="adj" fmla="val 16456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B050999-D63D-4C51-A067-23667408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931920"/>
            <a:ext cx="640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1" lang="en-US">
                <a:latin typeface="Aptos"/>
                <a:ea typeface="Aptos"/>
                <a:cs typeface="Aptos"/>
              </a:defRPr>
            </a:defPPr>
            <a:lvl1pPr>
              <a:defRPr sz="2100" b="1" lang="en-US">
                <a:latin typeface="Aptos"/>
                <a:ea typeface="Aptos"/>
                <a:cs typeface="Aptos"/>
              </a:defRPr>
            </a:lvl1pPr>
            <a:lvl2pPr>
              <a:defRPr sz="2100" b="1" lang="en-US">
                <a:latin typeface="Aptos"/>
                <a:ea typeface="Aptos"/>
                <a:cs typeface="Aptos"/>
              </a:defRPr>
            </a:lvl2pPr>
            <a:lvl3pPr>
              <a:defRPr sz="2100" b="1" lang="en-US">
                <a:latin typeface="Aptos"/>
                <a:ea typeface="Aptos"/>
                <a:cs typeface="Aptos"/>
              </a:defRPr>
            </a:lvl3pPr>
            <a:lvl4pPr>
              <a:defRPr sz="2100" b="1" lang="en-US">
                <a:latin typeface="Aptos"/>
                <a:ea typeface="Aptos"/>
                <a:cs typeface="Aptos"/>
              </a:defRPr>
            </a:lvl4pPr>
            <a:lvl5pPr>
              <a:defRPr sz="2100" b="1" lang="en-US">
                <a:latin typeface="Aptos"/>
                <a:ea typeface="Aptos"/>
                <a:cs typeface="Aptos"/>
              </a:defRPr>
            </a:lvl5pPr>
            <a:lvl6pPr>
              <a:defRPr sz="2100" b="1" lang="en-US">
                <a:latin typeface="Aptos"/>
                <a:ea typeface="Aptos"/>
                <a:cs typeface="Aptos"/>
              </a:defRPr>
            </a:lvl6pPr>
            <a:lvl7pPr>
              <a:defRPr sz="2100" b="1" lang="en-US">
                <a:latin typeface="Aptos"/>
                <a:ea typeface="Aptos"/>
                <a:cs typeface="Aptos"/>
              </a:defRPr>
            </a:lvl7pPr>
            <a:lvl8pPr>
              <a:defRPr sz="2100" b="1" lang="en-US">
                <a:latin typeface="Aptos"/>
                <a:ea typeface="Aptos"/>
                <a:cs typeface="Aptos"/>
              </a:defRPr>
            </a:lvl8pPr>
            <a:lvl9pPr>
              <a:defRPr sz="2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100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03</a:t>
            </a:r>
            <a:endParaRPr sz="2100" lang="en-US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C469161-0E69-4DDD-974A-83000684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922776"/>
            <a:ext cx="3794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29" b="1" lang="en-US">
                <a:latin typeface="Aptos"/>
                <a:ea typeface="Aptos"/>
                <a:cs typeface="Aptos"/>
              </a:defRPr>
            </a:defPPr>
            <a:lvl1pPr>
              <a:defRPr sz="1429" b="1" lang="en-US">
                <a:latin typeface="Aptos"/>
                <a:ea typeface="Aptos"/>
                <a:cs typeface="Aptos"/>
              </a:defRPr>
            </a:lvl1pPr>
            <a:lvl2pPr>
              <a:defRPr sz="1429" b="1" lang="en-US">
                <a:latin typeface="Aptos"/>
                <a:ea typeface="Aptos"/>
                <a:cs typeface="Aptos"/>
              </a:defRPr>
            </a:lvl2pPr>
            <a:lvl3pPr>
              <a:defRPr sz="1429" b="1" lang="en-US">
                <a:latin typeface="Aptos"/>
                <a:ea typeface="Aptos"/>
                <a:cs typeface="Aptos"/>
              </a:defRPr>
            </a:lvl3pPr>
            <a:lvl4pPr>
              <a:defRPr sz="1429" b="1" lang="en-US">
                <a:latin typeface="Aptos"/>
                <a:ea typeface="Aptos"/>
                <a:cs typeface="Aptos"/>
              </a:defRPr>
            </a:lvl4pPr>
            <a:lvl5pPr>
              <a:defRPr sz="1429" b="1" lang="en-US">
                <a:latin typeface="Aptos"/>
                <a:ea typeface="Aptos"/>
                <a:cs typeface="Aptos"/>
              </a:defRPr>
            </a:lvl5pPr>
            <a:lvl6pPr>
              <a:defRPr sz="1429" b="1" lang="en-US">
                <a:latin typeface="Aptos"/>
                <a:ea typeface="Aptos"/>
                <a:cs typeface="Aptos"/>
              </a:defRPr>
            </a:lvl6pPr>
            <a:lvl7pPr>
              <a:defRPr sz="1429" b="1" lang="en-US">
                <a:latin typeface="Aptos"/>
                <a:ea typeface="Aptos"/>
                <a:cs typeface="Aptos"/>
              </a:defRPr>
            </a:lvl7pPr>
            <a:lvl8pPr>
              <a:defRPr sz="1429" b="1" lang="en-US">
                <a:latin typeface="Aptos"/>
                <a:ea typeface="Aptos"/>
                <a:cs typeface="Aptos"/>
              </a:defRPr>
            </a:lvl8pPr>
            <a:lvl9pPr>
              <a:defRPr sz="142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2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ROBOTS INSTALLED ≠ MANUFACTURED</a:t>
            </a:r>
            <a:endParaRPr sz="1700" lang="en-US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92DB6CE-33C5-421A-85FB-69A3B1CD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568" y="3922776"/>
            <a:ext cx="53675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89" lang="en-US">
                <a:latin typeface="Aptos"/>
                <a:ea typeface="Aptos"/>
                <a:cs typeface="Aptos"/>
              </a:defRPr>
            </a:defPPr>
            <a:lvl1pPr>
              <a:defRPr sz="1389" lang="en-US">
                <a:latin typeface="Aptos"/>
                <a:ea typeface="Aptos"/>
                <a:cs typeface="Aptos"/>
              </a:defRPr>
            </a:lvl1pPr>
            <a:lvl2pPr>
              <a:defRPr sz="1389" lang="en-US">
                <a:latin typeface="Aptos"/>
                <a:ea typeface="Aptos"/>
                <a:cs typeface="Aptos"/>
              </a:defRPr>
            </a:lvl2pPr>
            <a:lvl3pPr>
              <a:defRPr sz="1389" lang="en-US">
                <a:latin typeface="Aptos"/>
                <a:ea typeface="Aptos"/>
                <a:cs typeface="Aptos"/>
              </a:defRPr>
            </a:lvl3pPr>
            <a:lvl4pPr>
              <a:defRPr sz="1389" lang="en-US">
                <a:latin typeface="Aptos"/>
                <a:ea typeface="Aptos"/>
                <a:cs typeface="Aptos"/>
              </a:defRPr>
            </a:lvl4pPr>
            <a:lvl5pPr>
              <a:defRPr sz="1389" lang="en-US">
                <a:latin typeface="Aptos"/>
                <a:ea typeface="Aptos"/>
                <a:cs typeface="Aptos"/>
              </a:defRPr>
            </a:lvl5pPr>
            <a:lvl6pPr>
              <a:defRPr sz="1389" lang="en-US">
                <a:latin typeface="Aptos"/>
                <a:ea typeface="Aptos"/>
                <a:cs typeface="Aptos"/>
              </a:defRPr>
            </a:lvl6pPr>
            <a:lvl7pPr>
              <a:defRPr sz="1389" lang="en-US">
                <a:latin typeface="Aptos"/>
                <a:ea typeface="Aptos"/>
                <a:cs typeface="Aptos"/>
              </a:defRPr>
            </a:lvl7pPr>
            <a:lvl8pPr>
              <a:defRPr sz="1389" lang="en-US">
                <a:latin typeface="Aptos"/>
                <a:ea typeface="Aptos"/>
                <a:cs typeface="Aptos"/>
              </a:defRPr>
            </a:lvl8pPr>
            <a:lvl9pPr>
              <a:defRPr sz="138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8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Adoption and production are different measures.</a:t>
            </a:r>
            <a:endParaRPr sz="1390" lang="en-US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4E7B184-8F60-4636-91CA-B1DE28F7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700016"/>
            <a:ext cx="10652760" cy="722376"/>
          </a:xfrm>
          <a:prstGeom xmlns:a="http://schemas.openxmlformats.org/drawingml/2006/main" prst="roundRect">
            <a:avLst>
              <a:gd name="adj" fmla="val 164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84054B2-36E9-4D15-A3F1-83BFF613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55464"/>
            <a:ext cx="640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1" lang="en-US">
                <a:latin typeface="Aptos"/>
                <a:ea typeface="Aptos"/>
                <a:cs typeface="Aptos"/>
              </a:defRPr>
            </a:defPPr>
            <a:lvl1pPr>
              <a:defRPr sz="2100" b="1" lang="en-US">
                <a:latin typeface="Aptos"/>
                <a:ea typeface="Aptos"/>
                <a:cs typeface="Aptos"/>
              </a:defRPr>
            </a:lvl1pPr>
            <a:lvl2pPr>
              <a:defRPr sz="2100" b="1" lang="en-US">
                <a:latin typeface="Aptos"/>
                <a:ea typeface="Aptos"/>
                <a:cs typeface="Aptos"/>
              </a:defRPr>
            </a:lvl2pPr>
            <a:lvl3pPr>
              <a:defRPr sz="2100" b="1" lang="en-US">
                <a:latin typeface="Aptos"/>
                <a:ea typeface="Aptos"/>
                <a:cs typeface="Aptos"/>
              </a:defRPr>
            </a:lvl3pPr>
            <a:lvl4pPr>
              <a:defRPr sz="2100" b="1" lang="en-US">
                <a:latin typeface="Aptos"/>
                <a:ea typeface="Aptos"/>
                <a:cs typeface="Aptos"/>
              </a:defRPr>
            </a:lvl4pPr>
            <a:lvl5pPr>
              <a:defRPr sz="2100" b="1" lang="en-US">
                <a:latin typeface="Aptos"/>
                <a:ea typeface="Aptos"/>
                <a:cs typeface="Aptos"/>
              </a:defRPr>
            </a:lvl5pPr>
            <a:lvl6pPr>
              <a:defRPr sz="2100" b="1" lang="en-US">
                <a:latin typeface="Aptos"/>
                <a:ea typeface="Aptos"/>
                <a:cs typeface="Aptos"/>
              </a:defRPr>
            </a:lvl6pPr>
            <a:lvl7pPr>
              <a:defRPr sz="2100" b="1" lang="en-US">
                <a:latin typeface="Aptos"/>
                <a:ea typeface="Aptos"/>
                <a:cs typeface="Aptos"/>
              </a:defRPr>
            </a:lvl7pPr>
            <a:lvl8pPr>
              <a:defRPr sz="2100" b="1" lang="en-US">
                <a:latin typeface="Aptos"/>
                <a:ea typeface="Aptos"/>
                <a:cs typeface="Aptos"/>
              </a:defRPr>
            </a:lvl8pPr>
            <a:lvl9pPr>
              <a:defRPr sz="2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100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04</a:t>
            </a:r>
            <a:endParaRPr sz="2100" lang="en-US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214F511-D8D4-4635-AE34-6E7A7A89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4846320"/>
            <a:ext cx="3794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01" b="1" lang="en-US">
                <a:latin typeface="Aptos"/>
                <a:ea typeface="Aptos"/>
                <a:cs typeface="Aptos"/>
              </a:defRPr>
            </a:defPPr>
            <a:lvl1pPr>
              <a:defRPr sz="1701" b="1" lang="en-US">
                <a:latin typeface="Aptos"/>
                <a:ea typeface="Aptos"/>
                <a:cs typeface="Aptos"/>
              </a:defRPr>
            </a:lvl1pPr>
            <a:lvl2pPr>
              <a:defRPr sz="1701" b="1" lang="en-US">
                <a:latin typeface="Aptos"/>
                <a:ea typeface="Aptos"/>
                <a:cs typeface="Aptos"/>
              </a:defRPr>
            </a:lvl2pPr>
            <a:lvl3pPr>
              <a:defRPr sz="1701" b="1" lang="en-US">
                <a:latin typeface="Aptos"/>
                <a:ea typeface="Aptos"/>
                <a:cs typeface="Aptos"/>
              </a:defRPr>
            </a:lvl3pPr>
            <a:lvl4pPr>
              <a:defRPr sz="1701" b="1" lang="en-US">
                <a:latin typeface="Aptos"/>
                <a:ea typeface="Aptos"/>
                <a:cs typeface="Aptos"/>
              </a:defRPr>
            </a:lvl4pPr>
            <a:lvl5pPr>
              <a:defRPr sz="1701" b="1" lang="en-US">
                <a:latin typeface="Aptos"/>
                <a:ea typeface="Aptos"/>
                <a:cs typeface="Aptos"/>
              </a:defRPr>
            </a:lvl5pPr>
            <a:lvl6pPr>
              <a:defRPr sz="1701" b="1" lang="en-US">
                <a:latin typeface="Aptos"/>
                <a:ea typeface="Aptos"/>
                <a:cs typeface="Aptos"/>
              </a:defRPr>
            </a:lvl6pPr>
            <a:lvl7pPr>
              <a:defRPr sz="1701" b="1" lang="en-US">
                <a:latin typeface="Aptos"/>
                <a:ea typeface="Aptos"/>
                <a:cs typeface="Aptos"/>
              </a:defRPr>
            </a:lvl7pPr>
            <a:lvl8pPr>
              <a:defRPr sz="1701" b="1" lang="en-US">
                <a:latin typeface="Aptos"/>
                <a:ea typeface="Aptos"/>
                <a:cs typeface="Aptos"/>
              </a:defRPr>
            </a:lvl8pPr>
            <a:lvl9pPr>
              <a:defRPr sz="17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70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REPORTED CASE ≠ CAUSALITY</a:t>
            </a:r>
            <a:endParaRPr sz="1700" lang="en-US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4642F0F-DDD8-435E-AB9B-3D2A392C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568" y="4846320"/>
            <a:ext cx="53675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89" lang="en-US">
                <a:latin typeface="Aptos"/>
                <a:ea typeface="Aptos"/>
                <a:cs typeface="Aptos"/>
              </a:defRPr>
            </a:defPPr>
            <a:lvl1pPr>
              <a:defRPr sz="1389" lang="en-US">
                <a:latin typeface="Aptos"/>
                <a:ea typeface="Aptos"/>
                <a:cs typeface="Aptos"/>
              </a:defRPr>
            </a:lvl1pPr>
            <a:lvl2pPr>
              <a:defRPr sz="1389" lang="en-US">
                <a:latin typeface="Aptos"/>
                <a:ea typeface="Aptos"/>
                <a:cs typeface="Aptos"/>
              </a:defRPr>
            </a:lvl2pPr>
            <a:lvl3pPr>
              <a:defRPr sz="1389" lang="en-US">
                <a:latin typeface="Aptos"/>
                <a:ea typeface="Aptos"/>
                <a:cs typeface="Aptos"/>
              </a:defRPr>
            </a:lvl3pPr>
            <a:lvl4pPr>
              <a:defRPr sz="1389" lang="en-US">
                <a:latin typeface="Aptos"/>
                <a:ea typeface="Aptos"/>
                <a:cs typeface="Aptos"/>
              </a:defRPr>
            </a:lvl4pPr>
            <a:lvl5pPr>
              <a:defRPr sz="1389" lang="en-US">
                <a:latin typeface="Aptos"/>
                <a:ea typeface="Aptos"/>
                <a:cs typeface="Aptos"/>
              </a:defRPr>
            </a:lvl5pPr>
            <a:lvl6pPr>
              <a:defRPr sz="1389" lang="en-US">
                <a:latin typeface="Aptos"/>
                <a:ea typeface="Aptos"/>
                <a:cs typeface="Aptos"/>
              </a:defRPr>
            </a:lvl6pPr>
            <a:lvl7pPr>
              <a:defRPr sz="1389" lang="en-US">
                <a:latin typeface="Aptos"/>
                <a:ea typeface="Aptos"/>
                <a:cs typeface="Aptos"/>
              </a:defRPr>
            </a:lvl7pPr>
            <a:lvl8pPr>
              <a:defRPr sz="1389" lang="en-US">
                <a:latin typeface="Aptos"/>
                <a:ea typeface="Aptos"/>
                <a:cs typeface="Aptos"/>
              </a:defRPr>
            </a:lvl8pPr>
            <a:lvl9pPr>
              <a:defRPr sz="1389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89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Improvement may reflect several technologies.</a:t>
            </a:r>
            <a:endParaRPr sz="1390" lang="en-US"/>
          </a:p>
        </p:txBody>
      </p:sp>
    </p:spTree>
    <p:extLst>
      <p:ext uri="{BB962C8B-B14F-4D97-AF65-F5344CB8AC3E}">
        <p14:creationId xmlns:p14="http://schemas.microsoft.com/office/powerpoint/2010/main" val="55189093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0FE56B0-81AC-4759-94B3-DBDBB6AC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THE CENTRAL THESIS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0D24C62-5631-4D8B-9607-E8BE9BCC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How did China build a technological powerhouse?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C7D84AB-0B0D-4AB1-88BF-FB0D9F3A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A sequence of accumulated capabilities, not a single-cause explanation.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FEEC503-9707-495E-BE3F-6FFFB46B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12848"/>
            <a:ext cx="2148840" cy="2404872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E0EAF83-4334-4A49-9671-B1AA0715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2514600"/>
            <a:ext cx="512064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00" b="1" lang="en-US">
                <a:latin typeface="Aptos"/>
                <a:ea typeface="Aptos"/>
                <a:cs typeface="Aptos"/>
              </a:defRPr>
            </a:defPPr>
            <a:lvl1pPr>
              <a:defRPr sz="2200" b="1" lang="en-US">
                <a:latin typeface="Aptos"/>
                <a:ea typeface="Aptos"/>
                <a:cs typeface="Aptos"/>
              </a:defRPr>
            </a:lvl1pPr>
            <a:lvl2pPr>
              <a:defRPr sz="2200" b="1" lang="en-US">
                <a:latin typeface="Aptos"/>
                <a:ea typeface="Aptos"/>
                <a:cs typeface="Aptos"/>
              </a:defRPr>
            </a:lvl2pPr>
            <a:lvl3pPr>
              <a:defRPr sz="2200" b="1" lang="en-US">
                <a:latin typeface="Aptos"/>
                <a:ea typeface="Aptos"/>
                <a:cs typeface="Aptos"/>
              </a:defRPr>
            </a:lvl3pPr>
            <a:lvl4pPr>
              <a:defRPr sz="2200" b="1" lang="en-US">
                <a:latin typeface="Aptos"/>
                <a:ea typeface="Aptos"/>
                <a:cs typeface="Aptos"/>
              </a:defRPr>
            </a:lvl4pPr>
            <a:lvl5pPr>
              <a:defRPr sz="2200" b="1" lang="en-US">
                <a:latin typeface="Aptos"/>
                <a:ea typeface="Aptos"/>
                <a:cs typeface="Aptos"/>
              </a:defRPr>
            </a:lvl5pPr>
            <a:lvl6pPr>
              <a:defRPr sz="2200" b="1" lang="en-US">
                <a:latin typeface="Aptos"/>
                <a:ea typeface="Aptos"/>
                <a:cs typeface="Aptos"/>
              </a:defRPr>
            </a:lvl6pPr>
            <a:lvl7pPr>
              <a:defRPr sz="2200" b="1" lang="en-US">
                <a:latin typeface="Aptos"/>
                <a:ea typeface="Aptos"/>
                <a:cs typeface="Aptos"/>
              </a:defRPr>
            </a:lvl7pPr>
            <a:lvl8pPr>
              <a:defRPr sz="2200" b="1" lang="en-US">
                <a:latin typeface="Aptos"/>
                <a:ea typeface="Aptos"/>
                <a:cs typeface="Aptos"/>
              </a:defRPr>
            </a:lvl8pPr>
            <a:lvl9pPr>
              <a:defRPr sz="22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200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01</a:t>
            </a:r>
            <a:endParaRPr sz="2200" lang="en-US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EAF01CE-6FDF-41AB-8871-41E3035A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099816"/>
            <a:ext cx="187452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41" b="1" lang="en-US">
                <a:latin typeface="Aptos"/>
                <a:ea typeface="Aptos"/>
                <a:cs typeface="Aptos"/>
              </a:defRPr>
            </a:defPPr>
            <a:lvl1pPr>
              <a:defRPr sz="1641" b="1" lang="en-US">
                <a:latin typeface="Aptos"/>
                <a:ea typeface="Aptos"/>
                <a:cs typeface="Aptos"/>
              </a:defRPr>
            </a:lvl1pPr>
            <a:lvl2pPr>
              <a:defRPr sz="1641" b="1" lang="en-US">
                <a:latin typeface="Aptos"/>
                <a:ea typeface="Aptos"/>
                <a:cs typeface="Aptos"/>
              </a:defRPr>
            </a:lvl2pPr>
            <a:lvl3pPr>
              <a:defRPr sz="1641" b="1" lang="en-US">
                <a:latin typeface="Aptos"/>
                <a:ea typeface="Aptos"/>
                <a:cs typeface="Aptos"/>
              </a:defRPr>
            </a:lvl3pPr>
            <a:lvl4pPr>
              <a:defRPr sz="1641" b="1" lang="en-US">
                <a:latin typeface="Aptos"/>
                <a:ea typeface="Aptos"/>
                <a:cs typeface="Aptos"/>
              </a:defRPr>
            </a:lvl4pPr>
            <a:lvl5pPr>
              <a:defRPr sz="1641" b="1" lang="en-US">
                <a:latin typeface="Aptos"/>
                <a:ea typeface="Aptos"/>
                <a:cs typeface="Aptos"/>
              </a:defRPr>
            </a:lvl5pPr>
            <a:lvl6pPr>
              <a:defRPr sz="1641" b="1" lang="en-US">
                <a:latin typeface="Aptos"/>
                <a:ea typeface="Aptos"/>
                <a:cs typeface="Aptos"/>
              </a:defRPr>
            </a:lvl6pPr>
            <a:lvl7pPr>
              <a:defRPr sz="1641" b="1" lang="en-US">
                <a:latin typeface="Aptos"/>
                <a:ea typeface="Aptos"/>
                <a:cs typeface="Aptos"/>
              </a:defRPr>
            </a:lvl7pPr>
            <a:lvl8pPr>
              <a:defRPr sz="1641" b="1" lang="en-US">
                <a:latin typeface="Aptos"/>
                <a:ea typeface="Aptos"/>
                <a:cs typeface="Aptos"/>
              </a:defRPr>
            </a:lvl8pPr>
            <a:lvl9pPr>
              <a:defRPr sz="164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64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HISTORY</a:t>
            </a:r>
            <a:endParaRPr sz="1640" lang="en-US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8B62B47-635F-4BAC-8154-11BD8BA3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666744"/>
            <a:ext cx="1847088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90" lang="en-US">
                <a:latin typeface="Aptos"/>
                <a:ea typeface="Aptos"/>
                <a:cs typeface="Aptos"/>
              </a:defRPr>
            </a:defPPr>
            <a:lvl1pPr>
              <a:defRPr sz="1290" lang="en-US">
                <a:latin typeface="Aptos"/>
                <a:ea typeface="Aptos"/>
                <a:cs typeface="Aptos"/>
              </a:defRPr>
            </a:lvl1pPr>
            <a:lvl2pPr>
              <a:defRPr sz="1290" lang="en-US">
                <a:latin typeface="Aptos"/>
                <a:ea typeface="Aptos"/>
                <a:cs typeface="Aptos"/>
              </a:defRPr>
            </a:lvl2pPr>
            <a:lvl3pPr>
              <a:defRPr sz="1290" lang="en-US">
                <a:latin typeface="Aptos"/>
                <a:ea typeface="Aptos"/>
                <a:cs typeface="Aptos"/>
              </a:defRPr>
            </a:lvl3pPr>
            <a:lvl4pPr>
              <a:defRPr sz="1290" lang="en-US">
                <a:latin typeface="Aptos"/>
                <a:ea typeface="Aptos"/>
                <a:cs typeface="Aptos"/>
              </a:defRPr>
            </a:lvl4pPr>
            <a:lvl5pPr>
              <a:defRPr sz="1290" lang="en-US">
                <a:latin typeface="Aptos"/>
                <a:ea typeface="Aptos"/>
                <a:cs typeface="Aptos"/>
              </a:defRPr>
            </a:lvl5pPr>
            <a:lvl6pPr>
              <a:defRPr sz="1290" lang="en-US">
                <a:latin typeface="Aptos"/>
                <a:ea typeface="Aptos"/>
                <a:cs typeface="Aptos"/>
              </a:defRPr>
            </a:lvl6pPr>
            <a:lvl7pPr>
              <a:defRPr sz="1290" lang="en-US">
                <a:latin typeface="Aptos"/>
                <a:ea typeface="Aptos"/>
                <a:cs typeface="Aptos"/>
              </a:defRPr>
            </a:lvl7pPr>
            <a:lvl8pPr>
              <a:defRPr sz="1290" lang="en-US">
                <a:latin typeface="Aptos"/>
                <a:ea typeface="Aptos"/>
                <a:cs typeface="Aptos"/>
              </a:defRPr>
            </a:lvl8pPr>
            <a:lvl9pPr>
              <a:defRPr sz="129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29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Build the capacity</a:t>
            </a:r>
            <a:endParaRPr sz="1290" lang="en-US"/>
          </a:p>
          <a:p xmlns:a="http://schemas.openxmlformats.org/drawingml/2006/main">
            <a:pPr marL="0" indent="0" algn="l">
              <a:buNone/>
            </a:pPr>
            <a:r>
              <a:rPr sz="129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to manufacture</a:t>
            </a:r>
            <a:endParaRPr sz="1290" lang="en-US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0F0D451-2D86-486D-91E1-7A503DB4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18688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68C8B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2C1C986-BEAD-4192-BA8F-FAF594BE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212848"/>
            <a:ext cx="2148840" cy="2404872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B51757B-A87A-4D62-8877-59297868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2514600"/>
            <a:ext cx="512064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00" b="1" lang="en-US">
                <a:latin typeface="Aptos"/>
                <a:ea typeface="Aptos"/>
                <a:cs typeface="Aptos"/>
              </a:defRPr>
            </a:defPPr>
            <a:lvl1pPr>
              <a:defRPr sz="2200" b="1" lang="en-US">
                <a:latin typeface="Aptos"/>
                <a:ea typeface="Aptos"/>
                <a:cs typeface="Aptos"/>
              </a:defRPr>
            </a:lvl1pPr>
            <a:lvl2pPr>
              <a:defRPr sz="2200" b="1" lang="en-US">
                <a:latin typeface="Aptos"/>
                <a:ea typeface="Aptos"/>
                <a:cs typeface="Aptos"/>
              </a:defRPr>
            </a:lvl2pPr>
            <a:lvl3pPr>
              <a:defRPr sz="2200" b="1" lang="en-US">
                <a:latin typeface="Aptos"/>
                <a:ea typeface="Aptos"/>
                <a:cs typeface="Aptos"/>
              </a:defRPr>
            </a:lvl3pPr>
            <a:lvl4pPr>
              <a:defRPr sz="2200" b="1" lang="en-US">
                <a:latin typeface="Aptos"/>
                <a:ea typeface="Aptos"/>
                <a:cs typeface="Aptos"/>
              </a:defRPr>
            </a:lvl4pPr>
            <a:lvl5pPr>
              <a:defRPr sz="2200" b="1" lang="en-US">
                <a:latin typeface="Aptos"/>
                <a:ea typeface="Aptos"/>
                <a:cs typeface="Aptos"/>
              </a:defRPr>
            </a:lvl5pPr>
            <a:lvl6pPr>
              <a:defRPr sz="2200" b="1" lang="en-US">
                <a:latin typeface="Aptos"/>
                <a:ea typeface="Aptos"/>
                <a:cs typeface="Aptos"/>
              </a:defRPr>
            </a:lvl6pPr>
            <a:lvl7pPr>
              <a:defRPr sz="2200" b="1" lang="en-US">
                <a:latin typeface="Aptos"/>
                <a:ea typeface="Aptos"/>
                <a:cs typeface="Aptos"/>
              </a:defRPr>
            </a:lvl7pPr>
            <a:lvl8pPr>
              <a:defRPr sz="2200" b="1" lang="en-US">
                <a:latin typeface="Aptos"/>
                <a:ea typeface="Aptos"/>
                <a:cs typeface="Aptos"/>
              </a:defRPr>
            </a:lvl8pPr>
            <a:lvl9pPr>
              <a:defRPr sz="22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200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02</a:t>
            </a:r>
            <a:endParaRPr sz="2200" lang="en-US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6D7820D-E30B-4DC8-8C99-B64A4A8D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3099816"/>
            <a:ext cx="187452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41" b="1" lang="en-US">
                <a:latin typeface="Aptos"/>
                <a:ea typeface="Aptos"/>
                <a:cs typeface="Aptos"/>
              </a:defRPr>
            </a:defPPr>
            <a:lvl1pPr>
              <a:defRPr sz="1641" b="1" lang="en-US">
                <a:latin typeface="Aptos"/>
                <a:ea typeface="Aptos"/>
                <a:cs typeface="Aptos"/>
              </a:defRPr>
            </a:lvl1pPr>
            <a:lvl2pPr>
              <a:defRPr sz="1641" b="1" lang="en-US">
                <a:latin typeface="Aptos"/>
                <a:ea typeface="Aptos"/>
                <a:cs typeface="Aptos"/>
              </a:defRPr>
            </a:lvl2pPr>
            <a:lvl3pPr>
              <a:defRPr sz="1641" b="1" lang="en-US">
                <a:latin typeface="Aptos"/>
                <a:ea typeface="Aptos"/>
                <a:cs typeface="Aptos"/>
              </a:defRPr>
            </a:lvl3pPr>
            <a:lvl4pPr>
              <a:defRPr sz="1641" b="1" lang="en-US">
                <a:latin typeface="Aptos"/>
                <a:ea typeface="Aptos"/>
                <a:cs typeface="Aptos"/>
              </a:defRPr>
            </a:lvl4pPr>
            <a:lvl5pPr>
              <a:defRPr sz="1641" b="1" lang="en-US">
                <a:latin typeface="Aptos"/>
                <a:ea typeface="Aptos"/>
                <a:cs typeface="Aptos"/>
              </a:defRPr>
            </a:lvl5pPr>
            <a:lvl6pPr>
              <a:defRPr sz="1641" b="1" lang="en-US">
                <a:latin typeface="Aptos"/>
                <a:ea typeface="Aptos"/>
                <a:cs typeface="Aptos"/>
              </a:defRPr>
            </a:lvl6pPr>
            <a:lvl7pPr>
              <a:defRPr sz="1641" b="1" lang="en-US">
                <a:latin typeface="Aptos"/>
                <a:ea typeface="Aptos"/>
                <a:cs typeface="Aptos"/>
              </a:defRPr>
            </a:lvl7pPr>
            <a:lvl8pPr>
              <a:defRPr sz="1641" b="1" lang="en-US">
                <a:latin typeface="Aptos"/>
                <a:ea typeface="Aptos"/>
                <a:cs typeface="Aptos"/>
              </a:defRPr>
            </a:lvl8pPr>
            <a:lvl9pPr>
              <a:defRPr sz="164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64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NETWORKS</a:t>
            </a:r>
            <a:endParaRPr sz="1640" lang="en-US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590E6F0-2B1B-45BF-A702-D6A70160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3666744"/>
            <a:ext cx="1847088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90" lang="en-US">
                <a:latin typeface="Aptos"/>
                <a:ea typeface="Aptos"/>
                <a:cs typeface="Aptos"/>
              </a:defRPr>
            </a:defPPr>
            <a:lvl1pPr>
              <a:defRPr sz="1290" lang="en-US">
                <a:latin typeface="Aptos"/>
                <a:ea typeface="Aptos"/>
                <a:cs typeface="Aptos"/>
              </a:defRPr>
            </a:lvl1pPr>
            <a:lvl2pPr>
              <a:defRPr sz="1290" lang="en-US">
                <a:latin typeface="Aptos"/>
                <a:ea typeface="Aptos"/>
                <a:cs typeface="Aptos"/>
              </a:defRPr>
            </a:lvl2pPr>
            <a:lvl3pPr>
              <a:defRPr sz="1290" lang="en-US">
                <a:latin typeface="Aptos"/>
                <a:ea typeface="Aptos"/>
                <a:cs typeface="Aptos"/>
              </a:defRPr>
            </a:lvl3pPr>
            <a:lvl4pPr>
              <a:defRPr sz="1290" lang="en-US">
                <a:latin typeface="Aptos"/>
                <a:ea typeface="Aptos"/>
                <a:cs typeface="Aptos"/>
              </a:defRPr>
            </a:lvl4pPr>
            <a:lvl5pPr>
              <a:defRPr sz="1290" lang="en-US">
                <a:latin typeface="Aptos"/>
                <a:ea typeface="Aptos"/>
                <a:cs typeface="Aptos"/>
              </a:defRPr>
            </a:lvl5pPr>
            <a:lvl6pPr>
              <a:defRPr sz="1290" lang="en-US">
                <a:latin typeface="Aptos"/>
                <a:ea typeface="Aptos"/>
                <a:cs typeface="Aptos"/>
              </a:defRPr>
            </a:lvl6pPr>
            <a:lvl7pPr>
              <a:defRPr sz="1290" lang="en-US">
                <a:latin typeface="Aptos"/>
                <a:ea typeface="Aptos"/>
                <a:cs typeface="Aptos"/>
              </a:defRPr>
            </a:lvl7pPr>
            <a:lvl8pPr>
              <a:defRPr sz="1290" lang="en-US">
                <a:latin typeface="Aptos"/>
                <a:ea typeface="Aptos"/>
                <a:cs typeface="Aptos"/>
              </a:defRPr>
            </a:lvl8pPr>
            <a:lvl9pPr>
              <a:defRPr sz="129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29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Connect firms</a:t>
            </a:r>
            <a:endParaRPr sz="1290" lang="en-US"/>
          </a:p>
          <a:p xmlns:a="http://schemas.openxmlformats.org/drawingml/2006/main">
            <a:pPr marL="0" indent="0" algn="l">
              <a:buNone/>
            </a:pPr>
            <a:r>
              <a:rPr sz="129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and knowledge</a:t>
            </a:r>
            <a:endParaRPr sz="1290" lang="en-US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1FE13ED-0303-41CC-9AEB-C60C16AA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3218688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68C8B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17EDAD0-6F91-44DC-B15F-2FCAAEB3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2212848"/>
            <a:ext cx="2148840" cy="2404872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8067260-24E9-4F62-9904-D9D6857C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816" y="2514600"/>
            <a:ext cx="512064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00" b="1" lang="en-US">
                <a:latin typeface="Aptos"/>
                <a:ea typeface="Aptos"/>
                <a:cs typeface="Aptos"/>
              </a:defRPr>
            </a:defPPr>
            <a:lvl1pPr>
              <a:defRPr sz="2200" b="1" lang="en-US">
                <a:latin typeface="Aptos"/>
                <a:ea typeface="Aptos"/>
                <a:cs typeface="Aptos"/>
              </a:defRPr>
            </a:lvl1pPr>
            <a:lvl2pPr>
              <a:defRPr sz="2200" b="1" lang="en-US">
                <a:latin typeface="Aptos"/>
                <a:ea typeface="Aptos"/>
                <a:cs typeface="Aptos"/>
              </a:defRPr>
            </a:lvl2pPr>
            <a:lvl3pPr>
              <a:defRPr sz="2200" b="1" lang="en-US">
                <a:latin typeface="Aptos"/>
                <a:ea typeface="Aptos"/>
                <a:cs typeface="Aptos"/>
              </a:defRPr>
            </a:lvl3pPr>
            <a:lvl4pPr>
              <a:defRPr sz="2200" b="1" lang="en-US">
                <a:latin typeface="Aptos"/>
                <a:ea typeface="Aptos"/>
                <a:cs typeface="Aptos"/>
              </a:defRPr>
            </a:lvl4pPr>
            <a:lvl5pPr>
              <a:defRPr sz="2200" b="1" lang="en-US">
                <a:latin typeface="Aptos"/>
                <a:ea typeface="Aptos"/>
                <a:cs typeface="Aptos"/>
              </a:defRPr>
            </a:lvl5pPr>
            <a:lvl6pPr>
              <a:defRPr sz="2200" b="1" lang="en-US">
                <a:latin typeface="Aptos"/>
                <a:ea typeface="Aptos"/>
                <a:cs typeface="Aptos"/>
              </a:defRPr>
            </a:lvl6pPr>
            <a:lvl7pPr>
              <a:defRPr sz="2200" b="1" lang="en-US">
                <a:latin typeface="Aptos"/>
                <a:ea typeface="Aptos"/>
                <a:cs typeface="Aptos"/>
              </a:defRPr>
            </a:lvl7pPr>
            <a:lvl8pPr>
              <a:defRPr sz="2200" b="1" lang="en-US">
                <a:latin typeface="Aptos"/>
                <a:ea typeface="Aptos"/>
                <a:cs typeface="Aptos"/>
              </a:defRPr>
            </a:lvl8pPr>
            <a:lvl9pPr>
              <a:defRPr sz="22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200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03</a:t>
            </a:r>
            <a:endParaRPr sz="2200" lang="en-US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2A28AA9-3250-434B-AA40-E92F53F1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816" y="3099816"/>
            <a:ext cx="187452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41" b="1" lang="en-US">
                <a:latin typeface="Aptos"/>
                <a:ea typeface="Aptos"/>
                <a:cs typeface="Aptos"/>
              </a:defRPr>
            </a:defPPr>
            <a:lvl1pPr>
              <a:defRPr sz="1641" b="1" lang="en-US">
                <a:latin typeface="Aptos"/>
                <a:ea typeface="Aptos"/>
                <a:cs typeface="Aptos"/>
              </a:defRPr>
            </a:lvl1pPr>
            <a:lvl2pPr>
              <a:defRPr sz="1641" b="1" lang="en-US">
                <a:latin typeface="Aptos"/>
                <a:ea typeface="Aptos"/>
                <a:cs typeface="Aptos"/>
              </a:defRPr>
            </a:lvl2pPr>
            <a:lvl3pPr>
              <a:defRPr sz="1641" b="1" lang="en-US">
                <a:latin typeface="Aptos"/>
                <a:ea typeface="Aptos"/>
                <a:cs typeface="Aptos"/>
              </a:defRPr>
            </a:lvl3pPr>
            <a:lvl4pPr>
              <a:defRPr sz="1641" b="1" lang="en-US">
                <a:latin typeface="Aptos"/>
                <a:ea typeface="Aptos"/>
                <a:cs typeface="Aptos"/>
              </a:defRPr>
            </a:lvl4pPr>
            <a:lvl5pPr>
              <a:defRPr sz="1641" b="1" lang="en-US">
                <a:latin typeface="Aptos"/>
                <a:ea typeface="Aptos"/>
                <a:cs typeface="Aptos"/>
              </a:defRPr>
            </a:lvl5pPr>
            <a:lvl6pPr>
              <a:defRPr sz="1641" b="1" lang="en-US">
                <a:latin typeface="Aptos"/>
                <a:ea typeface="Aptos"/>
                <a:cs typeface="Aptos"/>
              </a:defRPr>
            </a:lvl6pPr>
            <a:lvl7pPr>
              <a:defRPr sz="1641" b="1" lang="en-US">
                <a:latin typeface="Aptos"/>
                <a:ea typeface="Aptos"/>
                <a:cs typeface="Aptos"/>
              </a:defRPr>
            </a:lvl7pPr>
            <a:lvl8pPr>
              <a:defRPr sz="1641" b="1" lang="en-US">
                <a:latin typeface="Aptos"/>
                <a:ea typeface="Aptos"/>
                <a:cs typeface="Aptos"/>
              </a:defRPr>
            </a:lvl8pPr>
            <a:lvl9pPr>
              <a:defRPr sz="164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64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LEARNING</a:t>
            </a:r>
            <a:endParaRPr sz="1640" lang="en-US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A3F4F38-64AE-4133-B1F2-E64EEF63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816" y="3666744"/>
            <a:ext cx="1847088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90" lang="en-US">
                <a:latin typeface="Aptos"/>
                <a:ea typeface="Aptos"/>
                <a:cs typeface="Aptos"/>
              </a:defRPr>
            </a:defPPr>
            <a:lvl1pPr>
              <a:defRPr sz="1290" lang="en-US">
                <a:latin typeface="Aptos"/>
                <a:ea typeface="Aptos"/>
                <a:cs typeface="Aptos"/>
              </a:defRPr>
            </a:lvl1pPr>
            <a:lvl2pPr>
              <a:defRPr sz="1290" lang="en-US">
                <a:latin typeface="Aptos"/>
                <a:ea typeface="Aptos"/>
                <a:cs typeface="Aptos"/>
              </a:defRPr>
            </a:lvl2pPr>
            <a:lvl3pPr>
              <a:defRPr sz="1290" lang="en-US">
                <a:latin typeface="Aptos"/>
                <a:ea typeface="Aptos"/>
                <a:cs typeface="Aptos"/>
              </a:defRPr>
            </a:lvl3pPr>
            <a:lvl4pPr>
              <a:defRPr sz="1290" lang="en-US">
                <a:latin typeface="Aptos"/>
                <a:ea typeface="Aptos"/>
                <a:cs typeface="Aptos"/>
              </a:defRPr>
            </a:lvl4pPr>
            <a:lvl5pPr>
              <a:defRPr sz="1290" lang="en-US">
                <a:latin typeface="Aptos"/>
                <a:ea typeface="Aptos"/>
                <a:cs typeface="Aptos"/>
              </a:defRPr>
            </a:lvl5pPr>
            <a:lvl6pPr>
              <a:defRPr sz="1290" lang="en-US">
                <a:latin typeface="Aptos"/>
                <a:ea typeface="Aptos"/>
                <a:cs typeface="Aptos"/>
              </a:defRPr>
            </a:lvl6pPr>
            <a:lvl7pPr>
              <a:defRPr sz="1290" lang="en-US">
                <a:latin typeface="Aptos"/>
                <a:ea typeface="Aptos"/>
                <a:cs typeface="Aptos"/>
              </a:defRPr>
            </a:lvl7pPr>
            <a:lvl8pPr>
              <a:defRPr sz="1290" lang="en-US">
                <a:latin typeface="Aptos"/>
                <a:ea typeface="Aptos"/>
                <a:cs typeface="Aptos"/>
              </a:defRPr>
            </a:lvl8pPr>
            <a:lvl9pPr>
              <a:defRPr sz="129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29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Improve design</a:t>
            </a:r>
            <a:endParaRPr sz="1290" lang="en-US"/>
          </a:p>
          <a:p xmlns:a="http://schemas.openxmlformats.org/drawingml/2006/main">
            <a:pPr marL="0" indent="0" algn="l">
              <a:buNone/>
            </a:pPr>
            <a:r>
              <a:rPr sz="129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and processes</a:t>
            </a:r>
            <a:endParaRPr sz="1290" lang="en-US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B7EA083-2F7E-48B4-8B9D-D5636E8F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3218688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68C8B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A2FCCBC-BDA6-46D5-9B5B-0940FBD4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212848"/>
            <a:ext cx="2148840" cy="2404872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D371203-3713-422C-B766-A2A971BC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2514600"/>
            <a:ext cx="512064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00" b="1" lang="en-US">
                <a:latin typeface="Aptos"/>
                <a:ea typeface="Aptos"/>
                <a:cs typeface="Aptos"/>
              </a:defRPr>
            </a:defPPr>
            <a:lvl1pPr>
              <a:defRPr sz="2200" b="1" lang="en-US">
                <a:latin typeface="Aptos"/>
                <a:ea typeface="Aptos"/>
                <a:cs typeface="Aptos"/>
              </a:defRPr>
            </a:lvl1pPr>
            <a:lvl2pPr>
              <a:defRPr sz="2200" b="1" lang="en-US">
                <a:latin typeface="Aptos"/>
                <a:ea typeface="Aptos"/>
                <a:cs typeface="Aptos"/>
              </a:defRPr>
            </a:lvl2pPr>
            <a:lvl3pPr>
              <a:defRPr sz="2200" b="1" lang="en-US">
                <a:latin typeface="Aptos"/>
                <a:ea typeface="Aptos"/>
                <a:cs typeface="Aptos"/>
              </a:defRPr>
            </a:lvl3pPr>
            <a:lvl4pPr>
              <a:defRPr sz="2200" b="1" lang="en-US">
                <a:latin typeface="Aptos"/>
                <a:ea typeface="Aptos"/>
                <a:cs typeface="Aptos"/>
              </a:defRPr>
            </a:lvl4pPr>
            <a:lvl5pPr>
              <a:defRPr sz="2200" b="1" lang="en-US">
                <a:latin typeface="Aptos"/>
                <a:ea typeface="Aptos"/>
                <a:cs typeface="Aptos"/>
              </a:defRPr>
            </a:lvl5pPr>
            <a:lvl6pPr>
              <a:defRPr sz="2200" b="1" lang="en-US">
                <a:latin typeface="Aptos"/>
                <a:ea typeface="Aptos"/>
                <a:cs typeface="Aptos"/>
              </a:defRPr>
            </a:lvl6pPr>
            <a:lvl7pPr>
              <a:defRPr sz="2200" b="1" lang="en-US">
                <a:latin typeface="Aptos"/>
                <a:ea typeface="Aptos"/>
                <a:cs typeface="Aptos"/>
              </a:defRPr>
            </a:lvl7pPr>
            <a:lvl8pPr>
              <a:defRPr sz="2200" b="1" lang="en-US">
                <a:latin typeface="Aptos"/>
                <a:ea typeface="Aptos"/>
                <a:cs typeface="Aptos"/>
              </a:defRPr>
            </a:lvl8pPr>
            <a:lvl9pPr>
              <a:defRPr sz="22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200" b="1" lang="en-US">
                <a:solidFill>
                  <a:srgbClr val="D94F45"/>
                </a:solidFill>
                <a:latin typeface="Aptos"/>
                <a:ea typeface="Aptos"/>
                <a:cs typeface="Aptos"/>
              </a:rPr>
              <a:t>04</a:t>
            </a:r>
            <a:endParaRPr sz="2200" lang="en-US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9E7E10B-8649-494C-9EF9-4AA4CDE5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3099816"/>
            <a:ext cx="187452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41" b="1" lang="en-US">
                <a:latin typeface="Aptos"/>
                <a:ea typeface="Aptos"/>
                <a:cs typeface="Aptos"/>
              </a:defRPr>
            </a:defPPr>
            <a:lvl1pPr>
              <a:defRPr sz="1641" b="1" lang="en-US">
                <a:latin typeface="Aptos"/>
                <a:ea typeface="Aptos"/>
                <a:cs typeface="Aptos"/>
              </a:defRPr>
            </a:lvl1pPr>
            <a:lvl2pPr>
              <a:defRPr sz="1641" b="1" lang="en-US">
                <a:latin typeface="Aptos"/>
                <a:ea typeface="Aptos"/>
                <a:cs typeface="Aptos"/>
              </a:defRPr>
            </a:lvl2pPr>
            <a:lvl3pPr>
              <a:defRPr sz="1641" b="1" lang="en-US">
                <a:latin typeface="Aptos"/>
                <a:ea typeface="Aptos"/>
                <a:cs typeface="Aptos"/>
              </a:defRPr>
            </a:lvl3pPr>
            <a:lvl4pPr>
              <a:defRPr sz="1641" b="1" lang="en-US">
                <a:latin typeface="Aptos"/>
                <a:ea typeface="Aptos"/>
                <a:cs typeface="Aptos"/>
              </a:defRPr>
            </a:lvl4pPr>
            <a:lvl5pPr>
              <a:defRPr sz="1641" b="1" lang="en-US">
                <a:latin typeface="Aptos"/>
                <a:ea typeface="Aptos"/>
                <a:cs typeface="Aptos"/>
              </a:defRPr>
            </a:lvl5pPr>
            <a:lvl6pPr>
              <a:defRPr sz="1641" b="1" lang="en-US">
                <a:latin typeface="Aptos"/>
                <a:ea typeface="Aptos"/>
                <a:cs typeface="Aptos"/>
              </a:defRPr>
            </a:lvl6pPr>
            <a:lvl7pPr>
              <a:defRPr sz="1641" b="1" lang="en-US">
                <a:latin typeface="Aptos"/>
                <a:ea typeface="Aptos"/>
                <a:cs typeface="Aptos"/>
              </a:defRPr>
            </a:lvl7pPr>
            <a:lvl8pPr>
              <a:defRPr sz="1641" b="1" lang="en-US">
                <a:latin typeface="Aptos"/>
                <a:ea typeface="Aptos"/>
                <a:cs typeface="Aptos"/>
              </a:defRPr>
            </a:lvl8pPr>
            <a:lvl9pPr>
              <a:defRPr sz="164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641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TECHNOLOGY</a:t>
            </a:r>
            <a:endParaRPr sz="1640" lang="en-US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53EE71D-0E74-463F-927F-890471C0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3666744"/>
            <a:ext cx="1847088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90" lang="en-US">
                <a:latin typeface="Aptos"/>
                <a:ea typeface="Aptos"/>
                <a:cs typeface="Aptos"/>
              </a:defRPr>
            </a:defPPr>
            <a:lvl1pPr>
              <a:defRPr sz="1290" lang="en-US">
                <a:latin typeface="Aptos"/>
                <a:ea typeface="Aptos"/>
                <a:cs typeface="Aptos"/>
              </a:defRPr>
            </a:lvl1pPr>
            <a:lvl2pPr>
              <a:defRPr sz="1290" lang="en-US">
                <a:latin typeface="Aptos"/>
                <a:ea typeface="Aptos"/>
                <a:cs typeface="Aptos"/>
              </a:defRPr>
            </a:lvl2pPr>
            <a:lvl3pPr>
              <a:defRPr sz="1290" lang="en-US">
                <a:latin typeface="Aptos"/>
                <a:ea typeface="Aptos"/>
                <a:cs typeface="Aptos"/>
              </a:defRPr>
            </a:lvl3pPr>
            <a:lvl4pPr>
              <a:defRPr sz="1290" lang="en-US">
                <a:latin typeface="Aptos"/>
                <a:ea typeface="Aptos"/>
                <a:cs typeface="Aptos"/>
              </a:defRPr>
            </a:lvl4pPr>
            <a:lvl5pPr>
              <a:defRPr sz="1290" lang="en-US">
                <a:latin typeface="Aptos"/>
                <a:ea typeface="Aptos"/>
                <a:cs typeface="Aptos"/>
              </a:defRPr>
            </a:lvl5pPr>
            <a:lvl6pPr>
              <a:defRPr sz="1290" lang="en-US">
                <a:latin typeface="Aptos"/>
                <a:ea typeface="Aptos"/>
                <a:cs typeface="Aptos"/>
              </a:defRPr>
            </a:lvl6pPr>
            <a:lvl7pPr>
              <a:defRPr sz="1290" lang="en-US">
                <a:latin typeface="Aptos"/>
                <a:ea typeface="Aptos"/>
                <a:cs typeface="Aptos"/>
              </a:defRPr>
            </a:lvl7pPr>
            <a:lvl8pPr>
              <a:defRPr sz="1290" lang="en-US">
                <a:latin typeface="Aptos"/>
                <a:ea typeface="Aptos"/>
                <a:cs typeface="Aptos"/>
              </a:defRPr>
            </a:lvl8pPr>
            <a:lvl9pPr>
              <a:defRPr sz="129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29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Integrate robots,</a:t>
            </a:r>
            <a:endParaRPr sz="1290" lang="en-US"/>
          </a:p>
          <a:p xmlns:a="http://schemas.openxmlformats.org/drawingml/2006/main">
            <a:pPr marL="0" indent="0" algn="l">
              <a:buNone/>
            </a:pPr>
            <a:r>
              <a:rPr sz="1290" lang="en-US">
                <a:solidFill>
                  <a:srgbClr val="263849"/>
                </a:solidFill>
                <a:latin typeface="Aptos"/>
                <a:ea typeface="Aptos"/>
                <a:cs typeface="Aptos"/>
              </a:rPr>
              <a:t>data, and AI</a:t>
            </a:r>
            <a:endParaRPr sz="1290" lang="en-US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FC40F0AE-CE4C-4EFB-A92C-D88D17E0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792" y="3218688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68C8B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C6B788FE-CF91-4518-9F90-DD5395AA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2212848"/>
            <a:ext cx="2148840" cy="2404872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4EECAFB-C1BE-4816-A121-D8F1B3A9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544" y="2514600"/>
            <a:ext cx="512064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00" b="1" lang="en-US">
                <a:latin typeface="Aptos"/>
                <a:ea typeface="Aptos"/>
                <a:cs typeface="Aptos"/>
              </a:defRPr>
            </a:defPPr>
            <a:lvl1pPr>
              <a:defRPr sz="2200" b="1" lang="en-US">
                <a:latin typeface="Aptos"/>
                <a:ea typeface="Aptos"/>
                <a:cs typeface="Aptos"/>
              </a:defRPr>
            </a:lvl1pPr>
            <a:lvl2pPr>
              <a:defRPr sz="2200" b="1" lang="en-US">
                <a:latin typeface="Aptos"/>
                <a:ea typeface="Aptos"/>
                <a:cs typeface="Aptos"/>
              </a:defRPr>
            </a:lvl2pPr>
            <a:lvl3pPr>
              <a:defRPr sz="2200" b="1" lang="en-US">
                <a:latin typeface="Aptos"/>
                <a:ea typeface="Aptos"/>
                <a:cs typeface="Aptos"/>
              </a:defRPr>
            </a:lvl3pPr>
            <a:lvl4pPr>
              <a:defRPr sz="2200" b="1" lang="en-US">
                <a:latin typeface="Aptos"/>
                <a:ea typeface="Aptos"/>
                <a:cs typeface="Aptos"/>
              </a:defRPr>
            </a:lvl4pPr>
            <a:lvl5pPr>
              <a:defRPr sz="2200" b="1" lang="en-US">
                <a:latin typeface="Aptos"/>
                <a:ea typeface="Aptos"/>
                <a:cs typeface="Aptos"/>
              </a:defRPr>
            </a:lvl5pPr>
            <a:lvl6pPr>
              <a:defRPr sz="2200" b="1" lang="en-US">
                <a:latin typeface="Aptos"/>
                <a:ea typeface="Aptos"/>
                <a:cs typeface="Aptos"/>
              </a:defRPr>
            </a:lvl6pPr>
            <a:lvl7pPr>
              <a:defRPr sz="2200" b="1" lang="en-US">
                <a:latin typeface="Aptos"/>
                <a:ea typeface="Aptos"/>
                <a:cs typeface="Aptos"/>
              </a:defRPr>
            </a:lvl7pPr>
            <a:lvl8pPr>
              <a:defRPr sz="2200" b="1" lang="en-US">
                <a:latin typeface="Aptos"/>
                <a:ea typeface="Aptos"/>
                <a:cs typeface="Aptos"/>
              </a:defRPr>
            </a:lvl8pPr>
            <a:lvl9pPr>
              <a:defRPr sz="22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200" b="1" lang="en-US">
                <a:solidFill>
                  <a:srgbClr val="E6AB50"/>
                </a:solidFill>
                <a:latin typeface="Aptos"/>
                <a:ea typeface="Aptos"/>
                <a:cs typeface="Aptos"/>
              </a:rPr>
              <a:t>05</a:t>
            </a:r>
            <a:endParaRPr sz="2200" lang="en-US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B4A6DD9-259E-4AD4-ADCD-CD07F222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544" y="3099816"/>
            <a:ext cx="187452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41" b="1" lang="en-US">
                <a:latin typeface="Aptos"/>
                <a:ea typeface="Aptos"/>
                <a:cs typeface="Aptos"/>
              </a:defRPr>
            </a:defPPr>
            <a:lvl1pPr>
              <a:defRPr sz="1641" b="1" lang="en-US">
                <a:latin typeface="Aptos"/>
                <a:ea typeface="Aptos"/>
                <a:cs typeface="Aptos"/>
              </a:defRPr>
            </a:lvl1pPr>
            <a:lvl2pPr>
              <a:defRPr sz="1641" b="1" lang="en-US">
                <a:latin typeface="Aptos"/>
                <a:ea typeface="Aptos"/>
                <a:cs typeface="Aptos"/>
              </a:defRPr>
            </a:lvl2pPr>
            <a:lvl3pPr>
              <a:defRPr sz="1641" b="1" lang="en-US">
                <a:latin typeface="Aptos"/>
                <a:ea typeface="Aptos"/>
                <a:cs typeface="Aptos"/>
              </a:defRPr>
            </a:lvl3pPr>
            <a:lvl4pPr>
              <a:defRPr sz="1641" b="1" lang="en-US">
                <a:latin typeface="Aptos"/>
                <a:ea typeface="Aptos"/>
                <a:cs typeface="Aptos"/>
              </a:defRPr>
            </a:lvl4pPr>
            <a:lvl5pPr>
              <a:defRPr sz="1641" b="1" lang="en-US">
                <a:latin typeface="Aptos"/>
                <a:ea typeface="Aptos"/>
                <a:cs typeface="Aptos"/>
              </a:defRPr>
            </a:lvl5pPr>
            <a:lvl6pPr>
              <a:defRPr sz="1641" b="1" lang="en-US">
                <a:latin typeface="Aptos"/>
                <a:ea typeface="Aptos"/>
                <a:cs typeface="Aptos"/>
              </a:defRPr>
            </a:lvl6pPr>
            <a:lvl7pPr>
              <a:defRPr sz="1641" b="1" lang="en-US">
                <a:latin typeface="Aptos"/>
                <a:ea typeface="Aptos"/>
                <a:cs typeface="Aptos"/>
              </a:defRPr>
            </a:lvl7pPr>
            <a:lvl8pPr>
              <a:defRPr sz="1641" b="1" lang="en-US">
                <a:latin typeface="Aptos"/>
                <a:ea typeface="Aptos"/>
                <a:cs typeface="Aptos"/>
              </a:defRPr>
            </a:lvl8pPr>
            <a:lvl9pPr>
              <a:defRPr sz="164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64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OUTCOMES</a:t>
            </a:r>
            <a:endParaRPr sz="1640" lang="en-US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8D8F945-35CB-4F91-B126-CFE9A5CD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544" y="3666744"/>
            <a:ext cx="1847088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90" lang="en-US">
                <a:latin typeface="Aptos"/>
                <a:ea typeface="Aptos"/>
                <a:cs typeface="Aptos"/>
              </a:defRPr>
            </a:defPPr>
            <a:lvl1pPr>
              <a:defRPr sz="1290" lang="en-US">
                <a:latin typeface="Aptos"/>
                <a:ea typeface="Aptos"/>
                <a:cs typeface="Aptos"/>
              </a:defRPr>
            </a:lvl1pPr>
            <a:lvl2pPr>
              <a:defRPr sz="1290" lang="en-US">
                <a:latin typeface="Aptos"/>
                <a:ea typeface="Aptos"/>
                <a:cs typeface="Aptos"/>
              </a:defRPr>
            </a:lvl2pPr>
            <a:lvl3pPr>
              <a:defRPr sz="1290" lang="en-US">
                <a:latin typeface="Aptos"/>
                <a:ea typeface="Aptos"/>
                <a:cs typeface="Aptos"/>
              </a:defRPr>
            </a:lvl3pPr>
            <a:lvl4pPr>
              <a:defRPr sz="1290" lang="en-US">
                <a:latin typeface="Aptos"/>
                <a:ea typeface="Aptos"/>
                <a:cs typeface="Aptos"/>
              </a:defRPr>
            </a:lvl4pPr>
            <a:lvl5pPr>
              <a:defRPr sz="1290" lang="en-US">
                <a:latin typeface="Aptos"/>
                <a:ea typeface="Aptos"/>
                <a:cs typeface="Aptos"/>
              </a:defRPr>
            </a:lvl5pPr>
            <a:lvl6pPr>
              <a:defRPr sz="1290" lang="en-US">
                <a:latin typeface="Aptos"/>
                <a:ea typeface="Aptos"/>
                <a:cs typeface="Aptos"/>
              </a:defRPr>
            </a:lvl6pPr>
            <a:lvl7pPr>
              <a:defRPr sz="1290" lang="en-US">
                <a:latin typeface="Aptos"/>
                <a:ea typeface="Aptos"/>
                <a:cs typeface="Aptos"/>
              </a:defRPr>
            </a:lvl7pPr>
            <a:lvl8pPr>
              <a:defRPr sz="1290" lang="en-US">
                <a:latin typeface="Aptos"/>
                <a:ea typeface="Aptos"/>
                <a:cs typeface="Aptos"/>
              </a:defRPr>
            </a:lvl8pPr>
            <a:lvl9pPr>
              <a:defRPr sz="129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290" lang="en-US">
                <a:solidFill>
                  <a:srgbClr val="E6EDF3"/>
                </a:solidFill>
                <a:latin typeface="Aptos"/>
                <a:ea typeface="Aptos"/>
                <a:cs typeface="Aptos"/>
              </a:rPr>
              <a:t>Compete, innovate,</a:t>
            </a:r>
            <a:endParaRPr sz="1290" lang="en-US"/>
          </a:p>
          <a:p xmlns:a="http://schemas.openxmlformats.org/drawingml/2006/main">
            <a:pPr marL="0" indent="0" algn="l">
              <a:buNone/>
            </a:pPr>
            <a:r>
              <a:rPr sz="1290" lang="en-US">
                <a:solidFill>
                  <a:srgbClr val="E6EDF3"/>
                </a:solidFill>
                <a:latin typeface="Aptos"/>
                <a:ea typeface="Aptos"/>
                <a:cs typeface="Aptos"/>
              </a:rPr>
              <a:t>and face limits</a:t>
            </a:r>
            <a:endParaRPr sz="1290" lang="en-US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C422421-E014-4DC0-9582-0376C246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5138928"/>
            <a:ext cx="106070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99" b="1" lang="en-US">
                <a:latin typeface="Aptos"/>
                <a:ea typeface="Aptos"/>
                <a:cs typeface="Aptos"/>
              </a:defRPr>
            </a:defPPr>
            <a:lvl1pPr>
              <a:defRPr sz="1899" b="1" lang="en-US">
                <a:latin typeface="Aptos"/>
                <a:ea typeface="Aptos"/>
                <a:cs typeface="Aptos"/>
              </a:defRPr>
            </a:lvl1pPr>
            <a:lvl2pPr>
              <a:defRPr sz="1899" b="1" lang="en-US">
                <a:latin typeface="Aptos"/>
                <a:ea typeface="Aptos"/>
                <a:cs typeface="Aptos"/>
              </a:defRPr>
            </a:lvl2pPr>
            <a:lvl3pPr>
              <a:defRPr sz="1899" b="1" lang="en-US">
                <a:latin typeface="Aptos"/>
                <a:ea typeface="Aptos"/>
                <a:cs typeface="Aptos"/>
              </a:defRPr>
            </a:lvl3pPr>
            <a:lvl4pPr>
              <a:defRPr sz="1899" b="1" lang="en-US">
                <a:latin typeface="Aptos"/>
                <a:ea typeface="Aptos"/>
                <a:cs typeface="Aptos"/>
              </a:defRPr>
            </a:lvl4pPr>
            <a:lvl5pPr>
              <a:defRPr sz="1899" b="1" lang="en-US">
                <a:latin typeface="Aptos"/>
                <a:ea typeface="Aptos"/>
                <a:cs typeface="Aptos"/>
              </a:defRPr>
            </a:lvl5pPr>
            <a:lvl6pPr>
              <a:defRPr sz="1899" b="1" lang="en-US">
                <a:latin typeface="Aptos"/>
                <a:ea typeface="Aptos"/>
                <a:cs typeface="Aptos"/>
              </a:defRPr>
            </a:lvl6pPr>
            <a:lvl7pPr>
              <a:defRPr sz="1899" b="1" lang="en-US">
                <a:latin typeface="Aptos"/>
                <a:ea typeface="Aptos"/>
                <a:cs typeface="Aptos"/>
              </a:defRPr>
            </a:lvl7pPr>
            <a:lvl8pPr>
              <a:defRPr sz="1899" b="1" lang="en-US">
                <a:latin typeface="Aptos"/>
                <a:ea typeface="Aptos"/>
                <a:cs typeface="Aptos"/>
              </a:defRPr>
            </a:lvl8pPr>
            <a:lvl9pPr>
              <a:defRPr sz="18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8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Innovation is built through manufacturing, coordination, and learning. It is not</a:t>
            </a:r>
            <a:endParaRPr sz="1900" lang="en-US"/>
          </a:p>
          <a:p xmlns:a="http://schemas.openxmlformats.org/drawingml/2006/main">
            <a:pPr marL="0" indent="0" algn="ctr">
              <a:buNone/>
            </a:pPr>
            <a:r>
              <a:rPr sz="1899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necessarily guaranteed.</a:t>
            </a:r>
            <a:endParaRPr sz="1900" lang="en-US"/>
          </a:p>
        </p:txBody>
      </p:sp>
    </p:spTree>
    <p:extLst>
      <p:ext uri="{BB962C8B-B14F-4D97-AF65-F5344CB8AC3E}">
        <p14:creationId xmlns:p14="http://schemas.microsoft.com/office/powerpoint/2010/main" val="127525126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A39B13F-7AED-4307-996C-D2076B71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THREE QUESTIONS FOR DISCUSSION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D25EC7A-DE40-497C-8E02-01FF1FD4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What we still need to investigate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9879B3C-ABDF-4246-A415-5E0DFC0D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Three perspectives on China's technological future.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E8C79DF-E523-4AED-9B81-E2898BDD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10716768" cy="987552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228EAD9-7618-45C5-8594-48B30E8A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139696"/>
            <a:ext cx="484632" cy="4846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D0719DA-6445-4DEE-9B57-EB406AEA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249424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99" b="1" lang="en-US">
                <a:latin typeface="Aptos"/>
                <a:ea typeface="Aptos"/>
                <a:cs typeface="Aptos"/>
              </a:defRPr>
            </a:defPPr>
            <a:lvl1pPr>
              <a:defRPr sz="1199" b="1" lang="en-US">
                <a:latin typeface="Aptos"/>
                <a:ea typeface="Aptos"/>
                <a:cs typeface="Aptos"/>
              </a:defRPr>
            </a:lvl1pPr>
            <a:lvl2pPr>
              <a:defRPr sz="1199" b="1" lang="en-US">
                <a:latin typeface="Aptos"/>
                <a:ea typeface="Aptos"/>
                <a:cs typeface="Aptos"/>
              </a:defRPr>
            </a:lvl2pPr>
            <a:lvl3pPr>
              <a:defRPr sz="1199" b="1" lang="en-US">
                <a:latin typeface="Aptos"/>
                <a:ea typeface="Aptos"/>
                <a:cs typeface="Aptos"/>
              </a:defRPr>
            </a:lvl3pPr>
            <a:lvl4pPr>
              <a:defRPr sz="1199" b="1" lang="en-US">
                <a:latin typeface="Aptos"/>
                <a:ea typeface="Aptos"/>
                <a:cs typeface="Aptos"/>
              </a:defRPr>
            </a:lvl4pPr>
            <a:lvl5pPr>
              <a:defRPr sz="1199" b="1" lang="en-US">
                <a:latin typeface="Aptos"/>
                <a:ea typeface="Aptos"/>
                <a:cs typeface="Aptos"/>
              </a:defRPr>
            </a:lvl5pPr>
            <a:lvl6pPr>
              <a:defRPr sz="1199" b="1" lang="en-US">
                <a:latin typeface="Aptos"/>
                <a:ea typeface="Aptos"/>
                <a:cs typeface="Aptos"/>
              </a:defRPr>
            </a:lvl6pPr>
            <a:lvl7pPr>
              <a:defRPr sz="1199" b="1" lang="en-US">
                <a:latin typeface="Aptos"/>
                <a:ea typeface="Aptos"/>
                <a:cs typeface="Aptos"/>
              </a:defRPr>
            </a:lvl7pPr>
            <a:lvl8pPr>
              <a:defRPr sz="1199" b="1" lang="en-US">
                <a:latin typeface="Aptos"/>
                <a:ea typeface="Aptos"/>
                <a:cs typeface="Aptos"/>
              </a:defRPr>
            </a:lvl8pPr>
            <a:lvl9pPr>
              <a:defRPr sz="11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99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200" lang="en-US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25FBC4F-FF3E-44CF-8558-F51E16ED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504" y="2103120"/>
            <a:ext cx="929030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 lang="en-US">
                <a:latin typeface="Aptos"/>
                <a:ea typeface="Aptos"/>
                <a:cs typeface="Aptos"/>
              </a:defRPr>
            </a:defPPr>
            <a:lvl1pPr>
              <a:defRPr sz="1800" b="1" lang="en-US">
                <a:latin typeface="Aptos"/>
                <a:ea typeface="Aptos"/>
                <a:cs typeface="Aptos"/>
              </a:defRPr>
            </a:lvl1pPr>
            <a:lvl2pPr>
              <a:defRPr sz="1800" b="1" lang="en-US">
                <a:latin typeface="Aptos"/>
                <a:ea typeface="Aptos"/>
                <a:cs typeface="Aptos"/>
              </a:defRPr>
            </a:lvl2pPr>
            <a:lvl3pPr>
              <a:defRPr sz="1800" b="1" lang="en-US">
                <a:latin typeface="Aptos"/>
                <a:ea typeface="Aptos"/>
                <a:cs typeface="Aptos"/>
              </a:defRPr>
            </a:lvl3pPr>
            <a:lvl4pPr>
              <a:defRPr sz="1800" b="1" lang="en-US">
                <a:latin typeface="Aptos"/>
                <a:ea typeface="Aptos"/>
                <a:cs typeface="Aptos"/>
              </a:defRPr>
            </a:lvl4pPr>
            <a:lvl5pPr>
              <a:defRPr sz="1800" b="1" lang="en-US">
                <a:latin typeface="Aptos"/>
                <a:ea typeface="Aptos"/>
                <a:cs typeface="Aptos"/>
              </a:defRPr>
            </a:lvl5pPr>
            <a:lvl6pPr>
              <a:defRPr sz="1800" b="1" lang="en-US">
                <a:latin typeface="Aptos"/>
                <a:ea typeface="Aptos"/>
                <a:cs typeface="Aptos"/>
              </a:defRPr>
            </a:lvl6pPr>
            <a:lvl7pPr>
              <a:defRPr sz="1800" b="1" lang="en-US">
                <a:latin typeface="Aptos"/>
                <a:ea typeface="Aptos"/>
                <a:cs typeface="Aptos"/>
              </a:defRPr>
            </a:lvl7pPr>
            <a:lvl8pPr>
              <a:defRPr sz="1800" b="1" lang="en-US">
                <a:latin typeface="Aptos"/>
                <a:ea typeface="Aptos"/>
                <a:cs typeface="Aptos"/>
              </a:defRPr>
            </a:lvl8pPr>
            <a:lvl9pPr>
              <a:defRPr sz="18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How much of China's advantage comes from scale, and how much from</a:t>
            </a:r>
            <a:endParaRPr sz="1800" lang="en-US"/>
          </a:p>
          <a:p xmlns:a="http://schemas.openxmlformats.org/drawingml/2006/main">
            <a:pPr marL="0" indent="0" algn="l">
              <a:buNone/>
            </a:pPr>
            <a:r>
              <a: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innovation of its own?</a:t>
            </a:r>
            <a:endParaRPr sz="1800" lang="en-US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AA39CEA-8EA5-4B68-9616-0B291DD1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72968"/>
            <a:ext cx="10716768" cy="987552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2CDFA82-05B7-4681-B6C6-E916E7A0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392424"/>
            <a:ext cx="484632" cy="4846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A183E68-4543-4C2F-B414-D25798A6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502152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99" b="1" lang="en-US">
                <a:latin typeface="Aptos"/>
                <a:ea typeface="Aptos"/>
                <a:cs typeface="Aptos"/>
              </a:defRPr>
            </a:defPPr>
            <a:lvl1pPr>
              <a:defRPr sz="1199" b="1" lang="en-US">
                <a:latin typeface="Aptos"/>
                <a:ea typeface="Aptos"/>
                <a:cs typeface="Aptos"/>
              </a:defRPr>
            </a:lvl1pPr>
            <a:lvl2pPr>
              <a:defRPr sz="1199" b="1" lang="en-US">
                <a:latin typeface="Aptos"/>
                <a:ea typeface="Aptos"/>
                <a:cs typeface="Aptos"/>
              </a:defRPr>
            </a:lvl2pPr>
            <a:lvl3pPr>
              <a:defRPr sz="1199" b="1" lang="en-US">
                <a:latin typeface="Aptos"/>
                <a:ea typeface="Aptos"/>
                <a:cs typeface="Aptos"/>
              </a:defRPr>
            </a:lvl3pPr>
            <a:lvl4pPr>
              <a:defRPr sz="1199" b="1" lang="en-US">
                <a:latin typeface="Aptos"/>
                <a:ea typeface="Aptos"/>
                <a:cs typeface="Aptos"/>
              </a:defRPr>
            </a:lvl4pPr>
            <a:lvl5pPr>
              <a:defRPr sz="1199" b="1" lang="en-US">
                <a:latin typeface="Aptos"/>
                <a:ea typeface="Aptos"/>
                <a:cs typeface="Aptos"/>
              </a:defRPr>
            </a:lvl5pPr>
            <a:lvl6pPr>
              <a:defRPr sz="1199" b="1" lang="en-US">
                <a:latin typeface="Aptos"/>
                <a:ea typeface="Aptos"/>
                <a:cs typeface="Aptos"/>
              </a:defRPr>
            </a:lvl6pPr>
            <a:lvl7pPr>
              <a:defRPr sz="1199" b="1" lang="en-US">
                <a:latin typeface="Aptos"/>
                <a:ea typeface="Aptos"/>
                <a:cs typeface="Aptos"/>
              </a:defRPr>
            </a:lvl7pPr>
            <a:lvl8pPr>
              <a:defRPr sz="1199" b="1" lang="en-US">
                <a:latin typeface="Aptos"/>
                <a:ea typeface="Aptos"/>
                <a:cs typeface="Aptos"/>
              </a:defRPr>
            </a:lvl8pPr>
            <a:lvl9pPr>
              <a:defRPr sz="11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99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200" lang="en-US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8ABC8D0-1004-431C-844C-8A069D7A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504" y="3355848"/>
            <a:ext cx="929030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 lang="en-US">
                <a:latin typeface="Aptos"/>
                <a:ea typeface="Aptos"/>
                <a:cs typeface="Aptos"/>
              </a:defRPr>
            </a:defPPr>
            <a:lvl1pPr>
              <a:defRPr sz="1800" b="1" lang="en-US">
                <a:latin typeface="Aptos"/>
                <a:ea typeface="Aptos"/>
                <a:cs typeface="Aptos"/>
              </a:defRPr>
            </a:lvl1pPr>
            <a:lvl2pPr>
              <a:defRPr sz="1800" b="1" lang="en-US">
                <a:latin typeface="Aptos"/>
                <a:ea typeface="Aptos"/>
                <a:cs typeface="Aptos"/>
              </a:defRPr>
            </a:lvl2pPr>
            <a:lvl3pPr>
              <a:defRPr sz="1800" b="1" lang="en-US">
                <a:latin typeface="Aptos"/>
                <a:ea typeface="Aptos"/>
                <a:cs typeface="Aptos"/>
              </a:defRPr>
            </a:lvl3pPr>
            <a:lvl4pPr>
              <a:defRPr sz="1800" b="1" lang="en-US">
                <a:latin typeface="Aptos"/>
                <a:ea typeface="Aptos"/>
                <a:cs typeface="Aptos"/>
              </a:defRPr>
            </a:lvl4pPr>
            <a:lvl5pPr>
              <a:defRPr sz="1800" b="1" lang="en-US">
                <a:latin typeface="Aptos"/>
                <a:ea typeface="Aptos"/>
                <a:cs typeface="Aptos"/>
              </a:defRPr>
            </a:lvl5pPr>
            <a:lvl6pPr>
              <a:defRPr sz="1800" b="1" lang="en-US">
                <a:latin typeface="Aptos"/>
                <a:ea typeface="Aptos"/>
                <a:cs typeface="Aptos"/>
              </a:defRPr>
            </a:lvl6pPr>
            <a:lvl7pPr>
              <a:defRPr sz="1800" b="1" lang="en-US">
                <a:latin typeface="Aptos"/>
                <a:ea typeface="Aptos"/>
                <a:cs typeface="Aptos"/>
              </a:defRPr>
            </a:lvl7pPr>
            <a:lvl8pPr>
              <a:defRPr sz="1800" b="1" lang="en-US">
                <a:latin typeface="Aptos"/>
                <a:ea typeface="Aptos"/>
                <a:cs typeface="Aptos"/>
              </a:defRPr>
            </a:lvl8pPr>
            <a:lvl9pPr>
              <a:defRPr sz="18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When does a robot improve productivity, and when does it simply add costs?</a:t>
            </a:r>
            <a:endParaRPr sz="1800" lang="en-US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FA512EC-0DDA-4221-B9A3-F3B575CB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25696"/>
            <a:ext cx="10716768" cy="987552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2B49FB3-144E-41A7-B7D4-4DAB66EE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645152"/>
            <a:ext cx="484632" cy="4846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FE4717A-9CA8-48E7-862D-0246FAF2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754880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99" b="1" lang="en-US">
                <a:latin typeface="Aptos"/>
                <a:ea typeface="Aptos"/>
                <a:cs typeface="Aptos"/>
              </a:defRPr>
            </a:defPPr>
            <a:lvl1pPr>
              <a:defRPr sz="1199" b="1" lang="en-US">
                <a:latin typeface="Aptos"/>
                <a:ea typeface="Aptos"/>
                <a:cs typeface="Aptos"/>
              </a:defRPr>
            </a:lvl1pPr>
            <a:lvl2pPr>
              <a:defRPr sz="1199" b="1" lang="en-US">
                <a:latin typeface="Aptos"/>
                <a:ea typeface="Aptos"/>
                <a:cs typeface="Aptos"/>
              </a:defRPr>
            </a:lvl2pPr>
            <a:lvl3pPr>
              <a:defRPr sz="1199" b="1" lang="en-US">
                <a:latin typeface="Aptos"/>
                <a:ea typeface="Aptos"/>
                <a:cs typeface="Aptos"/>
              </a:defRPr>
            </a:lvl3pPr>
            <a:lvl4pPr>
              <a:defRPr sz="1199" b="1" lang="en-US">
                <a:latin typeface="Aptos"/>
                <a:ea typeface="Aptos"/>
                <a:cs typeface="Aptos"/>
              </a:defRPr>
            </a:lvl4pPr>
            <a:lvl5pPr>
              <a:defRPr sz="1199" b="1" lang="en-US">
                <a:latin typeface="Aptos"/>
                <a:ea typeface="Aptos"/>
                <a:cs typeface="Aptos"/>
              </a:defRPr>
            </a:lvl5pPr>
            <a:lvl6pPr>
              <a:defRPr sz="1199" b="1" lang="en-US">
                <a:latin typeface="Aptos"/>
                <a:ea typeface="Aptos"/>
                <a:cs typeface="Aptos"/>
              </a:defRPr>
            </a:lvl6pPr>
            <a:lvl7pPr>
              <a:defRPr sz="1199" b="1" lang="en-US">
                <a:latin typeface="Aptos"/>
                <a:ea typeface="Aptos"/>
                <a:cs typeface="Aptos"/>
              </a:defRPr>
            </a:lvl7pPr>
            <a:lvl8pPr>
              <a:defRPr sz="1199" b="1" lang="en-US">
                <a:latin typeface="Aptos"/>
                <a:ea typeface="Aptos"/>
                <a:cs typeface="Aptos"/>
              </a:defRPr>
            </a:lvl8pPr>
            <a:lvl9pPr>
              <a:defRPr sz="11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99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200" lang="en-US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E7D7A50-9A24-406F-B400-76C35DDD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504" y="4608576"/>
            <a:ext cx="929030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 lang="en-US">
                <a:latin typeface="Aptos"/>
                <a:ea typeface="Aptos"/>
                <a:cs typeface="Aptos"/>
              </a:defRPr>
            </a:defPPr>
            <a:lvl1pPr>
              <a:defRPr sz="1800" b="1" lang="en-US">
                <a:latin typeface="Aptos"/>
                <a:ea typeface="Aptos"/>
                <a:cs typeface="Aptos"/>
              </a:defRPr>
            </a:lvl1pPr>
            <a:lvl2pPr>
              <a:defRPr sz="1800" b="1" lang="en-US">
                <a:latin typeface="Aptos"/>
                <a:ea typeface="Aptos"/>
                <a:cs typeface="Aptos"/>
              </a:defRPr>
            </a:lvl2pPr>
            <a:lvl3pPr>
              <a:defRPr sz="1800" b="1" lang="en-US">
                <a:latin typeface="Aptos"/>
                <a:ea typeface="Aptos"/>
                <a:cs typeface="Aptos"/>
              </a:defRPr>
            </a:lvl3pPr>
            <a:lvl4pPr>
              <a:defRPr sz="1800" b="1" lang="en-US">
                <a:latin typeface="Aptos"/>
                <a:ea typeface="Aptos"/>
                <a:cs typeface="Aptos"/>
              </a:defRPr>
            </a:lvl4pPr>
            <a:lvl5pPr>
              <a:defRPr sz="1800" b="1" lang="en-US">
                <a:latin typeface="Aptos"/>
                <a:ea typeface="Aptos"/>
                <a:cs typeface="Aptos"/>
              </a:defRPr>
            </a:lvl5pPr>
            <a:lvl6pPr>
              <a:defRPr sz="1800" b="1" lang="en-US">
                <a:latin typeface="Aptos"/>
                <a:ea typeface="Aptos"/>
                <a:cs typeface="Aptos"/>
              </a:defRPr>
            </a:lvl6pPr>
            <a:lvl7pPr>
              <a:defRPr sz="1800" b="1" lang="en-US">
                <a:latin typeface="Aptos"/>
                <a:ea typeface="Aptos"/>
                <a:cs typeface="Aptos"/>
              </a:defRPr>
            </a:lvl7pPr>
            <a:lvl8pPr>
              <a:defRPr sz="1800" b="1" lang="en-US">
                <a:latin typeface="Aptos"/>
                <a:ea typeface="Aptos"/>
                <a:cs typeface="Aptos"/>
              </a:defRPr>
            </a:lvl8pPr>
            <a:lvl9pPr>
              <a:defRPr sz="18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8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Can industrial leadership exist without full autonomy in advanced chips?</a:t>
            </a:r>
            <a:endParaRPr sz="1800" lang="en-US"/>
          </a:p>
        </p:txBody>
      </p:sp>
    </p:spTree>
    <p:extLst>
      <p:ext uri="{BB962C8B-B14F-4D97-AF65-F5344CB8AC3E}">
        <p14:creationId xmlns:p14="http://schemas.microsoft.com/office/powerpoint/2010/main" val="203169821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10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697BC046-8291-471B-9FB7-6C5A140C1F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a5cc650ae4989"/>
          <a:srcRect xmlns:a="http://schemas.openxmlformats.org/drawingml/2006/main" l="22660" t="0" r="22660" b="0"/>
          <a:stretch xmlns:a="http://schemas.openxmlformats.org/drawingml/2006/main"/>
        </p:blipFill>
        <p:spPr>
          <a:xfrm xmlns:a="http://schemas.openxmlformats.org/drawingml/2006/main">
            <a:off x="6537960" y="0"/>
            <a:ext cx="5650992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8FAED022-5770-469E-8477-DC60DA59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01968" cy="6858000"/>
          </a:xfrm>
          <a:prstGeom xmlns:a="http://schemas.openxmlformats.org/drawingml/2006/main" prst="roundRect">
            <a:avLst>
              <a:gd name="adj" fmla="val 2216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9B7E400-DD8D-4779-91A8-8C64FD2D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40664"/>
            <a:ext cx="545896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01" b="1" lang="en-US">
                <a:latin typeface="Aptos"/>
                <a:ea typeface="Aptos"/>
                <a:cs typeface="Aptos"/>
              </a:defRPr>
            </a:defPPr>
            <a:lvl1pPr>
              <a:defRPr sz="1301" b="1" lang="en-US">
                <a:latin typeface="Aptos"/>
                <a:ea typeface="Aptos"/>
                <a:cs typeface="Aptos"/>
              </a:defRPr>
            </a:lvl1pPr>
            <a:lvl2pPr>
              <a:defRPr sz="1301" b="1" lang="en-US">
                <a:latin typeface="Aptos"/>
                <a:ea typeface="Aptos"/>
                <a:cs typeface="Aptos"/>
              </a:defRPr>
            </a:lvl2pPr>
            <a:lvl3pPr>
              <a:defRPr sz="1301" b="1" lang="en-US">
                <a:latin typeface="Aptos"/>
                <a:ea typeface="Aptos"/>
                <a:cs typeface="Aptos"/>
              </a:defRPr>
            </a:lvl3pPr>
            <a:lvl4pPr>
              <a:defRPr sz="1301" b="1" lang="en-US">
                <a:latin typeface="Aptos"/>
                <a:ea typeface="Aptos"/>
                <a:cs typeface="Aptos"/>
              </a:defRPr>
            </a:lvl4pPr>
            <a:lvl5pPr>
              <a:defRPr sz="1301" b="1" lang="en-US">
                <a:latin typeface="Aptos"/>
                <a:ea typeface="Aptos"/>
                <a:cs typeface="Aptos"/>
              </a:defRPr>
            </a:lvl5pPr>
            <a:lvl6pPr>
              <a:defRPr sz="1301" b="1" lang="en-US">
                <a:latin typeface="Aptos"/>
                <a:ea typeface="Aptos"/>
                <a:cs typeface="Aptos"/>
              </a:defRPr>
            </a:lvl6pPr>
            <a:lvl7pPr>
              <a:defRPr sz="1301" b="1" lang="en-US">
                <a:latin typeface="Aptos"/>
                <a:ea typeface="Aptos"/>
                <a:cs typeface="Aptos"/>
              </a:defRPr>
            </a:lvl7pPr>
            <a:lvl8pPr>
              <a:defRPr sz="1301" b="1" lang="en-US">
                <a:latin typeface="Aptos"/>
                <a:ea typeface="Aptos"/>
                <a:cs typeface="Aptos"/>
              </a:defRPr>
            </a:lvl8pPr>
            <a:lvl9pPr>
              <a:defRPr sz="13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01" b="1" spc="150" lang="en-US">
                <a:solidFill>
                  <a:srgbClr val="E6AB50"/>
                </a:solidFill>
                <a:latin typeface="Aptos"/>
                <a:ea typeface="Aptos"/>
                <a:cs typeface="Aptos"/>
              </a:rPr>
              <a:t>AI MODELS AND INTELLIGENT ROBOTS</a:t>
            </a:r>
            <a:endParaRPr sz="1300" lang="en-US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61863F6-E4C9-4A60-AAC9-5C595A72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36192"/>
            <a:ext cx="5724144" cy="3273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99" b="1" lang="en-US">
                <a:latin typeface="Aptos"/>
                <a:ea typeface="Aptos"/>
                <a:cs typeface="Aptos"/>
              </a:defRPr>
            </a:defPPr>
            <a:lvl1pPr>
              <a:defRPr sz="3699" b="1" lang="en-US">
                <a:latin typeface="Aptos"/>
                <a:ea typeface="Aptos"/>
                <a:cs typeface="Aptos"/>
              </a:defRPr>
            </a:lvl1pPr>
            <a:lvl2pPr>
              <a:defRPr sz="3699" b="1" lang="en-US">
                <a:latin typeface="Aptos"/>
                <a:ea typeface="Aptos"/>
                <a:cs typeface="Aptos"/>
              </a:defRPr>
            </a:lvl2pPr>
            <a:lvl3pPr>
              <a:defRPr sz="3699" b="1" lang="en-US">
                <a:latin typeface="Aptos"/>
                <a:ea typeface="Aptos"/>
                <a:cs typeface="Aptos"/>
              </a:defRPr>
            </a:lvl3pPr>
            <a:lvl4pPr>
              <a:defRPr sz="3699" b="1" lang="en-US">
                <a:latin typeface="Aptos"/>
                <a:ea typeface="Aptos"/>
                <a:cs typeface="Aptos"/>
              </a:defRPr>
            </a:lvl4pPr>
            <a:lvl5pPr>
              <a:defRPr sz="3699" b="1" lang="en-US">
                <a:latin typeface="Aptos"/>
                <a:ea typeface="Aptos"/>
                <a:cs typeface="Aptos"/>
              </a:defRPr>
            </a:lvl5pPr>
            <a:lvl6pPr>
              <a:defRPr sz="3699" b="1" lang="en-US">
                <a:latin typeface="Aptos"/>
                <a:ea typeface="Aptos"/>
                <a:cs typeface="Aptos"/>
              </a:defRPr>
            </a:lvl6pPr>
            <a:lvl7pPr>
              <a:defRPr sz="3699" b="1" lang="en-US">
                <a:latin typeface="Aptos"/>
                <a:ea typeface="Aptos"/>
                <a:cs typeface="Aptos"/>
              </a:defRPr>
            </a:lvl7pPr>
            <a:lvl8pPr>
              <a:defRPr sz="3699" b="1" lang="en-US">
                <a:latin typeface="Aptos"/>
                <a:ea typeface="Aptos"/>
                <a:cs typeface="Aptos"/>
              </a:defRPr>
            </a:lvl8pPr>
            <a:lvl9pPr>
              <a:defRPr sz="369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3699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FROM THE</a:t>
            </a:r>
            <a:endParaRPr sz="3700" lang="en-US"/>
          </a:p>
          <a:p xmlns:a="http://schemas.openxmlformats.org/drawingml/2006/main">
            <a:pPr marL="0" indent="0" algn="l">
              <a:buNone/>
            </a:pPr>
            <a:r>
              <a:rPr sz="3699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INDUSTRIAL SYSTEM</a:t>
            </a:r>
            <a:endParaRPr sz="3700" lang="en-US"/>
          </a:p>
          <a:p xmlns:a="http://schemas.openxmlformats.org/drawingml/2006/main">
            <a:pPr marL="0" indent="0" algn="l">
              <a:buNone/>
            </a:pPr>
            <a:r>
              <a:rPr sz="3699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TO EMBODIED</a:t>
            </a:r>
            <a:endParaRPr sz="3700" lang="en-US"/>
          </a:p>
          <a:p xmlns:a="http://schemas.openxmlformats.org/drawingml/2006/main">
            <a:pPr marL="0" indent="0" algn="l">
              <a:buNone/>
            </a:pPr>
            <a:r>
              <a:rPr sz="3699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INTELLIGENCE</a:t>
            </a:r>
            <a:endParaRPr sz="3700" lang="en-US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6FFDADA-8F27-4A81-BF98-E5477476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7528"/>
            <a:ext cx="5422392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01" b="1" lang="en-US">
                <a:latin typeface="Aptos"/>
                <a:ea typeface="Aptos"/>
                <a:cs typeface="Aptos"/>
              </a:defRPr>
            </a:defPPr>
            <a:lvl1pPr>
              <a:defRPr sz="1701" b="1" lang="en-US">
                <a:latin typeface="Aptos"/>
                <a:ea typeface="Aptos"/>
                <a:cs typeface="Aptos"/>
              </a:defRPr>
            </a:lvl1pPr>
            <a:lvl2pPr>
              <a:defRPr sz="1701" b="1" lang="en-US">
                <a:latin typeface="Aptos"/>
                <a:ea typeface="Aptos"/>
                <a:cs typeface="Aptos"/>
              </a:defRPr>
            </a:lvl2pPr>
            <a:lvl3pPr>
              <a:defRPr sz="1701" b="1" lang="en-US">
                <a:latin typeface="Aptos"/>
                <a:ea typeface="Aptos"/>
                <a:cs typeface="Aptos"/>
              </a:defRPr>
            </a:lvl3pPr>
            <a:lvl4pPr>
              <a:defRPr sz="1701" b="1" lang="en-US">
                <a:latin typeface="Aptos"/>
                <a:ea typeface="Aptos"/>
                <a:cs typeface="Aptos"/>
              </a:defRPr>
            </a:lvl4pPr>
            <a:lvl5pPr>
              <a:defRPr sz="1701" b="1" lang="en-US">
                <a:latin typeface="Aptos"/>
                <a:ea typeface="Aptos"/>
                <a:cs typeface="Aptos"/>
              </a:defRPr>
            </a:lvl5pPr>
            <a:lvl6pPr>
              <a:defRPr sz="1701" b="1" lang="en-US">
                <a:latin typeface="Aptos"/>
                <a:ea typeface="Aptos"/>
                <a:cs typeface="Aptos"/>
              </a:defRPr>
            </a:lvl6pPr>
            <a:lvl7pPr>
              <a:defRPr sz="1701" b="1" lang="en-US">
                <a:latin typeface="Aptos"/>
                <a:ea typeface="Aptos"/>
                <a:cs typeface="Aptos"/>
              </a:defRPr>
            </a:lvl7pPr>
            <a:lvl8pPr>
              <a:defRPr sz="1701" b="1" lang="en-US">
                <a:latin typeface="Aptos"/>
                <a:ea typeface="Aptos"/>
                <a:cs typeface="Aptos"/>
              </a:defRPr>
            </a:lvl8pPr>
            <a:lvl9pPr>
              <a:defRPr sz="17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701" b="1" lang="en-US">
                <a:solidFill>
                  <a:srgbClr val="C6E9E6"/>
                </a:solidFill>
                <a:latin typeface="Aptos"/>
                <a:ea typeface="Aptos"/>
                <a:cs typeface="Aptos"/>
              </a:rPr>
              <a:t>DeepSeek · Qwen · agents · Unitree · UBTech</a:t>
            </a:r>
            <a:endParaRPr sz="1700" lang="en-US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39F8E3C-DDD8-49F0-AC5E-F8AC1758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9320"/>
            <a:ext cx="541324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EAF0F4"/>
                </a:solidFill>
                <a:latin typeface="Aptos"/>
                <a:ea typeface="Aptos"/>
                <a:cs typeface="Aptos"/>
              </a:rPr>
              <a:t>What can models and robots actually do?</a:t>
            </a:r>
            <a:endParaRPr sz="1400" lang="en-US"/>
          </a:p>
        </p:txBody>
      </p:sp>
      <p:sp>
        <p:nvSpPr>
          <p:cNvPr id="8" name="illustration-caption-background">
            <a:extLst xmlns:a="http://schemas.openxmlformats.org/drawingml/2006/main">
              <a:ext uri="{FF2B5EF4-FFF2-40B4-BE49-F238E27FC236}">
                <a16:creationId xmlns:a16="http://schemas.microsoft.com/office/drawing/2014/main" id="{3081DB54-7A7D-4E13-9078-76A7AADC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310" y="133350"/>
            <a:ext cx="1733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llustration-caption">
            <a:extLst xmlns:a="http://schemas.openxmlformats.org/drawingml/2006/main">
              <a:ext uri="{FF2B5EF4-FFF2-40B4-BE49-F238E27FC236}">
                <a16:creationId xmlns:a16="http://schemas.microsoft.com/office/drawing/2014/main" id="{75699C65-E357-4F7F-A632-10006ACB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510" y="1619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11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1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CONCEPTUAL ILLUSTRATION</a:t>
            </a:r>
          </a:p>
        </p:txBody>
      </p:sp>
    </p:spTree>
    <p:extLst>
      <p:ext uri="{BB962C8B-B14F-4D97-AF65-F5344CB8AC3E}">
        <p14:creationId xmlns:p14="http://schemas.microsoft.com/office/powerpoint/2010/main" val="153940271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289BAE2-1A7E-435C-9228-8DE8B505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SOURCES · I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A9E5C21-0337-4C57-98D4-0521B950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Statistics and international organizations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436788B-037A-48DF-B102-98CE4960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Selected references for verifying the main indicators.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D556E41-9940-4D47-9F5B-85D7A3CE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837944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hlinkClick xmlns:r="http://schemas.openxmlformats.org/officeDocument/2006/relationships" xmlns:a="http://schemas.openxmlformats.org/drawingml/2006/main" r:id="Rd192b61c42c54444"/>
            <a:extLst xmlns:a="http://schemas.openxmlformats.org/drawingml/2006/main">
              <a:ext uri="{FF2B5EF4-FFF2-40B4-BE49-F238E27FC236}">
                <a16:creationId xmlns:a16="http://schemas.microsoft.com/office/drawing/2014/main" id="{EB093A24-2D63-4D16-9E92-7A7911A7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29384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51" b="1" lang="en-US">
                <a:latin typeface="Aptos"/>
                <a:ea typeface="Aptos"/>
                <a:cs typeface="Aptos"/>
              </a:defRPr>
            </a:defPPr>
            <a:lvl1pPr>
              <a:defRPr sz="1451" b="1" lang="en-US">
                <a:latin typeface="Aptos"/>
                <a:ea typeface="Aptos"/>
                <a:cs typeface="Aptos"/>
              </a:defRPr>
            </a:lvl1pPr>
            <a:lvl2pPr>
              <a:defRPr sz="1451" b="1" lang="en-US">
                <a:latin typeface="Aptos"/>
                <a:ea typeface="Aptos"/>
                <a:cs typeface="Aptos"/>
              </a:defRPr>
            </a:lvl2pPr>
            <a:lvl3pPr>
              <a:defRPr sz="1451" b="1" lang="en-US">
                <a:latin typeface="Aptos"/>
                <a:ea typeface="Aptos"/>
                <a:cs typeface="Aptos"/>
              </a:defRPr>
            </a:lvl3pPr>
            <a:lvl4pPr>
              <a:defRPr sz="1451" b="1" lang="en-US">
                <a:latin typeface="Aptos"/>
                <a:ea typeface="Aptos"/>
                <a:cs typeface="Aptos"/>
              </a:defRPr>
            </a:lvl4pPr>
            <a:lvl5pPr>
              <a:defRPr sz="1451" b="1" lang="en-US">
                <a:latin typeface="Aptos"/>
                <a:ea typeface="Aptos"/>
                <a:cs typeface="Aptos"/>
              </a:defRPr>
            </a:lvl5pPr>
            <a:lvl6pPr>
              <a:defRPr sz="1451" b="1" lang="en-US">
                <a:latin typeface="Aptos"/>
                <a:ea typeface="Aptos"/>
                <a:cs typeface="Aptos"/>
              </a:defRPr>
            </a:lvl6pPr>
            <a:lvl7pPr>
              <a:defRPr sz="1451" b="1" lang="en-US">
                <a:latin typeface="Aptos"/>
                <a:ea typeface="Aptos"/>
                <a:cs typeface="Aptos"/>
              </a:defRPr>
            </a:lvl7pPr>
            <a:lvl8pPr>
              <a:defRPr sz="1451" b="1" lang="en-US">
                <a:latin typeface="Aptos"/>
                <a:ea typeface="Aptos"/>
                <a:cs typeface="Aptos"/>
              </a:defRPr>
            </a:lvl8pPr>
            <a:lvl9pPr>
              <a:defRPr sz="145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51" b="1" u="sng" lang="en-US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b732c60a469042d2"/>
              </a:rPr>
              <a:t>UNIDO · International Yearbook of Industrial Statistics 2025</a:t>
            </a:r>
            <a:endParaRPr sz="1450" lang="en-US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A2D3319-A546-4B24-8035-21F8D7EA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203704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Global share of manufacturing value added.</a:t>
            </a:r>
            <a:endParaRPr sz="1100" lang="en-US"/>
          </a:p>
        </p:txBody>
      </p:sp>
      <p:sp>
        <p:nvSpPr>
          <p:cNvPr id="11" name="Text 9">
            <a:hlinkClick xmlns:r="http://schemas.openxmlformats.org/officeDocument/2006/relationships" xmlns:a="http://schemas.openxmlformats.org/drawingml/2006/main" r:id="Rfd228ff5e61948f3"/>
            <a:extLst xmlns:a="http://schemas.openxmlformats.org/drawingml/2006/main">
              <a:ext uri="{FF2B5EF4-FFF2-40B4-BE49-F238E27FC236}">
                <a16:creationId xmlns:a16="http://schemas.microsoft.com/office/drawing/2014/main" id="{5E2ABD82-2C90-4E3D-86AB-21A3F6E3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201168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b="1" lang="en-US">
                <a:latin typeface="Aptos"/>
                <a:ea typeface="Aptos"/>
                <a:cs typeface="Aptos"/>
              </a:defRPr>
            </a:defPPr>
            <a:lvl1pPr>
              <a:defRPr sz="1400" b="1" lang="en-US">
                <a:latin typeface="Aptos"/>
                <a:ea typeface="Aptos"/>
                <a:cs typeface="Aptos"/>
              </a:defRPr>
            </a:lvl1pPr>
            <a:lvl2pPr>
              <a:defRPr sz="1400" b="1" lang="en-US">
                <a:latin typeface="Aptos"/>
                <a:ea typeface="Aptos"/>
                <a:cs typeface="Aptos"/>
              </a:defRPr>
            </a:lvl2pPr>
            <a:lvl3pPr>
              <a:defRPr sz="1400" b="1" lang="en-US">
                <a:latin typeface="Aptos"/>
                <a:ea typeface="Aptos"/>
                <a:cs typeface="Aptos"/>
              </a:defRPr>
            </a:lvl3pPr>
            <a:lvl4pPr>
              <a:defRPr sz="1400" b="1" lang="en-US">
                <a:latin typeface="Aptos"/>
                <a:ea typeface="Aptos"/>
                <a:cs typeface="Aptos"/>
              </a:defRPr>
            </a:lvl4pPr>
            <a:lvl5pPr>
              <a:defRPr sz="1400" b="1" lang="en-US">
                <a:latin typeface="Aptos"/>
                <a:ea typeface="Aptos"/>
                <a:cs typeface="Aptos"/>
              </a:defRPr>
            </a:lvl5pPr>
            <a:lvl6pPr>
              <a:defRPr sz="1400" b="1" lang="en-US">
                <a:latin typeface="Aptos"/>
                <a:ea typeface="Aptos"/>
                <a:cs typeface="Aptos"/>
              </a:defRPr>
            </a:lvl6pPr>
            <a:lvl7pPr>
              <a:defRPr sz="1400" b="1" lang="en-US">
                <a:latin typeface="Aptos"/>
                <a:ea typeface="Aptos"/>
                <a:cs typeface="Aptos"/>
              </a:defRPr>
            </a:lvl7pPr>
            <a:lvl8pPr>
              <a:defRPr sz="1400" b="1" lang="en-US">
                <a:latin typeface="Aptos"/>
                <a:ea typeface="Aptos"/>
                <a:cs typeface="Aptos"/>
              </a:defRPr>
            </a:lvl8pPr>
            <a:lvl9pPr>
              <a:defRPr sz="14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b="1" u="sng" lang="en-US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f85796bf175f496f"/>
              </a:rPr>
              <a:t>↗</a:t>
            </a:r>
            <a:endParaRPr sz="1600" lang="en-US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30AC538-A370-4DAF-8EE4-30802884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24328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hlinkClick xmlns:r="http://schemas.openxmlformats.org/officeDocument/2006/relationships" xmlns:a="http://schemas.openxmlformats.org/drawingml/2006/main" r:id="Rbec83d4b6aee49dd"/>
            <a:extLst xmlns:a="http://schemas.openxmlformats.org/drawingml/2006/main">
              <a:ext uri="{FF2B5EF4-FFF2-40B4-BE49-F238E27FC236}">
                <a16:creationId xmlns:a16="http://schemas.microsoft.com/office/drawing/2014/main" id="{292CDAB4-12E4-4C69-998A-F8A260D2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715768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51" b="1" lang="en-US">
                <a:latin typeface="Aptos"/>
                <a:ea typeface="Aptos"/>
                <a:cs typeface="Aptos"/>
              </a:defRPr>
            </a:defPPr>
            <a:lvl1pPr>
              <a:defRPr sz="1451" b="1" lang="en-US">
                <a:latin typeface="Aptos"/>
                <a:ea typeface="Aptos"/>
                <a:cs typeface="Aptos"/>
              </a:defRPr>
            </a:lvl1pPr>
            <a:lvl2pPr>
              <a:defRPr sz="1451" b="1" lang="en-US">
                <a:latin typeface="Aptos"/>
                <a:ea typeface="Aptos"/>
                <a:cs typeface="Aptos"/>
              </a:defRPr>
            </a:lvl2pPr>
            <a:lvl3pPr>
              <a:defRPr sz="1451" b="1" lang="en-US">
                <a:latin typeface="Aptos"/>
                <a:ea typeface="Aptos"/>
                <a:cs typeface="Aptos"/>
              </a:defRPr>
            </a:lvl3pPr>
            <a:lvl4pPr>
              <a:defRPr sz="1451" b="1" lang="en-US">
                <a:latin typeface="Aptos"/>
                <a:ea typeface="Aptos"/>
                <a:cs typeface="Aptos"/>
              </a:defRPr>
            </a:lvl4pPr>
            <a:lvl5pPr>
              <a:defRPr sz="1451" b="1" lang="en-US">
                <a:latin typeface="Aptos"/>
                <a:ea typeface="Aptos"/>
                <a:cs typeface="Aptos"/>
              </a:defRPr>
            </a:lvl5pPr>
            <a:lvl6pPr>
              <a:defRPr sz="1451" b="1" lang="en-US">
                <a:latin typeface="Aptos"/>
                <a:ea typeface="Aptos"/>
                <a:cs typeface="Aptos"/>
              </a:defRPr>
            </a:lvl6pPr>
            <a:lvl7pPr>
              <a:defRPr sz="1451" b="1" lang="en-US">
                <a:latin typeface="Aptos"/>
                <a:ea typeface="Aptos"/>
                <a:cs typeface="Aptos"/>
              </a:defRPr>
            </a:lvl7pPr>
            <a:lvl8pPr>
              <a:defRPr sz="1451" b="1" lang="en-US">
                <a:latin typeface="Aptos"/>
                <a:ea typeface="Aptos"/>
                <a:cs typeface="Aptos"/>
              </a:defRPr>
            </a:lvl8pPr>
            <a:lvl9pPr>
              <a:defRPr sz="145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51" b="1" u="sng" lang="en-US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5a2d9e03c22a4bd8"/>
              </a:rPr>
              <a:t>IFR · World Robotics 2026</a:t>
            </a:r>
            <a:endParaRPr sz="1450" lang="en-US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33A77C3-E7FC-4A1C-BA92-1A119702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990088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Industrial robot installations in China and global share.</a:t>
            </a:r>
            <a:endParaRPr sz="1100" lang="en-US"/>
          </a:p>
        </p:txBody>
      </p:sp>
      <p:sp>
        <p:nvSpPr>
          <p:cNvPr id="15" name="Text 13">
            <a:hlinkClick xmlns:r="http://schemas.openxmlformats.org/officeDocument/2006/relationships" xmlns:a="http://schemas.openxmlformats.org/drawingml/2006/main" r:id="R54277ea458474488"/>
            <a:extLst xmlns:a="http://schemas.openxmlformats.org/drawingml/2006/main">
              <a:ext uri="{FF2B5EF4-FFF2-40B4-BE49-F238E27FC236}">
                <a16:creationId xmlns:a16="http://schemas.microsoft.com/office/drawing/2014/main" id="{8FC7FEEC-13C4-44AF-8B45-CE446F58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279806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b="1" lang="en-US">
                <a:latin typeface="Aptos"/>
                <a:ea typeface="Aptos"/>
                <a:cs typeface="Aptos"/>
              </a:defRPr>
            </a:defPPr>
            <a:lvl1pPr>
              <a:defRPr sz="1400" b="1" lang="en-US">
                <a:latin typeface="Aptos"/>
                <a:ea typeface="Aptos"/>
                <a:cs typeface="Aptos"/>
              </a:defRPr>
            </a:lvl1pPr>
            <a:lvl2pPr>
              <a:defRPr sz="1400" b="1" lang="en-US">
                <a:latin typeface="Aptos"/>
                <a:ea typeface="Aptos"/>
                <a:cs typeface="Aptos"/>
              </a:defRPr>
            </a:lvl2pPr>
            <a:lvl3pPr>
              <a:defRPr sz="1400" b="1" lang="en-US">
                <a:latin typeface="Aptos"/>
                <a:ea typeface="Aptos"/>
                <a:cs typeface="Aptos"/>
              </a:defRPr>
            </a:lvl3pPr>
            <a:lvl4pPr>
              <a:defRPr sz="1400" b="1" lang="en-US">
                <a:latin typeface="Aptos"/>
                <a:ea typeface="Aptos"/>
                <a:cs typeface="Aptos"/>
              </a:defRPr>
            </a:lvl4pPr>
            <a:lvl5pPr>
              <a:defRPr sz="1400" b="1" lang="en-US">
                <a:latin typeface="Aptos"/>
                <a:ea typeface="Aptos"/>
                <a:cs typeface="Aptos"/>
              </a:defRPr>
            </a:lvl5pPr>
            <a:lvl6pPr>
              <a:defRPr sz="1400" b="1" lang="en-US">
                <a:latin typeface="Aptos"/>
                <a:ea typeface="Aptos"/>
                <a:cs typeface="Aptos"/>
              </a:defRPr>
            </a:lvl6pPr>
            <a:lvl7pPr>
              <a:defRPr sz="1400" b="1" lang="en-US">
                <a:latin typeface="Aptos"/>
                <a:ea typeface="Aptos"/>
                <a:cs typeface="Aptos"/>
              </a:defRPr>
            </a:lvl7pPr>
            <a:lvl8pPr>
              <a:defRPr sz="1400" b="1" lang="en-US">
                <a:latin typeface="Aptos"/>
                <a:ea typeface="Aptos"/>
                <a:cs typeface="Aptos"/>
              </a:defRPr>
            </a:lvl8pPr>
            <a:lvl9pPr>
              <a:defRPr sz="14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b="1" u="sng" lang="en-US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2c9484f54b0c48fb"/>
              </a:rPr>
              <a:t>↗</a:t>
            </a:r>
            <a:endParaRPr sz="1600" lang="en-US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C5540F1-6013-4ED7-A6DD-DF51BEA0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10712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hlinkClick xmlns:r="http://schemas.openxmlformats.org/officeDocument/2006/relationships" xmlns:a="http://schemas.openxmlformats.org/drawingml/2006/main" r:id="R889084ec3c0b47d7"/>
            <a:extLst xmlns:a="http://schemas.openxmlformats.org/drawingml/2006/main">
              <a:ext uri="{FF2B5EF4-FFF2-40B4-BE49-F238E27FC236}">
                <a16:creationId xmlns:a16="http://schemas.microsoft.com/office/drawing/2014/main" id="{29240CEA-1627-46AD-9760-A3843E89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502152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51" b="1" lang="en-US">
                <a:latin typeface="Aptos"/>
                <a:ea typeface="Aptos"/>
                <a:cs typeface="Aptos"/>
              </a:defRPr>
            </a:defPPr>
            <a:lvl1pPr>
              <a:defRPr sz="1451" b="1" lang="en-US">
                <a:latin typeface="Aptos"/>
                <a:ea typeface="Aptos"/>
                <a:cs typeface="Aptos"/>
              </a:defRPr>
            </a:lvl1pPr>
            <a:lvl2pPr>
              <a:defRPr sz="1451" b="1" lang="en-US">
                <a:latin typeface="Aptos"/>
                <a:ea typeface="Aptos"/>
                <a:cs typeface="Aptos"/>
              </a:defRPr>
            </a:lvl2pPr>
            <a:lvl3pPr>
              <a:defRPr sz="1451" b="1" lang="en-US">
                <a:latin typeface="Aptos"/>
                <a:ea typeface="Aptos"/>
                <a:cs typeface="Aptos"/>
              </a:defRPr>
            </a:lvl3pPr>
            <a:lvl4pPr>
              <a:defRPr sz="1451" b="1" lang="en-US">
                <a:latin typeface="Aptos"/>
                <a:ea typeface="Aptos"/>
                <a:cs typeface="Aptos"/>
              </a:defRPr>
            </a:lvl4pPr>
            <a:lvl5pPr>
              <a:defRPr sz="1451" b="1" lang="en-US">
                <a:latin typeface="Aptos"/>
                <a:ea typeface="Aptos"/>
                <a:cs typeface="Aptos"/>
              </a:defRPr>
            </a:lvl5pPr>
            <a:lvl6pPr>
              <a:defRPr sz="1451" b="1" lang="en-US">
                <a:latin typeface="Aptos"/>
                <a:ea typeface="Aptos"/>
                <a:cs typeface="Aptos"/>
              </a:defRPr>
            </a:lvl6pPr>
            <a:lvl7pPr>
              <a:defRPr sz="1451" b="1" lang="en-US">
                <a:latin typeface="Aptos"/>
                <a:ea typeface="Aptos"/>
                <a:cs typeface="Aptos"/>
              </a:defRPr>
            </a:lvl7pPr>
            <a:lvl8pPr>
              <a:defRPr sz="1451" b="1" lang="en-US">
                <a:latin typeface="Aptos"/>
                <a:ea typeface="Aptos"/>
                <a:cs typeface="Aptos"/>
              </a:defRPr>
            </a:lvl8pPr>
            <a:lvl9pPr>
              <a:defRPr sz="145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51" b="1" u="sng" lang="en-US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8986902988a94f60"/>
              </a:rPr>
              <a:t>IFR · China and the United States, World Robotics 2026</a:t>
            </a:r>
            <a:endParaRPr sz="1450" lang="en-US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C55C4A5-00F4-43F9-88B5-D9FAC6DC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776472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2025 installations and the distinction between adoption and manufacturing.</a:t>
            </a:r>
            <a:endParaRPr sz="1100" lang="en-US"/>
          </a:p>
        </p:txBody>
      </p:sp>
      <p:sp>
        <p:nvSpPr>
          <p:cNvPr id="19" name="Text 17">
            <a:hlinkClick xmlns:r="http://schemas.openxmlformats.org/officeDocument/2006/relationships" xmlns:a="http://schemas.openxmlformats.org/drawingml/2006/main" r:id="R5f7dc5561c6545ce"/>
            <a:extLst xmlns:a="http://schemas.openxmlformats.org/drawingml/2006/main">
              <a:ext uri="{FF2B5EF4-FFF2-40B4-BE49-F238E27FC236}">
                <a16:creationId xmlns:a16="http://schemas.microsoft.com/office/drawing/2014/main" id="{6184A7E1-2D63-41EC-A9C2-27360277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3584448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b="1" lang="en-US">
                <a:latin typeface="Aptos"/>
                <a:ea typeface="Aptos"/>
                <a:cs typeface="Aptos"/>
              </a:defRPr>
            </a:defPPr>
            <a:lvl1pPr>
              <a:defRPr sz="1400" b="1" lang="en-US">
                <a:latin typeface="Aptos"/>
                <a:ea typeface="Aptos"/>
                <a:cs typeface="Aptos"/>
              </a:defRPr>
            </a:lvl1pPr>
            <a:lvl2pPr>
              <a:defRPr sz="1400" b="1" lang="en-US">
                <a:latin typeface="Aptos"/>
                <a:ea typeface="Aptos"/>
                <a:cs typeface="Aptos"/>
              </a:defRPr>
            </a:lvl2pPr>
            <a:lvl3pPr>
              <a:defRPr sz="1400" b="1" lang="en-US">
                <a:latin typeface="Aptos"/>
                <a:ea typeface="Aptos"/>
                <a:cs typeface="Aptos"/>
              </a:defRPr>
            </a:lvl3pPr>
            <a:lvl4pPr>
              <a:defRPr sz="1400" b="1" lang="en-US">
                <a:latin typeface="Aptos"/>
                <a:ea typeface="Aptos"/>
                <a:cs typeface="Aptos"/>
              </a:defRPr>
            </a:lvl4pPr>
            <a:lvl5pPr>
              <a:defRPr sz="1400" b="1" lang="en-US">
                <a:latin typeface="Aptos"/>
                <a:ea typeface="Aptos"/>
                <a:cs typeface="Aptos"/>
              </a:defRPr>
            </a:lvl5pPr>
            <a:lvl6pPr>
              <a:defRPr sz="1400" b="1" lang="en-US">
                <a:latin typeface="Aptos"/>
                <a:ea typeface="Aptos"/>
                <a:cs typeface="Aptos"/>
              </a:defRPr>
            </a:lvl6pPr>
            <a:lvl7pPr>
              <a:defRPr sz="1400" b="1" lang="en-US">
                <a:latin typeface="Aptos"/>
                <a:ea typeface="Aptos"/>
                <a:cs typeface="Aptos"/>
              </a:defRPr>
            </a:lvl7pPr>
            <a:lvl8pPr>
              <a:defRPr sz="1400" b="1" lang="en-US">
                <a:latin typeface="Aptos"/>
                <a:ea typeface="Aptos"/>
                <a:cs typeface="Aptos"/>
              </a:defRPr>
            </a:lvl8pPr>
            <a:lvl9pPr>
              <a:defRPr sz="14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b="1" u="sng" lang="en-US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f5414d5230fc4fb2"/>
              </a:rPr>
              <a:t>↗</a:t>
            </a:r>
            <a:endParaRPr sz="1600" lang="en-US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6847918-005A-4E9E-B0DF-05896440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197096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hlinkClick xmlns:r="http://schemas.openxmlformats.org/officeDocument/2006/relationships" xmlns:a="http://schemas.openxmlformats.org/drawingml/2006/main" r:id="R5136f947e63246c2"/>
            <a:extLst xmlns:a="http://schemas.openxmlformats.org/drawingml/2006/main">
              <a:ext uri="{FF2B5EF4-FFF2-40B4-BE49-F238E27FC236}">
                <a16:creationId xmlns:a16="http://schemas.microsoft.com/office/drawing/2014/main" id="{A8BC2BCA-4489-49D2-B193-A23BDDFC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288536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51" b="1" lang="en-US">
                <a:latin typeface="Aptos"/>
                <a:ea typeface="Aptos"/>
                <a:cs typeface="Aptos"/>
              </a:defRPr>
            </a:defPPr>
            <a:lvl1pPr>
              <a:defRPr sz="1451" b="1" lang="en-US">
                <a:latin typeface="Aptos"/>
                <a:ea typeface="Aptos"/>
                <a:cs typeface="Aptos"/>
              </a:defRPr>
            </a:lvl1pPr>
            <a:lvl2pPr>
              <a:defRPr sz="1451" b="1" lang="en-US">
                <a:latin typeface="Aptos"/>
                <a:ea typeface="Aptos"/>
                <a:cs typeface="Aptos"/>
              </a:defRPr>
            </a:lvl2pPr>
            <a:lvl3pPr>
              <a:defRPr sz="1451" b="1" lang="en-US">
                <a:latin typeface="Aptos"/>
                <a:ea typeface="Aptos"/>
                <a:cs typeface="Aptos"/>
              </a:defRPr>
            </a:lvl3pPr>
            <a:lvl4pPr>
              <a:defRPr sz="1451" b="1" lang="en-US">
                <a:latin typeface="Aptos"/>
                <a:ea typeface="Aptos"/>
                <a:cs typeface="Aptos"/>
              </a:defRPr>
            </a:lvl4pPr>
            <a:lvl5pPr>
              <a:defRPr sz="1451" b="1" lang="en-US">
                <a:latin typeface="Aptos"/>
                <a:ea typeface="Aptos"/>
                <a:cs typeface="Aptos"/>
              </a:defRPr>
            </a:lvl5pPr>
            <a:lvl6pPr>
              <a:defRPr sz="1451" b="1" lang="en-US">
                <a:latin typeface="Aptos"/>
                <a:ea typeface="Aptos"/>
                <a:cs typeface="Aptos"/>
              </a:defRPr>
            </a:lvl6pPr>
            <a:lvl7pPr>
              <a:defRPr sz="1451" b="1" lang="en-US">
                <a:latin typeface="Aptos"/>
                <a:ea typeface="Aptos"/>
                <a:cs typeface="Aptos"/>
              </a:defRPr>
            </a:lvl7pPr>
            <a:lvl8pPr>
              <a:defRPr sz="1451" b="1" lang="en-US">
                <a:latin typeface="Aptos"/>
                <a:ea typeface="Aptos"/>
                <a:cs typeface="Aptos"/>
              </a:defRPr>
            </a:lvl8pPr>
            <a:lvl9pPr>
              <a:defRPr sz="145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51" b="1" u="sng" lang="en-US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008aa2d30c6a4050"/>
              </a:rPr>
              <a:t>IEA · Global EV Outlook 2026</a:t>
            </a:r>
            <a:endParaRPr sz="1450" lang="en-US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CE42E8D-8640-42E7-8705-9B47491C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562856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Production, sales, exports, and batteries.</a:t>
            </a:r>
            <a:endParaRPr sz="1100" lang="en-US"/>
          </a:p>
        </p:txBody>
      </p:sp>
      <p:sp>
        <p:nvSpPr>
          <p:cNvPr id="23" name="Text 21">
            <a:hlinkClick xmlns:r="http://schemas.openxmlformats.org/officeDocument/2006/relationships" xmlns:a="http://schemas.openxmlformats.org/drawingml/2006/main" r:id="R8d13cf2daab94218"/>
            <a:extLst xmlns:a="http://schemas.openxmlformats.org/drawingml/2006/main">
              <a:ext uri="{FF2B5EF4-FFF2-40B4-BE49-F238E27FC236}">
                <a16:creationId xmlns:a16="http://schemas.microsoft.com/office/drawing/2014/main" id="{2C398DD0-A771-486E-BDBE-C0812E77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437083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b="1" lang="en-US">
                <a:latin typeface="Aptos"/>
                <a:ea typeface="Aptos"/>
                <a:cs typeface="Aptos"/>
              </a:defRPr>
            </a:defPPr>
            <a:lvl1pPr>
              <a:defRPr sz="1400" b="1" lang="en-US">
                <a:latin typeface="Aptos"/>
                <a:ea typeface="Aptos"/>
                <a:cs typeface="Aptos"/>
              </a:defRPr>
            </a:lvl1pPr>
            <a:lvl2pPr>
              <a:defRPr sz="1400" b="1" lang="en-US">
                <a:latin typeface="Aptos"/>
                <a:ea typeface="Aptos"/>
                <a:cs typeface="Aptos"/>
              </a:defRPr>
            </a:lvl2pPr>
            <a:lvl3pPr>
              <a:defRPr sz="1400" b="1" lang="en-US">
                <a:latin typeface="Aptos"/>
                <a:ea typeface="Aptos"/>
                <a:cs typeface="Aptos"/>
              </a:defRPr>
            </a:lvl3pPr>
            <a:lvl4pPr>
              <a:defRPr sz="1400" b="1" lang="en-US">
                <a:latin typeface="Aptos"/>
                <a:ea typeface="Aptos"/>
                <a:cs typeface="Aptos"/>
              </a:defRPr>
            </a:lvl4pPr>
            <a:lvl5pPr>
              <a:defRPr sz="1400" b="1" lang="en-US">
                <a:latin typeface="Aptos"/>
                <a:ea typeface="Aptos"/>
                <a:cs typeface="Aptos"/>
              </a:defRPr>
            </a:lvl5pPr>
            <a:lvl6pPr>
              <a:defRPr sz="1400" b="1" lang="en-US">
                <a:latin typeface="Aptos"/>
                <a:ea typeface="Aptos"/>
                <a:cs typeface="Aptos"/>
              </a:defRPr>
            </a:lvl6pPr>
            <a:lvl7pPr>
              <a:defRPr sz="1400" b="1" lang="en-US">
                <a:latin typeface="Aptos"/>
                <a:ea typeface="Aptos"/>
                <a:cs typeface="Aptos"/>
              </a:defRPr>
            </a:lvl7pPr>
            <a:lvl8pPr>
              <a:defRPr sz="1400" b="1" lang="en-US">
                <a:latin typeface="Aptos"/>
                <a:ea typeface="Aptos"/>
                <a:cs typeface="Aptos"/>
              </a:defRPr>
            </a:lvl8pPr>
            <a:lvl9pPr>
              <a:defRPr sz="14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b="1" u="sng" lang="en-US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5a92dde9b48b4829"/>
              </a:rPr>
              <a:t>↗</a:t>
            </a:r>
            <a:endParaRPr sz="1600" lang="en-US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D5FC8F4-5DA7-4D2D-9657-1F8EB5EE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983480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hlinkClick xmlns:r="http://schemas.openxmlformats.org/officeDocument/2006/relationships" xmlns:a="http://schemas.openxmlformats.org/drawingml/2006/main" r:id="R11698cf947884420"/>
            <a:extLst xmlns:a="http://schemas.openxmlformats.org/drawingml/2006/main">
              <a:ext uri="{FF2B5EF4-FFF2-40B4-BE49-F238E27FC236}">
                <a16:creationId xmlns:a16="http://schemas.microsoft.com/office/drawing/2014/main" id="{942B160C-1E00-489E-9A96-C67796B9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07492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51" b="1" lang="en-US">
                <a:latin typeface="Aptos"/>
                <a:ea typeface="Aptos"/>
                <a:cs typeface="Aptos"/>
              </a:defRPr>
            </a:defPPr>
            <a:lvl1pPr>
              <a:defRPr sz="1451" b="1" lang="en-US">
                <a:latin typeface="Aptos"/>
                <a:ea typeface="Aptos"/>
                <a:cs typeface="Aptos"/>
              </a:defRPr>
            </a:lvl1pPr>
            <a:lvl2pPr>
              <a:defRPr sz="1451" b="1" lang="en-US">
                <a:latin typeface="Aptos"/>
                <a:ea typeface="Aptos"/>
                <a:cs typeface="Aptos"/>
              </a:defRPr>
            </a:lvl2pPr>
            <a:lvl3pPr>
              <a:defRPr sz="1451" b="1" lang="en-US">
                <a:latin typeface="Aptos"/>
                <a:ea typeface="Aptos"/>
                <a:cs typeface="Aptos"/>
              </a:defRPr>
            </a:lvl3pPr>
            <a:lvl4pPr>
              <a:defRPr sz="1451" b="1" lang="en-US">
                <a:latin typeface="Aptos"/>
                <a:ea typeface="Aptos"/>
                <a:cs typeface="Aptos"/>
              </a:defRPr>
            </a:lvl4pPr>
            <a:lvl5pPr>
              <a:defRPr sz="1451" b="1" lang="en-US">
                <a:latin typeface="Aptos"/>
                <a:ea typeface="Aptos"/>
                <a:cs typeface="Aptos"/>
              </a:defRPr>
            </a:lvl5pPr>
            <a:lvl6pPr>
              <a:defRPr sz="1451" b="1" lang="en-US">
                <a:latin typeface="Aptos"/>
                <a:ea typeface="Aptos"/>
                <a:cs typeface="Aptos"/>
              </a:defRPr>
            </a:lvl6pPr>
            <a:lvl7pPr>
              <a:defRPr sz="1451" b="1" lang="en-US">
                <a:latin typeface="Aptos"/>
                <a:ea typeface="Aptos"/>
                <a:cs typeface="Aptos"/>
              </a:defRPr>
            </a:lvl7pPr>
            <a:lvl8pPr>
              <a:defRPr sz="1451" b="1" lang="en-US">
                <a:latin typeface="Aptos"/>
                <a:ea typeface="Aptos"/>
                <a:cs typeface="Aptos"/>
              </a:defRPr>
            </a:lvl8pPr>
            <a:lvl9pPr>
              <a:defRPr sz="145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51" b="1" u="sng" lang="en-US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f5bf057e4d41415c"/>
              </a:rPr>
              <a:t>Stanford HAI · AI Index 2026</a:t>
            </a:r>
            <a:endParaRPr sz="1450" lang="en-US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62D3F0E-2525-40BF-9637-D7EB2F89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349240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International comparison of AI development.</a:t>
            </a:r>
            <a:endParaRPr sz="1100" lang="en-US"/>
          </a:p>
        </p:txBody>
      </p:sp>
      <p:sp>
        <p:nvSpPr>
          <p:cNvPr id="27" name="Text 25">
            <a:hlinkClick xmlns:r="http://schemas.openxmlformats.org/officeDocument/2006/relationships" xmlns:a="http://schemas.openxmlformats.org/drawingml/2006/main" r:id="Ra4286ae466a34d51"/>
            <a:extLst xmlns:a="http://schemas.openxmlformats.org/drawingml/2006/main">
              <a:ext uri="{FF2B5EF4-FFF2-40B4-BE49-F238E27FC236}">
                <a16:creationId xmlns:a16="http://schemas.microsoft.com/office/drawing/2014/main" id="{2EBA7390-8B6E-4822-A2BB-28FD0716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5157216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b="1" lang="en-US">
                <a:latin typeface="Aptos"/>
                <a:ea typeface="Aptos"/>
                <a:cs typeface="Aptos"/>
              </a:defRPr>
            </a:defPPr>
            <a:lvl1pPr>
              <a:defRPr sz="1400" b="1" lang="en-US">
                <a:latin typeface="Aptos"/>
                <a:ea typeface="Aptos"/>
                <a:cs typeface="Aptos"/>
              </a:defRPr>
            </a:lvl1pPr>
            <a:lvl2pPr>
              <a:defRPr sz="1400" b="1" lang="en-US">
                <a:latin typeface="Aptos"/>
                <a:ea typeface="Aptos"/>
                <a:cs typeface="Aptos"/>
              </a:defRPr>
            </a:lvl2pPr>
            <a:lvl3pPr>
              <a:defRPr sz="1400" b="1" lang="en-US">
                <a:latin typeface="Aptos"/>
                <a:ea typeface="Aptos"/>
                <a:cs typeface="Aptos"/>
              </a:defRPr>
            </a:lvl3pPr>
            <a:lvl4pPr>
              <a:defRPr sz="1400" b="1" lang="en-US">
                <a:latin typeface="Aptos"/>
                <a:ea typeface="Aptos"/>
                <a:cs typeface="Aptos"/>
              </a:defRPr>
            </a:lvl4pPr>
            <a:lvl5pPr>
              <a:defRPr sz="1400" b="1" lang="en-US">
                <a:latin typeface="Aptos"/>
                <a:ea typeface="Aptos"/>
                <a:cs typeface="Aptos"/>
              </a:defRPr>
            </a:lvl5pPr>
            <a:lvl6pPr>
              <a:defRPr sz="1400" b="1" lang="en-US">
                <a:latin typeface="Aptos"/>
                <a:ea typeface="Aptos"/>
                <a:cs typeface="Aptos"/>
              </a:defRPr>
            </a:lvl6pPr>
            <a:lvl7pPr>
              <a:defRPr sz="1400" b="1" lang="en-US">
                <a:latin typeface="Aptos"/>
                <a:ea typeface="Aptos"/>
                <a:cs typeface="Aptos"/>
              </a:defRPr>
            </a:lvl7pPr>
            <a:lvl8pPr>
              <a:defRPr sz="1400" b="1" lang="en-US">
                <a:latin typeface="Aptos"/>
                <a:ea typeface="Aptos"/>
                <a:cs typeface="Aptos"/>
              </a:defRPr>
            </a:lvl8pPr>
            <a:lvl9pPr>
              <a:defRPr sz="14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b="1" u="sng" lang="en-US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9fc9879ed8744384"/>
              </a:rPr>
              <a:t>↗</a:t>
            </a:r>
            <a:endParaRPr sz="1600" lang="en-US"/>
          </a:p>
        </p:txBody>
      </p:sp>
    </p:spTree>
    <p:extLst>
      <p:ext uri="{BB962C8B-B14F-4D97-AF65-F5344CB8AC3E}">
        <p14:creationId xmlns:p14="http://schemas.microsoft.com/office/powerpoint/2010/main" val="66854016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4AE6687-98B9-41C0-A428-76A1519A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SOURCES · II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25A5CCE-48D0-49B0-BCD5-C56BFC01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Corporate cases and manufacturing studies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BF5B2A7-1555-45AD-937B-C0E53161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Reported outcomes must be attributed to the sources presenting them.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29580A1-5530-4977-9D69-E86D3C4D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837944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hlinkClick xmlns:r="http://schemas.openxmlformats.org/officeDocument/2006/relationships" xmlns:a="http://schemas.openxmlformats.org/drawingml/2006/main" r:id="R53bb98e601c347f2"/>
            <a:extLst xmlns:a="http://schemas.openxmlformats.org/drawingml/2006/main">
              <a:ext uri="{FF2B5EF4-FFF2-40B4-BE49-F238E27FC236}">
                <a16:creationId xmlns:a16="http://schemas.microsoft.com/office/drawing/2014/main" id="{1EEF71A7-1521-460A-917E-F7FA93A1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29384"/>
            <a:ext cx="9784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29" b="1" lang="en-US">
                <a:latin typeface="Aptos"/>
                <a:ea typeface="Aptos"/>
                <a:cs typeface="Aptos"/>
              </a:defRPr>
            </a:defPPr>
            <a:lvl1pPr>
              <a:defRPr sz="1429" b="1" lang="en-US">
                <a:latin typeface="Aptos"/>
                <a:ea typeface="Aptos"/>
                <a:cs typeface="Aptos"/>
              </a:defRPr>
            </a:lvl1pPr>
            <a:lvl2pPr>
              <a:defRPr sz="1429" b="1" lang="en-US">
                <a:latin typeface="Aptos"/>
                <a:ea typeface="Aptos"/>
                <a:cs typeface="Aptos"/>
              </a:defRPr>
            </a:lvl2pPr>
            <a:lvl3pPr>
              <a:defRPr sz="1429" b="1" lang="en-US">
                <a:latin typeface="Aptos"/>
                <a:ea typeface="Aptos"/>
                <a:cs typeface="Aptos"/>
              </a:defRPr>
            </a:lvl3pPr>
            <a:lvl4pPr>
              <a:defRPr sz="1429" b="1" lang="en-US">
                <a:latin typeface="Aptos"/>
                <a:ea typeface="Aptos"/>
                <a:cs typeface="Aptos"/>
              </a:defRPr>
            </a:lvl4pPr>
            <a:lvl5pPr>
              <a:defRPr sz="1429" b="1" lang="en-US">
                <a:latin typeface="Aptos"/>
                <a:ea typeface="Aptos"/>
                <a:cs typeface="Aptos"/>
              </a:defRPr>
            </a:lvl5pPr>
            <a:lvl6pPr>
              <a:defRPr sz="1429" b="1" lang="en-US">
                <a:latin typeface="Aptos"/>
                <a:ea typeface="Aptos"/>
                <a:cs typeface="Aptos"/>
              </a:defRPr>
            </a:lvl6pPr>
            <a:lvl7pPr>
              <a:defRPr sz="1429" b="1" lang="en-US">
                <a:latin typeface="Aptos"/>
                <a:ea typeface="Aptos"/>
                <a:cs typeface="Aptos"/>
              </a:defRPr>
            </a:lvl7pPr>
            <a:lvl8pPr>
              <a:defRPr sz="1429" b="1" lang="en-US">
                <a:latin typeface="Aptos"/>
                <a:ea typeface="Aptos"/>
                <a:cs typeface="Aptos"/>
              </a:defRPr>
            </a:lvl8pPr>
            <a:lvl9pPr>
              <a:defRPr sz="142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29" b="1" u="sng" lang="en-US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37c96207d8934baa"/>
              </a:rPr>
              <a:t>World Economic Forum · Global Lighthouse Network 2025</a:t>
            </a:r>
            <a:endParaRPr sz="1430" lang="en-US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8A34726-AE11-4E5A-ADA2-2A6A38C3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194560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Shougang: 67 applications, defects −35%, efficiency +21.2%.</a:t>
            </a:r>
            <a:endParaRPr sz="1100" lang="en-US"/>
          </a:p>
        </p:txBody>
      </p:sp>
      <p:sp>
        <p:nvSpPr>
          <p:cNvPr id="11" name="Text 9">
            <a:hlinkClick xmlns:r="http://schemas.openxmlformats.org/officeDocument/2006/relationships" xmlns:a="http://schemas.openxmlformats.org/drawingml/2006/main" r:id="Rd28d9da0538f4de8"/>
            <a:extLst xmlns:a="http://schemas.openxmlformats.org/drawingml/2006/main">
              <a:ext uri="{FF2B5EF4-FFF2-40B4-BE49-F238E27FC236}">
                <a16:creationId xmlns:a16="http://schemas.microsoft.com/office/drawing/2014/main" id="{611B39D0-4673-41D9-87E1-8C54DE39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201168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b="1" lang="en-US">
                <a:latin typeface="Aptos"/>
                <a:ea typeface="Aptos"/>
                <a:cs typeface="Aptos"/>
              </a:defRPr>
            </a:defPPr>
            <a:lvl1pPr>
              <a:defRPr sz="1400" b="1" lang="en-US">
                <a:latin typeface="Aptos"/>
                <a:ea typeface="Aptos"/>
                <a:cs typeface="Aptos"/>
              </a:defRPr>
            </a:lvl1pPr>
            <a:lvl2pPr>
              <a:defRPr sz="1400" b="1" lang="en-US">
                <a:latin typeface="Aptos"/>
                <a:ea typeface="Aptos"/>
                <a:cs typeface="Aptos"/>
              </a:defRPr>
            </a:lvl2pPr>
            <a:lvl3pPr>
              <a:defRPr sz="1400" b="1" lang="en-US">
                <a:latin typeface="Aptos"/>
                <a:ea typeface="Aptos"/>
                <a:cs typeface="Aptos"/>
              </a:defRPr>
            </a:lvl3pPr>
            <a:lvl4pPr>
              <a:defRPr sz="1400" b="1" lang="en-US">
                <a:latin typeface="Aptos"/>
                <a:ea typeface="Aptos"/>
                <a:cs typeface="Aptos"/>
              </a:defRPr>
            </a:lvl4pPr>
            <a:lvl5pPr>
              <a:defRPr sz="1400" b="1" lang="en-US">
                <a:latin typeface="Aptos"/>
                <a:ea typeface="Aptos"/>
                <a:cs typeface="Aptos"/>
              </a:defRPr>
            </a:lvl5pPr>
            <a:lvl6pPr>
              <a:defRPr sz="1400" b="1" lang="en-US">
                <a:latin typeface="Aptos"/>
                <a:ea typeface="Aptos"/>
                <a:cs typeface="Aptos"/>
              </a:defRPr>
            </a:lvl6pPr>
            <a:lvl7pPr>
              <a:defRPr sz="1400" b="1" lang="en-US">
                <a:latin typeface="Aptos"/>
                <a:ea typeface="Aptos"/>
                <a:cs typeface="Aptos"/>
              </a:defRPr>
            </a:lvl7pPr>
            <a:lvl8pPr>
              <a:defRPr sz="1400" b="1" lang="en-US">
                <a:latin typeface="Aptos"/>
                <a:ea typeface="Aptos"/>
                <a:cs typeface="Aptos"/>
              </a:defRPr>
            </a:lvl8pPr>
            <a:lvl9pPr>
              <a:defRPr sz="14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b="1" u="sng" lang="en-US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260a5078b24f478a"/>
              </a:rPr>
              <a:t>↗</a:t>
            </a:r>
            <a:endParaRPr sz="1600" lang="en-US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9A980DB-8516-45B4-8C4F-A2195489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24328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hlinkClick xmlns:r="http://schemas.openxmlformats.org/officeDocument/2006/relationships" xmlns:a="http://schemas.openxmlformats.org/drawingml/2006/main" r:id="Rcdaaa45301aa460e"/>
            <a:extLst xmlns:a="http://schemas.openxmlformats.org/drawingml/2006/main">
              <a:ext uri="{FF2B5EF4-FFF2-40B4-BE49-F238E27FC236}">
                <a16:creationId xmlns:a16="http://schemas.microsoft.com/office/drawing/2014/main" id="{31AC127E-8E79-456B-9D76-88650D91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715768"/>
            <a:ext cx="9784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29" b="1" lang="en-US">
                <a:latin typeface="Aptos"/>
                <a:ea typeface="Aptos"/>
                <a:cs typeface="Aptos"/>
              </a:defRPr>
            </a:defPPr>
            <a:lvl1pPr>
              <a:defRPr sz="1429" b="1" lang="en-US">
                <a:latin typeface="Aptos"/>
                <a:ea typeface="Aptos"/>
                <a:cs typeface="Aptos"/>
              </a:defRPr>
            </a:lvl1pPr>
            <a:lvl2pPr>
              <a:defRPr sz="1429" b="1" lang="en-US">
                <a:latin typeface="Aptos"/>
                <a:ea typeface="Aptos"/>
                <a:cs typeface="Aptos"/>
              </a:defRPr>
            </a:lvl2pPr>
            <a:lvl3pPr>
              <a:defRPr sz="1429" b="1" lang="en-US">
                <a:latin typeface="Aptos"/>
                <a:ea typeface="Aptos"/>
                <a:cs typeface="Aptos"/>
              </a:defRPr>
            </a:lvl3pPr>
            <a:lvl4pPr>
              <a:defRPr sz="1429" b="1" lang="en-US">
                <a:latin typeface="Aptos"/>
                <a:ea typeface="Aptos"/>
                <a:cs typeface="Aptos"/>
              </a:defRPr>
            </a:lvl4pPr>
            <a:lvl5pPr>
              <a:defRPr sz="1429" b="1" lang="en-US">
                <a:latin typeface="Aptos"/>
                <a:ea typeface="Aptos"/>
                <a:cs typeface="Aptos"/>
              </a:defRPr>
            </a:lvl5pPr>
            <a:lvl6pPr>
              <a:defRPr sz="1429" b="1" lang="en-US">
                <a:latin typeface="Aptos"/>
                <a:ea typeface="Aptos"/>
                <a:cs typeface="Aptos"/>
              </a:defRPr>
            </a:lvl6pPr>
            <a:lvl7pPr>
              <a:defRPr sz="1429" b="1" lang="en-US">
                <a:latin typeface="Aptos"/>
                <a:ea typeface="Aptos"/>
                <a:cs typeface="Aptos"/>
              </a:defRPr>
            </a:lvl7pPr>
            <a:lvl8pPr>
              <a:defRPr sz="1429" b="1" lang="en-US">
                <a:latin typeface="Aptos"/>
                <a:ea typeface="Aptos"/>
                <a:cs typeface="Aptos"/>
              </a:defRPr>
            </a:lvl8pPr>
            <a:lvl9pPr>
              <a:defRPr sz="142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29" b="1" u="sng" lang="en-US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2aa96490d70c4510"/>
              </a:rPr>
              <a:t>World Economic Forum · Global Lighthouse Network 2025</a:t>
            </a:r>
            <a:endParaRPr sz="1430" lang="en-US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8E77EEC-B218-4193-AB2F-95518633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980944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Midea Chongqing: 79 digital use cases, setup time −81%.</a:t>
            </a:r>
            <a:endParaRPr sz="1100" lang="en-US"/>
          </a:p>
        </p:txBody>
      </p:sp>
      <p:sp>
        <p:nvSpPr>
          <p:cNvPr id="15" name="Text 13">
            <a:hlinkClick xmlns:r="http://schemas.openxmlformats.org/officeDocument/2006/relationships" xmlns:a="http://schemas.openxmlformats.org/drawingml/2006/main" r:id="R81b18fec277c4bea"/>
            <a:extLst xmlns:a="http://schemas.openxmlformats.org/drawingml/2006/main">
              <a:ext uri="{FF2B5EF4-FFF2-40B4-BE49-F238E27FC236}">
                <a16:creationId xmlns:a16="http://schemas.microsoft.com/office/drawing/2014/main" id="{8ADB3B41-0164-4727-8FE1-BC9D0ABA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279806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b="1" lang="en-US">
                <a:latin typeface="Aptos"/>
                <a:ea typeface="Aptos"/>
                <a:cs typeface="Aptos"/>
              </a:defRPr>
            </a:defPPr>
            <a:lvl1pPr>
              <a:defRPr sz="1400" b="1" lang="en-US">
                <a:latin typeface="Aptos"/>
                <a:ea typeface="Aptos"/>
                <a:cs typeface="Aptos"/>
              </a:defRPr>
            </a:lvl1pPr>
            <a:lvl2pPr>
              <a:defRPr sz="1400" b="1" lang="en-US">
                <a:latin typeface="Aptos"/>
                <a:ea typeface="Aptos"/>
                <a:cs typeface="Aptos"/>
              </a:defRPr>
            </a:lvl2pPr>
            <a:lvl3pPr>
              <a:defRPr sz="1400" b="1" lang="en-US">
                <a:latin typeface="Aptos"/>
                <a:ea typeface="Aptos"/>
                <a:cs typeface="Aptos"/>
              </a:defRPr>
            </a:lvl3pPr>
            <a:lvl4pPr>
              <a:defRPr sz="1400" b="1" lang="en-US">
                <a:latin typeface="Aptos"/>
                <a:ea typeface="Aptos"/>
                <a:cs typeface="Aptos"/>
              </a:defRPr>
            </a:lvl4pPr>
            <a:lvl5pPr>
              <a:defRPr sz="1400" b="1" lang="en-US">
                <a:latin typeface="Aptos"/>
                <a:ea typeface="Aptos"/>
                <a:cs typeface="Aptos"/>
              </a:defRPr>
            </a:lvl5pPr>
            <a:lvl6pPr>
              <a:defRPr sz="1400" b="1" lang="en-US">
                <a:latin typeface="Aptos"/>
                <a:ea typeface="Aptos"/>
                <a:cs typeface="Aptos"/>
              </a:defRPr>
            </a:lvl6pPr>
            <a:lvl7pPr>
              <a:defRPr sz="1400" b="1" lang="en-US">
                <a:latin typeface="Aptos"/>
                <a:ea typeface="Aptos"/>
                <a:cs typeface="Aptos"/>
              </a:defRPr>
            </a:lvl7pPr>
            <a:lvl8pPr>
              <a:defRPr sz="1400" b="1" lang="en-US">
                <a:latin typeface="Aptos"/>
                <a:ea typeface="Aptos"/>
                <a:cs typeface="Aptos"/>
              </a:defRPr>
            </a:lvl8pPr>
            <a:lvl9pPr>
              <a:defRPr sz="14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b="1" u="sng" lang="en-US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120ac101a77641b7"/>
              </a:rPr>
              <a:t>↗</a:t>
            </a:r>
            <a:endParaRPr sz="1600" lang="en-US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6EC30D6-9FD0-4B1E-AAFA-D54EEDB4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10712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hlinkClick xmlns:r="http://schemas.openxmlformats.org/officeDocument/2006/relationships" xmlns:a="http://schemas.openxmlformats.org/drawingml/2006/main" r:id="R479495d593904c29"/>
            <a:extLst xmlns:a="http://schemas.openxmlformats.org/drawingml/2006/main">
              <a:ext uri="{FF2B5EF4-FFF2-40B4-BE49-F238E27FC236}">
                <a16:creationId xmlns:a16="http://schemas.microsoft.com/office/drawing/2014/main" id="{96872948-1A38-4A80-B810-64CA7100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502152"/>
            <a:ext cx="9784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29" b="1" lang="en-US">
                <a:latin typeface="Aptos"/>
                <a:ea typeface="Aptos"/>
                <a:cs typeface="Aptos"/>
              </a:defRPr>
            </a:defPPr>
            <a:lvl1pPr>
              <a:defRPr sz="1429" b="1" lang="en-US">
                <a:latin typeface="Aptos"/>
                <a:ea typeface="Aptos"/>
                <a:cs typeface="Aptos"/>
              </a:defRPr>
            </a:lvl1pPr>
            <a:lvl2pPr>
              <a:defRPr sz="1429" b="1" lang="en-US">
                <a:latin typeface="Aptos"/>
                <a:ea typeface="Aptos"/>
                <a:cs typeface="Aptos"/>
              </a:defRPr>
            </a:lvl2pPr>
            <a:lvl3pPr>
              <a:defRPr sz="1429" b="1" lang="en-US">
                <a:latin typeface="Aptos"/>
                <a:ea typeface="Aptos"/>
                <a:cs typeface="Aptos"/>
              </a:defRPr>
            </a:lvl3pPr>
            <a:lvl4pPr>
              <a:defRPr sz="1429" b="1" lang="en-US">
                <a:latin typeface="Aptos"/>
                <a:ea typeface="Aptos"/>
                <a:cs typeface="Aptos"/>
              </a:defRPr>
            </a:lvl4pPr>
            <a:lvl5pPr>
              <a:defRPr sz="1429" b="1" lang="en-US">
                <a:latin typeface="Aptos"/>
                <a:ea typeface="Aptos"/>
                <a:cs typeface="Aptos"/>
              </a:defRPr>
            </a:lvl5pPr>
            <a:lvl6pPr>
              <a:defRPr sz="1429" b="1" lang="en-US">
                <a:latin typeface="Aptos"/>
                <a:ea typeface="Aptos"/>
                <a:cs typeface="Aptos"/>
              </a:defRPr>
            </a:lvl6pPr>
            <a:lvl7pPr>
              <a:defRPr sz="1429" b="1" lang="en-US">
                <a:latin typeface="Aptos"/>
                <a:ea typeface="Aptos"/>
                <a:cs typeface="Aptos"/>
              </a:defRPr>
            </a:lvl7pPr>
            <a:lvl8pPr>
              <a:defRPr sz="1429" b="1" lang="en-US">
                <a:latin typeface="Aptos"/>
                <a:ea typeface="Aptos"/>
                <a:cs typeface="Aptos"/>
              </a:defRPr>
            </a:lvl8pPr>
            <a:lvl9pPr>
              <a:defRPr sz="142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29" b="1" u="sng" lang="en-US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54c26603d6f849e6"/>
              </a:rPr>
              <a:t>Unitree Robotics · Official G1 specifications</a:t>
            </a:r>
            <a:endParaRPr sz="1430" lang="en-US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6665D04-9094-446F-AABC-3F1C4B96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767328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Components and technical capabilities claimed by the manufacturer.</a:t>
            </a:r>
            <a:endParaRPr sz="1100" lang="en-US"/>
          </a:p>
        </p:txBody>
      </p:sp>
      <p:sp>
        <p:nvSpPr>
          <p:cNvPr id="19" name="Text 17">
            <a:hlinkClick xmlns:r="http://schemas.openxmlformats.org/officeDocument/2006/relationships" xmlns:a="http://schemas.openxmlformats.org/drawingml/2006/main" r:id="R868e36862f194e10"/>
            <a:extLst xmlns:a="http://schemas.openxmlformats.org/drawingml/2006/main">
              <a:ext uri="{FF2B5EF4-FFF2-40B4-BE49-F238E27FC236}">
                <a16:creationId xmlns:a16="http://schemas.microsoft.com/office/drawing/2014/main" id="{E0E328EF-BBB1-41E0-9A2C-17B4B322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3584448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b="1" lang="en-US">
                <a:latin typeface="Aptos"/>
                <a:ea typeface="Aptos"/>
                <a:cs typeface="Aptos"/>
              </a:defRPr>
            </a:defPPr>
            <a:lvl1pPr>
              <a:defRPr sz="1400" b="1" lang="en-US">
                <a:latin typeface="Aptos"/>
                <a:ea typeface="Aptos"/>
                <a:cs typeface="Aptos"/>
              </a:defRPr>
            </a:lvl1pPr>
            <a:lvl2pPr>
              <a:defRPr sz="1400" b="1" lang="en-US">
                <a:latin typeface="Aptos"/>
                <a:ea typeface="Aptos"/>
                <a:cs typeface="Aptos"/>
              </a:defRPr>
            </a:lvl2pPr>
            <a:lvl3pPr>
              <a:defRPr sz="1400" b="1" lang="en-US">
                <a:latin typeface="Aptos"/>
                <a:ea typeface="Aptos"/>
                <a:cs typeface="Aptos"/>
              </a:defRPr>
            </a:lvl3pPr>
            <a:lvl4pPr>
              <a:defRPr sz="1400" b="1" lang="en-US">
                <a:latin typeface="Aptos"/>
                <a:ea typeface="Aptos"/>
                <a:cs typeface="Aptos"/>
              </a:defRPr>
            </a:lvl4pPr>
            <a:lvl5pPr>
              <a:defRPr sz="1400" b="1" lang="en-US">
                <a:latin typeface="Aptos"/>
                <a:ea typeface="Aptos"/>
                <a:cs typeface="Aptos"/>
              </a:defRPr>
            </a:lvl5pPr>
            <a:lvl6pPr>
              <a:defRPr sz="1400" b="1" lang="en-US">
                <a:latin typeface="Aptos"/>
                <a:ea typeface="Aptos"/>
                <a:cs typeface="Aptos"/>
              </a:defRPr>
            </a:lvl6pPr>
            <a:lvl7pPr>
              <a:defRPr sz="1400" b="1" lang="en-US">
                <a:latin typeface="Aptos"/>
                <a:ea typeface="Aptos"/>
                <a:cs typeface="Aptos"/>
              </a:defRPr>
            </a:lvl7pPr>
            <a:lvl8pPr>
              <a:defRPr sz="1400" b="1" lang="en-US">
                <a:latin typeface="Aptos"/>
                <a:ea typeface="Aptos"/>
                <a:cs typeface="Aptos"/>
              </a:defRPr>
            </a:lvl8pPr>
            <a:lvl9pPr>
              <a:defRPr sz="14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b="1" u="sng" lang="en-US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ddebe422611b4402"/>
              </a:rPr>
              <a:t>↗</a:t>
            </a:r>
            <a:endParaRPr sz="1600" lang="en-US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6C0B21A-AE3B-4F2A-9DD5-B86CA311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197096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hlinkClick xmlns:r="http://schemas.openxmlformats.org/officeDocument/2006/relationships" xmlns:a="http://schemas.openxmlformats.org/drawingml/2006/main" r:id="R522f8ae633904ed8"/>
            <a:extLst xmlns:a="http://schemas.openxmlformats.org/drawingml/2006/main">
              <a:ext uri="{FF2B5EF4-FFF2-40B4-BE49-F238E27FC236}">
                <a16:creationId xmlns:a16="http://schemas.microsoft.com/office/drawing/2014/main" id="{4DBE8645-65D3-4629-B5F5-2A9D7543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288536"/>
            <a:ext cx="9784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29" b="1" lang="en-US">
                <a:latin typeface="Aptos"/>
                <a:ea typeface="Aptos"/>
                <a:cs typeface="Aptos"/>
              </a:defRPr>
            </a:defPPr>
            <a:lvl1pPr>
              <a:defRPr sz="1429" b="1" lang="en-US">
                <a:latin typeface="Aptos"/>
                <a:ea typeface="Aptos"/>
                <a:cs typeface="Aptos"/>
              </a:defRPr>
            </a:lvl1pPr>
            <a:lvl2pPr>
              <a:defRPr sz="1429" b="1" lang="en-US">
                <a:latin typeface="Aptos"/>
                <a:ea typeface="Aptos"/>
                <a:cs typeface="Aptos"/>
              </a:defRPr>
            </a:lvl2pPr>
            <a:lvl3pPr>
              <a:defRPr sz="1429" b="1" lang="en-US">
                <a:latin typeface="Aptos"/>
                <a:ea typeface="Aptos"/>
                <a:cs typeface="Aptos"/>
              </a:defRPr>
            </a:lvl3pPr>
            <a:lvl4pPr>
              <a:defRPr sz="1429" b="1" lang="en-US">
                <a:latin typeface="Aptos"/>
                <a:ea typeface="Aptos"/>
                <a:cs typeface="Aptos"/>
              </a:defRPr>
            </a:lvl4pPr>
            <a:lvl5pPr>
              <a:defRPr sz="1429" b="1" lang="en-US">
                <a:latin typeface="Aptos"/>
                <a:ea typeface="Aptos"/>
                <a:cs typeface="Aptos"/>
              </a:defRPr>
            </a:lvl5pPr>
            <a:lvl6pPr>
              <a:defRPr sz="1429" b="1" lang="en-US">
                <a:latin typeface="Aptos"/>
                <a:ea typeface="Aptos"/>
                <a:cs typeface="Aptos"/>
              </a:defRPr>
            </a:lvl6pPr>
            <a:lvl7pPr>
              <a:defRPr sz="1429" b="1" lang="en-US">
                <a:latin typeface="Aptos"/>
                <a:ea typeface="Aptos"/>
                <a:cs typeface="Aptos"/>
              </a:defRPr>
            </a:lvl7pPr>
            <a:lvl8pPr>
              <a:defRPr sz="1429" b="1" lang="en-US">
                <a:latin typeface="Aptos"/>
                <a:ea typeface="Aptos"/>
                <a:cs typeface="Aptos"/>
              </a:defRPr>
            </a:lvl8pPr>
            <a:lvl9pPr>
              <a:defRPr sz="142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29" b="1" u="sng" lang="en-US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9b49f94e935d4e07"/>
              </a:rPr>
              <a:t>Xiaomi Auto · Hyperfactory</a:t>
            </a:r>
            <a:endParaRPr sz="1430" lang="en-US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B1CA245-230D-4841-85CE-E87251BC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553712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Company description of manufacturing and processes.</a:t>
            </a:r>
            <a:endParaRPr sz="1100" lang="en-US"/>
          </a:p>
        </p:txBody>
      </p:sp>
      <p:sp>
        <p:nvSpPr>
          <p:cNvPr id="23" name="Text 21">
            <a:hlinkClick xmlns:r="http://schemas.openxmlformats.org/officeDocument/2006/relationships" xmlns:a="http://schemas.openxmlformats.org/drawingml/2006/main" r:id="R98bbd27108854f48"/>
            <a:extLst xmlns:a="http://schemas.openxmlformats.org/drawingml/2006/main">
              <a:ext uri="{FF2B5EF4-FFF2-40B4-BE49-F238E27FC236}">
                <a16:creationId xmlns:a16="http://schemas.microsoft.com/office/drawing/2014/main" id="{D4AB05E4-1803-43E4-883A-CF489927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437083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b="1" lang="en-US">
                <a:latin typeface="Aptos"/>
                <a:ea typeface="Aptos"/>
                <a:cs typeface="Aptos"/>
              </a:defRPr>
            </a:defPPr>
            <a:lvl1pPr>
              <a:defRPr sz="1400" b="1" lang="en-US">
                <a:latin typeface="Aptos"/>
                <a:ea typeface="Aptos"/>
                <a:cs typeface="Aptos"/>
              </a:defRPr>
            </a:lvl1pPr>
            <a:lvl2pPr>
              <a:defRPr sz="1400" b="1" lang="en-US">
                <a:latin typeface="Aptos"/>
                <a:ea typeface="Aptos"/>
                <a:cs typeface="Aptos"/>
              </a:defRPr>
            </a:lvl2pPr>
            <a:lvl3pPr>
              <a:defRPr sz="1400" b="1" lang="en-US">
                <a:latin typeface="Aptos"/>
                <a:ea typeface="Aptos"/>
                <a:cs typeface="Aptos"/>
              </a:defRPr>
            </a:lvl3pPr>
            <a:lvl4pPr>
              <a:defRPr sz="1400" b="1" lang="en-US">
                <a:latin typeface="Aptos"/>
                <a:ea typeface="Aptos"/>
                <a:cs typeface="Aptos"/>
              </a:defRPr>
            </a:lvl4pPr>
            <a:lvl5pPr>
              <a:defRPr sz="1400" b="1" lang="en-US">
                <a:latin typeface="Aptos"/>
                <a:ea typeface="Aptos"/>
                <a:cs typeface="Aptos"/>
              </a:defRPr>
            </a:lvl5pPr>
            <a:lvl6pPr>
              <a:defRPr sz="1400" b="1" lang="en-US">
                <a:latin typeface="Aptos"/>
                <a:ea typeface="Aptos"/>
                <a:cs typeface="Aptos"/>
              </a:defRPr>
            </a:lvl6pPr>
            <a:lvl7pPr>
              <a:defRPr sz="1400" b="1" lang="en-US">
                <a:latin typeface="Aptos"/>
                <a:ea typeface="Aptos"/>
                <a:cs typeface="Aptos"/>
              </a:defRPr>
            </a:lvl7pPr>
            <a:lvl8pPr>
              <a:defRPr sz="1400" b="1" lang="en-US">
                <a:latin typeface="Aptos"/>
                <a:ea typeface="Aptos"/>
                <a:cs typeface="Aptos"/>
              </a:defRPr>
            </a:lvl8pPr>
            <a:lvl9pPr>
              <a:defRPr sz="14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b="1" u="sng" lang="en-US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3e975f9c253042ac"/>
              </a:rPr>
              <a:t>↗</a:t>
            </a:r>
            <a:endParaRPr sz="1600" lang="en-US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A7AA4A59-5EAC-4FA9-867E-1274BDBD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983480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hlinkClick xmlns:r="http://schemas.openxmlformats.org/officeDocument/2006/relationships" xmlns:a="http://schemas.openxmlformats.org/drawingml/2006/main" r:id="Rf96e17023b244b15"/>
            <a:extLst xmlns:a="http://schemas.openxmlformats.org/drawingml/2006/main">
              <a:ext uri="{FF2B5EF4-FFF2-40B4-BE49-F238E27FC236}">
                <a16:creationId xmlns:a16="http://schemas.microsoft.com/office/drawing/2014/main" id="{8D880D03-CF55-4312-BC84-AC432300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074920"/>
            <a:ext cx="9784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29" b="1" lang="en-US">
                <a:latin typeface="Aptos"/>
                <a:ea typeface="Aptos"/>
                <a:cs typeface="Aptos"/>
              </a:defRPr>
            </a:defPPr>
            <a:lvl1pPr>
              <a:defRPr sz="1429" b="1" lang="en-US">
                <a:latin typeface="Aptos"/>
                <a:ea typeface="Aptos"/>
                <a:cs typeface="Aptos"/>
              </a:defRPr>
            </a:lvl1pPr>
            <a:lvl2pPr>
              <a:defRPr sz="1429" b="1" lang="en-US">
                <a:latin typeface="Aptos"/>
                <a:ea typeface="Aptos"/>
                <a:cs typeface="Aptos"/>
              </a:defRPr>
            </a:lvl2pPr>
            <a:lvl3pPr>
              <a:defRPr sz="1429" b="1" lang="en-US">
                <a:latin typeface="Aptos"/>
                <a:ea typeface="Aptos"/>
                <a:cs typeface="Aptos"/>
              </a:defRPr>
            </a:lvl3pPr>
            <a:lvl4pPr>
              <a:defRPr sz="1429" b="1" lang="en-US">
                <a:latin typeface="Aptos"/>
                <a:ea typeface="Aptos"/>
                <a:cs typeface="Aptos"/>
              </a:defRPr>
            </a:lvl4pPr>
            <a:lvl5pPr>
              <a:defRPr sz="1429" b="1" lang="en-US">
                <a:latin typeface="Aptos"/>
                <a:ea typeface="Aptos"/>
                <a:cs typeface="Aptos"/>
              </a:defRPr>
            </a:lvl5pPr>
            <a:lvl6pPr>
              <a:defRPr sz="1429" b="1" lang="en-US">
                <a:latin typeface="Aptos"/>
                <a:ea typeface="Aptos"/>
                <a:cs typeface="Aptos"/>
              </a:defRPr>
            </a:lvl6pPr>
            <a:lvl7pPr>
              <a:defRPr sz="1429" b="1" lang="en-US">
                <a:latin typeface="Aptos"/>
                <a:ea typeface="Aptos"/>
                <a:cs typeface="Aptos"/>
              </a:defRPr>
            </a:lvl7pPr>
            <a:lvl8pPr>
              <a:defRPr sz="1429" b="1" lang="en-US">
                <a:latin typeface="Aptos"/>
                <a:ea typeface="Aptos"/>
                <a:cs typeface="Aptos"/>
              </a:defRPr>
            </a:lvl8pPr>
            <a:lvl9pPr>
              <a:defRPr sz="142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29" b="1" u="sng" lang="en-US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6488d34c4ca648e2"/>
              </a:rPr>
              <a:t>IEA · Manufacturing and Trade 2026</a:t>
            </a:r>
            <a:endParaRPr sz="1430" lang="en-US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D0C1792-E3AF-41C0-BAE1-BF1DAB20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340096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The electric vehicle value chain and its economic tensions.</a:t>
            </a:r>
            <a:endParaRPr sz="1100" lang="en-US"/>
          </a:p>
        </p:txBody>
      </p:sp>
      <p:sp>
        <p:nvSpPr>
          <p:cNvPr id="27" name="Text 25">
            <a:hlinkClick xmlns:r="http://schemas.openxmlformats.org/officeDocument/2006/relationships" xmlns:a="http://schemas.openxmlformats.org/drawingml/2006/main" r:id="R63cf2ecbd46f4958"/>
            <a:extLst xmlns:a="http://schemas.openxmlformats.org/drawingml/2006/main">
              <a:ext uri="{FF2B5EF4-FFF2-40B4-BE49-F238E27FC236}">
                <a16:creationId xmlns:a16="http://schemas.microsoft.com/office/drawing/2014/main" id="{0570222D-2EEC-4DE9-A8E7-525589C4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5157216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b="1" lang="en-US">
                <a:latin typeface="Aptos"/>
                <a:ea typeface="Aptos"/>
                <a:cs typeface="Aptos"/>
              </a:defRPr>
            </a:defPPr>
            <a:lvl1pPr>
              <a:defRPr sz="1400" b="1" lang="en-US">
                <a:latin typeface="Aptos"/>
                <a:ea typeface="Aptos"/>
                <a:cs typeface="Aptos"/>
              </a:defRPr>
            </a:lvl1pPr>
            <a:lvl2pPr>
              <a:defRPr sz="1400" b="1" lang="en-US">
                <a:latin typeface="Aptos"/>
                <a:ea typeface="Aptos"/>
                <a:cs typeface="Aptos"/>
              </a:defRPr>
            </a:lvl2pPr>
            <a:lvl3pPr>
              <a:defRPr sz="1400" b="1" lang="en-US">
                <a:latin typeface="Aptos"/>
                <a:ea typeface="Aptos"/>
                <a:cs typeface="Aptos"/>
              </a:defRPr>
            </a:lvl3pPr>
            <a:lvl4pPr>
              <a:defRPr sz="1400" b="1" lang="en-US">
                <a:latin typeface="Aptos"/>
                <a:ea typeface="Aptos"/>
                <a:cs typeface="Aptos"/>
              </a:defRPr>
            </a:lvl4pPr>
            <a:lvl5pPr>
              <a:defRPr sz="1400" b="1" lang="en-US">
                <a:latin typeface="Aptos"/>
                <a:ea typeface="Aptos"/>
                <a:cs typeface="Aptos"/>
              </a:defRPr>
            </a:lvl5pPr>
            <a:lvl6pPr>
              <a:defRPr sz="1400" b="1" lang="en-US">
                <a:latin typeface="Aptos"/>
                <a:ea typeface="Aptos"/>
                <a:cs typeface="Aptos"/>
              </a:defRPr>
            </a:lvl6pPr>
            <a:lvl7pPr>
              <a:defRPr sz="1400" b="1" lang="en-US">
                <a:latin typeface="Aptos"/>
                <a:ea typeface="Aptos"/>
                <a:cs typeface="Aptos"/>
              </a:defRPr>
            </a:lvl7pPr>
            <a:lvl8pPr>
              <a:defRPr sz="1400" b="1" lang="en-US">
                <a:latin typeface="Aptos"/>
                <a:ea typeface="Aptos"/>
                <a:cs typeface="Aptos"/>
              </a:defRPr>
            </a:lvl8pPr>
            <a:lvl9pPr>
              <a:defRPr sz="14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b="1" u="sng" lang="en-US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04693f273a60434c"/>
              </a:rPr>
              <a:t>↗</a:t>
            </a:r>
            <a:endParaRPr sz="1600" lang="en-US"/>
          </a:p>
        </p:txBody>
      </p:sp>
    </p:spTree>
    <p:extLst>
      <p:ext uri="{BB962C8B-B14F-4D97-AF65-F5344CB8AC3E}">
        <p14:creationId xmlns:p14="http://schemas.microsoft.com/office/powerpoint/2010/main" val="150111930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F396196-7768-440C-981F-2A648A85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00" b="1" lang="en-US">
                <a:latin typeface="Aptos"/>
                <a:ea typeface="Aptos"/>
                <a:cs typeface="Aptos"/>
              </a:defRPr>
            </a:defPPr>
            <a:lvl1pPr>
              <a:defRPr sz="1100" b="1" lang="en-US">
                <a:latin typeface="Aptos"/>
                <a:ea typeface="Aptos"/>
                <a:cs typeface="Aptos"/>
              </a:defRPr>
            </a:lvl1pPr>
            <a:lvl2pPr>
              <a:defRPr sz="1100" b="1" lang="en-US">
                <a:latin typeface="Aptos"/>
                <a:ea typeface="Aptos"/>
                <a:cs typeface="Aptos"/>
              </a:defRPr>
            </a:lvl2pPr>
            <a:lvl3pPr>
              <a:defRPr sz="1100" b="1" lang="en-US">
                <a:latin typeface="Aptos"/>
                <a:ea typeface="Aptos"/>
                <a:cs typeface="Aptos"/>
              </a:defRPr>
            </a:lvl3pPr>
            <a:lvl4pPr>
              <a:defRPr sz="1100" b="1" lang="en-US">
                <a:latin typeface="Aptos"/>
                <a:ea typeface="Aptos"/>
                <a:cs typeface="Aptos"/>
              </a:defRPr>
            </a:lvl4pPr>
            <a:lvl5pPr>
              <a:defRPr sz="1100" b="1" lang="en-US">
                <a:latin typeface="Aptos"/>
                <a:ea typeface="Aptos"/>
                <a:cs typeface="Aptos"/>
              </a:defRPr>
            </a:lvl5pPr>
            <a:lvl6pPr>
              <a:defRPr sz="1100" b="1" lang="en-US">
                <a:latin typeface="Aptos"/>
                <a:ea typeface="Aptos"/>
                <a:cs typeface="Aptos"/>
              </a:defRPr>
            </a:lvl6pPr>
            <a:lvl7pPr>
              <a:defRPr sz="1100" b="1" lang="en-US">
                <a:latin typeface="Aptos"/>
                <a:ea typeface="Aptos"/>
                <a:cs typeface="Aptos"/>
              </a:defRPr>
            </a:lvl7pPr>
            <a:lvl8pPr>
              <a:defRPr sz="1100" b="1" lang="en-US">
                <a:latin typeface="Aptos"/>
                <a:ea typeface="Aptos"/>
                <a:cs typeface="Aptos"/>
              </a:defRPr>
            </a:lvl8pPr>
            <a:lvl9pPr>
              <a:defRPr sz="11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100" b="1" spc="130" lang="en-US">
                <a:solidFill>
                  <a:srgbClr val="168C8B"/>
                </a:solidFill>
                <a:latin typeface="Aptos"/>
                <a:ea typeface="Aptos"/>
                <a:cs typeface="Aptos"/>
              </a:rPr>
              <a:t>SOURCES · III</a:t>
            </a:r>
            <a:endParaRPr sz="1100" lang="en-US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6CEE53-067A-422B-BB3D-B3A2C285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00" b="1" lang="en-US">
                <a:latin typeface="Aptos"/>
                <a:ea typeface="Aptos"/>
                <a:cs typeface="Aptos"/>
              </a:defRPr>
            </a:defPPr>
            <a:lvl1pPr>
              <a:defRPr sz="2900" b="1" lang="en-US">
                <a:latin typeface="Aptos"/>
                <a:ea typeface="Aptos"/>
                <a:cs typeface="Aptos"/>
              </a:defRPr>
            </a:lvl1pPr>
            <a:lvl2pPr>
              <a:defRPr sz="2900" b="1" lang="en-US">
                <a:latin typeface="Aptos"/>
                <a:ea typeface="Aptos"/>
                <a:cs typeface="Aptos"/>
              </a:defRPr>
            </a:lvl2pPr>
            <a:lvl3pPr>
              <a:defRPr sz="2900" b="1" lang="en-US">
                <a:latin typeface="Aptos"/>
                <a:ea typeface="Aptos"/>
                <a:cs typeface="Aptos"/>
              </a:defRPr>
            </a:lvl3pPr>
            <a:lvl4pPr>
              <a:defRPr sz="2900" b="1" lang="en-US">
                <a:latin typeface="Aptos"/>
                <a:ea typeface="Aptos"/>
                <a:cs typeface="Aptos"/>
              </a:defRPr>
            </a:lvl4pPr>
            <a:lvl5pPr>
              <a:defRPr sz="2900" b="1" lang="en-US">
                <a:latin typeface="Aptos"/>
                <a:ea typeface="Aptos"/>
                <a:cs typeface="Aptos"/>
              </a:defRPr>
            </a:lvl5pPr>
            <a:lvl6pPr>
              <a:defRPr sz="2900" b="1" lang="en-US">
                <a:latin typeface="Aptos"/>
                <a:ea typeface="Aptos"/>
                <a:cs typeface="Aptos"/>
              </a:defRPr>
            </a:lvl6pPr>
            <a:lvl7pPr>
              <a:defRPr sz="2900" b="1" lang="en-US">
                <a:latin typeface="Aptos"/>
                <a:ea typeface="Aptos"/>
                <a:cs typeface="Aptos"/>
              </a:defRPr>
            </a:lvl7pPr>
            <a:lvl8pPr>
              <a:defRPr sz="2900" b="1" lang="en-US">
                <a:latin typeface="Aptos"/>
                <a:ea typeface="Aptos"/>
                <a:cs typeface="Aptos"/>
              </a:defRPr>
            </a:lvl8pPr>
            <a:lvl9pPr>
              <a:defRPr sz="29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900" b="1" lang="en-US">
                <a:solidFill>
                  <a:srgbClr val="101D31"/>
                </a:solidFill>
                <a:latin typeface="Aptos"/>
                <a:ea typeface="Aptos"/>
                <a:cs typeface="Aptos"/>
              </a:rPr>
              <a:t>Official documents, economics, and teaching resources</a:t>
            </a:r>
            <a:endParaRPr sz="2900" lang="en-US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1FF18A3-BE55-407A-B310-2CBE7CCB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lang="en-US">
                <a:latin typeface="Aptos"/>
                <a:ea typeface="Aptos"/>
                <a:cs typeface="Aptos"/>
              </a:defRPr>
            </a:defPPr>
            <a:lvl1pPr>
              <a:defRPr sz="1400" lang="en-US">
                <a:latin typeface="Aptos"/>
                <a:ea typeface="Aptos"/>
                <a:cs typeface="Aptos"/>
              </a:defRPr>
            </a:lvl1pPr>
            <a:lvl2pPr>
              <a:defRPr sz="1400" lang="en-US">
                <a:latin typeface="Aptos"/>
                <a:ea typeface="Aptos"/>
                <a:cs typeface="Aptos"/>
              </a:defRPr>
            </a:lvl2pPr>
            <a:lvl3pPr>
              <a:defRPr sz="1400" lang="en-US">
                <a:latin typeface="Aptos"/>
                <a:ea typeface="Aptos"/>
                <a:cs typeface="Aptos"/>
              </a:defRPr>
            </a:lvl3pPr>
            <a:lvl4pPr>
              <a:defRPr sz="1400" lang="en-US">
                <a:latin typeface="Aptos"/>
                <a:ea typeface="Aptos"/>
                <a:cs typeface="Aptos"/>
              </a:defRPr>
            </a:lvl4pPr>
            <a:lvl5pPr>
              <a:defRPr sz="1400" lang="en-US">
                <a:latin typeface="Aptos"/>
                <a:ea typeface="Aptos"/>
                <a:cs typeface="Aptos"/>
              </a:defRPr>
            </a:lvl5pPr>
            <a:lvl6pPr>
              <a:defRPr sz="1400" lang="en-US">
                <a:latin typeface="Aptos"/>
                <a:ea typeface="Aptos"/>
                <a:cs typeface="Aptos"/>
              </a:defRPr>
            </a:lvl6pPr>
            <a:lvl7pPr>
              <a:defRPr sz="1400" lang="en-US">
                <a:latin typeface="Aptos"/>
                <a:ea typeface="Aptos"/>
                <a:cs typeface="Aptos"/>
              </a:defRPr>
            </a:lvl7pPr>
            <a:lvl8pPr>
              <a:defRPr sz="1400" lang="en-US">
                <a:latin typeface="Aptos"/>
                <a:ea typeface="Aptos"/>
                <a:cs typeface="Aptos"/>
              </a:defRPr>
            </a:lvl8pPr>
            <a:lvl9pPr>
              <a:defRPr sz="140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Policy texts and references for further reading after class.</a:t>
            </a:r>
            <a:endParaRPr sz="1400" lang="en-US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4025802-60B3-421F-9FA4-DBD4176A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837944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hlinkClick xmlns:r="http://schemas.openxmlformats.org/officeDocument/2006/relationships" xmlns:a="http://schemas.openxmlformats.org/drawingml/2006/main" r:id="R0317489c7b13418b"/>
            <a:extLst xmlns:a="http://schemas.openxmlformats.org/drawingml/2006/main">
              <a:ext uri="{FF2B5EF4-FFF2-40B4-BE49-F238E27FC236}">
                <a16:creationId xmlns:a16="http://schemas.microsoft.com/office/drawing/2014/main" id="{2DE6C3A6-A7B2-4D86-AA4D-7B2CA2EF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29384"/>
            <a:ext cx="9784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9" b="1" lang="en-US">
                <a:latin typeface="Aptos"/>
                <a:ea typeface="Aptos"/>
                <a:cs typeface="Aptos"/>
              </a:defRPr>
            </a:defPPr>
            <a:lvl1pPr>
              <a:defRPr sz="1409" b="1" lang="en-US">
                <a:latin typeface="Aptos"/>
                <a:ea typeface="Aptos"/>
                <a:cs typeface="Aptos"/>
              </a:defRPr>
            </a:lvl1pPr>
            <a:lvl2pPr>
              <a:defRPr sz="1409" b="1" lang="en-US">
                <a:latin typeface="Aptos"/>
                <a:ea typeface="Aptos"/>
                <a:cs typeface="Aptos"/>
              </a:defRPr>
            </a:lvl2pPr>
            <a:lvl3pPr>
              <a:defRPr sz="1409" b="1" lang="en-US">
                <a:latin typeface="Aptos"/>
                <a:ea typeface="Aptos"/>
                <a:cs typeface="Aptos"/>
              </a:defRPr>
            </a:lvl3pPr>
            <a:lvl4pPr>
              <a:defRPr sz="1409" b="1" lang="en-US">
                <a:latin typeface="Aptos"/>
                <a:ea typeface="Aptos"/>
                <a:cs typeface="Aptos"/>
              </a:defRPr>
            </a:lvl4pPr>
            <a:lvl5pPr>
              <a:defRPr sz="1409" b="1" lang="en-US">
                <a:latin typeface="Aptos"/>
                <a:ea typeface="Aptos"/>
                <a:cs typeface="Aptos"/>
              </a:defRPr>
            </a:lvl5pPr>
            <a:lvl6pPr>
              <a:defRPr sz="1409" b="1" lang="en-US">
                <a:latin typeface="Aptos"/>
                <a:ea typeface="Aptos"/>
                <a:cs typeface="Aptos"/>
              </a:defRPr>
            </a:lvl6pPr>
            <a:lvl7pPr>
              <a:defRPr sz="1409" b="1" lang="en-US">
                <a:latin typeface="Aptos"/>
                <a:ea typeface="Aptos"/>
                <a:cs typeface="Aptos"/>
              </a:defRPr>
            </a:lvl7pPr>
            <a:lvl8pPr>
              <a:defRPr sz="1409" b="1" lang="en-US">
                <a:latin typeface="Aptos"/>
                <a:ea typeface="Aptos"/>
                <a:cs typeface="Aptos"/>
              </a:defRPr>
            </a:lvl8pPr>
            <a:lvl9pPr>
              <a:defRPr sz="140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9" b="1" u="sng" lang="en-US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232125e676cb4094"/>
              </a:rPr>
              <a:t>State Council · AI+ Guidelines (2025)</a:t>
            </a:r>
            <a:endParaRPr sz="1410" lang="en-US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A2145D5-6534-40E8-A5C1-4004D743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194560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Targets and six areas of action. Official Chinese text.</a:t>
            </a:r>
            <a:endParaRPr sz="1080" lang="en-US"/>
          </a:p>
        </p:txBody>
      </p:sp>
      <p:sp>
        <p:nvSpPr>
          <p:cNvPr id="11" name="Text 9">
            <a:hlinkClick xmlns:r="http://schemas.openxmlformats.org/officeDocument/2006/relationships" xmlns:a="http://schemas.openxmlformats.org/drawingml/2006/main" r:id="R225a3ec1b6d54410"/>
            <a:extLst xmlns:a="http://schemas.openxmlformats.org/drawingml/2006/main">
              <a:ext uri="{FF2B5EF4-FFF2-40B4-BE49-F238E27FC236}">
                <a16:creationId xmlns:a16="http://schemas.microsoft.com/office/drawing/2014/main" id="{1CD695D6-40BD-47D4-8530-C1D56216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201168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b="1" lang="en-US">
                <a:latin typeface="Aptos"/>
                <a:ea typeface="Aptos"/>
                <a:cs typeface="Aptos"/>
              </a:defRPr>
            </a:defPPr>
            <a:lvl1pPr>
              <a:defRPr sz="1400" b="1" lang="en-US">
                <a:latin typeface="Aptos"/>
                <a:ea typeface="Aptos"/>
                <a:cs typeface="Aptos"/>
              </a:defRPr>
            </a:lvl1pPr>
            <a:lvl2pPr>
              <a:defRPr sz="1400" b="1" lang="en-US">
                <a:latin typeface="Aptos"/>
                <a:ea typeface="Aptos"/>
                <a:cs typeface="Aptos"/>
              </a:defRPr>
            </a:lvl2pPr>
            <a:lvl3pPr>
              <a:defRPr sz="1400" b="1" lang="en-US">
                <a:latin typeface="Aptos"/>
                <a:ea typeface="Aptos"/>
                <a:cs typeface="Aptos"/>
              </a:defRPr>
            </a:lvl3pPr>
            <a:lvl4pPr>
              <a:defRPr sz="1400" b="1" lang="en-US">
                <a:latin typeface="Aptos"/>
                <a:ea typeface="Aptos"/>
                <a:cs typeface="Aptos"/>
              </a:defRPr>
            </a:lvl4pPr>
            <a:lvl5pPr>
              <a:defRPr sz="1400" b="1" lang="en-US">
                <a:latin typeface="Aptos"/>
                <a:ea typeface="Aptos"/>
                <a:cs typeface="Aptos"/>
              </a:defRPr>
            </a:lvl5pPr>
            <a:lvl6pPr>
              <a:defRPr sz="1400" b="1" lang="en-US">
                <a:latin typeface="Aptos"/>
                <a:ea typeface="Aptos"/>
                <a:cs typeface="Aptos"/>
              </a:defRPr>
            </a:lvl6pPr>
            <a:lvl7pPr>
              <a:defRPr sz="1400" b="1" lang="en-US">
                <a:latin typeface="Aptos"/>
                <a:ea typeface="Aptos"/>
                <a:cs typeface="Aptos"/>
              </a:defRPr>
            </a:lvl7pPr>
            <a:lvl8pPr>
              <a:defRPr sz="1400" b="1" lang="en-US">
                <a:latin typeface="Aptos"/>
                <a:ea typeface="Aptos"/>
                <a:cs typeface="Aptos"/>
              </a:defRPr>
            </a:lvl8pPr>
            <a:lvl9pPr>
              <a:defRPr sz="14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b="1" u="sng" lang="en-US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257552df0b7e42ff"/>
              </a:rPr>
              <a:t>↗</a:t>
            </a:r>
            <a:endParaRPr sz="1600" lang="en-US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B8FA894-56F1-466E-869B-59340012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24328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hlinkClick xmlns:r="http://schemas.openxmlformats.org/officeDocument/2006/relationships" xmlns:a="http://schemas.openxmlformats.org/drawingml/2006/main" r:id="Re613544425c94d77"/>
            <a:extLst xmlns:a="http://schemas.openxmlformats.org/drawingml/2006/main">
              <a:ext uri="{FF2B5EF4-FFF2-40B4-BE49-F238E27FC236}">
                <a16:creationId xmlns:a16="http://schemas.microsoft.com/office/drawing/2014/main" id="{4413CB4D-4F7E-49B0-8F2E-C7452E87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715768"/>
            <a:ext cx="9784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9" b="1" lang="en-US">
                <a:latin typeface="Aptos"/>
                <a:ea typeface="Aptos"/>
                <a:cs typeface="Aptos"/>
              </a:defRPr>
            </a:defPPr>
            <a:lvl1pPr>
              <a:defRPr sz="1409" b="1" lang="en-US">
                <a:latin typeface="Aptos"/>
                <a:ea typeface="Aptos"/>
                <a:cs typeface="Aptos"/>
              </a:defRPr>
            </a:lvl1pPr>
            <a:lvl2pPr>
              <a:defRPr sz="1409" b="1" lang="en-US">
                <a:latin typeface="Aptos"/>
                <a:ea typeface="Aptos"/>
                <a:cs typeface="Aptos"/>
              </a:defRPr>
            </a:lvl2pPr>
            <a:lvl3pPr>
              <a:defRPr sz="1409" b="1" lang="en-US">
                <a:latin typeface="Aptos"/>
                <a:ea typeface="Aptos"/>
                <a:cs typeface="Aptos"/>
              </a:defRPr>
            </a:lvl3pPr>
            <a:lvl4pPr>
              <a:defRPr sz="1409" b="1" lang="en-US">
                <a:latin typeface="Aptos"/>
                <a:ea typeface="Aptos"/>
                <a:cs typeface="Aptos"/>
              </a:defRPr>
            </a:lvl4pPr>
            <a:lvl5pPr>
              <a:defRPr sz="1409" b="1" lang="en-US">
                <a:latin typeface="Aptos"/>
                <a:ea typeface="Aptos"/>
                <a:cs typeface="Aptos"/>
              </a:defRPr>
            </a:lvl5pPr>
            <a:lvl6pPr>
              <a:defRPr sz="1409" b="1" lang="en-US">
                <a:latin typeface="Aptos"/>
                <a:ea typeface="Aptos"/>
                <a:cs typeface="Aptos"/>
              </a:defRPr>
            </a:lvl6pPr>
            <a:lvl7pPr>
              <a:defRPr sz="1409" b="1" lang="en-US">
                <a:latin typeface="Aptos"/>
                <a:ea typeface="Aptos"/>
                <a:cs typeface="Aptos"/>
              </a:defRPr>
            </a:lvl7pPr>
            <a:lvl8pPr>
              <a:defRPr sz="1409" b="1" lang="en-US">
                <a:latin typeface="Aptos"/>
                <a:ea typeface="Aptos"/>
                <a:cs typeface="Aptos"/>
              </a:defRPr>
            </a:lvl8pPr>
            <a:lvl9pPr>
              <a:defRPr sz="140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9" b="1" u="sng" lang="en-US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bdf66a1c9c564ac2"/>
              </a:rPr>
              <a:t>CSET Georgetown · Technical translation of AI+</a:t>
            </a:r>
            <a:endParaRPr sz="1410" lang="en-US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FF953B0-A8E3-46BA-B80A-0FED8CB3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980944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Reference for interpreting official terminology.</a:t>
            </a:r>
            <a:endParaRPr sz="1080" lang="en-US"/>
          </a:p>
        </p:txBody>
      </p:sp>
      <p:sp>
        <p:nvSpPr>
          <p:cNvPr id="15" name="Text 13">
            <a:hlinkClick xmlns:r="http://schemas.openxmlformats.org/officeDocument/2006/relationships" xmlns:a="http://schemas.openxmlformats.org/drawingml/2006/main" r:id="R8bbb16a4b5004e77"/>
            <a:extLst xmlns:a="http://schemas.openxmlformats.org/drawingml/2006/main">
              <a:ext uri="{FF2B5EF4-FFF2-40B4-BE49-F238E27FC236}">
                <a16:creationId xmlns:a16="http://schemas.microsoft.com/office/drawing/2014/main" id="{2BE7CBB8-8C50-4EE2-A30B-C692F80F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279806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b="1" lang="en-US">
                <a:latin typeface="Aptos"/>
                <a:ea typeface="Aptos"/>
                <a:cs typeface="Aptos"/>
              </a:defRPr>
            </a:defPPr>
            <a:lvl1pPr>
              <a:defRPr sz="1400" b="1" lang="en-US">
                <a:latin typeface="Aptos"/>
                <a:ea typeface="Aptos"/>
                <a:cs typeface="Aptos"/>
              </a:defRPr>
            </a:lvl1pPr>
            <a:lvl2pPr>
              <a:defRPr sz="1400" b="1" lang="en-US">
                <a:latin typeface="Aptos"/>
                <a:ea typeface="Aptos"/>
                <a:cs typeface="Aptos"/>
              </a:defRPr>
            </a:lvl2pPr>
            <a:lvl3pPr>
              <a:defRPr sz="1400" b="1" lang="en-US">
                <a:latin typeface="Aptos"/>
                <a:ea typeface="Aptos"/>
                <a:cs typeface="Aptos"/>
              </a:defRPr>
            </a:lvl3pPr>
            <a:lvl4pPr>
              <a:defRPr sz="1400" b="1" lang="en-US">
                <a:latin typeface="Aptos"/>
                <a:ea typeface="Aptos"/>
                <a:cs typeface="Aptos"/>
              </a:defRPr>
            </a:lvl4pPr>
            <a:lvl5pPr>
              <a:defRPr sz="1400" b="1" lang="en-US">
                <a:latin typeface="Aptos"/>
                <a:ea typeface="Aptos"/>
                <a:cs typeface="Aptos"/>
              </a:defRPr>
            </a:lvl5pPr>
            <a:lvl6pPr>
              <a:defRPr sz="1400" b="1" lang="en-US">
                <a:latin typeface="Aptos"/>
                <a:ea typeface="Aptos"/>
                <a:cs typeface="Aptos"/>
              </a:defRPr>
            </a:lvl6pPr>
            <a:lvl7pPr>
              <a:defRPr sz="1400" b="1" lang="en-US">
                <a:latin typeface="Aptos"/>
                <a:ea typeface="Aptos"/>
                <a:cs typeface="Aptos"/>
              </a:defRPr>
            </a:lvl7pPr>
            <a:lvl8pPr>
              <a:defRPr sz="1400" b="1" lang="en-US">
                <a:latin typeface="Aptos"/>
                <a:ea typeface="Aptos"/>
                <a:cs typeface="Aptos"/>
              </a:defRPr>
            </a:lvl8pPr>
            <a:lvl9pPr>
              <a:defRPr sz="14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b="1" u="sng" lang="en-US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9e781267d48d429a"/>
              </a:rPr>
              <a:t>↗</a:t>
            </a:r>
            <a:endParaRPr sz="1600" lang="en-US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35320FD-4269-45EA-8689-B02D9A50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10712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hlinkClick xmlns:r="http://schemas.openxmlformats.org/officeDocument/2006/relationships" xmlns:a="http://schemas.openxmlformats.org/drawingml/2006/main" r:id="R21312bcb3d4b467f"/>
            <a:extLst xmlns:a="http://schemas.openxmlformats.org/drawingml/2006/main">
              <a:ext uri="{FF2B5EF4-FFF2-40B4-BE49-F238E27FC236}">
                <a16:creationId xmlns:a16="http://schemas.microsoft.com/office/drawing/2014/main" id="{5AFC7B7E-2C0C-4C49-9F5B-4AC86756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502152"/>
            <a:ext cx="9784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9" b="1" lang="en-US">
                <a:latin typeface="Aptos"/>
                <a:ea typeface="Aptos"/>
                <a:cs typeface="Aptos"/>
              </a:defRPr>
            </a:defPPr>
            <a:lvl1pPr>
              <a:defRPr sz="1409" b="1" lang="en-US">
                <a:latin typeface="Aptos"/>
                <a:ea typeface="Aptos"/>
                <a:cs typeface="Aptos"/>
              </a:defRPr>
            </a:lvl1pPr>
            <a:lvl2pPr>
              <a:defRPr sz="1409" b="1" lang="en-US">
                <a:latin typeface="Aptos"/>
                <a:ea typeface="Aptos"/>
                <a:cs typeface="Aptos"/>
              </a:defRPr>
            </a:lvl2pPr>
            <a:lvl3pPr>
              <a:defRPr sz="1409" b="1" lang="en-US">
                <a:latin typeface="Aptos"/>
                <a:ea typeface="Aptos"/>
                <a:cs typeface="Aptos"/>
              </a:defRPr>
            </a:lvl3pPr>
            <a:lvl4pPr>
              <a:defRPr sz="1409" b="1" lang="en-US">
                <a:latin typeface="Aptos"/>
                <a:ea typeface="Aptos"/>
                <a:cs typeface="Aptos"/>
              </a:defRPr>
            </a:lvl4pPr>
            <a:lvl5pPr>
              <a:defRPr sz="1409" b="1" lang="en-US">
                <a:latin typeface="Aptos"/>
                <a:ea typeface="Aptos"/>
                <a:cs typeface="Aptos"/>
              </a:defRPr>
            </a:lvl5pPr>
            <a:lvl6pPr>
              <a:defRPr sz="1409" b="1" lang="en-US">
                <a:latin typeface="Aptos"/>
                <a:ea typeface="Aptos"/>
                <a:cs typeface="Aptos"/>
              </a:defRPr>
            </a:lvl6pPr>
            <a:lvl7pPr>
              <a:defRPr sz="1409" b="1" lang="en-US">
                <a:latin typeface="Aptos"/>
                <a:ea typeface="Aptos"/>
                <a:cs typeface="Aptos"/>
              </a:defRPr>
            </a:lvl7pPr>
            <a:lvl8pPr>
              <a:defRPr sz="1409" b="1" lang="en-US">
                <a:latin typeface="Aptos"/>
                <a:ea typeface="Aptos"/>
                <a:cs typeface="Aptos"/>
              </a:defRPr>
            </a:lvl8pPr>
            <a:lvl9pPr>
              <a:defRPr sz="140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9" b="1" u="sng" lang="en-US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82f019910c664225"/>
              </a:rPr>
              <a:t>NDRC · 15th Five-Year Plan, 2026–2030</a:t>
            </a:r>
            <a:endParaRPr sz="1410" lang="en-US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65E63DF-41B3-4A72-8027-011F6754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767328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Industrial modernization strategy and future industries.</a:t>
            </a:r>
            <a:endParaRPr sz="1080" lang="en-US"/>
          </a:p>
        </p:txBody>
      </p:sp>
      <p:sp>
        <p:nvSpPr>
          <p:cNvPr id="19" name="Text 17">
            <a:hlinkClick xmlns:r="http://schemas.openxmlformats.org/officeDocument/2006/relationships" xmlns:a="http://schemas.openxmlformats.org/drawingml/2006/main" r:id="R5223d92729bc4622"/>
            <a:extLst xmlns:a="http://schemas.openxmlformats.org/drawingml/2006/main">
              <a:ext uri="{FF2B5EF4-FFF2-40B4-BE49-F238E27FC236}">
                <a16:creationId xmlns:a16="http://schemas.microsoft.com/office/drawing/2014/main" id="{9FC1D3B1-8D64-4A86-8998-0E6AF6F9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3584448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b="1" lang="en-US">
                <a:latin typeface="Aptos"/>
                <a:ea typeface="Aptos"/>
                <a:cs typeface="Aptos"/>
              </a:defRPr>
            </a:defPPr>
            <a:lvl1pPr>
              <a:defRPr sz="1400" b="1" lang="en-US">
                <a:latin typeface="Aptos"/>
                <a:ea typeface="Aptos"/>
                <a:cs typeface="Aptos"/>
              </a:defRPr>
            </a:lvl1pPr>
            <a:lvl2pPr>
              <a:defRPr sz="1400" b="1" lang="en-US">
                <a:latin typeface="Aptos"/>
                <a:ea typeface="Aptos"/>
                <a:cs typeface="Aptos"/>
              </a:defRPr>
            </a:lvl2pPr>
            <a:lvl3pPr>
              <a:defRPr sz="1400" b="1" lang="en-US">
                <a:latin typeface="Aptos"/>
                <a:ea typeface="Aptos"/>
                <a:cs typeface="Aptos"/>
              </a:defRPr>
            </a:lvl3pPr>
            <a:lvl4pPr>
              <a:defRPr sz="1400" b="1" lang="en-US">
                <a:latin typeface="Aptos"/>
                <a:ea typeface="Aptos"/>
                <a:cs typeface="Aptos"/>
              </a:defRPr>
            </a:lvl4pPr>
            <a:lvl5pPr>
              <a:defRPr sz="1400" b="1" lang="en-US">
                <a:latin typeface="Aptos"/>
                <a:ea typeface="Aptos"/>
                <a:cs typeface="Aptos"/>
              </a:defRPr>
            </a:lvl5pPr>
            <a:lvl6pPr>
              <a:defRPr sz="1400" b="1" lang="en-US">
                <a:latin typeface="Aptos"/>
                <a:ea typeface="Aptos"/>
                <a:cs typeface="Aptos"/>
              </a:defRPr>
            </a:lvl6pPr>
            <a:lvl7pPr>
              <a:defRPr sz="1400" b="1" lang="en-US">
                <a:latin typeface="Aptos"/>
                <a:ea typeface="Aptos"/>
                <a:cs typeface="Aptos"/>
              </a:defRPr>
            </a:lvl7pPr>
            <a:lvl8pPr>
              <a:defRPr sz="1400" b="1" lang="en-US">
                <a:latin typeface="Aptos"/>
                <a:ea typeface="Aptos"/>
                <a:cs typeface="Aptos"/>
              </a:defRPr>
            </a:lvl8pPr>
            <a:lvl9pPr>
              <a:defRPr sz="14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b="1" u="sng" lang="en-US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30876c4909554250"/>
              </a:rPr>
              <a:t>↗</a:t>
            </a:r>
            <a:endParaRPr sz="1600" lang="en-US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C7E9EC9-5021-42DA-A62E-ACD2F569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197096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hlinkClick xmlns:r="http://schemas.openxmlformats.org/officeDocument/2006/relationships" xmlns:a="http://schemas.openxmlformats.org/drawingml/2006/main" r:id="R3dc2ef910b6e4e6e"/>
            <a:extLst xmlns:a="http://schemas.openxmlformats.org/drawingml/2006/main">
              <a:ext uri="{FF2B5EF4-FFF2-40B4-BE49-F238E27FC236}">
                <a16:creationId xmlns:a16="http://schemas.microsoft.com/office/drawing/2014/main" id="{E31258B4-8F25-4B1D-AE94-BCA39250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288536"/>
            <a:ext cx="9784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9" b="1" lang="en-US">
                <a:latin typeface="Aptos"/>
                <a:ea typeface="Aptos"/>
                <a:cs typeface="Aptos"/>
              </a:defRPr>
            </a:defPPr>
            <a:lvl1pPr>
              <a:defRPr sz="1409" b="1" lang="en-US">
                <a:latin typeface="Aptos"/>
                <a:ea typeface="Aptos"/>
                <a:cs typeface="Aptos"/>
              </a:defRPr>
            </a:lvl1pPr>
            <a:lvl2pPr>
              <a:defRPr sz="1409" b="1" lang="en-US">
                <a:latin typeface="Aptos"/>
                <a:ea typeface="Aptos"/>
                <a:cs typeface="Aptos"/>
              </a:defRPr>
            </a:lvl2pPr>
            <a:lvl3pPr>
              <a:defRPr sz="1409" b="1" lang="en-US">
                <a:latin typeface="Aptos"/>
                <a:ea typeface="Aptos"/>
                <a:cs typeface="Aptos"/>
              </a:defRPr>
            </a:lvl3pPr>
            <a:lvl4pPr>
              <a:defRPr sz="1409" b="1" lang="en-US">
                <a:latin typeface="Aptos"/>
                <a:ea typeface="Aptos"/>
                <a:cs typeface="Aptos"/>
              </a:defRPr>
            </a:lvl4pPr>
            <a:lvl5pPr>
              <a:defRPr sz="1409" b="1" lang="en-US">
                <a:latin typeface="Aptos"/>
                <a:ea typeface="Aptos"/>
                <a:cs typeface="Aptos"/>
              </a:defRPr>
            </a:lvl5pPr>
            <a:lvl6pPr>
              <a:defRPr sz="1409" b="1" lang="en-US">
                <a:latin typeface="Aptos"/>
                <a:ea typeface="Aptos"/>
                <a:cs typeface="Aptos"/>
              </a:defRPr>
            </a:lvl6pPr>
            <a:lvl7pPr>
              <a:defRPr sz="1409" b="1" lang="en-US">
                <a:latin typeface="Aptos"/>
                <a:ea typeface="Aptos"/>
                <a:cs typeface="Aptos"/>
              </a:defRPr>
            </a:lvl7pPr>
            <a:lvl8pPr>
              <a:defRPr sz="1409" b="1" lang="en-US">
                <a:latin typeface="Aptos"/>
                <a:ea typeface="Aptos"/>
                <a:cs typeface="Aptos"/>
              </a:defRPr>
            </a:lvl8pPr>
            <a:lvl9pPr>
              <a:defRPr sz="140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9" b="1" u="sng" lang="en-US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dac707e0b2ff48ac"/>
              </a:rPr>
              <a:t>World Bank · China Economic Update 2026</a:t>
            </a:r>
            <a:endParaRPr sz="1410" lang="en-US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3F19440-3FCC-44EC-BCB9-F9B358E1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553712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Demand, structural reforms, and growth.</a:t>
            </a:r>
            <a:endParaRPr sz="1080" lang="en-US"/>
          </a:p>
        </p:txBody>
      </p:sp>
      <p:sp>
        <p:nvSpPr>
          <p:cNvPr id="23" name="Text 21">
            <a:hlinkClick xmlns:r="http://schemas.openxmlformats.org/officeDocument/2006/relationships" xmlns:a="http://schemas.openxmlformats.org/drawingml/2006/main" r:id="R4ae4f311c4064db8"/>
            <a:extLst xmlns:a="http://schemas.openxmlformats.org/drawingml/2006/main">
              <a:ext uri="{FF2B5EF4-FFF2-40B4-BE49-F238E27FC236}">
                <a16:creationId xmlns:a16="http://schemas.microsoft.com/office/drawing/2014/main" id="{94CDABED-0853-4E89-BB82-2939A5F4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437083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b="1" lang="en-US">
                <a:latin typeface="Aptos"/>
                <a:ea typeface="Aptos"/>
                <a:cs typeface="Aptos"/>
              </a:defRPr>
            </a:defPPr>
            <a:lvl1pPr>
              <a:defRPr sz="1400" b="1" lang="en-US">
                <a:latin typeface="Aptos"/>
                <a:ea typeface="Aptos"/>
                <a:cs typeface="Aptos"/>
              </a:defRPr>
            </a:lvl1pPr>
            <a:lvl2pPr>
              <a:defRPr sz="1400" b="1" lang="en-US">
                <a:latin typeface="Aptos"/>
                <a:ea typeface="Aptos"/>
                <a:cs typeface="Aptos"/>
              </a:defRPr>
            </a:lvl2pPr>
            <a:lvl3pPr>
              <a:defRPr sz="1400" b="1" lang="en-US">
                <a:latin typeface="Aptos"/>
                <a:ea typeface="Aptos"/>
                <a:cs typeface="Aptos"/>
              </a:defRPr>
            </a:lvl3pPr>
            <a:lvl4pPr>
              <a:defRPr sz="1400" b="1" lang="en-US">
                <a:latin typeface="Aptos"/>
                <a:ea typeface="Aptos"/>
                <a:cs typeface="Aptos"/>
              </a:defRPr>
            </a:lvl4pPr>
            <a:lvl5pPr>
              <a:defRPr sz="1400" b="1" lang="en-US">
                <a:latin typeface="Aptos"/>
                <a:ea typeface="Aptos"/>
                <a:cs typeface="Aptos"/>
              </a:defRPr>
            </a:lvl5pPr>
            <a:lvl6pPr>
              <a:defRPr sz="1400" b="1" lang="en-US">
                <a:latin typeface="Aptos"/>
                <a:ea typeface="Aptos"/>
                <a:cs typeface="Aptos"/>
              </a:defRPr>
            </a:lvl6pPr>
            <a:lvl7pPr>
              <a:defRPr sz="1400" b="1" lang="en-US">
                <a:latin typeface="Aptos"/>
                <a:ea typeface="Aptos"/>
                <a:cs typeface="Aptos"/>
              </a:defRPr>
            </a:lvl7pPr>
            <a:lvl8pPr>
              <a:defRPr sz="1400" b="1" lang="en-US">
                <a:latin typeface="Aptos"/>
                <a:ea typeface="Aptos"/>
                <a:cs typeface="Aptos"/>
              </a:defRPr>
            </a:lvl8pPr>
            <a:lvl9pPr>
              <a:defRPr sz="14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b="1" u="sng" lang="en-US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15d46632233e4651"/>
              </a:rPr>
              <a:t>↗</a:t>
            </a:r>
            <a:endParaRPr sz="1600" lang="en-US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FC38408-6C3C-4467-BE64-4BBF8E45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983480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hlinkClick xmlns:r="http://schemas.openxmlformats.org/officeDocument/2006/relationships" xmlns:a="http://schemas.openxmlformats.org/drawingml/2006/main" r:id="Rfdf3043c79d14b27"/>
            <a:extLst xmlns:a="http://schemas.openxmlformats.org/drawingml/2006/main">
              <a:ext uri="{FF2B5EF4-FFF2-40B4-BE49-F238E27FC236}">
                <a16:creationId xmlns:a16="http://schemas.microsoft.com/office/drawing/2014/main" id="{EEF89172-F63B-4E17-AB1C-8C1A8CC5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074920"/>
            <a:ext cx="9784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9" b="1" lang="en-US">
                <a:latin typeface="Aptos"/>
                <a:ea typeface="Aptos"/>
                <a:cs typeface="Aptos"/>
              </a:defRPr>
            </a:defPPr>
            <a:lvl1pPr>
              <a:defRPr sz="1409" b="1" lang="en-US">
                <a:latin typeface="Aptos"/>
                <a:ea typeface="Aptos"/>
                <a:cs typeface="Aptos"/>
              </a:defRPr>
            </a:lvl1pPr>
            <a:lvl2pPr>
              <a:defRPr sz="1409" b="1" lang="en-US">
                <a:latin typeface="Aptos"/>
                <a:ea typeface="Aptos"/>
                <a:cs typeface="Aptos"/>
              </a:defRPr>
            </a:lvl2pPr>
            <a:lvl3pPr>
              <a:defRPr sz="1409" b="1" lang="en-US">
                <a:latin typeface="Aptos"/>
                <a:ea typeface="Aptos"/>
                <a:cs typeface="Aptos"/>
              </a:defRPr>
            </a:lvl3pPr>
            <a:lvl4pPr>
              <a:defRPr sz="1409" b="1" lang="en-US">
                <a:latin typeface="Aptos"/>
                <a:ea typeface="Aptos"/>
                <a:cs typeface="Aptos"/>
              </a:defRPr>
            </a:lvl4pPr>
            <a:lvl5pPr>
              <a:defRPr sz="1409" b="1" lang="en-US">
                <a:latin typeface="Aptos"/>
                <a:ea typeface="Aptos"/>
                <a:cs typeface="Aptos"/>
              </a:defRPr>
            </a:lvl5pPr>
            <a:lvl6pPr>
              <a:defRPr sz="1409" b="1" lang="en-US">
                <a:latin typeface="Aptos"/>
                <a:ea typeface="Aptos"/>
                <a:cs typeface="Aptos"/>
              </a:defRPr>
            </a:lvl6pPr>
            <a:lvl7pPr>
              <a:defRPr sz="1409" b="1" lang="en-US">
                <a:latin typeface="Aptos"/>
                <a:ea typeface="Aptos"/>
                <a:cs typeface="Aptos"/>
              </a:defRPr>
            </a:lvl7pPr>
            <a:lvl8pPr>
              <a:defRPr sz="1409" b="1" lang="en-US">
                <a:latin typeface="Aptos"/>
                <a:ea typeface="Aptos"/>
                <a:cs typeface="Aptos"/>
              </a:defRPr>
            </a:lvl8pPr>
            <a:lvl9pPr>
              <a:defRPr sz="1409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9" b="1" u="sng" lang="en-US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daa6d485bde74c04"/>
              </a:rPr>
              <a:t>Instructor's simulator · Robotic capital and learning</a:t>
            </a:r>
            <a:endParaRPr sz="1410" lang="en-US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69F3ECB-A834-4047-8784-C9CF7A06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340096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49" lang="en-US">
                <a:latin typeface="Aptos"/>
                <a:ea typeface="Aptos"/>
                <a:cs typeface="Aptos"/>
              </a:defRPr>
            </a:defPPr>
            <a:lvl1pPr>
              <a:buNone/>
              <a:defRPr sz="1350" lang="en-US">
                <a:latin typeface="Aptos"/>
                <a:ea typeface="Aptos"/>
                <a:cs typeface="Aptos"/>
              </a:defRPr>
            </a:lvl1pPr>
            <a:lvl2pPr>
              <a:buNone/>
              <a:defRPr sz="1350" lang="en-US">
                <a:latin typeface="Aptos"/>
                <a:ea typeface="Aptos"/>
                <a:cs typeface="Aptos"/>
              </a:defRPr>
            </a:lvl2pPr>
            <a:lvl3pPr>
              <a:buNone/>
              <a:defRPr sz="1350" lang="en-US">
                <a:latin typeface="Aptos"/>
                <a:ea typeface="Aptos"/>
                <a:cs typeface="Aptos"/>
              </a:defRPr>
            </a:lvl3pPr>
            <a:lvl4pPr>
              <a:buNone/>
              <a:defRPr sz="1350" lang="en-US">
                <a:latin typeface="Aptos"/>
                <a:ea typeface="Aptos"/>
                <a:cs typeface="Aptos"/>
              </a:defRPr>
            </a:lvl4pPr>
            <a:lvl5pPr>
              <a:buNone/>
              <a:defRPr sz="1350" lang="en-US">
                <a:latin typeface="Aptos"/>
                <a:ea typeface="Aptos"/>
                <a:cs typeface="Aptos"/>
              </a:defRPr>
            </a:lvl5pPr>
            <a:lvl6pPr>
              <a:buNone/>
              <a:defRPr sz="1350" lang="en-US">
                <a:latin typeface="Aptos"/>
                <a:ea typeface="Aptos"/>
                <a:cs typeface="Aptos"/>
              </a:defRPr>
            </a:lvl6pPr>
            <a:lvl7pPr>
              <a:buNone/>
              <a:defRPr sz="1350" lang="en-US">
                <a:latin typeface="Aptos"/>
                <a:ea typeface="Aptos"/>
                <a:cs typeface="Aptos"/>
              </a:defRPr>
            </a:lvl7pPr>
            <a:lvl8pPr>
              <a:buNone/>
              <a:defRPr sz="1350" lang="en-US">
                <a:latin typeface="Aptos"/>
                <a:ea typeface="Aptos"/>
                <a:cs typeface="Aptos"/>
              </a:defRPr>
            </a:lvl8pPr>
            <a:lvl9pPr>
              <a:buNone/>
              <a:defRPr sz="1350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349" lang="en-US">
                <a:solidFill>
                  <a:srgbClr val="65788A"/>
                </a:solidFill>
                <a:latin typeface="Aptos"/>
                <a:ea typeface="Aptos"/>
                <a:cs typeface="Aptos"/>
              </a:rPr>
              <a:t>Teaching experiment, not an empirical estimate.</a:t>
            </a:r>
            <a:endParaRPr sz="1080" lang="en-US"/>
          </a:p>
        </p:txBody>
      </p:sp>
      <p:sp>
        <p:nvSpPr>
          <p:cNvPr id="27" name="Text 25">
            <a:hlinkClick xmlns:r="http://schemas.openxmlformats.org/officeDocument/2006/relationships" xmlns:a="http://schemas.openxmlformats.org/drawingml/2006/main" r:id="R4459b7283df24971"/>
            <a:extLst xmlns:a="http://schemas.openxmlformats.org/drawingml/2006/main">
              <a:ext uri="{FF2B5EF4-FFF2-40B4-BE49-F238E27FC236}">
                <a16:creationId xmlns:a16="http://schemas.microsoft.com/office/drawing/2014/main" id="{B6363489-DF16-44E0-90CC-95B8B96C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5157216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00" b="1" lang="en-US">
                <a:latin typeface="Aptos"/>
                <a:ea typeface="Aptos"/>
                <a:cs typeface="Aptos"/>
              </a:defRPr>
            </a:defPPr>
            <a:lvl1pPr>
              <a:defRPr sz="1400" b="1" lang="en-US">
                <a:latin typeface="Aptos"/>
                <a:ea typeface="Aptos"/>
                <a:cs typeface="Aptos"/>
              </a:defRPr>
            </a:lvl1pPr>
            <a:lvl2pPr>
              <a:defRPr sz="1400" b="1" lang="en-US">
                <a:latin typeface="Aptos"/>
                <a:ea typeface="Aptos"/>
                <a:cs typeface="Aptos"/>
              </a:defRPr>
            </a:lvl2pPr>
            <a:lvl3pPr>
              <a:defRPr sz="1400" b="1" lang="en-US">
                <a:latin typeface="Aptos"/>
                <a:ea typeface="Aptos"/>
                <a:cs typeface="Aptos"/>
              </a:defRPr>
            </a:lvl3pPr>
            <a:lvl4pPr>
              <a:defRPr sz="1400" b="1" lang="en-US">
                <a:latin typeface="Aptos"/>
                <a:ea typeface="Aptos"/>
                <a:cs typeface="Aptos"/>
              </a:defRPr>
            </a:lvl4pPr>
            <a:lvl5pPr>
              <a:defRPr sz="1400" b="1" lang="en-US">
                <a:latin typeface="Aptos"/>
                <a:ea typeface="Aptos"/>
                <a:cs typeface="Aptos"/>
              </a:defRPr>
            </a:lvl5pPr>
            <a:lvl6pPr>
              <a:defRPr sz="1400" b="1" lang="en-US">
                <a:latin typeface="Aptos"/>
                <a:ea typeface="Aptos"/>
                <a:cs typeface="Aptos"/>
              </a:defRPr>
            </a:lvl6pPr>
            <a:lvl7pPr>
              <a:defRPr sz="1400" b="1" lang="en-US">
                <a:latin typeface="Aptos"/>
                <a:ea typeface="Aptos"/>
                <a:cs typeface="Aptos"/>
              </a:defRPr>
            </a:lvl7pPr>
            <a:lvl8pPr>
              <a:defRPr sz="1400" b="1" lang="en-US">
                <a:latin typeface="Aptos"/>
                <a:ea typeface="Aptos"/>
                <a:cs typeface="Aptos"/>
              </a:defRPr>
            </a:lvl8pPr>
            <a:lvl9pPr>
              <a:defRPr sz="14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400" b="1" u="sng" lang="en-US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8f9f4274cecb499e"/>
              </a:rPr>
              <a:t>↗</a:t>
            </a:r>
            <a:endParaRPr sz="1600" lang="en-US"/>
          </a:p>
        </p:txBody>
      </p:sp>
    </p:spTree>
    <p:extLst>
      <p:ext uri="{BB962C8B-B14F-4D97-AF65-F5344CB8AC3E}">
        <p14:creationId xmlns:p14="http://schemas.microsoft.com/office/powerpoint/2010/main" val="32783714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10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F936A6C4-E05F-437D-827E-F64877F049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134bdc8504ecd"/>
          <a:srcRect xmlns:a="http://schemas.openxmlformats.org/drawingml/2006/main" l="21174" t="0" r="21174" b="0"/>
          <a:stretch xmlns:a="http://schemas.openxmlformats.org/drawingml/2006/main"/>
        </p:blipFill>
        <p:spPr>
          <a:xfrm xmlns:a="http://schemas.openxmlformats.org/drawingml/2006/main">
            <a:off x="6217920" y="0"/>
            <a:ext cx="597377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A064B076-7049-478A-A751-D603B305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54496" cy="68580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25C6BE95-DF6C-4C5D-BF11-41C75F98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0"/>
            <a:ext cx="91440" cy="6858000"/>
          </a:xfrm>
          <a:prstGeom xmlns:a="http://schemas.openxmlformats.org/drawingml/2006/main" prst="roundRect">
            <a:avLst>
              <a:gd name="adj" fmla="val 160000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5A5C4C-6338-4FAA-86DC-35E9D598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1872"/>
            <a:ext cx="525780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4901" b="1" lang="en-US">
                <a:latin typeface="Aptos"/>
                <a:ea typeface="Aptos"/>
                <a:cs typeface="Aptos"/>
              </a:defRPr>
            </a:defPPr>
            <a:lvl1pPr>
              <a:defRPr sz="4901" b="1" lang="en-US">
                <a:latin typeface="Aptos"/>
                <a:ea typeface="Aptos"/>
                <a:cs typeface="Aptos"/>
              </a:defRPr>
            </a:lvl1pPr>
            <a:lvl2pPr>
              <a:defRPr sz="4901" b="1" lang="en-US">
                <a:latin typeface="Aptos"/>
                <a:ea typeface="Aptos"/>
                <a:cs typeface="Aptos"/>
              </a:defRPr>
            </a:lvl2pPr>
            <a:lvl3pPr>
              <a:defRPr sz="4901" b="1" lang="en-US">
                <a:latin typeface="Aptos"/>
                <a:ea typeface="Aptos"/>
                <a:cs typeface="Aptos"/>
              </a:defRPr>
            </a:lvl3pPr>
            <a:lvl4pPr>
              <a:defRPr sz="4901" b="1" lang="en-US">
                <a:latin typeface="Aptos"/>
                <a:ea typeface="Aptos"/>
                <a:cs typeface="Aptos"/>
              </a:defRPr>
            </a:lvl4pPr>
            <a:lvl5pPr>
              <a:defRPr sz="4901" b="1" lang="en-US">
                <a:latin typeface="Aptos"/>
                <a:ea typeface="Aptos"/>
                <a:cs typeface="Aptos"/>
              </a:defRPr>
            </a:lvl5pPr>
            <a:lvl6pPr>
              <a:defRPr sz="4901" b="1" lang="en-US">
                <a:latin typeface="Aptos"/>
                <a:ea typeface="Aptos"/>
                <a:cs typeface="Aptos"/>
              </a:defRPr>
            </a:lvl6pPr>
            <a:lvl7pPr>
              <a:defRPr sz="4901" b="1" lang="en-US">
                <a:latin typeface="Aptos"/>
                <a:ea typeface="Aptos"/>
                <a:cs typeface="Aptos"/>
              </a:defRPr>
            </a:lvl7pPr>
            <a:lvl8pPr>
              <a:defRPr sz="4901" b="1" lang="en-US">
                <a:latin typeface="Aptos"/>
                <a:ea typeface="Aptos"/>
                <a:cs typeface="Aptos"/>
              </a:defRPr>
            </a:lvl8pPr>
            <a:lvl9pPr>
              <a:defRPr sz="4901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490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THANK YOU</a:t>
            </a:r>
            <a:endParaRPr sz="4900" lang="en-US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4623475-D28F-4130-B847-241461DF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514600"/>
            <a:ext cx="5239512" cy="1435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1" lang="en-US">
                <a:latin typeface="Aptos"/>
                <a:ea typeface="Aptos"/>
                <a:cs typeface="Aptos"/>
              </a:defRPr>
            </a:defPPr>
            <a:lvl1pPr>
              <a:defRPr sz="2500" b="1" lang="en-US">
                <a:latin typeface="Aptos"/>
                <a:ea typeface="Aptos"/>
                <a:cs typeface="Aptos"/>
              </a:defRPr>
            </a:lvl1pPr>
            <a:lvl2pPr>
              <a:defRPr sz="2500" b="1" lang="en-US">
                <a:latin typeface="Aptos"/>
                <a:ea typeface="Aptos"/>
                <a:cs typeface="Aptos"/>
              </a:defRPr>
            </a:lvl2pPr>
            <a:lvl3pPr>
              <a:defRPr sz="2500" b="1" lang="en-US">
                <a:latin typeface="Aptos"/>
                <a:ea typeface="Aptos"/>
                <a:cs typeface="Aptos"/>
              </a:defRPr>
            </a:lvl3pPr>
            <a:lvl4pPr>
              <a:defRPr sz="2500" b="1" lang="en-US">
                <a:latin typeface="Aptos"/>
                <a:ea typeface="Aptos"/>
                <a:cs typeface="Aptos"/>
              </a:defRPr>
            </a:lvl4pPr>
            <a:lvl5pPr>
              <a:defRPr sz="2500" b="1" lang="en-US">
                <a:latin typeface="Aptos"/>
                <a:ea typeface="Aptos"/>
                <a:cs typeface="Aptos"/>
              </a:defRPr>
            </a:lvl5pPr>
            <a:lvl6pPr>
              <a:defRPr sz="2500" b="1" lang="en-US">
                <a:latin typeface="Aptos"/>
                <a:ea typeface="Aptos"/>
                <a:cs typeface="Aptos"/>
              </a:defRPr>
            </a:lvl6pPr>
            <a:lvl7pPr>
              <a:defRPr sz="2500" b="1" lang="en-US">
                <a:latin typeface="Aptos"/>
                <a:ea typeface="Aptos"/>
                <a:cs typeface="Aptos"/>
              </a:defRPr>
            </a:lvl7pPr>
            <a:lvl8pPr>
              <a:defRPr sz="2500" b="1" lang="en-US">
                <a:latin typeface="Aptos"/>
                <a:ea typeface="Aptos"/>
                <a:cs typeface="Aptos"/>
              </a:defRPr>
            </a:lvl8pPr>
            <a:lvl9pPr>
              <a:defRPr sz="25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2500" b="1" lang="en-US">
                <a:solidFill>
                  <a:srgbClr val="C6E9E6"/>
                </a:solidFill>
                <a:latin typeface="Aptos"/>
                <a:ea typeface="Aptos"/>
                <a:cs typeface="Aptos"/>
              </a:rPr>
              <a:t>Understanding capabilities,</a:t>
            </a:r>
            <a:endParaRPr sz="2500" lang="en-US"/>
          </a:p>
          <a:p xmlns:a="http://schemas.openxmlformats.org/drawingml/2006/main">
            <a:pPr marL="0" indent="0" algn="l">
              <a:buNone/>
            </a:pPr>
            <a:r>
              <a:rPr sz="2500" b="1" lang="en-US">
                <a:solidFill>
                  <a:srgbClr val="C6E9E6"/>
                </a:solidFill>
                <a:latin typeface="Aptos"/>
                <a:ea typeface="Aptos"/>
                <a:cs typeface="Aptos"/>
              </a:rPr>
              <a:t>mechanisms, and limitations</a:t>
            </a:r>
            <a:endParaRPr sz="2500" lang="en-US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5A2B2CB-32C2-4E5D-9A3E-D39D3CDB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18888"/>
            <a:ext cx="4727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1869A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903F4D8-F39A-480B-8C5F-C8C9199A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065776"/>
            <a:ext cx="5312664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 lang="en-US">
                <a:latin typeface="Aptos"/>
                <a:ea typeface="Aptos"/>
                <a:cs typeface="Aptos"/>
              </a:defRPr>
            </a:defPPr>
            <a:lvl1pPr>
              <a:defRPr sz="1800" b="1" lang="en-US">
                <a:latin typeface="Aptos"/>
                <a:ea typeface="Aptos"/>
                <a:cs typeface="Aptos"/>
              </a:defRPr>
            </a:lvl1pPr>
            <a:lvl2pPr>
              <a:defRPr sz="1800" b="1" lang="en-US">
                <a:latin typeface="Aptos"/>
                <a:ea typeface="Aptos"/>
                <a:cs typeface="Aptos"/>
              </a:defRPr>
            </a:lvl2pPr>
            <a:lvl3pPr>
              <a:defRPr sz="1800" b="1" lang="en-US">
                <a:latin typeface="Aptos"/>
                <a:ea typeface="Aptos"/>
                <a:cs typeface="Aptos"/>
              </a:defRPr>
            </a:lvl3pPr>
            <a:lvl4pPr>
              <a:defRPr sz="1800" b="1" lang="en-US">
                <a:latin typeface="Aptos"/>
                <a:ea typeface="Aptos"/>
                <a:cs typeface="Aptos"/>
              </a:defRPr>
            </a:lvl4pPr>
            <a:lvl5pPr>
              <a:defRPr sz="1800" b="1" lang="en-US">
                <a:latin typeface="Aptos"/>
                <a:ea typeface="Aptos"/>
                <a:cs typeface="Aptos"/>
              </a:defRPr>
            </a:lvl5pPr>
            <a:lvl6pPr>
              <a:defRPr sz="1800" b="1" lang="en-US">
                <a:latin typeface="Aptos"/>
                <a:ea typeface="Aptos"/>
                <a:cs typeface="Aptos"/>
              </a:defRPr>
            </a:lvl6pPr>
            <a:lvl7pPr>
              <a:defRPr sz="1800" b="1" lang="en-US">
                <a:latin typeface="Aptos"/>
                <a:ea typeface="Aptos"/>
                <a:cs typeface="Aptos"/>
              </a:defRPr>
            </a:lvl7pPr>
            <a:lvl8pPr>
              <a:defRPr sz="1800" b="1" lang="en-US">
                <a:latin typeface="Aptos"/>
                <a:ea typeface="Aptos"/>
                <a:cs typeface="Aptos"/>
              </a:defRPr>
            </a:lvl8pPr>
            <a:lvl9pPr>
              <a:defRPr sz="1800" b="1" lang="en-US"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0" indent="0" algn="l">
              <a:buNone/>
            </a:pPr>
            <a:r>
              <a:rPr sz="1800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Material prepared by Professor</a:t>
            </a:r>
            <a:endParaRPr sz="1800" lang="en-US"/>
          </a:p>
          <a:p xmlns:a="http://schemas.openxmlformats.org/drawingml/2006/main">
            <a:pPr marL="0" indent="0" algn="l">
              <a:buNone/>
            </a:pPr>
            <a:r>
              <a:rPr sz="1800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Sergio Gevatschnaider</a:t>
            </a:r>
            <a:endParaRPr sz="1800" lang="en-US"/>
          </a:p>
        </p:txBody>
      </p:sp>
      <p:sp>
        <p:nvSpPr>
          <p:cNvPr id="9" name="illustration-caption-background">
            <a:extLst xmlns:a="http://schemas.openxmlformats.org/drawingml/2006/main">
              <a:ext uri="{FF2B5EF4-FFF2-40B4-BE49-F238E27FC236}">
                <a16:creationId xmlns:a16="http://schemas.microsoft.com/office/drawing/2014/main" id="{C8D7B3D3-D99A-41EA-94D1-E5DCDE31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1270" y="133350"/>
            <a:ext cx="1733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llustration-caption">
            <a:extLst xmlns:a="http://schemas.openxmlformats.org/drawingml/2006/main">
              <a:ext uri="{FF2B5EF4-FFF2-40B4-BE49-F238E27FC236}">
                <a16:creationId xmlns:a16="http://schemas.microsoft.com/office/drawing/2014/main" id="{FFE2158A-7286-4BC6-AA82-DFBE8B13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470" y="1619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11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803" b="1" lang="en-US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11" b="1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CONCEPTUAL ILLUSTRATION</a:t>
            </a:r>
          </a:p>
        </p:txBody>
      </p:sp>
    </p:spTree>
    <p:extLst>
      <p:ext uri="{BB962C8B-B14F-4D97-AF65-F5344CB8AC3E}">
        <p14:creationId xmlns:p14="http://schemas.microsoft.com/office/powerpoint/2010/main" val="210005899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Sergio Gevatschnaider</dc:creator>
  <lastModifiedBy>Walnut Exporter</lastModifiedBy>
  <dc:title>Technological China: industrial transformation</dc:title>
  <dcterms:created xsi:type="dcterms:W3CDTF">2026-10-18T00:01:19.5360000Z</dcterms:created>
  <dcterms:modified xsi:type="dcterms:W3CDTF">2026-10-18T00:01:19.5360000Z</dcterms:modified>
  <dc:language>en-US</dc:language>
</coreProperties>
</file>