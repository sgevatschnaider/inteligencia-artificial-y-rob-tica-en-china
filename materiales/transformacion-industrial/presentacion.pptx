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92eb99b2064df7" /><Relationship Type="http://schemas.openxmlformats.org/officeDocument/2006/relationships/extended-properties" Target="/docProps/app.xml" Id="R57174e6961cf4933" /><Relationship Type="http://schemas.openxmlformats.org/officeDocument/2006/relationships/officeDocument" Target="/ppt/presentation.xml" Id="R63879cd48af041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e387fa262b4f86"/>
  </p:sldMasterIdLst>
  <p:notesMasterIdLst>
    <p:notesMasterId xmlns:r="http://schemas.openxmlformats.org/officeDocument/2006/relationships" r:id="R3873f024876541a2"/>
  </p:notesMasterIdLst>
  <p:sldIdLst>
    <p:sldId xmlns:r="http://schemas.openxmlformats.org/officeDocument/2006/relationships" id="256" r:id="Re428cec2d6f84337"/>
    <p:sldId xmlns:r="http://schemas.openxmlformats.org/officeDocument/2006/relationships" id="257" r:id="Rc6c2d852fd014be8"/>
    <p:sldId xmlns:r="http://schemas.openxmlformats.org/officeDocument/2006/relationships" id="258" r:id="R105a8b5ac3ff4c52"/>
    <p:sldId xmlns:r="http://schemas.openxmlformats.org/officeDocument/2006/relationships" id="259" r:id="R0c744d351188400a"/>
    <p:sldId xmlns:r="http://schemas.openxmlformats.org/officeDocument/2006/relationships" id="260" r:id="R1c558de1e6a240f4"/>
    <p:sldId xmlns:r="http://schemas.openxmlformats.org/officeDocument/2006/relationships" id="261" r:id="Re896fdb464524e4d"/>
    <p:sldId xmlns:r="http://schemas.openxmlformats.org/officeDocument/2006/relationships" id="262" r:id="Re97f0042e3f4487b"/>
    <p:sldId xmlns:r="http://schemas.openxmlformats.org/officeDocument/2006/relationships" id="263" r:id="Raa7d8b7bb3b34dbe"/>
    <p:sldId xmlns:r="http://schemas.openxmlformats.org/officeDocument/2006/relationships" id="264" r:id="R90eb99af367940e2"/>
    <p:sldId xmlns:r="http://schemas.openxmlformats.org/officeDocument/2006/relationships" id="265" r:id="R1f5b0fb182984a43"/>
    <p:sldId xmlns:r="http://schemas.openxmlformats.org/officeDocument/2006/relationships" id="266" r:id="R7516284ffb404c58"/>
    <p:sldId xmlns:r="http://schemas.openxmlformats.org/officeDocument/2006/relationships" id="267" r:id="Rc7ff515938f04229"/>
    <p:sldId xmlns:r="http://schemas.openxmlformats.org/officeDocument/2006/relationships" id="268" r:id="R2b4423e75df144fe"/>
    <p:sldId xmlns:r="http://schemas.openxmlformats.org/officeDocument/2006/relationships" id="269" r:id="R61a1e129d8e34126"/>
    <p:sldId xmlns:r="http://schemas.openxmlformats.org/officeDocument/2006/relationships" id="270" r:id="R7967151cc1ef44cd"/>
    <p:sldId xmlns:r="http://schemas.openxmlformats.org/officeDocument/2006/relationships" id="271" r:id="R99167a3f17024ff6"/>
    <p:sldId xmlns:r="http://schemas.openxmlformats.org/officeDocument/2006/relationships" id="272" r:id="R877bb0129f374a5e"/>
    <p:sldId xmlns:r="http://schemas.openxmlformats.org/officeDocument/2006/relationships" id="273" r:id="Rd50aee9b7a824902"/>
    <p:sldId xmlns:r="http://schemas.openxmlformats.org/officeDocument/2006/relationships" id="274" r:id="R7c4eb093b5514f9b"/>
    <p:sldId xmlns:r="http://schemas.openxmlformats.org/officeDocument/2006/relationships" id="275" r:id="R611046cd87a347f5"/>
    <p:sldId xmlns:r="http://schemas.openxmlformats.org/officeDocument/2006/relationships" id="276" r:id="Rd1396bc1c7a1439b"/>
    <p:sldId xmlns:r="http://schemas.openxmlformats.org/officeDocument/2006/relationships" id="277" r:id="Rd99a9b30d48944ac"/>
    <p:sldId xmlns:r="http://schemas.openxmlformats.org/officeDocument/2006/relationships" id="278" r:id="R4f0f47dd7fd545ec"/>
    <p:sldId xmlns:r="http://schemas.openxmlformats.org/officeDocument/2006/relationships" id="279" r:id="Re82b1d31e5e94024"/>
    <p:sldId xmlns:r="http://schemas.openxmlformats.org/officeDocument/2006/relationships" id="280" r:id="Rfcf225ca55954168"/>
    <p:sldId xmlns:r="http://schemas.openxmlformats.org/officeDocument/2006/relationships" id="281" r:id="Rdec6b493c4354f53"/>
    <p:sldId xmlns:r="http://schemas.openxmlformats.org/officeDocument/2006/relationships" id="282" r:id="Ra2a4fcc387c04df9"/>
    <p:sldId xmlns:r="http://schemas.openxmlformats.org/officeDocument/2006/relationships" id="283" r:id="R980b942830f1474a"/>
    <p:sldId xmlns:r="http://schemas.openxmlformats.org/officeDocument/2006/relationships" id="284" r:id="Rbc4ef4b36bdc4f3a"/>
    <p:sldId xmlns:r="http://schemas.openxmlformats.org/officeDocument/2006/relationships" id="285" r:id="R782c897bba594662"/>
    <p:sldId xmlns:r="http://schemas.openxmlformats.org/officeDocument/2006/relationships" id="286" r:id="R41d99576ff604a93"/>
    <p:sldId xmlns:r="http://schemas.openxmlformats.org/officeDocument/2006/relationships" id="287" r:id="R84b00f1b01de417d"/>
    <p:sldId xmlns:r="http://schemas.openxmlformats.org/officeDocument/2006/relationships" id="288" r:id="R94acdc748eca4005"/>
    <p:sldId xmlns:r="http://schemas.openxmlformats.org/officeDocument/2006/relationships" id="289" r:id="R257defc2ef8e47cf"/>
    <p:sldId xmlns:r="http://schemas.openxmlformats.org/officeDocument/2006/relationships" id="290" r:id="R2af5faab1f564f72"/>
    <p:sldId xmlns:r="http://schemas.openxmlformats.org/officeDocument/2006/relationships" id="291" r:id="R30e01019d86d4e31"/>
    <p:sldId xmlns:r="http://schemas.openxmlformats.org/officeDocument/2006/relationships" id="292" r:id="R2940182f22274465"/>
    <p:sldId xmlns:r="http://schemas.openxmlformats.org/officeDocument/2006/relationships" id="293" r:id="Ra62ee3f7c08c4022"/>
    <p:sldId xmlns:r="http://schemas.openxmlformats.org/officeDocument/2006/relationships" id="294" r:id="R96d579c034aa4d72"/>
    <p:sldId xmlns:r="http://schemas.openxmlformats.org/officeDocument/2006/relationships" id="295" r:id="R604e055ebc504c89"/>
    <p:sldId xmlns:r="http://schemas.openxmlformats.org/officeDocument/2006/relationships" id="296" r:id="R1f22b654eeac479e"/>
    <p:sldId xmlns:r="http://schemas.openxmlformats.org/officeDocument/2006/relationships" id="297" r:id="R252cda5430264ab6"/>
    <p:sldId xmlns:r="http://schemas.openxmlformats.org/officeDocument/2006/relationships" id="298" r:id="R8ab765a35c0349e3"/>
    <p:sldId xmlns:r="http://schemas.openxmlformats.org/officeDocument/2006/relationships" id="299" r:id="Rb28b4f83fb77497c"/>
    <p:sldId xmlns:r="http://schemas.openxmlformats.org/officeDocument/2006/relationships" id="300" r:id="R7f6880f607bb4f6e"/>
    <p:sldId xmlns:r="http://schemas.openxmlformats.org/officeDocument/2006/relationships" id="301" r:id="Rb19ab33a7ff5455c"/>
    <p:sldId xmlns:r="http://schemas.openxmlformats.org/officeDocument/2006/relationships" id="302" r:id="R51b9007e56d645c1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28e92ed4084b9e" /><Relationship Type="http://schemas.openxmlformats.org/officeDocument/2006/relationships/slideMaster" Target="/ppt/slideMasters/slideMaster1.xml" Id="R46e387fa262b4f86" /><Relationship Type="http://schemas.openxmlformats.org/officeDocument/2006/relationships/notesMaster" Target="/ppt/notesMasters/notesMaster1.xml" Id="R3873f024876541a2" /><Relationship Type="http://schemas.openxmlformats.org/officeDocument/2006/relationships/presProps" Target="/ppt/presProps.xml" Id="R21afeac985bd4652" /><Relationship Type="http://schemas.openxmlformats.org/officeDocument/2006/relationships/viewProps" Target="/ppt/viewProps.xml" Id="R3ca7d7041b8f4bef" /><Relationship Type="http://schemas.openxmlformats.org/officeDocument/2006/relationships/tableStyles" Target="/ppt/tableStyles.xml" Id="R44459cb3b835409e" /><Relationship Type="http://schemas.openxmlformats.org/officeDocument/2006/relationships/slide" Target="/ppt/slides/slide1.xml" Id="Re428cec2d6f84337" /><Relationship Type="http://schemas.openxmlformats.org/officeDocument/2006/relationships/slide" Target="/ppt/slides/slide2.xml" Id="Rc6c2d852fd014be8" /><Relationship Type="http://schemas.openxmlformats.org/officeDocument/2006/relationships/slide" Target="/ppt/slides/slide3.xml" Id="R105a8b5ac3ff4c52" /><Relationship Type="http://schemas.openxmlformats.org/officeDocument/2006/relationships/slide" Target="/ppt/slides/slide4.xml" Id="R0c744d351188400a" /><Relationship Type="http://schemas.openxmlformats.org/officeDocument/2006/relationships/slide" Target="/ppt/slides/slide5.xml" Id="R1c558de1e6a240f4" /><Relationship Type="http://schemas.openxmlformats.org/officeDocument/2006/relationships/slide" Target="/ppt/slides/slide6.xml" Id="Re896fdb464524e4d" /><Relationship Type="http://schemas.openxmlformats.org/officeDocument/2006/relationships/slide" Target="/ppt/slides/slide7.xml" Id="Re97f0042e3f4487b" /><Relationship Type="http://schemas.openxmlformats.org/officeDocument/2006/relationships/slide" Target="/ppt/slides/slide8.xml" Id="Raa7d8b7bb3b34dbe" /><Relationship Type="http://schemas.openxmlformats.org/officeDocument/2006/relationships/slide" Target="/ppt/slides/slide9.xml" Id="R90eb99af367940e2" /><Relationship Type="http://schemas.openxmlformats.org/officeDocument/2006/relationships/slide" Target="/ppt/slides/slide10.xml" Id="R1f5b0fb182984a43" /><Relationship Type="http://schemas.openxmlformats.org/officeDocument/2006/relationships/slide" Target="/ppt/slides/slide11.xml" Id="R7516284ffb404c58" /><Relationship Type="http://schemas.openxmlformats.org/officeDocument/2006/relationships/slide" Target="/ppt/slides/slide12.xml" Id="Rc7ff515938f04229" /><Relationship Type="http://schemas.openxmlformats.org/officeDocument/2006/relationships/slide" Target="/ppt/slides/slide13.xml" Id="R2b4423e75df144fe" /><Relationship Type="http://schemas.openxmlformats.org/officeDocument/2006/relationships/slide" Target="/ppt/slides/slide14.xml" Id="R61a1e129d8e34126" /><Relationship Type="http://schemas.openxmlformats.org/officeDocument/2006/relationships/slide" Target="/ppt/slides/slide15.xml" Id="R7967151cc1ef44cd" /><Relationship Type="http://schemas.openxmlformats.org/officeDocument/2006/relationships/slide" Target="/ppt/slides/slide16.xml" Id="R99167a3f17024ff6" /><Relationship Type="http://schemas.openxmlformats.org/officeDocument/2006/relationships/slide" Target="/ppt/slides/slide17.xml" Id="R877bb0129f374a5e" /><Relationship Type="http://schemas.openxmlformats.org/officeDocument/2006/relationships/slide" Target="/ppt/slides/slide18.xml" Id="Rd50aee9b7a824902" /><Relationship Type="http://schemas.openxmlformats.org/officeDocument/2006/relationships/slide" Target="/ppt/slides/slide19.xml" Id="R7c4eb093b5514f9b" /><Relationship Type="http://schemas.openxmlformats.org/officeDocument/2006/relationships/slide" Target="/ppt/slides/slide20.xml" Id="R611046cd87a347f5" /><Relationship Type="http://schemas.openxmlformats.org/officeDocument/2006/relationships/slide" Target="/ppt/slides/slide21.xml" Id="Rd1396bc1c7a1439b" /><Relationship Type="http://schemas.openxmlformats.org/officeDocument/2006/relationships/slide" Target="/ppt/slides/slide22.xml" Id="Rd99a9b30d48944ac" /><Relationship Type="http://schemas.openxmlformats.org/officeDocument/2006/relationships/slide" Target="/ppt/slides/slide23.xml" Id="R4f0f47dd7fd545ec" /><Relationship Type="http://schemas.openxmlformats.org/officeDocument/2006/relationships/slide" Target="/ppt/slides/slide24.xml" Id="Re82b1d31e5e94024" /><Relationship Type="http://schemas.openxmlformats.org/officeDocument/2006/relationships/slide" Target="/ppt/slides/slide25.xml" Id="Rfcf225ca55954168" /><Relationship Type="http://schemas.openxmlformats.org/officeDocument/2006/relationships/slide" Target="/ppt/slides/slide26.xml" Id="Rdec6b493c4354f53" /><Relationship Type="http://schemas.openxmlformats.org/officeDocument/2006/relationships/slide" Target="/ppt/slides/slide27.xml" Id="Ra2a4fcc387c04df9" /><Relationship Type="http://schemas.openxmlformats.org/officeDocument/2006/relationships/slide" Target="/ppt/slides/slide28.xml" Id="R980b942830f1474a" /><Relationship Type="http://schemas.openxmlformats.org/officeDocument/2006/relationships/slide" Target="/ppt/slides/slide29.xml" Id="Rbc4ef4b36bdc4f3a" /><Relationship Type="http://schemas.openxmlformats.org/officeDocument/2006/relationships/slide" Target="/ppt/slides/slide30.xml" Id="R782c897bba594662" /><Relationship Type="http://schemas.openxmlformats.org/officeDocument/2006/relationships/slide" Target="/ppt/slides/slide31.xml" Id="R41d99576ff604a93" /><Relationship Type="http://schemas.openxmlformats.org/officeDocument/2006/relationships/slide" Target="/ppt/slides/slide32.xml" Id="R84b00f1b01de417d" /><Relationship Type="http://schemas.openxmlformats.org/officeDocument/2006/relationships/slide" Target="/ppt/slides/slide33.xml" Id="R94acdc748eca4005" /><Relationship Type="http://schemas.openxmlformats.org/officeDocument/2006/relationships/slide" Target="/ppt/slides/slide34.xml" Id="R257defc2ef8e47cf" /><Relationship Type="http://schemas.openxmlformats.org/officeDocument/2006/relationships/slide" Target="/ppt/slides/slide35.xml" Id="R2af5faab1f564f72" /><Relationship Type="http://schemas.openxmlformats.org/officeDocument/2006/relationships/slide" Target="/ppt/slides/slide36.xml" Id="R30e01019d86d4e31" /><Relationship Type="http://schemas.openxmlformats.org/officeDocument/2006/relationships/slide" Target="/ppt/slides/slide37.xml" Id="R2940182f22274465" /><Relationship Type="http://schemas.openxmlformats.org/officeDocument/2006/relationships/slide" Target="/ppt/slides/slide38.xml" Id="Ra62ee3f7c08c4022" /><Relationship Type="http://schemas.openxmlformats.org/officeDocument/2006/relationships/slide" Target="/ppt/slides/slide39.xml" Id="R96d579c034aa4d72" /><Relationship Type="http://schemas.openxmlformats.org/officeDocument/2006/relationships/slide" Target="/ppt/slides/slide40.xml" Id="R604e055ebc504c89" /><Relationship Type="http://schemas.openxmlformats.org/officeDocument/2006/relationships/slide" Target="/ppt/slides/slide41.xml" Id="R1f22b654eeac479e" /><Relationship Type="http://schemas.openxmlformats.org/officeDocument/2006/relationships/slide" Target="/ppt/slides/slide42.xml" Id="R252cda5430264ab6" /><Relationship Type="http://schemas.openxmlformats.org/officeDocument/2006/relationships/slide" Target="/ppt/slides/slide43.xml" Id="R8ab765a35c0349e3" /><Relationship Type="http://schemas.openxmlformats.org/officeDocument/2006/relationships/slide" Target="/ppt/slides/slide44.xml" Id="Rb28b4f83fb77497c" /><Relationship Type="http://schemas.openxmlformats.org/officeDocument/2006/relationships/slide" Target="/ppt/slides/slide45.xml" Id="R7f6880f607bb4f6e" /><Relationship Type="http://schemas.openxmlformats.org/officeDocument/2006/relationships/slide" Target="/ppt/slides/slide46.xml" Id="Rb19ab33a7ff5455c" /><Relationship Type="http://schemas.openxmlformats.org/officeDocument/2006/relationships/slide" Target="/ppt/slides/slide47.xml" Id="R51b9007e56d645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e17f1219504b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fafa60de534de4" /><Relationship Type="http://schemas.openxmlformats.org/officeDocument/2006/relationships/notesMaster" Target="/ppt/notesMasters/notesMaster1.xml" Id="R1ca7e32999a541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99fb0cde76f44f4" /><Relationship Type="http://schemas.openxmlformats.org/officeDocument/2006/relationships/notesMaster" Target="/ppt/notesMasters/notesMaster1.xml" Id="R7f2662171d5242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c6749d802d4286" /><Relationship Type="http://schemas.openxmlformats.org/officeDocument/2006/relationships/notesMaster" Target="/ppt/notesMasters/notesMaster1.xml" Id="R8c1ae53576c5464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b10463350ac4ab3" /><Relationship Type="http://schemas.openxmlformats.org/officeDocument/2006/relationships/notesMaster" Target="/ppt/notesMasters/notesMaster1.xml" Id="R8ff04864018946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1ffc8c14ade41f9" /><Relationship Type="http://schemas.openxmlformats.org/officeDocument/2006/relationships/notesMaster" Target="/ppt/notesMasters/notesMaster1.xml" Id="Rc82e6156ac27419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040359b07664d1c" /><Relationship Type="http://schemas.openxmlformats.org/officeDocument/2006/relationships/notesMaster" Target="/ppt/notesMasters/notesMaster1.xml" Id="Re60426b23da444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a98733c5eff4be1" /><Relationship Type="http://schemas.openxmlformats.org/officeDocument/2006/relationships/notesMaster" Target="/ppt/notesMasters/notesMaster1.xml" Id="R49e43ae6ea514a7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1e66db2bd51496b" /><Relationship Type="http://schemas.openxmlformats.org/officeDocument/2006/relationships/notesMaster" Target="/ppt/notesMasters/notesMaster1.xml" Id="R411be679906c4cc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64c4d3ad0ec449a" /><Relationship Type="http://schemas.openxmlformats.org/officeDocument/2006/relationships/notesMaster" Target="/ppt/notesMasters/notesMaster1.xml" Id="R0aed41f5511e4ac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91145025e6c4c1f" /><Relationship Type="http://schemas.openxmlformats.org/officeDocument/2006/relationships/notesMaster" Target="/ppt/notesMasters/notesMaster1.xml" Id="R9b0c2013d74b430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f3a1b403ce34cb0" /><Relationship Type="http://schemas.openxmlformats.org/officeDocument/2006/relationships/notesMaster" Target="/ppt/notesMasters/notesMaster1.xml" Id="R70376d6db0ca492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1858cac5ef2453f" /><Relationship Type="http://schemas.openxmlformats.org/officeDocument/2006/relationships/notesMaster" Target="/ppt/notesMasters/notesMaster1.xml" Id="R72d60d5180e9493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947c468efa84b9e" /><Relationship Type="http://schemas.openxmlformats.org/officeDocument/2006/relationships/notesMaster" Target="/ppt/notesMasters/notesMaster1.xml" Id="R3f4457ec7990454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011ad422b444e1d" /><Relationship Type="http://schemas.openxmlformats.org/officeDocument/2006/relationships/notesMaster" Target="/ppt/notesMasters/notesMaster1.xml" Id="R18d49cb1733d497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156669aa8004c81" /><Relationship Type="http://schemas.openxmlformats.org/officeDocument/2006/relationships/notesMaster" Target="/ppt/notesMasters/notesMaster1.xml" Id="Rb920ea41e78d445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76f1ba3ebb349a1" /><Relationship Type="http://schemas.openxmlformats.org/officeDocument/2006/relationships/notesMaster" Target="/ppt/notesMasters/notesMaster1.xml" Id="Rbb90371c7a6242e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52dbcef7d204591" /><Relationship Type="http://schemas.openxmlformats.org/officeDocument/2006/relationships/notesMaster" Target="/ppt/notesMasters/notesMaster1.xml" Id="R0de377ab346e4ba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09ba473f33b4a82" /><Relationship Type="http://schemas.openxmlformats.org/officeDocument/2006/relationships/notesMaster" Target="/ppt/notesMasters/notesMaster1.xml" Id="R15cff1206f65436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76c7a236886443e" /><Relationship Type="http://schemas.openxmlformats.org/officeDocument/2006/relationships/notesMaster" Target="/ppt/notesMasters/notesMaster1.xml" Id="R7a6f18e981eb4b7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235acbb1e7f4e10" /><Relationship Type="http://schemas.openxmlformats.org/officeDocument/2006/relationships/notesMaster" Target="/ppt/notesMasters/notesMaster1.xml" Id="Rfe2bdc24047e4d3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51dd0d4220b4c3b" /><Relationship Type="http://schemas.openxmlformats.org/officeDocument/2006/relationships/notesMaster" Target="/ppt/notesMasters/notesMaster1.xml" Id="Rbde1f7dfb06f49e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6fc2800dc4f4504" /><Relationship Type="http://schemas.openxmlformats.org/officeDocument/2006/relationships/notesMaster" Target="/ppt/notesMasters/notesMaster1.xml" Id="R55fcde38171c485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0a91cf786c94a49" /><Relationship Type="http://schemas.openxmlformats.org/officeDocument/2006/relationships/notesMaster" Target="/ppt/notesMasters/notesMaster1.xml" Id="R67c3fe8de8e4498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a61387a45c5431e" /><Relationship Type="http://schemas.openxmlformats.org/officeDocument/2006/relationships/notesMaster" Target="/ppt/notesMasters/notesMaster1.xml" Id="R4afe88d40cdb476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0a09422c6444259" /><Relationship Type="http://schemas.openxmlformats.org/officeDocument/2006/relationships/notesMaster" Target="/ppt/notesMasters/notesMaster1.xml" Id="R3d8992cf101c414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6fae8ca70bf4252" /><Relationship Type="http://schemas.openxmlformats.org/officeDocument/2006/relationships/notesMaster" Target="/ppt/notesMasters/notesMaster1.xml" Id="R7267fc3a4057455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b6e87c7280a4d8d" /><Relationship Type="http://schemas.openxmlformats.org/officeDocument/2006/relationships/notesMaster" Target="/ppt/notesMasters/notesMaster1.xml" Id="R90f9abcc638341d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035bbc7c7cc4c21" /><Relationship Type="http://schemas.openxmlformats.org/officeDocument/2006/relationships/notesMaster" Target="/ppt/notesMasters/notesMaster1.xml" Id="Rc40e2ad1dc374f3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2b68d539a41429a" /><Relationship Type="http://schemas.openxmlformats.org/officeDocument/2006/relationships/notesMaster" Target="/ppt/notesMasters/notesMaster1.xml" Id="R7ffdc519d83c4c4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b5971751d9f4fc8" /><Relationship Type="http://schemas.openxmlformats.org/officeDocument/2006/relationships/notesMaster" Target="/ppt/notesMasters/notesMaster1.xml" Id="Rb08f5c7c834b4b4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245fd4f7f504eff" /><Relationship Type="http://schemas.openxmlformats.org/officeDocument/2006/relationships/notesMaster" Target="/ppt/notesMasters/notesMaster1.xml" Id="R3a516deb8d4149d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fbd86fa3f62849ae" /><Relationship Type="http://schemas.openxmlformats.org/officeDocument/2006/relationships/notesMaster" Target="/ppt/notesMasters/notesMaster1.xml" Id="R7a5bec6bac5f4fe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8d5b4dc2de6468a" /><Relationship Type="http://schemas.openxmlformats.org/officeDocument/2006/relationships/notesMaster" Target="/ppt/notesMasters/notesMaster1.xml" Id="Rccb585b30ea14ff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9935327824294327" /><Relationship Type="http://schemas.openxmlformats.org/officeDocument/2006/relationships/notesMaster" Target="/ppt/notesMasters/notesMaster1.xml" Id="Rba473ec00de24f7c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11875693a6174fd0" /><Relationship Type="http://schemas.openxmlformats.org/officeDocument/2006/relationships/notesMaster" Target="/ppt/notesMasters/notesMaster1.xml" Id="R0de428e91ff44e11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b33f7d283a434460" /><Relationship Type="http://schemas.openxmlformats.org/officeDocument/2006/relationships/notesMaster" Target="/ppt/notesMasters/notesMaster1.xml" Id="R2953583011f84067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b7308b82c8a04958" /><Relationship Type="http://schemas.openxmlformats.org/officeDocument/2006/relationships/notesMaster" Target="/ppt/notesMasters/notesMaster1.xml" Id="R62fe14d73b464403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124454bd96844d84" /><Relationship Type="http://schemas.openxmlformats.org/officeDocument/2006/relationships/notesMaster" Target="/ppt/notesMasters/notesMaster1.xml" Id="R2a0cc679cbe54128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11c1998462fb46c7" /><Relationship Type="http://schemas.openxmlformats.org/officeDocument/2006/relationships/notesMaster" Target="/ppt/notesMasters/notesMaster1.xml" Id="R2bb01cc6023e405c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725a1ccac7f44523" /><Relationship Type="http://schemas.openxmlformats.org/officeDocument/2006/relationships/notesMaster" Target="/ppt/notesMasters/notesMaster1.xml" Id="R776fe1565c804590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3ff95f8043574932" /><Relationship Type="http://schemas.openxmlformats.org/officeDocument/2006/relationships/notesMaster" Target="/ppt/notesMasters/notesMaster1.xml" Id="R9fe04047d5b54c25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b24ccc71c6404d94" /><Relationship Type="http://schemas.openxmlformats.org/officeDocument/2006/relationships/notesMaster" Target="/ppt/notesMasters/notesMaster1.xml" Id="R6259a9b54fff4058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fe65dfdd4ed04a1b" /><Relationship Type="http://schemas.openxmlformats.org/officeDocument/2006/relationships/notesMaster" Target="/ppt/notesMasters/notesMaster1.xml" Id="R9250750a8eae4cc9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f62bbf8926374423" /><Relationship Type="http://schemas.openxmlformats.org/officeDocument/2006/relationships/notesMaster" Target="/ppt/notesMasters/notesMaster1.xml" Id="R14d54f3e9ccc40d0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a17a350dbbf04bbc" /><Relationship Type="http://schemas.openxmlformats.org/officeDocument/2006/relationships/notesMaster" Target="/ppt/notesMasters/notesMaster1.xml" Id="R9e679616242a4e09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f67cf49c32da4b78" /><Relationship Type="http://schemas.openxmlformats.org/officeDocument/2006/relationships/notesMaster" Target="/ppt/notesMasters/notesMaster1.xml" Id="Rabf60e73c5d44472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7e595153699c4472" /><Relationship Type="http://schemas.openxmlformats.org/officeDocument/2006/relationships/notesMaster" Target="/ppt/notesMasters/notesMaster1.xml" Id="Ra536a0c4523645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Apertura. Pregunta a la audiencia: ¿qué creen que explica el éxito tecnológico chino: inventar, fabricar o coordinar? Aclarar que la fotografía es conceptual, no una planta china identificada.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Imagen conceptual generada para uso docente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Tesis organizadora: la tecnología se convierte en capacidad económica al combinar invención, fabricación, aprendizaje y coordinación. La capacidad industrial acumulada es el elemento unificador de la clase.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Dedicaremos aproximadamente 9 minutos a la historia y las redes, 22 a la fábrica y robótica, 13 a AI+ y el XV Plan, y el resto a tensiones y debate. Los casos se integran en la narración, no se suman al final.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Conectar pasado y presente: la historia tecnológica china no empieza con robots humanoides ni con DeepSeek. Las reformas, apertura, integración comercial y política industrial crearon capacidades previas.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periodización agrupa procesos superpuestos. El punto histórico más importante es el tránsito gradual desde aprender a producir dentro de redes internacionales hacia desarrollar conocimiento y tecnologías propias; no presentar estos procesos como lineales o completos.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con 100 dólares: en 1990 China aportaba 2,8 dólares del valor manufacturero mundial; en 2024, alrededor de 32. Esto revela escala, no liderazgo en todos los eslabones ni productividad por trabajador. Comparación de cuota relativa aproximada 32/2,8=11,4.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Fuente: UNIDO · International Yearbook of Industrial Statistics 2025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Fuentes y recursos:</a:t>
            </a:r>
            <a:endParaRPr/>
          </a:p>
          <a:p xmlns:a="http://schemas.openxmlformats.org/drawingml/2006/main">
            <a:r>
              <a:t>https://stat.unido.org/publications/international-yearbook-industrial-statistics-2025</a:t>
            </a:r>
            <a:endParaRPr/>
          </a:p>
          <a:p xmlns:a="http://schemas.openxmlformats.org/drawingml/2006/main">
            <a:br/>
            <a:r>
              <a:t>UNIDO estima 32,0 % para 2024. La razón 32/2,8 se redondea a 11,4 y describe el cambio de participación relativa.</a:t>
            </a:r>
            <a:br/>
            <a:r>
              <a:t>https://www.unido.org/sites/default/files/unido-publications/2025-11/UNIDO%20Industrial%20Statistics%20Yearbook%202025.pdf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que proveedores, universidades, técnicos, logística y Estado forman un sistema. No afirmar que la sola proximidad territorial garantiza innovación; importan calidad y cooperación.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Descomponer el ejemplo en prototipo 8 vs 3 semanas, corrección 6 vs 2, validación 6 vs 3. La empresa B aprende más rápido en el escenario hipotético. Los valores son inventados; no atribuirlos a Shenzhen ni a Unitree.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Tiempos inventados para comparar mecanismos, NO resultados observados de fabricantes.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un gobierno local que construye un parque para atraer fabricantes de baterías; podrían llegar proveedores y trabajadores. Si muchas ciudades subsidian la misma industria simultáneamente, el sistema también puede generar exceso de capacidad. No identificar automáticamente política con resultado.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Relacionar clúster con costos de coordinación. Shenzhen no es solo una ciudad de tecnología, sino un entorno de componentes, fabricantes y capital humano. Estas denominaciones no implican exclusividad sectorial.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 entra a la parte técnica a través de casos de acero y refrigeración, mostrando que AI industrial también es metalurgia, calidad y mantenimiento. Imagen conceptual, no fotografía de una planta real.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Ejemplo: instalar sensores digitaliza; programar un brazo de soldadura automatiza; analizar imágenes para identificar defectos puede requerir IA. No presentar IA generativa como requisito para la robótica industrial.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Este diagrama es hipotético. El sistema puede fallar con iluminación diferente, defectos no representados en entrenamiento o cambios de producto; aclarar falsos positivos y negativos.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Shougang enfrenta exigencias de calidad más estrictas en acero para automoción y variedad de productos. El WEF comunica 67 casos tecnológicos, 61 % con IA. No atribuir todos los efectos a IA aislada: paquete de innovación industrial. Ilustración conceptual, no planta real.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Datos reportados por World Economic Forum · Global Lighthouse Network 2025. Foto conceptual.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Fuentes y recursos:</a:t>
            </a:r>
            <a:endParaRPr/>
          </a:p>
          <a:p xmlns:a="http://schemas.openxmlformats.org/drawingml/2006/main">
            <a:r>
              <a:t>https://www.weforum.org/media/global-lighthouse-network-2025-world-economic-forum-recognizes-companies-transforming-manufacturing-through-innovation/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Citar todos los porcentajes como resultados reportados por estudio de caso WEF. Según la misma ficha, ventas de acero de alta gama +36 %. El 100→65 es cálculo para enseñar porcentajes. Pregunta: ¿vale más fabricar toneladas adicionales o reducir defectos para automoción?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El ejemplo de 100 → 65 normaliza el porcentaje: NO son cifras absolutas de la planta.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Fuente: World Economic Forum, Global Lighthouse Network 2025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Fuentes y recursos:</a:t>
            </a:r>
            <a:endParaRPr/>
          </a:p>
          <a:p xmlns:a="http://schemas.openxmlformats.org/drawingml/2006/main">
            <a:r>
              <a:t>https://www.weforum.org/media/global-lighthouse-network-2025-world-economic-forum-recognizes-companies-transforming-manufacturing-through-innovation/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 Midea Chongqing los pedidos personalizados pasaron del 31 % al 87 %, según WEF. La planta recurrió a 79 aplicaciones digitales basadas en aprendizaje automático, realidad aumentada y simulación. Enseñar que la digitalización ayuda a fabricar variedad, no solo volumen. Imagen conceptual, no planta real.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Fuente: World Economic Forum, Global Lighthouse Network 2025. Imagen conceptual.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Fuentes y recursos:</a:t>
            </a:r>
            <a:endParaRPr/>
          </a:p>
          <a:p xmlns:a="http://schemas.openxmlformats.org/drawingml/2006/main">
            <a:r>
              <a:t>https://www.weforum.org/media/global-lighthouse-network-2025-world-economic-forum-recognizes-companies-transforming-manufacturing-through-innovation/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lead time: tiempo que transcurre hasta completar una etapa. Midea ofrece el ejemplo de producción flexible y pedidos individualizados (batch size 1). No inferir de −81% que la productividad total aumentó exactamente ese porcentaje.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100 → 19 es ilustración aritmética, no el tiempo absoluto informado por Midea.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Fuente: World Economic Forum, Global Lighthouse Network 2025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Fuentes y recursos:</a:t>
            </a:r>
            <a:endParaRPr/>
          </a:p>
          <a:p xmlns:a="http://schemas.openxmlformats.org/drawingml/2006/main">
            <a:r>
              <a:t>https://www.weforum.org/media/global-lighthouse-network-2025-world-economic-forum-recognizes-companies-transforming-manufacturing-through-innovation/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Leer tres denominadores: 354.000 flujo anual en China; 59% sobre instalaciones globales; 195.000 suministrados por empresas chinas dentro del mercado chino y equivalen al 55% de sus instalaciones. No decir robots fabricados en China si no consta localización de fabricación; hablar de fabricantes chinos.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Fuente: IFR, World Robotics 2026 · Instalaciones anuales, no stock operativo.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Fuentes y recursos:</a:t>
            </a:r>
            <a:endParaRPr/>
          </a:p>
          <a:p xmlns:a="http://schemas.openxmlformats.org/drawingml/2006/main">
            <a:r>
              <a:t>https://ifr.org/ifr-press-releases/five-million-robots-now-operate-in-factories-globally</a:t>
            </a:r>
            <a:endParaRPr/>
          </a:p>
          <a:p xmlns:a="http://schemas.openxmlformats.org/drawingml/2006/main">
            <a:br/>
            <a:r>
              <a:t>El comunicado IFR de China redondea a 354.000 y el de Estados Unidos proporciona 354.200. Se mantiene el redondeo pedagógico. La cuota doméstica de 55 % es un indicador independiente; no se presenta 195.000 como un conteo publicado exacto.</a:t>
            </a:r>
            <a:br/>
            <a:r>
              <a:t>https://ifr.org/downloads/press_docs/EN-2026-SEP-24-IFR_Press_Release_WR-CHINA.pdf</a:t>
            </a:r>
            <a:br/>
            <a:r>
              <a:t>https://ifr.org/downloads/press_docs/EN-2026-SEP-24-IFR_Press_Release_WR-USA.pdf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Aclarar que un video de caminar o bailar demuestra capacidades motrices bajo condiciones concretas. No demuestra autonomía general, tasa de fallos baja ni rentabilidad en una fábrica. Aquí distinguir robot industrial de humanoide.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Fotografías conceptuales generadas para uso docente.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Conectar humanoide con redes de proveedores. El G1 oficial tiene alrededor de 1,32 m y 35 kg según fabricante (las configuraciones varían). Utilizar su página oficial para enseñar el producto real. La ilustración de la diapositiva NO es el modelo específico; evitar atribuciones falsas.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Imagen conceptual; no representa al G1 real. Ver ficha oficial de Unitree.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Fuentes y recursos:</a:t>
            </a:r>
            <a:endParaRPr/>
          </a:p>
          <a:p xmlns:a="http://schemas.openxmlformats.org/drawingml/2006/main">
            <a:r>
              <a:t>https://www.unitree.com/g1/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diapositiva previene una extrapolación incorrecta: la IA física no equivale a bailar en un video. Pedir a alumnos pensar qué otras medidas hacen falta para evaluar un humanoide empleado en una línea industrial.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Referencia técnica: Unitree G1, página oficial del producto · No prueba de autonomía general.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Fuentes y recursos:</a:t>
            </a:r>
            <a:endParaRPr/>
          </a:p>
          <a:p xmlns:a="http://schemas.openxmlformats.org/drawingml/2006/main">
            <a:r>
              <a:t>https://www.unitree.com/g1/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Cálculos: A=1000*(1−0,05)=950; B=1150*(1−0,02)=1127; diferencia=177; aumento 177/950=18,63%. Las cifras son completamente hipotéticas. Explicar el papel de entrenamiento, mantenimiento, datos y gestión.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Ejemplo inventado para enseñar integración y calidad.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Utilizar 2-3 minutos en simulador, si hay conectividad: subir número de robots y luego modificar factor de aprendizaje. No confundir simulación de función de producción con datos empíricos sobre una firma china. Enlace al simulador: https://sgevatschnaider.github.io/Inteligencia-Artificial-y-Rob-tica-en-China/recursos/Capital%20Rob%C3%B3tico%20vs%20Capital%20Com%C3%BAn%20%E2%80%94%20Efecto%20del%20Data%20Flywheel.html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El simulador docente ilustra capital robótico y aprendizaje; no está estimado para China.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afirmar que Xiaomi haya logrado superioridad universal ni utilizar marketing de ciclos productivos sin verificación. Este es un caso de transferencia de capacidades desde electrónica/soft a automóviles con regulaciones de seguridad más exigentes. Foto conceptual, no de planta Xiaomi.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Imagen conceptual · Caso empresarial: Xiaomi Auto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Fuente empresarial: Xiaomi Auto · documentación de su fábrica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Fuentes y recursos:</a:t>
            </a:r>
            <a:endParaRPr/>
          </a:p>
          <a:p xmlns:a="http://schemas.openxmlformats.org/drawingml/2006/main">
            <a:r>
              <a:t>https://www.xiaomiev.com/hyperfactory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Precisar que IEA reporta alrededor de 16 millones de EV producidos, casi 75% de output global y &gt;2.5 millones exportados. Comparar con 13 millones vendidos en China si hay tiempo. No sumar producción, ventas y exportaciones en una identidad contable simplificada; son series y conceptos distintos.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Fuente: IEA, Global EV Outlook 2026 · BEV y PHEV; cifras redondeadas.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Fuentes y recursos:</a:t>
            </a:r>
            <a:endParaRPr/>
          </a:p>
          <a:p xmlns:a="http://schemas.openxmlformats.org/drawingml/2006/main">
            <a:r>
              <a:t>https://www.iea.org/reports/global-ev-outlook-2026/manufacturing-and-trade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Aclarar que AI+ es política de difusión transversal, no simplemente estimular modelos de frontera. La infraestructura informática existe junto a equipos productivos y redes de distribución.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Ilustrar que AI+ se dirige a toda la economía, no a una industria aislada. Ciencia, industria, consumo, bienestar, gobernanza y cooperación; explicar qué es un agente IA con ejemplo de gestión de información, sin atribuir capacidades verificadas que no existan.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Fuente: Consejo de Estado de China · Directrices “AI+”, agosto 2025.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Fuentes y recursos:</a:t>
            </a:r>
            <a:endParaRPr/>
          </a:p>
          <a:p xmlns:a="http://schemas.openxmlformats.org/drawingml/2006/main">
            <a:r>
              <a:t>https://www.cac.gov.cn/2025-08/27/c_1758018277755538.htm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Definir cuidadosamente el indicador oficial. No extrapolar a productividad ni adopción real en 2026. Repetir la diferencia entre meta administrativa, gasto, instalación y resultado.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Fuente: Consejo de Estado · Orientaciones “AI+” (2025); traducción CSET.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Fuentes y recursos:</a:t>
            </a:r>
            <a:endParaRPr/>
          </a:p>
          <a:p xmlns:a="http://schemas.openxmlformats.org/drawingml/2006/main">
            <a:r>
              <a:t>https://cset.georgetown.edu/publication/china-ai-plus-opinions-2025/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Escenario de enseñanza inventado. Los sensores miden vibración; el modelo anticipa probabilidad de falla; el técnico inspecciona. Una reducción del 50% del downtime no se traduce automáticamente en 50% más de output: considerar si la máquina es un cuello de botella.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Supuesto ilustrativo. Se requieren sensores + datos + modelo + técnicos para intervenir.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Conectar con Shougang y Midea. Si solo hay IA y no hay datos, técnicos o procesos, el producto puede carecer de valor. Aquí se recupera el factor de aprendizaje e integración de la clase.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Introducir secuencia Made in China 2025, AI+ y XV Plan. El Plan del período 2026–2030 no prueba la ejecución de cada meta; referir siempre a documentos oficiales.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continuidad estratégica sin suponer éxito automático. 2015 orienta manufactura, 2025 orienta difusión de IA, 2026–2030 articula modernización de lo existente y apuesta por nuevas tecnologías.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Fuentes: documentos oficiales de política industrial, AI+ 2025 y XV Plan 2026–2030.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Fuentes y recursos:</a:t>
            </a:r>
            <a:endParaRPr/>
          </a:p>
          <a:p xmlns:a="http://schemas.openxmlformats.org/drawingml/2006/main">
            <a:r>
              <a:t>https://www.moe.gov.cn/jyb_xwfb/xw_zt/moe_357/2026/2026_zt03/yw/202603/t20260314_1430877.html</a:t>
            </a:r>
            <a:endParaRPr/>
          </a:p>
          <a:p xmlns:a="http://schemas.openxmlformats.org/drawingml/2006/main">
            <a:br/>
            <a:r>
              <a:t>Texto oficial completo del XV Plan:</a:t>
            </a:r>
            <a:br/>
            <a:r>
              <a:t>https://www.ndrc.gov.cn/fggz/fzzlgh/gjfzgh/202603/U020260317369114704096.pdf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Definir nuevo concepto: foco en desarrollo de capacidades basadas en innovación, calidad y productividad, no simple aumento de volumen. El término es político estratégico, no una medición estadística. Distinguir industrias emergentes de tecnologías aún exploratorias.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Fuente: XV Plan Quinquenal 2026–2030, texto oficial.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Fuentes y recursos:</a:t>
            </a:r>
            <a:endParaRPr/>
          </a:p>
          <a:p xmlns:a="http://schemas.openxmlformats.org/drawingml/2006/main">
            <a:r>
              <a:t>https://www.moe.gov.cn/jyb_xwfb/xw_zt/moe_357/2026/2026_zt03/yw/202603/t20260314_1430877.html</a:t>
            </a:r>
            <a:endParaRPr/>
          </a:p>
          <a:p xmlns:a="http://schemas.openxmlformats.org/drawingml/2006/main">
            <a:br/>
            <a:r>
              <a:t>Texto oficial completo del XV Plan:</a:t>
            </a:r>
            <a:br/>
            <a:r>
              <a:t>https://www.ndrc.gov.cn/fggz/fzzlgh/gjfzgh/202603/U020260317369114704096.pdf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Pedir a los alumnos identificar cuál de las cifras de la clase son flujos observados (robots 2025), cuáles son resultados reportados (WEF) y cuáles metas (AI+). Método clave de la clase.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Conectar las capacidades industriales con geopolítica: los eslabones complementarios de una cadena pueden estar fuera del país. La ventaja de fabricación no garantiza autonomía en chips avanzados ni maquinaria.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Cálculo: min(capacidad 10 mil, chip 6 mil) = 6 mil. 40% no utilizado. Restricción deliberadamente simplificada; la sustitución, inventarios, rediseños y comercio alteran el escenario. Conectar con export controls y vulnerabilidad semiconductora.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Sin inventarios de sustitución ni rediseño, el componente limitante gobierna el volumen.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Precisar que este mapa no es un ranking universal. Diferenciar investigación de frontera, capacidades industriales y difusión tecnológica. Ambas economías poseen fortalezas y dependencias en ambas dimensiones; evitar simplificaciones.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Son perfiles generales: existen capacidades y dependencias cruzadas en numerosos sectores.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Referencias: UNIDO · IFR · Stanford HAI, AI Index 2026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Fuentes y recursos:</a:t>
            </a:r>
            <a:endParaRPr/>
          </a:p>
          <a:p xmlns:a="http://schemas.openxmlformats.org/drawingml/2006/main">
            <a:r>
              <a:t>https://hai.stanford.edu/ai-index/2026-ai-index-report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Supuesto de capacidad 1 millón, demanda 650 mil, utilización 65%. No es una estadística china. Explicar cómo inversión simultánea en múltiples regiones puede acelerar innovación y generar exceso de capacidad y márgenes bajos.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Ejemplo hipotético. En la práctica, pueden intervenir exportaciones, inventarios y ciclos de inversión.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IEA: China produjo ~16m electric cars en 2025, vendió &gt;13m domésticamente y exportó &gt;2.5m. No convertir estas cifras en balance exacto de inventarios. Exportaciones se duplicaron en 2025. La IEA vincula fuerte competencia doméstica con márgenes presionados y búsqueda de mercados externos.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Fuente: IEA, Global EV Outlook 2026 · Cifras redondeadas, series con definiciones propias.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Fuentes y recursos:</a:t>
            </a:r>
            <a:endParaRPr/>
          </a:p>
          <a:p xmlns:a="http://schemas.openxmlformats.org/drawingml/2006/main">
            <a:r>
              <a:t>https://www.iea.org/reports/global-ev-outlook-2026/manufacturing-and-trade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Repasar: metas AI+ no son adopción observada; video Unitree no prueba autonomía industrial; IFR mide instalaciones; WEF reporta resultados y no establece causalidad experimental. Promover alfabetización estadística y tecnológica.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Síntesis: la manufactura genera espacios de aprendizaje; las redes y políticas permiten coordinar; las nuevas tecnologías agregan valor cuando están integradas; semiconductores, demanda y rentabilidad marcan límites.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Dejar al menos 3-4 minutos para una pregunta si la clase ha avanzado según plan. Utilizar estas preguntas como recapitulación y puente a la clase 2 de modelos y robots inteligentes.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Anunciar segundo encuentro: modelos generativos, arquitecturas, agentes y robots. Imagen conceptual de humanoide, no equipo específico.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primarias y centros de estudios que respaldan cifras y comparaciones. Estos enlaces son clicables en modo presentación.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Fuentes y recursos:</a:t>
            </a:r>
            <a:endParaRPr/>
          </a:p>
          <a:p xmlns:a="http://schemas.openxmlformats.org/drawingml/2006/main">
            <a:r>
              <a:t>https://stat.unido.org/publications/international-yearbook-industrial-statistics-2025</a:t>
            </a:r>
            <a:endParaRPr/>
          </a:p>
          <a:p xmlns:a="http://schemas.openxmlformats.org/drawingml/2006/main">
            <a:r>
              <a:t>https://ifr.org/ifr-press-releases/five-million-robots-now-operate-in-factories-globally</a:t>
            </a:r>
            <a:endParaRPr/>
          </a:p>
          <a:p xmlns:a="http://schemas.openxmlformats.org/drawingml/2006/main">
            <a:r>
              <a:t>https://ifr.org/ifr-press-releases/news/robot-density-surges-in-europe-asia-and-americas</a:t>
            </a:r>
            <a:endParaRPr/>
          </a:p>
          <a:p xmlns:a="http://schemas.openxmlformats.org/drawingml/2006/main">
            <a:r>
              <a:t>https://www.iea.org/reports/global-ev-outlook-2026/executive-summary</a:t>
            </a:r>
            <a:endParaRPr/>
          </a:p>
          <a:p xmlns:a="http://schemas.openxmlformats.org/drawingml/2006/main">
            <a:r>
              <a:t>https://hai.stanford.edu/ai-index/2026-ai-index-report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 imágenes de Shougang, Midea, Xiaomi y Unitree son conceptuales y no deben considerarse fotografías de sus instalaciones o equipos. Estudios de caso WEF reportados, no inferencia causal independiente.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Fuentes y recursos:</a:t>
            </a:r>
            <a:endParaRPr/>
          </a:p>
          <a:p xmlns:a="http://schemas.openxmlformats.org/drawingml/2006/main">
            <a:r>
              <a:t>https://www.weforum.org/media/global-lighthouse-network-2025-world-economic-forum-recognizes-companies-transforming-manufacturing-through-innovation/</a:t>
            </a:r>
            <a:endParaRPr/>
          </a:p>
          <a:p xmlns:a="http://schemas.openxmlformats.org/drawingml/2006/main">
            <a:r>
              <a:t>https://www.unitree.com/g1/</a:t>
            </a:r>
            <a:endParaRPr/>
          </a:p>
          <a:p xmlns:a="http://schemas.openxmlformats.org/drawingml/2006/main">
            <a:r>
              <a:t>https://www.xiaomiev.com/hyperfactory</a:t>
            </a:r>
            <a:endParaRPr/>
          </a:p>
          <a:p xmlns:a="http://schemas.openxmlformats.org/drawingml/2006/main">
            <a:r>
              <a:t>https://www.iea.org/reports/global-ev-outlook-2026/manufacturing-and-trade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Los ejemplos numéricos inventados se distinguen explícitamente en diapositivas 8, 22, 29, 36 y 38. Mantener AI+ metas separadas de adopción observada.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Fuentes y recursos:</a:t>
            </a:r>
            <a:endParaRPr/>
          </a:p>
          <a:p xmlns:a="http://schemas.openxmlformats.org/drawingml/2006/main">
            <a:r>
              <a:t>https://www.cac.gov.cn/2025-08/27/c_1758018277755538.htm</a:t>
            </a:r>
            <a:endParaRPr/>
          </a:p>
          <a:p xmlns:a="http://schemas.openxmlformats.org/drawingml/2006/main">
            <a:r>
              <a:t>https://cset.georgetown.edu/publication/china-ai-plus-opinions-2025/</a:t>
            </a:r>
            <a:endParaRPr/>
          </a:p>
          <a:p xmlns:a="http://schemas.openxmlformats.org/drawingml/2006/main">
            <a:r>
              <a:t>https://www.moe.gov.cn/jyb_xwfb/xw_zt/moe_357/2026/2026_zt03/yw/202603/t20260314_1430877.html</a:t>
            </a:r>
            <a:endParaRPr/>
          </a:p>
          <a:p xmlns:a="http://schemas.openxmlformats.org/drawingml/2006/main">
            <a:r>
              <a:t>https://www.worldbank.org/en/news/press-release/2026/07/07/rebalancing-growth-china-economic-update</a:t>
            </a:r>
            <a:endParaRPr/>
          </a:p>
          <a:p xmlns:a="http://schemas.openxmlformats.org/drawingml/2006/main">
            <a:r>
              <a:t>https://sgevatschnaider.github.io/Inteligencia-Artificial-y-Rob-tica-en-China/recursos/Capital%20Rob%C3%B3tico%20vs%20Capital%20Com%C3%BAn%20%E2%80%94%20Efecto%20del%20Data%20Flywheel.html</a:t>
            </a:r>
            <a:endParaRPr/>
          </a:p>
          <a:p xmlns:a="http://schemas.openxmlformats.org/drawingml/2006/main">
            <a:br/>
            <a:r>
              <a:t>Texto oficial completo del XV Plan:</a:t>
            </a:r>
            <a:br/>
            <a:r>
              <a:t>https://www.ndrc.gov.cn/fggz/fzzlgh/gjfzgh/202603/U020260317369114704096.pdf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final con atribución expresa solicitada.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d1590c8b7641f4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9c9dc1e1eb4d02" /><Relationship Type="http://schemas.openxmlformats.org/officeDocument/2006/relationships/slideLayout" Target="/ppt/slideLayouts/slideLayout1.xml" Id="R5c2d0a0969f54541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2d0a0969f54541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eb0d21bdf74b5c" /><Relationship Type="http://schemas.openxmlformats.org/officeDocument/2006/relationships/image" Target="/ppt/media/image.jpeg" Id="Rbe0bb3f915084274" /><Relationship Type="http://schemas.openxmlformats.org/officeDocument/2006/relationships/notesSlide" Target="/ppt/notesSlides/notesSlide1.xml" Id="R0a08ce7f8d9e46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d23e79107d4c10" /><Relationship Type="http://schemas.openxmlformats.org/officeDocument/2006/relationships/notesSlide" Target="/ppt/notesSlides/notesSlide2.xml" Id="Rc01464e2054c4f2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fcc5c8340d405b" /><Relationship Type="http://schemas.openxmlformats.org/officeDocument/2006/relationships/notesSlide" Target="/ppt/notesSlides/notesSlide3.xml" Id="R5dd9b610fd7e43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ed3bdae3a74ea3" /><Relationship Type="http://schemas.openxmlformats.org/officeDocument/2006/relationships/image" Target="/ppt/media/image2.jpeg" Id="R89d159e7e48d4530" /><Relationship Type="http://schemas.openxmlformats.org/officeDocument/2006/relationships/notesSlide" Target="/ppt/notesSlides/notesSlide4.xml" Id="R8ebec65187c54e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42217288654aef" /><Relationship Type="http://schemas.openxmlformats.org/officeDocument/2006/relationships/notesSlide" Target="/ppt/notesSlides/notesSlide5.xml" Id="Rbf2380666b7947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e05aeaaf694464" /><Relationship Type="http://schemas.openxmlformats.org/officeDocument/2006/relationships/chart" Target="/ppt/slides/charts/chart1.xml" Id="Rdb0b2ff8f1684ff7" /><Relationship Type="http://schemas.openxmlformats.org/officeDocument/2006/relationships/notesSlide" Target="/ppt/notesSlides/notesSlide6.xml" Id="R27ade63a47dd41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7e14a2ff764c72" /><Relationship Type="http://schemas.openxmlformats.org/officeDocument/2006/relationships/notesSlide" Target="/ppt/notesSlides/notesSlide7.xml" Id="R3459e0af66d7471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ff481f88424faf" /><Relationship Type="http://schemas.openxmlformats.org/officeDocument/2006/relationships/notesSlide" Target="/ppt/notesSlides/notesSlide8.xml" Id="R820c58ec84fd4b2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876b6808f745fa" /><Relationship Type="http://schemas.openxmlformats.org/officeDocument/2006/relationships/notesSlide" Target="/ppt/notesSlides/notesSlide9.xml" Id="Rbea24e21e0eb48f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6a45e8dc8c49f3" /><Relationship Type="http://schemas.openxmlformats.org/officeDocument/2006/relationships/notesSlide" Target="/ppt/notesSlides/notesSlide10.xml" Id="Rc27145f412a7446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9732343af045e0" /><Relationship Type="http://schemas.openxmlformats.org/officeDocument/2006/relationships/image" Target="/ppt/media/image.png" Id="R98f3a919620e46ea" /><Relationship Type="http://schemas.openxmlformats.org/officeDocument/2006/relationships/notesSlide" Target="/ppt/notesSlides/notesSlide11.xml" Id="R13ea6312418c4ae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ccac52be2c4c02" /><Relationship Type="http://schemas.openxmlformats.org/officeDocument/2006/relationships/notesSlide" Target="/ppt/notesSlides/notesSlide12.xml" Id="Rfd6c97ec2178407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2a030758d44fcf" /><Relationship Type="http://schemas.openxmlformats.org/officeDocument/2006/relationships/notesSlide" Target="/ppt/notesSlides/notesSlide13.xml" Id="R8fd8c0f6b3f148f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6681baa0d148d3" /><Relationship Type="http://schemas.openxmlformats.org/officeDocument/2006/relationships/image" Target="/ppt/media/image2.png" Id="R25fc3a7037444271" /><Relationship Type="http://schemas.openxmlformats.org/officeDocument/2006/relationships/notesSlide" Target="/ppt/notesSlides/notesSlide14.xml" Id="R33ae6f7d131e492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ed6ae7105b4d60" /><Relationship Type="http://schemas.openxmlformats.org/officeDocument/2006/relationships/notesSlide" Target="/ppt/notesSlides/notesSlide15.xml" Id="R3c2b46ee5e984ca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8f884f20ac4002" /><Relationship Type="http://schemas.openxmlformats.org/officeDocument/2006/relationships/image" Target="/ppt/media/image3.png" Id="R1727d658cc134758" /><Relationship Type="http://schemas.openxmlformats.org/officeDocument/2006/relationships/notesSlide" Target="/ppt/notesSlides/notesSlide16.xml" Id="Rea5a6a32b4364ac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62a76b86f74513" /><Relationship Type="http://schemas.openxmlformats.org/officeDocument/2006/relationships/notesSlide" Target="/ppt/notesSlides/notesSlide17.xml" Id="Ra09852c05599485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26709da04a430a" /><Relationship Type="http://schemas.openxmlformats.org/officeDocument/2006/relationships/notesSlide" Target="/ppt/notesSlides/notesSlide18.xml" Id="R9867b8b02b064ee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a0333c003f480d" /><Relationship Type="http://schemas.openxmlformats.org/officeDocument/2006/relationships/image" Target="/ppt/media/image3.jpeg" Id="R4e601fa5a89b4cb0" /><Relationship Type="http://schemas.openxmlformats.org/officeDocument/2006/relationships/image" Target="/ppt/media/image4.jpeg" Id="Rf133ed1900104d99" /><Relationship Type="http://schemas.openxmlformats.org/officeDocument/2006/relationships/notesSlide" Target="/ppt/notesSlides/notesSlide19.xml" Id="R25d1d536196242e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3545254e274ec0" /><Relationship Type="http://schemas.openxmlformats.org/officeDocument/2006/relationships/image" Target="/ppt/media/image5.jpeg" Id="R09cea0055e8644b3" /><Relationship Type="http://schemas.openxmlformats.org/officeDocument/2006/relationships/notesSlide" Target="/ppt/notesSlides/notesSlide20.xml" Id="Rd076d8a05f5c46b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14cae8a72144c2" /><Relationship Type="http://schemas.openxmlformats.org/officeDocument/2006/relationships/notesSlide" Target="/ppt/notesSlides/notesSlide21.xml" Id="Rad2123bbd70b439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6f3f40805c407d" /><Relationship Type="http://schemas.openxmlformats.org/officeDocument/2006/relationships/notesSlide" Target="/ppt/notesSlides/notesSlide22.xml" Id="Rbe6e532743bb437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c77e2412834431" /><Relationship Type="http://schemas.openxmlformats.org/officeDocument/2006/relationships/notesSlide" Target="/ppt/notesSlides/notesSlide23.xml" Id="Rad69373ab3ab4f2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72db3e21c04eee" /><Relationship Type="http://schemas.openxmlformats.org/officeDocument/2006/relationships/image" Target="/ppt/media/image6.jpeg" Id="Rf093ed39af1e4ea3" /><Relationship Type="http://schemas.openxmlformats.org/officeDocument/2006/relationships/notesSlide" Target="/ppt/notesSlides/notesSlide24.xml" Id="R3da63b1bb2b34d1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52370b4ec44bd9" /><Relationship Type="http://schemas.openxmlformats.org/officeDocument/2006/relationships/notesSlide" Target="/ppt/notesSlides/notesSlide25.xml" Id="R6a5ad7b2e0764b7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e8633020f74017" /><Relationship Type="http://schemas.openxmlformats.org/officeDocument/2006/relationships/image" Target="/ppt/media/image7.jpeg" Id="R07711e1309e84ac3" /><Relationship Type="http://schemas.openxmlformats.org/officeDocument/2006/relationships/notesSlide" Target="/ppt/notesSlides/notesSlide26.xml" Id="R7cc17a87045646e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230961fbe543c3" /><Relationship Type="http://schemas.openxmlformats.org/officeDocument/2006/relationships/notesSlide" Target="/ppt/notesSlides/notesSlide27.xml" Id="R3c9c682062a54ae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4eec62fd13424d" /><Relationship Type="http://schemas.openxmlformats.org/officeDocument/2006/relationships/notesSlide" Target="/ppt/notesSlides/notesSlide28.xml" Id="R0caf488b49b94af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f5e2ee732d423b" /><Relationship Type="http://schemas.openxmlformats.org/officeDocument/2006/relationships/notesSlide" Target="/ppt/notesSlides/notesSlide29.xml" Id="R5505feb1ee4e49b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52304bd6f74522" /><Relationship Type="http://schemas.openxmlformats.org/officeDocument/2006/relationships/notesSlide" Target="/ppt/notesSlides/notesSlide30.xml" Id="R5602164c0be04fe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dca219174b4800" /><Relationship Type="http://schemas.openxmlformats.org/officeDocument/2006/relationships/image" Target="/ppt/media/image8.jpeg" Id="Rd09f9e558be940b0" /><Relationship Type="http://schemas.openxmlformats.org/officeDocument/2006/relationships/notesSlide" Target="/ppt/notesSlides/notesSlide31.xml" Id="Rce0bf0f9edec4a2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be11ebb1354002" /><Relationship Type="http://schemas.openxmlformats.org/officeDocument/2006/relationships/notesSlide" Target="/ppt/notesSlides/notesSlide32.xml" Id="R3dc1c27f6b184ac7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9306339f014362" /><Relationship Type="http://schemas.openxmlformats.org/officeDocument/2006/relationships/notesSlide" Target="/ppt/notesSlides/notesSlide33.xml" Id="R4bd3201121f84306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3932146ab74070" /><Relationship Type="http://schemas.openxmlformats.org/officeDocument/2006/relationships/notesSlide" Target="/ppt/notesSlides/notesSlide34.xml" Id="R7c4f02c734b841f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2e4a81eeb44029" /><Relationship Type="http://schemas.openxmlformats.org/officeDocument/2006/relationships/image" Target="/ppt/media/image9.jpeg" Id="R99fbd5f2dc6a4c71" /><Relationship Type="http://schemas.openxmlformats.org/officeDocument/2006/relationships/notesSlide" Target="/ppt/notesSlides/notesSlide35.xml" Id="R80ffe0e629ad49e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14daa5b7b74ec1" /><Relationship Type="http://schemas.openxmlformats.org/officeDocument/2006/relationships/notesSlide" Target="/ppt/notesSlides/notesSlide36.xml" Id="R7b1d2bf260cb4f1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1c0a6ee65f41f2" /><Relationship Type="http://schemas.openxmlformats.org/officeDocument/2006/relationships/notesSlide" Target="/ppt/notesSlides/notesSlide37.xml" Id="Rca41d4d13f48417b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26246ce68642bb" /><Relationship Type="http://schemas.openxmlformats.org/officeDocument/2006/relationships/notesSlide" Target="/ppt/notesSlides/notesSlide38.xml" Id="Rde967475bbf04afc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ac3f58ade544a7" /><Relationship Type="http://schemas.openxmlformats.org/officeDocument/2006/relationships/notesSlide" Target="/ppt/notesSlides/notesSlide39.xml" Id="R1d56b0139a4b49dd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b324e809fa4399" /><Relationship Type="http://schemas.openxmlformats.org/officeDocument/2006/relationships/notesSlide" Target="/ppt/notesSlides/notesSlide40.xml" Id="Ra5fbca0043744131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0c8315257b4c22" /><Relationship Type="http://schemas.openxmlformats.org/officeDocument/2006/relationships/notesSlide" Target="/ppt/notesSlides/notesSlide41.xml" Id="R4bb6bb22508c4271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6048bf220b495d" /><Relationship Type="http://schemas.openxmlformats.org/officeDocument/2006/relationships/notesSlide" Target="/ppt/notesSlides/notesSlide42.xml" Id="R879a38f59d9943c1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bec569b0414664" /><Relationship Type="http://schemas.openxmlformats.org/officeDocument/2006/relationships/image" Target="/ppt/media/image10.jpeg" Id="R562f293f263a42e7" /><Relationship Type="http://schemas.openxmlformats.org/officeDocument/2006/relationships/notesSlide" Target="/ppt/notesSlides/notesSlide43.xml" Id="R2a6212d77f8d43e4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212c156c2b4677" /><Relationship Type="http://schemas.openxmlformats.org/officeDocument/2006/relationships/hyperlink" Target="https://stat.unido.org/publications/international-yearbook-industrial-statistics-2025" TargetMode="External" Id="R4b9d625d394043b8" /><Relationship Type="http://schemas.openxmlformats.org/officeDocument/2006/relationships/hyperlink" Target="https://stat.unido.org/publications/international-yearbook-industrial-statistics-2025" TargetMode="External" Id="R78bb1fbaa3f4465b" /><Relationship Type="http://schemas.openxmlformats.org/officeDocument/2006/relationships/hyperlink" Target="https://stat.unido.org/publications/international-yearbook-industrial-statistics-2025" TargetMode="External" Id="R63e2a000d8a44030" /><Relationship Type="http://schemas.openxmlformats.org/officeDocument/2006/relationships/hyperlink" Target="https://stat.unido.org/publications/international-yearbook-industrial-statistics-2025" TargetMode="External" Id="R15754e5c14db4832" /><Relationship Type="http://schemas.openxmlformats.org/officeDocument/2006/relationships/hyperlink" Target="https://ifr.org/ifr-press-releases/five-million-robots-now-operate-in-factories-globally" TargetMode="External" Id="R3b7fcc0179514776" /><Relationship Type="http://schemas.openxmlformats.org/officeDocument/2006/relationships/hyperlink" Target="https://ifr.org/downloads/press_docs/EN-2026-SEP-24-IFR_Press_Release_WR-CHINA.pdf" TargetMode="External" Id="Rfab76be4f246408a" /><Relationship Type="http://schemas.openxmlformats.org/officeDocument/2006/relationships/hyperlink" Target="https://ifr.org/ifr-press-releases/five-million-robots-now-operate-in-factories-globally" TargetMode="External" Id="Rb25cf44a12d24675" /><Relationship Type="http://schemas.openxmlformats.org/officeDocument/2006/relationships/hyperlink" Target="https://ifr.org/downloads/press_docs/EN-2026-SEP-24-IFR_Press_Release_WR-CHINA.pdf" TargetMode="External" Id="R749ae614c6f84e4e" /><Relationship Type="http://schemas.openxmlformats.org/officeDocument/2006/relationships/hyperlink" Target="https://ifr.org/ifr-press-releases/news/robot-density-surges-in-europe-asia-and-americas" TargetMode="External" Id="R2c2b48b214694d34" /><Relationship Type="http://schemas.openxmlformats.org/officeDocument/2006/relationships/hyperlink" Target="https://ifr.org/downloads/press_docs/EN-2026-SEP-24-IFR_Press_Release_WR-USA.pdf" TargetMode="External" Id="R89c99d2471c14c3b" /><Relationship Type="http://schemas.openxmlformats.org/officeDocument/2006/relationships/hyperlink" Target="https://ifr.org/ifr-press-releases/news/robot-density-surges-in-europe-asia-and-americas" TargetMode="External" Id="R832aabb24616478d" /><Relationship Type="http://schemas.openxmlformats.org/officeDocument/2006/relationships/hyperlink" Target="https://ifr.org/downloads/press_docs/EN-2026-SEP-24-IFR_Press_Release_WR-USA.pdf" TargetMode="External" Id="R4f72de23cb4e4040" /><Relationship Type="http://schemas.openxmlformats.org/officeDocument/2006/relationships/hyperlink" Target="https://www.iea.org/reports/global-ev-outlook-2026/executive-summary" TargetMode="External" Id="Rf744c4ef720b4109" /><Relationship Type="http://schemas.openxmlformats.org/officeDocument/2006/relationships/hyperlink" Target="https://www.iea.org/reports/global-ev-outlook-2026/manufacturing-and-trade" TargetMode="External" Id="R457c3a25d54c419d" /><Relationship Type="http://schemas.openxmlformats.org/officeDocument/2006/relationships/hyperlink" Target="https://www.iea.org/reports/global-ev-outlook-2026/executive-summary" TargetMode="External" Id="Re462fa60175b4ec1" /><Relationship Type="http://schemas.openxmlformats.org/officeDocument/2006/relationships/hyperlink" Target="https://www.iea.org/reports/global-ev-outlook-2026/manufacturing-and-trade" TargetMode="External" Id="R688c52fd9ed6442c" /><Relationship Type="http://schemas.openxmlformats.org/officeDocument/2006/relationships/hyperlink" Target="https://hai.stanford.edu/ai-index/2026-ai-index-report" TargetMode="External" Id="Rf028b3dd7e7442c3" /><Relationship Type="http://schemas.openxmlformats.org/officeDocument/2006/relationships/hyperlink" Target="https://hai.stanford.edu/ai-index/2026-ai-index-report" TargetMode="External" Id="R30607fd3bf114fe9" /><Relationship Type="http://schemas.openxmlformats.org/officeDocument/2006/relationships/hyperlink" Target="https://hai.stanford.edu/ai-index/2026-ai-index-report" TargetMode="External" Id="R9b12b3a987c94fec" /><Relationship Type="http://schemas.openxmlformats.org/officeDocument/2006/relationships/hyperlink" Target="https://hai.stanford.edu/ai-index/2026-ai-index-report" TargetMode="External" Id="R2ce03ec888e54805" /><Relationship Type="http://schemas.openxmlformats.org/officeDocument/2006/relationships/notesSlide" Target="/ppt/notesSlides/notesSlide44.xml" Id="Rfcf216268c69482a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f93ae5146f4150" /><Relationship Type="http://schemas.openxmlformats.org/officeDocument/2006/relationships/hyperlink" Target="https://www.weforum.org/media/global-lighthouse-network-2025-world-economic-forum-recognizes-companies-transforming-manufacturing-through-innovation/" TargetMode="External" Id="R8658d047e6ec4fd5" /><Relationship Type="http://schemas.openxmlformats.org/officeDocument/2006/relationships/hyperlink" Target="https://www.weforum.org/media/global-lighthouse-network-2025-world-economic-forum-recognizes-companies-transforming-manufacturing-through-innovation/" TargetMode="External" Id="R7f5fddc7f2b44bb8" /><Relationship Type="http://schemas.openxmlformats.org/officeDocument/2006/relationships/hyperlink" Target="https://www.weforum.org/media/global-lighthouse-network-2025-world-economic-forum-recognizes-companies-transforming-manufacturing-through-innovation/" TargetMode="External" Id="R402464a6e64a4e67" /><Relationship Type="http://schemas.openxmlformats.org/officeDocument/2006/relationships/hyperlink" Target="https://www.weforum.org/media/global-lighthouse-network-2025-world-economic-forum-recognizes-companies-transforming-manufacturing-through-innovation/" TargetMode="External" Id="Rfc80ba402f3b4790" /><Relationship Type="http://schemas.openxmlformats.org/officeDocument/2006/relationships/hyperlink" Target="https://www.weforum.org/media/global-lighthouse-network-2025-world-economic-forum-recognizes-companies-transforming-manufacturing-through-innovation/" TargetMode="External" Id="Rc55020657e3d41be" /><Relationship Type="http://schemas.openxmlformats.org/officeDocument/2006/relationships/hyperlink" Target="https://www.weforum.org/media/global-lighthouse-network-2025-world-economic-forum-recognizes-companies-transforming-manufacturing-through-innovation/" TargetMode="External" Id="Rf54071e1d7af4126" /><Relationship Type="http://schemas.openxmlformats.org/officeDocument/2006/relationships/hyperlink" Target="https://www.weforum.org/media/global-lighthouse-network-2025-world-economic-forum-recognizes-companies-transforming-manufacturing-through-innovation/" TargetMode="External" Id="Radbb8ff48f1d447e" /><Relationship Type="http://schemas.openxmlformats.org/officeDocument/2006/relationships/hyperlink" Target="https://www.weforum.org/media/global-lighthouse-network-2025-world-economic-forum-recognizes-companies-transforming-manufacturing-through-innovation/" TargetMode="External" Id="Rebd2fe5e6c0343e5" /><Relationship Type="http://schemas.openxmlformats.org/officeDocument/2006/relationships/hyperlink" Target="https://www.unitree.com/g1/" TargetMode="External" Id="R09b3df2e199440ea" /><Relationship Type="http://schemas.openxmlformats.org/officeDocument/2006/relationships/hyperlink" Target="https://www.unitree.com/g1/" TargetMode="External" Id="R7c36cdf498994be7" /><Relationship Type="http://schemas.openxmlformats.org/officeDocument/2006/relationships/hyperlink" Target="https://www.unitree.com/g1/" TargetMode="External" Id="R57eda0c02c40422b" /><Relationship Type="http://schemas.openxmlformats.org/officeDocument/2006/relationships/hyperlink" Target="https://www.unitree.com/g1/" TargetMode="External" Id="Rfd768529231046b1" /><Relationship Type="http://schemas.openxmlformats.org/officeDocument/2006/relationships/hyperlink" Target="https://www.xiaomiev.com/hyperfactory" TargetMode="External" Id="R1d352539f2d34242" /><Relationship Type="http://schemas.openxmlformats.org/officeDocument/2006/relationships/hyperlink" Target="https://www.xiaomiev.com/hyperfactory" TargetMode="External" Id="Rffb176bcc8cc49eb" /><Relationship Type="http://schemas.openxmlformats.org/officeDocument/2006/relationships/hyperlink" Target="https://www.xiaomiev.com/hyperfactory" TargetMode="External" Id="R0ce70e93f7f9430a" /><Relationship Type="http://schemas.openxmlformats.org/officeDocument/2006/relationships/hyperlink" Target="https://www.xiaomiev.com/hyperfactory" TargetMode="External" Id="Raf80329d2c914fb1" /><Relationship Type="http://schemas.openxmlformats.org/officeDocument/2006/relationships/hyperlink" Target="https://www.iea.org/reports/global-ev-outlook-2026/manufacturing-and-trade" TargetMode="External" Id="R28ca5dcd26124528" /><Relationship Type="http://schemas.openxmlformats.org/officeDocument/2006/relationships/hyperlink" Target="https://www.iea.org/reports/global-ev-outlook-2026/manufacturing-and-trade" TargetMode="External" Id="R30358c2591b745c0" /><Relationship Type="http://schemas.openxmlformats.org/officeDocument/2006/relationships/hyperlink" Target="https://www.iea.org/reports/global-ev-outlook-2026/manufacturing-and-trade" TargetMode="External" Id="R1b80427c4f384747" /><Relationship Type="http://schemas.openxmlformats.org/officeDocument/2006/relationships/hyperlink" Target="https://www.iea.org/reports/global-ev-outlook-2026/manufacturing-and-trade" TargetMode="External" Id="R91bd5adb70d6423b" /><Relationship Type="http://schemas.openxmlformats.org/officeDocument/2006/relationships/notesSlide" Target="/ppt/notesSlides/notesSlide45.xml" Id="Rf6589b6d6a3c4b22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0bd60d4bf74403" /><Relationship Type="http://schemas.openxmlformats.org/officeDocument/2006/relationships/hyperlink" Target="https://www.cac.gov.cn/2025-08/27/c_1758018277755538.htm" TargetMode="External" Id="R99fe9d2012c94eee" /><Relationship Type="http://schemas.openxmlformats.org/officeDocument/2006/relationships/hyperlink" Target="https://www.cac.gov.cn/2025-08/27/c_1758018277755538.htm" TargetMode="External" Id="Ra5a7e27a2da64a36" /><Relationship Type="http://schemas.openxmlformats.org/officeDocument/2006/relationships/hyperlink" Target="https://www.cac.gov.cn/2025-08/27/c_1758018277755538.htm" TargetMode="External" Id="Rae6b3cce44b24ada" /><Relationship Type="http://schemas.openxmlformats.org/officeDocument/2006/relationships/hyperlink" Target="https://www.cac.gov.cn/2025-08/27/c_1758018277755538.htm" TargetMode="External" Id="R1ebb9fd071054a01" /><Relationship Type="http://schemas.openxmlformats.org/officeDocument/2006/relationships/hyperlink" Target="https://cset.georgetown.edu/publication/china-ai-plus-opinions-2025/" TargetMode="External" Id="Rcb44e4c9f9244efe" /><Relationship Type="http://schemas.openxmlformats.org/officeDocument/2006/relationships/hyperlink" Target="https://cset.georgetown.edu/publication/china-ai-plus-opinions-2025/" TargetMode="External" Id="Reefffe20117c4dfe" /><Relationship Type="http://schemas.openxmlformats.org/officeDocument/2006/relationships/hyperlink" Target="https://cset.georgetown.edu/publication/china-ai-plus-opinions-2025/" TargetMode="External" Id="R68324708f2124efd" /><Relationship Type="http://schemas.openxmlformats.org/officeDocument/2006/relationships/hyperlink" Target="https://cset.georgetown.edu/publication/china-ai-plus-opinions-2025/" TargetMode="External" Id="R412449f9a3fd4912" /><Relationship Type="http://schemas.openxmlformats.org/officeDocument/2006/relationships/hyperlink" Target="https://www.moe.gov.cn/jyb_xwfb/xw_zt/moe_357/2026/2026_zt03/yw/202603/t20260314_1430877.html" TargetMode="External" Id="Rf6d9983a4ec048bd" /><Relationship Type="http://schemas.openxmlformats.org/officeDocument/2006/relationships/hyperlink" Target="https://www.ndrc.gov.cn/fggz/fzzlgh/gjfzgh/202603/U020260317369114704096.pdf" TargetMode="External" Id="Rb838103e75134ab2" /><Relationship Type="http://schemas.openxmlformats.org/officeDocument/2006/relationships/hyperlink" Target="https://www.moe.gov.cn/jyb_xwfb/xw_zt/moe_357/2026/2026_zt03/yw/202603/t20260314_1430877.html" TargetMode="External" Id="Rc40d1cee48e140c5" /><Relationship Type="http://schemas.openxmlformats.org/officeDocument/2006/relationships/hyperlink" Target="https://www.ndrc.gov.cn/fggz/fzzlgh/gjfzgh/202603/U020260317369114704096.pdf" TargetMode="External" Id="Rc22c559f8aca4986" /><Relationship Type="http://schemas.openxmlformats.org/officeDocument/2006/relationships/hyperlink" Target="https://www.worldbank.org/en/news/press-release/2026/07/07/rebalancing-growth-china-economic-update" TargetMode="External" Id="Re9650e26e0b04316" /><Relationship Type="http://schemas.openxmlformats.org/officeDocument/2006/relationships/hyperlink" Target="https://www.worldbank.org/en/news/press-release/2026/07/07/rebalancing-growth-china-economic-update" TargetMode="External" Id="Rfdbea6a6cbb64d12" /><Relationship Type="http://schemas.openxmlformats.org/officeDocument/2006/relationships/hyperlink" Target="https://www.worldbank.org/en/news/press-release/2026/07/07/rebalancing-growth-china-economic-update" TargetMode="External" Id="R3db90200af49498f" /><Relationship Type="http://schemas.openxmlformats.org/officeDocument/2006/relationships/hyperlink" Target="https://www.worldbank.org/en/news/press-release/2026/07/07/rebalancing-growth-china-economic-update" TargetMode="External" Id="R3ccde0c3763b4b6b" /><Relationship Type="http://schemas.openxmlformats.org/officeDocument/2006/relationships/hyperlink" Target="https://sgevatschnaider.github.io/Inteligencia-Artificial-y-Rob-tica-en-China/recursos/Capital Rob&#243;tico vs Capital Com&#250;n &#8212; Efecto del Data Flywheel.html" TargetMode="External" Id="Ra463660b447f400c" /><Relationship Type="http://schemas.openxmlformats.org/officeDocument/2006/relationships/hyperlink" Target="https://sgevatschnaider.github.io/Inteligencia-Artificial-y-Rob-tica-en-China/recursos/Capital%20Rob%C3%B3tico%20vs%20Capital%20Com%C3%BAn%20%E2%80%94%20Efecto%20del%20Data%20Flywheel.html" TargetMode="External" Id="Rbb054f97d9954f50" /><Relationship Type="http://schemas.openxmlformats.org/officeDocument/2006/relationships/hyperlink" Target="https://sgevatschnaider.github.io/Inteligencia-Artificial-y-Rob-tica-en-China/recursos/Capital Rob&#243;tico vs Capital Com&#250;n &#8212; Efecto del Data Flywheel.html" TargetMode="External" Id="R409c9bdd85a843ed" /><Relationship Type="http://schemas.openxmlformats.org/officeDocument/2006/relationships/hyperlink" Target="https://sgevatschnaider.github.io/Inteligencia-Artificial-y-Rob-tica-en-China/recursos/Capital%20Rob%C3%B3tico%20vs%20Capital%20Com%C3%BAn%20%E2%80%94%20Efecto%20del%20Data%20Flywheel.html" TargetMode="External" Id="Ra23d4e5ec3bb4817" /><Relationship Type="http://schemas.openxmlformats.org/officeDocument/2006/relationships/notesSlide" Target="/ppt/notesSlides/notesSlide46.xml" Id="Rbbc26e5436254fd6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405d27f9f04b5e" /><Relationship Type="http://schemas.openxmlformats.org/officeDocument/2006/relationships/image" Target="/ppt/media/image11.jpeg" Id="Re4fa5f3f59014bb1" /><Relationship Type="http://schemas.openxmlformats.org/officeDocument/2006/relationships/notesSlide" Target="/ppt/notesSlides/notesSlide47.xml" Id="Rf564a0dae4bf4f5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Participación mundial</c:v>
          </c:tx>
          <c:spPr>
            <a:solidFill xmlns:a="http://schemas.openxmlformats.org/drawingml/2006/main">
              <a:srgbClr val="168C8B"/>
            </a:solidFill>
          </c:spPr>
          <c:invertIfNegative val="0"/>
          <c:cat>
            <c:numRef>
              <c:f>'Chart Data'!$A$2:$A$3</c:f>
              <c:numCache>
                <c:formatCode>General</c:formatCode>
                <c:ptCount val="2"/>
                <c:pt idx="0">
                  <c:v>1990</c:v>
                </c:pt>
                <c:pt idx="1">
                  <c:v>2024</c:v>
                </c:pt>
              </c:numCache>
            </c:num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0.028</c:v>
                </c:pt>
                <c:pt idx="1">
                  <c:v>0.32</c:v>
                </c:pt>
              </c:numCache>
            </c:numRef>
          </c:val>
        </c:ser>
        <c:dLbls>
          <c:numFmt formatCode="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01D31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  <c:max val="0.4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AE3E8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788A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  <c:majorUnit val="0.1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D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94E5B239-40A6-409B-A410-E4F7F1FD38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0bb3f915084274"/>
          <a:srcRect xmlns:a="http://schemas.openxmlformats.org/drawingml/2006/main" l="16245" t="0" r="16245" b="0"/>
          <a:stretch xmlns:a="http://schemas.openxmlformats.org/drawingml/2006/main"/>
        </p:blipFill>
        <p:spPr>
          <a:xfrm xmlns:a="http://schemas.openxmlformats.org/drawingml/2006/main">
            <a:off x="5193792" y="0"/>
            <a:ext cx="699516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6867C7AF-D136-4313-A8A4-39D80E8D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33872" cy="6858000"/>
          </a:xfrm>
          <a:prstGeom xmlns:a="http://schemas.openxmlformats.org/drawingml/2006/main" prst="roundRect">
            <a:avLst>
              <a:gd name="adj" fmla="val 2508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12700">
            <a:solidFill>
              <a:srgbClr val="101D31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E37781A8-A50F-49CC-995E-3D01CB45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296" y="0"/>
            <a:ext cx="82296" cy="6858000"/>
          </a:xfrm>
          <a:prstGeom xmlns:a="http://schemas.openxmlformats.org/drawingml/2006/main" prst="roundRect">
            <a:avLst>
              <a:gd name="adj" fmla="val 177778"/>
            </a:avLst>
          </a:prstGeom>
          <a:solidFill xmlns:a="http://schemas.openxmlformats.org/drawingml/2006/main">
            <a:srgbClr val="D94F45"/>
          </a:solidFill>
          <a:ln xmlns:a="http://schemas.openxmlformats.org/drawingml/2006/main" w="12700">
            <a:solidFill>
              <a:srgbClr val="D94F45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6F65046C-7696-4629-AAB2-84226BD7E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" y="1261872"/>
            <a:ext cx="5029200" cy="8138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500" b="1" spc="150">
                <a:solidFill>
                  <a:srgbClr val="FFFFFF"/>
                </a:solidFill>
                <a:latin typeface="Aptos"/>
                <a:ea typeface="Aptos"/>
                <a:cs typeface="Aptos"/>
              </a:rPr>
              <a:t>CHINA</a:t>
            </a:r>
            <a:endParaRPr sz="55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9D732CF-1D8C-40A9-B3D1-3D876427B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" y="2084832"/>
            <a:ext cx="51206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TECNOLÓGICA</a:t>
            </a:r>
            <a:endParaRPr sz="43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D3CEF62C-02F4-428F-8739-CBEEC5E3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108960"/>
            <a:ext cx="4800600" cy="10789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00">
                <a:solidFill>
                  <a:srgbClr val="EAF0F4"/>
                </a:solidFill>
                <a:latin typeface="Aptos"/>
                <a:ea typeface="Aptos"/>
                <a:cs typeface="Aptos"/>
              </a:rPr>
              <a:t>De la fábrica del mundo</a:t>
            </a:r>
            <a:endParaRPr sz="2200"/>
          </a:p>
          <a:p xmlns:a="http://schemas.openxmlformats.org/drawingml/2006/main">
            <a:pPr marL="0" indent="0" algn="l">
              <a:buNone/>
            </a:pPr>
            <a:r>
              <a:rPr sz="2200">
                <a:solidFill>
                  <a:srgbClr val="EAF0F4"/>
                </a:solidFill>
                <a:latin typeface="Aptos"/>
                <a:ea typeface="Aptos"/>
                <a:cs typeface="Aptos"/>
              </a:rPr>
              <a:t>a la potencia tecnológica</a:t>
            </a:r>
            <a:endParaRPr sz="22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B216B32B-83C4-4982-934E-6381EB3C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5916168"/>
            <a:ext cx="456285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SERGIO GEVATSCHNAIDER</a:t>
            </a:r>
            <a:endParaRPr sz="1700"/>
          </a:p>
        </p:txBody>
      </p:sp>
      <p:sp>
        <p:nvSpPr>
          <p:cNvPr id="13" name="permanent-subject">
            <a:extLst xmlns:a="http://schemas.openxmlformats.org/drawingml/2006/main">
              <a:ext uri="{FF2B5EF4-FFF2-40B4-BE49-F238E27FC236}">
                <a16:creationId xmlns:a16="http://schemas.microsoft.com/office/drawing/2014/main" id="{B0BA445B-6A51-4E57-89C2-0A4FF6E0A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0125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C6E9E6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1">
                <a:solidFill>
                  <a:srgbClr val="C6E9E6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1">
                <a:solidFill>
                  <a:srgbClr val="C6E9E6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1">
                <a:solidFill>
                  <a:srgbClr val="C6E9E6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1">
                <a:solidFill>
                  <a:srgbClr val="C6E9E6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1">
                <a:solidFill>
                  <a:srgbClr val="C6E9E6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1">
                <a:solidFill>
                  <a:srgbClr val="C6E9E6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1">
                <a:solidFill>
                  <a:srgbClr val="C6E9E6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1">
                <a:solidFill>
                  <a:srgbClr val="C6E9E6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1">
                <a:solidFill>
                  <a:srgbClr val="C6E9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C6E9E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6E9E6"/>
                </a:solidFill>
                <a:latin typeface="Aptos"/>
                <a:ea typeface="Aptos"/>
                <a:cs typeface="Aptos"/>
              </a:rPr>
              <a:t>TRANSFORMACIÓN INDUSTRIAL</a:t>
            </a:r>
          </a:p>
        </p:txBody>
      </p:sp>
      <p:sp>
        <p:nvSpPr>
          <p:cNvPr id="14" name="illustration-label">
            <a:extLst xmlns:a="http://schemas.openxmlformats.org/drawingml/2006/main">
              <a:ext uri="{FF2B5EF4-FFF2-40B4-BE49-F238E27FC236}">
                <a16:creationId xmlns:a16="http://schemas.microsoft.com/office/drawing/2014/main" id="{1D3C5A14-8096-4658-9FF2-3D33E39D5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575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ILUSTRACIÓN CONCEPTUAL</a:t>
            </a:r>
          </a:p>
        </p:txBody>
      </p:sp>
    </p:spTree>
    <p:extLst>
      <p:ext uri="{BB962C8B-B14F-4D97-AF65-F5344CB8AC3E}">
        <p14:creationId xmlns:p14="http://schemas.microsoft.com/office/powerpoint/2010/main" val="5242549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950717F-A3EF-4095-9FA1-9A24DE73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 spc="130">
                <a:solidFill>
                  <a:srgbClr val="168C8B"/>
                </a:solidFill>
                <a:latin typeface="Aptos"/>
                <a:ea typeface="Aptos"/>
                <a:cs typeface="Aptos"/>
              </a:rPr>
              <a:t>LA PREGUNTA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F65CD50-200D-464F-A9F2-57350C24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¿Cómo se construye una potencia tecnológica?</a:t>
            </a:r>
            <a:endParaRPr sz="2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5A140F7-16B8-4113-8863-1C98D32D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65788A"/>
                </a:solidFill>
                <a:latin typeface="Aptos"/>
                <a:ea typeface="Aptos"/>
                <a:cs typeface="Aptos"/>
              </a:rPr>
              <a:t>La respuesta no cabe en una sola invención, una empresa ni una política.</a:t>
            </a:r>
            <a:endParaRPr sz="14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9268CD6-F951-4E13-90A5-877614F1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5330952" cy="1371600"/>
          </a:xfrm>
          <a:prstGeom xmlns:a="http://schemas.openxmlformats.org/drawingml/2006/main" prst="roundRect">
            <a:avLst>
              <a:gd name="adj" fmla="val 11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5E285ED7-9EDF-4D5A-8B72-9D88008A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176272"/>
            <a:ext cx="411480" cy="411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F45"/>
          </a:solidFill>
          <a:ln xmlns:a="http://schemas.openxmlformats.org/drawingml/2006/main" w="12700">
            <a:solidFill>
              <a:srgbClr val="D94F45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336147E-9B89-4359-AD98-051D610E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235708"/>
            <a:ext cx="4114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  <a:endParaRPr sz="11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C519D07-901D-4215-8F16-BA5A0D26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168" y="2212848"/>
            <a:ext cx="429768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INVENTAR</a:t>
            </a:r>
            <a:endParaRPr sz="19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A727022-B990-45B7-AC82-91442054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168" y="2706624"/>
            <a:ext cx="4251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>
                <a:solidFill>
                  <a:srgbClr val="65788A"/>
                </a:solidFill>
                <a:latin typeface="Aptos"/>
                <a:ea typeface="Aptos"/>
                <a:cs typeface="Aptos"/>
              </a:rPr>
              <a:t>Descubrir, diseñar y desarrollar.</a:t>
            </a:r>
            <a:endParaRPr sz="15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EB03A1DB-FF08-42DD-869E-559C40FD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65960"/>
            <a:ext cx="5330952" cy="1371600"/>
          </a:xfrm>
          <a:prstGeom xmlns:a="http://schemas.openxmlformats.org/drawingml/2006/main" prst="roundRect">
            <a:avLst>
              <a:gd name="adj" fmla="val 11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048DA89-45F6-4BB1-98D1-5842710C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792" y="2176272"/>
            <a:ext cx="411480" cy="411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C8B"/>
          </a:solidFill>
          <a:ln xmlns:a="http://schemas.openxmlformats.org/drawingml/2006/main" w="12700">
            <a:solidFill>
              <a:srgbClr val="168C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FBB8987-E369-4754-B94D-7924E29B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792" y="2235708"/>
            <a:ext cx="4114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  <a:endParaRPr sz="11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87D8B07-7CFE-4201-ABCD-6DFBE644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212848"/>
            <a:ext cx="429768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FABRICAR</a:t>
            </a:r>
            <a:endParaRPr sz="19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5FF9497-86AD-4698-9272-15A111A2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706624"/>
            <a:ext cx="4251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>
                <a:solidFill>
                  <a:srgbClr val="65788A"/>
                </a:solidFill>
                <a:latin typeface="Aptos"/>
                <a:ea typeface="Aptos"/>
                <a:cs typeface="Aptos"/>
              </a:rPr>
              <a:t>Convertir ideas en productos fiables.</a:t>
            </a:r>
            <a:endParaRPr sz="15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3059BA50-6276-4BD6-941D-E6F1A435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566160"/>
            <a:ext cx="5330952" cy="1371600"/>
          </a:xfrm>
          <a:prstGeom xmlns:a="http://schemas.openxmlformats.org/drawingml/2006/main" prst="roundRect">
            <a:avLst>
              <a:gd name="adj" fmla="val 11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217EDEC1-A0BE-45C0-980E-19BB1AC0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3776472"/>
            <a:ext cx="411480" cy="411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B50"/>
          </a:solidFill>
          <a:ln xmlns:a="http://schemas.openxmlformats.org/drawingml/2006/main" w="12700">
            <a:solidFill>
              <a:srgbClr val="E6AB5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5767D90-B3E4-40F0-9F74-0B090EA6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3835908"/>
            <a:ext cx="4114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  <a:endParaRPr sz="11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F7E3FC8E-AF21-465F-9EFC-B944A87C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168" y="3813048"/>
            <a:ext cx="429768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APRENDER</a:t>
            </a:r>
            <a:endParaRPr sz="19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9D896858-09B2-4784-A331-9C3F40A0B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168" y="4306824"/>
            <a:ext cx="4251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>
                <a:solidFill>
                  <a:srgbClr val="65788A"/>
                </a:solidFill>
                <a:latin typeface="Aptos"/>
                <a:ea typeface="Aptos"/>
                <a:cs typeface="Aptos"/>
              </a:rPr>
              <a:t>Mejorar con cada ciclo productivo.</a:t>
            </a:r>
            <a:endParaRPr sz="15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5DCF5E84-E029-44A5-9141-29777D99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66160"/>
            <a:ext cx="5330952" cy="1371600"/>
          </a:xfrm>
          <a:prstGeom xmlns:a="http://schemas.openxmlformats.org/drawingml/2006/main" prst="roundRect">
            <a:avLst>
              <a:gd name="adj" fmla="val 11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1247CFD3-1170-48E7-AB3C-5D1B51185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792" y="3776472"/>
            <a:ext cx="411480" cy="411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3954"/>
          </a:solidFill>
          <a:ln xmlns:a="http://schemas.openxmlformats.org/drawingml/2006/main" w="12700">
            <a:solidFill>
              <a:srgbClr val="203954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76BC4E74-8CD3-4664-8E5E-CB5229C9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792" y="3835908"/>
            <a:ext cx="4114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  <a:endParaRPr sz="11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3DB24DA1-3062-4339-8BAE-E81A7463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3813048"/>
            <a:ext cx="429768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COORDINAR</a:t>
            </a:r>
            <a:endParaRPr sz="19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3B8508CC-3909-4D59-B66E-5D25B02B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4306824"/>
            <a:ext cx="4251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>
                <a:solidFill>
                  <a:srgbClr val="65788A"/>
                </a:solidFill>
                <a:latin typeface="Aptos"/>
                <a:ea typeface="Aptos"/>
                <a:cs typeface="Aptos"/>
              </a:rPr>
              <a:t>Conectar talento, proveedores y capital.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4875507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3AA56C0-78D9-412A-A4F4-D2B6A4212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 spc="130">
                <a:solidFill>
                  <a:srgbClr val="168C8B"/>
                </a:solidFill>
                <a:latin typeface="Aptos"/>
                <a:ea typeface="Aptos"/>
                <a:cs typeface="Aptos"/>
              </a:rPr>
              <a:t>RECORRIDO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B850B4D-4B51-4BB8-88C3-4526FDF1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Cinco preguntas sobre la transformación industrial</a:t>
            </a:r>
            <a:endParaRPr sz="2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FE099B4-6260-4867-87F9-A81F020E3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65788A"/>
                </a:solidFill>
                <a:latin typeface="Aptos"/>
                <a:ea typeface="Aptos"/>
                <a:cs typeface="Aptos"/>
              </a:rPr>
              <a:t>Historia, casos industriales y ejercicios para examinar mecanismos.</a:t>
            </a:r>
            <a:endParaRPr sz="14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8F77972-38B3-44F7-A844-EC58C4E23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20240"/>
            <a:ext cx="10863072" cy="65836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12700">
            <a:solidFill>
              <a:srgbClr val="F1F4F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7AB1365-15A0-4FFD-B760-7CC6F90D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048256"/>
            <a:ext cx="5943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 b="1">
                <a:solidFill>
                  <a:srgbClr val="D94F45"/>
                </a:solidFill>
                <a:latin typeface="Aptos"/>
                <a:ea typeface="Aptos"/>
                <a:cs typeface="Aptos"/>
              </a:rPr>
              <a:t>01</a:t>
            </a:r>
            <a:endParaRPr sz="21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A14664C-144C-439A-86E7-09BBDBFC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07568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¿De dónde viene la capacidad?</a:t>
            </a:r>
            <a:endParaRPr sz="17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46CBAF3-361C-4E48-93FC-C060284F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2121408"/>
            <a:ext cx="283464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350"/>
            </a:defPPr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168C8B"/>
                </a:solidFill>
                <a:latin typeface="Aptos"/>
                <a:ea typeface="Aptos"/>
                <a:cs typeface="Aptos"/>
              </a:rPr>
              <a:t>Historia + UNIDO</a:t>
            </a:r>
            <a:endParaRPr sz="12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0A4F07F-86B4-46C3-B31C-F5BF22C7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15768"/>
            <a:ext cx="10863072" cy="65836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6F12F60-8EB1-4AB0-8BEE-1C48229CB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843784"/>
            <a:ext cx="5943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 b="1">
                <a:solidFill>
                  <a:srgbClr val="D94F45"/>
                </a:solidFill>
                <a:latin typeface="Aptos"/>
                <a:ea typeface="Aptos"/>
                <a:cs typeface="Aptos"/>
              </a:rPr>
              <a:t>02</a:t>
            </a:r>
            <a:endParaRPr sz="21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5C9995B-01F8-49CE-8A1C-6C9015513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871216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¿Cómo funciona una fábrica avanzada?</a:t>
            </a:r>
            <a:endParaRPr sz="17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EC47048-D0BA-486D-93A7-094C2CD59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2916936"/>
            <a:ext cx="283464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350"/>
            </a:defPPr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168C8B"/>
                </a:solidFill>
                <a:latin typeface="Aptos"/>
                <a:ea typeface="Aptos"/>
                <a:cs typeface="Aptos"/>
              </a:rPr>
              <a:t>Shougang + Midea</a:t>
            </a:r>
            <a:endParaRPr sz="12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9A3F4AE2-D392-417E-8E57-1F82536E9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511296"/>
            <a:ext cx="10863072" cy="65836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12700">
            <a:solidFill>
              <a:srgbClr val="F1F4F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B7C6E5F-B897-444D-B4CF-7908F48C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639312"/>
            <a:ext cx="5943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 b="1">
                <a:solidFill>
                  <a:srgbClr val="D94F45"/>
                </a:solidFill>
                <a:latin typeface="Aptos"/>
                <a:ea typeface="Aptos"/>
                <a:cs typeface="Aptos"/>
              </a:rPr>
              <a:t>03</a:t>
            </a:r>
            <a:endParaRPr sz="21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725595D7-B25D-42A2-9ACB-563B9948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3666744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¿Por qué importan los robots?</a:t>
            </a:r>
            <a:endParaRPr sz="17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5101493-084D-4934-BCC2-8ACFBBF3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3712464"/>
            <a:ext cx="283464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350"/>
            </a:defPPr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168C8B"/>
                </a:solidFill>
                <a:latin typeface="Aptos"/>
                <a:ea typeface="Aptos"/>
                <a:cs typeface="Aptos"/>
              </a:rPr>
              <a:t>IFR + Unitree + Xiaomi</a:t>
            </a:r>
            <a:endParaRPr sz="12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B9BEC49A-487E-478F-B59B-080D4F12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06824"/>
            <a:ext cx="10863072" cy="65836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05F8ED1-F152-47B2-8EBD-782F87B5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4434840"/>
            <a:ext cx="5943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 b="1">
                <a:solidFill>
                  <a:srgbClr val="D94F45"/>
                </a:solidFill>
                <a:latin typeface="Aptos"/>
                <a:ea typeface="Aptos"/>
                <a:cs typeface="Aptos"/>
              </a:rPr>
              <a:t>04</a:t>
            </a:r>
            <a:endParaRPr sz="21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DFEC952-1CF1-4E26-B7A5-1F2F40A7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4462272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¿Qué busca China hacia 2030?</a:t>
            </a:r>
            <a:endParaRPr sz="17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A167941-9FFC-43C4-9158-28950C1C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4507992"/>
            <a:ext cx="283464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350"/>
            </a:defPPr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168C8B"/>
                </a:solidFill>
                <a:latin typeface="Aptos"/>
                <a:ea typeface="Aptos"/>
                <a:cs typeface="Aptos"/>
              </a:rPr>
              <a:t>AI+ + XV Plan</a:t>
            </a:r>
            <a:endParaRPr sz="12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3696CA8F-482B-4049-88C5-6E3C0AD5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102352"/>
            <a:ext cx="10863072" cy="65836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12700">
            <a:solidFill>
              <a:srgbClr val="F1F4F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A9B84DFD-F367-4BA7-AAE6-B5BD5882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5230368"/>
            <a:ext cx="5943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 b="1">
                <a:solidFill>
                  <a:srgbClr val="D94F45"/>
                </a:solidFill>
                <a:latin typeface="Aptos"/>
                <a:ea typeface="Aptos"/>
                <a:cs typeface="Aptos"/>
              </a:rPr>
              <a:t>05</a:t>
            </a:r>
            <a:endParaRPr sz="21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EC816BF1-8B8B-47C3-9CCC-C4341B74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5257800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¿Dónde aparecen los límites?</a:t>
            </a:r>
            <a:endParaRPr sz="17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513BCE43-7871-4112-B5CC-F7F847EE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5303520"/>
            <a:ext cx="283464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350"/>
            </a:defPPr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168C8B"/>
                </a:solidFill>
                <a:latin typeface="Aptos"/>
                <a:ea typeface="Aptos"/>
                <a:cs typeface="Aptos"/>
              </a:rPr>
              <a:t>Chips + demanda + exportaciones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519092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D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D6ABC686-8D62-4705-86A0-0629E72EC2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d159e7e48d4530"/>
          <a:srcRect xmlns:a="http://schemas.openxmlformats.org/drawingml/2006/main" l="22056" t="0" r="22056" b="0"/>
          <a:stretch xmlns:a="http://schemas.openxmlformats.org/drawingml/2006/main"/>
        </p:blipFill>
        <p:spPr>
          <a:xfrm xmlns:a="http://schemas.openxmlformats.org/drawingml/2006/main">
            <a:off x="6400800" y="0"/>
            <a:ext cx="57908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D8C4D87E-AC54-4F37-8742-6D651B11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0"/>
            <a:ext cx="109728" cy="6858000"/>
          </a:xfrm>
          <a:prstGeom xmlns:a="http://schemas.openxmlformats.org/drawingml/2006/main" prst="roundRect">
            <a:avLst>
              <a:gd name="adj" fmla="val 133333"/>
            </a:avLst>
          </a:prstGeom>
          <a:solidFill xmlns:a="http://schemas.openxmlformats.org/drawingml/2006/main">
            <a:srgbClr val="D94F45"/>
          </a:solidFill>
          <a:ln xmlns:a="http://schemas.openxmlformats.org/drawingml/2006/main" w="12700">
            <a:solidFill>
              <a:srgbClr val="D94F45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C7FB213C-67CC-41F1-B198-45AC3AAE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31520"/>
            <a:ext cx="5394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 spc="200">
                <a:solidFill>
                  <a:srgbClr val="E6AB50"/>
                </a:solidFill>
                <a:latin typeface="Aptos"/>
                <a:ea typeface="Aptos"/>
                <a:cs typeface="Aptos"/>
              </a:rPr>
              <a:t>MOVIMIENTO  01</a:t>
            </a:r>
            <a:endParaRPr sz="13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69FBC59-BEA6-4ADF-9A4B-98CBBC0D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07008"/>
            <a:ext cx="53949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00" b="1" spc="120">
                <a:solidFill>
                  <a:srgbClr val="C6E9E6"/>
                </a:solidFill>
                <a:latin typeface="Aptos"/>
                <a:ea typeface="Aptos"/>
                <a:cs typeface="Aptos"/>
              </a:rPr>
              <a:t>HISTORIA</a:t>
            </a:r>
            <a:endParaRPr sz="22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3C2E3D0-9FD4-424B-8EE8-0861C220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74520"/>
            <a:ext cx="5577840" cy="205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Antes de la IA,</a:t>
            </a:r>
            <a:endParaRPr sz="3900"/>
          </a:p>
          <a:p xmlns:a="http://schemas.openxmlformats.org/drawingml/2006/main">
            <a:pPr marL="0" indent="0" algn="l">
              <a:buNone/>
            </a:pPr>
            <a:r>
              <a:rPr sz="3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hubo industria</a:t>
            </a:r>
            <a:endParaRPr sz="39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AA8E89BD-A71E-4DE2-AFE5-F0B36981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09160"/>
            <a:ext cx="557784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>
                <a:solidFill>
                  <a:srgbClr val="DEE8F0"/>
                </a:solidFill>
                <a:latin typeface="Aptos"/>
                <a:ea typeface="Aptos"/>
                <a:cs typeface="Aptos"/>
              </a:rPr>
              <a:t>La ventaja actual descansa en décadas de inversión, aprendizaje y redes productivas.</a:t>
            </a:r>
            <a:endParaRPr sz="1700"/>
          </a:p>
        </p:txBody>
      </p:sp>
      <p:sp>
        <p:nvSpPr>
          <p:cNvPr id="8" name="illustration-caption-background">
            <a:extLst xmlns:a="http://schemas.openxmlformats.org/drawingml/2006/main">
              <a:ext uri="{FF2B5EF4-FFF2-40B4-BE49-F238E27FC236}">
                <a16:creationId xmlns:a16="http://schemas.microsoft.com/office/drawing/2014/main" id="{7B3593FC-D969-4BF9-99B8-0B11A59D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33350"/>
            <a:ext cx="17335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illustration-caption">
            <a:extLst xmlns:a="http://schemas.openxmlformats.org/drawingml/2006/main">
              <a:ext uri="{FF2B5EF4-FFF2-40B4-BE49-F238E27FC236}">
                <a16:creationId xmlns:a16="http://schemas.microsoft.com/office/drawing/2014/main" id="{3640066E-6794-4560-A1A9-2D9AC057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6192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ILUSTRACIÓN CONCEPTUAL</a:t>
            </a:r>
          </a:p>
        </p:txBody>
      </p:sp>
    </p:spTree>
    <p:extLst>
      <p:ext uri="{BB962C8B-B14F-4D97-AF65-F5344CB8AC3E}">
        <p14:creationId xmlns:p14="http://schemas.microsoft.com/office/powerpoint/2010/main" val="17526278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5BA57E4-4C70-4A1E-9393-F31573A8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 spc="130">
                <a:solidFill>
                  <a:srgbClr val="168C8B"/>
                </a:solidFill>
                <a:latin typeface="Aptos"/>
                <a:ea typeface="Aptos"/>
                <a:cs typeface="Aptos"/>
              </a:rPr>
              <a:t>TRAYECTORIA INDUSTRIAL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317DA0E-9122-4E07-99AE-E58427F2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Cuatro etapas, una acumulación continua</a:t>
            </a:r>
            <a:endParaRPr sz="2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4BA57AB-FE5E-4E96-9DCB-A56C65A9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65788A"/>
                </a:solidFill>
                <a:latin typeface="Aptos"/>
                <a:ea typeface="Aptos"/>
                <a:cs typeface="Aptos"/>
              </a:rPr>
              <a:t>Periodización docente: las etapas se superponen y no implican cambios abruptos.</a:t>
            </a:r>
            <a:endParaRPr sz="14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02B581F-97F2-47D9-9212-1172BE20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03120"/>
            <a:ext cx="2642616" cy="3383280"/>
          </a:xfrm>
          <a:prstGeom xmlns:a="http://schemas.openxmlformats.org/drawingml/2006/main" prst="roundRect">
            <a:avLst>
              <a:gd name="adj" fmla="val 5190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12700">
            <a:solidFill>
              <a:srgbClr val="F1F4F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385C197-AF66-4514-8ED2-FF211BE3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59152"/>
            <a:ext cx="1600200" cy="338328"/>
          </a:xfrm>
          <a:prstGeom xmlns:a="http://schemas.openxmlformats.org/drawingml/2006/main" prst="roundRect">
            <a:avLst>
              <a:gd name="adj" fmla="val 43243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12700">
            <a:solidFill>
              <a:srgbClr val="101D31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8BC7476-78E4-4611-B63B-F1062D2E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377440"/>
            <a:ext cx="1380744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40" b="1" spc="70">
                <a:solidFill>
                  <a:srgbClr val="FFFFFF"/>
                </a:solidFill>
                <a:latin typeface="Aptos"/>
                <a:ea typeface="Aptos"/>
                <a:cs typeface="Aptos"/>
              </a:rPr>
              <a:t>1978–2001</a:t>
            </a:r>
            <a:endParaRPr sz="104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1203912-AB82-4C41-86D4-691972B9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3054096"/>
            <a:ext cx="2331720" cy="832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3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Reformas y apertura</a:t>
            </a:r>
            <a:endParaRPr sz="23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F214E015-8EFE-41D7-8AAB-12988C53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123944"/>
            <a:ext cx="23317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CE4E9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B8EF42E-1614-4DA8-9E6E-1EB48902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4315968"/>
            <a:ext cx="2313432" cy="9052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60">
                <a:solidFill>
                  <a:srgbClr val="263849"/>
                </a:solidFill>
                <a:latin typeface="Aptos"/>
                <a:ea typeface="Aptos"/>
                <a:cs typeface="Aptos"/>
              </a:rPr>
              <a:t>Inversión, zonas especiales, capacidades iniciales</a:t>
            </a:r>
            <a:endParaRPr sz="136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0DD77AAB-B678-4DFF-A6D1-46D94BC95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2103120"/>
            <a:ext cx="2642616" cy="3383280"/>
          </a:xfrm>
          <a:prstGeom xmlns:a="http://schemas.openxmlformats.org/drawingml/2006/main" prst="roundRect">
            <a:avLst>
              <a:gd name="adj" fmla="val 51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E1B09EE2-2B74-4240-9F66-A35DCC05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2359152"/>
            <a:ext cx="1600200" cy="338328"/>
          </a:xfrm>
          <a:prstGeom xmlns:a="http://schemas.openxmlformats.org/drawingml/2006/main" prst="roundRect">
            <a:avLst>
              <a:gd name="adj" fmla="val 43243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12700">
            <a:solidFill>
              <a:srgbClr val="101D31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4D3615E-C71D-4A15-949B-0C4105F8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2377440"/>
            <a:ext cx="1380744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40" b="1" spc="70">
                <a:solidFill>
                  <a:srgbClr val="FFFFFF"/>
                </a:solidFill>
                <a:latin typeface="Aptos"/>
                <a:ea typeface="Aptos"/>
                <a:cs typeface="Aptos"/>
              </a:rPr>
              <a:t>2001–2014</a:t>
            </a:r>
            <a:endParaRPr sz="104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5E9FDA6-62D6-43D0-BE82-C91CDDE5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054096"/>
            <a:ext cx="2331720" cy="832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3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Integración mundial</a:t>
            </a:r>
            <a:endParaRPr sz="23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3BD42668-2216-4906-80A8-2803E306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4123944"/>
            <a:ext cx="23317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CE4E9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C466381C-D938-4C96-B2BB-FE1C708E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315968"/>
            <a:ext cx="2313432" cy="9052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60">
                <a:solidFill>
                  <a:srgbClr val="263849"/>
                </a:solidFill>
                <a:latin typeface="Aptos"/>
                <a:ea typeface="Aptos"/>
                <a:cs typeface="Aptos"/>
              </a:rPr>
              <a:t>Exportaciones, logística, proveedores y aprendizaje</a:t>
            </a:r>
            <a:endParaRPr sz="136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E24AA191-EBA1-4D28-869E-FC4CE6C0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2103120"/>
            <a:ext cx="2642616" cy="3383280"/>
          </a:xfrm>
          <a:prstGeom xmlns:a="http://schemas.openxmlformats.org/drawingml/2006/main" prst="roundRect">
            <a:avLst>
              <a:gd name="adj" fmla="val 5190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12700">
            <a:solidFill>
              <a:srgbClr val="F1F4F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619CE5C4-AFC2-45A8-AA7A-0F6F771B6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384" y="2359152"/>
            <a:ext cx="1600200" cy="338328"/>
          </a:xfrm>
          <a:prstGeom xmlns:a="http://schemas.openxmlformats.org/drawingml/2006/main" prst="roundRect">
            <a:avLst>
              <a:gd name="adj" fmla="val 43243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12700">
            <a:solidFill>
              <a:srgbClr val="101D31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D8ECFFE-E4DC-4F62-9DD3-8C72B119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2377440"/>
            <a:ext cx="1380744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40" b="1" spc="70">
                <a:solidFill>
                  <a:srgbClr val="FFFFFF"/>
                </a:solidFill>
                <a:latin typeface="Aptos"/>
                <a:ea typeface="Aptos"/>
                <a:cs typeface="Aptos"/>
              </a:rPr>
              <a:t>2015–2025</a:t>
            </a:r>
            <a:endParaRPr sz="104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0E41EB9D-DE4F-498E-955D-547387F9C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3054096"/>
            <a:ext cx="2331720" cy="832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3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Modernización industrial</a:t>
            </a:r>
            <a:endParaRPr sz="23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E1F4DFBE-5F46-41A3-993B-DC6AA44A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384" y="4123944"/>
            <a:ext cx="23317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CE4E9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C0AFC5AA-C7E5-468A-A1A2-317CD042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4315968"/>
            <a:ext cx="2313432" cy="9052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60">
                <a:solidFill>
                  <a:srgbClr val="263849"/>
                </a:solidFill>
                <a:latin typeface="Aptos"/>
                <a:ea typeface="Aptos"/>
                <a:cs typeface="Aptos"/>
              </a:rPr>
              <a:t>Automatización, I+D, baterías y equipamiento</a:t>
            </a:r>
            <a:endParaRPr sz="136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B055523D-FBC0-44F8-A96B-1C79E834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103120"/>
            <a:ext cx="2642616" cy="3383280"/>
          </a:xfrm>
          <a:prstGeom xmlns:a="http://schemas.openxmlformats.org/drawingml/2006/main" prst="roundRect">
            <a:avLst>
              <a:gd name="adj" fmla="val 51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706602EA-425E-40B2-BF56-189EFB96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456" y="2359152"/>
            <a:ext cx="1600200" cy="338328"/>
          </a:xfrm>
          <a:prstGeom xmlns:a="http://schemas.openxmlformats.org/drawingml/2006/main" prst="roundRect">
            <a:avLst>
              <a:gd name="adj" fmla="val 43243"/>
            </a:avLst>
          </a:prstGeom>
          <a:solidFill xmlns:a="http://schemas.openxmlformats.org/drawingml/2006/main">
            <a:srgbClr val="D94F45"/>
          </a:solidFill>
          <a:ln xmlns:a="http://schemas.openxmlformats.org/drawingml/2006/main" w="12700">
            <a:solidFill>
              <a:srgbClr val="D94F45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E4C98B7E-080D-4252-AF42-4D6C724D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3184" y="2377440"/>
            <a:ext cx="1380744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40" b="1" spc="70">
                <a:solidFill>
                  <a:srgbClr val="FFFFFF"/>
                </a:solidFill>
                <a:latin typeface="Aptos"/>
                <a:ea typeface="Aptos"/>
                <a:cs typeface="Aptos"/>
              </a:rPr>
              <a:t>2026–2030</a:t>
            </a:r>
            <a:endParaRPr sz="104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811B6884-8649-4B89-BE23-FEA8C1FF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1744" y="3054096"/>
            <a:ext cx="2331720" cy="832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3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Convergencia inteligente</a:t>
            </a:r>
            <a:endParaRPr sz="230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78727FAD-8E49-4CBD-ABFB-F0AC5572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456" y="4123944"/>
            <a:ext cx="23317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CE4E9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F9873491-E02A-4C5E-AC64-ECD00F9D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1744" y="4315968"/>
            <a:ext cx="2313432" cy="9052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60">
                <a:solidFill>
                  <a:srgbClr val="263849"/>
                </a:solidFill>
                <a:latin typeface="Aptos"/>
                <a:ea typeface="Aptos"/>
                <a:cs typeface="Aptos"/>
              </a:rPr>
              <a:t>AI+, IA industrial, robótica y autonomía selectiva</a:t>
            </a:r>
            <a:endParaRPr sz="1360"/>
          </a:p>
        </p:txBody>
      </p:sp>
    </p:spTree>
    <p:extLst>
      <p:ext uri="{BB962C8B-B14F-4D97-AF65-F5344CB8AC3E}">
        <p14:creationId xmlns:p14="http://schemas.microsoft.com/office/powerpoint/2010/main" val="317347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EEC754A-64A5-4BE0-AEE3-258BA566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 spc="130">
                <a:solidFill>
                  <a:srgbClr val="168C8B"/>
                </a:solidFill>
                <a:latin typeface="Aptos"/>
                <a:ea typeface="Aptos"/>
                <a:cs typeface="Aptos"/>
              </a:rPr>
              <a:t>EL GRAN CAMBIO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6C6214A-C01D-4140-A592-17DD17FC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De menos del 3 % a casi un tercio del mundo</a:t>
            </a:r>
            <a:endParaRPr sz="2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9114A66-2136-4F01-BCCE-7D183F9F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65788A"/>
                </a:solidFill>
                <a:latin typeface="Aptos"/>
                <a:ea typeface="Aptos"/>
                <a:cs typeface="Aptos"/>
              </a:rPr>
              <a:t>Participación de China en el valor agregado manufacturero mundial.</a:t>
            </a:r>
            <a:endParaRPr sz="1400"/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6E330DC6-B630-4A0B-80D2-8E5CD4FA790B}"/>
              </a:ext>
            </a:extLst>
          </p:cNvPr>
          <p:cNvGraphicFramePr/>
          <p:nvPr/>
        </p:nvGraphicFramePr>
        <p:xfrm>
          <a:off xmlns:a="http://schemas.openxmlformats.org/drawingml/2006/main" x="619125" y="2047875"/>
          <a:ext xmlns:a="http://schemas.openxmlformats.org/drawingml/2006/main" cx="7810500" cy="3286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b0b2ff8f1684ff7"/>
          </a:graphicData>
        </a:graphic>
      </p:graphicFrame>
      <p:sp>
        <p:nvSpPr>
          <p:cNvPr id="6" name="relative-change">
            <a:extLst xmlns:a="http://schemas.openxmlformats.org/drawingml/2006/main">
              <a:ext uri="{FF2B5EF4-FFF2-40B4-BE49-F238E27FC236}">
                <a16:creationId xmlns:a16="http://schemas.microsoft.com/office/drawing/2014/main" id="{DB1DE00B-595F-41D4-A2FF-B3B726C9F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238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250" b="1">
                <a:solidFill>
                  <a:srgbClr val="168C8B"/>
                </a:solidFill>
                <a:latin typeface="Aptos"/>
                <a:ea typeface="Aptos"/>
                <a:cs typeface="Aptos"/>
              </a:defRPr>
            </a:defPPr>
            <a:lvl1pPr algn="l">
              <a:defRPr sz="5250" b="1">
                <a:solidFill>
                  <a:srgbClr val="168C8B"/>
                </a:solidFill>
                <a:latin typeface="Aptos"/>
                <a:ea typeface="Aptos"/>
                <a:cs typeface="Aptos"/>
              </a:defRPr>
            </a:lvl1pPr>
            <a:lvl2pPr algn="l">
              <a:defRPr sz="5250" b="1">
                <a:solidFill>
                  <a:srgbClr val="168C8B"/>
                </a:solidFill>
                <a:latin typeface="Aptos"/>
                <a:ea typeface="Aptos"/>
                <a:cs typeface="Aptos"/>
              </a:defRPr>
            </a:lvl2pPr>
            <a:lvl3pPr algn="l">
              <a:defRPr sz="5250" b="1">
                <a:solidFill>
                  <a:srgbClr val="168C8B"/>
                </a:solidFill>
                <a:latin typeface="Aptos"/>
                <a:ea typeface="Aptos"/>
                <a:cs typeface="Aptos"/>
              </a:defRPr>
            </a:lvl3pPr>
            <a:lvl4pPr algn="l">
              <a:defRPr sz="5250" b="1">
                <a:solidFill>
                  <a:srgbClr val="168C8B"/>
                </a:solidFill>
                <a:latin typeface="Aptos"/>
                <a:ea typeface="Aptos"/>
                <a:cs typeface="Aptos"/>
              </a:defRPr>
            </a:lvl4pPr>
            <a:lvl5pPr algn="l">
              <a:defRPr sz="5250" b="1">
                <a:solidFill>
                  <a:srgbClr val="168C8B"/>
                </a:solidFill>
                <a:latin typeface="Aptos"/>
                <a:ea typeface="Aptos"/>
                <a:cs typeface="Aptos"/>
              </a:defRPr>
            </a:lvl5pPr>
            <a:lvl6pPr algn="l">
              <a:defRPr sz="5250" b="1">
                <a:solidFill>
                  <a:srgbClr val="168C8B"/>
                </a:solidFill>
                <a:latin typeface="Aptos"/>
                <a:ea typeface="Aptos"/>
                <a:cs typeface="Aptos"/>
              </a:defRPr>
            </a:lvl6pPr>
            <a:lvl7pPr algn="l">
              <a:defRPr sz="5250" b="1">
                <a:solidFill>
                  <a:srgbClr val="168C8B"/>
                </a:solidFill>
                <a:latin typeface="Aptos"/>
                <a:ea typeface="Aptos"/>
                <a:cs typeface="Aptos"/>
              </a:defRPr>
            </a:lvl7pPr>
            <a:lvl8pPr algn="l">
              <a:defRPr sz="5250" b="1">
                <a:solidFill>
                  <a:srgbClr val="168C8B"/>
                </a:solidFill>
                <a:latin typeface="Aptos"/>
                <a:ea typeface="Aptos"/>
                <a:cs typeface="Aptos"/>
              </a:defRPr>
            </a:lvl8pPr>
            <a:lvl9pPr algn="l">
              <a:defRPr sz="5250" b="1">
                <a:solidFill>
                  <a:srgbClr val="168C8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5250" b="1">
                <a:solidFill>
                  <a:srgbClr val="168C8B"/>
                </a:solidFill>
                <a:latin typeface="Aptos"/>
                <a:ea typeface="Aptos"/>
                <a:cs typeface="Aptos"/>
              </a:defRPr>
            </a:pPr>
            <a:r>
              <a:rPr sz="5250" b="1">
                <a:solidFill>
                  <a:srgbClr val="168C8B"/>
                </a:solidFill>
                <a:latin typeface="Aptos"/>
                <a:ea typeface="Aptos"/>
                <a:cs typeface="Aptos"/>
              </a:rPr>
              <a:t>×11,4</a:t>
            </a:r>
          </a:p>
        </p:txBody>
      </p:sp>
      <p:sp>
        <p:nvSpPr>
          <p:cNvPr id="7" name="relative-change-caption">
            <a:extLst xmlns:a="http://schemas.openxmlformats.org/drawingml/2006/main">
              <a:ext uri="{FF2B5EF4-FFF2-40B4-BE49-F238E27FC236}">
                <a16:creationId xmlns:a16="http://schemas.microsoft.com/office/drawing/2014/main" id="{825DE2E8-56BB-4487-B4E6-DF818066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2425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101D31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101D31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101D31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101D31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101D31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101D31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101D31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101D31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101D31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101D31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01D3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01D31"/>
                </a:solidFill>
                <a:latin typeface="Aptos"/>
                <a:ea typeface="Aptos"/>
                <a:cs typeface="Aptos"/>
              </a:rPr>
              <a:t>aumento de la cuota</a:t>
            </a:r>
          </a:p>
          <a:p xmlns:a="http://schemas.openxmlformats.org/drawingml/2006/main">
            <a:pPr algn="l">
              <a:defRPr sz="1725" b="0">
                <a:solidFill>
                  <a:srgbClr val="101D3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01D31"/>
                </a:solidFill>
                <a:latin typeface="Aptos"/>
                <a:ea typeface="Aptos"/>
                <a:cs typeface="Aptos"/>
              </a:rPr>
              <a:t>relativa entre ambos años</a:t>
            </a:r>
          </a:p>
        </p:txBody>
      </p:sp>
      <p:sp>
        <p:nvSpPr>
          <p:cNvPr id="8" name="metric-definition">
            <a:extLst xmlns:a="http://schemas.openxmlformats.org/drawingml/2006/main">
              <a:ext uri="{FF2B5EF4-FFF2-40B4-BE49-F238E27FC236}">
                <a16:creationId xmlns:a16="http://schemas.microsoft.com/office/drawing/2014/main" id="{1AE40B43-99B2-4DFC-B59A-C973C9CE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La cuota mide valor agregado manufacturero, no productividad por trabajador.</a:t>
            </a:r>
          </a:p>
        </p:txBody>
      </p:sp>
    </p:spTree>
    <p:extLst>
      <p:ext uri="{BB962C8B-B14F-4D97-AF65-F5344CB8AC3E}">
        <p14:creationId xmlns:p14="http://schemas.microsoft.com/office/powerpoint/2010/main" val="13423386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922D5B-DC77-4F82-B20F-23016D3C232D}"/>
              </a:ext>
            </a:extLst>
          </p:cNvPr>
          <p:cNvCxnSpPr>
            <a:stCxn xmlns:a="http://schemas.openxmlformats.org/drawingml/2006/main" id="25" idx="0"/>
            <a:endCxn xmlns:a="http://schemas.openxmlformats.org/drawingml/2006/main" id="28" idx="2"/>
          </p:cNvCxnSpPr>
          <p:nvPr/>
        </p:nvCxnSpPr>
        <p:spPr>
          <a:xfrm xmlns:a="http://schemas.openxmlformats.org/drawingml/2006/main" flipV="1">
            <a:off x="9810750" y="4295775"/>
            <a:ext cx="0" cy="56197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68C8B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A3A021-88D6-4F7E-97F1-7177BDC7A331}"/>
              </a:ext>
            </a:extLst>
          </p:cNvPr>
          <p:cNvCxnSpPr>
            <a:stCxn xmlns:a="http://schemas.openxmlformats.org/drawingml/2006/main" id="23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9810750" y="2847975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68C8B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04AC1D-B2CE-4785-B1A4-BD66C1D33A09}"/>
              </a:ext>
            </a:extLst>
          </p:cNvPr>
          <p:cNvCxnSpPr>
            <a:stCxn xmlns:a="http://schemas.openxmlformats.org/drawingml/2006/main" id="17" idx="0"/>
            <a:endCxn xmlns:a="http://schemas.openxmlformats.org/drawingml/2006/main" id="20" idx="2"/>
          </p:cNvCxnSpPr>
          <p:nvPr/>
        </p:nvCxnSpPr>
        <p:spPr>
          <a:xfrm xmlns:a="http://schemas.openxmlformats.org/drawingml/2006/main" flipV="1">
            <a:off x="6096000" y="4295775"/>
            <a:ext cx="0" cy="56197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68C8B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6C2380-3E09-432C-842E-55F3D969E5DA}"/>
              </a:ext>
            </a:extLst>
          </p:cNvPr>
          <p:cNvCxnSpPr>
            <a:stCxn xmlns:a="http://schemas.openxmlformats.org/drawingml/2006/main" id="15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6096000" y="2847975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68C8B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1928C2-91F4-44C0-8B42-0CB524BCBB1C}"/>
              </a:ext>
            </a:extLst>
          </p:cNvPr>
          <p:cNvCxnSpPr>
            <a:stCxn xmlns:a="http://schemas.openxmlformats.org/drawingml/2006/main" id="9" idx="0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V="1">
            <a:off x="2381250" y="4295775"/>
            <a:ext cx="0" cy="56197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68C8B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83BF9-60A3-4877-A7B1-DFFE95B1395F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2381250" y="2847975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68C8B"/>
            </a:solidFill>
            <a:prstDash val="solid"/>
            <a:headEnd type="triangle" w="sm" len="sm"/>
            <a:tailEnd type="triangle" w="sm" len="sm"/>
          </a:ln>
        </p:spPr>
      </p:cxn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37ADC7C-9F2D-4154-BE9C-4F141601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 spc="130">
                <a:solidFill>
                  <a:srgbClr val="168C8B"/>
                </a:solidFill>
                <a:latin typeface="Aptos"/>
                <a:ea typeface="Aptos"/>
                <a:cs typeface="Aptos"/>
              </a:rPr>
              <a:t>CAPACIDADES INDUSTRIALES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E9F9EB3-23C1-4A6E-9D4C-4AB74D0F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La fuerza de una fábrica depende de su ecosistema</a:t>
            </a:r>
            <a:endParaRPr sz="2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D27F53F-ED32-4435-B5C1-10619C2AC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65788A"/>
                </a:solidFill>
                <a:latin typeface="Aptos"/>
                <a:ea typeface="Aptos"/>
                <a:cs typeface="Aptos"/>
              </a:rPr>
              <a:t>El conocimiento está distribuido entre empresas y organizaciones.</a:t>
            </a:r>
            <a:endParaRPr sz="1400"/>
          </a:p>
        </p:txBody>
      </p:sp>
      <p:sp>
        <p:nvSpPr>
          <p:cNvPr id="5" name="industrial-system">
            <a:extLst xmlns:a="http://schemas.openxmlformats.org/drawingml/2006/main">
              <a:ext uri="{FF2B5EF4-FFF2-40B4-BE49-F238E27FC236}">
                <a16:creationId xmlns:a16="http://schemas.microsoft.com/office/drawing/2014/main" id="{6E5D6FD5-3912-44B3-AFCD-08EFF40E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10668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industrial-system-title">
            <a:extLst xmlns:a="http://schemas.openxmlformats.org/drawingml/2006/main">
              <a:ext uri="{FF2B5EF4-FFF2-40B4-BE49-F238E27FC236}">
                <a16:creationId xmlns:a16="http://schemas.microsoft.com/office/drawing/2014/main" id="{7612ED16-1F93-472E-9DAC-43A1E116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76625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ctr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ctr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ctr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ctr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ctr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ctr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ctr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ctr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ctr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PRODUCTO COMPLEJO</a:t>
            </a:r>
          </a:p>
        </p:txBody>
      </p:sp>
      <p:sp>
        <p:nvSpPr>
          <p:cNvPr id="7" name="top-node-0">
            <a:extLst xmlns:a="http://schemas.openxmlformats.org/drawingml/2006/main">
              <a:ext uri="{FF2B5EF4-FFF2-40B4-BE49-F238E27FC236}">
                <a16:creationId xmlns:a16="http://schemas.microsoft.com/office/drawing/2014/main" id="{709C70E6-3C1F-43D0-948D-B2F168A9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3048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op-label-0">
            <a:extLst xmlns:a="http://schemas.openxmlformats.org/drawingml/2006/main">
              <a:ext uri="{FF2B5EF4-FFF2-40B4-BE49-F238E27FC236}">
                <a16:creationId xmlns:a16="http://schemas.microsoft.com/office/drawing/2014/main" id="{3FF482A6-7BD7-4524-BBAB-BF898FF5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24100"/>
            <a:ext cx="281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defPPr>
            <a:lvl1pPr algn="ctr">
              <a:defRPr sz="1800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lvl1pPr>
            <a:lvl2pPr algn="ctr">
              <a:defRPr sz="1800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lvl2pPr>
            <a:lvl3pPr algn="ctr">
              <a:defRPr sz="1800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lvl3pPr>
            <a:lvl4pPr algn="ctr">
              <a:defRPr sz="1800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lvl4pPr>
            <a:lvl5pPr algn="ctr">
              <a:defRPr sz="1800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lvl5pPr>
            <a:lvl6pPr algn="ctr">
              <a:defRPr sz="1800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lvl6pPr>
            <a:lvl7pPr algn="ctr">
              <a:defRPr sz="1800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lvl7pPr>
            <a:lvl8pPr algn="ctr">
              <a:defRPr sz="1800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lvl8pPr>
            <a:lvl9pPr algn="ctr">
              <a:defRPr sz="1800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Universidades</a:t>
            </a:r>
          </a:p>
        </p:txBody>
      </p:sp>
      <p:sp>
        <p:nvSpPr>
          <p:cNvPr id="9" name="bottom-node-0">
            <a:extLst xmlns:a="http://schemas.openxmlformats.org/drawingml/2006/main">
              <a:ext uri="{FF2B5EF4-FFF2-40B4-BE49-F238E27FC236}">
                <a16:creationId xmlns:a16="http://schemas.microsoft.com/office/drawing/2014/main" id="{DB0658D3-F18E-4AB7-820B-78F4AAC94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3048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ottom-label-0">
            <a:extLst xmlns:a="http://schemas.openxmlformats.org/drawingml/2006/main">
              <a:ext uri="{FF2B5EF4-FFF2-40B4-BE49-F238E27FC236}">
                <a16:creationId xmlns:a16="http://schemas.microsoft.com/office/drawing/2014/main" id="{D1DC3794-019E-44EF-9C2E-492CE5DA0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38725"/>
            <a:ext cx="281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defPPr>
            <a:lvl1pPr algn="ctr">
              <a:defRPr sz="1800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lvl1pPr>
            <a:lvl2pPr algn="ctr">
              <a:defRPr sz="1800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lvl2pPr>
            <a:lvl3pPr algn="ctr">
              <a:defRPr sz="1800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lvl3pPr>
            <a:lvl4pPr algn="ctr">
              <a:defRPr sz="1800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lvl4pPr>
            <a:lvl5pPr algn="ctr">
              <a:defRPr sz="1800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lvl5pPr>
            <a:lvl6pPr algn="ctr">
              <a:defRPr sz="1800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lvl6pPr>
            <a:lvl7pPr algn="ctr">
              <a:defRPr sz="1800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lvl7pPr>
            <a:lvl8pPr algn="ctr">
              <a:defRPr sz="1800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lvl8pPr>
            <a:lvl9pPr algn="ctr">
              <a:defRPr sz="1800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Logística</a:t>
            </a:r>
          </a:p>
        </p:txBody>
      </p:sp>
      <p:sp>
        <p:nvSpPr>
          <p:cNvPr id="11" name="port-top-0">
            <a:extLst xmlns:a="http://schemas.openxmlformats.org/drawingml/2006/main">
              <a:ext uri="{FF2B5EF4-FFF2-40B4-BE49-F238E27FC236}">
                <a16:creationId xmlns:a16="http://schemas.microsoft.com/office/drawing/2014/main" id="{4513E5DD-0C33-461B-B7DB-77BBB8CA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2766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ort-bottom-0">
            <a:extLst xmlns:a="http://schemas.openxmlformats.org/drawingml/2006/main">
              <a:ext uri="{FF2B5EF4-FFF2-40B4-BE49-F238E27FC236}">
                <a16:creationId xmlns:a16="http://schemas.microsoft.com/office/drawing/2014/main" id="{F4FAEC82-1A33-4D67-A71B-43A6459AB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2767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op-node-1">
            <a:extLst xmlns:a="http://schemas.openxmlformats.org/drawingml/2006/main">
              <a:ext uri="{FF2B5EF4-FFF2-40B4-BE49-F238E27FC236}">
                <a16:creationId xmlns:a16="http://schemas.microsoft.com/office/drawing/2014/main" id="{71289FDD-57FA-49FE-8C56-4CAC5482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43125"/>
            <a:ext cx="3048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op-label-1">
            <a:extLst xmlns:a="http://schemas.openxmlformats.org/drawingml/2006/main">
              <a:ext uri="{FF2B5EF4-FFF2-40B4-BE49-F238E27FC236}">
                <a16:creationId xmlns:a16="http://schemas.microsoft.com/office/drawing/2014/main" id="{4E894037-0143-47D1-BB9F-95ADA785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24100"/>
            <a:ext cx="281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defPPr>
            <a:lvl1pPr algn="ctr">
              <a:defRPr sz="1800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lvl1pPr>
            <a:lvl2pPr algn="ctr">
              <a:defRPr sz="1800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lvl2pPr>
            <a:lvl3pPr algn="ctr">
              <a:defRPr sz="1800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lvl3pPr>
            <a:lvl4pPr algn="ctr">
              <a:defRPr sz="1800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lvl4pPr>
            <a:lvl5pPr algn="ctr">
              <a:defRPr sz="1800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lvl5pPr>
            <a:lvl6pPr algn="ctr">
              <a:defRPr sz="1800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lvl6pPr>
            <a:lvl7pPr algn="ctr">
              <a:defRPr sz="1800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lvl7pPr>
            <a:lvl8pPr algn="ctr">
              <a:defRPr sz="1800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lvl8pPr>
            <a:lvl9pPr algn="ctr">
              <a:defRPr sz="1800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Proveedores</a:t>
            </a:r>
          </a:p>
        </p:txBody>
      </p:sp>
      <p:sp>
        <p:nvSpPr>
          <p:cNvPr id="17" name="bottom-node-1">
            <a:extLst xmlns:a="http://schemas.openxmlformats.org/drawingml/2006/main">
              <a:ext uri="{FF2B5EF4-FFF2-40B4-BE49-F238E27FC236}">
                <a16:creationId xmlns:a16="http://schemas.microsoft.com/office/drawing/2014/main" id="{23C9A068-F06D-49B9-836C-51DB42ED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57750"/>
            <a:ext cx="3048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ottom-label-1">
            <a:extLst xmlns:a="http://schemas.openxmlformats.org/drawingml/2006/main">
              <a:ext uri="{FF2B5EF4-FFF2-40B4-BE49-F238E27FC236}">
                <a16:creationId xmlns:a16="http://schemas.microsoft.com/office/drawing/2014/main" id="{68631CA8-2C47-4DA0-A33E-0EEDF18C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038725"/>
            <a:ext cx="281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defPPr>
            <a:lvl1pPr algn="ctr">
              <a:defRPr sz="1800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lvl1pPr>
            <a:lvl2pPr algn="ctr">
              <a:defRPr sz="1800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lvl2pPr>
            <a:lvl3pPr algn="ctr">
              <a:defRPr sz="1800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lvl3pPr>
            <a:lvl4pPr algn="ctr">
              <a:defRPr sz="1800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lvl4pPr>
            <a:lvl5pPr algn="ctr">
              <a:defRPr sz="1800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lvl5pPr>
            <a:lvl6pPr algn="ctr">
              <a:defRPr sz="1800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lvl6pPr>
            <a:lvl7pPr algn="ctr">
              <a:defRPr sz="1800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lvl7pPr>
            <a:lvl8pPr algn="ctr">
              <a:defRPr sz="1800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lvl8pPr>
            <a:lvl9pPr algn="ctr">
              <a:defRPr sz="1800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Empresas</a:t>
            </a:r>
          </a:p>
        </p:txBody>
      </p:sp>
      <p:sp>
        <p:nvSpPr>
          <p:cNvPr id="19" name="port-top-1">
            <a:extLst xmlns:a="http://schemas.openxmlformats.org/drawingml/2006/main">
              <a:ext uri="{FF2B5EF4-FFF2-40B4-BE49-F238E27FC236}">
                <a16:creationId xmlns:a16="http://schemas.microsoft.com/office/drawing/2014/main" id="{028CA97B-307E-4F06-9731-3D1FE2F3D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2766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ort-bottom-1">
            <a:extLst xmlns:a="http://schemas.openxmlformats.org/drawingml/2006/main">
              <a:ext uri="{FF2B5EF4-FFF2-40B4-BE49-F238E27FC236}">
                <a16:creationId xmlns:a16="http://schemas.microsoft.com/office/drawing/2014/main" id="{5879F133-C1E4-44F0-AE0E-5D536DCB4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767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op-node-2">
            <a:extLst xmlns:a="http://schemas.openxmlformats.org/drawingml/2006/main">
              <a:ext uri="{FF2B5EF4-FFF2-40B4-BE49-F238E27FC236}">
                <a16:creationId xmlns:a16="http://schemas.microsoft.com/office/drawing/2014/main" id="{54DF84AE-403B-41D5-AAF9-16C887EE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43125"/>
            <a:ext cx="3048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op-label-2">
            <a:extLst xmlns:a="http://schemas.openxmlformats.org/drawingml/2006/main">
              <a:ext uri="{FF2B5EF4-FFF2-40B4-BE49-F238E27FC236}">
                <a16:creationId xmlns:a16="http://schemas.microsoft.com/office/drawing/2014/main" id="{DD00769B-B2EE-4AC9-8887-37634AAF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24100"/>
            <a:ext cx="281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defPPr>
            <a:lvl1pPr algn="ctr">
              <a:defRPr sz="1800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lvl1pPr>
            <a:lvl2pPr algn="ctr">
              <a:defRPr sz="1800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lvl2pPr>
            <a:lvl3pPr algn="ctr">
              <a:defRPr sz="1800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lvl3pPr>
            <a:lvl4pPr algn="ctr">
              <a:defRPr sz="1800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lvl4pPr>
            <a:lvl5pPr algn="ctr">
              <a:defRPr sz="1800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lvl5pPr>
            <a:lvl6pPr algn="ctr">
              <a:defRPr sz="1800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lvl6pPr>
            <a:lvl7pPr algn="ctr">
              <a:defRPr sz="1800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lvl7pPr>
            <a:lvl8pPr algn="ctr">
              <a:defRPr sz="1800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lvl8pPr>
            <a:lvl9pPr algn="ctr">
              <a:defRPr sz="1800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Financiación</a:t>
            </a:r>
          </a:p>
        </p:txBody>
      </p:sp>
      <p:sp>
        <p:nvSpPr>
          <p:cNvPr id="25" name="bottom-node-2">
            <a:extLst xmlns:a="http://schemas.openxmlformats.org/drawingml/2006/main">
              <a:ext uri="{FF2B5EF4-FFF2-40B4-BE49-F238E27FC236}">
                <a16:creationId xmlns:a16="http://schemas.microsoft.com/office/drawing/2014/main" id="{D0D0D834-9EF6-4448-A5D5-5D3D2C10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57750"/>
            <a:ext cx="3048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ottom-label-2">
            <a:extLst xmlns:a="http://schemas.openxmlformats.org/drawingml/2006/main">
              <a:ext uri="{FF2B5EF4-FFF2-40B4-BE49-F238E27FC236}">
                <a16:creationId xmlns:a16="http://schemas.microsoft.com/office/drawing/2014/main" id="{7A9F9BDA-ABCD-4333-90C4-AF027E112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038725"/>
            <a:ext cx="281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defPPr>
            <a:lvl1pPr algn="ctr">
              <a:defRPr sz="1800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lvl1pPr>
            <a:lvl2pPr algn="ctr">
              <a:defRPr sz="1800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lvl2pPr>
            <a:lvl3pPr algn="ctr">
              <a:defRPr sz="1800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lvl3pPr>
            <a:lvl4pPr algn="ctr">
              <a:defRPr sz="1800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lvl4pPr>
            <a:lvl5pPr algn="ctr">
              <a:defRPr sz="1800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lvl5pPr>
            <a:lvl6pPr algn="ctr">
              <a:defRPr sz="1800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lvl6pPr>
            <a:lvl7pPr algn="ctr">
              <a:defRPr sz="1800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lvl7pPr>
            <a:lvl8pPr algn="ctr">
              <a:defRPr sz="1800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lvl8pPr>
            <a:lvl9pPr algn="ctr">
              <a:defRPr sz="1800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Estado y ciudades</a:t>
            </a:r>
          </a:p>
        </p:txBody>
      </p:sp>
      <p:sp>
        <p:nvSpPr>
          <p:cNvPr id="27" name="port-top-2">
            <a:extLst xmlns:a="http://schemas.openxmlformats.org/drawingml/2006/main">
              <a:ext uri="{FF2B5EF4-FFF2-40B4-BE49-F238E27FC236}">
                <a16:creationId xmlns:a16="http://schemas.microsoft.com/office/drawing/2014/main" id="{637996DC-D000-46C3-B1E0-60B3F196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2766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ort-bottom-2">
            <a:extLst xmlns:a="http://schemas.openxmlformats.org/drawingml/2006/main">
              <a:ext uri="{FF2B5EF4-FFF2-40B4-BE49-F238E27FC236}">
                <a16:creationId xmlns:a16="http://schemas.microsoft.com/office/drawing/2014/main" id="{A645262B-395E-4AC9-89F9-08622070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42767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network-lesson">
            <a:extLst xmlns:a="http://schemas.openxmlformats.org/drawingml/2006/main">
              <a:ext uri="{FF2B5EF4-FFF2-40B4-BE49-F238E27FC236}">
                <a16:creationId xmlns:a16="http://schemas.microsoft.com/office/drawing/2014/main" id="{E4FCDB57-6D26-4D0A-9974-ECA3B0FF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57875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725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defPPr>
            <a:lvl1pPr algn="ctr">
              <a:defRPr sz="1725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lvl1pPr>
            <a:lvl2pPr algn="ctr">
              <a:defRPr sz="1725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lvl2pPr>
            <a:lvl3pPr algn="ctr">
              <a:defRPr sz="1725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lvl3pPr>
            <a:lvl4pPr algn="ctr">
              <a:defRPr sz="1725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lvl4pPr>
            <a:lvl5pPr algn="ctr">
              <a:defRPr sz="1725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lvl5pPr>
            <a:lvl6pPr algn="ctr">
              <a:defRPr sz="1725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lvl6pPr>
            <a:lvl7pPr algn="ctr">
              <a:defRPr sz="1725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lvl7pPr>
            <a:lvl8pPr algn="ctr">
              <a:defRPr sz="1725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lvl8pPr>
            <a:lvl9pPr algn="ctr">
              <a:defRPr sz="1725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01D3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Las conexiones permiten compartir conocimiento, recursos y capacidad de respuesta.</a:t>
            </a:r>
          </a:p>
        </p:txBody>
      </p:sp>
    </p:spTree>
    <p:extLst>
      <p:ext uri="{BB962C8B-B14F-4D97-AF65-F5344CB8AC3E}">
        <p14:creationId xmlns:p14="http://schemas.microsoft.com/office/powerpoint/2010/main" val="20413970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6C75518-CE31-4B08-9039-0506E1AB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 spc="130">
                <a:solidFill>
                  <a:srgbClr val="168C8B"/>
                </a:solidFill>
                <a:latin typeface="Aptos"/>
                <a:ea typeface="Aptos"/>
                <a:cs typeface="Aptos"/>
              </a:rPr>
              <a:t>EJERCICIO DIDÁCTICO 01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742DA6C-8291-4230-85DE-2E66FF00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Dos empresas diseñan la misma mano robótica</a:t>
            </a:r>
            <a:endParaRPr sz="2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38FA904-7FA7-4EA9-8ABF-A8351AA5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65788A"/>
                </a:solidFill>
                <a:latin typeface="Aptos"/>
                <a:ea typeface="Aptos"/>
                <a:cs typeface="Aptos"/>
              </a:rPr>
              <a:t>Supuesto hipotético para ilustrar tiempos de coordinación con proveedores.</a:t>
            </a:r>
            <a:endParaRPr sz="14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0A0C630-467A-4DE5-BC6C-F47290BC3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93392"/>
            <a:ext cx="5367528" cy="2350008"/>
          </a:xfrm>
          <a:prstGeom xmlns:a="http://schemas.openxmlformats.org/drawingml/2006/main" prst="roundRect">
            <a:avLst>
              <a:gd name="adj" fmla="val 70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22759DF-DB1A-42CE-8C54-35C83764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267712"/>
            <a:ext cx="1517904" cy="338328"/>
          </a:xfrm>
          <a:prstGeom xmlns:a="http://schemas.openxmlformats.org/drawingml/2006/main" prst="roundRect">
            <a:avLst>
              <a:gd name="adj" fmla="val 43243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12700">
            <a:solidFill>
              <a:srgbClr val="101D31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0C65157-EA24-4125-A563-E129A743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2286000"/>
            <a:ext cx="1298448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40" b="1" spc="70">
                <a:solidFill>
                  <a:srgbClr val="FFFFFF"/>
                </a:solidFill>
                <a:latin typeface="Aptos"/>
                <a:ea typeface="Aptos"/>
                <a:cs typeface="Aptos"/>
              </a:rPr>
              <a:t>EMPRESA A</a:t>
            </a:r>
            <a:endParaRPr sz="104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07F6D0E-D18B-4A02-ACFE-3F7F1EC5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807208"/>
            <a:ext cx="47548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263849"/>
                </a:solidFill>
                <a:latin typeface="Aptos"/>
                <a:ea typeface="Aptos"/>
                <a:cs typeface="Aptos"/>
              </a:rPr>
              <a:t>Proveedores dispersos</a:t>
            </a:r>
            <a:endParaRPr sz="17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9D984AF-55EF-4BAD-BB78-9C17EBA2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328416"/>
            <a:ext cx="4937760" cy="722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800" b="1">
                <a:solidFill>
                  <a:srgbClr val="65788A"/>
                </a:solidFill>
                <a:latin typeface="Aptos"/>
                <a:ea typeface="Aptos"/>
                <a:cs typeface="Aptos"/>
              </a:rPr>
              <a:t>20 semanas</a:t>
            </a:r>
            <a:endParaRPr sz="38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4C2C0B59-8216-478B-8797-E6E9147AD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1993392"/>
            <a:ext cx="5367528" cy="2350008"/>
          </a:xfrm>
          <a:prstGeom xmlns:a="http://schemas.openxmlformats.org/drawingml/2006/main" prst="roundRect">
            <a:avLst>
              <a:gd name="adj" fmla="val 70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A234B445-8326-4526-A8C6-FC559853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2267712"/>
            <a:ext cx="1517904" cy="338328"/>
          </a:xfrm>
          <a:prstGeom xmlns:a="http://schemas.openxmlformats.org/drawingml/2006/main" prst="roundRect">
            <a:avLst>
              <a:gd name="adj" fmla="val 43243"/>
            </a:avLst>
          </a:prstGeom>
          <a:solidFill xmlns:a="http://schemas.openxmlformats.org/drawingml/2006/main">
            <a:srgbClr val="168C8B"/>
          </a:solidFill>
          <a:ln xmlns:a="http://schemas.openxmlformats.org/drawingml/2006/main" w="12700">
            <a:solidFill>
              <a:srgbClr val="168C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B109B46-8561-4BD0-A50E-43EA10A57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286000"/>
            <a:ext cx="1298448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40" b="1" spc="70">
                <a:solidFill>
                  <a:srgbClr val="FFFFFF"/>
                </a:solidFill>
                <a:latin typeface="Aptos"/>
                <a:ea typeface="Aptos"/>
                <a:cs typeface="Aptos"/>
              </a:rPr>
              <a:t>EMPRESA B</a:t>
            </a:r>
            <a:endParaRPr sz="104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B06EC52-B1CA-4A3B-A7AB-7EAB2EBA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2807208"/>
            <a:ext cx="47548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263849"/>
                </a:solidFill>
                <a:latin typeface="Aptos"/>
                <a:ea typeface="Aptos"/>
                <a:cs typeface="Aptos"/>
              </a:rPr>
              <a:t>Red de proveedores integrada</a:t>
            </a:r>
            <a:endParaRPr sz="17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32AC20F-5B43-444B-9637-F40046D5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3328416"/>
            <a:ext cx="4937760" cy="722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800" b="1">
                <a:solidFill>
                  <a:srgbClr val="168C8B"/>
                </a:solidFill>
                <a:latin typeface="Aptos"/>
                <a:ea typeface="Aptos"/>
                <a:cs typeface="Aptos"/>
              </a:rPr>
              <a:t>8 semanas</a:t>
            </a:r>
            <a:endParaRPr sz="38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1E161BD6-7694-426D-B3CC-F534E8A6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4617720"/>
            <a:ext cx="10927080" cy="749808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C6E9E6"/>
          </a:solidFill>
          <a:ln xmlns:a="http://schemas.openxmlformats.org/drawingml/2006/main" w="12700">
            <a:solidFill>
              <a:srgbClr val="C6E9E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6E72993-548F-4976-A7B1-A32F022C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764024"/>
            <a:ext cx="1045159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La diferencia no es “inteligencia innata”: son coordinación, prototipos, aprendizaje y logística.</a:t>
            </a: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16334667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CC42016-559C-4440-B290-A121E577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 spc="130">
                <a:solidFill>
                  <a:srgbClr val="168C8B"/>
                </a:solidFill>
                <a:latin typeface="Aptos"/>
                <a:ea typeface="Aptos"/>
                <a:cs typeface="Aptos"/>
              </a:rPr>
              <a:t>INSTITUCIONES Y COMPETENCIA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54D2347-14E6-4B6F-965F-FBA848AD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Planificación, experimentación local y competencia</a:t>
            </a:r>
            <a:endParaRPr sz="2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2D64042-4F07-4791-B33E-787C6A331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65788A"/>
                </a:solidFill>
                <a:latin typeface="Aptos"/>
                <a:ea typeface="Aptos"/>
                <a:cs typeface="Aptos"/>
              </a:rPr>
              <a:t>La coordinación central convive con experimentación provincial y competencia empresarial.</a:t>
            </a:r>
            <a:endParaRPr sz="14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A8368C25-0E66-421C-9BCF-93B2C8FA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" y="1938528"/>
            <a:ext cx="5376672" cy="1344168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B4661BAC-B92B-4D88-99EC-4C1C369A9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" y="1938528"/>
            <a:ext cx="82296" cy="1344168"/>
          </a:xfrm>
          <a:prstGeom xmlns:a="http://schemas.openxmlformats.org/drawingml/2006/main" prst="roundRect">
            <a:avLst>
              <a:gd name="adj" fmla="val 177778"/>
            </a:avLst>
          </a:prstGeom>
          <a:solidFill xmlns:a="http://schemas.openxmlformats.org/drawingml/2006/main">
            <a:srgbClr val="D94F45"/>
          </a:solidFill>
          <a:ln xmlns:a="http://schemas.openxmlformats.org/drawingml/2006/main" w="12700">
            <a:solidFill>
              <a:srgbClr val="D94F45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0CCA9F0-3868-4147-A9F4-A1C0FDA3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167128"/>
            <a:ext cx="468172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ESTADO CENTRAL</a:t>
            </a:r>
            <a:endParaRPr sz="19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8EECE9C-316D-46D8-8E6A-77F10C4E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697480"/>
            <a:ext cx="466344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65788A"/>
                </a:solidFill>
                <a:latin typeface="Aptos"/>
                <a:ea typeface="Aptos"/>
                <a:cs typeface="Aptos"/>
              </a:rPr>
              <a:t>Planes, estándares, prioridades</a:t>
            </a:r>
            <a:endParaRPr sz="14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7283245-5DE1-4B0B-AE95-E7BA383A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1938528"/>
            <a:ext cx="5376672" cy="1344168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4F91C37E-EEB0-4C99-B781-A07C2356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1938528"/>
            <a:ext cx="82296" cy="1344168"/>
          </a:xfrm>
          <a:prstGeom xmlns:a="http://schemas.openxmlformats.org/drawingml/2006/main" prst="roundRect">
            <a:avLst>
              <a:gd name="adj" fmla="val 177778"/>
            </a:avLst>
          </a:prstGeom>
          <a:solidFill xmlns:a="http://schemas.openxmlformats.org/drawingml/2006/main">
            <a:srgbClr val="E6AB50"/>
          </a:solidFill>
          <a:ln xmlns:a="http://schemas.openxmlformats.org/drawingml/2006/main" w="12700">
            <a:solidFill>
              <a:srgbClr val="E6AB5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581934D-1168-49D2-9001-90C57A2B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2167128"/>
            <a:ext cx="468172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GOBIERNOS LOCALES</a:t>
            </a:r>
            <a:endParaRPr sz="19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92B7A7BE-9B0C-48FA-A3EA-35FFD2705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2697480"/>
            <a:ext cx="466344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65788A"/>
                </a:solidFill>
                <a:latin typeface="Aptos"/>
                <a:ea typeface="Aptos"/>
                <a:cs typeface="Aptos"/>
              </a:rPr>
              <a:t>Parques, infraestructura, incentivos</a:t>
            </a:r>
            <a:endParaRPr sz="14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1ADDFA6A-25FE-40E0-A7C8-511A9CF7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" y="3511296"/>
            <a:ext cx="5376672" cy="1344168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2D88F5ED-646C-427A-B01B-88804196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" y="3511296"/>
            <a:ext cx="82296" cy="1344168"/>
          </a:xfrm>
          <a:prstGeom xmlns:a="http://schemas.openxmlformats.org/drawingml/2006/main" prst="roundRect">
            <a:avLst>
              <a:gd name="adj" fmla="val 177778"/>
            </a:avLst>
          </a:prstGeom>
          <a:solidFill xmlns:a="http://schemas.openxmlformats.org/drawingml/2006/main">
            <a:srgbClr val="168C8B"/>
          </a:solidFill>
          <a:ln xmlns:a="http://schemas.openxmlformats.org/drawingml/2006/main" w="12700">
            <a:solidFill>
              <a:srgbClr val="168C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B038C11-6407-46E6-9096-E5BAB402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3739896"/>
            <a:ext cx="468172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EMPRESAS</a:t>
            </a:r>
            <a:endParaRPr sz="19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4878DE4B-9929-4475-836A-336C7AED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4270248"/>
            <a:ext cx="466344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65788A"/>
                </a:solidFill>
                <a:latin typeface="Aptos"/>
                <a:ea typeface="Aptos"/>
                <a:cs typeface="Aptos"/>
              </a:rPr>
              <a:t>Diseño, producción, competencia</a:t>
            </a:r>
            <a:endParaRPr sz="14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18D7D068-D7EB-43B1-9E0F-2A371F73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3511296"/>
            <a:ext cx="5376672" cy="1344168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A2229AFB-CE1C-4E73-95CA-9134BC82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3511296"/>
            <a:ext cx="82296" cy="1344168"/>
          </a:xfrm>
          <a:prstGeom xmlns:a="http://schemas.openxmlformats.org/drawingml/2006/main" prst="roundRect">
            <a:avLst>
              <a:gd name="adj" fmla="val 177778"/>
            </a:avLst>
          </a:prstGeom>
          <a:solidFill xmlns:a="http://schemas.openxmlformats.org/drawingml/2006/main">
            <a:srgbClr val="203954"/>
          </a:solidFill>
          <a:ln xmlns:a="http://schemas.openxmlformats.org/drawingml/2006/main" w="12700">
            <a:solidFill>
              <a:srgbClr val="203954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C4B4BDA-836C-49D1-90C9-F9429051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3739896"/>
            <a:ext cx="468172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PROVEEDORES</a:t>
            </a:r>
            <a:endParaRPr sz="19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46A705B-4D4E-436C-8E1C-0BCF637B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270248"/>
            <a:ext cx="466344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65788A"/>
                </a:solidFill>
                <a:latin typeface="Aptos"/>
                <a:ea typeface="Aptos"/>
                <a:cs typeface="Aptos"/>
              </a:rPr>
              <a:t>Componentes, plazos, mejoras</a:t>
            </a:r>
            <a:endParaRPr sz="14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1638A07-1D5A-4ECC-9DF4-58218FC5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5632704"/>
            <a:ext cx="105156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263849"/>
                </a:solidFill>
                <a:latin typeface="Aptos"/>
                <a:ea typeface="Aptos"/>
                <a:cs typeface="Aptos"/>
              </a:rPr>
              <a:t>VENTAJA POTENCIAL: aprendizaje   /   RIESGO: sobreinversión y duplicación</a:t>
            </a:r>
            <a:endParaRPr sz="1700"/>
          </a:p>
        </p:txBody>
      </p:sp>
    </p:spTree>
    <p:extLst>
      <p:ext uri="{BB962C8B-B14F-4D97-AF65-F5344CB8AC3E}">
        <p14:creationId xmlns:p14="http://schemas.microsoft.com/office/powerpoint/2010/main" val="13826159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52F0C08-602E-41CA-88CD-956D2867C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 spc="130">
                <a:solidFill>
                  <a:srgbClr val="168C8B"/>
                </a:solidFill>
                <a:latin typeface="Aptos"/>
                <a:ea typeface="Aptos"/>
                <a:cs typeface="Aptos"/>
              </a:rPr>
              <a:t>GEOGRAFÍA INDUSTRIAL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812C840-FAED-48A5-876C-7A1D352BA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China es una red de polos tecnológicos</a:t>
            </a:r>
            <a:endParaRPr sz="2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C110825-1F49-4700-9B64-5E366D82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65788A"/>
                </a:solidFill>
                <a:latin typeface="Aptos"/>
                <a:ea typeface="Aptos"/>
                <a:cs typeface="Aptos"/>
              </a:rPr>
              <a:t>Las especializaciones no son exclusivas: se superponen y cambian.</a:t>
            </a:r>
            <a:endParaRPr sz="14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5F90012-57A8-4B34-BCD8-8462CE8F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74520"/>
            <a:ext cx="10698480" cy="59436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12700">
            <a:solidFill>
              <a:srgbClr val="F1F4F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6A5F25B6-77C7-450A-AF8B-C367B999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048256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C8B"/>
          </a:solidFill>
          <a:ln xmlns:a="http://schemas.openxmlformats.org/drawingml/2006/main" w="12700">
            <a:solidFill>
              <a:srgbClr val="168C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BB27143-32DF-4C9D-BA65-5AF943A5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993392"/>
            <a:ext cx="3995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6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PEKÍN</a:t>
            </a:r>
            <a:endParaRPr sz="156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3E44040-4BDC-4032-8187-91FBF6A8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832" y="2011680"/>
            <a:ext cx="55778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30">
                <a:solidFill>
                  <a:srgbClr val="263849"/>
                </a:solidFill>
                <a:latin typeface="Aptos"/>
                <a:ea typeface="Aptos"/>
                <a:cs typeface="Aptos"/>
              </a:rPr>
              <a:t>Universidades, investigación, IA</a:t>
            </a:r>
            <a:endParaRPr sz="143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66F4C62F-6DD2-4A5A-8756-D47ADA60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633472"/>
            <a:ext cx="10698480" cy="59436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6F2A4D01-5F3D-4DE5-A216-35530530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807208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C8B"/>
          </a:solidFill>
          <a:ln xmlns:a="http://schemas.openxmlformats.org/drawingml/2006/main" w="12700">
            <a:solidFill>
              <a:srgbClr val="168C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5AE149D-C2A3-4594-9FD1-7C2C39D92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2752344"/>
            <a:ext cx="3995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6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SHANGHÁI / SUZHOU</a:t>
            </a:r>
            <a:endParaRPr sz="156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36FD6FA-3712-4C47-8085-E5E38701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832" y="2770632"/>
            <a:ext cx="55778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30">
                <a:solidFill>
                  <a:srgbClr val="263849"/>
                </a:solidFill>
                <a:latin typeface="Aptos"/>
                <a:ea typeface="Aptos"/>
                <a:cs typeface="Aptos"/>
              </a:rPr>
              <a:t>Fabricación avanzada y equipos</a:t>
            </a:r>
            <a:endParaRPr sz="143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AA1436DA-9A54-4080-B3AF-34D7EAA7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392424"/>
            <a:ext cx="10698480" cy="59436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12700">
            <a:solidFill>
              <a:srgbClr val="F1F4F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B54A3802-E890-4B8B-AF75-48E1D84A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56616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F45"/>
          </a:solidFill>
          <a:ln xmlns:a="http://schemas.openxmlformats.org/drawingml/2006/main" w="12700">
            <a:solidFill>
              <a:srgbClr val="D94F45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08080B6-04AD-413E-AC82-65D0DAE7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3511296"/>
            <a:ext cx="3995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6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SHENZHEN / GUANGDONG</a:t>
            </a:r>
            <a:endParaRPr sz="156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10AB8B6-8146-4BF4-976A-447C99E7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832" y="3529584"/>
            <a:ext cx="55778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30">
                <a:solidFill>
                  <a:srgbClr val="263849"/>
                </a:solidFill>
                <a:latin typeface="Aptos"/>
                <a:ea typeface="Aptos"/>
                <a:cs typeface="Aptos"/>
              </a:rPr>
              <a:t>Electrónica, hardware y vehículos</a:t>
            </a:r>
            <a:endParaRPr sz="143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784B3E5C-D74E-4981-A1EA-87F2D8A8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51376"/>
            <a:ext cx="10698480" cy="59436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1FC2D70A-615A-47A2-99E6-F5C256B2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325112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C8B"/>
          </a:solidFill>
          <a:ln xmlns:a="http://schemas.openxmlformats.org/drawingml/2006/main" w="12700">
            <a:solidFill>
              <a:srgbClr val="168C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D1520C32-E0A9-4919-BFDB-22D59031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4270248"/>
            <a:ext cx="3995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6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HANGZHOU</a:t>
            </a:r>
            <a:endParaRPr sz="156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FCDAD3F4-AA47-445D-8A4E-145C598B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832" y="4288536"/>
            <a:ext cx="55778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30">
                <a:solidFill>
                  <a:srgbClr val="263849"/>
                </a:solidFill>
                <a:latin typeface="Aptos"/>
                <a:ea typeface="Aptos"/>
                <a:cs typeface="Aptos"/>
              </a:rPr>
              <a:t>Plataformas digitales y software</a:t>
            </a:r>
            <a:endParaRPr sz="143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7DD69579-A149-415C-A4D0-6BE81B4D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910328"/>
            <a:ext cx="10698480" cy="59436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12700">
            <a:solidFill>
              <a:srgbClr val="F1F4F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AAC39D22-1DC4-4475-8959-77115033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084064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C8B"/>
          </a:solidFill>
          <a:ln xmlns:a="http://schemas.openxmlformats.org/drawingml/2006/main" w="12700">
            <a:solidFill>
              <a:srgbClr val="168C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D0BC54EC-95E8-4808-B6F1-E7A10514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5029200"/>
            <a:ext cx="3995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6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HEFEI / WUHAN / CHENGDU</a:t>
            </a:r>
            <a:endParaRPr sz="156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76A6A5CD-4C14-4B95-AE31-D0BC029B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832" y="5047488"/>
            <a:ext cx="55778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30">
                <a:solidFill>
                  <a:srgbClr val="263849"/>
                </a:solidFill>
                <a:latin typeface="Aptos"/>
                <a:ea typeface="Aptos"/>
                <a:cs typeface="Aptos"/>
              </a:rPr>
              <a:t>Polos industriales especializados</a:t>
            </a:r>
            <a:endParaRPr sz="1430"/>
          </a:p>
        </p:txBody>
      </p:sp>
    </p:spTree>
    <p:extLst>
      <p:ext uri="{BB962C8B-B14F-4D97-AF65-F5344CB8AC3E}">
        <p14:creationId xmlns:p14="http://schemas.microsoft.com/office/powerpoint/2010/main" val="100036123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1D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A643DEC6-D1AE-4113-80E6-D0E468031C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f3a919620e46ea"/>
          <a:srcRect xmlns:a="http://schemas.openxmlformats.org/drawingml/2006/main" l="2477" t="0" r="2477" b="0"/>
          <a:stretch xmlns:a="http://schemas.openxmlformats.org/drawingml/2006/main"/>
        </p:blipFill>
        <p:spPr>
          <a:xfrm xmlns:a="http://schemas.openxmlformats.org/drawingml/2006/main">
            <a:off x="6400800" y="0"/>
            <a:ext cx="57908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C526195F-FD13-4F53-B92F-7D1CB208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0"/>
            <a:ext cx="109728" cy="6858000"/>
          </a:xfrm>
          <a:prstGeom xmlns:a="http://schemas.openxmlformats.org/drawingml/2006/main" prst="roundRect">
            <a:avLst>
              <a:gd name="adj" fmla="val 133333"/>
            </a:avLst>
          </a:prstGeom>
          <a:solidFill xmlns:a="http://schemas.openxmlformats.org/drawingml/2006/main">
            <a:srgbClr val="D94F45"/>
          </a:solidFill>
          <a:ln xmlns:a="http://schemas.openxmlformats.org/drawingml/2006/main" w="12700">
            <a:solidFill>
              <a:srgbClr val="D94F45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FC587E31-4A13-4EFB-A5B0-87D01463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31520"/>
            <a:ext cx="5394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 spc="200">
                <a:solidFill>
                  <a:srgbClr val="E6AB50"/>
                </a:solidFill>
                <a:latin typeface="Aptos"/>
                <a:ea typeface="Aptos"/>
                <a:cs typeface="Aptos"/>
              </a:rPr>
              <a:t>MOVIMIENTO  02</a:t>
            </a:r>
            <a:endParaRPr sz="13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BF340AE-F78D-4ACF-BC74-8EDF8BF16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07008"/>
            <a:ext cx="53949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00" b="1" spc="120">
                <a:solidFill>
                  <a:srgbClr val="C6E9E6"/>
                </a:solidFill>
                <a:latin typeface="Aptos"/>
                <a:ea typeface="Aptos"/>
                <a:cs typeface="Aptos"/>
              </a:rPr>
              <a:t>LA FÁBRICA INTELIGENTE</a:t>
            </a:r>
            <a:endParaRPr sz="22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A488315-A89F-4C96-B601-A6B4B4767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74520"/>
            <a:ext cx="5577840" cy="205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Una máquina no</a:t>
            </a:r>
            <a:endParaRPr sz="3900"/>
          </a:p>
          <a:p xmlns:a="http://schemas.openxmlformats.org/drawingml/2006/main">
            <a:pPr marL="0" indent="0" algn="l">
              <a:buNone/>
            </a:pPr>
            <a:r>
              <a:rPr sz="3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es una fábrica</a:t>
            </a:r>
            <a:endParaRPr sz="39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DB85F41-C872-4F39-837D-1C2A27DF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09160"/>
            <a:ext cx="557784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>
                <a:solidFill>
                  <a:srgbClr val="DEE8F0"/>
                </a:solidFill>
                <a:latin typeface="Aptos"/>
                <a:ea typeface="Aptos"/>
                <a:cs typeface="Aptos"/>
              </a:rPr>
              <a:t>Digitalización, automatización e IA son distintas capas de capacidad industrial.</a:t>
            </a:r>
            <a:endParaRPr sz="1700"/>
          </a:p>
        </p:txBody>
      </p:sp>
      <p:sp>
        <p:nvSpPr>
          <p:cNvPr id="8" name="illustration-caption-background">
            <a:extLst xmlns:a="http://schemas.openxmlformats.org/drawingml/2006/main">
              <a:ext uri="{FF2B5EF4-FFF2-40B4-BE49-F238E27FC236}">
                <a16:creationId xmlns:a16="http://schemas.microsoft.com/office/drawing/2014/main" id="{2E872B7F-0480-40A2-BEE7-64DECFBD7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33350"/>
            <a:ext cx="17335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illustration-caption">
            <a:extLst xmlns:a="http://schemas.openxmlformats.org/drawingml/2006/main">
              <a:ext uri="{FF2B5EF4-FFF2-40B4-BE49-F238E27FC236}">
                <a16:creationId xmlns:a16="http://schemas.microsoft.com/office/drawing/2014/main" id="{272B823D-FED2-4115-90F4-E9006255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6192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ILUSTRACIÓN CONCEPTUAL</a:t>
            </a:r>
          </a:p>
        </p:txBody>
      </p:sp>
    </p:spTree>
    <p:extLst>
      <p:ext uri="{BB962C8B-B14F-4D97-AF65-F5344CB8AC3E}">
        <p14:creationId xmlns:p14="http://schemas.microsoft.com/office/powerpoint/2010/main" val="2885570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4183BA8-47B3-4054-8C1F-EED29413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 spc="130">
                <a:solidFill>
                  <a:srgbClr val="168C8B"/>
                </a:solidFill>
                <a:latin typeface="Aptos"/>
                <a:ea typeface="Aptos"/>
                <a:cs typeface="Aptos"/>
              </a:rPr>
              <a:t>TRES IDEAS DISTINTAS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8A14C1B-CB48-4A74-9E12-5F7655E4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Digitalización, automatización e inteligencia artificial</a:t>
            </a:r>
            <a:endParaRPr sz="2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52DE40B-6FF3-4B24-BD42-39083134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65788A"/>
                </a:solidFill>
                <a:latin typeface="Aptos"/>
                <a:ea typeface="Aptos"/>
                <a:cs typeface="Aptos"/>
              </a:rPr>
              <a:t>Una fábrica puede hacer una de estas cosas sin realizar necesariamente las otras.</a:t>
            </a:r>
            <a:endParaRPr sz="14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59144A8-1895-4184-B1F9-AC89A6E17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993392"/>
            <a:ext cx="3630168" cy="3227832"/>
          </a:xfrm>
          <a:prstGeom xmlns:a="http://schemas.openxmlformats.org/drawingml/2006/main" prst="roundRect">
            <a:avLst>
              <a:gd name="adj" fmla="val 45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7D31CEB-D063-47F0-BB41-4E846128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993392"/>
            <a:ext cx="3630168" cy="91440"/>
          </a:xfrm>
          <a:prstGeom xmlns:a="http://schemas.openxmlformats.org/drawingml/2006/main" prst="roundRect">
            <a:avLst>
              <a:gd name="adj" fmla="val 160000"/>
            </a:avLst>
          </a:prstGeom>
          <a:solidFill xmlns:a="http://schemas.openxmlformats.org/drawingml/2006/main">
            <a:srgbClr val="168C8B"/>
          </a:solidFill>
          <a:ln xmlns:a="http://schemas.openxmlformats.org/drawingml/2006/main" w="12700">
            <a:solidFill>
              <a:srgbClr val="168C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420688D-DC4C-4495-BE47-96BD2CA6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276856"/>
            <a:ext cx="62179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" b="1">
                <a:solidFill>
                  <a:srgbClr val="168C8B"/>
                </a:solidFill>
                <a:latin typeface="Aptos"/>
                <a:ea typeface="Aptos"/>
                <a:cs typeface="Aptos"/>
              </a:rPr>
              <a:t>01</a:t>
            </a:r>
            <a:endParaRPr sz="20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0F50C4F-23B4-4AC9-B3B0-ED7D1570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880360"/>
            <a:ext cx="31089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3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DIGITALIZAR</a:t>
            </a:r>
            <a:endParaRPr sz="2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2F440BD-ADAD-47F3-8388-2A2C240C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3675888"/>
            <a:ext cx="3136392" cy="5577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>
                <a:solidFill>
                  <a:srgbClr val="263849"/>
                </a:solidFill>
                <a:latin typeface="Aptos"/>
                <a:ea typeface="Aptos"/>
                <a:cs typeface="Aptos"/>
              </a:rPr>
              <a:t>Registrar y conectar información</a:t>
            </a:r>
            <a:endParaRPr sz="15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238105D-6742-4F80-B0FB-CB5F514F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498848"/>
            <a:ext cx="31638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DCE4E9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EF72DC8-9E25-487B-B066-34944D41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4599432"/>
            <a:ext cx="313639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350"/>
            </a:defPPr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65788A"/>
                </a:solidFill>
                <a:latin typeface="Aptos"/>
                <a:ea typeface="Aptos"/>
                <a:cs typeface="Aptos"/>
              </a:rPr>
              <a:t>Sensores, datos, trazabilidad</a:t>
            </a:r>
            <a:endParaRPr sz="13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43A99ADE-42E1-4FDB-92EC-B2AC434F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993392"/>
            <a:ext cx="3630168" cy="3227832"/>
          </a:xfrm>
          <a:prstGeom xmlns:a="http://schemas.openxmlformats.org/drawingml/2006/main" prst="roundRect">
            <a:avLst>
              <a:gd name="adj" fmla="val 45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6A58D2B2-046F-4365-B4ED-AC1A19D6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993392"/>
            <a:ext cx="3630168" cy="91440"/>
          </a:xfrm>
          <a:prstGeom xmlns:a="http://schemas.openxmlformats.org/drawingml/2006/main" prst="roundRect">
            <a:avLst>
              <a:gd name="adj" fmla="val 160000"/>
            </a:avLst>
          </a:prstGeom>
          <a:solidFill xmlns:a="http://schemas.openxmlformats.org/drawingml/2006/main">
            <a:srgbClr val="D94F45"/>
          </a:solidFill>
          <a:ln xmlns:a="http://schemas.openxmlformats.org/drawingml/2006/main" w="12700">
            <a:solidFill>
              <a:srgbClr val="D94F45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D959E24-7AC8-4A0D-8023-5B03B535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276856"/>
            <a:ext cx="62179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" b="1">
                <a:solidFill>
                  <a:srgbClr val="D94F45"/>
                </a:solidFill>
                <a:latin typeface="Aptos"/>
                <a:ea typeface="Aptos"/>
                <a:cs typeface="Aptos"/>
              </a:rPr>
              <a:t>02</a:t>
            </a:r>
            <a:endParaRPr sz="20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94547AA-F55D-48D4-8370-E73A4A13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880360"/>
            <a:ext cx="31089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3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AUTOMATIZAR</a:t>
            </a:r>
            <a:endParaRPr sz="23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8861444-0BC5-441C-9673-B65577B4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675888"/>
            <a:ext cx="3136392" cy="5577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>
                <a:solidFill>
                  <a:srgbClr val="263849"/>
                </a:solidFill>
                <a:latin typeface="Aptos"/>
                <a:ea typeface="Aptos"/>
                <a:cs typeface="Aptos"/>
              </a:rPr>
              <a:t>Ejecutar tareas con control</a:t>
            </a:r>
            <a:endParaRPr sz="15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004BB1A6-D3A8-4B21-977A-4D65921C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4024" y="4498848"/>
            <a:ext cx="31638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DCE4E9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0B3DBDC-C5DB-4179-A7B1-E07D02CD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4599432"/>
            <a:ext cx="313639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350"/>
            </a:defPPr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65788A"/>
                </a:solidFill>
                <a:latin typeface="Aptos"/>
                <a:ea typeface="Aptos"/>
                <a:cs typeface="Aptos"/>
              </a:rPr>
              <a:t>PLC, CNC, robots, actuadores</a:t>
            </a:r>
            <a:endParaRPr sz="13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48C39B54-FF22-4E6F-AB9E-741D5522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1993392"/>
            <a:ext cx="3630168" cy="3227832"/>
          </a:xfrm>
          <a:prstGeom xmlns:a="http://schemas.openxmlformats.org/drawingml/2006/main" prst="roundRect">
            <a:avLst>
              <a:gd name="adj" fmla="val 45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DF4DE1C2-BB10-4BA0-9C0A-6D1C06E2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1993392"/>
            <a:ext cx="3630168" cy="91440"/>
          </a:xfrm>
          <a:prstGeom xmlns:a="http://schemas.openxmlformats.org/drawingml/2006/main" prst="roundRect">
            <a:avLst>
              <a:gd name="adj" fmla="val 160000"/>
            </a:avLst>
          </a:prstGeom>
          <a:solidFill xmlns:a="http://schemas.openxmlformats.org/drawingml/2006/main">
            <a:srgbClr val="E6AB50"/>
          </a:solidFill>
          <a:ln xmlns:a="http://schemas.openxmlformats.org/drawingml/2006/main" w="12700">
            <a:solidFill>
              <a:srgbClr val="E6AB5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DA2CABD8-904A-4462-B4F2-0A8AF58CC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2792" y="2276856"/>
            <a:ext cx="62179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" b="1">
                <a:solidFill>
                  <a:srgbClr val="E6AB50"/>
                </a:solidFill>
                <a:latin typeface="Aptos"/>
                <a:ea typeface="Aptos"/>
                <a:cs typeface="Aptos"/>
              </a:rPr>
              <a:t>03</a:t>
            </a:r>
            <a:endParaRPr sz="20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26CADB18-A320-4D95-B6C3-1B572825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2792" y="2880360"/>
            <a:ext cx="31089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3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USAR IA</a:t>
            </a:r>
            <a:endParaRPr sz="23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307F4A1E-C120-42BB-AC7B-3759C39E5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2792" y="3675888"/>
            <a:ext cx="3136392" cy="5577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>
                <a:solidFill>
                  <a:srgbClr val="263849"/>
                </a:solidFill>
                <a:latin typeface="Aptos"/>
                <a:ea typeface="Aptos"/>
                <a:cs typeface="Aptos"/>
              </a:rPr>
              <a:t>Inferir patrones y apoyar decisiones</a:t>
            </a:r>
            <a:endParaRPr sz="150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70AF4C1C-4B57-44E3-9F5E-F071BEAC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1936" y="4498848"/>
            <a:ext cx="31638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DCE4E9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42ACF27-B618-457C-8B7B-D7E72752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2792" y="4599432"/>
            <a:ext cx="313639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350"/>
            </a:defPPr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65788A"/>
                </a:solidFill>
                <a:latin typeface="Aptos"/>
                <a:ea typeface="Aptos"/>
                <a:cs typeface="Aptos"/>
              </a:rPr>
              <a:t>Visión, predicción, optimización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64716162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CF3F2F8-E3DC-47E5-8D99-01571810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 spc="130">
                <a:solidFill>
                  <a:srgbClr val="168C8B"/>
                </a:solidFill>
                <a:latin typeface="Aptos"/>
                <a:ea typeface="Aptos"/>
                <a:cs typeface="Aptos"/>
              </a:rPr>
              <a:t>CADENA DE DECISIÓN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123EA96-3F5D-48DA-ACA3-43AF1D07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De una soldadura a una acción verificable</a:t>
            </a:r>
            <a:endParaRPr sz="2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155B322-E8E2-4461-A428-AEF309C0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65788A"/>
                </a:solidFill>
                <a:latin typeface="Aptos"/>
                <a:ea typeface="Aptos"/>
                <a:cs typeface="Aptos"/>
              </a:rPr>
              <a:t>La IA ayuda a detectar: el control, la ingeniería y la seguridad siguen siendo esenciales.</a:t>
            </a:r>
            <a:endParaRPr sz="14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B3933E42-1205-460A-A2C5-EBB0A3D8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" y="2221992"/>
            <a:ext cx="2167128" cy="2039112"/>
          </a:xfrm>
          <a:prstGeom xmlns:a="http://schemas.openxmlformats.org/drawingml/2006/main" prst="roundRect">
            <a:avLst>
              <a:gd name="adj" fmla="val 71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EBBB676-9E93-43AF-99FE-122EE709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487168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3954"/>
          </a:solidFill>
          <a:ln xmlns:a="http://schemas.openxmlformats.org/drawingml/2006/main" w="12700">
            <a:solidFill>
              <a:srgbClr val="203954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700F148-1A2B-450B-92B9-264B21FF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176" y="2615184"/>
            <a:ext cx="40233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  <a:endParaRPr sz="13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22FACB7-F3D4-45EB-89A0-4316B784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182112"/>
            <a:ext cx="1911096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4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SOLDADURA</a:t>
            </a:r>
            <a:endParaRPr sz="164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D6D411B-79C0-4E3C-A46D-9C9AD68B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685032"/>
            <a:ext cx="194767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350"/>
            </a:defPPr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65788A"/>
                </a:solidFill>
                <a:latin typeface="Aptos"/>
                <a:ea typeface="Aptos"/>
                <a:cs typeface="Aptos"/>
              </a:rPr>
              <a:t>Proceso físico</a:t>
            </a:r>
            <a:endParaRPr sz="122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DFBBD980-191F-4942-A097-3B454A8C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6624" y="3191256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D94F45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BF1DB13-CE27-4C42-878E-A9B221EC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2221992"/>
            <a:ext cx="2167128" cy="2039112"/>
          </a:xfrm>
          <a:prstGeom xmlns:a="http://schemas.openxmlformats.org/drawingml/2006/main" prst="roundRect">
            <a:avLst>
              <a:gd name="adj" fmla="val 71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51B1803-3FF8-4AEF-91F2-6D308431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608" y="2487168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3954"/>
          </a:solidFill>
          <a:ln xmlns:a="http://schemas.openxmlformats.org/drawingml/2006/main" w="12700">
            <a:solidFill>
              <a:srgbClr val="203954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20F57AB-B8F9-4900-8B23-58DEA2A8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6472" y="2615184"/>
            <a:ext cx="40233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  <a:endParaRPr sz="13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B17C508-2F11-437E-A368-7EA050C5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5808" y="3182112"/>
            <a:ext cx="1911096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4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CÁMARA</a:t>
            </a:r>
            <a:endParaRPr sz="164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B9C3BA5-5185-4377-9F4A-4A029BCE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6664" y="3685032"/>
            <a:ext cx="194767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350"/>
            </a:defPPr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65788A"/>
                </a:solidFill>
                <a:latin typeface="Aptos"/>
                <a:ea typeface="Aptos"/>
                <a:cs typeface="Aptos"/>
              </a:rPr>
              <a:t>Captura de imagen</a:t>
            </a:r>
            <a:endParaRPr sz="122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58E72AD9-6183-4229-845A-A109C2CA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191256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D94F45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5E9D440-A17A-41E9-8E96-3CB98E2B8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088" y="2221992"/>
            <a:ext cx="2167128" cy="2039112"/>
          </a:xfrm>
          <a:prstGeom xmlns:a="http://schemas.openxmlformats.org/drawingml/2006/main" prst="roundRect">
            <a:avLst>
              <a:gd name="adj" fmla="val 7175"/>
            </a:avLst>
          </a:prstGeom>
          <a:solidFill xmlns:a="http://schemas.openxmlformats.org/drawingml/2006/main">
            <a:srgbClr val="C6E9E6"/>
          </a:solidFill>
          <a:ln xmlns:a="http://schemas.openxmlformats.org/drawingml/2006/main" w="12700">
            <a:solidFill>
              <a:srgbClr val="C6E9E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396ACEED-A245-45F4-96B6-212D081D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9904" y="2487168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F45"/>
          </a:solidFill>
          <a:ln xmlns:a="http://schemas.openxmlformats.org/drawingml/2006/main" w="12700">
            <a:solidFill>
              <a:srgbClr val="D94F45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5940B08-BA09-45A4-BEF6-732015F3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2615184"/>
            <a:ext cx="40233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  <a:endParaRPr sz="13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943AF7F-9B2B-4B06-A800-7D7B966D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4104" y="3182112"/>
            <a:ext cx="1911096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4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MODELO</a:t>
            </a:r>
            <a:endParaRPr sz="164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A027021-3403-4A78-82D4-ECFC58A7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3685032"/>
            <a:ext cx="194767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350"/>
            </a:defPPr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65788A"/>
                </a:solidFill>
                <a:latin typeface="Aptos"/>
                <a:ea typeface="Aptos"/>
                <a:cs typeface="Aptos"/>
              </a:rPr>
              <a:t>Anomalía estimada</a:t>
            </a:r>
            <a:endParaRPr sz="122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58F4136C-F2FD-4A9F-B192-5A356C4E5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3216" y="3191256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D94F45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48B429DE-7335-4C64-BC06-F0CE7075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4384" y="2221992"/>
            <a:ext cx="2167128" cy="2039112"/>
          </a:xfrm>
          <a:prstGeom xmlns:a="http://schemas.openxmlformats.org/drawingml/2006/main" prst="roundRect">
            <a:avLst>
              <a:gd name="adj" fmla="val 71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3365DE07-770D-4FC0-976E-77A3CCC0F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87168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3954"/>
          </a:solidFill>
          <a:ln xmlns:a="http://schemas.openxmlformats.org/drawingml/2006/main" w="12700">
            <a:solidFill>
              <a:srgbClr val="203954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741463C3-806F-4284-9263-B8AEF166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3064" y="2615184"/>
            <a:ext cx="40233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  <a:endParaRPr sz="13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7BCCCA41-ACBD-41B2-BB72-4D118006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82112"/>
            <a:ext cx="1911096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4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VALIDACIÓN</a:t>
            </a:r>
            <a:endParaRPr sz="164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CDE43CC0-3FE4-489D-B6A9-BCB357FE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3256" y="3685032"/>
            <a:ext cx="194767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350"/>
            </a:defPPr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65788A"/>
                </a:solidFill>
                <a:latin typeface="Aptos"/>
                <a:ea typeface="Aptos"/>
                <a:cs typeface="Aptos"/>
              </a:rPr>
              <a:t>Técnico / reglas</a:t>
            </a:r>
            <a:endParaRPr sz="122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B29F5FE8-0406-43BA-9942-2DD5AFC7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1512" y="3191256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D94F45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3DB19BCD-14FF-4B1C-86D2-07DA63F69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2221992"/>
            <a:ext cx="2167128" cy="2039112"/>
          </a:xfrm>
          <a:prstGeom xmlns:a="http://schemas.openxmlformats.org/drawingml/2006/main" prst="roundRect">
            <a:avLst>
              <a:gd name="adj" fmla="val 71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F581390D-F187-4713-9666-10D5C0CF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6496" y="2487168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3954"/>
          </a:solidFill>
          <a:ln xmlns:a="http://schemas.openxmlformats.org/drawingml/2006/main" w="12700">
            <a:solidFill>
              <a:srgbClr val="203954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F38773CD-EA8A-4787-BE7D-A0BFAE65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2615184"/>
            <a:ext cx="40233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  <a:endParaRPr sz="13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C4A5E3B8-664D-45C0-8E68-4EF544B9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0696" y="3182112"/>
            <a:ext cx="1911096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4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ACCIÓN</a:t>
            </a:r>
            <a:endParaRPr sz="164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DF0ACAE2-4D29-4F73-8266-F0B56E96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1552" y="3685032"/>
            <a:ext cx="194767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350"/>
            </a:defPPr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65788A"/>
                </a:solidFill>
                <a:latin typeface="Aptos"/>
                <a:ea typeface="Aptos"/>
                <a:cs typeface="Aptos"/>
              </a:rPr>
              <a:t>Reproceso / alerta</a:t>
            </a:r>
            <a:endParaRPr sz="1220"/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B8802167-609C-4FFB-9FF8-2E7273CD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818888"/>
            <a:ext cx="10552176" cy="658368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1D9"/>
          </a:solidFill>
          <a:ln xmlns:a="http://schemas.openxmlformats.org/drawingml/2006/main" w="12700">
            <a:solidFill>
              <a:srgbClr val="FFF1D9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AEEA1502-3DC8-40C3-9744-7F1CA8B0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983480"/>
            <a:ext cx="10058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Un modelo no “ve” todos los defectos ni puede omitir la validación de calidad.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59185480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19D911B-0E0E-4E9A-8004-87AC8B6E0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 spc="130">
                <a:solidFill>
                  <a:srgbClr val="168C8B"/>
                </a:solidFill>
                <a:latin typeface="Aptos"/>
                <a:ea typeface="Aptos"/>
                <a:cs typeface="Aptos"/>
              </a:rPr>
              <a:t>CASO REAL · SHOUGANG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5C33447-CBFD-42A8-AA83-828B3A072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¿Puede la IA ayudar a fabricar acero de mejor calidad?</a:t>
            </a:r>
            <a:endParaRPr sz="2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08B7B76-52AB-4A7B-A2D5-9E69BFA3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65788A"/>
                </a:solidFill>
                <a:latin typeface="Aptos"/>
                <a:ea typeface="Aptos"/>
                <a:cs typeface="Aptos"/>
              </a:rPr>
              <a:t>Beijing Shougang Cold Rolling · Global Lighthouse Network.</a:t>
            </a:r>
            <a:endParaRPr sz="1400"/>
          </a:p>
        </p:txBody>
      </p:sp>
      <p:pic>
        <p:nvPicPr>
          <p:cNvPr id="8" name="Image 0">
            <a:extLst xmlns:a="http://schemas.openxmlformats.org/drawingml/2006/main">
              <a:ext uri="{FF2B5EF4-FFF2-40B4-BE49-F238E27FC236}">
                <a16:creationId xmlns:a16="http://schemas.microsoft.com/office/drawing/2014/main" id="{D1F48130-4AE9-4A0B-9302-498148168C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fc3a7037444271"/>
          <a:srcRect xmlns:a="http://schemas.openxmlformats.org/drawingml/2006/main" l="0" t="21713" r="0" b="21713"/>
          <a:stretch xmlns:a="http://schemas.openxmlformats.org/drawingml/2006/main"/>
        </p:blipFill>
        <p:spPr>
          <a:xfrm xmlns:a="http://schemas.openxmlformats.org/drawingml/2006/main">
            <a:off x="566928" y="1929384"/>
            <a:ext cx="5715000" cy="3639312"/>
          </a:xfrm>
          <a:prstGeom xmlns:a="http://schemas.openxmlformats.org/drawingml/2006/main" prst="rect">
            <a:avLst/>
          </a:prstGeom>
        </p:spPr>
      </p:pic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CE123522-45D3-4789-A9FD-B14966CC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384" y="1929384"/>
            <a:ext cx="5056632" cy="3648456"/>
          </a:xfrm>
          <a:prstGeom xmlns:a="http://schemas.openxmlformats.org/drawingml/2006/main" prst="roundRect">
            <a:avLst>
              <a:gd name="adj" fmla="val 4010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12700">
            <a:solidFill>
              <a:srgbClr val="101D31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8AE9547-A509-4410-B390-407B0034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2258568"/>
            <a:ext cx="1874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67</a:t>
            </a:r>
            <a:endParaRPr sz="44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707F895D-E92C-41D1-AA72-8F861FD7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2331720"/>
            <a:ext cx="2807208" cy="61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>
                <a:solidFill>
                  <a:srgbClr val="DEE7EE"/>
                </a:solidFill>
                <a:latin typeface="Aptos"/>
                <a:ea typeface="Aptos"/>
                <a:cs typeface="Aptos"/>
              </a:rPr>
              <a:t>aplicaciones de tecnologías de fabricación avanzada</a:t>
            </a:r>
            <a:endParaRPr sz="150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53660D77-7553-4C45-B65E-50452404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3200400"/>
            <a:ext cx="43708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718192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9F42A84A-3251-4058-8D8C-CD73FC1F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3410712"/>
            <a:ext cx="3063240" cy="61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900" b="1">
                <a:solidFill>
                  <a:srgbClr val="E6AB50"/>
                </a:solidFill>
                <a:latin typeface="Aptos"/>
                <a:ea typeface="Aptos"/>
                <a:cs typeface="Aptos"/>
              </a:rPr>
              <a:t>61 %</a:t>
            </a:r>
            <a:endParaRPr sz="39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97195F9C-DCDF-44CE-AE94-469BB9704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4087368"/>
            <a:ext cx="4251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>
                <a:solidFill>
                  <a:srgbClr val="FFFFFF"/>
                </a:solidFill>
                <a:latin typeface="Aptos"/>
                <a:ea typeface="Aptos"/>
                <a:cs typeface="Aptos"/>
              </a:rPr>
              <a:t>de ellas incorporaron IA</a:t>
            </a:r>
            <a:endParaRPr sz="15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DC49971D-DA1A-4179-A4FC-F510CDB4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4828032"/>
            <a:ext cx="427939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350"/>
            </a:defPPr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 xmlns:a="http://schemas.openxmlformats.org/drawingml/2006/main">
            <a:pPr marL="0" indent="0" algn="l">
              <a:buNone/>
            </a:pPr>
            <a:r>
              <a:rPr sz="1350" b="1">
                <a:solidFill>
                  <a:srgbClr val="C6E9E6"/>
                </a:solidFill>
                <a:latin typeface="Aptos"/>
                <a:ea typeface="Aptos"/>
                <a:cs typeface="Aptos"/>
              </a:rPr>
              <a:t>CASO DE INDUSTRIA TRADICIONAL</a:t>
            </a:r>
            <a:endParaRPr sz="1300"/>
          </a:p>
        </p:txBody>
      </p:sp>
      <p:sp>
        <p:nvSpPr>
          <p:cNvPr id="16" name="illustration-caption-background">
            <a:extLst xmlns:a="http://schemas.openxmlformats.org/drawingml/2006/main">
              <a:ext uri="{FF2B5EF4-FFF2-40B4-BE49-F238E27FC236}">
                <a16:creationId xmlns:a16="http://schemas.microsoft.com/office/drawing/2014/main" id="{FC96F35E-2B9F-429C-B076-2D34F6DD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278" y="2062734"/>
            <a:ext cx="17335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illustration-caption">
            <a:extLst xmlns:a="http://schemas.openxmlformats.org/drawingml/2006/main">
              <a:ext uri="{FF2B5EF4-FFF2-40B4-BE49-F238E27FC236}">
                <a16:creationId xmlns:a16="http://schemas.microsoft.com/office/drawing/2014/main" id="{4005D22A-51A6-423C-8A77-E565CF2A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478" y="2091309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ILUSTRACIÓN CONCEPTUAL</a:t>
            </a:r>
          </a:p>
        </p:txBody>
      </p:sp>
    </p:spTree>
    <p:extLst>
      <p:ext uri="{BB962C8B-B14F-4D97-AF65-F5344CB8AC3E}">
        <p14:creationId xmlns:p14="http://schemas.microsoft.com/office/powerpoint/2010/main" val="151363411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5A72900-9C6F-4B4A-B338-B0549039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 spc="130">
                <a:solidFill>
                  <a:srgbClr val="168C8B"/>
                </a:solidFill>
                <a:latin typeface="Aptos"/>
                <a:ea typeface="Aptos"/>
                <a:cs typeface="Aptos"/>
              </a:rPr>
              <a:t>SHOUGANG · IMPACTO MEDIDO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C3AAA7D-54E2-4146-98FF-EC8CA0D5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Menos defectos; mayor eficiencia productiva</a:t>
            </a:r>
            <a:endParaRPr sz="2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1370E29-6B92-48E6-B81A-9B80E577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65788A"/>
                </a:solidFill>
                <a:latin typeface="Aptos"/>
                <a:ea typeface="Aptos"/>
                <a:cs typeface="Aptos"/>
              </a:rPr>
              <a:t>Resultados reportados por el estudio de caso WEF, no un ensayo causal controlado.</a:t>
            </a:r>
            <a:endParaRPr sz="14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CEA23A1-86A7-44A9-9C8C-BE08CDE6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1975104"/>
            <a:ext cx="3429000" cy="1901952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66CC196-619E-4A1F-A1B2-8F50502CC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103120"/>
            <a:ext cx="306324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000" b="1">
                <a:solidFill>
                  <a:srgbClr val="168C8B"/>
                </a:solidFill>
                <a:latin typeface="Aptos"/>
                <a:ea typeface="Aptos"/>
                <a:cs typeface="Aptos"/>
              </a:rPr>
              <a:t>−35 %</a:t>
            </a:r>
            <a:endParaRPr sz="40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73A07B4-86E5-4D2D-BD9F-757E7B8D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807208"/>
            <a:ext cx="3026664" cy="941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350"/>
            </a:defPPr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263849"/>
                </a:solidFill>
                <a:latin typeface="Aptos"/>
                <a:ea typeface="Aptos"/>
                <a:cs typeface="Aptos"/>
              </a:rPr>
              <a:t>Defectos de producto</a:t>
            </a:r>
            <a:endParaRPr sz="12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9EEBE9D-683C-4139-BD15-A2725328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75104"/>
            <a:ext cx="3429000" cy="1901952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05C3340-5064-4A1D-958D-602F0EAE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103120"/>
            <a:ext cx="306324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000" b="1">
                <a:solidFill>
                  <a:srgbClr val="168C8B"/>
                </a:solidFill>
                <a:latin typeface="Aptos"/>
                <a:ea typeface="Aptos"/>
                <a:cs typeface="Aptos"/>
              </a:rPr>
              <a:t>+21,2 %</a:t>
            </a:r>
            <a:endParaRPr sz="4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5CE898E-76D8-4E92-B72C-A4EDF34F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2807208"/>
            <a:ext cx="3026664" cy="941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350"/>
            </a:defPPr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263849"/>
                </a:solidFill>
                <a:latin typeface="Aptos"/>
                <a:ea typeface="Aptos"/>
                <a:cs typeface="Aptos"/>
              </a:rPr>
              <a:t>Eficiencia de la línea</a:t>
            </a:r>
            <a:endParaRPr sz="12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069D6EE3-D0E2-4788-9B78-C0A4AD12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1975104"/>
            <a:ext cx="3429000" cy="1901952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56ECF5F-DA5F-421C-837C-D3B0B9717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5592" y="2103120"/>
            <a:ext cx="306324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000" b="1">
                <a:solidFill>
                  <a:srgbClr val="168C8B"/>
                </a:solidFill>
                <a:latin typeface="Aptos"/>
                <a:ea typeface="Aptos"/>
                <a:cs typeface="Aptos"/>
              </a:rPr>
              <a:t>−55 %</a:t>
            </a:r>
            <a:endParaRPr sz="4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F7CE744-CDBE-452B-BC58-D6B8A1C6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2807208"/>
            <a:ext cx="3026664" cy="941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350"/>
            </a:defPPr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263849"/>
                </a:solidFill>
                <a:latin typeface="Aptos"/>
                <a:ea typeface="Aptos"/>
                <a:cs typeface="Aptos"/>
              </a:rPr>
              <a:t>Reclamos de clientes</a:t>
            </a:r>
            <a:endParaRPr sz="12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3E1FE66B-D018-4272-B3DC-BA291F81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4325112"/>
            <a:ext cx="10689336" cy="9144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1D9"/>
          </a:solidFill>
          <a:ln xmlns:a="http://schemas.openxmlformats.org/drawingml/2006/main" w="12700">
            <a:solidFill>
              <a:srgbClr val="FFF1D9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D4D16F45-CA7A-4EE1-A1D2-01C1470C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4489704"/>
            <a:ext cx="10049256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Si antes había 100 defectos, reducirlos 35 % equivale a tener 65.</a:t>
            </a:r>
            <a:endParaRPr sz="2000"/>
          </a:p>
        </p:txBody>
      </p:sp>
    </p:spTree>
    <p:extLst>
      <p:ext uri="{BB962C8B-B14F-4D97-AF65-F5344CB8AC3E}">
        <p14:creationId xmlns:p14="http://schemas.microsoft.com/office/powerpoint/2010/main" val="126643215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B9FFE06-97D8-4F03-94F0-3E731DEA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 spc="130">
                <a:solidFill>
                  <a:srgbClr val="168C8B"/>
                </a:solidFill>
                <a:latin typeface="Aptos"/>
                <a:ea typeface="Aptos"/>
                <a:cs typeface="Aptos"/>
              </a:rPr>
              <a:t>CASO REAL · MIDEA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269BDC7-F2B1-4EE9-89C3-DDA17706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Una fábrica que aprende a producir pedidos diferentes</a:t>
            </a:r>
            <a:endParaRPr sz="2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54001C4-EDCF-4AE2-9446-387E5291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65788A"/>
                </a:solidFill>
                <a:latin typeface="Aptos"/>
                <a:ea typeface="Aptos"/>
                <a:cs typeface="Aptos"/>
              </a:rPr>
              <a:t>Midea General Refrigeration, Chongqing · Refrigeración y equipamiento industrial.</a:t>
            </a:r>
            <a:endParaRPr sz="1400"/>
          </a:p>
        </p:txBody>
      </p:sp>
      <p:pic>
        <p:nvPicPr>
          <p:cNvPr id="8" name="Image 0">
            <a:extLst xmlns:a="http://schemas.openxmlformats.org/drawingml/2006/main">
              <a:ext uri="{FF2B5EF4-FFF2-40B4-BE49-F238E27FC236}">
                <a16:creationId xmlns:a16="http://schemas.microsoft.com/office/drawing/2014/main" id="{B8EE2E82-F15F-4E71-9991-8FB541F1F8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27d658cc134758"/>
          <a:srcRect xmlns:a="http://schemas.openxmlformats.org/drawingml/2006/main" l="0" t="19592" r="0" b="19592"/>
          <a:stretch xmlns:a="http://schemas.openxmlformats.org/drawingml/2006/main"/>
        </p:blipFill>
        <p:spPr>
          <a:xfrm xmlns:a="http://schemas.openxmlformats.org/drawingml/2006/main">
            <a:off x="585216" y="1874520"/>
            <a:ext cx="5623560" cy="3849624"/>
          </a:xfrm>
          <a:prstGeom xmlns:a="http://schemas.openxmlformats.org/drawingml/2006/main" prst="rect">
            <a:avLst/>
          </a:prstGeom>
        </p:spPr>
      </p:pic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89A4C053-D8D0-4D9E-9CFA-E3273164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1874520"/>
            <a:ext cx="5065776" cy="3849624"/>
          </a:xfrm>
          <a:prstGeom xmlns:a="http://schemas.openxmlformats.org/drawingml/2006/main" prst="roundRect">
            <a:avLst>
              <a:gd name="adj" fmla="val 3563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12700">
            <a:solidFill>
              <a:srgbClr val="101D31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AF960015-0B04-4313-86E9-99A28A4D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148840"/>
            <a:ext cx="2267712" cy="338328"/>
          </a:xfrm>
          <a:prstGeom xmlns:a="http://schemas.openxmlformats.org/drawingml/2006/main" prst="roundRect">
            <a:avLst>
              <a:gd name="adj" fmla="val 43243"/>
            </a:avLst>
          </a:prstGeom>
          <a:solidFill xmlns:a="http://schemas.openxmlformats.org/drawingml/2006/main">
            <a:srgbClr val="D94F45"/>
          </a:solidFill>
          <a:ln xmlns:a="http://schemas.openxmlformats.org/drawingml/2006/main" w="12700">
            <a:solidFill>
              <a:srgbClr val="D94F45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7611AC9E-5C03-4772-AB64-3A581A10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2167128"/>
            <a:ext cx="2048256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40" b="1" spc="70">
                <a:solidFill>
                  <a:srgbClr val="FFFFFF"/>
                </a:solidFill>
                <a:latin typeface="Aptos"/>
                <a:ea typeface="Aptos"/>
                <a:cs typeface="Aptos"/>
              </a:rPr>
              <a:t>PRODUCCIÓN FLEXIBLE</a:t>
            </a:r>
            <a:endParaRPr sz="104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E89CE1CA-62B4-45A1-B3C4-603FF6CC9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9128" y="2743200"/>
            <a:ext cx="2313432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79</a:t>
            </a:r>
            <a:endParaRPr sz="53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BCF6A59-393A-41ED-8647-E85703D5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3336" y="2816352"/>
            <a:ext cx="2642616" cy="7955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rgbClr val="DEE9F0"/>
                </a:solidFill>
                <a:latin typeface="Aptos"/>
                <a:ea typeface="Aptos"/>
                <a:cs typeface="Aptos"/>
              </a:rPr>
              <a:t>usos digitales desplegados</a:t>
            </a:r>
            <a:endParaRPr sz="16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9A6EDEE9-81A5-40A6-8C25-4E81D322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3968496"/>
            <a:ext cx="43982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4778D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4798BA83-671B-4A08-957E-28FC6DB3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9128" y="4187952"/>
            <a:ext cx="44988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Pedidos personalizados:</a:t>
            </a:r>
            <a:endParaRPr sz="16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5D427D1-B3FE-4201-82C0-89D876AD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9128" y="4599432"/>
            <a:ext cx="4553712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E6AB50"/>
                </a:solidFill>
                <a:latin typeface="Aptos"/>
                <a:ea typeface="Aptos"/>
                <a:cs typeface="Aptos"/>
              </a:rPr>
              <a:t>del 31 % al 87 %</a:t>
            </a:r>
            <a:endParaRPr sz="2500"/>
          </a:p>
        </p:txBody>
      </p:sp>
      <p:sp>
        <p:nvSpPr>
          <p:cNvPr id="17" name="illustration-caption-background">
            <a:extLst xmlns:a="http://schemas.openxmlformats.org/drawingml/2006/main">
              <a:ext uri="{FF2B5EF4-FFF2-40B4-BE49-F238E27FC236}">
                <a16:creationId xmlns:a16="http://schemas.microsoft.com/office/drawing/2014/main" id="{EE0810D5-0D73-4E2C-9962-3082A189D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566" y="2007870"/>
            <a:ext cx="17335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illustration-caption">
            <a:extLst xmlns:a="http://schemas.openxmlformats.org/drawingml/2006/main">
              <a:ext uri="{FF2B5EF4-FFF2-40B4-BE49-F238E27FC236}">
                <a16:creationId xmlns:a16="http://schemas.microsoft.com/office/drawing/2014/main" id="{9C70E413-B775-4846-9E89-FA68AA9C6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66" y="203644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ILUSTRACIÓN CONCEPTUAL</a:t>
            </a:r>
          </a:p>
        </p:txBody>
      </p:sp>
    </p:spTree>
    <p:extLst>
      <p:ext uri="{BB962C8B-B14F-4D97-AF65-F5344CB8AC3E}">
        <p14:creationId xmlns:p14="http://schemas.microsoft.com/office/powerpoint/2010/main" val="192942474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AAB6A07-26CE-474F-99AE-D5A0DB43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 spc="130">
                <a:solidFill>
                  <a:srgbClr val="168C8B"/>
                </a:solidFill>
                <a:latin typeface="Aptos"/>
                <a:ea typeface="Aptos"/>
                <a:cs typeface="Aptos"/>
              </a:rPr>
              <a:t>MIDEA · RESULTADOS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03FF58E-5B05-41E2-B09E-8C5C0AA3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Personalizar sin sacrificar tiempos ni calidad</a:t>
            </a:r>
            <a:endParaRPr sz="2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72BFC1A-0F9E-48CD-AED1-89B5038A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65788A"/>
                </a:solidFill>
                <a:latin typeface="Aptos"/>
                <a:ea typeface="Aptos"/>
                <a:cs typeface="Aptos"/>
              </a:rPr>
              <a:t>Caso WEF: indicadores reportados tras una transformación digital de la planta.</a:t>
            </a:r>
            <a:endParaRPr sz="14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DD65634E-EB3E-4F5D-BEBF-89B81BFD4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1993392"/>
            <a:ext cx="3410712" cy="1947672"/>
          </a:xfrm>
          <a:prstGeom xmlns:a="http://schemas.openxmlformats.org/drawingml/2006/main" prst="roundRect">
            <a:avLst>
              <a:gd name="adj" fmla="val 6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D4C0EDE-33D6-4CEC-8E92-0180A231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121408"/>
            <a:ext cx="3044952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300" b="1">
                <a:solidFill>
                  <a:srgbClr val="168C8B"/>
                </a:solidFill>
                <a:latin typeface="Aptos"/>
                <a:ea typeface="Aptos"/>
                <a:cs typeface="Aptos"/>
              </a:rPr>
              <a:t>−81 %</a:t>
            </a:r>
            <a:endParaRPr sz="4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C5E9878-696D-45DA-BA07-0362011A5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825496"/>
            <a:ext cx="3008376" cy="987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350"/>
            </a:defPPr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263849"/>
                </a:solidFill>
                <a:latin typeface="Aptos"/>
                <a:ea typeface="Aptos"/>
                <a:cs typeface="Aptos"/>
              </a:rPr>
              <a:t>Tiempo de configuración</a:t>
            </a:r>
            <a:endParaRPr sz="12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1AB76D3F-11AE-4744-B87D-F4D08F75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1993392"/>
            <a:ext cx="3410712" cy="1947672"/>
          </a:xfrm>
          <a:prstGeom xmlns:a="http://schemas.openxmlformats.org/drawingml/2006/main" prst="roundRect">
            <a:avLst>
              <a:gd name="adj" fmla="val 6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52E2DD1-E6E6-46AB-B1F0-7B107EA3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712" y="2121408"/>
            <a:ext cx="3044952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300" b="1">
                <a:solidFill>
                  <a:srgbClr val="168C8B"/>
                </a:solidFill>
                <a:latin typeface="Aptos"/>
                <a:ea typeface="Aptos"/>
                <a:cs typeface="Aptos"/>
              </a:rPr>
              <a:t>−45 %</a:t>
            </a:r>
            <a:endParaRPr sz="43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9B26839-2BEC-49E7-AC48-6F5316F7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25496"/>
            <a:ext cx="3008376" cy="987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350"/>
            </a:defPPr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263849"/>
                </a:solidFill>
                <a:latin typeface="Aptos"/>
                <a:ea typeface="Aptos"/>
                <a:cs typeface="Aptos"/>
              </a:rPr>
              <a:t>Tiempo de diseño</a:t>
            </a:r>
            <a:endParaRPr sz="12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C0B63FB4-9CF8-412C-B6E3-A8D5DD3A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993392"/>
            <a:ext cx="3410712" cy="1947672"/>
          </a:xfrm>
          <a:prstGeom xmlns:a="http://schemas.openxmlformats.org/drawingml/2006/main" prst="roundRect">
            <a:avLst>
              <a:gd name="adj" fmla="val 6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8BA2BB6-D7AF-484B-8C8A-EE8B9141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21408"/>
            <a:ext cx="3044952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300" b="1">
                <a:solidFill>
                  <a:srgbClr val="168C8B"/>
                </a:solidFill>
                <a:latin typeface="Aptos"/>
                <a:ea typeface="Aptos"/>
                <a:cs typeface="Aptos"/>
              </a:rPr>
              <a:t>−31 %</a:t>
            </a:r>
            <a:endParaRPr sz="4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FCA7479-F69D-4AB1-BAB2-252E5D16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2825496"/>
            <a:ext cx="3008376" cy="987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350"/>
            </a:defPPr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263849"/>
                </a:solidFill>
                <a:latin typeface="Aptos"/>
                <a:ea typeface="Aptos"/>
                <a:cs typeface="Aptos"/>
              </a:rPr>
              <a:t>Fallas posventa</a:t>
            </a:r>
            <a:endParaRPr sz="12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60BF7062-D0BA-4106-A83A-7AB38994A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370832"/>
            <a:ext cx="10735056" cy="932688"/>
          </a:xfrm>
          <a:prstGeom xmlns:a="http://schemas.openxmlformats.org/drawingml/2006/main" prst="roundRect">
            <a:avLst>
              <a:gd name="adj" fmla="val 13725"/>
            </a:avLst>
          </a:prstGeom>
          <a:solidFill xmlns:a="http://schemas.openxmlformats.org/drawingml/2006/main">
            <a:srgbClr val="C6E9E6"/>
          </a:solidFill>
          <a:ln xmlns:a="http://schemas.openxmlformats.org/drawingml/2006/main" w="12700">
            <a:solidFill>
              <a:srgbClr val="C6E9E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E9DA6DB-DFCE-4D95-95D6-272E47A2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4562856"/>
            <a:ext cx="10085832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Si configurar demandaba 100 minutos, una reducción del 81 % lo llevaría a 19 minutos.</a:t>
            </a: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76470921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74F0D37-29AD-4760-9B3E-A77F9D01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 spc="130">
                <a:solidFill>
                  <a:srgbClr val="168C8B"/>
                </a:solidFill>
                <a:latin typeface="Aptos"/>
                <a:ea typeface="Aptos"/>
                <a:cs typeface="Aptos"/>
              </a:rPr>
              <a:t>ROBÓTICA REAL · IFR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4742DC1-7502-4F0C-AE92-244C15D09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China concentra el 59 % de las nuevas instalaciones</a:t>
            </a:r>
            <a:endParaRPr sz="2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789485A-E013-42F7-A6AA-4F0F6820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65788A"/>
                </a:solidFill>
                <a:latin typeface="Aptos"/>
                <a:ea typeface="Aptos"/>
                <a:cs typeface="Aptos"/>
              </a:rPr>
              <a:t>Instalaciones de robots industriales en 2025. Categoría distinta de los humanoides.</a:t>
            </a:r>
            <a:endParaRPr sz="14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3CED0DA-6447-4168-B4C0-340ECBC4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1956816"/>
            <a:ext cx="5175504" cy="2112264"/>
          </a:xfrm>
          <a:prstGeom xmlns:a="http://schemas.openxmlformats.org/drawingml/2006/main" prst="roundRect">
            <a:avLst>
              <a:gd name="adj" fmla="val 56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A15184A-3B4A-426B-861A-7CA068114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084832"/>
            <a:ext cx="4809744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400" b="1">
                <a:solidFill>
                  <a:srgbClr val="168C8B"/>
                </a:solidFill>
                <a:latin typeface="Aptos"/>
                <a:ea typeface="Aptos"/>
                <a:cs typeface="Aptos"/>
              </a:rPr>
              <a:t>354.000</a:t>
            </a:r>
            <a:endParaRPr sz="4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C24E627-E6E7-48C5-AC7B-2E9B4502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788920"/>
            <a:ext cx="4773168" cy="1152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350"/>
            </a:defPPr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263849"/>
                </a:solidFill>
                <a:latin typeface="Aptos"/>
                <a:ea typeface="Aptos"/>
                <a:cs typeface="Aptos"/>
              </a:rPr>
              <a:t>Robots industriales instalados en China</a:t>
            </a:r>
            <a:endParaRPr sz="12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45D28D94-4C3C-4505-BA90-2EFDA501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8" y="1956816"/>
            <a:ext cx="5175504" cy="2112264"/>
          </a:xfrm>
          <a:prstGeom xmlns:a="http://schemas.openxmlformats.org/drawingml/2006/main" prst="roundRect">
            <a:avLst>
              <a:gd name="adj" fmla="val 56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7A8A559-04D2-4808-86DA-078A13F4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8" y="2084832"/>
            <a:ext cx="4809744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400" b="1">
                <a:solidFill>
                  <a:srgbClr val="D94F45"/>
                </a:solidFill>
                <a:latin typeface="Aptos"/>
                <a:ea typeface="Aptos"/>
                <a:cs typeface="Aptos"/>
              </a:rPr>
              <a:t>59 %</a:t>
            </a:r>
            <a:endParaRPr sz="4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5E76EEA-55FD-431E-8C32-9A262E53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2788920"/>
            <a:ext cx="4773168" cy="1152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350"/>
            </a:defPPr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263849"/>
                </a:solidFill>
                <a:latin typeface="Aptos"/>
                <a:ea typeface="Aptos"/>
                <a:cs typeface="Aptos"/>
              </a:rPr>
              <a:t>Cuota de instalaciones mundiales</a:t>
            </a:r>
            <a:endParaRPr sz="12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76ADD488-989C-4AF6-BAE2-FB804EBA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4407408"/>
            <a:ext cx="10588752" cy="96012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12700">
            <a:solidFill>
              <a:srgbClr val="101D31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D12A2A6-8A7D-4628-B7F9-4127E6A3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4590288"/>
            <a:ext cx="239572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55 %</a:t>
            </a:r>
            <a:endParaRPr sz="26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ADD3360-D221-44B9-ACF9-391E27BF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4136" y="4626864"/>
            <a:ext cx="747064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participación de proveedores chinos en su mercado doméstico</a:t>
            </a:r>
            <a:endParaRPr sz="1700"/>
          </a:p>
        </p:txBody>
      </p:sp>
    </p:spTree>
    <p:extLst>
      <p:ext uri="{BB962C8B-B14F-4D97-AF65-F5344CB8AC3E}">
        <p14:creationId xmlns:p14="http://schemas.microsoft.com/office/powerpoint/2010/main" val="65375332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60D6775-A685-4FD1-8BC2-9545D54F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 spc="130">
                <a:solidFill>
                  <a:srgbClr val="168C8B"/>
                </a:solidFill>
                <a:latin typeface="Aptos"/>
                <a:ea typeface="Aptos"/>
                <a:cs typeface="Aptos"/>
              </a:rPr>
              <a:t>DOS ROBÓTICAS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42931F3-41F7-4593-B688-17FBD6920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Un brazo industrial y un humanoide no miden lo mismo</a:t>
            </a:r>
            <a:endParaRPr sz="2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2479FB9-5BD9-4881-8FCF-FFB414BDD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65788A"/>
                </a:solidFill>
                <a:latin typeface="Aptos"/>
                <a:ea typeface="Aptos"/>
                <a:cs typeface="Aptos"/>
              </a:rPr>
              <a:t>El humanoide es atractivo visualmente; la adopción industrial masiva es otra evidencia.</a:t>
            </a:r>
            <a:endParaRPr sz="1400"/>
          </a:p>
        </p:txBody>
      </p:sp>
      <p:pic>
        <p:nvPicPr>
          <p:cNvPr id="8" name="Image 0">
            <a:extLst xmlns:a="http://schemas.openxmlformats.org/drawingml/2006/main">
              <a:ext uri="{FF2B5EF4-FFF2-40B4-BE49-F238E27FC236}">
                <a16:creationId xmlns:a16="http://schemas.microsoft.com/office/drawing/2014/main" id="{FC9FE8FB-1289-438C-BFB3-9BA42932E3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601fa5a89b4cb0"/>
          <a:srcRect xmlns:a="http://schemas.openxmlformats.org/drawingml/2006/main" l="0" t="469" r="0" b="469"/>
          <a:stretch xmlns:a="http://schemas.openxmlformats.org/drawingml/2006/main"/>
        </p:blipFill>
        <p:spPr>
          <a:xfrm xmlns:a="http://schemas.openxmlformats.org/drawingml/2006/main">
            <a:off x="667512" y="1938528"/>
            <a:ext cx="5257800" cy="3447288"/>
          </a:xfrm>
          <a:prstGeom xmlns:a="http://schemas.openxmlformats.org/drawingml/2006/main" prst="rect">
            <a:avLst/>
          </a:prstGeom>
        </p:spPr>
      </p:pic>
      <p:pic>
        <p:nvPicPr>
          <p:cNvPr id="9" name="Image 1">
            <a:extLst xmlns:a="http://schemas.openxmlformats.org/drawingml/2006/main">
              <a:ext uri="{FF2B5EF4-FFF2-40B4-BE49-F238E27FC236}">
                <a16:creationId xmlns:a16="http://schemas.microsoft.com/office/drawing/2014/main" id="{7144F814-4E2B-4EE3-9008-4618256071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33ed1900104d99"/>
          <a:srcRect xmlns:a="http://schemas.openxmlformats.org/drawingml/2006/main" l="0" t="599" r="0" b="599"/>
          <a:stretch xmlns:a="http://schemas.openxmlformats.org/drawingml/2006/main"/>
        </p:blipFill>
        <p:spPr>
          <a:xfrm xmlns:a="http://schemas.openxmlformats.org/drawingml/2006/main">
            <a:off x="6236208" y="1938528"/>
            <a:ext cx="5257800" cy="3447288"/>
          </a:xfrm>
          <a:prstGeom xmlns:a="http://schemas.openxmlformats.org/drawingml/2006/main" prst="rect">
            <a:avLst/>
          </a:prstGeom>
        </p:spPr>
      </p:pic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80657BC1-D146-4F65-A3CE-65EB6680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5385816"/>
            <a:ext cx="5257800" cy="475488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12700">
            <a:solidFill>
              <a:srgbClr val="101D31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40D1FA18-B842-41AA-AF10-1729DE1C6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504688"/>
            <a:ext cx="497433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ROBOT INDUSTRIAL · tarea repetible</a:t>
            </a:r>
            <a:endParaRPr sz="140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7D4DB766-A20C-4F8A-A736-5CFC2F4C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5385816"/>
            <a:ext cx="5257800" cy="475488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8C8B"/>
          </a:solidFill>
          <a:ln xmlns:a="http://schemas.openxmlformats.org/drawingml/2006/main" w="12700">
            <a:solidFill>
              <a:srgbClr val="168C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0F905ACB-1D16-4DFA-A21B-7E085CA1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792" y="5504688"/>
            <a:ext cx="5047488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HUMANOIDE · movilidad y manipulación</a:t>
            </a:r>
            <a:endParaRPr sz="1400"/>
          </a:p>
        </p:txBody>
      </p:sp>
      <p:sp>
        <p:nvSpPr>
          <p:cNvPr id="14" name="illustration-caption-background">
            <a:extLst xmlns:a="http://schemas.openxmlformats.org/drawingml/2006/main">
              <a:ext uri="{FF2B5EF4-FFF2-40B4-BE49-F238E27FC236}">
                <a16:creationId xmlns:a16="http://schemas.microsoft.com/office/drawing/2014/main" id="{F52DD35C-A272-4A4F-8210-C627E1DD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862" y="2071878"/>
            <a:ext cx="17335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illustration-caption">
            <a:extLst xmlns:a="http://schemas.openxmlformats.org/drawingml/2006/main">
              <a:ext uri="{FF2B5EF4-FFF2-40B4-BE49-F238E27FC236}">
                <a16:creationId xmlns:a16="http://schemas.microsoft.com/office/drawing/2014/main" id="{B6EF4AC8-F264-47E4-8EC8-A6DD1E54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062" y="2100453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ILUSTRACIÓN CONCEPTUAL</a:t>
            </a:r>
          </a:p>
        </p:txBody>
      </p:sp>
    </p:spTree>
    <p:extLst>
      <p:ext uri="{BB962C8B-B14F-4D97-AF65-F5344CB8AC3E}">
        <p14:creationId xmlns:p14="http://schemas.microsoft.com/office/powerpoint/2010/main" val="91018508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580B2CF-3807-47AB-B28C-74E41FEE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 spc="130">
                <a:solidFill>
                  <a:srgbClr val="168C8B"/>
                </a:solidFill>
                <a:latin typeface="Aptos"/>
                <a:ea typeface="Aptos"/>
                <a:cs typeface="Aptos"/>
              </a:rPr>
              <a:t>CASO UNITREE · G1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01C800D-61D4-4EE7-895F-EED890389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Un humanoide es una red industrial condensada</a:t>
            </a:r>
            <a:endParaRPr sz="2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18D4B6A-678A-427C-AB76-B4D309DF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65788A"/>
                </a:solidFill>
                <a:latin typeface="Aptos"/>
                <a:ea typeface="Aptos"/>
                <a:cs typeface="Aptos"/>
              </a:rPr>
              <a:t>Detrás del movimiento hay electrónica, motores, control, sensores y baterías.</a:t>
            </a:r>
            <a:endParaRPr sz="1400"/>
          </a:p>
        </p:txBody>
      </p:sp>
      <p:pic>
        <p:nvPicPr>
          <p:cNvPr id="8" name="Image 0">
            <a:extLst xmlns:a="http://schemas.openxmlformats.org/drawingml/2006/main">
              <a:ext uri="{FF2B5EF4-FFF2-40B4-BE49-F238E27FC236}">
                <a16:creationId xmlns:a16="http://schemas.microsoft.com/office/drawing/2014/main" id="{433C2988-3358-4BB4-9C89-8BD75B7EF0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cea0055e8644b3"/>
          <a:srcRect xmlns:a="http://schemas.openxmlformats.org/drawingml/2006/main" l="14215" t="0" r="14215" b="0"/>
          <a:stretch xmlns:a="http://schemas.openxmlformats.org/drawingml/2006/main"/>
        </p:blipFill>
        <p:spPr>
          <a:xfrm xmlns:a="http://schemas.openxmlformats.org/drawingml/2006/main">
            <a:off x="685800" y="1920240"/>
            <a:ext cx="4270248" cy="3959352"/>
          </a:xfrm>
          <a:prstGeom xmlns:a="http://schemas.openxmlformats.org/drawingml/2006/main" prst="rect">
            <a:avLst/>
          </a:prstGeom>
        </p:spPr>
      </p:pic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A32D3A74-CDB8-4B86-92AC-CB169AB1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1920240"/>
            <a:ext cx="6053328" cy="557784"/>
          </a:xfrm>
          <a:prstGeom xmlns:a="http://schemas.openxmlformats.org/drawingml/2006/main" prst="roundRect">
            <a:avLst>
              <a:gd name="adj" fmla="val 14754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12700">
            <a:solidFill>
              <a:srgbClr val="F1F4F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B057DEEE-6629-4BDE-9884-25D03C23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2976" y="2075688"/>
            <a:ext cx="246888" cy="2468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C8B"/>
          </a:solidFill>
          <a:ln xmlns:a="http://schemas.openxmlformats.org/drawingml/2006/main" w="12700">
            <a:solidFill>
              <a:srgbClr val="168C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34E35FE9-F30D-4125-A2F0-71953964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456" y="2011680"/>
            <a:ext cx="193852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ACTUADORES</a:t>
            </a:r>
            <a:endParaRPr sz="15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1583E8B-245D-45AC-8582-6C382335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144" y="2020824"/>
            <a:ext cx="312724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263849"/>
                </a:solidFill>
                <a:latin typeface="Aptos"/>
                <a:ea typeface="Aptos"/>
                <a:cs typeface="Aptos"/>
              </a:rPr>
              <a:t>Motores y transmisión</a:t>
            </a:r>
            <a:endParaRPr sz="14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0D10A382-B971-45AB-9B9C-3A65261B9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2606040"/>
            <a:ext cx="6053328" cy="557784"/>
          </a:xfrm>
          <a:prstGeom xmlns:a="http://schemas.openxmlformats.org/drawingml/2006/main" prst="roundRect">
            <a:avLst>
              <a:gd name="adj" fmla="val 147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885FE4BB-CF0D-4D71-9D36-D8C518BC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2976" y="2761488"/>
            <a:ext cx="246888" cy="2468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C8B"/>
          </a:solidFill>
          <a:ln xmlns:a="http://schemas.openxmlformats.org/drawingml/2006/main" w="12700">
            <a:solidFill>
              <a:srgbClr val="168C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0DC6338E-EEFA-47CE-9A57-FBAA7652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456" y="2697480"/>
            <a:ext cx="193852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PERCEPCIÓN</a:t>
            </a:r>
            <a:endParaRPr sz="15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77C3052-4BF6-44AD-85FD-5A7F215B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144" y="2706624"/>
            <a:ext cx="312724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263849"/>
                </a:solidFill>
                <a:latin typeface="Aptos"/>
                <a:ea typeface="Aptos"/>
                <a:cs typeface="Aptos"/>
              </a:rPr>
              <a:t>Cámaras y sensores</a:t>
            </a:r>
            <a:endParaRPr sz="14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A54176E9-6692-42EE-AFB2-9C1CD805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3291840"/>
            <a:ext cx="6053328" cy="557784"/>
          </a:xfrm>
          <a:prstGeom xmlns:a="http://schemas.openxmlformats.org/drawingml/2006/main" prst="roundRect">
            <a:avLst>
              <a:gd name="adj" fmla="val 14754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12700">
            <a:solidFill>
              <a:srgbClr val="F1F4F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2F3F0E77-E663-41BF-B21B-D9F6B663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2976" y="3447288"/>
            <a:ext cx="246888" cy="2468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F45"/>
          </a:solidFill>
          <a:ln xmlns:a="http://schemas.openxmlformats.org/drawingml/2006/main" w="12700">
            <a:solidFill>
              <a:srgbClr val="D94F45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E858AFA2-29CF-473E-A505-489B17EA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456" y="3383280"/>
            <a:ext cx="193852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CÓMPUTO</a:t>
            </a:r>
            <a:endParaRPr sz="15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CA909FE6-4CB8-430F-910B-609E9ACE1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144" y="3392424"/>
            <a:ext cx="312724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263849"/>
                </a:solidFill>
                <a:latin typeface="Aptos"/>
                <a:ea typeface="Aptos"/>
                <a:cs typeface="Aptos"/>
              </a:rPr>
              <a:t>Chips y software</a:t>
            </a:r>
            <a:endParaRPr sz="140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B8D1277C-5044-4E3C-8D12-EB200477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3977640"/>
            <a:ext cx="6053328" cy="557784"/>
          </a:xfrm>
          <a:prstGeom xmlns:a="http://schemas.openxmlformats.org/drawingml/2006/main" prst="roundRect">
            <a:avLst>
              <a:gd name="adj" fmla="val 147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E52F2865-D743-40AE-811B-FB3BA9C2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2976" y="4133088"/>
            <a:ext cx="246888" cy="2468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C8B"/>
          </a:solidFill>
          <a:ln xmlns:a="http://schemas.openxmlformats.org/drawingml/2006/main" w="12700">
            <a:solidFill>
              <a:srgbClr val="168C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AC1915CD-B8C8-43DD-B4B1-91EA7026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456" y="4069080"/>
            <a:ext cx="193852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ENERGÍA</a:t>
            </a:r>
            <a:endParaRPr sz="15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94878D30-CD2F-43C8-8975-C488BC302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144" y="4078224"/>
            <a:ext cx="312724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263849"/>
                </a:solidFill>
                <a:latin typeface="Aptos"/>
                <a:ea typeface="Aptos"/>
                <a:cs typeface="Aptos"/>
              </a:rPr>
              <a:t>Baterías y gestión</a:t>
            </a:r>
            <a:endParaRPr sz="1400"/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78231136-DDF8-4E99-A246-3F3A15FB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4663440"/>
            <a:ext cx="6053328" cy="557784"/>
          </a:xfrm>
          <a:prstGeom xmlns:a="http://schemas.openxmlformats.org/drawingml/2006/main" prst="roundRect">
            <a:avLst>
              <a:gd name="adj" fmla="val 14754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12700">
            <a:solidFill>
              <a:srgbClr val="F1F4F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5454504-A66A-44CA-AD94-BAEEF43D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2976" y="4818888"/>
            <a:ext cx="246888" cy="2468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C8B"/>
          </a:solidFill>
          <a:ln xmlns:a="http://schemas.openxmlformats.org/drawingml/2006/main" w="12700">
            <a:solidFill>
              <a:srgbClr val="168C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17F5BF1F-2344-4C29-B77B-D869FF96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456" y="4754880"/>
            <a:ext cx="193852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CONTROL</a:t>
            </a:r>
            <a:endParaRPr sz="150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09A49D30-7BB7-4F71-948E-1EBDC319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144" y="4764024"/>
            <a:ext cx="312724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263849"/>
                </a:solidFill>
                <a:latin typeface="Aptos"/>
                <a:ea typeface="Aptos"/>
                <a:cs typeface="Aptos"/>
              </a:rPr>
              <a:t>Movimiento y equilibrio</a:t>
            </a:r>
            <a:endParaRPr sz="1400"/>
          </a:p>
        </p:txBody>
      </p:sp>
      <p:sp>
        <p:nvSpPr>
          <p:cNvPr id="29" name="illustration-caption-background">
            <a:extLst xmlns:a="http://schemas.openxmlformats.org/drawingml/2006/main">
              <a:ext uri="{FF2B5EF4-FFF2-40B4-BE49-F238E27FC236}">
                <a16:creationId xmlns:a16="http://schemas.microsoft.com/office/drawing/2014/main" id="{8A2ECDA7-33F1-48A6-9BC5-8D6FE408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53590"/>
            <a:ext cx="17335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illustration-caption">
            <a:extLst xmlns:a="http://schemas.openxmlformats.org/drawingml/2006/main">
              <a:ext uri="{FF2B5EF4-FFF2-40B4-BE49-F238E27FC236}">
                <a16:creationId xmlns:a16="http://schemas.microsoft.com/office/drawing/2014/main" id="{4D16A512-4CCE-4369-A328-E0A58FB28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8216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ILUSTRACIÓN CONCEPTUAL</a:t>
            </a:r>
          </a:p>
        </p:txBody>
      </p:sp>
    </p:spTree>
    <p:extLst>
      <p:ext uri="{BB962C8B-B14F-4D97-AF65-F5344CB8AC3E}">
        <p14:creationId xmlns:p14="http://schemas.microsoft.com/office/powerpoint/2010/main" val="105012719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93AE861-2210-4E81-9FE5-0FE5B8CD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 spc="130">
                <a:solidFill>
                  <a:srgbClr val="168C8B"/>
                </a:solidFill>
                <a:latin typeface="Aptos"/>
                <a:ea typeface="Aptos"/>
                <a:cs typeface="Aptos"/>
              </a:rPr>
              <a:t>UNITREE · EVIDENCIA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2FD07EF-8D0B-4D4F-8F89-9F307AC8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Un video impresionante no demuestra autonomía industrial</a:t>
            </a:r>
            <a:endParaRPr sz="2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109DD43-64EE-42B5-8F14-C663283E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65788A"/>
                </a:solidFill>
                <a:latin typeface="Aptos"/>
                <a:ea typeface="Aptos"/>
                <a:cs typeface="Aptos"/>
              </a:rPr>
              <a:t>Tres niveles de evidencia que no deben confundirse.</a:t>
            </a:r>
            <a:endParaRPr sz="14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3099D06-F9E3-4D6E-8FAA-528FB49F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1965960"/>
            <a:ext cx="10735056" cy="1060704"/>
          </a:xfrm>
          <a:prstGeom xmlns:a="http://schemas.openxmlformats.org/drawingml/2006/main" prst="roundRect">
            <a:avLst>
              <a:gd name="adj" fmla="val 112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0E785776-D36E-43C8-902D-CD522FA2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157984"/>
            <a:ext cx="557784" cy="320040"/>
          </a:xfrm>
          <a:prstGeom xmlns:a="http://schemas.openxmlformats.org/drawingml/2006/main" prst="roundRect">
            <a:avLst>
              <a:gd name="adj" fmla="val 45714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12700">
            <a:solidFill>
              <a:srgbClr val="101D31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AEC930A-B275-4F2A-ADB2-D29F5A2F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2176272"/>
            <a:ext cx="338328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40" b="1" spc="70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  <a:endParaRPr sz="104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6367DD0-46E7-4D8F-8B97-361BA311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504" y="2121408"/>
            <a:ext cx="28346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DEMOSTRACIÓN</a:t>
            </a:r>
            <a:endParaRPr sz="18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6000D98-7070-41BB-A973-848A8CB0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152" y="2130552"/>
            <a:ext cx="6355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263849"/>
                </a:solidFill>
                <a:latin typeface="Aptos"/>
                <a:ea typeface="Aptos"/>
                <a:cs typeface="Aptos"/>
              </a:rPr>
              <a:t>Camina, baila o ejecuta una rutina.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3E16F56-8B31-48C9-9EB3-7D9BF341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152" y="2532888"/>
            <a:ext cx="637336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350"/>
            </a:defPPr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65788A"/>
                </a:solidFill>
                <a:latin typeface="Aptos"/>
                <a:ea typeface="Aptos"/>
                <a:cs typeface="Aptos"/>
              </a:rPr>
              <a:t>¿Teleoperado? ¿Cuántos intentos?</a:t>
            </a:r>
            <a:endParaRPr sz="12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C140CD13-584B-4068-8833-65577715A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3218688"/>
            <a:ext cx="10735056" cy="1060704"/>
          </a:xfrm>
          <a:prstGeom xmlns:a="http://schemas.openxmlformats.org/drawingml/2006/main" prst="roundRect">
            <a:avLst>
              <a:gd name="adj" fmla="val 112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E41921A1-5A77-499F-9A75-0F9E76F1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410712"/>
            <a:ext cx="557784" cy="320040"/>
          </a:xfrm>
          <a:prstGeom xmlns:a="http://schemas.openxmlformats.org/drawingml/2006/main" prst="roundRect">
            <a:avLst>
              <a:gd name="adj" fmla="val 45714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12700">
            <a:solidFill>
              <a:srgbClr val="101D31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6512960-78FF-4CA3-B7DD-D3102F28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3429000"/>
            <a:ext cx="338328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40" b="1" spc="70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  <a:endParaRPr sz="104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9FCFF3E-47B8-46B6-82EA-F30AA9BE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504" y="3374136"/>
            <a:ext cx="28346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CAPACIDAD TÉCNICA</a:t>
            </a:r>
            <a:endParaRPr sz="18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E7741E0-C623-4F6F-96B4-D3A637E9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152" y="3383280"/>
            <a:ext cx="6355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263849"/>
                </a:solidFill>
                <a:latin typeface="Aptos"/>
                <a:ea typeface="Aptos"/>
                <a:cs typeface="Aptos"/>
              </a:rPr>
              <a:t>Percibe, controla articulaciones, manipula objetos.</a:t>
            </a:r>
            <a:endParaRPr sz="14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C9939EA-2FA5-449B-A91F-24F9C9468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152" y="3785616"/>
            <a:ext cx="637336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350"/>
            </a:defPPr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65788A"/>
                </a:solidFill>
                <a:latin typeface="Aptos"/>
                <a:ea typeface="Aptos"/>
                <a:cs typeface="Aptos"/>
              </a:rPr>
              <a:t>¿Con qué precisión y en qué entorno?</a:t>
            </a:r>
            <a:endParaRPr sz="12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C0C11F0F-D707-4917-9F32-1F705C7D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4471416"/>
            <a:ext cx="10735056" cy="1060704"/>
          </a:xfrm>
          <a:prstGeom xmlns:a="http://schemas.openxmlformats.org/drawingml/2006/main" prst="roundRect">
            <a:avLst>
              <a:gd name="adj" fmla="val 11207"/>
            </a:avLst>
          </a:prstGeom>
          <a:solidFill xmlns:a="http://schemas.openxmlformats.org/drawingml/2006/main">
            <a:srgbClr val="C6E9E6"/>
          </a:solidFill>
          <a:ln xmlns:a="http://schemas.openxmlformats.org/drawingml/2006/main" w="12700">
            <a:solidFill>
              <a:srgbClr val="C6E9E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CBDAA363-3A92-46AA-9338-200FD973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663440"/>
            <a:ext cx="557784" cy="320040"/>
          </a:xfrm>
          <a:prstGeom xmlns:a="http://schemas.openxmlformats.org/drawingml/2006/main" prst="roundRect">
            <a:avLst>
              <a:gd name="adj" fmla="val 45714"/>
            </a:avLst>
          </a:prstGeom>
          <a:solidFill xmlns:a="http://schemas.openxmlformats.org/drawingml/2006/main">
            <a:srgbClr val="168C8B"/>
          </a:solidFill>
          <a:ln xmlns:a="http://schemas.openxmlformats.org/drawingml/2006/main" w="12700">
            <a:solidFill>
              <a:srgbClr val="168C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D52FC29A-07C8-42E4-A2A8-CE2F64F46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4681728"/>
            <a:ext cx="338328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40" b="1" spc="70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  <a:endParaRPr sz="104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BEB688C-BA62-4843-A682-BE38E02C5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504" y="4626864"/>
            <a:ext cx="28346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VALOR PRODUCTIVO</a:t>
            </a:r>
            <a:endParaRPr sz="18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1532E2D2-1AC1-42B9-BAA9-4FCFA7997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152" y="4636008"/>
            <a:ext cx="6355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263849"/>
                </a:solidFill>
                <a:latin typeface="Aptos"/>
                <a:ea typeface="Aptos"/>
                <a:cs typeface="Aptos"/>
              </a:rPr>
              <a:t>Trabaja con seguridad, continuidad y costo competitivo.</a:t>
            </a:r>
            <a:endParaRPr sz="14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223DD422-204E-4E36-B19E-2341A763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152" y="5038344"/>
            <a:ext cx="637336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350"/>
            </a:defPPr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65788A"/>
                </a:solidFill>
                <a:latin typeface="Aptos"/>
                <a:ea typeface="Aptos"/>
                <a:cs typeface="Aptos"/>
              </a:rPr>
              <a:t>¿Cuál es su disponibilidad, fallo y costo?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06520356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227310D-32EE-44C1-A2F9-C5FFEF103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 spc="130">
                <a:solidFill>
                  <a:srgbClr val="168C8B"/>
                </a:solidFill>
                <a:latin typeface="Aptos"/>
                <a:ea typeface="Aptos"/>
                <a:cs typeface="Aptos"/>
              </a:rPr>
              <a:t>EJERCICIO DIDÁCTICO 02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A11FC5F-D927-4E61-8E48-F4926520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Los mismos 20 robots, resultados diferentes</a:t>
            </a:r>
            <a:endParaRPr sz="2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824EF48-5D93-4068-A339-83E934B15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65788A"/>
                </a:solidFill>
                <a:latin typeface="Aptos"/>
                <a:ea typeface="Aptos"/>
                <a:cs typeface="Aptos"/>
              </a:rPr>
              <a:t>Hipótesis: igual número de trabajadores, turnos, complejidad y calidad requerida.</a:t>
            </a:r>
            <a:endParaRPr sz="14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AB95F6C-B93D-49D0-8EAC-210E0F0C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1947672"/>
            <a:ext cx="5358384" cy="3163824"/>
          </a:xfrm>
          <a:prstGeom xmlns:a="http://schemas.openxmlformats.org/drawingml/2006/main" prst="roundRect">
            <a:avLst>
              <a:gd name="adj" fmla="val 43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E41E467F-E457-4FAD-8E32-919B44C5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2185416"/>
            <a:ext cx="1371600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12700">
            <a:solidFill>
              <a:srgbClr val="101D31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A2D7A25-9ADF-4DD5-8543-F72817E8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2203704"/>
            <a:ext cx="115214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40" b="1" spc="70">
                <a:solidFill>
                  <a:srgbClr val="FFFFFF"/>
                </a:solidFill>
                <a:latin typeface="Aptos"/>
                <a:ea typeface="Aptos"/>
                <a:cs typeface="Aptos"/>
              </a:rPr>
              <a:t>FÁBRICA A</a:t>
            </a:r>
            <a:endParaRPr sz="104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6CAA7BC-EA1B-4121-816D-BA1E9C8F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2715768"/>
            <a:ext cx="475488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100 trabajadores + 20 robots</a:t>
            </a:r>
            <a:endParaRPr sz="16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85F94C7-B558-46BA-B120-E0968512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3227832"/>
            <a:ext cx="476402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>
                <a:solidFill>
                  <a:srgbClr val="263849"/>
                </a:solidFill>
                <a:latin typeface="Aptos"/>
                <a:ea typeface="Aptos"/>
                <a:cs typeface="Aptos"/>
              </a:rPr>
              <a:t>1.000 piezas · 5 % defectos</a:t>
            </a:r>
            <a:endParaRPr sz="15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6CCFBE2-7365-449D-A812-557D97C5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3794760"/>
            <a:ext cx="4681728" cy="61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800" b="1">
                <a:solidFill>
                  <a:srgbClr val="65788A"/>
                </a:solidFill>
                <a:latin typeface="Aptos"/>
                <a:ea typeface="Aptos"/>
                <a:cs typeface="Aptos"/>
              </a:rPr>
              <a:t>950</a:t>
            </a:r>
            <a:endParaRPr sz="38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833A032-4F33-49B7-81F6-3E846737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442569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350"/>
            </a:defPPr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65788A"/>
                </a:solidFill>
                <a:latin typeface="Aptos"/>
                <a:ea typeface="Aptos"/>
                <a:cs typeface="Aptos"/>
              </a:rPr>
              <a:t>piezas buenas al día</a:t>
            </a:r>
            <a:endParaRPr sz="13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F086BEB1-02E3-4B50-8AD0-CC26865B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1947672"/>
            <a:ext cx="5358384" cy="3163824"/>
          </a:xfrm>
          <a:prstGeom xmlns:a="http://schemas.openxmlformats.org/drawingml/2006/main" prst="roundRect">
            <a:avLst>
              <a:gd name="adj" fmla="val 43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C03D280-9778-4BC7-AE0D-8C750EC7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2824" y="2185416"/>
            <a:ext cx="1371600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168C8B"/>
          </a:solidFill>
          <a:ln xmlns:a="http://schemas.openxmlformats.org/drawingml/2006/main" w="12700">
            <a:solidFill>
              <a:srgbClr val="168C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16FB65D-CDDB-4E8F-BA4B-D0A8F6AA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552" y="2203704"/>
            <a:ext cx="115214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40" b="1" spc="70">
                <a:solidFill>
                  <a:srgbClr val="FFFFFF"/>
                </a:solidFill>
                <a:latin typeface="Aptos"/>
                <a:ea typeface="Aptos"/>
                <a:cs typeface="Aptos"/>
              </a:rPr>
              <a:t>FÁBRICA B</a:t>
            </a:r>
            <a:endParaRPr sz="104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2E933DC-8755-4C0A-B1DF-BC865197C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2824" y="2715768"/>
            <a:ext cx="475488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100 trabajadores + 20 robots</a:t>
            </a:r>
            <a:endParaRPr sz="16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12089DB-3937-47AE-82C9-33A8A5F6C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2824" y="3227832"/>
            <a:ext cx="476402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>
                <a:solidFill>
                  <a:srgbClr val="263849"/>
                </a:solidFill>
                <a:latin typeface="Aptos"/>
                <a:ea typeface="Aptos"/>
                <a:cs typeface="Aptos"/>
              </a:rPr>
              <a:t>1.150 piezas · 2 % defectos</a:t>
            </a:r>
            <a:endParaRPr sz="15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E9496F12-19B7-473C-8510-B23C7FFD9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2824" y="3794760"/>
            <a:ext cx="4681728" cy="61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800" b="1">
                <a:solidFill>
                  <a:srgbClr val="168C8B"/>
                </a:solidFill>
                <a:latin typeface="Aptos"/>
                <a:ea typeface="Aptos"/>
                <a:cs typeface="Aptos"/>
              </a:rPr>
              <a:t>1.127</a:t>
            </a:r>
            <a:endParaRPr sz="38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E699D6A-E9CF-455B-A938-A761D8EB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2824" y="442569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350"/>
            </a:defPPr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65788A"/>
                </a:solidFill>
                <a:latin typeface="Aptos"/>
                <a:ea typeface="Aptos"/>
                <a:cs typeface="Aptos"/>
              </a:rPr>
              <a:t>piezas buenas al día</a:t>
            </a:r>
            <a:endParaRPr sz="13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37128938-0526-4D5A-B71C-F654F3C00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5385816"/>
            <a:ext cx="10780776" cy="484632"/>
          </a:xfrm>
          <a:prstGeom xmlns:a="http://schemas.openxmlformats.org/drawingml/2006/main" prst="roundRect">
            <a:avLst>
              <a:gd name="adj" fmla="val 22642"/>
            </a:avLst>
          </a:prstGeom>
          <a:solidFill xmlns:a="http://schemas.openxmlformats.org/drawingml/2006/main">
            <a:srgbClr val="FFF1D9"/>
          </a:solidFill>
          <a:ln xmlns:a="http://schemas.openxmlformats.org/drawingml/2006/main" w="12700">
            <a:solidFill>
              <a:srgbClr val="FFF1D9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5BA04DB-70D2-449C-BC54-C70337FE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495544"/>
            <a:ext cx="1025956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La fábrica B obtiene 177 piezas buenas más por día: +18,6 % sin comprar más robots.</a:t>
            </a:r>
            <a:endParaRPr sz="1700"/>
          </a:p>
        </p:txBody>
      </p:sp>
    </p:spTree>
    <p:extLst>
      <p:ext uri="{BB962C8B-B14F-4D97-AF65-F5344CB8AC3E}">
        <p14:creationId xmlns:p14="http://schemas.microsoft.com/office/powerpoint/2010/main" val="210612863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0E625AD-8391-480E-92D6-82B6C438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 spc="130">
                <a:solidFill>
                  <a:srgbClr val="168C8B"/>
                </a:solidFill>
                <a:latin typeface="Aptos"/>
                <a:ea typeface="Aptos"/>
                <a:cs typeface="Aptos"/>
              </a:rPr>
              <a:t>LA LÓGICA ECONÓMICA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178CC51-1E0A-4DE9-A7C5-D8779CC8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Más robots no significan automáticamente más productividad</a:t>
            </a:r>
            <a:endParaRPr sz="2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FF6BBA6-520D-48AD-A25F-C8B6E9BDC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65788A"/>
                </a:solidFill>
                <a:latin typeface="Aptos"/>
                <a:ea typeface="Aptos"/>
                <a:cs typeface="Aptos"/>
              </a:rPr>
              <a:t>Es necesario evaluar cinco condiciones antes de invertir.</a:t>
            </a:r>
            <a:endParaRPr sz="14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95F31A4B-4074-4708-9D09-BDE8CAC67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911096"/>
            <a:ext cx="10479024" cy="539496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12700">
            <a:solidFill>
              <a:srgbClr val="F1F4F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7C456A8-17E7-4BA1-B1E8-55072526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039112"/>
            <a:ext cx="5394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D94F45"/>
                </a:solidFill>
                <a:latin typeface="Aptos"/>
                <a:ea typeface="Aptos"/>
                <a:cs typeface="Aptos"/>
              </a:rPr>
              <a:t>01</a:t>
            </a:r>
            <a:endParaRPr sz="15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D8A4D92-8A97-4BFA-83F2-0C23BDC4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020824"/>
            <a:ext cx="3310128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CAPITAL</a:t>
            </a:r>
            <a:endParaRPr sz="16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5998F6B-655E-4466-BCB0-2F457E2C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6944" y="2011680"/>
            <a:ext cx="56692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>
                <a:solidFill>
                  <a:srgbClr val="263849"/>
                </a:solidFill>
                <a:latin typeface="Aptos"/>
                <a:ea typeface="Aptos"/>
                <a:cs typeface="Aptos"/>
              </a:rPr>
              <a:t>Precio e instalación</a:t>
            </a:r>
            <a:endParaRPr sz="15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A9F356F9-23C6-4505-A5AC-5046F93D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606040"/>
            <a:ext cx="10479024" cy="539496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CEF46E8-7183-4078-AFA8-BBC6D263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734056"/>
            <a:ext cx="5394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D94F45"/>
                </a:solidFill>
                <a:latin typeface="Aptos"/>
                <a:ea typeface="Aptos"/>
                <a:cs typeface="Aptos"/>
              </a:rPr>
              <a:t>02</a:t>
            </a:r>
            <a:endParaRPr sz="15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B371C83-35CA-4452-A3C1-413AFB3E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715768"/>
            <a:ext cx="3310128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OPERACIÓN</a:t>
            </a:r>
            <a:endParaRPr sz="16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01BE595-4C1D-4FEA-8AE1-C1FF6957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6944" y="2706624"/>
            <a:ext cx="56692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>
                <a:solidFill>
                  <a:srgbClr val="263849"/>
                </a:solidFill>
                <a:latin typeface="Aptos"/>
                <a:ea typeface="Aptos"/>
                <a:cs typeface="Aptos"/>
              </a:rPr>
              <a:t>Disponibilidad y fallas</a:t>
            </a:r>
            <a:endParaRPr sz="15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8B8748E2-71DF-41D5-B673-E817EE345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300984"/>
            <a:ext cx="10479024" cy="539496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12700">
            <a:solidFill>
              <a:srgbClr val="F1F4F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B3E79B7-CE8D-4478-96CF-6D719FF1A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429000"/>
            <a:ext cx="5394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D94F45"/>
                </a:solidFill>
                <a:latin typeface="Aptos"/>
                <a:ea typeface="Aptos"/>
                <a:cs typeface="Aptos"/>
              </a:rPr>
              <a:t>03</a:t>
            </a:r>
            <a:endParaRPr sz="15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7546EA2-A371-46C4-B22D-346CEB35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410712"/>
            <a:ext cx="3310128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PERSONAS</a:t>
            </a:r>
            <a:endParaRPr sz="16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CF3B4220-B1B3-4A95-8AFE-F3056722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6944" y="3401568"/>
            <a:ext cx="56692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>
                <a:solidFill>
                  <a:srgbClr val="263849"/>
                </a:solidFill>
                <a:latin typeface="Aptos"/>
                <a:ea typeface="Aptos"/>
                <a:cs typeface="Aptos"/>
              </a:rPr>
              <a:t>Ingeniería y capacitación</a:t>
            </a:r>
            <a:endParaRPr sz="15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AB58DA0-7816-4D8A-9045-337D3062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995928"/>
            <a:ext cx="10479024" cy="539496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3CB2875-B697-444F-A19D-06DE2372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123944"/>
            <a:ext cx="5394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D94F45"/>
                </a:solidFill>
                <a:latin typeface="Aptos"/>
                <a:ea typeface="Aptos"/>
                <a:cs typeface="Aptos"/>
              </a:rPr>
              <a:t>04</a:t>
            </a:r>
            <a:endParaRPr sz="15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D76EB94-E220-442F-8168-970F7D975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05656"/>
            <a:ext cx="3310128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CALIDAD</a:t>
            </a:r>
            <a:endParaRPr sz="16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9528229-96E7-402C-92C9-2B327E1C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6944" y="4096512"/>
            <a:ext cx="56692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>
                <a:solidFill>
                  <a:srgbClr val="263849"/>
                </a:solidFill>
                <a:latin typeface="Aptos"/>
                <a:ea typeface="Aptos"/>
                <a:cs typeface="Aptos"/>
              </a:rPr>
              <a:t>Defectos y retrabajo</a:t>
            </a:r>
            <a:endParaRPr sz="15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58DED70D-4058-45A6-BD2A-D28AEC3D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690872"/>
            <a:ext cx="10479024" cy="539496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12700">
            <a:solidFill>
              <a:srgbClr val="F1F4F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FC84C260-532A-4819-BD3B-61FFA454D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818888"/>
            <a:ext cx="5394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D94F45"/>
                </a:solidFill>
                <a:latin typeface="Aptos"/>
                <a:ea typeface="Aptos"/>
                <a:cs typeface="Aptos"/>
              </a:rPr>
              <a:t>05</a:t>
            </a:r>
            <a:endParaRPr sz="15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983EBEC9-2CC4-4F3E-ABD1-8DDD93B9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00600"/>
            <a:ext cx="3310128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DEMANDA</a:t>
            </a:r>
            <a:endParaRPr sz="16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1CCB0150-2601-4641-8DB6-FD06555D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6944" y="4791456"/>
            <a:ext cx="56692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>
                <a:solidFill>
                  <a:srgbClr val="263849"/>
                </a:solidFill>
                <a:latin typeface="Aptos"/>
                <a:ea typeface="Aptos"/>
                <a:cs typeface="Aptos"/>
              </a:rPr>
              <a:t>Ventas para amortizar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92702959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FF3ADA3-3D20-414B-B6BD-B068D5E69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 spc="130">
                <a:solidFill>
                  <a:srgbClr val="168C8B"/>
                </a:solidFill>
                <a:latin typeface="Aptos"/>
                <a:ea typeface="Aptos"/>
                <a:cs typeface="Aptos"/>
              </a:rPr>
              <a:t>CASO · XIAOMI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41D146A-08FD-4C3F-A986-BFCC2339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De la electrónica al automóvil eléctrico</a:t>
            </a:r>
            <a:endParaRPr sz="2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0F8601F-F5B4-40F9-8328-CF2EB3407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65788A"/>
                </a:solidFill>
                <a:latin typeface="Aptos"/>
                <a:ea typeface="Aptos"/>
                <a:cs typeface="Aptos"/>
              </a:rPr>
              <a:t>Un caso de transferencia de capacidades: software, hardware, proveedores e ingeniería.</a:t>
            </a:r>
            <a:endParaRPr sz="1400"/>
          </a:p>
        </p:txBody>
      </p:sp>
      <p:pic>
        <p:nvPicPr>
          <p:cNvPr id="8" name="Image 0">
            <a:extLst xmlns:a="http://schemas.openxmlformats.org/drawingml/2006/main">
              <a:ext uri="{FF2B5EF4-FFF2-40B4-BE49-F238E27FC236}">
                <a16:creationId xmlns:a16="http://schemas.microsoft.com/office/drawing/2014/main" id="{3F5B9F62-B4C3-43C8-9264-B78A6B9C0F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93ed39af1e4ea3"/>
          <a:srcRect xmlns:a="http://schemas.openxmlformats.org/drawingml/2006/main" l="0" t="5537" r="0" b="5537"/>
          <a:stretch xmlns:a="http://schemas.openxmlformats.org/drawingml/2006/main"/>
        </p:blipFill>
        <p:spPr>
          <a:xfrm xmlns:a="http://schemas.openxmlformats.org/drawingml/2006/main">
            <a:off x="667512" y="1901952"/>
            <a:ext cx="6400800" cy="3767328"/>
          </a:xfrm>
          <a:prstGeom xmlns:a="http://schemas.openxmlformats.org/drawingml/2006/main" prst="rect">
            <a:avLst/>
          </a:prstGeom>
        </p:spPr>
      </p:pic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ED3FB84B-9D7F-4183-9EEE-1C5C20F7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1776" y="1975104"/>
            <a:ext cx="4078224" cy="941832"/>
          </a:xfrm>
          <a:prstGeom xmlns:a="http://schemas.openxmlformats.org/drawingml/2006/main" prst="roundRect">
            <a:avLst>
              <a:gd name="adj" fmla="val 12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AB22E0D4-26B4-404E-89D4-0601FF32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232" y="2093976"/>
            <a:ext cx="3575304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350"/>
            </a:defPPr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 xmlns:a="http://schemas.openxmlformats.org/drawingml/2006/main">
            <a:pPr marL="0" indent="0" algn="l">
              <a:buNone/>
            </a:pPr>
            <a:r>
              <a:rPr sz="1350" b="1">
                <a:solidFill>
                  <a:srgbClr val="168C8B"/>
                </a:solidFill>
                <a:latin typeface="Aptos"/>
                <a:ea typeface="Aptos"/>
                <a:cs typeface="Aptos"/>
              </a:rPr>
              <a:t>ANTES</a:t>
            </a:r>
            <a:endParaRPr sz="12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5CEA108E-1F6A-41A3-A944-59505A25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232" y="2404872"/>
            <a:ext cx="357530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6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Electrónica y dispositivos conectados</a:t>
            </a:r>
            <a:endParaRPr sz="136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B0E7A29D-C9FC-4BE1-A0DC-CD83E9E4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1776" y="3163824"/>
            <a:ext cx="4078224" cy="941832"/>
          </a:xfrm>
          <a:prstGeom xmlns:a="http://schemas.openxmlformats.org/drawingml/2006/main" prst="roundRect">
            <a:avLst>
              <a:gd name="adj" fmla="val 12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6F804EF2-B7D3-4AF4-A13D-E959CEFD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232" y="3282696"/>
            <a:ext cx="3575304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350"/>
            </a:defPPr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 xmlns:a="http://schemas.openxmlformats.org/drawingml/2006/main">
            <a:pPr marL="0" indent="0" algn="l">
              <a:buNone/>
            </a:pPr>
            <a:r>
              <a:rPr sz="1350" b="1">
                <a:solidFill>
                  <a:srgbClr val="168C8B"/>
                </a:solidFill>
                <a:latin typeface="Aptos"/>
                <a:ea typeface="Aptos"/>
                <a:cs typeface="Aptos"/>
              </a:rPr>
              <a:t>TRANSFERENCIA</a:t>
            </a:r>
            <a:endParaRPr sz="12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C32C7680-352F-4F41-8958-1F78170E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232" y="3593592"/>
            <a:ext cx="357530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6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Diseño, software, cadena de suministro</a:t>
            </a:r>
            <a:endParaRPr sz="136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A35B53FA-ADDB-42D7-935E-DDEFA1DC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1776" y="4352544"/>
            <a:ext cx="4078224" cy="941832"/>
          </a:xfrm>
          <a:prstGeom xmlns:a="http://schemas.openxmlformats.org/drawingml/2006/main" prst="roundRect">
            <a:avLst>
              <a:gd name="adj" fmla="val 12621"/>
            </a:avLst>
          </a:prstGeom>
          <a:solidFill xmlns:a="http://schemas.openxmlformats.org/drawingml/2006/main">
            <a:srgbClr val="C6E9E6"/>
          </a:solidFill>
          <a:ln xmlns:a="http://schemas.openxmlformats.org/drawingml/2006/main" w="12700">
            <a:solidFill>
              <a:srgbClr val="C6E9E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577D582F-0878-4763-B8C6-EDC7B6F3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232" y="4471416"/>
            <a:ext cx="3575304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350"/>
            </a:defPPr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 xmlns:a="http://schemas.openxmlformats.org/drawingml/2006/main">
            <a:pPr marL="0" indent="0" algn="l">
              <a:buNone/>
            </a:pPr>
            <a:r>
              <a:rPr sz="1350" b="1">
                <a:solidFill>
                  <a:srgbClr val="168C8B"/>
                </a:solidFill>
                <a:latin typeface="Aptos"/>
                <a:ea typeface="Aptos"/>
                <a:cs typeface="Aptos"/>
              </a:rPr>
              <a:t>NUEVO SECTOR</a:t>
            </a:r>
            <a:endParaRPr sz="12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8BF743D1-FFFC-46A1-8CFA-48DCFA83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232" y="4782312"/>
            <a:ext cx="357530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6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Automoción eléctrica y fábrica integrada</a:t>
            </a:r>
            <a:endParaRPr sz="1360"/>
          </a:p>
        </p:txBody>
      </p:sp>
      <p:sp>
        <p:nvSpPr>
          <p:cNvPr id="18" name="illustration-caption-background">
            <a:extLst xmlns:a="http://schemas.openxmlformats.org/drawingml/2006/main">
              <a:ext uri="{FF2B5EF4-FFF2-40B4-BE49-F238E27FC236}">
                <a16:creationId xmlns:a16="http://schemas.microsoft.com/office/drawing/2014/main" id="{3EC8A8BE-0CFD-44BF-B66E-EF75EF0B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862" y="2035302"/>
            <a:ext cx="17335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illustration-caption">
            <a:extLst xmlns:a="http://schemas.openxmlformats.org/drawingml/2006/main">
              <a:ext uri="{FF2B5EF4-FFF2-40B4-BE49-F238E27FC236}">
                <a16:creationId xmlns:a16="http://schemas.microsoft.com/office/drawing/2014/main" id="{A8723994-5588-4EAF-9F3E-8ABA0A022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062" y="2063877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ILUSTRACIÓN CONCEPTUAL</a:t>
            </a:r>
          </a:p>
        </p:txBody>
      </p:sp>
    </p:spTree>
    <p:extLst>
      <p:ext uri="{BB962C8B-B14F-4D97-AF65-F5344CB8AC3E}">
        <p14:creationId xmlns:p14="http://schemas.microsoft.com/office/powerpoint/2010/main" val="90942526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5199DB5-FD55-4D67-A0D5-24CE917E7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 spc="130">
                <a:solidFill>
                  <a:srgbClr val="168C8B"/>
                </a:solidFill>
                <a:latin typeface="Aptos"/>
                <a:ea typeface="Aptos"/>
                <a:cs typeface="Aptos"/>
              </a:rPr>
              <a:t>EL ECOSISTEMA DEL VEHÍCULO ELÉCTRICO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66AF1B0-D0FE-4115-9533-36F53707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China convierte capacidades industriales en un nuevo sector</a:t>
            </a:r>
            <a:endParaRPr sz="2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F72B3C1-9716-484A-BEB1-EDFEE9D1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65788A"/>
                </a:solidFill>
                <a:latin typeface="Aptos"/>
                <a:ea typeface="Aptos"/>
                <a:cs typeface="Aptos"/>
              </a:rPr>
              <a:t>Automóviles eléctricos en China, BEV y PHEV. Datos de 2025.</a:t>
            </a:r>
            <a:endParaRPr sz="14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EBED548-51DA-406E-A5D4-AD5CC788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938528"/>
            <a:ext cx="3447288" cy="2139696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53F090D-74D2-4F64-8CA8-E5F107CD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066544"/>
            <a:ext cx="3081528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100" b="1">
                <a:solidFill>
                  <a:srgbClr val="168C8B"/>
                </a:solidFill>
                <a:latin typeface="Aptos"/>
                <a:ea typeface="Aptos"/>
                <a:cs typeface="Aptos"/>
              </a:rPr>
              <a:t>≈ 16 M</a:t>
            </a:r>
            <a:endParaRPr sz="41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23CFAFD-63E2-411D-84F2-6D154444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770632"/>
            <a:ext cx="3044952" cy="11795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350"/>
            </a:defPPr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263849"/>
                </a:solidFill>
                <a:latin typeface="Aptos"/>
                <a:ea typeface="Aptos"/>
                <a:cs typeface="Aptos"/>
              </a:rPr>
              <a:t>Automóviles eléctricos producidos en China</a:t>
            </a:r>
            <a:endParaRPr sz="12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8F7957C1-7A12-4535-86AC-0CB273F0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1938528"/>
            <a:ext cx="3447288" cy="2139696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014A713-4D6E-481E-A2FE-7D520C49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712" y="2066544"/>
            <a:ext cx="3081528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100" b="1">
                <a:solidFill>
                  <a:srgbClr val="168C8B"/>
                </a:solidFill>
                <a:latin typeface="Aptos"/>
                <a:ea typeface="Aptos"/>
                <a:cs typeface="Aptos"/>
              </a:rPr>
              <a:t>≈ 75 %</a:t>
            </a:r>
            <a:endParaRPr sz="41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6B06A61-4E84-477A-8584-A9091675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70632"/>
            <a:ext cx="3044952" cy="11795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350"/>
            </a:defPPr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263849"/>
                </a:solidFill>
                <a:latin typeface="Aptos"/>
                <a:ea typeface="Aptos"/>
                <a:cs typeface="Aptos"/>
              </a:rPr>
              <a:t>Cuota de la producción mundial, 2025</a:t>
            </a:r>
            <a:endParaRPr sz="12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C2BB153-23EA-4014-8316-439C97423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1938528"/>
            <a:ext cx="3447288" cy="2139696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3A493F1-A180-4628-99FA-C3CD156B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2066544"/>
            <a:ext cx="3081528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100" b="1">
                <a:solidFill>
                  <a:srgbClr val="D94F45"/>
                </a:solidFill>
                <a:latin typeface="Aptos"/>
                <a:ea typeface="Aptos"/>
                <a:cs typeface="Aptos"/>
              </a:rPr>
              <a:t>&gt; 2,5 M</a:t>
            </a:r>
            <a:endParaRPr sz="41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76BE283-638B-43B3-9B9D-5FACFD95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6176" y="2770632"/>
            <a:ext cx="3044952" cy="11795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350"/>
            </a:defPPr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263849"/>
                </a:solidFill>
                <a:latin typeface="Aptos"/>
                <a:ea typeface="Aptos"/>
                <a:cs typeface="Aptos"/>
              </a:rPr>
              <a:t>Exportaciones de vehículos eléctricos de China, 2025</a:t>
            </a:r>
            <a:endParaRPr sz="12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4B8E643E-22F1-4E55-AE50-E5E22352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4498848"/>
            <a:ext cx="10826496" cy="694944"/>
          </a:xfrm>
          <a:prstGeom xmlns:a="http://schemas.openxmlformats.org/drawingml/2006/main" prst="roundRect">
            <a:avLst>
              <a:gd name="adj" fmla="val 17105"/>
            </a:avLst>
          </a:prstGeom>
          <a:solidFill xmlns:a="http://schemas.openxmlformats.org/drawingml/2006/main">
            <a:srgbClr val="C6E9E6"/>
          </a:solidFill>
          <a:ln xmlns:a="http://schemas.openxmlformats.org/drawingml/2006/main" w="12700">
            <a:solidFill>
              <a:srgbClr val="C6E9E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94336AD-8513-4079-AC8C-D1E91BD4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4626864"/>
            <a:ext cx="1035100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Baterías + motores + chips + software + proveedores + mercado = industria integrada</a:t>
            </a: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150053612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101D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1BD6F65B-C2D1-4856-A905-0636F2FF62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711e1309e84ac3"/>
          <a:srcRect xmlns:a="http://schemas.openxmlformats.org/drawingml/2006/main" l="21983" t="0" r="21983" b="0"/>
          <a:stretch xmlns:a="http://schemas.openxmlformats.org/drawingml/2006/main"/>
        </p:blipFill>
        <p:spPr>
          <a:xfrm xmlns:a="http://schemas.openxmlformats.org/drawingml/2006/main">
            <a:off x="6400800" y="0"/>
            <a:ext cx="57908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1F967FCE-6472-4388-B96B-745C5732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0"/>
            <a:ext cx="109728" cy="6858000"/>
          </a:xfrm>
          <a:prstGeom xmlns:a="http://schemas.openxmlformats.org/drawingml/2006/main" prst="roundRect">
            <a:avLst>
              <a:gd name="adj" fmla="val 133333"/>
            </a:avLst>
          </a:prstGeom>
          <a:solidFill xmlns:a="http://schemas.openxmlformats.org/drawingml/2006/main">
            <a:srgbClr val="D94F45"/>
          </a:solidFill>
          <a:ln xmlns:a="http://schemas.openxmlformats.org/drawingml/2006/main" w="12700">
            <a:solidFill>
              <a:srgbClr val="D94F45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48610E4E-6F54-44A4-B778-8550C8D6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31520"/>
            <a:ext cx="5394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 spc="200">
                <a:solidFill>
                  <a:srgbClr val="E6AB50"/>
                </a:solidFill>
                <a:latin typeface="Aptos"/>
                <a:ea typeface="Aptos"/>
                <a:cs typeface="Aptos"/>
              </a:rPr>
              <a:t>MOVIMIENTO  03</a:t>
            </a:r>
            <a:endParaRPr sz="13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D223327-88CB-4827-A0BD-30AC48F18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07008"/>
            <a:ext cx="53949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00" b="1" spc="120">
                <a:solidFill>
                  <a:srgbClr val="C6E9E6"/>
                </a:solidFill>
                <a:latin typeface="Aptos"/>
                <a:ea typeface="Aptos"/>
                <a:cs typeface="Aptos"/>
              </a:rPr>
              <a:t>IA + INDUSTRIA</a:t>
            </a:r>
            <a:endParaRPr sz="22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97029ED-82F8-47E9-AD0E-20A1E93E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74520"/>
            <a:ext cx="5577840" cy="205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 inteligencia</a:t>
            </a:r>
            <a:endParaRPr sz="3900"/>
          </a:p>
          <a:p xmlns:a="http://schemas.openxmlformats.org/drawingml/2006/main">
            <a:pPr marL="0" indent="0" algn="l">
              <a:buNone/>
            </a:pPr>
            <a:r>
              <a:rPr sz="3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artificial sale</a:t>
            </a:r>
            <a:endParaRPr sz="3900"/>
          </a:p>
          <a:p xmlns:a="http://schemas.openxmlformats.org/drawingml/2006/main">
            <a:pPr marL="0" indent="0" algn="l">
              <a:buNone/>
            </a:pPr>
            <a:r>
              <a:rPr sz="3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del laboratorio</a:t>
            </a:r>
            <a:endParaRPr sz="39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34BCEF5-733C-48C5-AC45-80CD3A3F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09160"/>
            <a:ext cx="557784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>
                <a:solidFill>
                  <a:srgbClr val="DEE8F0"/>
                </a:solidFill>
                <a:latin typeface="Aptos"/>
                <a:ea typeface="Aptos"/>
                <a:cs typeface="Aptos"/>
              </a:rPr>
              <a:t>Su valor depende de datos, personas y procesos que puedan utilizarla.</a:t>
            </a:r>
            <a:endParaRPr sz="1700"/>
          </a:p>
        </p:txBody>
      </p:sp>
      <p:sp>
        <p:nvSpPr>
          <p:cNvPr id="8" name="illustration-caption-background">
            <a:extLst xmlns:a="http://schemas.openxmlformats.org/drawingml/2006/main">
              <a:ext uri="{FF2B5EF4-FFF2-40B4-BE49-F238E27FC236}">
                <a16:creationId xmlns:a16="http://schemas.microsoft.com/office/drawing/2014/main" id="{0F07618F-F8B7-4C86-AA8F-76588CE4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33350"/>
            <a:ext cx="17335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illustration-caption">
            <a:extLst xmlns:a="http://schemas.openxmlformats.org/drawingml/2006/main">
              <a:ext uri="{FF2B5EF4-FFF2-40B4-BE49-F238E27FC236}">
                <a16:creationId xmlns:a16="http://schemas.microsoft.com/office/drawing/2014/main" id="{24999546-2973-48D1-9BD5-E476B70A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6192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ILUSTRACIÓN CONCEPTUAL</a:t>
            </a:r>
          </a:p>
        </p:txBody>
      </p:sp>
    </p:spTree>
    <p:extLst>
      <p:ext uri="{BB962C8B-B14F-4D97-AF65-F5344CB8AC3E}">
        <p14:creationId xmlns:p14="http://schemas.microsoft.com/office/powerpoint/2010/main" val="209338474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1F0BB2A-C368-4813-A6EA-3F8B214C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 spc="130">
                <a:solidFill>
                  <a:srgbClr val="168C8B"/>
                </a:solidFill>
                <a:latin typeface="Aptos"/>
                <a:ea typeface="Aptos"/>
                <a:cs typeface="Aptos"/>
              </a:rPr>
              <a:t>CONCEPTO OFICIAL · AI+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CF76764-3584-449E-A012-BF49EDDE7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Seis ámbitos de aplicación de la inteligencia artificial</a:t>
            </a:r>
            <a:endParaRPr sz="2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BAC0A43-4C3D-425B-AE1D-7EDC909A5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65788A"/>
                </a:solidFill>
                <a:latin typeface="Aptos"/>
                <a:ea typeface="Aptos"/>
                <a:cs typeface="Aptos"/>
              </a:rPr>
              <a:t>Consejo de Estado de China · Directrices de agosto de 2025.</a:t>
            </a:r>
            <a:endParaRPr sz="14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1E5CD23-F0BC-46DE-A6D7-CD1B4EF06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5960"/>
            <a:ext cx="3593592" cy="1353312"/>
          </a:xfrm>
          <a:prstGeom xmlns:a="http://schemas.openxmlformats.org/drawingml/2006/main" prst="roundRect">
            <a:avLst>
              <a:gd name="adj" fmla="val 87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B812D124-2158-498D-B908-0B17EF31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2157984"/>
            <a:ext cx="393192" cy="3931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C8B"/>
          </a:solidFill>
          <a:ln xmlns:a="http://schemas.openxmlformats.org/drawingml/2006/main" w="12700">
            <a:solidFill>
              <a:srgbClr val="168C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48644D7-3A59-4148-8FA1-287493A6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2249424"/>
            <a:ext cx="25603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  <a:endParaRPr sz="11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9E1D513-FDDC-4F3E-8630-92009BF92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2176272"/>
            <a:ext cx="263347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CIENCIA</a:t>
            </a:r>
            <a:endParaRPr sz="17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B3EA7F6-F657-4028-84EB-31E02F85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64" y="2642616"/>
            <a:ext cx="2587752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350"/>
            </a:defPPr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65788A"/>
                </a:solidFill>
                <a:latin typeface="Aptos"/>
                <a:ea typeface="Aptos"/>
                <a:cs typeface="Aptos"/>
              </a:rPr>
              <a:t>Descubrimiento y simulación</a:t>
            </a:r>
            <a:endParaRPr sz="13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27785247-0502-4A31-9B2E-906983DEA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136" y="1965960"/>
            <a:ext cx="3593592" cy="1353312"/>
          </a:xfrm>
          <a:prstGeom xmlns:a="http://schemas.openxmlformats.org/drawingml/2006/main" prst="roundRect">
            <a:avLst>
              <a:gd name="adj" fmla="val 87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060DF81C-CC94-4418-9D12-5681CE66F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592" y="2157984"/>
            <a:ext cx="393192" cy="3931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F45"/>
          </a:solidFill>
          <a:ln xmlns:a="http://schemas.openxmlformats.org/drawingml/2006/main" w="12700">
            <a:solidFill>
              <a:srgbClr val="D94F45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63CEE60-A0BB-493E-BE91-3B0A8C1C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249424"/>
            <a:ext cx="25603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  <a:endParaRPr sz="11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AEE61890-3013-4F93-9993-CAE2491B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6944" y="2176272"/>
            <a:ext cx="263347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INDUSTRIA</a:t>
            </a:r>
            <a:endParaRPr sz="17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27120B5-4027-4DB0-9797-ADFBB9115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42616"/>
            <a:ext cx="2587752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350"/>
            </a:defPPr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65788A"/>
                </a:solidFill>
                <a:latin typeface="Aptos"/>
                <a:ea typeface="Aptos"/>
                <a:cs typeface="Aptos"/>
              </a:rPr>
              <a:t>Fabricación y procesos</a:t>
            </a:r>
            <a:endParaRPr sz="13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1CD5FD8E-DCEB-4766-8774-881CBB25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1965960"/>
            <a:ext cx="3593592" cy="1353312"/>
          </a:xfrm>
          <a:prstGeom xmlns:a="http://schemas.openxmlformats.org/drawingml/2006/main" prst="roundRect">
            <a:avLst>
              <a:gd name="adj" fmla="val 87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0EB7DE0B-9EAB-4896-B485-DEB26BB6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7928" y="2157984"/>
            <a:ext cx="393192" cy="3931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B50"/>
          </a:solidFill>
          <a:ln xmlns:a="http://schemas.openxmlformats.org/drawingml/2006/main" w="12700">
            <a:solidFill>
              <a:srgbClr val="E6AB5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072E69F0-2785-4697-8FC4-9099B86E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1936" y="2249424"/>
            <a:ext cx="25603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  <a:endParaRPr sz="11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573D7B6-B528-4426-BF31-134CA0BF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2176272"/>
            <a:ext cx="263347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CONSUMO</a:t>
            </a:r>
            <a:endParaRPr sz="17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D3C0E626-1F7F-44E5-A4CB-1F440BF2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2642616"/>
            <a:ext cx="2587752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350"/>
            </a:defPPr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65788A"/>
                </a:solidFill>
                <a:latin typeface="Aptos"/>
                <a:ea typeface="Aptos"/>
                <a:cs typeface="Aptos"/>
              </a:rPr>
              <a:t>Productos y servicios</a:t>
            </a:r>
            <a:endParaRPr sz="13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20F7FCFE-3F3B-47BB-8BD5-C4376B6DC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7016"/>
            <a:ext cx="3593592" cy="1353312"/>
          </a:xfrm>
          <a:prstGeom xmlns:a="http://schemas.openxmlformats.org/drawingml/2006/main" prst="roundRect">
            <a:avLst>
              <a:gd name="adj" fmla="val 87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7276A409-31B0-4288-9EA3-D4E27237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3749040"/>
            <a:ext cx="393192" cy="3931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C8B"/>
          </a:solidFill>
          <a:ln xmlns:a="http://schemas.openxmlformats.org/drawingml/2006/main" w="12700">
            <a:solidFill>
              <a:srgbClr val="168C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87E7F427-179C-4B08-98D4-28BD7C20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3840480"/>
            <a:ext cx="25603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  <a:endParaRPr sz="11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44466536-1023-4D0A-90B8-96F7AD32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3767328"/>
            <a:ext cx="263347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BIENESTAR</a:t>
            </a:r>
            <a:endParaRPr sz="17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EDAB904-A3F5-484C-ADB9-298C5708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64" y="4233672"/>
            <a:ext cx="2587752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350"/>
            </a:defPPr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65788A"/>
                </a:solidFill>
                <a:latin typeface="Aptos"/>
                <a:ea typeface="Aptos"/>
                <a:cs typeface="Aptos"/>
              </a:rPr>
              <a:t>Salud y educación</a:t>
            </a:r>
            <a:endParaRPr sz="130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F628197D-50EA-43FE-BDEA-969962E2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136" y="3557016"/>
            <a:ext cx="3593592" cy="1353312"/>
          </a:xfrm>
          <a:prstGeom xmlns:a="http://schemas.openxmlformats.org/drawingml/2006/main" prst="roundRect">
            <a:avLst>
              <a:gd name="adj" fmla="val 87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D7EA9C72-8B3B-47F5-8AE2-63578E00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592" y="3749040"/>
            <a:ext cx="393192" cy="3931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F45"/>
          </a:solidFill>
          <a:ln xmlns:a="http://schemas.openxmlformats.org/drawingml/2006/main" w="12700">
            <a:solidFill>
              <a:srgbClr val="D94F45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0DE1889F-30EA-4970-AE31-80EB1420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40480"/>
            <a:ext cx="25603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  <a:endParaRPr sz="11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7F8EF384-F5FB-4CBD-870B-59BD52DF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6944" y="3767328"/>
            <a:ext cx="263347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GOBERNANZA</a:t>
            </a:r>
            <a:endParaRPr sz="17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6EB52D0-2B72-45F1-84B0-D26332523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233672"/>
            <a:ext cx="2587752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350"/>
            </a:defPPr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65788A"/>
                </a:solidFill>
                <a:latin typeface="Aptos"/>
                <a:ea typeface="Aptos"/>
                <a:cs typeface="Aptos"/>
              </a:rPr>
              <a:t>Gestión pública</a:t>
            </a:r>
            <a:endParaRPr sz="130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21987A9D-C236-4DA4-82E1-76813CC2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3557016"/>
            <a:ext cx="3593592" cy="1353312"/>
          </a:xfrm>
          <a:prstGeom xmlns:a="http://schemas.openxmlformats.org/drawingml/2006/main" prst="roundRect">
            <a:avLst>
              <a:gd name="adj" fmla="val 87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A8CC28F5-D42B-48D0-8564-1BA6F218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7928" y="3749040"/>
            <a:ext cx="393192" cy="3931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B50"/>
          </a:solidFill>
          <a:ln xmlns:a="http://schemas.openxmlformats.org/drawingml/2006/main" w="12700">
            <a:solidFill>
              <a:srgbClr val="E6AB5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5A08E530-6434-4DB1-B6A6-5174E29C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1936" y="3840480"/>
            <a:ext cx="25603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  <a:endParaRPr sz="110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45E81954-918F-4C8B-B0D3-76E18392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3767328"/>
            <a:ext cx="263347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COOPERACIÓN</a:t>
            </a:r>
            <a:endParaRPr sz="170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3EB643B7-9216-460A-BFBC-51B5F8A9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4233672"/>
            <a:ext cx="2587752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350"/>
            </a:defPPr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65788A"/>
                </a:solidFill>
                <a:latin typeface="Aptos"/>
                <a:ea typeface="Aptos"/>
                <a:cs typeface="Aptos"/>
              </a:rPr>
              <a:t>Vínculos internacionales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11637294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23C51E3-9D3D-4C78-BDB1-EF0B5A96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 spc="130">
                <a:solidFill>
                  <a:srgbClr val="168C8B"/>
                </a:solidFill>
                <a:latin typeface="Aptos"/>
                <a:ea typeface="Aptos"/>
                <a:cs typeface="Aptos"/>
              </a:rPr>
              <a:t>AI+ · OBJETIVOS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621B009-E253-45B5-98FD-702D257C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Los objetivos de IA+ para 2027 y 2030</a:t>
            </a:r>
            <a:endParaRPr sz="2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7318AA6-1CB2-4A24-B019-CB194D68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65788A"/>
                </a:solidFill>
                <a:latin typeface="Aptos"/>
                <a:ea typeface="Aptos"/>
                <a:cs typeface="Aptos"/>
              </a:rPr>
              <a:t>Penetración prevista de terminales inteligentes de nueva generación y aplicaciones de agentes de IA.</a:t>
            </a:r>
            <a:endParaRPr sz="14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6DE1E91-6D96-4600-BD27-A676FD9C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2066544"/>
            <a:ext cx="3419856" cy="2212848"/>
          </a:xfrm>
          <a:prstGeom xmlns:a="http://schemas.openxmlformats.org/drawingml/2006/main" prst="roundRect">
            <a:avLst>
              <a:gd name="adj" fmla="val 5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BCE0157-78AA-41CE-A940-FA5DCDAC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194560"/>
            <a:ext cx="3054096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400" b="1">
                <a:solidFill>
                  <a:srgbClr val="168C8B"/>
                </a:solidFill>
                <a:latin typeface="Aptos"/>
                <a:ea typeface="Aptos"/>
                <a:cs typeface="Aptos"/>
              </a:rPr>
              <a:t>&gt;70 %</a:t>
            </a:r>
            <a:endParaRPr sz="4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302FDD4-F8BF-4F12-81FB-FEC9FF8F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898648"/>
            <a:ext cx="3017520" cy="1252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350"/>
            </a:defPPr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263849"/>
                </a:solidFill>
                <a:latin typeface="Aptos"/>
                <a:ea typeface="Aptos"/>
                <a:cs typeface="Aptos"/>
              </a:rPr>
              <a:t>Meta oficial para 2027</a:t>
            </a:r>
            <a:endParaRPr sz="12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8229A76-30C4-4C2E-B725-CD8F4993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976" y="2066544"/>
            <a:ext cx="3419856" cy="2212848"/>
          </a:xfrm>
          <a:prstGeom xmlns:a="http://schemas.openxmlformats.org/drawingml/2006/main" prst="roundRect">
            <a:avLst>
              <a:gd name="adj" fmla="val 5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5860F23-6999-4439-BEE6-23B1D1AA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2194560"/>
            <a:ext cx="3054096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400" b="1">
                <a:solidFill>
                  <a:srgbClr val="168C8B"/>
                </a:solidFill>
                <a:latin typeface="Aptos"/>
                <a:ea typeface="Aptos"/>
                <a:cs typeface="Aptos"/>
              </a:rPr>
              <a:t>&gt;90 %</a:t>
            </a:r>
            <a:endParaRPr sz="4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953F992-7D25-4A2A-BFA3-F2897AD3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144" y="2898648"/>
            <a:ext cx="3017520" cy="1252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350"/>
            </a:defPPr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263849"/>
                </a:solidFill>
                <a:latin typeface="Aptos"/>
                <a:ea typeface="Aptos"/>
                <a:cs typeface="Aptos"/>
              </a:rPr>
              <a:t>Meta oficial para 2030</a:t>
            </a:r>
            <a:endParaRPr sz="12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8118566B-0251-4555-B1B5-302D4FDA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5864" y="2066544"/>
            <a:ext cx="3419856" cy="2212848"/>
          </a:xfrm>
          <a:prstGeom xmlns:a="http://schemas.openxmlformats.org/drawingml/2006/main" prst="roundRect">
            <a:avLst>
              <a:gd name="adj" fmla="val 5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724CD05-F352-4024-BD68-2E714DA1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8744" y="2194560"/>
            <a:ext cx="3054096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D94F45"/>
                </a:solidFill>
                <a:latin typeface="Aptos"/>
                <a:ea typeface="Aptos"/>
                <a:cs typeface="Aptos"/>
              </a:rPr>
              <a:t>2035</a:t>
            </a:r>
            <a:endParaRPr sz="42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C9AAF06-2837-4B50-AD3D-20324CFD1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2" y="2898648"/>
            <a:ext cx="3017520" cy="1252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350"/>
            </a:defPPr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263849"/>
                </a:solidFill>
                <a:latin typeface="Aptos"/>
                <a:ea typeface="Aptos"/>
                <a:cs typeface="Aptos"/>
              </a:rPr>
              <a:t>Horizonte de economía y sociedad inteligentes</a:t>
            </a:r>
            <a:endParaRPr sz="12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3B70E649-3CB5-4AC8-B17C-78A417CA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4599432"/>
            <a:ext cx="10735056" cy="832104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1D9"/>
          </a:solidFill>
          <a:ln xmlns:a="http://schemas.openxmlformats.org/drawingml/2006/main" w="12700">
            <a:solidFill>
              <a:srgbClr val="FFF1D9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EC87E94-E99D-48CF-9A0B-A394DCB1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4791456"/>
            <a:ext cx="10232136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El indicador se refiere a terminales inteligentes y aplicaciones de agentes.</a:t>
            </a:r>
            <a:endParaRPr sz="1700"/>
          </a:p>
        </p:txBody>
      </p:sp>
    </p:spTree>
    <p:extLst>
      <p:ext uri="{BB962C8B-B14F-4D97-AF65-F5344CB8AC3E}">
        <p14:creationId xmlns:p14="http://schemas.microsoft.com/office/powerpoint/2010/main" val="105218764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3E12C55-59CA-417A-8C33-70596E07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 spc="130">
                <a:solidFill>
                  <a:srgbClr val="168C8B"/>
                </a:solidFill>
                <a:latin typeface="Aptos"/>
                <a:ea typeface="Aptos"/>
                <a:cs typeface="Aptos"/>
              </a:rPr>
              <a:t>EJERCICIO DIDÁCTICO 03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F540C8C-80D4-4078-95D1-0AE0A5C2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¿Cómo ayuda la IA a evitar que una máquina se detenga?</a:t>
            </a:r>
            <a:endParaRPr sz="2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1E499A-2B1F-4B8B-811A-11299920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65788A"/>
                </a:solidFill>
                <a:latin typeface="Aptos"/>
                <a:ea typeface="Aptos"/>
                <a:cs typeface="Aptos"/>
              </a:rPr>
              <a:t>Ejemplo HIPOTÉTICO de mantenimiento predictivo.</a:t>
            </a:r>
            <a:endParaRPr sz="14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83A57EC-A456-4790-9C41-BA464C6D9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93392"/>
            <a:ext cx="5385816" cy="2313432"/>
          </a:xfrm>
          <a:prstGeom xmlns:a="http://schemas.openxmlformats.org/drawingml/2006/main" prst="roundRect">
            <a:avLst>
              <a:gd name="adj" fmla="val 5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D57235B-5913-49E5-BC79-F9786623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7712"/>
            <a:ext cx="1097280" cy="338328"/>
          </a:xfrm>
          <a:prstGeom xmlns:a="http://schemas.openxmlformats.org/drawingml/2006/main" prst="roundRect">
            <a:avLst>
              <a:gd name="adj" fmla="val 43243"/>
            </a:avLst>
          </a:prstGeom>
          <a:solidFill xmlns:a="http://schemas.openxmlformats.org/drawingml/2006/main">
            <a:srgbClr val="D94F45"/>
          </a:solidFill>
          <a:ln xmlns:a="http://schemas.openxmlformats.org/drawingml/2006/main" w="12700">
            <a:solidFill>
              <a:srgbClr val="D94F45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37A20B4-0A0A-4FF3-B478-7C7260E1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286000"/>
            <a:ext cx="877824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40" b="1" spc="70">
                <a:solidFill>
                  <a:srgbClr val="FFFFFF"/>
                </a:solidFill>
                <a:latin typeface="Aptos"/>
                <a:ea typeface="Aptos"/>
                <a:cs typeface="Aptos"/>
              </a:rPr>
              <a:t>ANTES</a:t>
            </a:r>
            <a:endParaRPr sz="104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170C375-AB02-4092-AA82-88508362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2816352"/>
            <a:ext cx="361188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400" b="1">
                <a:solidFill>
                  <a:srgbClr val="D94F45"/>
                </a:solidFill>
                <a:latin typeface="Aptos"/>
                <a:ea typeface="Aptos"/>
                <a:cs typeface="Aptos"/>
              </a:rPr>
              <a:t>160 h</a:t>
            </a:r>
            <a:endParaRPr sz="44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0CDCB64-B057-4B7B-8044-00128FD6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3721608"/>
            <a:ext cx="4663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263849"/>
                </a:solidFill>
                <a:latin typeface="Aptos"/>
                <a:ea typeface="Aptos"/>
                <a:cs typeface="Aptos"/>
              </a:rPr>
              <a:t>paradas imprevistas anuales</a:t>
            </a:r>
            <a:endParaRPr sz="14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A39C06C7-9785-4963-9834-61CFDEE2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792" y="1993392"/>
            <a:ext cx="5385816" cy="2313432"/>
          </a:xfrm>
          <a:prstGeom xmlns:a="http://schemas.openxmlformats.org/drawingml/2006/main" prst="roundRect">
            <a:avLst>
              <a:gd name="adj" fmla="val 5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DCAD15A-BCD2-4B92-AB34-C24C0504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2267712"/>
            <a:ext cx="1097280" cy="338328"/>
          </a:xfrm>
          <a:prstGeom xmlns:a="http://schemas.openxmlformats.org/drawingml/2006/main" prst="roundRect">
            <a:avLst>
              <a:gd name="adj" fmla="val 43243"/>
            </a:avLst>
          </a:prstGeom>
          <a:solidFill xmlns:a="http://schemas.openxmlformats.org/drawingml/2006/main">
            <a:srgbClr val="168C8B"/>
          </a:solidFill>
          <a:ln xmlns:a="http://schemas.openxmlformats.org/drawingml/2006/main" w="12700">
            <a:solidFill>
              <a:srgbClr val="168C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F0300B9-C716-44A0-876F-1CDB5C65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2286000"/>
            <a:ext cx="877824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40" b="1" spc="70">
                <a:solidFill>
                  <a:srgbClr val="FFFFFF"/>
                </a:solidFill>
                <a:latin typeface="Aptos"/>
                <a:ea typeface="Aptos"/>
                <a:cs typeface="Aptos"/>
              </a:rPr>
              <a:t>DESPUÉS</a:t>
            </a:r>
            <a:endParaRPr sz="104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F012907-42DA-4894-AC91-2D058BB1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2816352"/>
            <a:ext cx="361188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400" b="1">
                <a:solidFill>
                  <a:srgbClr val="168C8B"/>
                </a:solidFill>
                <a:latin typeface="Aptos"/>
                <a:ea typeface="Aptos"/>
                <a:cs typeface="Aptos"/>
              </a:rPr>
              <a:t>80 h</a:t>
            </a:r>
            <a:endParaRPr sz="4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1A4CFA8-237C-499C-B67D-4B4A6AEC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3721608"/>
            <a:ext cx="4663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263849"/>
                </a:solidFill>
                <a:latin typeface="Aptos"/>
                <a:ea typeface="Aptos"/>
                <a:cs typeface="Aptos"/>
              </a:rPr>
              <a:t>paradas imprevistas anuales</a:t>
            </a:r>
            <a:endParaRPr sz="14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7437D923-9064-41FA-9AF1-48220BE9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4709160"/>
            <a:ext cx="10762488" cy="777240"/>
          </a:xfrm>
          <a:prstGeom xmlns:a="http://schemas.openxmlformats.org/drawingml/2006/main" prst="roundRect">
            <a:avLst>
              <a:gd name="adj" fmla="val 15294"/>
            </a:avLst>
          </a:prstGeom>
          <a:solidFill xmlns:a="http://schemas.openxmlformats.org/drawingml/2006/main">
            <a:srgbClr val="C6E9E6"/>
          </a:solidFill>
          <a:ln xmlns:a="http://schemas.openxmlformats.org/drawingml/2006/main" w="12700">
            <a:solidFill>
              <a:srgbClr val="C6E9E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C776C950-99EF-4715-9FA6-8901E61E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4910328"/>
            <a:ext cx="1011326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−50 % de paradas NO implica +50 % de producción total.</a:t>
            </a:r>
            <a:endParaRPr sz="1900"/>
          </a:p>
        </p:txBody>
      </p:sp>
    </p:spTree>
    <p:extLst>
      <p:ext uri="{BB962C8B-B14F-4D97-AF65-F5344CB8AC3E}">
        <p14:creationId xmlns:p14="http://schemas.microsoft.com/office/powerpoint/2010/main" val="172723538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F77E11C-A425-42B4-B9DD-B40CE1EC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 spc="130">
                <a:solidFill>
                  <a:srgbClr val="168C8B"/>
                </a:solidFill>
                <a:latin typeface="Aptos"/>
                <a:ea typeface="Aptos"/>
                <a:cs typeface="Aptos"/>
              </a:rPr>
              <a:t>LA CONDICIÓN DE USO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359DF20-8139-4140-BCAF-EAAE6B933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Las condiciones de uso de la IA industrial</a:t>
            </a:r>
            <a:endParaRPr sz="2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842CB89-55D3-4596-8DE0-449DEE50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65788A"/>
                </a:solidFill>
                <a:latin typeface="Aptos"/>
                <a:ea typeface="Aptos"/>
                <a:cs typeface="Aptos"/>
              </a:rPr>
              <a:t>Adquirir un modelo no equivale a mejorar una fábrica.</a:t>
            </a:r>
            <a:endParaRPr sz="14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769849E-B6C0-4736-897A-84346E00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1984248"/>
            <a:ext cx="5394960" cy="1353312"/>
          </a:xfrm>
          <a:prstGeom xmlns:a="http://schemas.openxmlformats.org/drawingml/2006/main" prst="roundRect">
            <a:avLst>
              <a:gd name="adj" fmla="val 94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22E9116-F814-4951-8C22-54E2EA49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94560"/>
            <a:ext cx="4919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 b="1">
                <a:solidFill>
                  <a:srgbClr val="168C8B"/>
                </a:solidFill>
                <a:latin typeface="Aptos"/>
                <a:ea typeface="Aptos"/>
                <a:cs typeface="Aptos"/>
              </a:rPr>
              <a:t>DATOS</a:t>
            </a:r>
            <a:endParaRPr sz="21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4C84384-44E6-441C-A30F-1D3CA0AC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706624"/>
            <a:ext cx="4800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>
                <a:solidFill>
                  <a:srgbClr val="263849"/>
                </a:solidFill>
                <a:latin typeface="Aptos"/>
                <a:ea typeface="Aptos"/>
                <a:cs typeface="Aptos"/>
              </a:rPr>
              <a:t>¿Sensores confiables?</a:t>
            </a:r>
            <a:endParaRPr sz="15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9170A47-2C9F-4C82-A575-2CDC2C65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6" y="1984248"/>
            <a:ext cx="5394960" cy="1353312"/>
          </a:xfrm>
          <a:prstGeom xmlns:a="http://schemas.openxmlformats.org/drawingml/2006/main" prst="roundRect">
            <a:avLst>
              <a:gd name="adj" fmla="val 94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A162577-4D9C-4181-8552-937E9548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2194560"/>
            <a:ext cx="4919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 b="1">
                <a:solidFill>
                  <a:srgbClr val="D94F45"/>
                </a:solidFill>
                <a:latin typeface="Aptos"/>
                <a:ea typeface="Aptos"/>
                <a:cs typeface="Aptos"/>
              </a:rPr>
              <a:t>MODELOS</a:t>
            </a:r>
            <a:endParaRPr sz="21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F405DD3-4F6F-43FA-B7DF-17E9D409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096" y="2706624"/>
            <a:ext cx="4800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>
                <a:solidFill>
                  <a:srgbClr val="263849"/>
                </a:solidFill>
                <a:latin typeface="Aptos"/>
                <a:ea typeface="Aptos"/>
                <a:cs typeface="Aptos"/>
              </a:rPr>
              <a:t>¿Resuelven un problema?</a:t>
            </a:r>
            <a:endParaRPr sz="15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F5A081B7-2746-4B87-9BC0-88D242DC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3575304"/>
            <a:ext cx="5394960" cy="1353312"/>
          </a:xfrm>
          <a:prstGeom xmlns:a="http://schemas.openxmlformats.org/drawingml/2006/main" prst="roundRect">
            <a:avLst>
              <a:gd name="adj" fmla="val 94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35A9B7C-3691-4A9D-B8C4-A298F587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785616"/>
            <a:ext cx="4919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 b="1">
                <a:solidFill>
                  <a:srgbClr val="168C8B"/>
                </a:solidFill>
                <a:latin typeface="Aptos"/>
                <a:ea typeface="Aptos"/>
                <a:cs typeface="Aptos"/>
              </a:rPr>
              <a:t>PERSONAS</a:t>
            </a:r>
            <a:endParaRPr sz="21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0A70DD7-1596-4F14-9165-C246BE52E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4297680"/>
            <a:ext cx="4800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>
                <a:solidFill>
                  <a:srgbClr val="263849"/>
                </a:solidFill>
                <a:latin typeface="Aptos"/>
                <a:ea typeface="Aptos"/>
                <a:cs typeface="Aptos"/>
              </a:rPr>
              <a:t>¿Quién valida y repara?</a:t>
            </a:r>
            <a:endParaRPr sz="15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9AAD7F86-FE11-4A6A-9089-E9CE8065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6" y="3575304"/>
            <a:ext cx="5394960" cy="1353312"/>
          </a:xfrm>
          <a:prstGeom xmlns:a="http://schemas.openxmlformats.org/drawingml/2006/main" prst="roundRect">
            <a:avLst>
              <a:gd name="adj" fmla="val 94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AF127F4-A1D8-4E04-B68F-F6013F6F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3785616"/>
            <a:ext cx="4919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 b="1">
                <a:solidFill>
                  <a:srgbClr val="168C8B"/>
                </a:solidFill>
                <a:latin typeface="Aptos"/>
                <a:ea typeface="Aptos"/>
                <a:cs typeface="Aptos"/>
              </a:rPr>
              <a:t>PROCESOS</a:t>
            </a:r>
            <a:endParaRPr sz="21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29C1777-6FF2-4F48-8C03-4270CA22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096" y="4297680"/>
            <a:ext cx="4800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>
                <a:solidFill>
                  <a:srgbClr val="263849"/>
                </a:solidFill>
                <a:latin typeface="Aptos"/>
                <a:ea typeface="Aptos"/>
                <a:cs typeface="Aptos"/>
              </a:rPr>
              <a:t>¿Es posible aplicar la decisión?</a:t>
            </a:r>
            <a:endParaRPr sz="15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D5F7555-A243-459B-9D74-F0EA0B3C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2392"/>
            <a:ext cx="10817352" cy="402336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12700">
            <a:solidFill>
              <a:srgbClr val="101D31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8748449-27E9-450D-8AEC-6CECB02A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" y="5495544"/>
            <a:ext cx="1018641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 integración determina cómo se aprovecha una tecnología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74448806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101D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98588E4C-F828-495D-B0A9-C56DBB7CD1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9f9e558be940b0"/>
          <a:srcRect xmlns:a="http://schemas.openxmlformats.org/drawingml/2006/main" l="22056" t="0" r="22056" b="0"/>
          <a:stretch xmlns:a="http://schemas.openxmlformats.org/drawingml/2006/main"/>
        </p:blipFill>
        <p:spPr>
          <a:xfrm xmlns:a="http://schemas.openxmlformats.org/drawingml/2006/main">
            <a:off x="6400800" y="0"/>
            <a:ext cx="57908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4264B62D-3698-4928-9A83-B3D33EA1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0"/>
            <a:ext cx="109728" cy="6858000"/>
          </a:xfrm>
          <a:prstGeom xmlns:a="http://schemas.openxmlformats.org/drawingml/2006/main" prst="roundRect">
            <a:avLst>
              <a:gd name="adj" fmla="val 133333"/>
            </a:avLst>
          </a:prstGeom>
          <a:solidFill xmlns:a="http://schemas.openxmlformats.org/drawingml/2006/main">
            <a:srgbClr val="D94F45"/>
          </a:solidFill>
          <a:ln xmlns:a="http://schemas.openxmlformats.org/drawingml/2006/main" w="12700">
            <a:solidFill>
              <a:srgbClr val="D94F45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FE97831-AB22-4F53-8691-F82356419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31520"/>
            <a:ext cx="5394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 spc="200">
                <a:solidFill>
                  <a:srgbClr val="E6AB50"/>
                </a:solidFill>
                <a:latin typeface="Aptos"/>
                <a:ea typeface="Aptos"/>
                <a:cs typeface="Aptos"/>
              </a:rPr>
              <a:t>MOVIMIENTO  04</a:t>
            </a:r>
            <a:endParaRPr sz="13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EA50BC1-D0B7-4BAE-B2D7-138A10D3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07008"/>
            <a:ext cx="53949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00" b="1" spc="120">
                <a:solidFill>
                  <a:srgbClr val="C6E9E6"/>
                </a:solidFill>
                <a:latin typeface="Aptos"/>
                <a:ea typeface="Aptos"/>
                <a:cs typeface="Aptos"/>
              </a:rPr>
              <a:t>ESTRATEGIA 2030</a:t>
            </a:r>
            <a:endParaRPr sz="22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1495FF7-567A-4C0A-A905-83BF6B53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74520"/>
            <a:ext cx="5577840" cy="205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El XV Plan: nuevas</a:t>
            </a:r>
            <a:endParaRPr sz="3900"/>
          </a:p>
          <a:p xmlns:a="http://schemas.openxmlformats.org/drawingml/2006/main">
            <a:pPr marL="0" indent="0" algn="l">
              <a:buNone/>
            </a:pPr>
            <a:r>
              <a:rPr sz="3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capacidades</a:t>
            </a:r>
            <a:endParaRPr sz="3900"/>
          </a:p>
          <a:p xmlns:a="http://schemas.openxmlformats.org/drawingml/2006/main">
            <a:pPr marL="0" indent="0" algn="l">
              <a:buNone/>
            </a:pPr>
            <a:r>
              <a:rPr sz="3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productivas</a:t>
            </a:r>
            <a:endParaRPr sz="39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DAF40E9-BC68-4A60-A674-6293BD71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09160"/>
            <a:ext cx="557784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>
                <a:solidFill>
                  <a:srgbClr val="DEE8F0"/>
                </a:solidFill>
                <a:latin typeface="Aptos"/>
                <a:ea typeface="Aptos"/>
                <a:cs typeface="Aptos"/>
              </a:rPr>
              <a:t>El objetivo es transformar la composición tecnológica de la industria, no solo aumentar su volumen.</a:t>
            </a:r>
            <a:endParaRPr sz="1700"/>
          </a:p>
        </p:txBody>
      </p:sp>
      <p:sp>
        <p:nvSpPr>
          <p:cNvPr id="8" name="illustration-caption-background">
            <a:extLst xmlns:a="http://schemas.openxmlformats.org/drawingml/2006/main">
              <a:ext uri="{FF2B5EF4-FFF2-40B4-BE49-F238E27FC236}">
                <a16:creationId xmlns:a16="http://schemas.microsoft.com/office/drawing/2014/main" id="{2E649D35-6482-4F54-9F70-E200FC2F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33350"/>
            <a:ext cx="17335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illustration-caption">
            <a:extLst xmlns:a="http://schemas.openxmlformats.org/drawingml/2006/main">
              <a:ext uri="{FF2B5EF4-FFF2-40B4-BE49-F238E27FC236}">
                <a16:creationId xmlns:a16="http://schemas.microsoft.com/office/drawing/2014/main" id="{9AD5049C-5EAC-42DB-8024-E3B9057F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6192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ILUSTRACIÓN CONCEPTUAL</a:t>
            </a:r>
          </a:p>
        </p:txBody>
      </p:sp>
    </p:spTree>
    <p:extLst>
      <p:ext uri="{BB962C8B-B14F-4D97-AF65-F5344CB8AC3E}">
        <p14:creationId xmlns:p14="http://schemas.microsoft.com/office/powerpoint/2010/main" val="92381322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87FDBEA-ACDB-4103-A84A-9343BCE7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 spc="130">
                <a:solidFill>
                  <a:srgbClr val="168C8B"/>
                </a:solidFill>
                <a:latin typeface="Aptos"/>
                <a:ea typeface="Aptos"/>
                <a:cs typeface="Aptos"/>
              </a:rPr>
              <a:t>TRES HORIZONTES POLÍTICOS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2A1C52A-9D45-4668-A009-0952C1C4C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Tres instrumentos de modernización industrial</a:t>
            </a:r>
            <a:endParaRPr sz="2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B6EFE04-5912-4A01-A27E-F0FCCCA2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65788A"/>
                </a:solidFill>
                <a:latin typeface="Aptos"/>
                <a:ea typeface="Aptos"/>
                <a:cs typeface="Aptos"/>
              </a:rPr>
              <a:t>Son instrumentos distintos que se superponen y responden a necesidades cambiantes.</a:t>
            </a:r>
            <a:endParaRPr sz="14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B8370A32-5FC7-4DD0-BD8F-69593C71F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002536"/>
            <a:ext cx="3639312" cy="3282696"/>
          </a:xfrm>
          <a:prstGeom xmlns:a="http://schemas.openxmlformats.org/drawingml/2006/main" prst="roundRect">
            <a:avLst>
              <a:gd name="adj" fmla="val 39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A7EC8FB2-8410-457C-8014-27479AB1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295144"/>
            <a:ext cx="1508760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12700">
            <a:solidFill>
              <a:srgbClr val="101D31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03018E5-53A9-431D-BD93-2330B1E17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" y="2313432"/>
            <a:ext cx="128930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40" b="1" spc="70">
                <a:solidFill>
                  <a:srgbClr val="FFFFFF"/>
                </a:solidFill>
                <a:latin typeface="Aptos"/>
                <a:ea typeface="Aptos"/>
                <a:cs typeface="Aptos"/>
              </a:rPr>
              <a:t>2015</a:t>
            </a:r>
            <a:endParaRPr sz="104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76F8F88-849E-4F80-A46E-5736A697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935224"/>
            <a:ext cx="3182112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MADE IN CHINA 2025</a:t>
            </a:r>
            <a:endParaRPr sz="21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6B8C4322-59DB-425D-8D8E-562F6BF8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4014216"/>
            <a:ext cx="320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DCE4E9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2CB749E-9E95-4B7F-A48A-444DD6BDE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4197096"/>
            <a:ext cx="3182112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263849"/>
                </a:solidFill>
                <a:latin typeface="Aptos"/>
                <a:ea typeface="Aptos"/>
                <a:cs typeface="Aptos"/>
              </a:rPr>
              <a:t>Actualizar industrias; equipos y componentes.</a:t>
            </a:r>
            <a:endParaRPr sz="14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0E8D7C0-A42D-464C-9A47-744B7E8FA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002536"/>
            <a:ext cx="3639312" cy="3282696"/>
          </a:xfrm>
          <a:prstGeom xmlns:a="http://schemas.openxmlformats.org/drawingml/2006/main" prst="roundRect">
            <a:avLst>
              <a:gd name="adj" fmla="val 39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97D4BD6-A4DE-4A91-9840-C81F94EB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295144"/>
            <a:ext cx="1508760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12700">
            <a:solidFill>
              <a:srgbClr val="101D31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31F4232-3514-4781-9F99-DEAB66E3F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608" y="2313432"/>
            <a:ext cx="128930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40" b="1" spc="70">
                <a:solidFill>
                  <a:srgbClr val="FFFFFF"/>
                </a:solidFill>
                <a:latin typeface="Aptos"/>
                <a:ea typeface="Aptos"/>
                <a:cs typeface="Aptos"/>
              </a:rPr>
              <a:t>2025</a:t>
            </a:r>
            <a:endParaRPr sz="104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35D6B20-9805-4CBC-8F93-65EC5E74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935224"/>
            <a:ext cx="3182112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INTELIGENCIA ARTIFICIAL+</a:t>
            </a:r>
            <a:endParaRPr sz="21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74AD58F8-B057-45B5-A907-59E43B22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5736" y="4014216"/>
            <a:ext cx="320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DCE4E9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76572E5-821F-4C7D-B245-FAF395F1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4197096"/>
            <a:ext cx="3182112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263849"/>
                </a:solidFill>
                <a:latin typeface="Aptos"/>
                <a:ea typeface="Aptos"/>
                <a:cs typeface="Aptos"/>
              </a:rPr>
              <a:t>Difundir IA a múltiples sectores de la economía.</a:t>
            </a:r>
            <a:endParaRPr sz="14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8A4660C-7723-4BB1-BABC-D9F77777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2002536"/>
            <a:ext cx="3639312" cy="3282696"/>
          </a:xfrm>
          <a:prstGeom xmlns:a="http://schemas.openxmlformats.org/drawingml/2006/main" prst="roundRect">
            <a:avLst>
              <a:gd name="adj" fmla="val 39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B231E5D1-62E3-4112-A383-A17B6F13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2792" y="2295144"/>
            <a:ext cx="1508760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D94F45"/>
          </a:solidFill>
          <a:ln xmlns:a="http://schemas.openxmlformats.org/drawingml/2006/main" w="12700">
            <a:solidFill>
              <a:srgbClr val="D94F45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4AEA804-B0AF-406A-92B5-52A8549B8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2313432"/>
            <a:ext cx="128930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40" b="1" spc="70">
                <a:solidFill>
                  <a:srgbClr val="FFFFFF"/>
                </a:solidFill>
                <a:latin typeface="Aptos"/>
                <a:ea typeface="Aptos"/>
                <a:cs typeface="Aptos"/>
              </a:rPr>
              <a:t>2026–2030</a:t>
            </a:r>
            <a:endParaRPr sz="104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810BC2DB-41BA-415F-9002-BD1B4978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2792" y="2935224"/>
            <a:ext cx="3182112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XV PLAN QUINQUENAL</a:t>
            </a:r>
            <a:endParaRPr sz="21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214E7D55-BFD6-4D37-9288-73890FF8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4014216"/>
            <a:ext cx="320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DCE4E9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AB584CB0-AA5E-4CA5-9104-DA1F4D4C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2792" y="4197096"/>
            <a:ext cx="3182112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263849"/>
                </a:solidFill>
                <a:latin typeface="Aptos"/>
                <a:ea typeface="Aptos"/>
                <a:cs typeface="Aptos"/>
              </a:rPr>
              <a:t>Integrar innovación, industria y seguridad tecnológica.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76452172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31ABE71-F9D2-4D02-B218-B7B5D511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 spc="130">
                <a:solidFill>
                  <a:srgbClr val="168C8B"/>
                </a:solidFill>
                <a:latin typeface="Aptos"/>
                <a:ea typeface="Aptos"/>
                <a:cs typeface="Aptos"/>
              </a:rPr>
              <a:t>NUEVO CONCEPTO DE DESARROLLO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3DD83F5-D683-4B24-A98A-408DBF18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“Fuerzas productivas de nueva calidad” · 新质生产力</a:t>
            </a:r>
            <a:endParaRPr sz="2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F83C624-9C05-4D84-95A3-3BA39B15A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65788A"/>
                </a:solidFill>
                <a:latin typeface="Aptos"/>
                <a:ea typeface="Aptos"/>
                <a:cs typeface="Aptos"/>
              </a:rPr>
              <a:t>Tres horizontes industriales en el XV Plan Quinquenal.</a:t>
            </a:r>
            <a:endParaRPr sz="14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B1197F18-4553-42E8-9748-FB9E8719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84248"/>
            <a:ext cx="10597896" cy="100584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84BA654-5395-425D-8B88-2A3B34CC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84248"/>
            <a:ext cx="118872" cy="1005840"/>
          </a:xfrm>
          <a:prstGeom xmlns:a="http://schemas.openxmlformats.org/drawingml/2006/main" prst="roundRect">
            <a:avLst>
              <a:gd name="adj" fmla="val 123077"/>
            </a:avLst>
          </a:prstGeom>
          <a:solidFill xmlns:a="http://schemas.openxmlformats.org/drawingml/2006/main">
            <a:srgbClr val="203954"/>
          </a:solidFill>
          <a:ln xmlns:a="http://schemas.openxmlformats.org/drawingml/2006/main" w="12700">
            <a:solidFill>
              <a:srgbClr val="203954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A1C1A68-9684-4ED5-8D59-731CE3A4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231136"/>
            <a:ext cx="59436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203954"/>
                </a:solidFill>
                <a:latin typeface="Aptos"/>
                <a:ea typeface="Aptos"/>
                <a:cs typeface="Aptos"/>
              </a:rPr>
              <a:t>01</a:t>
            </a:r>
            <a:endParaRPr sz="2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7AB7D82-C5EC-42AA-817B-EFEAD61D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3664" y="2112264"/>
            <a:ext cx="379476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MEJORAR LO EXISTENTE</a:t>
            </a:r>
            <a:endParaRPr sz="18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7B7603E-CFD4-420C-AF69-FBCFBDB9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144" y="2148840"/>
            <a:ext cx="5321808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263849"/>
                </a:solidFill>
                <a:latin typeface="Aptos"/>
                <a:ea typeface="Aptos"/>
                <a:cs typeface="Aptos"/>
              </a:rPr>
              <a:t>Acero, maquinaria, química: calidad y eficiencia.</a:t>
            </a:r>
            <a:endParaRPr sz="14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753CECC1-A5A3-4F41-B1F3-2785A8F6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246120"/>
            <a:ext cx="10597896" cy="100584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FF984452-DC36-4041-A730-831A05508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246120"/>
            <a:ext cx="118872" cy="1005840"/>
          </a:xfrm>
          <a:prstGeom xmlns:a="http://schemas.openxmlformats.org/drawingml/2006/main" prst="roundRect">
            <a:avLst>
              <a:gd name="adj" fmla="val 123077"/>
            </a:avLst>
          </a:prstGeom>
          <a:solidFill xmlns:a="http://schemas.openxmlformats.org/drawingml/2006/main">
            <a:srgbClr val="168C8B"/>
          </a:solidFill>
          <a:ln xmlns:a="http://schemas.openxmlformats.org/drawingml/2006/main" w="12700">
            <a:solidFill>
              <a:srgbClr val="168C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4438A16-FE99-4344-996F-25A90CBF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93008"/>
            <a:ext cx="59436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68C8B"/>
                </a:solidFill>
                <a:latin typeface="Aptos"/>
                <a:ea typeface="Aptos"/>
                <a:cs typeface="Aptos"/>
              </a:rPr>
              <a:t>02</a:t>
            </a:r>
            <a:endParaRPr sz="25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9C10065B-E800-4E01-AC77-DB45AEB3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3664" y="3374136"/>
            <a:ext cx="379476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ESCALAR LO EMERGENTE</a:t>
            </a:r>
            <a:endParaRPr sz="18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0A3314D-A7D1-4B9D-A7B2-89A07837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144" y="3410712"/>
            <a:ext cx="5321808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263849"/>
                </a:solidFill>
                <a:latin typeface="Aptos"/>
                <a:ea typeface="Aptos"/>
                <a:cs typeface="Aptos"/>
              </a:rPr>
              <a:t>Robótica, vehículos inteligentes, nuevos materiales.</a:t>
            </a:r>
            <a:endParaRPr sz="14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EC56C1E4-3B02-4237-8A9E-339D3609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507992"/>
            <a:ext cx="10597896" cy="100584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C6E9E6"/>
          </a:solidFill>
          <a:ln xmlns:a="http://schemas.openxmlformats.org/drawingml/2006/main" w="12700">
            <a:solidFill>
              <a:srgbClr val="C6E9E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3BF87206-D737-463D-B6AE-8EA59907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507992"/>
            <a:ext cx="118872" cy="1005840"/>
          </a:xfrm>
          <a:prstGeom xmlns:a="http://schemas.openxmlformats.org/drawingml/2006/main" prst="roundRect">
            <a:avLst>
              <a:gd name="adj" fmla="val 123077"/>
            </a:avLst>
          </a:prstGeom>
          <a:solidFill xmlns:a="http://schemas.openxmlformats.org/drawingml/2006/main">
            <a:srgbClr val="D94F45"/>
          </a:solidFill>
          <a:ln xmlns:a="http://schemas.openxmlformats.org/drawingml/2006/main" w="12700">
            <a:solidFill>
              <a:srgbClr val="D94F45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3F1C999-9AA8-4EB9-9BB0-B0364098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54880"/>
            <a:ext cx="59436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D94F45"/>
                </a:solidFill>
                <a:latin typeface="Aptos"/>
                <a:ea typeface="Aptos"/>
                <a:cs typeface="Aptos"/>
              </a:rPr>
              <a:t>03</a:t>
            </a:r>
            <a:endParaRPr sz="25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C45E0B6-2856-401E-ACEC-4D3D537F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3664" y="4636008"/>
            <a:ext cx="379476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EXPLORAR EL FUTURO</a:t>
            </a:r>
            <a:endParaRPr sz="18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7137FE3-8E16-4048-B8A3-5625A67A0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144" y="4672584"/>
            <a:ext cx="5321808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263849"/>
                </a:solidFill>
                <a:latin typeface="Aptos"/>
                <a:ea typeface="Aptos"/>
                <a:cs typeface="Aptos"/>
              </a:rPr>
              <a:t>IA encarnada, tecnologías cuánticas, 6G y otras.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7692473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43DB51D-2618-4723-ADB7-6F22D3F2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 spc="130">
                <a:solidFill>
                  <a:srgbClr val="168C8B"/>
                </a:solidFill>
                <a:latin typeface="Aptos"/>
                <a:ea typeface="Aptos"/>
                <a:cs typeface="Aptos"/>
              </a:rPr>
              <a:t>DE LA DECISIÓN AL DATO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5449159-6972-4D70-BE69-9DE2F3B5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Un plan no es una fábrica que ya funciona</a:t>
            </a:r>
            <a:endParaRPr sz="2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FE9990F-822E-4DCD-B3BA-551F4888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65788A"/>
                </a:solidFill>
                <a:latin typeface="Aptos"/>
                <a:ea typeface="Aptos"/>
                <a:cs typeface="Aptos"/>
              </a:rPr>
              <a:t>Cómo juzgar un programa industrial con cuatro niveles diferentes.</a:t>
            </a:r>
            <a:endParaRPr sz="14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73421EC-A673-4C1B-B3D8-385039B8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276856"/>
            <a:ext cx="2670048" cy="2816352"/>
          </a:xfrm>
          <a:prstGeom xmlns:a="http://schemas.openxmlformats.org/drawingml/2006/main" prst="roundRect">
            <a:avLst>
              <a:gd name="adj" fmla="val 47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AB81ED7-4C09-4898-9497-B11CE834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2587752"/>
            <a:ext cx="2322576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>
                <a:solidFill>
                  <a:srgbClr val="D94F45"/>
                </a:solidFill>
                <a:latin typeface="Aptos"/>
                <a:ea typeface="Aptos"/>
                <a:cs typeface="Aptos"/>
              </a:rPr>
              <a:t>01</a:t>
            </a:r>
            <a:endParaRPr sz="30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94C3BD4-65AB-42D5-94BF-0FDD6735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3319272"/>
            <a:ext cx="228600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ANUNCIO</a:t>
            </a:r>
            <a:endParaRPr sz="19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089BC021-2FE9-4AE3-B71B-A547FA90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3986784"/>
            <a:ext cx="22311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DCE4E9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2FE7C17-48A5-4819-83BE-05A899A9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4169664"/>
            <a:ext cx="2295144" cy="61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263849"/>
                </a:solidFill>
                <a:latin typeface="Aptos"/>
                <a:ea typeface="Aptos"/>
                <a:cs typeface="Aptos"/>
              </a:rPr>
              <a:t>Objetivos y prioridades</a:t>
            </a:r>
            <a:endParaRPr sz="13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A98D3DBA-8479-4564-BE31-015E95DF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276856"/>
            <a:ext cx="2670048" cy="2816352"/>
          </a:xfrm>
          <a:prstGeom xmlns:a="http://schemas.openxmlformats.org/drawingml/2006/main" prst="roundRect">
            <a:avLst>
              <a:gd name="adj" fmla="val 47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1E224BE-31E9-44FC-B312-3C2253B57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6472" y="2587752"/>
            <a:ext cx="2322576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>
                <a:solidFill>
                  <a:srgbClr val="D94F45"/>
                </a:solidFill>
                <a:latin typeface="Aptos"/>
                <a:ea typeface="Aptos"/>
                <a:cs typeface="Aptos"/>
              </a:rPr>
              <a:t>02</a:t>
            </a:r>
            <a:endParaRPr sz="30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4592D99-72FA-4B76-9506-9C2CF3AB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6472" y="3319272"/>
            <a:ext cx="228600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INSTRUMENTO</a:t>
            </a:r>
            <a:endParaRPr sz="19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9F0E5F1-7C6D-4A08-AFC7-53538BEE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6472" y="3986784"/>
            <a:ext cx="22311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DCE4E9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7B288DC-C171-4512-964C-54A7BE14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6472" y="4169664"/>
            <a:ext cx="2295144" cy="61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263849"/>
                </a:solidFill>
                <a:latin typeface="Aptos"/>
                <a:ea typeface="Aptos"/>
                <a:cs typeface="Aptos"/>
              </a:rPr>
              <a:t>Reglas, presupuesto, incentivos</a:t>
            </a:r>
            <a:endParaRPr sz="13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F788EAD8-FB20-4ADC-B783-2698A37C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276856"/>
            <a:ext cx="2670048" cy="2816352"/>
          </a:xfrm>
          <a:prstGeom xmlns:a="http://schemas.openxmlformats.org/drawingml/2006/main" prst="roundRect">
            <a:avLst>
              <a:gd name="adj" fmla="val 47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4F89015-340C-4583-8F47-25C553D8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87752"/>
            <a:ext cx="2322576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>
                <a:solidFill>
                  <a:srgbClr val="D94F45"/>
                </a:solidFill>
                <a:latin typeface="Aptos"/>
                <a:ea typeface="Aptos"/>
                <a:cs typeface="Aptos"/>
              </a:rPr>
              <a:t>03</a:t>
            </a:r>
            <a:endParaRPr sz="30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D502D8F2-E9C0-46CA-8462-068B808A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19272"/>
            <a:ext cx="228600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EJECUCIÓN</a:t>
            </a:r>
            <a:endParaRPr sz="190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79190E04-E067-4A77-80B3-97C745EC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86784"/>
            <a:ext cx="22311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DCE4E9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6D6FF130-667E-4F12-A405-7FD22D400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169664"/>
            <a:ext cx="2295144" cy="61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263849"/>
                </a:solidFill>
                <a:latin typeface="Aptos"/>
                <a:ea typeface="Aptos"/>
                <a:cs typeface="Aptos"/>
              </a:rPr>
              <a:t>Plantas, contratos, capacitación</a:t>
            </a:r>
            <a:endParaRPr sz="13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630EA9C6-E636-4C49-98BE-590011D6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016" y="2276856"/>
            <a:ext cx="2670048" cy="2816352"/>
          </a:xfrm>
          <a:prstGeom xmlns:a="http://schemas.openxmlformats.org/drawingml/2006/main" prst="roundRect">
            <a:avLst>
              <a:gd name="adj" fmla="val 4795"/>
            </a:avLst>
          </a:prstGeom>
          <a:solidFill xmlns:a="http://schemas.openxmlformats.org/drawingml/2006/main">
            <a:srgbClr val="C6E9E6"/>
          </a:solidFill>
          <a:ln xmlns:a="http://schemas.openxmlformats.org/drawingml/2006/main" w="12700">
            <a:solidFill>
              <a:srgbClr val="C6E9E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85E84E90-8B05-4B10-80D0-FB4065AC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328" y="2587752"/>
            <a:ext cx="2322576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>
                <a:solidFill>
                  <a:srgbClr val="168C8B"/>
                </a:solidFill>
                <a:latin typeface="Aptos"/>
                <a:ea typeface="Aptos"/>
                <a:cs typeface="Aptos"/>
              </a:rPr>
              <a:t>04</a:t>
            </a:r>
            <a:endParaRPr sz="30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60D72776-0F77-461C-8CD6-16C4F9F9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328" y="3319272"/>
            <a:ext cx="228600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RESULTADO</a:t>
            </a:r>
            <a:endParaRPr sz="190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65A4B666-3108-4C8F-BAE5-DBFE5496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328" y="3986784"/>
            <a:ext cx="22311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DCE4E9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1662BC7F-DC9C-4C5D-AD3D-83EC46C4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328" y="4169664"/>
            <a:ext cx="2295144" cy="61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263849"/>
                </a:solidFill>
                <a:latin typeface="Aptos"/>
                <a:ea typeface="Aptos"/>
                <a:cs typeface="Aptos"/>
              </a:rPr>
              <a:t>Productividad, calidad, ventas</a:t>
            </a:r>
            <a:endParaRPr sz="135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C9B682BE-8D58-4BAB-B4F8-A7F7595E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413248"/>
            <a:ext cx="10762488" cy="45720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FF1D9"/>
          </a:solidFill>
          <a:ln xmlns:a="http://schemas.openxmlformats.org/drawingml/2006/main" w="12700">
            <a:solidFill>
              <a:srgbClr val="FFF1D9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0759CE12-0EF4-4FF0-9492-F7C536C6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5495544"/>
            <a:ext cx="10222992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Cuatro niveles distintos: una meta oficial no demuestra que la inversión haya sido rentable.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202364176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101D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FBD9569E-E9C1-493B-8E94-22EE8B47E8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fbd5f2dc6a4c71"/>
          <a:srcRect xmlns:a="http://schemas.openxmlformats.org/drawingml/2006/main" l="21983" t="0" r="21983" b="0"/>
          <a:stretch xmlns:a="http://schemas.openxmlformats.org/drawingml/2006/main"/>
        </p:blipFill>
        <p:spPr>
          <a:xfrm xmlns:a="http://schemas.openxmlformats.org/drawingml/2006/main">
            <a:off x="6400800" y="0"/>
            <a:ext cx="57908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B2F93812-8D2D-46E9-AD14-F9A78B56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0"/>
            <a:ext cx="109728" cy="6858000"/>
          </a:xfrm>
          <a:prstGeom xmlns:a="http://schemas.openxmlformats.org/drawingml/2006/main" prst="roundRect">
            <a:avLst>
              <a:gd name="adj" fmla="val 133333"/>
            </a:avLst>
          </a:prstGeom>
          <a:solidFill xmlns:a="http://schemas.openxmlformats.org/drawingml/2006/main">
            <a:srgbClr val="D94F45"/>
          </a:solidFill>
          <a:ln xmlns:a="http://schemas.openxmlformats.org/drawingml/2006/main" w="12700">
            <a:solidFill>
              <a:srgbClr val="D94F45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1625F940-BE60-421F-AF98-55F83461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31520"/>
            <a:ext cx="5394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 spc="200">
                <a:solidFill>
                  <a:srgbClr val="E6AB50"/>
                </a:solidFill>
                <a:latin typeface="Aptos"/>
                <a:ea typeface="Aptos"/>
                <a:cs typeface="Aptos"/>
              </a:rPr>
              <a:t>MOVIMIENTO  05</a:t>
            </a:r>
            <a:endParaRPr sz="13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5640068E-F60F-4E82-93B7-36A5D68A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07008"/>
            <a:ext cx="53949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00" b="1" spc="120">
                <a:solidFill>
                  <a:srgbClr val="C6E9E6"/>
                </a:solidFill>
                <a:latin typeface="Aptos"/>
                <a:ea typeface="Aptos"/>
                <a:cs typeface="Aptos"/>
              </a:rPr>
              <a:t>GEOPOLÍTICA</a:t>
            </a:r>
            <a:endParaRPr sz="22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6E576E9-B8E3-4809-8EB0-FB19D035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74520"/>
            <a:ext cx="5577840" cy="205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 red también tiene</a:t>
            </a:r>
            <a:endParaRPr sz="3900"/>
          </a:p>
          <a:p xmlns:a="http://schemas.openxmlformats.org/drawingml/2006/main">
            <a:pPr marL="0" indent="0" algn="l">
              <a:buNone/>
            </a:pPr>
            <a:r>
              <a:rPr sz="3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puntos débiles</a:t>
            </a:r>
            <a:endParaRPr sz="39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47A4D59F-CA79-48F3-904C-1DA514C4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09160"/>
            <a:ext cx="557784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>
                <a:solidFill>
                  <a:srgbClr val="DEE8F0"/>
                </a:solidFill>
                <a:latin typeface="Aptos"/>
                <a:ea typeface="Aptos"/>
                <a:cs typeface="Aptos"/>
              </a:rPr>
              <a:t>La capacidad manufacturera puede coexistir con dependencia, sobreinversión y vulnerabilidad.</a:t>
            </a:r>
            <a:endParaRPr sz="1700"/>
          </a:p>
        </p:txBody>
      </p:sp>
      <p:sp>
        <p:nvSpPr>
          <p:cNvPr id="8" name="illustration-caption-background">
            <a:extLst xmlns:a="http://schemas.openxmlformats.org/drawingml/2006/main">
              <a:ext uri="{FF2B5EF4-FFF2-40B4-BE49-F238E27FC236}">
                <a16:creationId xmlns:a16="http://schemas.microsoft.com/office/drawing/2014/main" id="{B7400835-EAE7-4E0B-890D-69202C08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33350"/>
            <a:ext cx="17335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illustration-caption">
            <a:extLst xmlns:a="http://schemas.openxmlformats.org/drawingml/2006/main">
              <a:ext uri="{FF2B5EF4-FFF2-40B4-BE49-F238E27FC236}">
                <a16:creationId xmlns:a16="http://schemas.microsoft.com/office/drawing/2014/main" id="{3AE541E5-78E9-4B52-9F6B-C323C40E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6192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ILUSTRACIÓN CONCEPTUAL</a:t>
            </a:r>
          </a:p>
        </p:txBody>
      </p:sp>
    </p:spTree>
    <p:extLst>
      <p:ext uri="{BB962C8B-B14F-4D97-AF65-F5344CB8AC3E}">
        <p14:creationId xmlns:p14="http://schemas.microsoft.com/office/powerpoint/2010/main" val="17221604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BEFC6AC-43FC-4383-89EB-88444FD1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 spc="130">
                <a:solidFill>
                  <a:srgbClr val="168C8B"/>
                </a:solidFill>
                <a:latin typeface="Aptos"/>
                <a:ea typeface="Aptos"/>
                <a:cs typeface="Aptos"/>
              </a:rPr>
              <a:t>EJERCICIO DIDÁCTICO 04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EB0B2F5-6588-4CE9-8A44-BE603B27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Una pieza ausente detiene la línea entera</a:t>
            </a:r>
            <a:endParaRPr sz="2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61E4831-08AB-4880-8846-B7B58D97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65788A"/>
                </a:solidFill>
                <a:latin typeface="Aptos"/>
                <a:ea typeface="Aptos"/>
                <a:cs typeface="Aptos"/>
              </a:rPr>
              <a:t>Ejemplo hipotético: se necesita un chip indispensable por dispositivo y no hay sustituto.</a:t>
            </a:r>
            <a:endParaRPr sz="14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69441C3-A14D-4682-8023-630F4932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002536"/>
            <a:ext cx="5102352" cy="2212848"/>
          </a:xfrm>
          <a:prstGeom xmlns:a="http://schemas.openxmlformats.org/drawingml/2006/main" prst="roundRect">
            <a:avLst>
              <a:gd name="adj" fmla="val 5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809343C-C079-4A9B-9FCF-D529FF9D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130552"/>
            <a:ext cx="4736592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600" b="1">
                <a:solidFill>
                  <a:srgbClr val="168C8B"/>
                </a:solidFill>
                <a:latin typeface="Aptos"/>
                <a:ea typeface="Aptos"/>
                <a:cs typeface="Aptos"/>
              </a:rPr>
              <a:t>10.000</a:t>
            </a:r>
            <a:endParaRPr sz="46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56D482F-BB2C-4FAF-8019-9FBB699F0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2834640"/>
            <a:ext cx="4700016" cy="1252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350"/>
            </a:defPPr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263849"/>
                </a:solidFill>
                <a:latin typeface="Aptos"/>
                <a:ea typeface="Aptos"/>
                <a:cs typeface="Aptos"/>
              </a:rPr>
              <a:t>Capacidad semanal de la fábrica</a:t>
            </a:r>
            <a:endParaRPr sz="12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BC695CF-DA30-45C8-AD77-8A0EAB4C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2002536"/>
            <a:ext cx="5102352" cy="2212848"/>
          </a:xfrm>
          <a:prstGeom xmlns:a="http://schemas.openxmlformats.org/drawingml/2006/main" prst="roundRect">
            <a:avLst>
              <a:gd name="adj" fmla="val 5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A2B0CEF-E0C5-4943-B105-638B6702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130552"/>
            <a:ext cx="4736592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600" b="1">
                <a:solidFill>
                  <a:srgbClr val="D94F45"/>
                </a:solidFill>
                <a:latin typeface="Aptos"/>
                <a:ea typeface="Aptos"/>
                <a:cs typeface="Aptos"/>
              </a:rPr>
              <a:t>6.000</a:t>
            </a:r>
            <a:endParaRPr sz="46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7B868DD-2A6E-4B31-9F8D-F0BF18E0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34640"/>
            <a:ext cx="4700016" cy="1252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350"/>
            </a:defPPr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263849"/>
                </a:solidFill>
                <a:latin typeface="Aptos"/>
                <a:ea typeface="Aptos"/>
                <a:cs typeface="Aptos"/>
              </a:rPr>
              <a:t>Chips críticos disponibles</a:t>
            </a:r>
            <a:endParaRPr sz="12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9083A07D-8CCE-42F9-9252-78B69B5E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572000"/>
            <a:ext cx="10579608" cy="713232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12700">
            <a:solidFill>
              <a:srgbClr val="101D31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4E66ED7-6066-4D9C-83C0-A9829A53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4727448"/>
            <a:ext cx="10168128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Producción posible: máximo 6.000 dispositivos  →  40 % de capacidad sin utilizar</a:t>
            </a: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91426727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20A3B6D-81FA-4DF3-B5F6-AF48A997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 spc="130">
                <a:solidFill>
                  <a:srgbClr val="168C8B"/>
                </a:solidFill>
                <a:latin typeface="Aptos"/>
                <a:ea typeface="Aptos"/>
                <a:cs typeface="Aptos"/>
              </a:rPr>
              <a:t>RIVALIDAD TECNOLÓGICA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D843DB0-E8D8-4577-B6B1-7526EA56E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China y Estados Unidos poseen fortalezas diferentes</a:t>
            </a:r>
            <a:endParaRPr sz="2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6A364E9-DAE2-4785-93DA-6401A9E5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65788A"/>
                </a:solidFill>
                <a:latin typeface="Aptos"/>
                <a:ea typeface="Aptos"/>
                <a:cs typeface="Aptos"/>
              </a:rPr>
              <a:t>La competencia depende del eslabón analizado, no de un marcador único.</a:t>
            </a:r>
            <a:endParaRPr sz="14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576936B-BEE0-45A4-ABEB-16F0DEB7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1956816"/>
            <a:ext cx="5303520" cy="3410712"/>
          </a:xfrm>
          <a:prstGeom xmlns:a="http://schemas.openxmlformats.org/drawingml/2006/main" prst="roundRect">
            <a:avLst>
              <a:gd name="adj" fmla="val 42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5FF786A-63EE-4D44-86F9-71733AE3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1956816"/>
            <a:ext cx="5303520" cy="3410712"/>
          </a:xfrm>
          <a:prstGeom xmlns:a="http://schemas.openxmlformats.org/drawingml/2006/main" prst="roundRect">
            <a:avLst>
              <a:gd name="adj" fmla="val 42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1A1CF9D-9EF8-4440-BB41-96A1664D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221992"/>
            <a:ext cx="1344168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D94F45"/>
          </a:solidFill>
          <a:ln xmlns:a="http://schemas.openxmlformats.org/drawingml/2006/main" w="12700">
            <a:solidFill>
              <a:srgbClr val="D94F45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F839258-0998-4599-98C3-73B54DED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2240280"/>
            <a:ext cx="11247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40" b="1" spc="70">
                <a:solidFill>
                  <a:srgbClr val="FFFFFF"/>
                </a:solidFill>
                <a:latin typeface="Aptos"/>
                <a:ea typeface="Aptos"/>
                <a:cs typeface="Aptos"/>
              </a:rPr>
              <a:t>CHINA</a:t>
            </a:r>
            <a:endParaRPr sz="104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43B0F367-4C00-4686-802B-04BCE141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221992"/>
            <a:ext cx="2286000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12700">
            <a:solidFill>
              <a:srgbClr val="101D31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DBAC603-6E02-4C08-8732-369BB9333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2240280"/>
            <a:ext cx="206654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40" b="1" spc="70">
                <a:solidFill>
                  <a:srgbClr val="FFFFFF"/>
                </a:solidFill>
                <a:latin typeface="Aptos"/>
                <a:ea typeface="Aptos"/>
                <a:cs typeface="Aptos"/>
              </a:rPr>
              <a:t>ESTADOS UNIDOS</a:t>
            </a:r>
            <a:endParaRPr sz="104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03403F51-32A7-4399-A5B6-B16F40B6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91693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C8B"/>
          </a:solidFill>
          <a:ln xmlns:a="http://schemas.openxmlformats.org/drawingml/2006/main" w="12700">
            <a:solidFill>
              <a:srgbClr val="168C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D5C7EA8-2FC4-4A47-A771-015E5B76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807208"/>
            <a:ext cx="4334256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>
                <a:solidFill>
                  <a:srgbClr val="263849"/>
                </a:solidFill>
                <a:latin typeface="Aptos"/>
                <a:ea typeface="Aptos"/>
                <a:cs typeface="Aptos"/>
              </a:rPr>
              <a:t>Escala de manufactura</a:t>
            </a:r>
            <a:endParaRPr sz="15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2B101A9-21F6-4190-8235-69B651BC8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29000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C8B"/>
          </a:solidFill>
          <a:ln xmlns:a="http://schemas.openxmlformats.org/drawingml/2006/main" w="12700">
            <a:solidFill>
              <a:srgbClr val="168C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C83301B-788C-4D03-B7C4-44F4B1B2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3319272"/>
            <a:ext cx="4334256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>
                <a:solidFill>
                  <a:srgbClr val="263849"/>
                </a:solidFill>
                <a:latin typeface="Aptos"/>
                <a:ea typeface="Aptos"/>
                <a:cs typeface="Aptos"/>
              </a:rPr>
              <a:t>Redes densas de proveedores</a:t>
            </a:r>
            <a:endParaRPr sz="15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C218CC34-2C0C-4335-8F28-5FD77B03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941064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C8B"/>
          </a:solidFill>
          <a:ln xmlns:a="http://schemas.openxmlformats.org/drawingml/2006/main" w="12700">
            <a:solidFill>
              <a:srgbClr val="168C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DE28441-49AC-4862-9E82-F1E95224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3831336"/>
            <a:ext cx="4334256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>
                <a:solidFill>
                  <a:srgbClr val="263849"/>
                </a:solidFill>
                <a:latin typeface="Aptos"/>
                <a:ea typeface="Aptos"/>
                <a:cs typeface="Aptos"/>
              </a:rPr>
              <a:t>Instalaciones de robots</a:t>
            </a:r>
            <a:endParaRPr sz="15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3611B0F6-8062-48A1-9EC4-BDF1B7E3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453128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C8B"/>
          </a:solidFill>
          <a:ln xmlns:a="http://schemas.openxmlformats.org/drawingml/2006/main" w="12700">
            <a:solidFill>
              <a:srgbClr val="168C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AA907C3-00BD-4611-A5AD-2DF64356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4343400"/>
            <a:ext cx="4334256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>
                <a:solidFill>
                  <a:srgbClr val="263849"/>
                </a:solidFill>
                <a:latin typeface="Aptos"/>
                <a:ea typeface="Aptos"/>
                <a:cs typeface="Aptos"/>
              </a:rPr>
              <a:t>Baterías y vehículos eléctricos</a:t>
            </a:r>
            <a:endParaRPr sz="15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03681CCE-FEA7-4C18-AE3F-D755C9F6F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291693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F45"/>
          </a:solidFill>
          <a:ln xmlns:a="http://schemas.openxmlformats.org/drawingml/2006/main" w="12700">
            <a:solidFill>
              <a:srgbClr val="D94F45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A9F8162-29D7-453A-A5BB-CA045F8C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07208"/>
            <a:ext cx="43434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20">
                <a:solidFill>
                  <a:srgbClr val="263849"/>
                </a:solidFill>
                <a:latin typeface="Aptos"/>
                <a:ea typeface="Aptos"/>
                <a:cs typeface="Aptos"/>
              </a:rPr>
              <a:t>Ecosistema de modelos de frontera</a:t>
            </a:r>
            <a:endParaRPr sz="142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2B7DA462-5CF5-4D0C-ACBB-56E2B5F3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3429000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F45"/>
          </a:solidFill>
          <a:ln xmlns:a="http://schemas.openxmlformats.org/drawingml/2006/main" w="12700">
            <a:solidFill>
              <a:srgbClr val="D94F45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29CFDDBE-772B-43F2-9741-9629F780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19272"/>
            <a:ext cx="43434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20">
                <a:solidFill>
                  <a:srgbClr val="263849"/>
                </a:solidFill>
                <a:latin typeface="Aptos"/>
                <a:ea typeface="Aptos"/>
                <a:cs typeface="Aptos"/>
              </a:rPr>
              <a:t>Nube y plataformas informáticas</a:t>
            </a:r>
            <a:endParaRPr sz="142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ADFC6CB7-7FFD-492E-BD29-2873C94B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3941064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F45"/>
          </a:solidFill>
          <a:ln xmlns:a="http://schemas.openxmlformats.org/drawingml/2006/main" w="12700">
            <a:solidFill>
              <a:srgbClr val="D94F45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45D3C691-A08C-4005-B593-C19701FA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31336"/>
            <a:ext cx="43434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20">
                <a:solidFill>
                  <a:srgbClr val="263849"/>
                </a:solidFill>
                <a:latin typeface="Aptos"/>
                <a:ea typeface="Aptos"/>
                <a:cs typeface="Aptos"/>
              </a:rPr>
              <a:t>Software y herramientas especializadas</a:t>
            </a:r>
            <a:endParaRPr sz="142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414E46E3-5D56-4A3F-B614-C7E872C4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4453128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F45"/>
          </a:solidFill>
          <a:ln xmlns:a="http://schemas.openxmlformats.org/drawingml/2006/main" w="12700">
            <a:solidFill>
              <a:srgbClr val="D94F45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912A84E5-E510-45AD-80CC-56A954DB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43400"/>
            <a:ext cx="43434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20">
                <a:solidFill>
                  <a:srgbClr val="263849"/>
                </a:solidFill>
                <a:latin typeface="Aptos"/>
                <a:ea typeface="Aptos"/>
                <a:cs typeface="Aptos"/>
              </a:rPr>
              <a:t>Alianzas tecnológicas internacionales</a:t>
            </a:r>
            <a:endParaRPr sz="1420"/>
          </a:p>
        </p:txBody>
      </p:sp>
    </p:spTree>
    <p:extLst>
      <p:ext uri="{BB962C8B-B14F-4D97-AF65-F5344CB8AC3E}">
        <p14:creationId xmlns:p14="http://schemas.microsoft.com/office/powerpoint/2010/main" val="193495823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972A66F-6CD6-4774-97E1-373DEA59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 spc="130">
                <a:solidFill>
                  <a:srgbClr val="168C8B"/>
                </a:solidFill>
                <a:latin typeface="Aptos"/>
                <a:ea typeface="Aptos"/>
                <a:cs typeface="Aptos"/>
              </a:rPr>
              <a:t>LA PARADOJA DEL ÉXITO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15369C2-2E2E-46F7-8CD4-2C54864D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Una industria fuerte también puede crear sobrecapacidad</a:t>
            </a:r>
            <a:endParaRPr sz="2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0BBC3E3-F57C-450B-AEF6-D2EDA418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65788A"/>
                </a:solidFill>
                <a:latin typeface="Aptos"/>
                <a:ea typeface="Aptos"/>
                <a:cs typeface="Aptos"/>
              </a:rPr>
              <a:t>Ejemplo hipotético de capacidad instalada y demanda en unidades comparables.</a:t>
            </a:r>
            <a:endParaRPr sz="14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70DB63D-A37B-4979-A770-C57EF324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947672"/>
            <a:ext cx="10479024" cy="3502152"/>
          </a:xfrm>
          <a:prstGeom xmlns:a="http://schemas.openxmlformats.org/drawingml/2006/main" prst="roundRect">
            <a:avLst>
              <a:gd name="adj" fmla="val 41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E6432B1-E144-4E3A-A496-9B49FE04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" y="2359152"/>
            <a:ext cx="459943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CAPACIDAD INSTALADA</a:t>
            </a:r>
            <a:endParaRPr sz="17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D8FAEC2-202E-4DC6-809B-F5834946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2313432"/>
            <a:ext cx="2404872" cy="4480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25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1.000.000</a:t>
            </a:r>
            <a:endParaRPr sz="25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44AE925B-CCD3-4AA7-80CA-2D4DDF61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576" y="2889504"/>
            <a:ext cx="9592056" cy="310896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E7EDF3"/>
          </a:solidFill>
          <a:ln xmlns:a="http://schemas.openxmlformats.org/drawingml/2006/main" w="12700">
            <a:solidFill>
              <a:srgbClr val="E7EDF3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085314FB-9084-4935-94D7-62C90E41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576" y="2889504"/>
            <a:ext cx="9592056" cy="310896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65788A"/>
          </a:solidFill>
          <a:ln xmlns:a="http://schemas.openxmlformats.org/drawingml/2006/main" w="12700">
            <a:solidFill>
              <a:srgbClr val="65788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43EA120-F30F-4988-9A52-3BF1DD9D5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" y="3483864"/>
            <a:ext cx="451713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DEMANDA EFECTIVA</a:t>
            </a:r>
            <a:endParaRPr sz="17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EFD4E11-4BAB-4050-8F51-A73149D5E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3465576"/>
            <a:ext cx="2267712" cy="4480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2500" b="1">
                <a:solidFill>
                  <a:srgbClr val="168C8B"/>
                </a:solidFill>
                <a:latin typeface="Aptos"/>
                <a:ea typeface="Aptos"/>
                <a:cs typeface="Aptos"/>
              </a:rPr>
              <a:t>650.000</a:t>
            </a:r>
            <a:endParaRPr sz="25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365355C2-4F49-4D69-92B0-C53A9129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576" y="4023360"/>
            <a:ext cx="9592056" cy="310896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E7EDF3"/>
          </a:solidFill>
          <a:ln xmlns:a="http://schemas.openxmlformats.org/drawingml/2006/main" w="12700">
            <a:solidFill>
              <a:srgbClr val="E7EDF3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BD392899-3BAB-4331-A193-2E650DB19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576" y="4023360"/>
            <a:ext cx="6236208" cy="310896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168C8B"/>
          </a:solidFill>
          <a:ln xmlns:a="http://schemas.openxmlformats.org/drawingml/2006/main" w="12700">
            <a:solidFill>
              <a:srgbClr val="168C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16803CC-A676-43D7-9E48-B687C106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681728"/>
            <a:ext cx="9473184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263849"/>
                </a:solidFill>
                <a:latin typeface="Aptos"/>
                <a:ea typeface="Aptos"/>
                <a:cs typeface="Aptos"/>
              </a:rPr>
              <a:t>65 % de utilización  ·  35 % de capacidad ociosa</a:t>
            </a:r>
            <a:endParaRPr sz="1900"/>
          </a:p>
        </p:txBody>
      </p:sp>
    </p:spTree>
    <p:extLst>
      <p:ext uri="{BB962C8B-B14F-4D97-AF65-F5344CB8AC3E}">
        <p14:creationId xmlns:p14="http://schemas.microsoft.com/office/powerpoint/2010/main" val="28069469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3261A46-02DC-40C8-B9CB-A74214A5B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 spc="130">
                <a:solidFill>
                  <a:srgbClr val="168C8B"/>
                </a:solidFill>
                <a:latin typeface="Aptos"/>
                <a:ea typeface="Aptos"/>
                <a:cs typeface="Aptos"/>
              </a:rPr>
              <a:t>CASO REAL · AUTOMÓVILES ELÉCTRICOS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5D14ECE-5F23-46D1-9EA6-62ACDEE36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Más producción, competencia intensa y más exportaciones</a:t>
            </a:r>
            <a:endParaRPr sz="2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34690F6-F6A0-40C1-809A-0D350A3B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65788A"/>
                </a:solidFill>
                <a:latin typeface="Aptos"/>
                <a:ea typeface="Aptos"/>
                <a:cs typeface="Aptos"/>
              </a:rPr>
              <a:t>Automóviles eléctricos en 2025. Producción, ventas y exportaciones son series diferentes.</a:t>
            </a:r>
            <a:endParaRPr sz="14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D9FC6ED4-B0ED-41C6-8F64-30488C34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1947672"/>
            <a:ext cx="3648456" cy="2029968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FA14684-E706-4E69-B24F-10609917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203704"/>
            <a:ext cx="3227832" cy="649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700" b="1">
                <a:solidFill>
                  <a:srgbClr val="168C8B"/>
                </a:solidFill>
                <a:latin typeface="Aptos"/>
                <a:ea typeface="Aptos"/>
                <a:cs typeface="Aptos"/>
              </a:rPr>
              <a:t>≈16 M</a:t>
            </a:r>
            <a:endParaRPr sz="37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D85EF4D-7573-49C4-A18D-C7E2D070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063240"/>
            <a:ext cx="3209544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40">
                <a:solidFill>
                  <a:srgbClr val="263849"/>
                </a:solidFill>
                <a:latin typeface="Aptos"/>
                <a:ea typeface="Aptos"/>
                <a:cs typeface="Aptos"/>
              </a:rPr>
              <a:t>producción de vehículos eléctricos en China</a:t>
            </a:r>
            <a:endParaRPr sz="144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43D84D1-1197-42FE-BC53-2B9479B4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947672"/>
            <a:ext cx="3648456" cy="2029968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A9FE761-6FC2-4D8F-9EBB-79957AE9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592" y="2203704"/>
            <a:ext cx="3227832" cy="649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700" b="1">
                <a:solidFill>
                  <a:srgbClr val="168C8B"/>
                </a:solidFill>
                <a:latin typeface="Aptos"/>
                <a:ea typeface="Aptos"/>
                <a:cs typeface="Aptos"/>
              </a:rPr>
              <a:t>&gt;13 M</a:t>
            </a:r>
            <a:endParaRPr sz="37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510A508-0BA9-4ED7-ABC3-6F868AA8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592" y="3063240"/>
            <a:ext cx="3209544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40">
                <a:solidFill>
                  <a:srgbClr val="263849"/>
                </a:solidFill>
                <a:latin typeface="Aptos"/>
                <a:ea typeface="Aptos"/>
                <a:cs typeface="Aptos"/>
              </a:rPr>
              <a:t>ventas domésticas en 2025</a:t>
            </a:r>
            <a:endParaRPr sz="144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C4AE8FD5-C919-4DBD-A281-C3A78646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3336" y="1947672"/>
            <a:ext cx="3648456" cy="2029968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F1C2122-9889-45E9-AEC5-4AC13B73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2203704"/>
            <a:ext cx="3227832" cy="649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700" b="1">
                <a:solidFill>
                  <a:srgbClr val="D94F45"/>
                </a:solidFill>
                <a:latin typeface="Aptos"/>
                <a:ea typeface="Aptos"/>
                <a:cs typeface="Aptos"/>
              </a:rPr>
              <a:t>&gt;2,5 M</a:t>
            </a:r>
            <a:endParaRPr sz="37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19A83C4-5A4F-416C-95AB-4E05F503E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3063240"/>
            <a:ext cx="3209544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40">
                <a:solidFill>
                  <a:srgbClr val="263849"/>
                </a:solidFill>
                <a:latin typeface="Aptos"/>
                <a:ea typeface="Aptos"/>
                <a:cs typeface="Aptos"/>
              </a:rPr>
              <a:t>exportaciones de China en 2025</a:t>
            </a:r>
            <a:endParaRPr sz="144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DA810374-53C4-4E5C-A1EA-E7D48EF7A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4416552"/>
            <a:ext cx="10661904" cy="969264"/>
          </a:xfrm>
          <a:prstGeom xmlns:a="http://schemas.openxmlformats.org/drawingml/2006/main" prst="roundRect">
            <a:avLst>
              <a:gd name="adj" fmla="val 12264"/>
            </a:avLst>
          </a:prstGeom>
          <a:solidFill xmlns:a="http://schemas.openxmlformats.org/drawingml/2006/main">
            <a:srgbClr val="FFF1D9"/>
          </a:solidFill>
          <a:ln xmlns:a="http://schemas.openxmlformats.org/drawingml/2006/main" w="12700">
            <a:solidFill>
              <a:srgbClr val="FFF1D9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C9E3403-2466-4558-94A5-D95CF8E0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4608576"/>
            <a:ext cx="10113264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5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La competencia de precios presiona márgenes: exportar puede ayudar a sostener ventas.</a:t>
            </a:r>
            <a:endParaRPr sz="1750"/>
          </a:p>
        </p:txBody>
      </p:sp>
    </p:spTree>
    <p:extLst>
      <p:ext uri="{BB962C8B-B14F-4D97-AF65-F5344CB8AC3E}">
        <p14:creationId xmlns:p14="http://schemas.microsoft.com/office/powerpoint/2010/main" val="129331542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13CE8BE-0C6B-4B10-A580-963E9147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 spc="130">
                <a:solidFill>
                  <a:srgbClr val="168C8B"/>
                </a:solidFill>
                <a:latin typeface="Aptos"/>
                <a:ea typeface="Aptos"/>
                <a:cs typeface="Aptos"/>
              </a:rPr>
              <a:t>UNA LECTURA RIGUROSA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D86F60F-C0BE-440E-82FB-B095DFB9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Cuatro confusiones que debemos evitar</a:t>
            </a:r>
            <a:endParaRPr sz="2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10D1CAE-A3F2-41DA-B7D7-BD522BF2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65788A"/>
                </a:solidFill>
                <a:latin typeface="Aptos"/>
                <a:ea typeface="Aptos"/>
                <a:cs typeface="Aptos"/>
              </a:rPr>
              <a:t>Los datos oficiales, empresariales y pedagógicos tienen distinta fuerza probatoria.</a:t>
            </a:r>
            <a:endParaRPr sz="14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99FED380-2C0A-4787-8469-BCEB8AE5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1929384"/>
            <a:ext cx="10652760" cy="722376"/>
          </a:xfrm>
          <a:prstGeom xmlns:a="http://schemas.openxmlformats.org/drawingml/2006/main" prst="roundRect">
            <a:avLst>
              <a:gd name="adj" fmla="val 16456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12700">
            <a:solidFill>
              <a:srgbClr val="F1F4F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3890524-80C7-4FD8-B995-1F7D4138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084832"/>
            <a:ext cx="6400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 b="1">
                <a:solidFill>
                  <a:srgbClr val="D94F45"/>
                </a:solidFill>
                <a:latin typeface="Aptos"/>
                <a:ea typeface="Aptos"/>
                <a:cs typeface="Aptos"/>
              </a:rPr>
              <a:t>01</a:t>
            </a:r>
            <a:endParaRPr sz="21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A89B543-14C8-4CC8-B01F-6AE16C13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2075688"/>
            <a:ext cx="3794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ANUNCIO ≠ LOGRO</a:t>
            </a:r>
            <a:endParaRPr sz="17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451CBBE-EB9F-484F-9183-4BE573245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7568" y="2075688"/>
            <a:ext cx="53675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90">
                <a:solidFill>
                  <a:srgbClr val="263849"/>
                </a:solidFill>
                <a:latin typeface="Aptos"/>
                <a:ea typeface="Aptos"/>
                <a:cs typeface="Aptos"/>
              </a:rPr>
              <a:t>Un plan contiene metas, no resultados.</a:t>
            </a:r>
            <a:endParaRPr sz="139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126C5D3-AFC9-4307-8DBA-B0571BCB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852928"/>
            <a:ext cx="10652760" cy="722376"/>
          </a:xfrm>
          <a:prstGeom xmlns:a="http://schemas.openxmlformats.org/drawingml/2006/main" prst="roundRect">
            <a:avLst>
              <a:gd name="adj" fmla="val 164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BF9D131-0FD9-4E64-9DBD-9AD0AD6A2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008376"/>
            <a:ext cx="6400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 b="1">
                <a:solidFill>
                  <a:srgbClr val="D94F45"/>
                </a:solidFill>
                <a:latin typeface="Aptos"/>
                <a:ea typeface="Aptos"/>
                <a:cs typeface="Aptos"/>
              </a:rPr>
              <a:t>02</a:t>
            </a:r>
            <a:endParaRPr sz="21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7FADE42-3591-457A-9CF8-719D7396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2999232"/>
            <a:ext cx="3794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DEMO ≠ AUTONOMÍA</a:t>
            </a:r>
            <a:endParaRPr sz="17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89A27AE-9B4B-47F9-A1CA-DD84F02B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7568" y="2999232"/>
            <a:ext cx="53675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90">
                <a:solidFill>
                  <a:srgbClr val="263849"/>
                </a:solidFill>
                <a:latin typeface="Aptos"/>
                <a:ea typeface="Aptos"/>
                <a:cs typeface="Aptos"/>
              </a:rPr>
              <a:t>Un robot caminando no prueba trabajo rentable.</a:t>
            </a:r>
            <a:endParaRPr sz="139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8F3C2F2D-65F7-4A82-8DFD-3ECF315C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3776472"/>
            <a:ext cx="10652760" cy="722376"/>
          </a:xfrm>
          <a:prstGeom xmlns:a="http://schemas.openxmlformats.org/drawingml/2006/main" prst="roundRect">
            <a:avLst>
              <a:gd name="adj" fmla="val 16456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12700">
            <a:solidFill>
              <a:srgbClr val="F1F4F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B050999-D63D-4C51-A067-236674087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931920"/>
            <a:ext cx="6400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 b="1">
                <a:solidFill>
                  <a:srgbClr val="D94F45"/>
                </a:solidFill>
                <a:latin typeface="Aptos"/>
                <a:ea typeface="Aptos"/>
                <a:cs typeface="Aptos"/>
              </a:rPr>
              <a:t>03</a:t>
            </a:r>
            <a:endParaRPr sz="21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C469161-0E69-4DDD-974A-830006849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3922776"/>
            <a:ext cx="3794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ROBOTS INSTALADOS ≠ PRODUCIDOS</a:t>
            </a:r>
            <a:endParaRPr sz="17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92DB6CE-33C5-421A-85FB-69A3B1CD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7568" y="3922776"/>
            <a:ext cx="53675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90">
                <a:solidFill>
                  <a:srgbClr val="263849"/>
                </a:solidFill>
                <a:latin typeface="Aptos"/>
                <a:ea typeface="Aptos"/>
                <a:cs typeface="Aptos"/>
              </a:rPr>
              <a:t>Adopción y fabricación son magnitudes distintas.</a:t>
            </a:r>
            <a:endParaRPr sz="139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24E7B184-8F60-4636-91CA-B1DE28F7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4700016"/>
            <a:ext cx="10652760" cy="722376"/>
          </a:xfrm>
          <a:prstGeom xmlns:a="http://schemas.openxmlformats.org/drawingml/2006/main" prst="roundRect">
            <a:avLst>
              <a:gd name="adj" fmla="val 164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F84054B2-36E9-4D15-A3F1-83BFF613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855464"/>
            <a:ext cx="6400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 b="1">
                <a:solidFill>
                  <a:srgbClr val="D94F45"/>
                </a:solidFill>
                <a:latin typeface="Aptos"/>
                <a:ea typeface="Aptos"/>
                <a:cs typeface="Aptos"/>
              </a:rPr>
              <a:t>04</a:t>
            </a:r>
            <a:endParaRPr sz="21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D214F511-D8D4-4635-AE34-6E7A7A89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4846320"/>
            <a:ext cx="3794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CASO REPORTADO ≠ CAUSALIDAD</a:t>
            </a:r>
            <a:endParaRPr sz="17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74642F0F-DDD8-435E-AB9B-3D2A392C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7568" y="4846320"/>
            <a:ext cx="53675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90">
                <a:solidFill>
                  <a:srgbClr val="263849"/>
                </a:solidFill>
                <a:latin typeface="Aptos"/>
                <a:ea typeface="Aptos"/>
                <a:cs typeface="Aptos"/>
              </a:rPr>
              <a:t>La mejora puede depender de varias tecnologías.</a:t>
            </a:r>
            <a:endParaRPr sz="1390"/>
          </a:p>
        </p:txBody>
      </p:sp>
    </p:spTree>
    <p:extLst>
      <p:ext uri="{BB962C8B-B14F-4D97-AF65-F5344CB8AC3E}">
        <p14:creationId xmlns:p14="http://schemas.microsoft.com/office/powerpoint/2010/main" val="551890938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0FE56B0-81AC-4759-94B3-DBDBB6AC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 spc="130">
                <a:solidFill>
                  <a:srgbClr val="168C8B"/>
                </a:solidFill>
                <a:latin typeface="Aptos"/>
                <a:ea typeface="Aptos"/>
                <a:cs typeface="Aptos"/>
              </a:rPr>
              <a:t>LA TESIS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0D24C62-5631-4D8B-9607-E8BE9BCC2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¿Por qué China pudo construir una potencia tecnológica?</a:t>
            </a:r>
            <a:endParaRPr sz="2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C7D84AB-0B0D-4AB1-88BF-FB0D9F3A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65788A"/>
                </a:solidFill>
                <a:latin typeface="Aptos"/>
                <a:ea typeface="Aptos"/>
                <a:cs typeface="Aptos"/>
              </a:rPr>
              <a:t>Una secuencia de capacidades, no una explicación monocausal.</a:t>
            </a:r>
            <a:endParaRPr sz="14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FEEC503-9707-495E-BE3F-6FFFB46B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12848"/>
            <a:ext cx="2148840" cy="2404872"/>
          </a:xfrm>
          <a:prstGeom xmlns:a="http://schemas.openxmlformats.org/drawingml/2006/main" prst="roundRect">
            <a:avLst>
              <a:gd name="adj" fmla="val 5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E0EAF83-4334-4A49-9671-B1AA0715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2514600"/>
            <a:ext cx="512064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00" b="1">
                <a:solidFill>
                  <a:srgbClr val="D94F45"/>
                </a:solidFill>
                <a:latin typeface="Aptos"/>
                <a:ea typeface="Aptos"/>
                <a:cs typeface="Aptos"/>
              </a:rPr>
              <a:t>01</a:t>
            </a:r>
            <a:endParaRPr sz="2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EAF01CE-6FDF-41AB-8871-41E3035A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099816"/>
            <a:ext cx="187452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4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HISTORIA</a:t>
            </a:r>
            <a:endParaRPr sz="164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8B62B47-635F-4BAC-8154-11BD8BA3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666744"/>
            <a:ext cx="1847088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90">
                <a:solidFill>
                  <a:srgbClr val="263849"/>
                </a:solidFill>
                <a:latin typeface="Aptos"/>
                <a:ea typeface="Aptos"/>
                <a:cs typeface="Aptos"/>
              </a:rPr>
              <a:t>Acumular capacidad de producir</a:t>
            </a:r>
            <a:endParaRPr sz="129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E0F0D451-2D86-486D-91E1-7A503DB4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18688"/>
            <a:ext cx="1554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68C8B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F2C1C986-BEAD-4192-BA8F-FAF594BEB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2212848"/>
            <a:ext cx="2148840" cy="2404872"/>
          </a:xfrm>
          <a:prstGeom xmlns:a="http://schemas.openxmlformats.org/drawingml/2006/main" prst="roundRect">
            <a:avLst>
              <a:gd name="adj" fmla="val 5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B51757B-A87A-4D62-8877-59297868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952" y="2514600"/>
            <a:ext cx="512064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00" b="1">
                <a:solidFill>
                  <a:srgbClr val="D94F45"/>
                </a:solidFill>
                <a:latin typeface="Aptos"/>
                <a:ea typeface="Aptos"/>
                <a:cs typeface="Aptos"/>
              </a:rPr>
              <a:t>02</a:t>
            </a:r>
            <a:endParaRPr sz="22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6D7820D-E30B-4DC8-8C99-B64A4A8D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952" y="3099816"/>
            <a:ext cx="187452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4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REDES</a:t>
            </a:r>
            <a:endParaRPr sz="164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2590E6F0-2B1B-45BF-A702-D6A70160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952" y="3666744"/>
            <a:ext cx="1847088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90">
                <a:solidFill>
                  <a:srgbClr val="263849"/>
                </a:solidFill>
                <a:latin typeface="Aptos"/>
                <a:ea typeface="Aptos"/>
                <a:cs typeface="Aptos"/>
              </a:rPr>
              <a:t>Conectar empresas y conocimientos</a:t>
            </a:r>
            <a:endParaRPr sz="129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71FE13ED-0303-41CC-9AEB-C60C16AA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4064" y="3218688"/>
            <a:ext cx="1554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68C8B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B17EDAD0-6F91-44DC-B15F-2FCAAEB3C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656" y="2212848"/>
            <a:ext cx="2148840" cy="2404872"/>
          </a:xfrm>
          <a:prstGeom xmlns:a="http://schemas.openxmlformats.org/drawingml/2006/main" prst="roundRect">
            <a:avLst>
              <a:gd name="adj" fmla="val 5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18067260-24E9-4F62-9904-D9D6857C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5816" y="2514600"/>
            <a:ext cx="512064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00" b="1">
                <a:solidFill>
                  <a:srgbClr val="D94F45"/>
                </a:solidFill>
                <a:latin typeface="Aptos"/>
                <a:ea typeface="Aptos"/>
                <a:cs typeface="Aptos"/>
              </a:rPr>
              <a:t>03</a:t>
            </a:r>
            <a:endParaRPr sz="22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62A28AA9-3250-434B-AA40-E92F53F1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5816" y="3099816"/>
            <a:ext cx="187452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4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APRENDIZAJE</a:t>
            </a:r>
            <a:endParaRPr sz="164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A3F4F38-64AE-4133-B1F2-E64EEF63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5816" y="3666744"/>
            <a:ext cx="1847088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90">
                <a:solidFill>
                  <a:srgbClr val="263849"/>
                </a:solidFill>
                <a:latin typeface="Aptos"/>
                <a:ea typeface="Aptos"/>
                <a:cs typeface="Aptos"/>
              </a:rPr>
              <a:t>Mejorar diseño y procesos</a:t>
            </a:r>
            <a:endParaRPr sz="129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DB7EA083-2F7E-48B4-8B9D-D5636E8F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928" y="3218688"/>
            <a:ext cx="1554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68C8B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8A2FCCBC-BDA6-46D5-9B5B-0940FBD4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212848"/>
            <a:ext cx="2148840" cy="2404872"/>
          </a:xfrm>
          <a:prstGeom xmlns:a="http://schemas.openxmlformats.org/drawingml/2006/main" prst="roundRect">
            <a:avLst>
              <a:gd name="adj" fmla="val 5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D371203-3713-422C-B766-A2A971BC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80" y="2514600"/>
            <a:ext cx="512064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00" b="1">
                <a:solidFill>
                  <a:srgbClr val="D94F45"/>
                </a:solidFill>
                <a:latin typeface="Aptos"/>
                <a:ea typeface="Aptos"/>
                <a:cs typeface="Aptos"/>
              </a:rPr>
              <a:t>04</a:t>
            </a:r>
            <a:endParaRPr sz="22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F9E7E10B-8649-494C-9EF9-4AA4CDE5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80" y="3099816"/>
            <a:ext cx="187452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4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TECNOLOGÍA</a:t>
            </a:r>
            <a:endParaRPr sz="164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C53EE71D-0E74-463F-927F-890471C0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80" y="3666744"/>
            <a:ext cx="1847088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90">
                <a:solidFill>
                  <a:srgbClr val="263849"/>
                </a:solidFill>
                <a:latin typeface="Aptos"/>
                <a:ea typeface="Aptos"/>
                <a:cs typeface="Aptos"/>
              </a:rPr>
              <a:t>Integrar robots, datos e IA</a:t>
            </a:r>
            <a:endParaRPr sz="129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FC40F0AE-CE4C-4EFB-A92C-D88D17E0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5792" y="3218688"/>
            <a:ext cx="1554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68C8B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C6B788FE-CF91-4518-9F90-DD5395AA3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2212848"/>
            <a:ext cx="2148840" cy="2404872"/>
          </a:xfrm>
          <a:prstGeom xmlns:a="http://schemas.openxmlformats.org/drawingml/2006/main" prst="roundRect">
            <a:avLst>
              <a:gd name="adj" fmla="val 5957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12700">
            <a:solidFill>
              <a:srgbClr val="101D31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04EECAFB-C1BE-4816-A121-D8F1B3A9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544" y="2514600"/>
            <a:ext cx="512064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00" b="1">
                <a:solidFill>
                  <a:srgbClr val="E6AB50"/>
                </a:solidFill>
                <a:latin typeface="Aptos"/>
                <a:ea typeface="Aptos"/>
                <a:cs typeface="Aptos"/>
              </a:rPr>
              <a:t>05</a:t>
            </a:r>
            <a:endParaRPr sz="22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0B4A6DD9-259E-4AD4-ADCD-CD07F222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544" y="3099816"/>
            <a:ext cx="187452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4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RESULTADOS</a:t>
            </a:r>
            <a:endParaRPr sz="164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78D8F945-35CB-4F91-B126-CFE9A5CD3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544" y="3666744"/>
            <a:ext cx="1847088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90">
                <a:solidFill>
                  <a:srgbClr val="E6EDF3"/>
                </a:solidFill>
                <a:latin typeface="Aptos"/>
                <a:ea typeface="Aptos"/>
                <a:cs typeface="Aptos"/>
              </a:rPr>
              <a:t>Competir, innovar y enfrentar límites</a:t>
            </a:r>
            <a:endParaRPr sz="129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4C422421-E014-4DC0-9582-0376C2460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5138928"/>
            <a:ext cx="106070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La innovación se construye fabricando, coordinando y aprendiendo. No está garantizada.</a:t>
            </a:r>
            <a:endParaRPr sz="1900"/>
          </a:p>
        </p:txBody>
      </p:sp>
    </p:spTree>
    <p:extLst>
      <p:ext uri="{BB962C8B-B14F-4D97-AF65-F5344CB8AC3E}">
        <p14:creationId xmlns:p14="http://schemas.microsoft.com/office/powerpoint/2010/main" val="1275251267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A39B13F-7AED-4307-996C-D2076B710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 spc="130">
                <a:solidFill>
                  <a:srgbClr val="168C8B"/>
                </a:solidFill>
                <a:latin typeface="Aptos"/>
                <a:ea typeface="Aptos"/>
                <a:cs typeface="Aptos"/>
              </a:rPr>
              <a:t>TRES PREGUNTAS PARA DISCUTIR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D25EC7A-DE40-497C-8E02-01FF1FD4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Lo que todavía necesitamos investigar</a:t>
            </a:r>
            <a:endParaRPr sz="2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9879B3C-ABDF-4246-A415-5E0DFC0D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65788A"/>
                </a:solidFill>
                <a:latin typeface="Aptos"/>
                <a:ea typeface="Aptos"/>
                <a:cs typeface="Aptos"/>
              </a:rPr>
              <a:t>Tres perspectivas sobre el futuro tecnológico chino.</a:t>
            </a:r>
            <a:endParaRPr sz="14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BE8C79DF-E523-4AED-9B81-E2898BDD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20240"/>
            <a:ext cx="10716768" cy="987552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6228EAD9-7618-45C5-8594-48B30E8A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139696"/>
            <a:ext cx="484632" cy="4846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C8B"/>
          </a:solidFill>
          <a:ln xmlns:a="http://schemas.openxmlformats.org/drawingml/2006/main" w="12700">
            <a:solidFill>
              <a:srgbClr val="168C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D0719DA-6445-4DEE-9B57-EB406AEA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2249424"/>
            <a:ext cx="228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  <a:endParaRPr sz="12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25FBC4F-FF3E-44CF-8558-F51E16ED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504" y="2103120"/>
            <a:ext cx="9290304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¿Qué parte de la ventaja china proviene de la escala y cuál de la innovación propia?</a:t>
            </a:r>
            <a:endParaRPr sz="18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0AA39CEA-8EA5-4B68-9616-0B291DD1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172968"/>
            <a:ext cx="10716768" cy="987552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2CDFA82-05B7-4681-B6C6-E916E7A0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392424"/>
            <a:ext cx="484632" cy="4846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F45"/>
          </a:solidFill>
          <a:ln xmlns:a="http://schemas.openxmlformats.org/drawingml/2006/main" w="12700">
            <a:solidFill>
              <a:srgbClr val="D94F45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A183E68-4543-4C2F-B414-D25798A6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3502152"/>
            <a:ext cx="228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  <a:endParaRPr sz="12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8ABC8D0-1004-431C-844C-8A069D7A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504" y="3355848"/>
            <a:ext cx="9290304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¿Cuándo un robot mejora la productividad y cuándo únicamente agrega costos?</a:t>
            </a:r>
            <a:endParaRPr sz="18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FA512EC-0DDA-4221-B9A3-F3B575CB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425696"/>
            <a:ext cx="10716768" cy="987552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42B49FB3-144E-41A7-B7D4-4DAB66EE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645152"/>
            <a:ext cx="484632" cy="4846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C8B"/>
          </a:solidFill>
          <a:ln xmlns:a="http://schemas.openxmlformats.org/drawingml/2006/main" w="12700">
            <a:solidFill>
              <a:srgbClr val="168C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FE4717A-9CA8-48E7-862D-0246FAF2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4754880"/>
            <a:ext cx="228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  <a:endParaRPr sz="12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E7D7A50-9A24-406F-B400-76C35DDD1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504" y="4608576"/>
            <a:ext cx="9290304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¿Puede existir liderazgo industrial sin autonomía completa en chips avanzados?</a:t>
            </a: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2031698219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101D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775AACB1-9E22-4C6C-B7A0-6C77D87181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2f293f263a42e7"/>
          <a:srcRect xmlns:a="http://schemas.openxmlformats.org/drawingml/2006/main" l="22660" t="0" r="22660" b="0"/>
          <a:stretch xmlns:a="http://schemas.openxmlformats.org/drawingml/2006/main"/>
        </p:blipFill>
        <p:spPr>
          <a:xfrm xmlns:a="http://schemas.openxmlformats.org/drawingml/2006/main">
            <a:off x="6537960" y="0"/>
            <a:ext cx="5650992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8FAED022-5770-469E-8477-DC60DA59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01968" cy="6858000"/>
          </a:xfrm>
          <a:prstGeom xmlns:a="http://schemas.openxmlformats.org/drawingml/2006/main" prst="roundRect">
            <a:avLst>
              <a:gd name="adj" fmla="val 2216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12700">
            <a:solidFill>
              <a:srgbClr val="101D31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89B7E400-DD8D-4779-91A8-8C64FD2D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40664"/>
            <a:ext cx="545896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 spc="150">
                <a:solidFill>
                  <a:srgbClr val="E6AB50"/>
                </a:solidFill>
                <a:latin typeface="Aptos"/>
                <a:ea typeface="Aptos"/>
                <a:cs typeface="Aptos"/>
              </a:rPr>
              <a:t>MODELOS Y ROBOTS INTELIGENTES</a:t>
            </a:r>
            <a:endParaRPr sz="13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C61863F6-E4C9-4A60-AAC9-5C595A72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36192"/>
            <a:ext cx="5724144" cy="3273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DEL SISTEMA</a:t>
            </a:r>
            <a:endParaRPr sz="3700"/>
          </a:p>
          <a:p xmlns:a="http://schemas.openxmlformats.org/drawingml/2006/main">
            <a:pPr marL="0" indent="0" algn="l">
              <a:buNone/>
            </a:pPr>
            <a:r>
              <a:rPr sz="3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INDUSTRIAL A LA</a:t>
            </a:r>
            <a:endParaRPr sz="3700"/>
          </a:p>
          <a:p xmlns:a="http://schemas.openxmlformats.org/drawingml/2006/main">
            <a:pPr marL="0" indent="0" algn="l">
              <a:buNone/>
            </a:pPr>
            <a:r>
              <a:rPr sz="3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INTELIGENCIA</a:t>
            </a:r>
            <a:endParaRPr sz="3700"/>
          </a:p>
          <a:p xmlns:a="http://schemas.openxmlformats.org/drawingml/2006/main">
            <a:pPr marL="0" indent="0" algn="l">
              <a:buNone/>
            </a:pPr>
            <a:r>
              <a:rPr sz="3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ENCARNADA</a:t>
            </a:r>
            <a:endParaRPr sz="37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06FFDADA-8F27-4A81-BF98-E5477476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67528"/>
            <a:ext cx="5422392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C6E9E6"/>
                </a:solidFill>
                <a:latin typeface="Aptos"/>
                <a:ea typeface="Aptos"/>
                <a:cs typeface="Aptos"/>
              </a:rPr>
              <a:t>DeepSeek · Qwen · agentes · Unitree · UBTech</a:t>
            </a:r>
            <a:endParaRPr sz="17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439F8E3C-DDD8-49F0-AC5E-F8AC1758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9320"/>
            <a:ext cx="541324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EAF0F4"/>
                </a:solidFill>
                <a:latin typeface="Aptos"/>
                <a:ea typeface="Aptos"/>
                <a:cs typeface="Aptos"/>
              </a:rPr>
              <a:t>¿Qué pueden hacer realmente los modelos y los robots?</a:t>
            </a:r>
            <a:endParaRPr sz="1400"/>
          </a:p>
        </p:txBody>
      </p:sp>
      <p:sp>
        <p:nvSpPr>
          <p:cNvPr id="8" name="illustration-caption-background">
            <a:extLst xmlns:a="http://schemas.openxmlformats.org/drawingml/2006/main">
              <a:ext uri="{FF2B5EF4-FFF2-40B4-BE49-F238E27FC236}">
                <a16:creationId xmlns:a16="http://schemas.microsoft.com/office/drawing/2014/main" id="{3081DB54-7A7D-4E13-9078-76A7AADC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1310" y="133350"/>
            <a:ext cx="17335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illustration-caption">
            <a:extLst xmlns:a="http://schemas.openxmlformats.org/drawingml/2006/main">
              <a:ext uri="{FF2B5EF4-FFF2-40B4-BE49-F238E27FC236}">
                <a16:creationId xmlns:a16="http://schemas.microsoft.com/office/drawing/2014/main" id="{75699C65-E357-4F7F-A632-10006ACB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510" y="16192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ILUSTRACIÓN CONCEPTUAL</a:t>
            </a:r>
          </a:p>
        </p:txBody>
      </p:sp>
    </p:spTree>
    <p:extLst>
      <p:ext uri="{BB962C8B-B14F-4D97-AF65-F5344CB8AC3E}">
        <p14:creationId xmlns:p14="http://schemas.microsoft.com/office/powerpoint/2010/main" val="1539402716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289BAE2-1A7E-435C-9228-8DE8B505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 spc="130">
                <a:solidFill>
                  <a:srgbClr val="168C8B"/>
                </a:solidFill>
                <a:latin typeface="Aptos"/>
                <a:ea typeface="Aptos"/>
                <a:cs typeface="Aptos"/>
              </a:rPr>
              <a:t>FUENTES · I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A9E5C21-0337-4C57-98D4-0521B950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Estadísticas y organismos internacionales</a:t>
            </a:r>
            <a:endParaRPr sz="2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436788B-037A-48DF-B102-98CE4960B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65788A"/>
                </a:solidFill>
                <a:latin typeface="Aptos"/>
                <a:ea typeface="Aptos"/>
                <a:cs typeface="Aptos"/>
              </a:rPr>
              <a:t>Bibliografía seleccionada para verificar los principales indicadores.</a:t>
            </a:r>
            <a:endParaRPr sz="14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D556E41-9940-4D47-9F5B-85D7A3CE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837944"/>
            <a:ext cx="10735056" cy="658368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12700">
            <a:solidFill>
              <a:srgbClr val="F1F4F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hlinkClick xmlns:r="http://schemas.openxmlformats.org/officeDocument/2006/relationships" xmlns:a="http://schemas.openxmlformats.org/drawingml/2006/main" r:id="R4b9d625d394043b8"/>
            <a:extLst xmlns:a="http://schemas.openxmlformats.org/drawingml/2006/main">
              <a:ext uri="{FF2B5EF4-FFF2-40B4-BE49-F238E27FC236}">
                <a16:creationId xmlns:a16="http://schemas.microsoft.com/office/drawing/2014/main" id="{EB093A24-2D63-4D16-9E92-7A7911A7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1929384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50" b="1" u="sng">
                <a:solidFill>
                  <a:srgbClr val="101D31"/>
                </a:solidFill>
                <a:latin typeface="Aptos"/>
                <a:ea typeface="Aptos"/>
                <a:cs typeface="Aptos"/>
                <a:hlinkClick xmlns:r="http://schemas.openxmlformats.org/officeDocument/2006/relationships" r:id="R78bb1fbaa3f4465b"/>
              </a:rPr>
              <a:t>UNIDO · International Yearbook of Industrial Statistics 2025</a:t>
            </a:r>
            <a:endParaRPr sz="14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A2D3319-A546-4B24-8035-21F8D7EA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203704"/>
            <a:ext cx="996696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350"/>
            </a:defPPr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65788A"/>
                </a:solidFill>
                <a:latin typeface="Aptos"/>
                <a:ea typeface="Aptos"/>
                <a:cs typeface="Aptos"/>
              </a:rPr>
              <a:t>Cuota mundial del valor agregado manufacturero.</a:t>
            </a:r>
            <a:endParaRPr sz="1100"/>
          </a:p>
        </p:txBody>
      </p:sp>
      <p:sp>
        <p:nvSpPr>
          <p:cNvPr id="11" name="Text 9">
            <a:hlinkClick xmlns:r="http://schemas.openxmlformats.org/officeDocument/2006/relationships" xmlns:a="http://schemas.openxmlformats.org/drawingml/2006/main" r:id="R63e2a000d8a44030"/>
            <a:extLst xmlns:a="http://schemas.openxmlformats.org/drawingml/2006/main">
              <a:ext uri="{FF2B5EF4-FFF2-40B4-BE49-F238E27FC236}">
                <a16:creationId xmlns:a16="http://schemas.microsoft.com/office/drawing/2014/main" id="{5E2ABD82-2C90-4E3D-86AB-21A3F6E3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5368" y="201168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75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 u="sng">
                <a:solidFill>
                  <a:srgbClr val="168C8B"/>
                </a:solidFill>
                <a:latin typeface="Aptos"/>
                <a:ea typeface="Aptos"/>
                <a:cs typeface="Aptos"/>
                <a:hlinkClick xmlns:r="http://schemas.openxmlformats.org/officeDocument/2006/relationships" r:id="R15754e5c14db4832"/>
              </a:rPr>
              <a:t>↗</a:t>
            </a:r>
            <a:endParaRPr sz="16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30AC538-A370-4DAF-8EE4-30802884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624328"/>
            <a:ext cx="10735056" cy="658368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hlinkClick xmlns:r="http://schemas.openxmlformats.org/officeDocument/2006/relationships" xmlns:a="http://schemas.openxmlformats.org/drawingml/2006/main" r:id="R3b7fcc0179514776"/>
            <a:extLst xmlns:a="http://schemas.openxmlformats.org/drawingml/2006/main">
              <a:ext uri="{FF2B5EF4-FFF2-40B4-BE49-F238E27FC236}">
                <a16:creationId xmlns:a16="http://schemas.microsoft.com/office/drawing/2014/main" id="{292CDAB4-12E4-4C69-998A-F8A260D2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715768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50" b="1" u="sng">
                <a:solidFill>
                  <a:srgbClr val="101D31"/>
                </a:solidFill>
                <a:latin typeface="Aptos"/>
                <a:ea typeface="Aptos"/>
                <a:cs typeface="Aptos"/>
                <a:hlinkClick xmlns:r="http://schemas.openxmlformats.org/officeDocument/2006/relationships" r:id="Rfab76be4f246408a"/>
              </a:rPr>
              <a:t>IFR · World Robotics 2026</a:t>
            </a:r>
            <a:endParaRPr sz="14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33A77C3-E7FC-4A1C-BA92-1A1197025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990088"/>
            <a:ext cx="996696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350"/>
            </a:defPPr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65788A"/>
                </a:solidFill>
                <a:latin typeface="Aptos"/>
                <a:ea typeface="Aptos"/>
                <a:cs typeface="Aptos"/>
              </a:rPr>
              <a:t>Instalaciones de robots industriales en China y cuota mundial.</a:t>
            </a:r>
            <a:endParaRPr sz="1100"/>
          </a:p>
        </p:txBody>
      </p:sp>
      <p:sp>
        <p:nvSpPr>
          <p:cNvPr id="15" name="Text 13">
            <a:hlinkClick xmlns:r="http://schemas.openxmlformats.org/officeDocument/2006/relationships" xmlns:a="http://schemas.openxmlformats.org/drawingml/2006/main" r:id="Rb25cf44a12d24675"/>
            <a:extLst xmlns:a="http://schemas.openxmlformats.org/drawingml/2006/main">
              <a:ext uri="{FF2B5EF4-FFF2-40B4-BE49-F238E27FC236}">
                <a16:creationId xmlns:a16="http://schemas.microsoft.com/office/drawing/2014/main" id="{8FC7FEEC-13C4-44AF-8B45-CE446F58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5368" y="2798064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75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 u="sng">
                <a:solidFill>
                  <a:srgbClr val="168C8B"/>
                </a:solidFill>
                <a:latin typeface="Aptos"/>
                <a:ea typeface="Aptos"/>
                <a:cs typeface="Aptos"/>
                <a:hlinkClick xmlns:r="http://schemas.openxmlformats.org/officeDocument/2006/relationships" r:id="R749ae614c6f84e4e"/>
              </a:rPr>
              <a:t>↗</a:t>
            </a:r>
            <a:endParaRPr sz="16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5C5540F1-6013-4ED7-A6DD-DF51BEA0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410712"/>
            <a:ext cx="10735056" cy="658368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12700">
            <a:solidFill>
              <a:srgbClr val="F1F4F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hlinkClick xmlns:r="http://schemas.openxmlformats.org/officeDocument/2006/relationships" xmlns:a="http://schemas.openxmlformats.org/drawingml/2006/main" r:id="R2c2b48b214694d34"/>
            <a:extLst xmlns:a="http://schemas.openxmlformats.org/drawingml/2006/main">
              <a:ext uri="{FF2B5EF4-FFF2-40B4-BE49-F238E27FC236}">
                <a16:creationId xmlns:a16="http://schemas.microsoft.com/office/drawing/2014/main" id="{29240CEA-1627-46AD-9760-A3843E89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3502152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50" b="1" u="sng">
                <a:solidFill>
                  <a:srgbClr val="101D31"/>
                </a:solidFill>
                <a:latin typeface="Aptos"/>
                <a:ea typeface="Aptos"/>
                <a:cs typeface="Aptos"/>
                <a:hlinkClick xmlns:r="http://schemas.openxmlformats.org/officeDocument/2006/relationships" r:id="R89c99d2471c14c3b"/>
              </a:rPr>
              <a:t>IFR · China y Estados Unidos, World Robotics 2026</a:t>
            </a:r>
            <a:endParaRPr sz="14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DC55C4A5-00F4-43F9-88B5-D9FAC6DC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3776472"/>
            <a:ext cx="996696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350"/>
            </a:defPPr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65788A"/>
                </a:solidFill>
                <a:latin typeface="Aptos"/>
                <a:ea typeface="Aptos"/>
                <a:cs typeface="Aptos"/>
              </a:rPr>
              <a:t>Instalaciones de 2025 y diferencias entre adopción y fabricación.</a:t>
            </a:r>
            <a:endParaRPr sz="1100"/>
          </a:p>
        </p:txBody>
      </p:sp>
      <p:sp>
        <p:nvSpPr>
          <p:cNvPr id="19" name="Text 17">
            <a:hlinkClick xmlns:r="http://schemas.openxmlformats.org/officeDocument/2006/relationships" xmlns:a="http://schemas.openxmlformats.org/drawingml/2006/main" r:id="R832aabb24616478d"/>
            <a:extLst xmlns:a="http://schemas.openxmlformats.org/drawingml/2006/main">
              <a:ext uri="{FF2B5EF4-FFF2-40B4-BE49-F238E27FC236}">
                <a16:creationId xmlns:a16="http://schemas.microsoft.com/office/drawing/2014/main" id="{6184A7E1-2D63-41EC-A9C2-273602776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5368" y="3584448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75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 u="sng">
                <a:solidFill>
                  <a:srgbClr val="168C8B"/>
                </a:solidFill>
                <a:latin typeface="Aptos"/>
                <a:ea typeface="Aptos"/>
                <a:cs typeface="Aptos"/>
                <a:hlinkClick xmlns:r="http://schemas.openxmlformats.org/officeDocument/2006/relationships" r:id="R4f72de23cb4e4040"/>
              </a:rPr>
              <a:t>↗</a:t>
            </a:r>
            <a:endParaRPr sz="16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46847918-005A-4E9E-B0DF-05896440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197096"/>
            <a:ext cx="10735056" cy="658368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hlinkClick xmlns:r="http://schemas.openxmlformats.org/officeDocument/2006/relationships" xmlns:a="http://schemas.openxmlformats.org/drawingml/2006/main" r:id="Rf744c4ef720b4109"/>
            <a:extLst xmlns:a="http://schemas.openxmlformats.org/drawingml/2006/main">
              <a:ext uri="{FF2B5EF4-FFF2-40B4-BE49-F238E27FC236}">
                <a16:creationId xmlns:a16="http://schemas.microsoft.com/office/drawing/2014/main" id="{A8BC2BCA-4489-49D2-B193-A23BDDFC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288536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50" b="1" u="sng">
                <a:solidFill>
                  <a:srgbClr val="101D31"/>
                </a:solidFill>
                <a:latin typeface="Aptos"/>
                <a:ea typeface="Aptos"/>
                <a:cs typeface="Aptos"/>
                <a:hlinkClick xmlns:r="http://schemas.openxmlformats.org/officeDocument/2006/relationships" r:id="R457c3a25d54c419d"/>
              </a:rPr>
              <a:t>IEA · Global EV Outlook 2026</a:t>
            </a:r>
            <a:endParaRPr sz="14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CE42E8D-8640-42E7-8705-9B47491C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562856"/>
            <a:ext cx="996696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350"/>
            </a:defPPr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65788A"/>
                </a:solidFill>
                <a:latin typeface="Aptos"/>
                <a:ea typeface="Aptos"/>
                <a:cs typeface="Aptos"/>
              </a:rPr>
              <a:t>Producción, ventas, exportación y baterías.</a:t>
            </a:r>
            <a:endParaRPr sz="1100"/>
          </a:p>
        </p:txBody>
      </p:sp>
      <p:sp>
        <p:nvSpPr>
          <p:cNvPr id="23" name="Text 21">
            <a:hlinkClick xmlns:r="http://schemas.openxmlformats.org/officeDocument/2006/relationships" xmlns:a="http://schemas.openxmlformats.org/drawingml/2006/main" r:id="Re462fa60175b4ec1"/>
            <a:extLst xmlns:a="http://schemas.openxmlformats.org/drawingml/2006/main">
              <a:ext uri="{FF2B5EF4-FFF2-40B4-BE49-F238E27FC236}">
                <a16:creationId xmlns:a16="http://schemas.microsoft.com/office/drawing/2014/main" id="{2C398DD0-A771-486E-BDBE-C0812E77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5368" y="4370832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75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 u="sng">
                <a:solidFill>
                  <a:srgbClr val="168C8B"/>
                </a:solidFill>
                <a:latin typeface="Aptos"/>
                <a:ea typeface="Aptos"/>
                <a:cs typeface="Aptos"/>
                <a:hlinkClick xmlns:r="http://schemas.openxmlformats.org/officeDocument/2006/relationships" r:id="R688c52fd9ed6442c"/>
              </a:rPr>
              <a:t>↗</a:t>
            </a:r>
            <a:endParaRPr sz="16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0D5FC8F4-5DA7-4D2D-9657-1F8EB5EE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983480"/>
            <a:ext cx="10735056" cy="658368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12700">
            <a:solidFill>
              <a:srgbClr val="F1F4F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3">
            <a:hlinkClick xmlns:r="http://schemas.openxmlformats.org/officeDocument/2006/relationships" xmlns:a="http://schemas.openxmlformats.org/drawingml/2006/main" r:id="Rf028b3dd7e7442c3"/>
            <a:extLst xmlns:a="http://schemas.openxmlformats.org/drawingml/2006/main">
              <a:ext uri="{FF2B5EF4-FFF2-40B4-BE49-F238E27FC236}">
                <a16:creationId xmlns:a16="http://schemas.microsoft.com/office/drawing/2014/main" id="{942B160C-1E00-489E-9A96-C67796B9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507492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50" b="1" u="sng">
                <a:solidFill>
                  <a:srgbClr val="101D31"/>
                </a:solidFill>
                <a:latin typeface="Aptos"/>
                <a:ea typeface="Aptos"/>
                <a:cs typeface="Aptos"/>
                <a:hlinkClick xmlns:r="http://schemas.openxmlformats.org/officeDocument/2006/relationships" r:id="R30607fd3bf114fe9"/>
              </a:rPr>
              <a:t>Stanford HAI · AI Index 2026</a:t>
            </a:r>
            <a:endParaRPr sz="14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162D3F0E-2525-40BF-9637-D7EB2F89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5349240"/>
            <a:ext cx="996696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350"/>
            </a:defPPr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65788A"/>
                </a:solidFill>
                <a:latin typeface="Aptos"/>
                <a:ea typeface="Aptos"/>
                <a:cs typeface="Aptos"/>
              </a:rPr>
              <a:t>Comparación internacional del desarrollo de IA.</a:t>
            </a:r>
            <a:endParaRPr sz="1100"/>
          </a:p>
        </p:txBody>
      </p:sp>
      <p:sp>
        <p:nvSpPr>
          <p:cNvPr id="27" name="Text 25">
            <a:hlinkClick xmlns:r="http://schemas.openxmlformats.org/officeDocument/2006/relationships" xmlns:a="http://schemas.openxmlformats.org/drawingml/2006/main" r:id="R9b12b3a987c94fec"/>
            <a:extLst xmlns:a="http://schemas.openxmlformats.org/drawingml/2006/main">
              <a:ext uri="{FF2B5EF4-FFF2-40B4-BE49-F238E27FC236}">
                <a16:creationId xmlns:a16="http://schemas.microsoft.com/office/drawing/2014/main" id="{2EBA7390-8B6E-4822-A2BB-28FD0716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5368" y="5157216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75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 u="sng">
                <a:solidFill>
                  <a:srgbClr val="168C8B"/>
                </a:solidFill>
                <a:latin typeface="Aptos"/>
                <a:ea typeface="Aptos"/>
                <a:cs typeface="Aptos"/>
                <a:hlinkClick xmlns:r="http://schemas.openxmlformats.org/officeDocument/2006/relationships" r:id="R2ce03ec888e54805"/>
              </a:rPr>
              <a:t>↗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668540169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4AE6687-98B9-41C0-A428-76A1519A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 spc="130">
                <a:solidFill>
                  <a:srgbClr val="168C8B"/>
                </a:solidFill>
                <a:latin typeface="Aptos"/>
                <a:ea typeface="Aptos"/>
                <a:cs typeface="Aptos"/>
              </a:rPr>
              <a:t>FUENTES · II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25A5CCE-48D0-49B0-BCD5-C56BFC01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Casos empresariales y estudios de manufactura</a:t>
            </a:r>
            <a:endParaRPr sz="2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BF5B2A7-1555-45AD-937B-C0E53161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65788A"/>
                </a:solidFill>
                <a:latin typeface="Aptos"/>
                <a:ea typeface="Aptos"/>
                <a:cs typeface="Aptos"/>
              </a:rPr>
              <a:t>Los resultados deben atribuirse a las fuentes que los reportan.</a:t>
            </a:r>
            <a:endParaRPr sz="14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29580A1-5530-4977-9D69-E86D3C4D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837944"/>
            <a:ext cx="10735056" cy="658368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12700">
            <a:solidFill>
              <a:srgbClr val="F1F4F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hlinkClick xmlns:r="http://schemas.openxmlformats.org/officeDocument/2006/relationships" xmlns:a="http://schemas.openxmlformats.org/drawingml/2006/main" r:id="R8658d047e6ec4fd5"/>
            <a:extLst xmlns:a="http://schemas.openxmlformats.org/drawingml/2006/main">
              <a:ext uri="{FF2B5EF4-FFF2-40B4-BE49-F238E27FC236}">
                <a16:creationId xmlns:a16="http://schemas.microsoft.com/office/drawing/2014/main" id="{1EEF71A7-1521-460A-917E-F7FA93A1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1929384"/>
            <a:ext cx="9784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30" b="1" u="sng">
                <a:solidFill>
                  <a:srgbClr val="101D31"/>
                </a:solidFill>
                <a:latin typeface="Aptos"/>
                <a:ea typeface="Aptos"/>
                <a:cs typeface="Aptos"/>
                <a:hlinkClick xmlns:r="http://schemas.openxmlformats.org/officeDocument/2006/relationships" r:id="R7f5fddc7f2b44bb8"/>
              </a:rPr>
              <a:t>World Economic Forum · Global Lighthouse Network 2025</a:t>
            </a:r>
            <a:endParaRPr sz="143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8A34726-AE11-4E5A-ADA2-2A6A38C3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194560"/>
            <a:ext cx="996696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350"/>
            </a:defPPr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65788A"/>
                </a:solidFill>
                <a:latin typeface="Aptos"/>
                <a:ea typeface="Aptos"/>
                <a:cs typeface="Aptos"/>
              </a:rPr>
              <a:t>Shougang: 67 aplicaciones, defectos −35 %, eficiencia +21,2 %.</a:t>
            </a:r>
            <a:endParaRPr sz="1100"/>
          </a:p>
        </p:txBody>
      </p:sp>
      <p:sp>
        <p:nvSpPr>
          <p:cNvPr id="11" name="Text 9">
            <a:hlinkClick xmlns:r="http://schemas.openxmlformats.org/officeDocument/2006/relationships" xmlns:a="http://schemas.openxmlformats.org/drawingml/2006/main" r:id="R402464a6e64a4e67"/>
            <a:extLst xmlns:a="http://schemas.openxmlformats.org/drawingml/2006/main">
              <a:ext uri="{FF2B5EF4-FFF2-40B4-BE49-F238E27FC236}">
                <a16:creationId xmlns:a16="http://schemas.microsoft.com/office/drawing/2014/main" id="{611B39D0-4673-41D9-87E1-8C54DE39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5368" y="201168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75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 u="sng">
                <a:solidFill>
                  <a:srgbClr val="168C8B"/>
                </a:solidFill>
                <a:latin typeface="Aptos"/>
                <a:ea typeface="Aptos"/>
                <a:cs typeface="Aptos"/>
                <a:hlinkClick xmlns:r="http://schemas.openxmlformats.org/officeDocument/2006/relationships" r:id="Rfc80ba402f3b4790"/>
              </a:rPr>
              <a:t>↗</a:t>
            </a:r>
            <a:endParaRPr sz="16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9A980DB-8516-45B4-8C4F-A2195489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624328"/>
            <a:ext cx="10735056" cy="658368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hlinkClick xmlns:r="http://schemas.openxmlformats.org/officeDocument/2006/relationships" xmlns:a="http://schemas.openxmlformats.org/drawingml/2006/main" r:id="Rc55020657e3d41be"/>
            <a:extLst xmlns:a="http://schemas.openxmlformats.org/drawingml/2006/main">
              <a:ext uri="{FF2B5EF4-FFF2-40B4-BE49-F238E27FC236}">
                <a16:creationId xmlns:a16="http://schemas.microsoft.com/office/drawing/2014/main" id="{31AC127E-8E79-456B-9D76-88650D91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715768"/>
            <a:ext cx="9784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30" b="1" u="sng">
                <a:solidFill>
                  <a:srgbClr val="101D31"/>
                </a:solidFill>
                <a:latin typeface="Aptos"/>
                <a:ea typeface="Aptos"/>
                <a:cs typeface="Aptos"/>
                <a:hlinkClick xmlns:r="http://schemas.openxmlformats.org/officeDocument/2006/relationships" r:id="Rf54071e1d7af4126"/>
              </a:rPr>
              <a:t>World Economic Forum · Global Lighthouse Network 2025</a:t>
            </a:r>
            <a:endParaRPr sz="143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8E77EEC-B218-4193-AB2F-95518633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980944"/>
            <a:ext cx="996696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350"/>
            </a:defPPr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65788A"/>
                </a:solidFill>
                <a:latin typeface="Aptos"/>
                <a:ea typeface="Aptos"/>
                <a:cs typeface="Aptos"/>
              </a:rPr>
              <a:t>Midea Chongqing: 79 casos digitales, configuración −81 %.</a:t>
            </a:r>
            <a:endParaRPr sz="1100"/>
          </a:p>
        </p:txBody>
      </p:sp>
      <p:sp>
        <p:nvSpPr>
          <p:cNvPr id="15" name="Text 13">
            <a:hlinkClick xmlns:r="http://schemas.openxmlformats.org/officeDocument/2006/relationships" xmlns:a="http://schemas.openxmlformats.org/drawingml/2006/main" r:id="Radbb8ff48f1d447e"/>
            <a:extLst xmlns:a="http://schemas.openxmlformats.org/drawingml/2006/main">
              <a:ext uri="{FF2B5EF4-FFF2-40B4-BE49-F238E27FC236}">
                <a16:creationId xmlns:a16="http://schemas.microsoft.com/office/drawing/2014/main" id="{8ADB3B41-0164-4727-8FE1-BC9D0ABA6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5368" y="2798064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75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 u="sng">
                <a:solidFill>
                  <a:srgbClr val="168C8B"/>
                </a:solidFill>
                <a:latin typeface="Aptos"/>
                <a:ea typeface="Aptos"/>
                <a:cs typeface="Aptos"/>
                <a:hlinkClick xmlns:r="http://schemas.openxmlformats.org/officeDocument/2006/relationships" r:id="Rebd2fe5e6c0343e5"/>
              </a:rPr>
              <a:t>↗</a:t>
            </a:r>
            <a:endParaRPr sz="16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E6EC30D6-9FD0-4B1E-AAFA-D54EEDB4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410712"/>
            <a:ext cx="10735056" cy="658368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12700">
            <a:solidFill>
              <a:srgbClr val="F1F4F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hlinkClick xmlns:r="http://schemas.openxmlformats.org/officeDocument/2006/relationships" xmlns:a="http://schemas.openxmlformats.org/drawingml/2006/main" r:id="R09b3df2e199440ea"/>
            <a:extLst xmlns:a="http://schemas.openxmlformats.org/drawingml/2006/main">
              <a:ext uri="{FF2B5EF4-FFF2-40B4-BE49-F238E27FC236}">
                <a16:creationId xmlns:a16="http://schemas.microsoft.com/office/drawing/2014/main" id="{96872948-1A38-4A80-B810-64CA7100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3502152"/>
            <a:ext cx="9784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30" b="1" u="sng">
                <a:solidFill>
                  <a:srgbClr val="101D31"/>
                </a:solidFill>
                <a:latin typeface="Aptos"/>
                <a:ea typeface="Aptos"/>
                <a:cs typeface="Aptos"/>
                <a:hlinkClick xmlns:r="http://schemas.openxmlformats.org/officeDocument/2006/relationships" r:id="R7c36cdf498994be7"/>
              </a:rPr>
              <a:t>Unitree Robotics · Ficha oficial del G1</a:t>
            </a:r>
            <a:endParaRPr sz="143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6665D04-9094-446F-AABC-3F1C4B96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3767328"/>
            <a:ext cx="996696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350"/>
            </a:defPPr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65788A"/>
                </a:solidFill>
                <a:latin typeface="Aptos"/>
                <a:ea typeface="Aptos"/>
                <a:cs typeface="Aptos"/>
              </a:rPr>
              <a:t>Componentes y capacidades técnicas declaradas por fabricante.</a:t>
            </a:r>
            <a:endParaRPr sz="1100"/>
          </a:p>
        </p:txBody>
      </p:sp>
      <p:sp>
        <p:nvSpPr>
          <p:cNvPr id="19" name="Text 17">
            <a:hlinkClick xmlns:r="http://schemas.openxmlformats.org/officeDocument/2006/relationships" xmlns:a="http://schemas.openxmlformats.org/drawingml/2006/main" r:id="R57eda0c02c40422b"/>
            <a:extLst xmlns:a="http://schemas.openxmlformats.org/drawingml/2006/main">
              <a:ext uri="{FF2B5EF4-FFF2-40B4-BE49-F238E27FC236}">
                <a16:creationId xmlns:a16="http://schemas.microsoft.com/office/drawing/2014/main" id="{E0E328EF-BBB1-41E0-9A2C-17B4B3229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5368" y="3584448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75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 u="sng">
                <a:solidFill>
                  <a:srgbClr val="168C8B"/>
                </a:solidFill>
                <a:latin typeface="Aptos"/>
                <a:ea typeface="Aptos"/>
                <a:cs typeface="Aptos"/>
                <a:hlinkClick xmlns:r="http://schemas.openxmlformats.org/officeDocument/2006/relationships" r:id="Rfd768529231046b1"/>
              </a:rPr>
              <a:t>↗</a:t>
            </a:r>
            <a:endParaRPr sz="16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86C0B21A-AE3B-4F2A-9DD5-B86CA311D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197096"/>
            <a:ext cx="10735056" cy="658368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hlinkClick xmlns:r="http://schemas.openxmlformats.org/officeDocument/2006/relationships" xmlns:a="http://schemas.openxmlformats.org/drawingml/2006/main" r:id="R1d352539f2d34242"/>
            <a:extLst xmlns:a="http://schemas.openxmlformats.org/drawingml/2006/main">
              <a:ext uri="{FF2B5EF4-FFF2-40B4-BE49-F238E27FC236}">
                <a16:creationId xmlns:a16="http://schemas.microsoft.com/office/drawing/2014/main" id="{4DBE8645-65D3-4629-B5F5-2A9D7543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288536"/>
            <a:ext cx="9784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30" b="1" u="sng">
                <a:solidFill>
                  <a:srgbClr val="101D31"/>
                </a:solidFill>
                <a:latin typeface="Aptos"/>
                <a:ea typeface="Aptos"/>
                <a:cs typeface="Aptos"/>
                <a:hlinkClick xmlns:r="http://schemas.openxmlformats.org/officeDocument/2006/relationships" r:id="Rffb176bcc8cc49eb"/>
              </a:rPr>
              <a:t>Xiaomi Auto · Hyperfactory</a:t>
            </a:r>
            <a:endParaRPr sz="143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FB1CA245-230D-4841-85CE-E87251BC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553712"/>
            <a:ext cx="996696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350"/>
            </a:defPPr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65788A"/>
                </a:solidFill>
                <a:latin typeface="Aptos"/>
                <a:ea typeface="Aptos"/>
                <a:cs typeface="Aptos"/>
              </a:rPr>
              <a:t>Descripción corporativa de procesos y fabricación.</a:t>
            </a:r>
            <a:endParaRPr sz="1100"/>
          </a:p>
        </p:txBody>
      </p:sp>
      <p:sp>
        <p:nvSpPr>
          <p:cNvPr id="23" name="Text 21">
            <a:hlinkClick xmlns:r="http://schemas.openxmlformats.org/officeDocument/2006/relationships" xmlns:a="http://schemas.openxmlformats.org/drawingml/2006/main" r:id="R0ce70e93f7f9430a"/>
            <a:extLst xmlns:a="http://schemas.openxmlformats.org/drawingml/2006/main">
              <a:ext uri="{FF2B5EF4-FFF2-40B4-BE49-F238E27FC236}">
                <a16:creationId xmlns:a16="http://schemas.microsoft.com/office/drawing/2014/main" id="{D4AB05E4-1803-43E4-883A-CF489927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5368" y="4370832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75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 u="sng">
                <a:solidFill>
                  <a:srgbClr val="168C8B"/>
                </a:solidFill>
                <a:latin typeface="Aptos"/>
                <a:ea typeface="Aptos"/>
                <a:cs typeface="Aptos"/>
                <a:hlinkClick xmlns:r="http://schemas.openxmlformats.org/officeDocument/2006/relationships" r:id="Raf80329d2c914fb1"/>
              </a:rPr>
              <a:t>↗</a:t>
            </a:r>
            <a:endParaRPr sz="16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A7AA4A59-5EAC-4FA9-867E-1274BDBD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983480"/>
            <a:ext cx="10735056" cy="658368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12700">
            <a:solidFill>
              <a:srgbClr val="F1F4F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3">
            <a:hlinkClick xmlns:r="http://schemas.openxmlformats.org/officeDocument/2006/relationships" xmlns:a="http://schemas.openxmlformats.org/drawingml/2006/main" r:id="R28ca5dcd26124528"/>
            <a:extLst xmlns:a="http://schemas.openxmlformats.org/drawingml/2006/main">
              <a:ext uri="{FF2B5EF4-FFF2-40B4-BE49-F238E27FC236}">
                <a16:creationId xmlns:a16="http://schemas.microsoft.com/office/drawing/2014/main" id="{8D880D03-CF55-4312-BC84-AC432300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5074920"/>
            <a:ext cx="9784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30" b="1" u="sng">
                <a:solidFill>
                  <a:srgbClr val="101D31"/>
                </a:solidFill>
                <a:latin typeface="Aptos"/>
                <a:ea typeface="Aptos"/>
                <a:cs typeface="Aptos"/>
                <a:hlinkClick xmlns:r="http://schemas.openxmlformats.org/officeDocument/2006/relationships" r:id="R30358c2591b745c0"/>
              </a:rPr>
              <a:t>IEA · Manufacturing and Trade 2026</a:t>
            </a:r>
            <a:endParaRPr sz="143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AD0C1792-E3AF-41C0-BAE1-BF1DAB20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5340096"/>
            <a:ext cx="996696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350"/>
            </a:defPPr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65788A"/>
                </a:solidFill>
                <a:latin typeface="Aptos"/>
                <a:ea typeface="Aptos"/>
                <a:cs typeface="Aptos"/>
              </a:rPr>
              <a:t>La cadena del vehículo eléctrico y sus tensiones económicas.</a:t>
            </a:r>
            <a:endParaRPr sz="1100"/>
          </a:p>
        </p:txBody>
      </p:sp>
      <p:sp>
        <p:nvSpPr>
          <p:cNvPr id="27" name="Text 25">
            <a:hlinkClick xmlns:r="http://schemas.openxmlformats.org/officeDocument/2006/relationships" xmlns:a="http://schemas.openxmlformats.org/drawingml/2006/main" r:id="R1b80427c4f384747"/>
            <a:extLst xmlns:a="http://schemas.openxmlformats.org/drawingml/2006/main">
              <a:ext uri="{FF2B5EF4-FFF2-40B4-BE49-F238E27FC236}">
                <a16:creationId xmlns:a16="http://schemas.microsoft.com/office/drawing/2014/main" id="{0570222D-2EEC-4DE9-A8E7-525589C4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5368" y="5157216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75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 u="sng">
                <a:solidFill>
                  <a:srgbClr val="168C8B"/>
                </a:solidFill>
                <a:latin typeface="Aptos"/>
                <a:ea typeface="Aptos"/>
                <a:cs typeface="Aptos"/>
                <a:hlinkClick xmlns:r="http://schemas.openxmlformats.org/officeDocument/2006/relationships" r:id="R91bd5adb70d6423b"/>
              </a:rPr>
              <a:t>↗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501119306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F396196-7768-440C-981F-2A648A85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 spc="130">
                <a:solidFill>
                  <a:srgbClr val="168C8B"/>
                </a:solidFill>
                <a:latin typeface="Aptos"/>
                <a:ea typeface="Aptos"/>
                <a:cs typeface="Aptos"/>
              </a:rPr>
              <a:t>FUENTES · III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A6CEE53-067A-422B-BB3D-B3A2C285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09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01D31"/>
                </a:solidFill>
                <a:latin typeface="Aptos"/>
                <a:ea typeface="Aptos"/>
                <a:cs typeface="Aptos"/>
              </a:rPr>
              <a:t>Documentos oficiales, economía y recursos docentes</a:t>
            </a:r>
            <a:endParaRPr sz="2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1FF18A3-BE55-407A-B310-2CBE7CCB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353312"/>
            <a:ext cx="109728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65788A"/>
                </a:solidFill>
                <a:latin typeface="Aptos"/>
                <a:ea typeface="Aptos"/>
                <a:cs typeface="Aptos"/>
              </a:rPr>
              <a:t>Textos de política y referencias para ampliar después de clase.</a:t>
            </a:r>
            <a:endParaRPr sz="14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4025802-60B3-421F-9FA4-DBD4176A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837944"/>
            <a:ext cx="10735056" cy="658368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12700">
            <a:solidFill>
              <a:srgbClr val="F1F4F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hlinkClick xmlns:r="http://schemas.openxmlformats.org/officeDocument/2006/relationships" xmlns:a="http://schemas.openxmlformats.org/drawingml/2006/main" r:id="R99fe9d2012c94eee"/>
            <a:extLst xmlns:a="http://schemas.openxmlformats.org/drawingml/2006/main">
              <a:ext uri="{FF2B5EF4-FFF2-40B4-BE49-F238E27FC236}">
                <a16:creationId xmlns:a16="http://schemas.microsoft.com/office/drawing/2014/main" id="{2DE6C3A6-A7B2-4D86-AA4D-7B2CA2EF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1929384"/>
            <a:ext cx="9784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10" b="1" u="sng">
                <a:solidFill>
                  <a:srgbClr val="101D31"/>
                </a:solidFill>
                <a:latin typeface="Aptos"/>
                <a:ea typeface="Aptos"/>
                <a:cs typeface="Aptos"/>
                <a:hlinkClick xmlns:r="http://schemas.openxmlformats.org/officeDocument/2006/relationships" r:id="Ra5a7e27a2da64a36"/>
              </a:rPr>
              <a:t>Consejo de Estado · Directrices AI+ (2025)</a:t>
            </a:r>
            <a:endParaRPr sz="141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A2145D5-6534-40E8-A5C1-4004D743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194560"/>
            <a:ext cx="996696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350"/>
            </a:defPPr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65788A"/>
                </a:solidFill>
                <a:latin typeface="Aptos"/>
                <a:ea typeface="Aptos"/>
                <a:cs typeface="Aptos"/>
              </a:rPr>
              <a:t>Metas y seis ámbitos de acción. Texto oficial chino.</a:t>
            </a:r>
            <a:endParaRPr sz="1080"/>
          </a:p>
        </p:txBody>
      </p:sp>
      <p:sp>
        <p:nvSpPr>
          <p:cNvPr id="11" name="Text 9">
            <a:hlinkClick xmlns:r="http://schemas.openxmlformats.org/officeDocument/2006/relationships" xmlns:a="http://schemas.openxmlformats.org/drawingml/2006/main" r:id="Rae6b3cce44b24ada"/>
            <a:extLst xmlns:a="http://schemas.openxmlformats.org/drawingml/2006/main">
              <a:ext uri="{FF2B5EF4-FFF2-40B4-BE49-F238E27FC236}">
                <a16:creationId xmlns:a16="http://schemas.microsoft.com/office/drawing/2014/main" id="{1CD695D6-40BD-47D4-8530-C1D56216F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5368" y="201168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75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 u="sng">
                <a:solidFill>
                  <a:srgbClr val="168C8B"/>
                </a:solidFill>
                <a:latin typeface="Aptos"/>
                <a:ea typeface="Aptos"/>
                <a:cs typeface="Aptos"/>
                <a:hlinkClick xmlns:r="http://schemas.openxmlformats.org/officeDocument/2006/relationships" r:id="R1ebb9fd071054a01"/>
              </a:rPr>
              <a:t>↗</a:t>
            </a:r>
            <a:endParaRPr sz="16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1B8FA894-56F1-466E-869B-59340012F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624328"/>
            <a:ext cx="10735056" cy="658368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hlinkClick xmlns:r="http://schemas.openxmlformats.org/officeDocument/2006/relationships" xmlns:a="http://schemas.openxmlformats.org/drawingml/2006/main" r:id="Rcb44e4c9f9244efe"/>
            <a:extLst xmlns:a="http://schemas.openxmlformats.org/drawingml/2006/main">
              <a:ext uri="{FF2B5EF4-FFF2-40B4-BE49-F238E27FC236}">
                <a16:creationId xmlns:a16="http://schemas.microsoft.com/office/drawing/2014/main" id="{4413CB4D-4F7E-49B0-8F2E-C7452E87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715768"/>
            <a:ext cx="9784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10" b="1" u="sng">
                <a:solidFill>
                  <a:srgbClr val="101D31"/>
                </a:solidFill>
                <a:latin typeface="Aptos"/>
                <a:ea typeface="Aptos"/>
                <a:cs typeface="Aptos"/>
                <a:hlinkClick xmlns:r="http://schemas.openxmlformats.org/officeDocument/2006/relationships" r:id="Reefffe20117c4dfe"/>
              </a:rPr>
              <a:t>CSET Georgetown · Traducción técnica de AI+</a:t>
            </a:r>
            <a:endParaRPr sz="141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FF953B0-A8E3-46BA-B80A-0FED8CB3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980944"/>
            <a:ext cx="996696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350"/>
            </a:defPPr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65788A"/>
                </a:solidFill>
                <a:latin typeface="Aptos"/>
                <a:ea typeface="Aptos"/>
                <a:cs typeface="Aptos"/>
              </a:rPr>
              <a:t>Apoyo para interpretación de terminología oficial.</a:t>
            </a:r>
            <a:endParaRPr sz="1080"/>
          </a:p>
        </p:txBody>
      </p:sp>
      <p:sp>
        <p:nvSpPr>
          <p:cNvPr id="15" name="Text 13">
            <a:hlinkClick xmlns:r="http://schemas.openxmlformats.org/officeDocument/2006/relationships" xmlns:a="http://schemas.openxmlformats.org/drawingml/2006/main" r:id="R68324708f2124efd"/>
            <a:extLst xmlns:a="http://schemas.openxmlformats.org/drawingml/2006/main">
              <a:ext uri="{FF2B5EF4-FFF2-40B4-BE49-F238E27FC236}">
                <a16:creationId xmlns:a16="http://schemas.microsoft.com/office/drawing/2014/main" id="{2BE7CBB8-8C50-4EE2-A30B-C692F80F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5368" y="2798064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75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 u="sng">
                <a:solidFill>
                  <a:srgbClr val="168C8B"/>
                </a:solidFill>
                <a:latin typeface="Aptos"/>
                <a:ea typeface="Aptos"/>
                <a:cs typeface="Aptos"/>
                <a:hlinkClick xmlns:r="http://schemas.openxmlformats.org/officeDocument/2006/relationships" r:id="R412449f9a3fd4912"/>
              </a:rPr>
              <a:t>↗</a:t>
            </a:r>
            <a:endParaRPr sz="16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835320FD-4269-45EA-8689-B02D9A50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410712"/>
            <a:ext cx="10735056" cy="658368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12700">
            <a:solidFill>
              <a:srgbClr val="F1F4F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hlinkClick xmlns:r="http://schemas.openxmlformats.org/officeDocument/2006/relationships" xmlns:a="http://schemas.openxmlformats.org/drawingml/2006/main" r:id="Rf6d9983a4ec048bd"/>
            <a:extLst xmlns:a="http://schemas.openxmlformats.org/drawingml/2006/main">
              <a:ext uri="{FF2B5EF4-FFF2-40B4-BE49-F238E27FC236}">
                <a16:creationId xmlns:a16="http://schemas.microsoft.com/office/drawing/2014/main" id="{5AFC7B7E-2C0C-4C49-9F5B-4AC86756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3502152"/>
            <a:ext cx="9784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10" b="1" u="sng">
                <a:solidFill>
                  <a:srgbClr val="101D31"/>
                </a:solidFill>
                <a:latin typeface="Aptos"/>
                <a:ea typeface="Aptos"/>
                <a:cs typeface="Aptos"/>
                <a:hlinkClick xmlns:r="http://schemas.openxmlformats.org/officeDocument/2006/relationships" r:id="Rb838103e75134ab2"/>
              </a:rPr>
              <a:t>NDRC · XV Plan Quinquenal 2026–2030</a:t>
            </a:r>
            <a:endParaRPr sz="141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65E63DF-41B3-4A72-8027-011F67545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3767328"/>
            <a:ext cx="996696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350"/>
            </a:defPPr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65788A"/>
                </a:solidFill>
                <a:latin typeface="Aptos"/>
                <a:ea typeface="Aptos"/>
                <a:cs typeface="Aptos"/>
              </a:rPr>
              <a:t>Estrategia de modernización e industrias del futuro.</a:t>
            </a:r>
            <a:endParaRPr sz="1080"/>
          </a:p>
        </p:txBody>
      </p:sp>
      <p:sp>
        <p:nvSpPr>
          <p:cNvPr id="19" name="Text 17">
            <a:hlinkClick xmlns:r="http://schemas.openxmlformats.org/officeDocument/2006/relationships" xmlns:a="http://schemas.openxmlformats.org/drawingml/2006/main" r:id="Rc40d1cee48e140c5"/>
            <a:extLst xmlns:a="http://schemas.openxmlformats.org/drawingml/2006/main">
              <a:ext uri="{FF2B5EF4-FFF2-40B4-BE49-F238E27FC236}">
                <a16:creationId xmlns:a16="http://schemas.microsoft.com/office/drawing/2014/main" id="{9FC1D3B1-8D64-4A86-8998-0E6AF6F9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5368" y="3584448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75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 u="sng">
                <a:solidFill>
                  <a:srgbClr val="168C8B"/>
                </a:solidFill>
                <a:latin typeface="Aptos"/>
                <a:ea typeface="Aptos"/>
                <a:cs typeface="Aptos"/>
                <a:hlinkClick xmlns:r="http://schemas.openxmlformats.org/officeDocument/2006/relationships" r:id="Rc22c559f8aca4986"/>
              </a:rPr>
              <a:t>↗</a:t>
            </a:r>
            <a:endParaRPr sz="16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0C7E9EC9-5021-42DA-A62E-ACD2F569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197096"/>
            <a:ext cx="10735056" cy="658368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hlinkClick xmlns:r="http://schemas.openxmlformats.org/officeDocument/2006/relationships" xmlns:a="http://schemas.openxmlformats.org/drawingml/2006/main" r:id="Re9650e26e0b04316"/>
            <a:extLst xmlns:a="http://schemas.openxmlformats.org/drawingml/2006/main">
              <a:ext uri="{FF2B5EF4-FFF2-40B4-BE49-F238E27FC236}">
                <a16:creationId xmlns:a16="http://schemas.microsoft.com/office/drawing/2014/main" id="{E31258B4-8F25-4B1D-AE94-BCA39250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288536"/>
            <a:ext cx="9784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10" b="1" u="sng">
                <a:solidFill>
                  <a:srgbClr val="101D31"/>
                </a:solidFill>
                <a:latin typeface="Aptos"/>
                <a:ea typeface="Aptos"/>
                <a:cs typeface="Aptos"/>
                <a:hlinkClick xmlns:r="http://schemas.openxmlformats.org/officeDocument/2006/relationships" r:id="Rfdbea6a6cbb64d12"/>
              </a:rPr>
              <a:t>Banco Mundial · China Economic Update 2026</a:t>
            </a:r>
            <a:endParaRPr sz="141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3F19440-3FCC-44EC-BCB9-F9B358E1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553712"/>
            <a:ext cx="996696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350"/>
            </a:defPPr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65788A"/>
                </a:solidFill>
                <a:latin typeface="Aptos"/>
                <a:ea typeface="Aptos"/>
                <a:cs typeface="Aptos"/>
              </a:rPr>
              <a:t>Demanda, reformas estructurales y crecimiento.</a:t>
            </a:r>
            <a:endParaRPr sz="1080"/>
          </a:p>
        </p:txBody>
      </p:sp>
      <p:sp>
        <p:nvSpPr>
          <p:cNvPr id="23" name="Text 21">
            <a:hlinkClick xmlns:r="http://schemas.openxmlformats.org/officeDocument/2006/relationships" xmlns:a="http://schemas.openxmlformats.org/drawingml/2006/main" r:id="R3db90200af49498f"/>
            <a:extLst xmlns:a="http://schemas.openxmlformats.org/drawingml/2006/main">
              <a:ext uri="{FF2B5EF4-FFF2-40B4-BE49-F238E27FC236}">
                <a16:creationId xmlns:a16="http://schemas.microsoft.com/office/drawing/2014/main" id="{94CDABED-0853-4E89-BB82-2939A5F4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5368" y="4370832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75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 u="sng">
                <a:solidFill>
                  <a:srgbClr val="168C8B"/>
                </a:solidFill>
                <a:latin typeface="Aptos"/>
                <a:ea typeface="Aptos"/>
                <a:cs typeface="Aptos"/>
                <a:hlinkClick xmlns:r="http://schemas.openxmlformats.org/officeDocument/2006/relationships" r:id="R3ccde0c3763b4b6b"/>
              </a:rPr>
              <a:t>↗</a:t>
            </a:r>
            <a:endParaRPr sz="16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6FC38408-6C3C-4467-BE64-4BBF8E45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983480"/>
            <a:ext cx="10735056" cy="658368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12700">
            <a:solidFill>
              <a:srgbClr val="F1F4F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3">
            <a:hlinkClick xmlns:r="http://schemas.openxmlformats.org/officeDocument/2006/relationships" xmlns:a="http://schemas.openxmlformats.org/drawingml/2006/main" r:id="Ra463660b447f400c"/>
            <a:extLst xmlns:a="http://schemas.openxmlformats.org/drawingml/2006/main">
              <a:ext uri="{FF2B5EF4-FFF2-40B4-BE49-F238E27FC236}">
                <a16:creationId xmlns:a16="http://schemas.microsoft.com/office/drawing/2014/main" id="{EEF89172-F63B-4E17-AB1C-8C1A8CC5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5074920"/>
            <a:ext cx="9784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10" b="1" u="sng">
                <a:solidFill>
                  <a:srgbClr val="101D31"/>
                </a:solidFill>
                <a:latin typeface="Aptos"/>
                <a:ea typeface="Aptos"/>
                <a:cs typeface="Aptos"/>
                <a:hlinkClick xmlns:r="http://schemas.openxmlformats.org/officeDocument/2006/relationships" r:id="Rbb054f97d9954f50"/>
              </a:rPr>
              <a:t>Simulador del profesor · Capital robótico y aprendizaje</a:t>
            </a:r>
            <a:endParaRPr sz="141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869F3ECB-A834-4047-8784-C9CF7A06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5340096"/>
            <a:ext cx="996696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350"/>
            </a:defPPr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65788A"/>
                </a:solidFill>
                <a:latin typeface="Aptos"/>
                <a:ea typeface="Aptos"/>
                <a:cs typeface="Aptos"/>
              </a:rPr>
              <a:t>Experimento pedagógico, no estimación empírica.</a:t>
            </a:r>
            <a:endParaRPr sz="1080"/>
          </a:p>
        </p:txBody>
      </p:sp>
      <p:sp>
        <p:nvSpPr>
          <p:cNvPr id="27" name="Text 25">
            <a:hlinkClick xmlns:r="http://schemas.openxmlformats.org/officeDocument/2006/relationships" xmlns:a="http://schemas.openxmlformats.org/drawingml/2006/main" r:id="R409c9bdd85a843ed"/>
            <a:extLst xmlns:a="http://schemas.openxmlformats.org/drawingml/2006/main">
              <a:ext uri="{FF2B5EF4-FFF2-40B4-BE49-F238E27FC236}">
                <a16:creationId xmlns:a16="http://schemas.microsoft.com/office/drawing/2014/main" id="{B6363489-DF16-44E0-90CC-95B8B96C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5368" y="5157216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75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 u="sng">
                <a:solidFill>
                  <a:srgbClr val="168C8B"/>
                </a:solidFill>
                <a:latin typeface="Aptos"/>
                <a:ea typeface="Aptos"/>
                <a:cs typeface="Aptos"/>
                <a:hlinkClick xmlns:r="http://schemas.openxmlformats.org/officeDocument/2006/relationships" r:id="Ra23d4e5ec3bb4817"/>
              </a:rPr>
              <a:t>↗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327837146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101D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BE160ADD-22EA-4BA2-B2D0-F5F0AC186B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fa5f3f59014bb1"/>
          <a:srcRect xmlns:a="http://schemas.openxmlformats.org/drawingml/2006/main" l="21174" t="0" r="21174" b="0"/>
          <a:stretch xmlns:a="http://schemas.openxmlformats.org/drawingml/2006/main"/>
        </p:blipFill>
        <p:spPr>
          <a:xfrm xmlns:a="http://schemas.openxmlformats.org/drawingml/2006/main">
            <a:off x="6217920" y="0"/>
            <a:ext cx="597377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A064B076-7049-478A-A751-D603B305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254496" cy="685800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12700">
            <a:solidFill>
              <a:srgbClr val="101D31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25C6BE95-DF6C-4C5D-BF11-41C75F98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0"/>
            <a:ext cx="91440" cy="6858000"/>
          </a:xfrm>
          <a:prstGeom xmlns:a="http://schemas.openxmlformats.org/drawingml/2006/main" prst="roundRect">
            <a:avLst>
              <a:gd name="adj" fmla="val 160000"/>
            </a:avLst>
          </a:prstGeom>
          <a:solidFill xmlns:a="http://schemas.openxmlformats.org/drawingml/2006/main">
            <a:srgbClr val="D94F45"/>
          </a:solidFill>
          <a:ln xmlns:a="http://schemas.openxmlformats.org/drawingml/2006/main" w="12700">
            <a:solidFill>
              <a:srgbClr val="D94F45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85A5C4C-6338-4FAA-86DC-35E9D598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1872"/>
            <a:ext cx="5257800" cy="8961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GRACIAS</a:t>
            </a:r>
            <a:endParaRPr sz="49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84623475-D28F-4130-B847-241461DF9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514600"/>
            <a:ext cx="5239512" cy="1435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C6E9E6"/>
                </a:solidFill>
                <a:latin typeface="Aptos"/>
                <a:ea typeface="Aptos"/>
                <a:cs typeface="Aptos"/>
              </a:rPr>
              <a:t>Comprender las capacidades,</a:t>
            </a:r>
            <a:endParaRPr sz="2500"/>
          </a:p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C6E9E6"/>
                </a:solidFill>
                <a:latin typeface="Aptos"/>
                <a:ea typeface="Aptos"/>
                <a:cs typeface="Aptos"/>
              </a:rPr>
              <a:t>los mecanismos y los límites</a:t>
            </a:r>
            <a:endParaRPr sz="25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65A2B2CB-32C2-4E5D-9A3E-D39D3CDB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818888"/>
            <a:ext cx="47274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71869A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903F4D8-F39A-480B-8C5F-C8C9199A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065776"/>
            <a:ext cx="5312664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Material elaborado por el profesor</a:t>
            </a:r>
            <a:endParaRPr sz="1800"/>
          </a:p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Sergio Gevatschnaider</a:t>
            </a:r>
            <a:endParaRPr sz="1800"/>
          </a:p>
        </p:txBody>
      </p:sp>
      <p:sp>
        <p:nvSpPr>
          <p:cNvPr id="9" name="illustration-caption-background">
            <a:extLst xmlns:a="http://schemas.openxmlformats.org/drawingml/2006/main">
              <a:ext uri="{FF2B5EF4-FFF2-40B4-BE49-F238E27FC236}">
                <a16:creationId xmlns:a16="http://schemas.microsoft.com/office/drawing/2014/main" id="{C8D7B3D3-D99A-41EA-94D1-E5DCDE31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1270" y="133350"/>
            <a:ext cx="17335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illustration-caption">
            <a:extLst xmlns:a="http://schemas.openxmlformats.org/drawingml/2006/main">
              <a:ext uri="{FF2B5EF4-FFF2-40B4-BE49-F238E27FC236}">
                <a16:creationId xmlns:a16="http://schemas.microsoft.com/office/drawing/2014/main" id="{FFE2158A-7286-4BC6-AA82-DFBE8B13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7470" y="16192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ILUSTRACIÓN CONCEPTUAL</a:t>
            </a:r>
          </a:p>
        </p:txBody>
      </p:sp>
    </p:spTree>
    <p:extLst>
      <p:ext uri="{BB962C8B-B14F-4D97-AF65-F5344CB8AC3E}">
        <p14:creationId xmlns:p14="http://schemas.microsoft.com/office/powerpoint/2010/main" val="210005899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2026-10-17T22:46:16.1070000Z</dcterms:created>
  <dcterms:modified xsi:type="dcterms:W3CDTF">2026-10-17T22:46:16.1070000Z</dcterms:modified>
</coreProperties>
</file>